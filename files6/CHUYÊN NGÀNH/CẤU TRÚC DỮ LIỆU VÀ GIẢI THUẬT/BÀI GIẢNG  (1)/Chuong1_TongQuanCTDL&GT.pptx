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notesMasterIdLst>
    <p:notesMasterId r:id="rId33"/>
  </p:notesMasterIdLst>
  <p:sldIdLst>
    <p:sldId id="295" r:id="rId2"/>
    <p:sldId id="256" r:id="rId3"/>
    <p:sldId id="267" r:id="rId4"/>
    <p:sldId id="259" r:id="rId5"/>
    <p:sldId id="268" r:id="rId6"/>
    <p:sldId id="260" r:id="rId7"/>
    <p:sldId id="261" r:id="rId8"/>
    <p:sldId id="269" r:id="rId9"/>
    <p:sldId id="270" r:id="rId10"/>
    <p:sldId id="271" r:id="rId11"/>
    <p:sldId id="272" r:id="rId12"/>
    <p:sldId id="288" r:id="rId13"/>
    <p:sldId id="290" r:id="rId14"/>
    <p:sldId id="287" r:id="rId15"/>
    <p:sldId id="297" r:id="rId16"/>
    <p:sldId id="275" r:id="rId17"/>
    <p:sldId id="289" r:id="rId18"/>
    <p:sldId id="293" r:id="rId19"/>
    <p:sldId id="273" r:id="rId20"/>
    <p:sldId id="276" r:id="rId21"/>
    <p:sldId id="291" r:id="rId22"/>
    <p:sldId id="294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62" r:id="rId31"/>
    <p:sldId id="296" r:id="rId3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7" autoAdjust="0"/>
  </p:normalViewPr>
  <p:slideViewPr>
    <p:cSldViewPr>
      <p:cViewPr varScale="1">
        <p:scale>
          <a:sx n="60" d="100"/>
          <a:sy n="60" d="100"/>
        </p:scale>
        <p:origin x="816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2BBA320-BD8F-4080-9E90-D4478BCAB7FE}" type="datetimeFigureOut">
              <a:rPr lang="en-US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A5E25AD-7004-4B36-8065-F8010AD09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352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E2BC83-8B0E-4EBA-8764-8851A1394889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4EAC31-17AC-4D3D-9345-AB7406D331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4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0E60B7-04AA-4313-B650-ED2789C64AA0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1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7FB176-8245-4906-9BE1-E4EA70FC16FF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D6635-C274-4C54-955D-CF800AD577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5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A1AAD2-6952-466F-A2F6-B73723A37FFF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C96326-DB06-466A-B90D-3D08CA5291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0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E2282F-B358-497B-B1AA-0C527E83AEC3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A878F1-BA0E-40EA-8EE3-DB4A232B76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E01909-32F4-4EAA-B271-851F3426E34B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3397A-E278-4B50-9011-AC8B18183D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2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F083DF-E136-48ED-8E26-DB2D19A6F815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564407-C900-4301-8D51-6A172A1754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4EFBA1-D7A7-4D9C-BCB6-7C66322C65CD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D1BF1C-19FB-4896-9D01-7E944BABDF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3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8F2926-597C-4630-AEC1-1651A36FD6A5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EFFE99-FB8E-4D3A-AC1B-3CA5282ABB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9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5BD2C7-BB2A-4803-AEBF-7637B9CFF856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2E5D16-13D0-4E21-9D6A-68EC0F270C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12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BD852D-4C60-426C-9BA6-23A97AD32C0B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F50605-FEE1-450B-9D13-035320F26B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5C4BE6C-3476-4F42-ABD3-75345BEC0FDF}" type="datetime1">
              <a:rPr lang="en-US" smtClean="0"/>
              <a:pPr>
                <a:defRPr/>
              </a:pPr>
              <a:t>23/09/2024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EAC7B26-B20C-4E6D-BF1F-331909629C8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2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C&#225;c%20H&#224;m%20Chu&#7895;i.docx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&#224;mchu&#7895;i.docx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D821BD6-250C-4A7C-90DA-6B50283C4AB4}" type="slidenum">
              <a:rPr lang="en-US" sz="1400" smtClean="0">
                <a:solidFill>
                  <a:schemeClr val="folHlink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</a:t>
            </a:fld>
            <a:endParaRPr lang="en-US" sz="1400" smtClean="0">
              <a:solidFill>
                <a:schemeClr val="folHlink"/>
              </a:solidFill>
            </a:endParaRPr>
          </a:p>
        </p:txBody>
      </p:sp>
      <p:sp>
        <p:nvSpPr>
          <p:cNvPr id="3075" name="Rectangle 1"/>
          <p:cNvSpPr>
            <a:spLocks noChangeArrowheads="1"/>
          </p:cNvSpPr>
          <p:nvPr/>
        </p:nvSpPr>
        <p:spPr bwMode="auto">
          <a:xfrm>
            <a:off x="0" y="692289"/>
            <a:ext cx="121920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smtClean="0">
                <a:solidFill>
                  <a:srgbClr val="0070C0"/>
                </a:solidFill>
              </a:rPr>
              <a:t>CẤU TRÚC DỮ LIỆU VÀ GIẢI </a:t>
            </a:r>
            <a:r>
              <a:rPr lang="en-US" sz="3600" b="1" smtClean="0">
                <a:solidFill>
                  <a:srgbClr val="0070C0"/>
                </a:solidFill>
              </a:rPr>
              <a:t>THUẬT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smtClean="0">
                <a:solidFill>
                  <a:srgbClr val="0070C0"/>
                </a:solidFill>
              </a:rPr>
              <a:t>		3 tín chỉ: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smtClean="0">
                <a:solidFill>
                  <a:srgbClr val="0070C0"/>
                </a:solidFill>
              </a:rPr>
              <a:t>			2 </a:t>
            </a:r>
            <a:r>
              <a:rPr lang="en-US" sz="3600" b="1" smtClean="0">
                <a:solidFill>
                  <a:srgbClr val="0070C0"/>
                </a:solidFill>
              </a:rPr>
              <a:t>TC LT: </a:t>
            </a:r>
            <a:r>
              <a:rPr lang="en-US" sz="3600" b="1">
                <a:solidFill>
                  <a:srgbClr val="0070C0"/>
                </a:solidFill>
              </a:rPr>
              <a:t>30 </a:t>
            </a:r>
            <a:r>
              <a:rPr lang="en-US" sz="3600" b="1" smtClean="0">
                <a:solidFill>
                  <a:srgbClr val="0070C0"/>
                </a:solidFill>
              </a:rPr>
              <a:t>tiết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smtClean="0">
                <a:solidFill>
                  <a:srgbClr val="0070C0"/>
                </a:solidFill>
              </a:rPr>
              <a:t>			1 </a:t>
            </a:r>
            <a:r>
              <a:rPr lang="en-US" sz="3600" b="1">
                <a:solidFill>
                  <a:srgbClr val="0070C0"/>
                </a:solidFill>
              </a:rPr>
              <a:t>TC </a:t>
            </a:r>
            <a:r>
              <a:rPr lang="en-US" sz="3600" b="1" smtClean="0">
                <a:solidFill>
                  <a:srgbClr val="0070C0"/>
                </a:solidFill>
              </a:rPr>
              <a:t>TH: </a:t>
            </a:r>
            <a:r>
              <a:rPr lang="en-US" sz="3600" b="1">
                <a:solidFill>
                  <a:srgbClr val="0070C0"/>
                </a:solidFill>
              </a:rPr>
              <a:t>30 tiết</a:t>
            </a:r>
            <a:br>
              <a:rPr lang="en-US" sz="3600" b="1">
                <a:solidFill>
                  <a:srgbClr val="0070C0"/>
                </a:solidFill>
              </a:rPr>
            </a:br>
            <a:r>
              <a:rPr lang="en-US" sz="3600" b="1" smtClean="0">
                <a:solidFill>
                  <a:srgbClr val="0070C0"/>
                </a:solidFill>
              </a:rPr>
              <a:t>		10</a:t>
            </a:r>
            <a:r>
              <a:rPr lang="en-US" sz="3600" b="1">
                <a:solidFill>
                  <a:srgbClr val="0070C0"/>
                </a:solidFill>
              </a:rPr>
              <a:t>% điểm chuyên cần</a:t>
            </a:r>
            <a:br>
              <a:rPr lang="en-US" sz="3600" b="1">
                <a:solidFill>
                  <a:srgbClr val="0070C0"/>
                </a:solidFill>
              </a:rPr>
            </a:br>
            <a:r>
              <a:rPr lang="en-US" sz="3600" b="1" smtClean="0">
                <a:solidFill>
                  <a:srgbClr val="0070C0"/>
                </a:solidFill>
              </a:rPr>
              <a:t>		30</a:t>
            </a:r>
            <a:r>
              <a:rPr lang="en-US" sz="3600" b="1">
                <a:solidFill>
                  <a:srgbClr val="0070C0"/>
                </a:solidFill>
              </a:rPr>
              <a:t>%  </a:t>
            </a:r>
            <a:r>
              <a:rPr lang="en-US" sz="3600" b="1" smtClean="0">
                <a:solidFill>
                  <a:srgbClr val="0070C0"/>
                </a:solidFill>
              </a:rPr>
              <a:t>Thực hành + Kiểm tra GK LT</a:t>
            </a:r>
            <a:r>
              <a:rPr lang="en-US" sz="3600" b="1">
                <a:solidFill>
                  <a:srgbClr val="0070C0"/>
                </a:solidFill>
              </a:rPr>
              <a:t/>
            </a:r>
            <a:br>
              <a:rPr lang="en-US" sz="3600" b="1">
                <a:solidFill>
                  <a:srgbClr val="0070C0"/>
                </a:solidFill>
              </a:rPr>
            </a:br>
            <a:r>
              <a:rPr lang="en-US" sz="3600" b="1" smtClean="0">
                <a:solidFill>
                  <a:srgbClr val="0070C0"/>
                </a:solidFill>
              </a:rPr>
              <a:t>		60</a:t>
            </a:r>
            <a:r>
              <a:rPr lang="en-US" sz="3600" b="1">
                <a:solidFill>
                  <a:srgbClr val="0070C0"/>
                </a:solidFill>
              </a:rPr>
              <a:t>% điểm thi kết </a:t>
            </a:r>
            <a:r>
              <a:rPr lang="en-US" sz="3600" b="1" smtClean="0">
                <a:solidFill>
                  <a:srgbClr val="0070C0"/>
                </a:solidFill>
              </a:rPr>
              <a:t>thúc (Thi tự luận 90 Phút)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>
                <a:solidFill>
                  <a:srgbClr val="0070C0"/>
                </a:solidFill>
              </a:rPr>
              <a:t>						</a:t>
            </a:r>
            <a:r>
              <a:rPr lang="en-US" sz="3600" b="1">
                <a:solidFill>
                  <a:srgbClr val="0070C0"/>
                </a:solidFill>
              </a:rPr>
              <a:t>ThS. Lương Thái </a:t>
            </a:r>
            <a:r>
              <a:rPr lang="en-US" sz="3600" b="1" smtClean="0">
                <a:solidFill>
                  <a:srgbClr val="0070C0"/>
                </a:solidFill>
              </a:rPr>
              <a:t>Hiền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smtClean="0">
                <a:solidFill>
                  <a:srgbClr val="0070C0"/>
                </a:solidFill>
              </a:rPr>
              <a:t>                      </a:t>
            </a:r>
            <a:r>
              <a:rPr lang="en-US" sz="3600" b="1" smtClean="0">
                <a:solidFill>
                  <a:srgbClr val="0070C0"/>
                </a:solidFill>
              </a:rPr>
              <a:t>          SĐT, Zalo: 0903665829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smtClean="0">
                <a:solidFill>
                  <a:srgbClr val="0070C0"/>
                </a:solidFill>
              </a:rPr>
              <a:t>                                      Email: hienlt@vhu.edu.vn</a:t>
            </a:r>
            <a:endParaRPr lang="en-US" sz="36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61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10744200" cy="8382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4000" b="1" smtClean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Arial" charset="0"/>
              </a:rPr>
              <a:t>Chương 1.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Arial" charset="0"/>
              </a:rPr>
              <a:t>TỔNG QUAN VỀ CTDL &amp; GT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D8F8BAD-31C6-4ADB-83F1-E4B993AD8C6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33600" y="1415492"/>
            <a:ext cx="2743200" cy="62452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133600" y="2160111"/>
            <a:ext cx="9015413" cy="34024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 algn="just" fontAlgn="auto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vai trò của CTDL &amp; </a:t>
            </a:r>
            <a:r>
              <a:rPr lang="en-US" sz="3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</a:p>
          <a:p>
            <a:pPr marL="742950" indent="-742950" algn="just" fontAlgn="auto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Khái niệm về kiểu dữ </a:t>
            </a:r>
            <a:r>
              <a:rPr lang="en-US" sz="3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</a:p>
          <a:p>
            <a:pPr marL="742950" indent="-742950" algn="just" fontAlgn="auto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Nhắc lại các kiểu dữ liệu C/C++ </a:t>
            </a:r>
            <a:endParaRPr lang="en-US" sz="3600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 fontAlgn="auto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 phương pháp mô tả giải </a:t>
            </a:r>
            <a:r>
              <a:rPr lang="en-US" sz="3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</a:p>
          <a:p>
            <a:pPr marL="742950" indent="-742950" algn="just" fontAlgn="auto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vi-V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độ phức tạp giải thuật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9144000" cy="7921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Giới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thiệu </a:t>
            </a: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vai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CTDL &amp; GT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9C8558-BBA6-488B-8BCB-65718145D18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  <p:sp>
        <p:nvSpPr>
          <p:cNvPr id="4" name="Oval 3"/>
          <p:cNvSpPr/>
          <p:nvPr/>
        </p:nvSpPr>
        <p:spPr>
          <a:xfrm>
            <a:off x="3124200" y="1143000"/>
            <a:ext cx="5715000" cy="5410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/>
          </a:p>
          <a:p>
            <a:pPr algn="ctr"/>
            <a:endParaRPr lang="en-US"/>
          </a:p>
          <a:p>
            <a:pPr algn="ctr"/>
            <a:endParaRPr lang="en-US" smtClean="0"/>
          </a:p>
          <a:p>
            <a:pPr algn="ctr"/>
            <a:endParaRPr lang="en-US"/>
          </a:p>
          <a:p>
            <a:pPr algn="ctr"/>
            <a:endParaRPr lang="en-US" smtClean="0"/>
          </a:p>
          <a:p>
            <a:pPr algn="ctr"/>
            <a:endParaRPr lang="en-US"/>
          </a:p>
          <a:p>
            <a:pPr algn="ctr"/>
            <a:endParaRPr lang="en-US" smtClean="0"/>
          </a:p>
          <a:p>
            <a:pPr algn="ctr"/>
            <a:endParaRPr lang="en-US"/>
          </a:p>
          <a:p>
            <a:pPr algn="ctr"/>
            <a:endParaRPr lang="en-US" smtClean="0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 sz="4000" b="1">
              <a:solidFill>
                <a:schemeClr val="bg1"/>
              </a:solidFill>
            </a:endParaRPr>
          </a:p>
          <a:p>
            <a:pPr algn="ctr"/>
            <a:r>
              <a:rPr lang="en-US" sz="4000" b="1">
                <a:solidFill>
                  <a:schemeClr val="bg1"/>
                </a:solidFill>
              </a:rPr>
              <a:t>Chương trình</a:t>
            </a:r>
          </a:p>
        </p:txBody>
      </p:sp>
      <p:sp>
        <p:nvSpPr>
          <p:cNvPr id="9" name="Oval 8"/>
          <p:cNvSpPr/>
          <p:nvPr/>
        </p:nvSpPr>
        <p:spPr>
          <a:xfrm>
            <a:off x="3276600" y="2362200"/>
            <a:ext cx="2590800" cy="25146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/>
              <a:t>Cấu trúc dữ liệu</a:t>
            </a:r>
          </a:p>
        </p:txBody>
      </p:sp>
      <p:sp>
        <p:nvSpPr>
          <p:cNvPr id="10" name="Oval 9"/>
          <p:cNvSpPr/>
          <p:nvPr/>
        </p:nvSpPr>
        <p:spPr>
          <a:xfrm>
            <a:off x="6172200" y="2362200"/>
            <a:ext cx="2514600" cy="25146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/>
              <a:t>Giải thuật</a:t>
            </a:r>
          </a:p>
        </p:txBody>
      </p:sp>
      <p:sp>
        <p:nvSpPr>
          <p:cNvPr id="8" name="Curved Down Arrow 7"/>
          <p:cNvSpPr/>
          <p:nvPr/>
        </p:nvSpPr>
        <p:spPr>
          <a:xfrm>
            <a:off x="4457700" y="1752600"/>
            <a:ext cx="3086100" cy="838200"/>
          </a:xfrm>
          <a:prstGeom prst="curvedDown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rot="10800000">
            <a:off x="4610100" y="4495799"/>
            <a:ext cx="3086100" cy="838200"/>
          </a:xfrm>
          <a:prstGeom prst="curvedDown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52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repeatCount="indefinite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2" grpId="0" animBg="1"/>
      <p:bldP spid="1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560390"/>
            <a:ext cx="7391400" cy="7921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CTDL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1600201"/>
            <a:ext cx="7391400" cy="26669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kiệm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9C8558-BBA6-488B-8BCB-65718145D18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03238"/>
            <a:ext cx="7010400" cy="792162"/>
          </a:xfrm>
        </p:spPr>
        <p:txBody>
          <a:bodyPr/>
          <a:lstStyle/>
          <a:p>
            <a:pPr>
              <a:defRPr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Khái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00537"/>
            <a:ext cx="9677400" cy="5026025"/>
          </a:xfrm>
        </p:spPr>
        <p:txBody>
          <a:bodyPr>
            <a:noAutofit/>
          </a:bodyPr>
          <a:lstStyle/>
          <a:p>
            <a:pPr marL="114300" lvl="1" indent="0">
              <a:buNone/>
              <a:defRPr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&lt;V, O&gt;</a:t>
            </a:r>
          </a:p>
          <a:p>
            <a:pPr marL="114300" lvl="1" indent="0">
              <a:buNone/>
              <a:defRPr/>
            </a:pPr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V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14300" lvl="1" indent="0">
              <a:buNone/>
              <a:defRPr/>
            </a:pPr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14300" lvl="1" indent="0">
              <a:buNone/>
              <a:defRPr/>
            </a:pP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1" indent="0">
              <a:buNone/>
              <a:defRPr/>
            </a:pP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640080" lvl="1" indent="-274320">
              <a:buNone/>
              <a:defRPr/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short</a:t>
            </a:r>
          </a:p>
          <a:p>
            <a:pPr marL="640080" lvl="1" indent="-274320">
              <a:buNone/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V = {-32768, 32767}</a:t>
            </a:r>
          </a:p>
          <a:p>
            <a:pPr marL="640080" lvl="1" indent="-274320">
              <a:buNone/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O = {+, -, *, /, %}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9C8558-BBA6-488B-8BCB-65718145D18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3811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8424"/>
            <a:ext cx="11582400" cy="46482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22960" lvl="1" indent="-457200">
              <a:defRPr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0" lvl="1" indent="-457200">
              <a:defRPr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0" lvl="1" indent="-457200">
              <a:defRPr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0" lvl="1" indent="-457200">
              <a:defRPr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0" lvl="1" indent="-457200">
              <a:defRPr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0" lvl="1" indent="-457200" algn="just">
              <a:defRPr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ngăn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cây,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3B6616-7EF9-4AA9-A019-1B7A65CE6915}" type="slidenum">
              <a:rPr lang="en-US" smtClean="0">
                <a:solidFill>
                  <a:schemeClr val="tx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>
              <a:solidFill>
                <a:schemeClr val="tx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7010400" cy="792162"/>
          </a:xfrm>
        </p:spPr>
        <p:txBody>
          <a:bodyPr/>
          <a:lstStyle/>
          <a:p>
            <a:pPr>
              <a:defRPr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Khái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5774982"/>
              </p:ext>
            </p:extLst>
          </p:nvPr>
        </p:nvGraphicFramePr>
        <p:xfrm>
          <a:off x="0" y="1219200"/>
          <a:ext cx="12192000" cy="53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4976">
                <a:tc>
                  <a:txBody>
                    <a:bodyPr/>
                    <a:lstStyle/>
                    <a:p>
                      <a:pPr algn="ctr"/>
                      <a:r>
                        <a:rPr kumimoji="0" lang="en-US" sz="4000" b="1" u="sng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Tĩnh</a:t>
                      </a:r>
                      <a:endParaRPr kumimoji="0" lang="en-US" sz="4000" b="1" kern="1200" dirty="0" smtClean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3200" b="0" u="none" strike="noStrike" kern="1200" baseline="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nghĩa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ở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kumimoji="0" lang="en-US" sz="3200" b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kern="120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dịch</a:t>
                      </a:r>
                      <a:r>
                        <a:rPr kumimoji="0" lang="en-US" sz="3200" b="1" kern="120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kumimoji="0" lang="en-US" sz="3200" b="1" kern="12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ở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3200" b="0" kern="1200" baseline="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ban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tùy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từng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ngôn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ngữ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3200" b="0" kern="1200" baseline="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Tồn</a:t>
                      </a:r>
                      <a:r>
                        <a:rPr kumimoji="0" lang="en-US" sz="3200" b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kumimoji="0" lang="en-US" sz="3200" b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thúc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chương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3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4000" b="1" u="sng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Động</a:t>
                      </a:r>
                      <a:endParaRPr kumimoji="0" lang="en-US" sz="4000" b="1" kern="1200" dirty="0" smtClean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3200" b="0" u="none" strike="noStrike" kern="1200" baseline="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gắn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con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trỏ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i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sz="3200" b="0" i="1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kumimoji="0" lang="en-US" sz="3200" b="0" i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i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kumimoji="0" lang="en-US" sz="3200" b="1" i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i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kumimoji="0" lang="en-US" sz="3200" b="1" i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i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kumimoji="0" lang="en-US" sz="3200" b="1" i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i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dịch</a:t>
                      </a:r>
                      <a:r>
                        <a:rPr kumimoji="0" lang="en-US" sz="3200" b="1" i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i="1" kern="12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kumimoji="0" lang="en-US" sz="3200" b="1" i="1" kern="12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i="1" kern="1200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kumimoji="0" lang="en-US" sz="3200" b="0" i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lúc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endParaRPr kumimoji="0" lang="en-US" sz="3200" b="0" kern="1200" dirty="0" smtClean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3200" b="0" kern="1200" baseline="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ban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sz="3200" b="0" kern="1200" baseline="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endParaRPr kumimoji="0" lang="en-US" sz="3200" b="0" kern="1200" baseline="0" dirty="0" smtClean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Font typeface="Arial" pitchFamily="34" charset="0"/>
                        <a:buChar char="•"/>
                      </a:pPr>
                      <a:r>
                        <a:rPr kumimoji="0" lang="en-US" sz="3200" b="0" kern="1200" baseline="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giải</a:t>
                      </a:r>
                      <a:r>
                        <a:rPr kumimoji="0" lang="en-US" sz="3200" b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phóng</a:t>
                      </a:r>
                      <a:r>
                        <a:rPr kumimoji="0" lang="en-US" sz="3200" b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khỏi</a:t>
                      </a:r>
                      <a:r>
                        <a:rPr kumimoji="0" lang="en-US" sz="3200" b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kumimoji="0" lang="en-US" sz="3200" b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kern="120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nhớ</a:t>
                      </a:r>
                      <a:r>
                        <a:rPr kumimoji="0" lang="en-US" sz="3200" b="1" kern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0" kern="1200" dirty="0" err="1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kumimoji="0" lang="en-US" sz="3200" b="0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3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23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6EC83A-440A-4305-A515-DA5E8697787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7010400" cy="792162"/>
          </a:xfrm>
        </p:spPr>
        <p:txBody>
          <a:bodyPr/>
          <a:lstStyle/>
          <a:p>
            <a:pPr>
              <a:defRPr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Khái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Nhắc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4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C/C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endParaRPr lang="vi-V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47801"/>
            <a:ext cx="8743950" cy="2819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pPr>
              <a:lnSpc>
                <a:spcPct val="150000"/>
              </a:lnSpc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endParaRPr lang="vi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7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8382000" cy="1295400"/>
          </a:xfrm>
        </p:spPr>
        <p:txBody>
          <a:bodyPr/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022948"/>
              </p:ext>
            </p:extLst>
          </p:nvPr>
        </p:nvGraphicFramePr>
        <p:xfrm>
          <a:off x="1905000" y="1524001"/>
          <a:ext cx="8382000" cy="4545209"/>
        </p:xfrm>
        <a:graphic>
          <a:graphicData uri="http://schemas.openxmlformats.org/drawingml/2006/table">
            <a:tbl>
              <a:tblPr/>
              <a:tblGrid>
                <a:gridCol w="899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7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30" marR="36830" marT="8884" marB="88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Tên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kiểu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30" marR="36830" marT="8884" marB="88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Ghi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chú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30" marR="36830" marT="8884" marB="88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Kích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thước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30" marR="36830" marT="8884" marB="88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4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6830" marR="36830" marT="8884" marB="88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char</a:t>
                      </a:r>
                    </a:p>
                  </a:txBody>
                  <a:tcPr marL="36830" marR="36830" marT="8884" marB="88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Ký tự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byte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4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Sô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́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nguyên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byte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36830" marR="36830" marT="8884" marB="88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unsigned char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Sô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́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nguyên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dương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byte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36830" marR="36830" marT="8884" marB="88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short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Sô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́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nguyên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bytes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36830" marR="36830" marT="8884" marB="88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unsigned short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Số nguyên dương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bytes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36830" marR="36830" marT="8884" marB="88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Sô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́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nguyên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 bytes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36830" marR="36830" marT="8884" marB="88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unsigned int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Số nguyên dương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 bytes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36830" marR="36830" marT="8884" marB="88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long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Sô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́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nguyên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 bytes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36830" marR="36830" marT="8884" marB="88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unsigned long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Sô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́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nguyên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dương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 bytes</a:t>
                      </a:r>
                    </a:p>
                  </a:txBody>
                  <a:tcPr marL="36830" marR="36830" marT="8884" marB="888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34000" y="6172201"/>
            <a:ext cx="18288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99174E-D475-4A8F-BFD3-8A194AEBAA3D}" type="slidenum">
              <a:rPr lang="en-US">
                <a:solidFill>
                  <a:srgbClr val="7F7F7F"/>
                </a:solidFill>
              </a:rPr>
              <a:pPr eaLnBrk="1" hangingPunct="1"/>
              <a:t>9</a:t>
            </a:fld>
            <a:endParaRPr lang="en-US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98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8077200" cy="1066800"/>
          </a:xfrm>
        </p:spPr>
        <p:txBody>
          <a:bodyPr/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153741"/>
              </p:ext>
            </p:extLst>
          </p:nvPr>
        </p:nvGraphicFramePr>
        <p:xfrm>
          <a:off x="2286000" y="1295401"/>
          <a:ext cx="8229600" cy="2057399"/>
        </p:xfrm>
        <a:graphic>
          <a:graphicData uri="http://schemas.openxmlformats.org/drawingml/2006/table">
            <a:tbl>
              <a:tblPr/>
              <a:tblGrid>
                <a:gridCol w="928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2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28" marR="36828" marT="8891" marB="88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Tên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kiểu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28" marR="36828" marT="8891" marB="88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Ghi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chú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28" marR="36828" marT="8891" marB="88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Kích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thước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28" marR="36828" marT="8891" marB="88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1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6828" marR="36828" marT="8891" marB="88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float</a:t>
                      </a:r>
                    </a:p>
                  </a:txBody>
                  <a:tcPr marL="36828" marR="36828" marT="8891" marB="88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36828" marR="36828" marT="8891" marB="88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 bytes</a:t>
                      </a:r>
                    </a:p>
                  </a:txBody>
                  <a:tcPr marL="36828" marR="36828" marT="8891" marB="88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1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36828" marR="36828" marT="8891" marB="88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double</a:t>
                      </a:r>
                    </a:p>
                  </a:txBody>
                  <a:tcPr marL="36828" marR="36828" marT="8891" marB="88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36828" marR="36828" marT="8891" marB="88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bytes</a:t>
                      </a:r>
                    </a:p>
                  </a:txBody>
                  <a:tcPr marL="36828" marR="36828" marT="8891" marB="88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1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36828" marR="36828" marT="8891" marB="88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long double</a:t>
                      </a:r>
                    </a:p>
                  </a:txBody>
                  <a:tcPr marL="36828" marR="36828" marT="8891" marB="88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36828" marR="36828" marT="8891" marB="88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bytes</a:t>
                      </a:r>
                    </a:p>
                  </a:txBody>
                  <a:tcPr marL="36828" marR="36828" marT="8891" marB="8891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34000" y="6172201"/>
            <a:ext cx="18288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3A3D570-2C08-414F-83C2-7F56854A064F}" type="slidenum">
              <a:rPr lang="en-US">
                <a:solidFill>
                  <a:srgbClr val="7F7F7F"/>
                </a:solidFill>
              </a:rPr>
              <a:pPr eaLnBrk="1" hangingPunct="1"/>
              <a:t>10</a:t>
            </a:fld>
            <a:endParaRPr lang="en-US">
              <a:solidFill>
                <a:srgbClr val="7F7F7F"/>
              </a:solidFill>
            </a:endParaRPr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918099"/>
              </p:ext>
            </p:extLst>
          </p:nvPr>
        </p:nvGraphicFramePr>
        <p:xfrm>
          <a:off x="1981201" y="4495800"/>
          <a:ext cx="8610600" cy="1143000"/>
        </p:xfrm>
        <a:graphic>
          <a:graphicData uri="http://schemas.openxmlformats.org/drawingml/2006/table">
            <a:tbl>
              <a:tblPr/>
              <a:tblGrid>
                <a:gridCol w="97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0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8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2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28" marR="36828" marT="8893" marB="88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Tên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kiểu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28" marR="36828" marT="8893" marB="88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Ghi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chú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28" marR="36828" marT="8893" marB="88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Kích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thước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6828" marR="36828" marT="8893" marB="88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7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6828" marR="36828" marT="8893" marB="88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bool</a:t>
                      </a:r>
                    </a:p>
                  </a:txBody>
                  <a:tcPr marL="36828" marR="36828" marT="8893" marB="88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Gồm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2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giá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trị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: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true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hoặc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false</a:t>
                      </a:r>
                    </a:p>
                  </a:txBody>
                  <a:tcPr marL="36828" marR="36828" marT="8893" marB="88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914400" y="3581400"/>
            <a:ext cx="8077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20040" indent="-320040" defTabSz="914400" eaLnBrk="1" latinLnBrk="0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buNone/>
              <a:defRPr sz="4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71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endParaRPr lang="vi-V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2651125"/>
            <a:ext cx="8058150" cy="4206875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&lt;KDL&gt; &lt;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mảng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[&lt;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Sô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sz="3200" b="1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phần</a:t>
            </a:r>
            <a:r>
              <a:rPr lang="en-US" sz="3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 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max&gt;];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a[100];</a:t>
            </a:r>
          </a:p>
          <a:p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VD1: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a[100] = {0};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VD2: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a[5] = {3, 6, 2, 10, 17};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a[] = {3, 6, 2, 10, 17};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731677"/>
              </p:ext>
            </p:extLst>
          </p:nvPr>
        </p:nvGraphicFramePr>
        <p:xfrm>
          <a:off x="2286000" y="1371598"/>
          <a:ext cx="7238999" cy="1143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76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76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76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1501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Giá</a:t>
                      </a:r>
                      <a:r>
                        <a:rPr lang="en-US" sz="2800" b="1" baseline="0" dirty="0" smtClean="0"/>
                        <a:t> </a:t>
                      </a:r>
                      <a:r>
                        <a:rPr lang="en-US" sz="2800" b="1" baseline="0" dirty="0" err="1" smtClean="0"/>
                        <a:t>trị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5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7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10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…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3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11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2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1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Vị</a:t>
                      </a:r>
                      <a:r>
                        <a:rPr lang="en-US" sz="2800" b="1" baseline="0" dirty="0" smtClean="0"/>
                        <a:t> </a:t>
                      </a:r>
                      <a:r>
                        <a:rPr lang="en-US" sz="2800" b="1" baseline="0" dirty="0" err="1" smtClean="0"/>
                        <a:t>trí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 smtClean="0"/>
                        <a:t>0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 smtClean="0"/>
                        <a:t>1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 smtClean="0"/>
                        <a:t>2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 smtClean="0"/>
                        <a:t>…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 smtClean="0"/>
                        <a:t>n-2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 smtClean="0"/>
                        <a:t>n-1</a:t>
                      </a:r>
                      <a:endParaRPr lang="en-US" sz="24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77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066800"/>
            <a:ext cx="12192000" cy="5578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3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time.h</a:t>
            </a:r>
            <a:r>
              <a:rPr lang="en-US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buFontTx/>
              <a:buChar char="-"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srand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((unsigned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)time(NULL));</a:t>
            </a:r>
          </a:p>
          <a:p>
            <a:pPr>
              <a:buFontTx/>
              <a:buChar char="-"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 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()%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k; //Giá trị sinh ra có thể trùng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k: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[0..k-1]</a:t>
            </a:r>
          </a:p>
          <a:p>
            <a:pPr marL="0" indent="0">
              <a:buNone/>
            </a:pP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VD: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50</a:t>
            </a:r>
          </a:p>
          <a:p>
            <a:pPr marL="0" indent="0">
              <a:buNone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srand</a:t>
            </a: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((unsigned </a:t>
            </a:r>
            <a:r>
              <a:rPr lang="en-US" sz="3200" b="1" i="1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)time(NULL)); 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Giá trị sinh ra 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thể trùng</a:t>
            </a:r>
            <a:endParaRPr lang="en-US" sz="32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 rand()%</a:t>
            </a:r>
            <a:r>
              <a:rPr lang="en-US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8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03199"/>
            <a:ext cx="10210801" cy="1325563"/>
          </a:xfrm>
        </p:spPr>
        <p:txBody>
          <a:bodyPr/>
          <a:lstStyle/>
          <a:p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11506200" cy="4530726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nguyên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3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4572000" cy="701675"/>
          </a:xfrm>
        </p:spPr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295400"/>
            <a:ext cx="8686800" cy="5060950"/>
          </a:xfrm>
        </p:spPr>
        <p:txBody>
          <a:bodyPr>
            <a:no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&lt;</a:t>
            </a:r>
            <a:r>
              <a:rPr lang="en-US" sz="36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[&lt;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Sô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sz="36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36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&gt;];</a:t>
            </a:r>
            <a:endParaRPr lang="en-US" sz="3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VD: char </a:t>
            </a:r>
            <a:r>
              <a:rPr lang="en-US" sz="3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hoten</a:t>
            </a:r>
            <a:r>
              <a:rPr lang="en-US" sz="3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[50];</a:t>
            </a:r>
            <a:endParaRPr 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Xem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lại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các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hàm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cin.getline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cin.ignore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stricmp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strchr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strstr</a:t>
            </a:r>
            <a:endParaRPr lang="vi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0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39862"/>
            <a:ext cx="11582400" cy="3284538"/>
          </a:xfrm>
        </p:spPr>
        <p:txBody>
          <a:bodyPr/>
          <a:lstStyle/>
          <a:p>
            <a:pPr algn="just"/>
            <a:r>
              <a:rPr lang="vi-VN" b="1"/>
              <a:t>Hàm strcmp</a:t>
            </a:r>
            <a:r>
              <a:rPr lang="vi-VN" b="1" smtClean="0"/>
              <a:t>()</a:t>
            </a:r>
            <a:r>
              <a:rPr lang="en-US" b="1" smtClean="0"/>
              <a:t>:</a:t>
            </a:r>
            <a:r>
              <a:rPr lang="vi-VN" b="1" smtClean="0"/>
              <a:t> </a:t>
            </a:r>
            <a:r>
              <a:rPr lang="vi-VN" b="1"/>
              <a:t>trong C</a:t>
            </a:r>
            <a:r>
              <a:rPr lang="vi-VN"/>
              <a:t> được sử dụng để so sánh 2 chuỗi. Nếu hàm strcmp(str1, str2) trả về 0 thì 2 chuỗi bằng nhau, lớn hơn 0 thì chuỗi str1 lớn hơn chuỗi str2 và ngược lại nếu nhỏ hơn 0 thì chuỗi str1 nhỏ hơn str2</a:t>
            </a:r>
            <a:r>
              <a:rPr lang="vi-VN" smtClean="0"/>
              <a:t>.</a:t>
            </a:r>
            <a:endParaRPr lang="en-US" smtClean="0"/>
          </a:p>
          <a:p>
            <a:pPr algn="just"/>
            <a:r>
              <a:rPr lang="vi-VN" b="1"/>
              <a:t>Hàm </a:t>
            </a:r>
            <a:r>
              <a:rPr lang="vi-VN" b="1" smtClean="0"/>
              <a:t>stricmp</a:t>
            </a:r>
            <a:r>
              <a:rPr lang="en-US" b="1" smtClean="0"/>
              <a:t>()</a:t>
            </a:r>
            <a:r>
              <a:rPr lang="vi-VN" b="1" smtClean="0"/>
              <a:t>:</a:t>
            </a:r>
            <a:endParaRPr lang="vi-VN"/>
          </a:p>
          <a:p>
            <a:pPr algn="just"/>
            <a:r>
              <a:rPr lang="vi-VN"/>
              <a:t>Công </a:t>
            </a:r>
            <a:r>
              <a:rPr lang="vi-VN" smtClean="0"/>
              <a:t>dụng: </a:t>
            </a:r>
            <a:r>
              <a:rPr lang="vi-VN"/>
              <a:t>So sánh 2 chuỗi không phân biệt chữ hoa chữ thường , hàm trả về tương tự strcmp.</a:t>
            </a:r>
          </a:p>
          <a:p>
            <a:pPr marL="0" indent="0" algn="just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4572000" cy="701675"/>
          </a:xfrm>
        </p:spPr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chuỗi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ký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tự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55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325563"/>
          </a:xfrm>
        </p:spPr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trỏ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47801"/>
            <a:ext cx="7886700" cy="350520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&lt;KDL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* &lt;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mảng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&gt;;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int* 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char* &lt;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&gt;;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char* hoten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3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10515600" cy="685800"/>
          </a:xfrm>
        </p:spPr>
        <p:txBody>
          <a:bodyPr>
            <a:noAutofit/>
          </a:bodyPr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trỏ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72757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600" b="1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ý: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trỏ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</a:p>
          <a:p>
            <a:pPr marL="0" indent="0" algn="just">
              <a:buNone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VD:</a:t>
            </a:r>
          </a:p>
          <a:p>
            <a:pPr marL="0" indent="0" algn="just">
              <a:buNone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int* 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 = 10;</a:t>
            </a:r>
          </a:p>
          <a:p>
            <a:pPr marL="0" indent="0"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new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[n];</a:t>
            </a:r>
          </a:p>
          <a:p>
            <a:pPr marL="0" indent="0"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</a:p>
          <a:p>
            <a:pPr marL="0" indent="0"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 a;</a:t>
            </a:r>
            <a:endParaRPr lang="vi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2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89074"/>
            <a:ext cx="10058400" cy="45307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3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 </a:t>
            </a: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10515600" cy="4351338"/>
          </a:xfrm>
        </p:spPr>
        <p:txBody>
          <a:bodyPr>
            <a:normAutofit/>
          </a:bodyPr>
          <a:lstStyle/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tên_struct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(biến) thuộc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36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spcBef>
                <a:spcPct val="0"/>
              </a:spcBef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4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Khai báo biến cấu trúc</a:t>
            </a:r>
            <a:endParaRPr lang="en-US" sz="4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tên_struct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tên_kiểu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vi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0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400" y="457200"/>
            <a:ext cx="5943600" cy="740828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endParaRPr lang="vi-V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0" y="1150143"/>
            <a:ext cx="5573730" cy="2583657"/>
          </a:xfr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tĩnh</a:t>
            </a:r>
            <a:endParaRPr lang="en-US" sz="32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VD: 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DATE 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d; // </a:t>
            </a: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ttDate d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2012;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04800" y="1226609"/>
            <a:ext cx="5562600" cy="448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 ttDate</a:t>
            </a:r>
          </a:p>
          <a:p>
            <a:pPr marL="231775"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31775"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char thu[9];</a:t>
            </a:r>
          </a:p>
          <a:p>
            <a:pPr marL="231775"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unsigned char ngay;</a:t>
            </a:r>
          </a:p>
          <a:p>
            <a:pPr marL="231775"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unsigned char  thang;</a:t>
            </a:r>
          </a:p>
          <a:p>
            <a:pPr marL="231775"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int nam;</a:t>
            </a:r>
          </a:p>
          <a:p>
            <a:pPr marL="231775"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231775"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60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 struct </a:t>
            </a: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ttDate </a:t>
            </a:r>
            <a:r>
              <a:rPr lang="en-US" sz="36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32198" y="457200"/>
            <a:ext cx="5611402" cy="747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 </a:t>
            </a:r>
            <a:r>
              <a:rPr lang="en-US" sz="32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 </a:t>
            </a:r>
            <a:r>
              <a:rPr lang="en-US" sz="32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</a:t>
            </a:r>
            <a:r>
              <a:rPr lang="en-US" sz="32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endParaRPr lang="vi-V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0" y="561980"/>
            <a:ext cx="0" cy="61436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6248400" y="3911594"/>
            <a:ext cx="5573730" cy="2565406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 cấu trúc kiểu con trỏ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&lt;tên biến&gt;</a:t>
            </a:r>
            <a:r>
              <a:rPr lang="en-US" sz="32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thành phần cấu trúc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VD: </a:t>
            </a:r>
          </a:p>
          <a:p>
            <a:pPr marL="971550" lvl="1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 *d; //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ttDate </a:t>
            </a: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*d</a:t>
            </a:r>
            <a:endParaRPr lang="en-US" sz="3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 = 2012;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52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tin:</a:t>
            </a:r>
          </a:p>
          <a:p>
            <a:pPr>
              <a:buFontTx/>
              <a:buChar char="-"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8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trỏ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6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125"/>
            <a:ext cx="10515600" cy="1082675"/>
          </a:xfrm>
        </p:spPr>
        <p:txBody>
          <a:bodyPr/>
          <a:lstStyle/>
          <a:p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Các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2400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990600" y="350837"/>
            <a:ext cx="8229600" cy="944563"/>
          </a:xfrm>
        </p:spPr>
        <p:txBody>
          <a:bodyPr>
            <a:normAutofit/>
          </a:bodyPr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Content Placeholder 5"/>
          <p:cNvSpPr>
            <a:spLocks noGrp="1"/>
          </p:cNvSpPr>
          <p:nvPr>
            <p:ph idx="1"/>
          </p:nvPr>
        </p:nvSpPr>
        <p:spPr>
          <a:xfrm>
            <a:off x="3810000" y="1219200"/>
            <a:ext cx="3352800" cy="533400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en-US" sz="3200" dirty="0" err="1"/>
              <a:t>Bắt</a:t>
            </a:r>
            <a:r>
              <a:rPr lang="en-US" sz="3200" dirty="0"/>
              <a:t> </a:t>
            </a:r>
            <a:r>
              <a:rPr lang="en-US" sz="3200" dirty="0" err="1"/>
              <a:t>đầu</a:t>
            </a:r>
            <a:r>
              <a:rPr lang="en-US" sz="3200" dirty="0"/>
              <a:t>/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thúc</a:t>
            </a: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16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3200" dirty="0" err="1"/>
              <a:t>Rẽ</a:t>
            </a:r>
            <a:r>
              <a:rPr lang="en-US" sz="3200" dirty="0"/>
              <a:t> </a:t>
            </a:r>
            <a:r>
              <a:rPr lang="en-US" sz="3200" dirty="0" err="1"/>
              <a:t>nhánh</a:t>
            </a: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2400" dirty="0"/>
          </a:p>
          <a:p>
            <a:pPr eaLnBrk="1" hangingPunct="1">
              <a:buFont typeface="Arial" charset="0"/>
              <a:buNone/>
              <a:defRPr/>
            </a:pPr>
            <a:endParaRPr lang="en-US" sz="14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3200" dirty="0" err="1"/>
              <a:t>Luồng</a:t>
            </a:r>
            <a:r>
              <a:rPr lang="en-US" sz="3200" dirty="0"/>
              <a:t> </a:t>
            </a:r>
            <a:r>
              <a:rPr lang="en-US" sz="3200" dirty="0" err="1"/>
              <a:t>xử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18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3200" dirty="0" err="1"/>
              <a:t>Khối</a:t>
            </a:r>
            <a:r>
              <a:rPr lang="en-US" sz="3200" dirty="0"/>
              <a:t> </a:t>
            </a:r>
            <a:r>
              <a:rPr lang="en-US" sz="3200" dirty="0" err="1"/>
              <a:t>xử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24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3200" dirty="0" err="1"/>
              <a:t>Nhập</a:t>
            </a:r>
            <a:r>
              <a:rPr lang="en-US" sz="3200" dirty="0"/>
              <a:t>/ </a:t>
            </a:r>
            <a:r>
              <a:rPr lang="en-US" sz="3200" dirty="0" err="1"/>
              <a:t>Xuất</a:t>
            </a: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  <a:p>
            <a:pPr eaLnBrk="1" hangingPunct="1">
              <a:buFont typeface="Arial" charset="0"/>
              <a:buNone/>
              <a:defRPr/>
            </a:pPr>
            <a:endParaRPr lang="en-US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34000" y="6172201"/>
            <a:ext cx="18288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B2606F4-00AB-4ACE-9EF5-2935C96395AC}" type="slidenum">
              <a:rPr lang="en-US">
                <a:solidFill>
                  <a:srgbClr val="7F7F7F"/>
                </a:solidFill>
              </a:rPr>
              <a:pPr eaLnBrk="1" hangingPunct="1"/>
              <a:t>24</a:t>
            </a:fld>
            <a:endParaRPr lang="en-US">
              <a:solidFill>
                <a:srgbClr val="7F7F7F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905000" y="1143000"/>
            <a:ext cx="1828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Diamond 7"/>
          <p:cNvSpPr/>
          <p:nvPr/>
        </p:nvSpPr>
        <p:spPr>
          <a:xfrm>
            <a:off x="1752600" y="2209800"/>
            <a:ext cx="1828800" cy="1371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endParaRPr lang="en-US" sz="2400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057400" y="4189414"/>
            <a:ext cx="1524000" cy="1587"/>
          </a:xfrm>
          <a:prstGeom prst="straightConnector1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057400" y="4800600"/>
            <a:ext cx="1524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Parallelogram 12"/>
          <p:cNvSpPr/>
          <p:nvPr/>
        </p:nvSpPr>
        <p:spPr>
          <a:xfrm>
            <a:off x="2057400" y="5867400"/>
            <a:ext cx="1524000" cy="6858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Left Arrow 13"/>
          <p:cNvSpPr/>
          <p:nvPr/>
        </p:nvSpPr>
        <p:spPr>
          <a:xfrm>
            <a:off x="6629400" y="2819400"/>
            <a:ext cx="914400" cy="685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781800" y="3962400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539" name="Content Placeholder 5"/>
          <p:cNvSpPr txBox="1">
            <a:spLocks/>
          </p:cNvSpPr>
          <p:nvPr/>
        </p:nvSpPr>
        <p:spPr bwMode="auto">
          <a:xfrm>
            <a:off x="7772400" y="2819400"/>
            <a:ext cx="2743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3200" dirty="0" err="1">
                <a:latin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</a:rPr>
              <a:t>trị</a:t>
            </a:r>
            <a:r>
              <a:rPr lang="en-US" sz="3200" dirty="0"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</a:rPr>
              <a:t>về</a:t>
            </a: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3200" dirty="0" err="1">
                <a:latin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</a:rPr>
              <a:t>nối</a:t>
            </a: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3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93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351338"/>
          </a:xfrm>
        </p:spPr>
        <p:txBody>
          <a:bodyPr>
            <a:normAutofit/>
          </a:bodyPr>
          <a:lstStyle/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iều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THEN …ENDIF</a:t>
            </a:r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iều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THEN ... ELSE ... ENDIF</a:t>
            </a:r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DO … ENDWHILE</a:t>
            </a:r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… UNTIL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5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5437"/>
            <a:ext cx="10515600" cy="1325563"/>
          </a:xfrm>
        </p:spPr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27432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pPr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pPr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pPr marL="0" indent="0">
              <a:lnSpc>
                <a:spcPct val="150000"/>
              </a:lnSpc>
              <a:buNone/>
            </a:pP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4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41337"/>
            <a:ext cx="10515600" cy="830263"/>
          </a:xfrm>
        </p:spPr>
        <p:txBody>
          <a:bodyPr/>
          <a:lstStyle/>
          <a:p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vi-V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11125200" cy="35814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b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&gt; b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= a – b;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b – a;</a:t>
            </a:r>
          </a:p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0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515600" cy="930275"/>
          </a:xfrm>
        </p:spPr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0" y="1387475"/>
            <a:ext cx="3886200" cy="4351338"/>
          </a:xfrm>
        </p:spPr>
        <p:txBody>
          <a:bodyPr>
            <a:normAutofit/>
          </a:bodyPr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≠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a&gt;b THEN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a=a-b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ELSE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b=b-a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ENDIF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ENDWHILE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8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533401"/>
            <a:ext cx="9006322" cy="61736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03062"/>
            <a:ext cx="7886700" cy="792338"/>
          </a:xfrm>
        </p:spPr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4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52426"/>
            <a:ext cx="7886700" cy="104774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vi-VN" b="1" smtClean="0"/>
              <a:t>Đánh </a:t>
            </a:r>
            <a:r>
              <a:rPr lang="vi-VN" b="1" dirty="0" err="1" smtClean="0"/>
              <a:t>giá</a:t>
            </a:r>
            <a:r>
              <a:rPr lang="vi-VN" b="1" dirty="0" smtClean="0"/>
              <a:t> </a:t>
            </a:r>
            <a:r>
              <a:rPr lang="vi-VN" b="1" dirty="0" err="1" smtClean="0"/>
              <a:t>độ</a:t>
            </a:r>
            <a:r>
              <a:rPr lang="vi-VN" b="1" dirty="0" smtClean="0"/>
              <a:t> </a:t>
            </a:r>
            <a:r>
              <a:rPr lang="vi-VN" b="1" dirty="0" err="1" smtClean="0"/>
              <a:t>phức</a:t>
            </a:r>
            <a:r>
              <a:rPr lang="vi-VN" b="1" dirty="0" smtClean="0"/>
              <a:t> </a:t>
            </a:r>
            <a:r>
              <a:rPr lang="vi-VN" b="1" dirty="0" err="1" smtClean="0"/>
              <a:t>tạp</a:t>
            </a:r>
            <a:r>
              <a:rPr lang="vi-VN" b="1" dirty="0" smtClean="0"/>
              <a:t> </a:t>
            </a:r>
            <a:r>
              <a:rPr lang="vi-VN" b="1" dirty="0" err="1" smtClean="0"/>
              <a:t>giải</a:t>
            </a:r>
            <a:r>
              <a:rPr lang="vi-VN" b="1" dirty="0" smtClean="0"/>
              <a:t> </a:t>
            </a:r>
            <a:r>
              <a:rPr lang="vi-VN" b="1" dirty="0" err="1" smtClean="0"/>
              <a:t>thuật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371600"/>
            <a:ext cx="7886700" cy="3505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cứng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8C57E1C-0C46-4B2E-B7D2-CE9877054AC0}" type="slidenum">
              <a:rPr lang="en-US" smtClean="0">
                <a:solidFill>
                  <a:schemeClr val="tx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29A69-5BBF-4BF4-8035-9D0FCD911F0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935" y="948448"/>
            <a:ext cx="5131344" cy="455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3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728</TotalTime>
  <Words>1073</Words>
  <Application>Microsoft Office PowerPoint</Application>
  <PresentationFormat>Widescreen</PresentationFormat>
  <Paragraphs>323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Chương 1. TỔNG QUAN VỀ CTDL &amp; GT</vt:lpstr>
      <vt:lpstr>1. Giới thiệu vai trò của CTDL &amp; GT</vt:lpstr>
      <vt:lpstr>Các tiêu chuẩn đánh giá CTDL</vt:lpstr>
      <vt:lpstr>2. Khái niệm về kiểu dữ liệu</vt:lpstr>
      <vt:lpstr>2. Khái niệm về kiểu dữ liệu</vt:lpstr>
      <vt:lpstr>2. Khái niệm về kiểu dữ liệu</vt:lpstr>
      <vt:lpstr>3. Nhắc lại các kiểu dữ liệu C/C++</vt:lpstr>
      <vt:lpstr>Kiểu số nguyên</vt:lpstr>
      <vt:lpstr>Kiểu số thực</vt:lpstr>
      <vt:lpstr>Kiểu mảng 1 chiều</vt:lpstr>
      <vt:lpstr>Kiểu mảng 1 chiều</vt:lpstr>
      <vt:lpstr>Bài tập 1</vt:lpstr>
      <vt:lpstr>Kiểu chuỗi ký tự</vt:lpstr>
      <vt:lpstr>Kiểu chuỗi ký tự</vt:lpstr>
      <vt:lpstr>Kiểu mảng – Khai báo kiểu con trỏ</vt:lpstr>
      <vt:lpstr>Kiểu mảng – Khai báo kiểu con trỏ</vt:lpstr>
      <vt:lpstr>Bài tập 2</vt:lpstr>
      <vt:lpstr>Định nghĩa cấu trúc</vt:lpstr>
      <vt:lpstr>Truy cập thành phần có cấu trúc</vt:lpstr>
      <vt:lpstr>Bài tập 3</vt:lpstr>
      <vt:lpstr>Bài tập 4</vt:lpstr>
      <vt:lpstr>4. Các phương pháp mô tả giải thuật</vt:lpstr>
      <vt:lpstr>Các ký hiệu lưu đồ</vt:lpstr>
      <vt:lpstr>Ký hiệu mã giả</vt:lpstr>
      <vt:lpstr>Ví dụ mô tả giải thuật</vt:lpstr>
      <vt:lpstr>Mô tả bằng mã tự nhiên</vt:lpstr>
      <vt:lpstr>Mô tả bằng mã giả</vt:lpstr>
      <vt:lpstr>Mô tả bằng lưu đồ</vt:lpstr>
      <vt:lpstr>5. Đánh giá độ phức tạp giải thuật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Minh Thai</dc:creator>
  <cp:lastModifiedBy>Windows User</cp:lastModifiedBy>
  <cp:revision>103</cp:revision>
  <dcterms:created xsi:type="dcterms:W3CDTF">2007-08-28T06:01:43Z</dcterms:created>
  <dcterms:modified xsi:type="dcterms:W3CDTF">2024-09-23T03:27:31Z</dcterms:modified>
</cp:coreProperties>
</file>