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2" r:id="rId1"/>
  </p:sldMasterIdLst>
  <p:notesMasterIdLst>
    <p:notesMasterId r:id="rId118"/>
  </p:notesMasterIdLst>
  <p:handoutMasterIdLst>
    <p:handoutMasterId r:id="rId119"/>
  </p:handoutMasterIdLst>
  <p:sldIdLst>
    <p:sldId id="256" r:id="rId2"/>
    <p:sldId id="257" r:id="rId3"/>
    <p:sldId id="258" r:id="rId4"/>
    <p:sldId id="259" r:id="rId5"/>
    <p:sldId id="268" r:id="rId6"/>
    <p:sldId id="324" r:id="rId7"/>
    <p:sldId id="323" r:id="rId8"/>
    <p:sldId id="325" r:id="rId9"/>
    <p:sldId id="326" r:id="rId10"/>
    <p:sldId id="327" r:id="rId11"/>
    <p:sldId id="328" r:id="rId12"/>
    <p:sldId id="329" r:id="rId13"/>
    <p:sldId id="330" r:id="rId14"/>
    <p:sldId id="331" r:id="rId15"/>
    <p:sldId id="332" r:id="rId16"/>
    <p:sldId id="333" r:id="rId17"/>
    <p:sldId id="334" r:id="rId18"/>
    <p:sldId id="335" r:id="rId19"/>
    <p:sldId id="336" r:id="rId20"/>
    <p:sldId id="337" r:id="rId21"/>
    <p:sldId id="338" r:id="rId22"/>
    <p:sldId id="339" r:id="rId23"/>
    <p:sldId id="340" r:id="rId24"/>
    <p:sldId id="341" r:id="rId25"/>
    <p:sldId id="342" r:id="rId26"/>
    <p:sldId id="343" r:id="rId27"/>
    <p:sldId id="344" r:id="rId28"/>
    <p:sldId id="345" r:id="rId29"/>
    <p:sldId id="346" r:id="rId30"/>
    <p:sldId id="347" r:id="rId31"/>
    <p:sldId id="348" r:id="rId32"/>
    <p:sldId id="349" r:id="rId33"/>
    <p:sldId id="350" r:id="rId34"/>
    <p:sldId id="351" r:id="rId35"/>
    <p:sldId id="352" r:id="rId36"/>
    <p:sldId id="353" r:id="rId37"/>
    <p:sldId id="354" r:id="rId38"/>
    <p:sldId id="355" r:id="rId39"/>
    <p:sldId id="356" r:id="rId40"/>
    <p:sldId id="357" r:id="rId41"/>
    <p:sldId id="358" r:id="rId42"/>
    <p:sldId id="359" r:id="rId43"/>
    <p:sldId id="269" r:id="rId44"/>
    <p:sldId id="415" r:id="rId45"/>
    <p:sldId id="270" r:id="rId46"/>
    <p:sldId id="271" r:id="rId47"/>
    <p:sldId id="369" r:id="rId48"/>
    <p:sldId id="272" r:id="rId49"/>
    <p:sldId id="370" r:id="rId50"/>
    <p:sldId id="371" r:id="rId51"/>
    <p:sldId id="372" r:id="rId52"/>
    <p:sldId id="373" r:id="rId53"/>
    <p:sldId id="374" r:id="rId54"/>
    <p:sldId id="375" r:id="rId55"/>
    <p:sldId id="376" r:id="rId56"/>
    <p:sldId id="377" r:id="rId57"/>
    <p:sldId id="378" r:id="rId58"/>
    <p:sldId id="379" r:id="rId59"/>
    <p:sldId id="380" r:id="rId60"/>
    <p:sldId id="360" r:id="rId61"/>
    <p:sldId id="361" r:id="rId62"/>
    <p:sldId id="362" r:id="rId63"/>
    <p:sldId id="363" r:id="rId64"/>
    <p:sldId id="364" r:id="rId65"/>
    <p:sldId id="365" r:id="rId66"/>
    <p:sldId id="366" r:id="rId67"/>
    <p:sldId id="367" r:id="rId68"/>
    <p:sldId id="368" r:id="rId69"/>
    <p:sldId id="281" r:id="rId70"/>
    <p:sldId id="395" r:id="rId71"/>
    <p:sldId id="392" r:id="rId72"/>
    <p:sldId id="282" r:id="rId73"/>
    <p:sldId id="308" r:id="rId74"/>
    <p:sldId id="317" r:id="rId75"/>
    <p:sldId id="309" r:id="rId76"/>
    <p:sldId id="310" r:id="rId77"/>
    <p:sldId id="311" r:id="rId78"/>
    <p:sldId id="312" r:id="rId79"/>
    <p:sldId id="313" r:id="rId80"/>
    <p:sldId id="314" r:id="rId81"/>
    <p:sldId id="315" r:id="rId82"/>
    <p:sldId id="316" r:id="rId83"/>
    <p:sldId id="318" r:id="rId84"/>
    <p:sldId id="319" r:id="rId85"/>
    <p:sldId id="397" r:id="rId86"/>
    <p:sldId id="408" r:id="rId87"/>
    <p:sldId id="398" r:id="rId88"/>
    <p:sldId id="399" r:id="rId89"/>
    <p:sldId id="400" r:id="rId90"/>
    <p:sldId id="401" r:id="rId91"/>
    <p:sldId id="402" r:id="rId92"/>
    <p:sldId id="403" r:id="rId93"/>
    <p:sldId id="404" r:id="rId94"/>
    <p:sldId id="405" r:id="rId95"/>
    <p:sldId id="406" r:id="rId96"/>
    <p:sldId id="409" r:id="rId97"/>
    <p:sldId id="411" r:id="rId98"/>
    <p:sldId id="410" r:id="rId99"/>
    <p:sldId id="320" r:id="rId100"/>
    <p:sldId id="295" r:id="rId101"/>
    <p:sldId id="420" r:id="rId102"/>
    <p:sldId id="418" r:id="rId103"/>
    <p:sldId id="416" r:id="rId104"/>
    <p:sldId id="296" r:id="rId105"/>
    <p:sldId id="297" r:id="rId106"/>
    <p:sldId id="298" r:id="rId107"/>
    <p:sldId id="299" r:id="rId108"/>
    <p:sldId id="300" r:id="rId109"/>
    <p:sldId id="301" r:id="rId110"/>
    <p:sldId id="302" r:id="rId111"/>
    <p:sldId id="394" r:id="rId112"/>
    <p:sldId id="303" r:id="rId113"/>
    <p:sldId id="419" r:id="rId114"/>
    <p:sldId id="412" r:id="rId115"/>
    <p:sldId id="414" r:id="rId116"/>
    <p:sldId id="417" r:id="rId117"/>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64" autoAdjust="0"/>
    <p:restoredTop sz="94667" autoAdjust="0"/>
  </p:normalViewPr>
  <p:slideViewPr>
    <p:cSldViewPr>
      <p:cViewPr varScale="1">
        <p:scale>
          <a:sx n="60" d="100"/>
          <a:sy n="60" d="100"/>
        </p:scale>
        <p:origin x="600" y="2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91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handoutMaster" Target="handoutMasters/handout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B80745FB-9D26-41BF-A08D-BDD78B43AF44}" type="datetimeFigureOut">
              <a:rPr lang="en-US"/>
              <a:pPr>
                <a:defRPr/>
              </a:pPr>
              <a:t>23/09/2024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AA8AC277-5E6E-4874-A7A6-D9E31EBF29AD}" type="slidenum">
              <a:rPr lang="en-US"/>
              <a:pPr>
                <a:defRPr/>
              </a:pPr>
              <a:t>‹#›</a:t>
            </a:fld>
            <a:endParaRPr lang="en-US"/>
          </a:p>
        </p:txBody>
      </p:sp>
    </p:spTree>
    <p:extLst>
      <p:ext uri="{BB962C8B-B14F-4D97-AF65-F5344CB8AC3E}">
        <p14:creationId xmlns:p14="http://schemas.microsoft.com/office/powerpoint/2010/main" val="34263659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F0BEB362-0318-4A37-B8D8-ABEEB28485EF}" type="datetimeFigureOut">
              <a:rPr lang="en-US"/>
              <a:pPr>
                <a:defRPr/>
              </a:pPr>
              <a:t>23/09/2024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F86008FB-79CA-4926-A8B0-517FC16E2CE6}" type="slidenum">
              <a:rPr lang="en-US"/>
              <a:pPr>
                <a:defRPr/>
              </a:pPr>
              <a:t>‹#›</a:t>
            </a:fld>
            <a:endParaRPr lang="en-US"/>
          </a:p>
        </p:txBody>
      </p:sp>
    </p:spTree>
    <p:extLst>
      <p:ext uri="{BB962C8B-B14F-4D97-AF65-F5344CB8AC3E}">
        <p14:creationId xmlns:p14="http://schemas.microsoft.com/office/powerpoint/2010/main" val="22805867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smtClean="0"/>
          </a:p>
        </p:txBody>
      </p:sp>
      <p:sp>
        <p:nvSpPr>
          <p:cNvPr id="4" name="Slide Number Placeholder 3"/>
          <p:cNvSpPr>
            <a:spLocks noGrp="1"/>
          </p:cNvSpPr>
          <p:nvPr>
            <p:ph type="sldNum" sz="quarter" idx="5"/>
          </p:nvPr>
        </p:nvSpPr>
        <p:spPr/>
        <p:txBody>
          <a:bodyPr/>
          <a:lstStyle/>
          <a:p>
            <a:pPr>
              <a:defRPr/>
            </a:pPr>
            <a:fld id="{BC58DC07-F267-4B69-8553-129F8A0F2DD3}" type="slidenum">
              <a:rPr lang="en-US" smtClean="0"/>
              <a:pPr>
                <a:defRPr/>
              </a:pPr>
              <a:t>1</a:t>
            </a:fld>
            <a:endParaRPr lang="en-US"/>
          </a:p>
        </p:txBody>
      </p:sp>
    </p:spTree>
    <p:extLst>
      <p:ext uri="{BB962C8B-B14F-4D97-AF65-F5344CB8AC3E}">
        <p14:creationId xmlns:p14="http://schemas.microsoft.com/office/powerpoint/2010/main" val="2999134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86008FB-79CA-4926-A8B0-517FC16E2CE6}" type="slidenum">
              <a:rPr lang="en-US" smtClean="0"/>
              <a:pPr>
                <a:defRPr/>
              </a:pPr>
              <a:t>110</a:t>
            </a:fld>
            <a:endParaRPr lang="en-US"/>
          </a:p>
        </p:txBody>
      </p:sp>
    </p:spTree>
    <p:extLst>
      <p:ext uri="{BB962C8B-B14F-4D97-AF65-F5344CB8AC3E}">
        <p14:creationId xmlns:p14="http://schemas.microsoft.com/office/powerpoint/2010/main" val="2551495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a:defRPr/>
            </a:pPr>
            <a:fld id="{023EE921-6009-4A4F-84A5-16833BE09FC9}" type="datetime1">
              <a:rPr lang="en-US" smtClean="0"/>
              <a:pPr>
                <a:defRPr/>
              </a:pPr>
              <a:t>23/09/2024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287879F-6C41-4833-BE14-D19A90A0FA3A}" type="slidenum">
              <a:rPr lang="en-US" smtClean="0"/>
              <a:pPr>
                <a:defRPr/>
              </a:pPr>
              <a:t>‹#›</a:t>
            </a:fld>
            <a:endParaRPr lang="en-US"/>
          </a:p>
        </p:txBody>
      </p:sp>
    </p:spTree>
    <p:extLst>
      <p:ext uri="{BB962C8B-B14F-4D97-AF65-F5344CB8AC3E}">
        <p14:creationId xmlns:p14="http://schemas.microsoft.com/office/powerpoint/2010/main" val="57475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DF238EFD-5800-4D17-B294-8A0FB52AA178}" type="datetime1">
              <a:rPr lang="en-US" smtClean="0"/>
              <a:pPr>
                <a:defRPr/>
              </a:pPr>
              <a:t>23/09/2024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DD57F7B-2019-4069-8198-EFE0C5B7313D}" type="slidenum">
              <a:rPr lang="en-US" smtClean="0"/>
              <a:pPr>
                <a:defRPr/>
              </a:pPr>
              <a:t>‹#›</a:t>
            </a:fld>
            <a:endParaRPr lang="en-US"/>
          </a:p>
        </p:txBody>
      </p:sp>
    </p:spTree>
    <p:extLst>
      <p:ext uri="{BB962C8B-B14F-4D97-AF65-F5344CB8AC3E}">
        <p14:creationId xmlns:p14="http://schemas.microsoft.com/office/powerpoint/2010/main" val="1981926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F913C1B1-B604-4A14-9BF8-8B770751FCA6}" type="datetime1">
              <a:rPr lang="en-US" smtClean="0"/>
              <a:pPr>
                <a:defRPr/>
              </a:pPr>
              <a:t>23/09/2024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0E43AB-8F3A-44E5-91F5-4ED0338487B0}" type="slidenum">
              <a:rPr lang="en-US" smtClean="0"/>
              <a:pPr>
                <a:defRPr/>
              </a:pPr>
              <a:t>‹#›</a:t>
            </a:fld>
            <a:endParaRPr lang="en-US"/>
          </a:p>
        </p:txBody>
      </p:sp>
    </p:spTree>
    <p:extLst>
      <p:ext uri="{BB962C8B-B14F-4D97-AF65-F5344CB8AC3E}">
        <p14:creationId xmlns:p14="http://schemas.microsoft.com/office/powerpoint/2010/main" val="2289782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CF338CF5-E137-4D05-89AD-E1AB83024999}" type="datetime1">
              <a:rPr lang="en-US" smtClean="0"/>
              <a:pPr>
                <a:defRPr/>
              </a:pPr>
              <a:t>23/09/2024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A6308D0-2F9A-433B-9356-2E0CE4F7F4CB}" type="slidenum">
              <a:rPr lang="en-US" smtClean="0"/>
              <a:pPr>
                <a:defRPr/>
              </a:pPr>
              <a:t>‹#›</a:t>
            </a:fld>
            <a:endParaRPr lang="en-US"/>
          </a:p>
        </p:txBody>
      </p:sp>
    </p:spTree>
    <p:extLst>
      <p:ext uri="{BB962C8B-B14F-4D97-AF65-F5344CB8AC3E}">
        <p14:creationId xmlns:p14="http://schemas.microsoft.com/office/powerpoint/2010/main" val="2225420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092BB992-A2C3-40F5-9E26-6E85DC442AFD}" type="datetime1">
              <a:rPr lang="en-US" smtClean="0"/>
              <a:pPr>
                <a:defRPr/>
              </a:pPr>
              <a:t>23/09/2024</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8A094A98-FD0F-4217-897B-14362AA6BDB4}" type="slidenum">
              <a:rPr lang="en-US" smtClean="0"/>
              <a:pPr>
                <a:defRPr/>
              </a:pPr>
              <a:t>‹#›</a:t>
            </a:fld>
            <a:endParaRPr lang="en-US"/>
          </a:p>
        </p:txBody>
      </p:sp>
    </p:spTree>
    <p:extLst>
      <p:ext uri="{BB962C8B-B14F-4D97-AF65-F5344CB8AC3E}">
        <p14:creationId xmlns:p14="http://schemas.microsoft.com/office/powerpoint/2010/main" val="2973125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fld id="{943DA475-3B39-4BD1-8FB9-3DBB16A26EB5}" type="datetime1">
              <a:rPr lang="en-US" smtClean="0"/>
              <a:pPr>
                <a:defRPr/>
              </a:pPr>
              <a:t>23/09/2024</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BAD1B2DE-B1C9-4C92-8DE9-E8A227818FED}" type="slidenum">
              <a:rPr lang="en-US" smtClean="0"/>
              <a:pPr>
                <a:defRPr/>
              </a:pPr>
              <a:t>‹#›</a:t>
            </a:fld>
            <a:endParaRPr lang="en-US"/>
          </a:p>
        </p:txBody>
      </p:sp>
    </p:spTree>
    <p:extLst>
      <p:ext uri="{BB962C8B-B14F-4D97-AF65-F5344CB8AC3E}">
        <p14:creationId xmlns:p14="http://schemas.microsoft.com/office/powerpoint/2010/main" val="4208112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02C63B6-5882-429B-B4AD-C23B62A26400}" type="datetime1">
              <a:rPr lang="en-US" smtClean="0"/>
              <a:pPr>
                <a:defRPr/>
              </a:pPr>
              <a:t>23/09/2024</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BD59E84D-9B2C-4093-9818-C4863231A08D}" type="slidenum">
              <a:rPr lang="en-US" smtClean="0"/>
              <a:pPr>
                <a:defRPr/>
              </a:pPr>
              <a:t>‹#›</a:t>
            </a:fld>
            <a:endParaRPr lang="en-US"/>
          </a:p>
        </p:txBody>
      </p:sp>
    </p:spTree>
    <p:extLst>
      <p:ext uri="{BB962C8B-B14F-4D97-AF65-F5344CB8AC3E}">
        <p14:creationId xmlns:p14="http://schemas.microsoft.com/office/powerpoint/2010/main" val="3079798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9ADEEF69-05EA-4911-B66D-CB85D613FC5B}" type="datetime1">
              <a:rPr lang="en-US" smtClean="0"/>
              <a:pPr>
                <a:defRPr/>
              </a:pPr>
              <a:t>23/09/2024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94CA107-3FA3-4B0A-9D53-8EE8F4E8A840}" type="slidenum">
              <a:rPr lang="en-US" smtClean="0"/>
              <a:pPr>
                <a:defRPr/>
              </a:pPr>
              <a:t>‹#›</a:t>
            </a:fld>
            <a:endParaRPr lang="en-US"/>
          </a:p>
        </p:txBody>
      </p:sp>
    </p:spTree>
    <p:extLst>
      <p:ext uri="{BB962C8B-B14F-4D97-AF65-F5344CB8AC3E}">
        <p14:creationId xmlns:p14="http://schemas.microsoft.com/office/powerpoint/2010/main" val="1350391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A25545C4-EBEE-4DBD-ADAD-85708D339094}" type="datetime1">
              <a:rPr lang="en-US" smtClean="0"/>
              <a:pPr>
                <a:defRPr/>
              </a:pPr>
              <a:t>23/09/2024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15AEDB8-C224-4C8F-BDD8-8F5C969AFB49}" type="slidenum">
              <a:rPr lang="en-US" smtClean="0"/>
              <a:pPr>
                <a:defRPr/>
              </a:pPr>
              <a:t>‹#›</a:t>
            </a:fld>
            <a:endParaRPr lang="en-US"/>
          </a:p>
        </p:txBody>
      </p:sp>
    </p:spTree>
    <p:extLst>
      <p:ext uri="{BB962C8B-B14F-4D97-AF65-F5344CB8AC3E}">
        <p14:creationId xmlns:p14="http://schemas.microsoft.com/office/powerpoint/2010/main" val="858783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8ED84D47-8FB1-462F-96C1-A8AF18A72C62}" type="datetime1">
              <a:rPr lang="en-US" smtClean="0"/>
              <a:pPr>
                <a:defRPr/>
              </a:pPr>
              <a:t>23/09/2024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6FDA9F2-CB05-4402-92D2-CAEB02056DEC}" type="slidenum">
              <a:rPr lang="en-US" smtClean="0"/>
              <a:pPr>
                <a:defRPr/>
              </a:pPr>
              <a:t>‹#›</a:t>
            </a:fld>
            <a:endParaRPr lang="en-US"/>
          </a:p>
        </p:txBody>
      </p:sp>
    </p:spTree>
    <p:extLst>
      <p:ext uri="{BB962C8B-B14F-4D97-AF65-F5344CB8AC3E}">
        <p14:creationId xmlns:p14="http://schemas.microsoft.com/office/powerpoint/2010/main" val="2870921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EF49387A-5A8A-434B-8C5D-545C6EAC7406}" type="datetime1">
              <a:rPr lang="en-US" smtClean="0"/>
              <a:pPr>
                <a:defRPr/>
              </a:pPr>
              <a:t>23/09/2024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E639C0D-7F63-4BB4-9339-5529BAB7EDE8}" type="slidenum">
              <a:rPr lang="en-US" smtClean="0"/>
              <a:pPr>
                <a:defRPr/>
              </a:pPr>
              <a:t>‹#›</a:t>
            </a:fld>
            <a:endParaRPr lang="en-US"/>
          </a:p>
        </p:txBody>
      </p:sp>
    </p:spTree>
    <p:extLst>
      <p:ext uri="{BB962C8B-B14F-4D97-AF65-F5344CB8AC3E}">
        <p14:creationId xmlns:p14="http://schemas.microsoft.com/office/powerpoint/2010/main" val="2737083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A4DEB6B7-5A6A-4B36-91D1-DDDB1F5C2B86}" type="datetime1">
              <a:rPr lang="en-US" smtClean="0"/>
              <a:pPr>
                <a:defRPr/>
              </a:pPr>
              <a:t>23/09/2024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4F53917-30B5-442C-AFAD-0C456E880DB4}" type="slidenum">
              <a:rPr lang="en-US" smtClean="0"/>
              <a:pPr>
                <a:defRPr/>
              </a:pPr>
              <a:t>‹#›</a:t>
            </a:fld>
            <a:endParaRPr lang="en-US"/>
          </a:p>
        </p:txBody>
      </p:sp>
    </p:spTree>
    <p:extLst>
      <p:ext uri="{BB962C8B-B14F-4D97-AF65-F5344CB8AC3E}">
        <p14:creationId xmlns:p14="http://schemas.microsoft.com/office/powerpoint/2010/main" val="3779255343"/>
      </p:ext>
    </p:extLst>
  </p:cSld>
  <p:clrMap bg1="dk1" tx1="lt1" bg2="dk2" tx2="lt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Slide Number Placeholder 3"/>
          <p:cNvSpPr>
            <a:spLocks noGrp="1"/>
          </p:cNvSpPr>
          <p:nvPr>
            <p:ph type="sldNum" sz="quarter" idx="12"/>
          </p:nvPr>
        </p:nvSpPr>
        <p:spPr>
          <a:ln>
            <a:miter lim="800000"/>
            <a:headEnd/>
            <a:tailEnd/>
          </a:ln>
        </p:spPr>
        <p:txBody>
          <a:bodyPr vert="horz" wrap="square" lIns="91440" tIns="45720" rIns="91440" bIns="45720" numCol="1" rtlCol="0" anchor="ctr" anchorCtr="0" compatLnSpc="1">
            <a:prstTxWarp prst="textNoShape">
              <a:avLst/>
            </a:prstTxWarp>
          </a:bodyPr>
          <a:lstStyle/>
          <a:p>
            <a:pPr fontAlgn="base">
              <a:spcBef>
                <a:spcPct val="0"/>
              </a:spcBef>
              <a:spcAft>
                <a:spcPct val="0"/>
              </a:spcAft>
              <a:defRPr/>
            </a:pPr>
            <a:fld id="{627CC007-CDEC-47C3-AAA1-D5476CD759BD}" type="slidenum">
              <a:rPr lang="en-US" smtClean="0"/>
              <a:pPr fontAlgn="base">
                <a:spcBef>
                  <a:spcPct val="0"/>
                </a:spcBef>
                <a:spcAft>
                  <a:spcPct val="0"/>
                </a:spcAft>
                <a:defRPr/>
              </a:pPr>
              <a:t>1</a:t>
            </a:fld>
            <a:endParaRPr lang="en-US" smtClean="0"/>
          </a:p>
        </p:txBody>
      </p:sp>
      <p:sp>
        <p:nvSpPr>
          <p:cNvPr id="4" name="Content Placeholder 2"/>
          <p:cNvSpPr txBox="1">
            <a:spLocks/>
          </p:cNvSpPr>
          <p:nvPr/>
        </p:nvSpPr>
        <p:spPr>
          <a:xfrm>
            <a:off x="609600" y="1676400"/>
            <a:ext cx="11049000" cy="28194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indent="-114300" algn="just" fontAlgn="auto">
              <a:lnSpc>
                <a:spcPct val="150000"/>
              </a:lnSpc>
              <a:spcAft>
                <a:spcPts val="0"/>
              </a:spcAft>
              <a:buFont typeface="Wingdings" panose="05000000000000000000" pitchFamily="2" charset="2"/>
              <a:buChar char="Ø"/>
              <a:tabLst>
                <a:tab pos="457200" algn="l"/>
              </a:tabLst>
            </a:pPr>
            <a:r>
              <a:rPr lang="en-US" sz="3200" b="1" smtClean="0">
                <a:solidFill>
                  <a:schemeClr val="bg1"/>
                </a:solidFill>
                <a:latin typeface="Times New Roman" panose="02020603050405020304" pitchFamily="18" charset="0"/>
                <a:cs typeface="Times New Roman" panose="02020603050405020304" pitchFamily="18" charset="0"/>
              </a:rPr>
              <a:t>	Nắm vững, minh họa và tính toán được các phép gán (hoán vị) các giải thuật sắp xếp cơ bản trên mảng một chiều</a:t>
            </a:r>
          </a:p>
          <a:p>
            <a:pPr marL="171450" indent="-114300" algn="just" fontAlgn="auto">
              <a:lnSpc>
                <a:spcPct val="150000"/>
              </a:lnSpc>
              <a:spcAft>
                <a:spcPts val="0"/>
              </a:spcAft>
              <a:buFont typeface="Wingdings" panose="05000000000000000000" pitchFamily="2" charset="2"/>
              <a:buChar char="Ø"/>
            </a:pPr>
            <a:r>
              <a:rPr lang="en-US" sz="3200" b="1" smtClean="0">
                <a:solidFill>
                  <a:schemeClr val="bg1"/>
                </a:solidFill>
                <a:latin typeface="Times New Roman" panose="02020603050405020304" pitchFamily="18" charset="0"/>
                <a:cs typeface="Times New Roman" panose="02020603050405020304" pitchFamily="18" charset="0"/>
              </a:rPr>
              <a:t> Cài </a:t>
            </a:r>
            <a:r>
              <a:rPr lang="en-US" sz="3200" b="1">
                <a:solidFill>
                  <a:schemeClr val="bg1"/>
                </a:solidFill>
                <a:latin typeface="Times New Roman" panose="02020603050405020304" pitchFamily="18" charset="0"/>
                <a:cs typeface="Times New Roman" panose="02020603050405020304" pitchFamily="18" charset="0"/>
              </a:rPr>
              <a:t>đặt </a:t>
            </a:r>
            <a:r>
              <a:rPr lang="en-US" sz="3200" b="1" smtClean="0">
                <a:solidFill>
                  <a:schemeClr val="bg1"/>
                </a:solidFill>
                <a:latin typeface="Times New Roman" panose="02020603050405020304" pitchFamily="18" charset="0"/>
                <a:cs typeface="Times New Roman" panose="02020603050405020304" pitchFamily="18" charset="0"/>
              </a:rPr>
              <a:t>được các giải thuật bằng ngôn ngữ C/C++</a:t>
            </a:r>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524000" y="678359"/>
            <a:ext cx="8763000" cy="769441"/>
          </a:xfrm>
          <a:prstGeom prst="rect">
            <a:avLst/>
          </a:prstGeom>
          <a:noFill/>
        </p:spPr>
        <p:txBody>
          <a:bodyPr wrap="square" rtlCol="0">
            <a:spAutoFit/>
          </a:bodyPr>
          <a:lstStyle/>
          <a:p>
            <a:r>
              <a:rPr lang="en-US" sz="4400" b="1" smtClean="0">
                <a:solidFill>
                  <a:srgbClr val="0070C0"/>
                </a:solidFill>
                <a:latin typeface="Times New Roman" panose="02020603050405020304" pitchFamily="18" charset="0"/>
                <a:cs typeface="Times New Roman" panose="02020603050405020304" pitchFamily="18" charset="0"/>
              </a:rPr>
              <a:t>Chương 2. GIẢI THUẬT SẮP XẾP</a:t>
            </a:r>
            <a:endParaRPr lang="en-US" sz="4400" b="1">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17525"/>
            <a:ext cx="10515600" cy="701675"/>
          </a:xfrm>
        </p:spPr>
        <p:txBody>
          <a:bodyPr/>
          <a:lstStyle/>
          <a:p>
            <a:pPr>
              <a:defRPr/>
            </a:pPr>
            <a:r>
              <a:rPr lang="en-US" b="1" dirty="0" err="1" smtClean="0">
                <a:solidFill>
                  <a:srgbClr val="0070C0"/>
                </a:solidFill>
                <a:latin typeface="Times New Roman" panose="02020603050405020304" pitchFamily="18" charset="0"/>
                <a:cs typeface="Times New Roman" panose="02020603050405020304" pitchFamily="18" charset="0"/>
              </a:rPr>
              <a:t>Các</a:t>
            </a:r>
            <a:r>
              <a:rPr lang="en-US" b="1" dirty="0" smtClean="0">
                <a:solidFill>
                  <a:srgbClr val="0070C0"/>
                </a:solidFill>
                <a:latin typeface="Times New Roman" panose="02020603050405020304" pitchFamily="18" charset="0"/>
                <a:cs typeface="Times New Roman" panose="02020603050405020304" pitchFamily="18" charset="0"/>
              </a:rPr>
              <a:t> </a:t>
            </a:r>
            <a:r>
              <a:rPr lang="en-US" b="1" err="1" smtClean="0">
                <a:solidFill>
                  <a:srgbClr val="0070C0"/>
                </a:solidFill>
                <a:latin typeface="Times New Roman" panose="02020603050405020304" pitchFamily="18" charset="0"/>
                <a:cs typeface="Times New Roman" panose="02020603050405020304" pitchFamily="18" charset="0"/>
              </a:rPr>
              <a:t>khái</a:t>
            </a:r>
            <a:r>
              <a:rPr lang="en-US" b="1" smtClean="0">
                <a:solidFill>
                  <a:srgbClr val="0070C0"/>
                </a:solidFill>
                <a:latin typeface="Times New Roman" panose="02020603050405020304" pitchFamily="18" charset="0"/>
                <a:cs typeface="Times New Roman" panose="02020603050405020304" pitchFamily="18" charset="0"/>
              </a:rPr>
              <a:t> niệm:</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10243" name="Content Placeholder 2"/>
          <p:cNvSpPr>
            <a:spLocks noGrp="1"/>
          </p:cNvSpPr>
          <p:nvPr>
            <p:ph idx="1"/>
          </p:nvPr>
        </p:nvSpPr>
        <p:spPr>
          <a:xfrm>
            <a:off x="533400" y="1295400"/>
            <a:ext cx="11201400" cy="4784724"/>
          </a:xfrm>
        </p:spPr>
        <p:txBody>
          <a:bodyPr>
            <a:normAutofit/>
          </a:bodyPr>
          <a:lstStyle/>
          <a:p>
            <a:pPr marL="342900" indent="-342900" algn="just"/>
            <a:r>
              <a:rPr lang="en-US" sz="2800" dirty="0" err="1">
                <a:solidFill>
                  <a:schemeClr val="bg1"/>
                </a:solidFill>
                <a:latin typeface="Times New Roman" panose="02020603050405020304" pitchFamily="18" charset="0"/>
                <a:cs typeface="Times New Roman" panose="02020603050405020304" pitchFamily="18" charset="0"/>
              </a:rPr>
              <a:t>Sắp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xếp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quá</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trình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xử</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lý</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một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danh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sách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các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phần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tử</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hoặc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các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mẫu</a:t>
            </a:r>
            <a:r>
              <a:rPr lang="en-US" sz="2800" dirty="0">
                <a:solidFill>
                  <a:schemeClr val="bg1"/>
                </a:solidFill>
                <a:latin typeface="Times New Roman" panose="02020603050405020304" pitchFamily="18" charset="0"/>
                <a:cs typeface="Times New Roman" panose="02020603050405020304" pitchFamily="18" charset="0"/>
              </a:rPr>
              <a:t> tin) </a:t>
            </a:r>
            <a:r>
              <a:rPr lang="en-US" sz="2800" dirty="0" err="1">
                <a:solidFill>
                  <a:schemeClr val="bg1"/>
                </a:solidFill>
                <a:latin typeface="Times New Roman" panose="02020603050405020304" pitchFamily="18" charset="0"/>
                <a:cs typeface="Times New Roman" panose="02020603050405020304" pitchFamily="18" charset="0"/>
              </a:rPr>
              <a:t>để</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đặt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chúng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theo</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một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thứ</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tự</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thỏa</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mãn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một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tiêu</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chuẩn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nào</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đó</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dựa</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trên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nội</a:t>
            </a:r>
            <a:r>
              <a:rPr lang="en-US" sz="2800" dirty="0">
                <a:solidFill>
                  <a:schemeClr val="bg1"/>
                </a:solidFill>
                <a:latin typeface="Times New Roman" panose="02020603050405020304" pitchFamily="18" charset="0"/>
                <a:cs typeface="Times New Roman" panose="02020603050405020304" pitchFamily="18" charset="0"/>
              </a:rPr>
              <a:t> dung </a:t>
            </a:r>
            <a:r>
              <a:rPr lang="en-US" sz="2800" dirty="0" err="1">
                <a:solidFill>
                  <a:schemeClr val="bg1"/>
                </a:solidFill>
                <a:latin typeface="Times New Roman" panose="02020603050405020304" pitchFamily="18" charset="0"/>
                <a:cs typeface="Times New Roman" panose="02020603050405020304" pitchFamily="18" charset="0"/>
              </a:rPr>
              <a:t>thông</a:t>
            </a:r>
            <a:r>
              <a:rPr lang="en-US" sz="2800" dirty="0">
                <a:solidFill>
                  <a:schemeClr val="bg1"/>
                </a:solidFill>
                <a:latin typeface="Times New Roman" panose="02020603050405020304" pitchFamily="18" charset="0"/>
                <a:cs typeface="Times New Roman" panose="02020603050405020304" pitchFamily="18" charset="0"/>
              </a:rPr>
              <a:t> tin </a:t>
            </a:r>
            <a:r>
              <a:rPr lang="en-US" sz="2800" dirty="0" err="1">
                <a:solidFill>
                  <a:schemeClr val="bg1"/>
                </a:solidFill>
                <a:latin typeface="Times New Roman" panose="02020603050405020304" pitchFamily="18" charset="0"/>
                <a:cs typeface="Times New Roman" panose="02020603050405020304" pitchFamily="18" charset="0"/>
              </a:rPr>
              <a:t>lưu</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giữ</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tại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mỗi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phần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tử</a:t>
            </a:r>
            <a:r>
              <a:rPr lang="en-US" sz="2800" dirty="0">
                <a:solidFill>
                  <a:schemeClr val="bg1"/>
                </a:solidFill>
                <a:latin typeface="Times New Roman" panose="02020603050405020304" pitchFamily="18" charset="0"/>
                <a:cs typeface="Times New Roman" panose="02020603050405020304" pitchFamily="18" charset="0"/>
              </a:rPr>
              <a:t>.</a:t>
            </a:r>
            <a:endParaRPr lang="en-US" dirty="0" smtClean="0">
              <a:solidFill>
                <a:schemeClr val="bg1"/>
              </a:solidFill>
              <a:latin typeface="Times New Roman" panose="02020603050405020304" pitchFamily="18" charset="0"/>
              <a:cs typeface="Times New Roman" panose="02020603050405020304" pitchFamily="18" charset="0"/>
            </a:endParaRPr>
          </a:p>
          <a:p>
            <a:pPr marL="342900" indent="-342900"/>
            <a:r>
              <a:rPr lang="en-US" sz="2800" dirty="0" err="1">
                <a:solidFill>
                  <a:schemeClr val="bg1"/>
                </a:solidFill>
                <a:latin typeface="Times New Roman" panose="02020603050405020304" pitchFamily="18" charset="0"/>
                <a:cs typeface="Times New Roman" panose="02020603050405020304" pitchFamily="18" charset="0"/>
              </a:rPr>
              <a:t>Khái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niệm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nghịch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thế</a:t>
            </a:r>
            <a:endParaRPr lang="en-US" sz="2800" dirty="0">
              <a:solidFill>
                <a:schemeClr val="bg1"/>
              </a:solidFill>
              <a:latin typeface="Times New Roman" panose="02020603050405020304" pitchFamily="18" charset="0"/>
              <a:cs typeface="Times New Roman" panose="02020603050405020304" pitchFamily="18" charset="0"/>
            </a:endParaRPr>
          </a:p>
          <a:p>
            <a:pPr marL="342900" indent="-342900">
              <a:buNone/>
            </a:pPr>
            <a:endParaRPr lang="en-US" sz="2800" dirty="0">
              <a:solidFill>
                <a:schemeClr val="bg1"/>
              </a:solidFill>
              <a:latin typeface="Times New Roman" panose="02020603050405020304" pitchFamily="18" charset="0"/>
              <a:cs typeface="Times New Roman" panose="02020603050405020304" pitchFamily="18" charset="0"/>
            </a:endParaRPr>
          </a:p>
          <a:p>
            <a:pPr marL="342900" indent="-342900" algn="just">
              <a:buNone/>
            </a:pPr>
            <a:r>
              <a:rPr lang="en-US" sz="2800">
                <a:solidFill>
                  <a:schemeClr val="bg1"/>
                </a:solidFill>
                <a:latin typeface="Times New Roman" panose="02020603050405020304" pitchFamily="18" charset="0"/>
                <a:cs typeface="Times New Roman" panose="02020603050405020304" pitchFamily="18" charset="0"/>
              </a:rPr>
              <a:t>	</a:t>
            </a:r>
            <a:endParaRPr lang="en-US" sz="2800" smtClean="0">
              <a:solidFill>
                <a:schemeClr val="bg1"/>
              </a:solidFill>
              <a:latin typeface="Times New Roman" panose="02020603050405020304" pitchFamily="18" charset="0"/>
              <a:cs typeface="Times New Roman" panose="02020603050405020304" pitchFamily="18" charset="0"/>
            </a:endParaRPr>
          </a:p>
          <a:p>
            <a:pPr marL="342900" indent="-342900" algn="just">
              <a:buNone/>
            </a:pPr>
            <a:r>
              <a:rPr lang="en-US" sz="2800" smtClean="0">
                <a:solidFill>
                  <a:schemeClr val="bg1"/>
                </a:solidFill>
                <a:latin typeface="Times New Roman" panose="02020603050405020304" pitchFamily="18" charset="0"/>
                <a:cs typeface="Times New Roman" panose="02020603050405020304" pitchFamily="18" charset="0"/>
              </a:rPr>
              <a:t>	Giả </a:t>
            </a:r>
            <a:r>
              <a:rPr lang="en-US" sz="2800" dirty="0" err="1">
                <a:solidFill>
                  <a:schemeClr val="bg1"/>
                </a:solidFill>
                <a:latin typeface="Times New Roman" panose="02020603050405020304" pitchFamily="18" charset="0"/>
                <a:cs typeface="Times New Roman" panose="02020603050405020304" pitchFamily="18" charset="0"/>
              </a:rPr>
              <a:t>sử</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xét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mảng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có</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thứ</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tự</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tăng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dần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nếu</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có</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i</a:t>
            </a:r>
            <a:r>
              <a:rPr lang="en-US" sz="2800" dirty="0">
                <a:solidFill>
                  <a:schemeClr val="bg1"/>
                </a:solidFill>
                <a:latin typeface="Times New Roman" panose="02020603050405020304" pitchFamily="18" charset="0"/>
                <a:cs typeface="Times New Roman" panose="02020603050405020304" pitchFamily="18" charset="0"/>
              </a:rPr>
              <a:t>&lt;j </a:t>
            </a:r>
            <a:r>
              <a:rPr lang="en-US" sz="2800" dirty="0" err="1">
                <a:solidFill>
                  <a:schemeClr val="bg1"/>
                </a:solidFill>
                <a:latin typeface="Times New Roman" panose="02020603050405020304" pitchFamily="18" charset="0"/>
                <a:cs typeface="Times New Roman" panose="02020603050405020304" pitchFamily="18" charset="0"/>
              </a:rPr>
              <a:t>và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a</a:t>
            </a:r>
            <a:r>
              <a:rPr lang="en-US" sz="2800" baseline="-25000" dirty="0" err="1">
                <a:solidFill>
                  <a:schemeClr val="bg1"/>
                </a:solidFill>
                <a:latin typeface="Times New Roman" panose="02020603050405020304" pitchFamily="18" charset="0"/>
                <a:cs typeface="Times New Roman" panose="02020603050405020304" pitchFamily="18" charset="0"/>
              </a:rPr>
              <a:t>i</a:t>
            </a:r>
            <a:r>
              <a:rPr lang="en-US" sz="2800" dirty="0">
                <a:solidFill>
                  <a:schemeClr val="bg1"/>
                </a:solidFill>
                <a:latin typeface="Times New Roman" panose="02020603050405020304" pitchFamily="18" charset="0"/>
                <a:cs typeface="Times New Roman" panose="02020603050405020304" pitchFamily="18" charset="0"/>
              </a:rPr>
              <a:t>&gt;</a:t>
            </a:r>
            <a:r>
              <a:rPr lang="en-US" sz="2800" dirty="0" err="1">
                <a:solidFill>
                  <a:schemeClr val="bg1"/>
                </a:solidFill>
                <a:latin typeface="Times New Roman" panose="02020603050405020304" pitchFamily="18" charset="0"/>
                <a:cs typeface="Times New Roman" panose="02020603050405020304" pitchFamily="18" charset="0"/>
              </a:rPr>
              <a:t>a</a:t>
            </a:r>
            <a:r>
              <a:rPr lang="en-US" sz="2800" baseline="-25000" dirty="0" err="1">
                <a:solidFill>
                  <a:schemeClr val="bg1"/>
                </a:solidFill>
                <a:latin typeface="Times New Roman" panose="02020603050405020304" pitchFamily="18" charset="0"/>
                <a:cs typeface="Times New Roman" panose="02020603050405020304" pitchFamily="18" charset="0"/>
              </a:rPr>
              <a:t>j</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thì</a:t>
            </a:r>
            <a:r>
              <a:rPr lang="en-US" sz="2800" dirty="0">
                <a:solidFill>
                  <a:schemeClr val="bg1"/>
                </a:solidFill>
                <a:latin typeface="Times New Roman" panose="02020603050405020304" pitchFamily="18" charset="0"/>
                <a:cs typeface="Times New Roman" panose="02020603050405020304" pitchFamily="18" charset="0"/>
              </a:rPr>
              <a:t> ta </a:t>
            </a:r>
            <a:r>
              <a:rPr lang="en-US" sz="2800" dirty="0" err="1">
                <a:solidFill>
                  <a:schemeClr val="bg1"/>
                </a:solidFill>
                <a:latin typeface="Times New Roman" panose="02020603050405020304" pitchFamily="18" charset="0"/>
                <a:cs typeface="Times New Roman" panose="02020603050405020304" pitchFamily="18" charset="0"/>
              </a:rPr>
              <a:t>gọi</a:t>
            </a:r>
            <a:r>
              <a:rPr lang="en-US" sz="2800" dirty="0">
                <a:solidFill>
                  <a:schemeClr val="bg1"/>
                </a:solidFill>
                <a:latin typeface="Times New Roman" panose="02020603050405020304" pitchFamily="18" charset="0"/>
                <a:cs typeface="Times New Roman" panose="02020603050405020304" pitchFamily="18" charset="0"/>
              </a:rPr>
              <a:t> </a:t>
            </a:r>
            <a:r>
              <a:rPr lang="en-US" sz="2800" err="1">
                <a:solidFill>
                  <a:schemeClr val="bg1"/>
                </a:solidFill>
                <a:latin typeface="Times New Roman" panose="02020603050405020304" pitchFamily="18" charset="0"/>
                <a:cs typeface="Times New Roman" panose="02020603050405020304" pitchFamily="18" charset="0"/>
              </a:rPr>
              <a:t>đó</a:t>
            </a:r>
            <a:r>
              <a:rPr lang="en-US" sz="2800">
                <a:solidFill>
                  <a:schemeClr val="bg1"/>
                </a:solidFill>
                <a:latin typeface="Times New Roman" panose="02020603050405020304" pitchFamily="18" charset="0"/>
                <a:cs typeface="Times New Roman" panose="02020603050405020304" pitchFamily="18" charset="0"/>
              </a:rPr>
              <a:t> </a:t>
            </a:r>
            <a:r>
              <a:rPr lang="en-US" sz="2800" smtClean="0">
                <a:solidFill>
                  <a:schemeClr val="bg1"/>
                </a:solidFill>
                <a:latin typeface="Times New Roman" panose="02020603050405020304" pitchFamily="18" charset="0"/>
                <a:cs typeface="Times New Roman" panose="02020603050405020304" pitchFamily="18" charset="0"/>
              </a:rPr>
              <a:t>là</a:t>
            </a:r>
            <a:r>
              <a:rPr lang="en-US">
                <a:solidFill>
                  <a:schemeClr val="bg1"/>
                </a:solidFill>
                <a:latin typeface="Times New Roman" panose="02020603050405020304" pitchFamily="18" charset="0"/>
                <a:cs typeface="Times New Roman" panose="02020603050405020304" pitchFamily="18" charset="0"/>
              </a:rPr>
              <a:t> </a:t>
            </a:r>
            <a:r>
              <a:rPr lang="en-US" sz="2800" smtClean="0">
                <a:solidFill>
                  <a:schemeClr val="bg1"/>
                </a:solidFill>
                <a:latin typeface="Times New Roman" panose="02020603050405020304" pitchFamily="18" charset="0"/>
                <a:cs typeface="Times New Roman" panose="02020603050405020304" pitchFamily="18" charset="0"/>
              </a:rPr>
              <a:t>nghịch thế</a:t>
            </a:r>
            <a:r>
              <a:rPr lang="en-US" sz="2800" dirty="0">
                <a:solidFill>
                  <a:schemeClr val="bg1"/>
                </a:solidFill>
                <a:latin typeface="Times New Roman" panose="02020603050405020304" pitchFamily="18" charset="0"/>
                <a:cs typeface="Times New Roman" panose="02020603050405020304" pitchFamily="18" charset="0"/>
              </a:rPr>
              <a:t>.</a:t>
            </a:r>
          </a:p>
          <a:p>
            <a:pPr marL="342900" indent="-342900" algn="just">
              <a:buNone/>
            </a:pP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Mục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tiêu</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của</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sắp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xếp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khử</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các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nghịch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thế</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bằng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cách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hoán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vị</a:t>
            </a:r>
            <a:r>
              <a:rPr lang="en-US" sz="2800" dirty="0">
                <a:solidFill>
                  <a:schemeClr val="bg1"/>
                </a:solidFill>
                <a:latin typeface="Times New Roman" panose="02020603050405020304" pitchFamily="18" charset="0"/>
                <a:cs typeface="Times New Roman" panose="02020603050405020304" pitchFamily="18" charset="0"/>
              </a:rPr>
              <a:t>)</a:t>
            </a:r>
            <a:endParaRPr lang="en-US" sz="4000" dirty="0">
              <a:solidFill>
                <a:schemeClr val="bg1"/>
              </a:solidFill>
              <a:latin typeface="Times New Roman" panose="02020603050405020304" pitchFamily="18" charset="0"/>
              <a:cs typeface="Times New Roman" panose="02020603050405020304" pitchFamily="18" charset="0"/>
            </a:endParaRPr>
          </a:p>
        </p:txBody>
      </p:sp>
      <p:sp>
        <p:nvSpPr>
          <p:cNvPr id="9220" name="Slide Number Placeholder 3"/>
          <p:cNvSpPr>
            <a:spLocks noGrp="1"/>
          </p:cNvSpPr>
          <p:nvPr>
            <p:ph type="sldNum" sz="quarter" idx="12"/>
          </p:nvPr>
        </p:nvSpPr>
        <p:spPr bwMode="auto">
          <a:ln>
            <a:miter lim="800000"/>
            <a:headEnd/>
            <a:tailEnd/>
          </a:ln>
        </p:spPr>
        <p:txBody>
          <a:bodyPr vert="horz" wrap="square" lIns="91440" tIns="45720" rIns="91440" bIns="45720" numCol="1" rtlCol="0" anchor="ctr" anchorCtr="0" compatLnSpc="1">
            <a:prstTxWarp prst="textNoShape">
              <a:avLst/>
            </a:prstTxWarp>
          </a:bodyPr>
          <a:lstStyle/>
          <a:p>
            <a:pPr fontAlgn="base">
              <a:spcBef>
                <a:spcPct val="0"/>
              </a:spcBef>
              <a:spcAft>
                <a:spcPct val="0"/>
              </a:spcAft>
              <a:defRPr/>
            </a:pPr>
            <a:fld id="{EA0BA281-DC14-4F48-8F09-0F64BD9C360F}" type="slidenum">
              <a:rPr lang="en-US" smtClean="0"/>
              <a:pPr fontAlgn="base">
                <a:spcBef>
                  <a:spcPct val="0"/>
                </a:spcBef>
                <a:spcAft>
                  <a:spcPct val="0"/>
                </a:spcAft>
                <a:defRPr/>
              </a:pPr>
              <a:t>2</a:t>
            </a:fld>
            <a:endParaRPr lang="en-US" smtClean="0"/>
          </a:p>
        </p:txBody>
      </p:sp>
      <p:graphicFrame>
        <p:nvGraphicFramePr>
          <p:cNvPr id="5" name="Table 4"/>
          <p:cNvGraphicFramePr>
            <a:graphicFrameLocks noGrp="1"/>
          </p:cNvGraphicFramePr>
          <p:nvPr>
            <p:extLst>
              <p:ext uri="{D42A27DB-BD31-4B8C-83A1-F6EECF244321}">
                <p14:modId xmlns:p14="http://schemas.microsoft.com/office/powerpoint/2010/main" val="23903407"/>
              </p:ext>
            </p:extLst>
          </p:nvPr>
        </p:nvGraphicFramePr>
        <p:xfrm>
          <a:off x="1905000" y="3200400"/>
          <a:ext cx="8839197" cy="838200"/>
        </p:xfrm>
        <a:graphic>
          <a:graphicData uri="http://schemas.openxmlformats.org/drawingml/2006/table">
            <a:tbl>
              <a:tblPr firstRow="1" bandRow="1">
                <a:tableStyleId>{5C22544A-7EE6-4342-B048-85BDC9FD1C3A}</a:tableStyleId>
              </a:tblPr>
              <a:tblGrid>
                <a:gridCol w="982133">
                  <a:extLst>
                    <a:ext uri="{9D8B030D-6E8A-4147-A177-3AD203B41FA5}">
                      <a16:colId xmlns:a16="http://schemas.microsoft.com/office/drawing/2014/main" val="20000"/>
                    </a:ext>
                  </a:extLst>
                </a:gridCol>
                <a:gridCol w="982133">
                  <a:extLst>
                    <a:ext uri="{9D8B030D-6E8A-4147-A177-3AD203B41FA5}">
                      <a16:colId xmlns:a16="http://schemas.microsoft.com/office/drawing/2014/main" val="20001"/>
                    </a:ext>
                  </a:extLst>
                </a:gridCol>
                <a:gridCol w="982133">
                  <a:extLst>
                    <a:ext uri="{9D8B030D-6E8A-4147-A177-3AD203B41FA5}">
                      <a16:colId xmlns:a16="http://schemas.microsoft.com/office/drawing/2014/main" val="20002"/>
                    </a:ext>
                  </a:extLst>
                </a:gridCol>
                <a:gridCol w="982133">
                  <a:extLst>
                    <a:ext uri="{9D8B030D-6E8A-4147-A177-3AD203B41FA5}">
                      <a16:colId xmlns:a16="http://schemas.microsoft.com/office/drawing/2014/main" val="20003"/>
                    </a:ext>
                  </a:extLst>
                </a:gridCol>
                <a:gridCol w="982133">
                  <a:extLst>
                    <a:ext uri="{9D8B030D-6E8A-4147-A177-3AD203B41FA5}">
                      <a16:colId xmlns:a16="http://schemas.microsoft.com/office/drawing/2014/main" val="20004"/>
                    </a:ext>
                  </a:extLst>
                </a:gridCol>
                <a:gridCol w="982133">
                  <a:extLst>
                    <a:ext uri="{9D8B030D-6E8A-4147-A177-3AD203B41FA5}">
                      <a16:colId xmlns:a16="http://schemas.microsoft.com/office/drawing/2014/main" val="20005"/>
                    </a:ext>
                  </a:extLst>
                </a:gridCol>
                <a:gridCol w="982133">
                  <a:extLst>
                    <a:ext uri="{9D8B030D-6E8A-4147-A177-3AD203B41FA5}">
                      <a16:colId xmlns:a16="http://schemas.microsoft.com/office/drawing/2014/main" val="20006"/>
                    </a:ext>
                  </a:extLst>
                </a:gridCol>
                <a:gridCol w="982133">
                  <a:extLst>
                    <a:ext uri="{9D8B030D-6E8A-4147-A177-3AD203B41FA5}">
                      <a16:colId xmlns:a16="http://schemas.microsoft.com/office/drawing/2014/main" val="20007"/>
                    </a:ext>
                  </a:extLst>
                </a:gridCol>
                <a:gridCol w="982133">
                  <a:extLst>
                    <a:ext uri="{9D8B030D-6E8A-4147-A177-3AD203B41FA5}">
                      <a16:colId xmlns:a16="http://schemas.microsoft.com/office/drawing/2014/main" val="20008"/>
                    </a:ext>
                  </a:extLst>
                </a:gridCol>
              </a:tblGrid>
              <a:tr h="838200">
                <a:tc>
                  <a:txBody>
                    <a:bodyPr/>
                    <a:lstStyle/>
                    <a:p>
                      <a:r>
                        <a:rPr lang="en-US" sz="4000" dirty="0" smtClean="0">
                          <a:latin typeface="Times New Roman" panose="02020603050405020304" pitchFamily="18" charset="0"/>
                          <a:cs typeface="Times New Roman" panose="02020603050405020304" pitchFamily="18" charset="0"/>
                        </a:rPr>
                        <a:t>a</a:t>
                      </a:r>
                      <a:r>
                        <a:rPr lang="en-US" sz="4000" baseline="-25000" dirty="0" smtClean="0">
                          <a:latin typeface="Times New Roman" panose="02020603050405020304" pitchFamily="18" charset="0"/>
                          <a:cs typeface="Times New Roman" panose="02020603050405020304" pitchFamily="18" charset="0"/>
                        </a:rPr>
                        <a:t>1</a:t>
                      </a:r>
                      <a:endParaRPr lang="en-US" sz="4000" dirty="0">
                        <a:latin typeface="Times New Roman" panose="02020603050405020304" pitchFamily="18" charset="0"/>
                        <a:cs typeface="Times New Roman" panose="02020603050405020304" pitchFamily="18" charset="0"/>
                      </a:endParaRPr>
                    </a:p>
                  </a:txBody>
                  <a:tcPr marT="45782" marB="45782"/>
                </a:tc>
                <a:tc>
                  <a:txBody>
                    <a:bodyPr/>
                    <a:lstStyle/>
                    <a:p>
                      <a:r>
                        <a:rPr lang="en-US" sz="4000" dirty="0" smtClean="0">
                          <a:latin typeface="Times New Roman" panose="02020603050405020304" pitchFamily="18" charset="0"/>
                          <a:cs typeface="Times New Roman" panose="02020603050405020304" pitchFamily="18" charset="0"/>
                        </a:rPr>
                        <a:t>a</a:t>
                      </a:r>
                      <a:r>
                        <a:rPr lang="en-US" sz="4000" baseline="-25000" dirty="0" smtClean="0">
                          <a:latin typeface="Times New Roman" panose="02020603050405020304" pitchFamily="18" charset="0"/>
                          <a:cs typeface="Times New Roman" panose="02020603050405020304" pitchFamily="18" charset="0"/>
                        </a:rPr>
                        <a:t>2</a:t>
                      </a:r>
                      <a:endParaRPr lang="en-US" sz="4000" dirty="0">
                        <a:latin typeface="Times New Roman" panose="02020603050405020304" pitchFamily="18" charset="0"/>
                        <a:cs typeface="Times New Roman" panose="02020603050405020304" pitchFamily="18" charset="0"/>
                      </a:endParaRPr>
                    </a:p>
                  </a:txBody>
                  <a:tcPr marT="45782" marB="45782"/>
                </a:tc>
                <a:tc>
                  <a:txBody>
                    <a:bodyPr/>
                    <a:lstStyle/>
                    <a:p>
                      <a:r>
                        <a:rPr lang="en-US" sz="4000" smtClean="0">
                          <a:latin typeface="Times New Roman" panose="02020603050405020304" pitchFamily="18" charset="0"/>
                          <a:cs typeface="Times New Roman" panose="02020603050405020304" pitchFamily="18" charset="0"/>
                        </a:rPr>
                        <a:t>a</a:t>
                      </a:r>
                      <a:r>
                        <a:rPr lang="en-US" sz="4000" baseline="-25000" smtClean="0">
                          <a:latin typeface="Times New Roman" panose="02020603050405020304" pitchFamily="18" charset="0"/>
                          <a:cs typeface="Times New Roman" panose="02020603050405020304" pitchFamily="18" charset="0"/>
                        </a:rPr>
                        <a:t>3</a:t>
                      </a:r>
                      <a:endParaRPr lang="en-US" sz="4000" baseline="-25000">
                        <a:latin typeface="Times New Roman" panose="02020603050405020304" pitchFamily="18" charset="0"/>
                        <a:cs typeface="Times New Roman" panose="02020603050405020304" pitchFamily="18" charset="0"/>
                      </a:endParaRPr>
                    </a:p>
                  </a:txBody>
                  <a:tcPr marT="45782" marB="45782"/>
                </a:tc>
                <a:tc>
                  <a:txBody>
                    <a:bodyPr/>
                    <a:lstStyle/>
                    <a:p>
                      <a:r>
                        <a:rPr lang="en-US" sz="4000" smtClean="0">
                          <a:latin typeface="Times New Roman" panose="02020603050405020304" pitchFamily="18" charset="0"/>
                          <a:cs typeface="Times New Roman" panose="02020603050405020304" pitchFamily="18" charset="0"/>
                        </a:rPr>
                        <a:t>a</a:t>
                      </a:r>
                      <a:r>
                        <a:rPr lang="en-US" sz="4000" baseline="-25000" smtClean="0">
                          <a:latin typeface="Times New Roman" panose="02020603050405020304" pitchFamily="18" charset="0"/>
                          <a:cs typeface="Times New Roman" panose="02020603050405020304" pitchFamily="18" charset="0"/>
                        </a:rPr>
                        <a:t>4</a:t>
                      </a:r>
                      <a:endParaRPr lang="en-US" sz="4000" baseline="-25000">
                        <a:latin typeface="Times New Roman" panose="02020603050405020304" pitchFamily="18" charset="0"/>
                        <a:cs typeface="Times New Roman" panose="02020603050405020304" pitchFamily="18" charset="0"/>
                      </a:endParaRPr>
                    </a:p>
                  </a:txBody>
                  <a:tcPr marT="45782" marB="45782"/>
                </a:tc>
                <a:tc>
                  <a:txBody>
                    <a:bodyPr/>
                    <a:lstStyle/>
                    <a:p>
                      <a:r>
                        <a:rPr lang="en-US" sz="4000" smtClean="0">
                          <a:latin typeface="Times New Roman" panose="02020603050405020304" pitchFamily="18" charset="0"/>
                          <a:cs typeface="Times New Roman" panose="02020603050405020304" pitchFamily="18" charset="0"/>
                        </a:rPr>
                        <a:t>…</a:t>
                      </a:r>
                      <a:endParaRPr lang="en-US" sz="4000">
                        <a:latin typeface="Times New Roman" panose="02020603050405020304" pitchFamily="18" charset="0"/>
                        <a:cs typeface="Times New Roman" panose="02020603050405020304" pitchFamily="18" charset="0"/>
                      </a:endParaRPr>
                    </a:p>
                  </a:txBody>
                  <a:tcPr marT="45782" marB="45782"/>
                </a:tc>
                <a:tc>
                  <a:txBody>
                    <a:bodyPr/>
                    <a:lstStyle/>
                    <a:p>
                      <a:r>
                        <a:rPr lang="en-US" sz="4000" smtClean="0">
                          <a:latin typeface="Times New Roman" panose="02020603050405020304" pitchFamily="18" charset="0"/>
                          <a:cs typeface="Times New Roman" panose="02020603050405020304" pitchFamily="18" charset="0"/>
                        </a:rPr>
                        <a:t>…</a:t>
                      </a:r>
                      <a:endParaRPr lang="en-US" sz="4000">
                        <a:latin typeface="Times New Roman" panose="02020603050405020304" pitchFamily="18" charset="0"/>
                        <a:cs typeface="Times New Roman" panose="02020603050405020304" pitchFamily="18" charset="0"/>
                      </a:endParaRPr>
                    </a:p>
                  </a:txBody>
                  <a:tcPr marT="45782" marB="45782"/>
                </a:tc>
                <a:tc>
                  <a:txBody>
                    <a:bodyPr/>
                    <a:lstStyle/>
                    <a:p>
                      <a:r>
                        <a:rPr lang="en-US" sz="4000" smtClean="0">
                          <a:latin typeface="Times New Roman" panose="02020603050405020304" pitchFamily="18" charset="0"/>
                          <a:cs typeface="Times New Roman" panose="02020603050405020304" pitchFamily="18" charset="0"/>
                        </a:rPr>
                        <a:t>a</a:t>
                      </a:r>
                      <a:r>
                        <a:rPr lang="en-US" sz="4000" baseline="-25000" smtClean="0">
                          <a:latin typeface="Times New Roman" panose="02020603050405020304" pitchFamily="18" charset="0"/>
                          <a:cs typeface="Times New Roman" panose="02020603050405020304" pitchFamily="18" charset="0"/>
                        </a:rPr>
                        <a:t>N-2</a:t>
                      </a:r>
                      <a:endParaRPr lang="en-US" sz="4000" baseline="-25000">
                        <a:latin typeface="Times New Roman" panose="02020603050405020304" pitchFamily="18" charset="0"/>
                        <a:cs typeface="Times New Roman" panose="02020603050405020304" pitchFamily="18" charset="0"/>
                      </a:endParaRPr>
                    </a:p>
                  </a:txBody>
                  <a:tcPr marT="45782" marB="45782"/>
                </a:tc>
                <a:tc>
                  <a:txBody>
                    <a:bodyPr/>
                    <a:lstStyle/>
                    <a:p>
                      <a:r>
                        <a:rPr lang="en-US" sz="4000" smtClean="0">
                          <a:latin typeface="Times New Roman" panose="02020603050405020304" pitchFamily="18" charset="0"/>
                          <a:cs typeface="Times New Roman" panose="02020603050405020304" pitchFamily="18" charset="0"/>
                        </a:rPr>
                        <a:t>a</a:t>
                      </a:r>
                      <a:r>
                        <a:rPr lang="en-US" sz="4000" baseline="-25000" smtClean="0">
                          <a:latin typeface="Times New Roman" panose="02020603050405020304" pitchFamily="18" charset="0"/>
                          <a:cs typeface="Times New Roman" panose="02020603050405020304" pitchFamily="18" charset="0"/>
                        </a:rPr>
                        <a:t>N-1</a:t>
                      </a:r>
                      <a:endParaRPr lang="en-US" sz="4000" baseline="-25000">
                        <a:latin typeface="Times New Roman" panose="02020603050405020304" pitchFamily="18" charset="0"/>
                        <a:cs typeface="Times New Roman" panose="02020603050405020304" pitchFamily="18" charset="0"/>
                      </a:endParaRPr>
                    </a:p>
                  </a:txBody>
                  <a:tcPr marT="45782" marB="45782"/>
                </a:tc>
                <a:tc>
                  <a:txBody>
                    <a:bodyPr/>
                    <a:lstStyle/>
                    <a:p>
                      <a:r>
                        <a:rPr lang="en-US" sz="4000" dirty="0" err="1" smtClean="0">
                          <a:latin typeface="Times New Roman" panose="02020603050405020304" pitchFamily="18" charset="0"/>
                          <a:cs typeface="Times New Roman" panose="02020603050405020304" pitchFamily="18" charset="0"/>
                        </a:rPr>
                        <a:t>a</a:t>
                      </a:r>
                      <a:r>
                        <a:rPr lang="en-US" sz="4000" baseline="-25000" dirty="0" err="1" smtClean="0">
                          <a:latin typeface="Times New Roman" panose="02020603050405020304" pitchFamily="18" charset="0"/>
                          <a:cs typeface="Times New Roman" panose="02020603050405020304" pitchFamily="18" charset="0"/>
                        </a:rPr>
                        <a:t>N</a:t>
                      </a:r>
                      <a:endParaRPr lang="en-US" sz="4000" baseline="-25000" dirty="0">
                        <a:latin typeface="Times New Roman" panose="02020603050405020304" pitchFamily="18" charset="0"/>
                        <a:cs typeface="Times New Roman" panose="02020603050405020304" pitchFamily="18" charset="0"/>
                      </a:endParaRPr>
                    </a:p>
                  </a:txBody>
                  <a:tcPr marT="45782" marB="45782"/>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defRPr/>
            </a:pPr>
            <a:r>
              <a:rPr lang="en-US" sz="4800" b="1" dirty="0" err="1" smtClean="0">
                <a:solidFill>
                  <a:srgbClr val="0070C0"/>
                </a:solidFill>
                <a:latin typeface="Times New Roman" panose="02020603050405020304" pitchFamily="18" charset="0"/>
                <a:cs typeface="Times New Roman" panose="02020603050405020304" pitchFamily="18" charset="0"/>
              </a:rPr>
              <a:t>Các</a:t>
            </a:r>
            <a:r>
              <a:rPr lang="en-US" sz="4800" b="1" dirty="0" smtClean="0">
                <a:solidFill>
                  <a:srgbClr val="0070C0"/>
                </a:solidFill>
                <a:latin typeface="Times New Roman" panose="02020603050405020304" pitchFamily="18" charset="0"/>
                <a:cs typeface="Times New Roman" panose="02020603050405020304" pitchFamily="18" charset="0"/>
              </a:rPr>
              <a:t> </a:t>
            </a:r>
            <a:r>
              <a:rPr lang="en-US" sz="4800" b="1" dirty="0" err="1" smtClean="0">
                <a:solidFill>
                  <a:srgbClr val="0070C0"/>
                </a:solidFill>
                <a:latin typeface="Times New Roman" panose="02020603050405020304" pitchFamily="18" charset="0"/>
                <a:cs typeface="Times New Roman" panose="02020603050405020304" pitchFamily="18" charset="0"/>
              </a:rPr>
              <a:t>giải</a:t>
            </a:r>
            <a:r>
              <a:rPr lang="en-US" sz="4800" b="1" dirty="0" smtClean="0">
                <a:solidFill>
                  <a:srgbClr val="0070C0"/>
                </a:solidFill>
                <a:latin typeface="Times New Roman" panose="02020603050405020304" pitchFamily="18" charset="0"/>
                <a:cs typeface="Times New Roman" panose="02020603050405020304" pitchFamily="18" charset="0"/>
              </a:rPr>
              <a:t> </a:t>
            </a:r>
            <a:r>
              <a:rPr lang="en-US" sz="4800" b="1" dirty="0" err="1" smtClean="0">
                <a:solidFill>
                  <a:srgbClr val="0070C0"/>
                </a:solidFill>
                <a:latin typeface="Times New Roman" panose="02020603050405020304" pitchFamily="18" charset="0"/>
                <a:cs typeface="Times New Roman" panose="02020603050405020304" pitchFamily="18" charset="0"/>
              </a:rPr>
              <a:t>thuật</a:t>
            </a:r>
            <a:r>
              <a:rPr lang="en-US" sz="4800" b="1" dirty="0" smtClean="0">
                <a:solidFill>
                  <a:srgbClr val="0070C0"/>
                </a:solidFill>
                <a:latin typeface="Times New Roman" panose="02020603050405020304" pitchFamily="18" charset="0"/>
                <a:cs typeface="Times New Roman" panose="02020603050405020304" pitchFamily="18" charset="0"/>
              </a:rPr>
              <a:t> </a:t>
            </a:r>
            <a:r>
              <a:rPr lang="en-US" sz="4800" b="1" dirty="0" err="1" smtClean="0">
                <a:solidFill>
                  <a:srgbClr val="0070C0"/>
                </a:solidFill>
                <a:latin typeface="Times New Roman" panose="02020603050405020304" pitchFamily="18" charset="0"/>
                <a:cs typeface="Times New Roman" panose="02020603050405020304" pitchFamily="18" charset="0"/>
              </a:rPr>
              <a:t>sắp</a:t>
            </a:r>
            <a:r>
              <a:rPr lang="en-US" sz="4800" b="1" dirty="0" smtClean="0">
                <a:solidFill>
                  <a:srgbClr val="0070C0"/>
                </a:solidFill>
                <a:latin typeface="Times New Roman" panose="02020603050405020304" pitchFamily="18" charset="0"/>
                <a:cs typeface="Times New Roman" panose="02020603050405020304" pitchFamily="18" charset="0"/>
              </a:rPr>
              <a:t> </a:t>
            </a:r>
            <a:r>
              <a:rPr lang="en-US" sz="4800" b="1" dirty="0" err="1" smtClean="0">
                <a:solidFill>
                  <a:srgbClr val="0070C0"/>
                </a:solidFill>
                <a:latin typeface="Times New Roman" panose="02020603050405020304" pitchFamily="18" charset="0"/>
                <a:cs typeface="Times New Roman" panose="02020603050405020304" pitchFamily="18" charset="0"/>
              </a:rPr>
              <a:t>xếp</a:t>
            </a:r>
            <a:r>
              <a:rPr lang="en-US" sz="4800" b="1" dirty="0" smtClean="0">
                <a:solidFill>
                  <a:srgbClr val="0070C0"/>
                </a:solidFill>
                <a:latin typeface="Times New Roman" panose="02020603050405020304" pitchFamily="18" charset="0"/>
                <a:cs typeface="Times New Roman" panose="02020603050405020304" pitchFamily="18" charset="0"/>
              </a:rPr>
              <a:t> </a:t>
            </a:r>
            <a:r>
              <a:rPr lang="en-US" sz="4800" b="1" dirty="0" err="1" smtClean="0">
                <a:solidFill>
                  <a:srgbClr val="0070C0"/>
                </a:solidFill>
                <a:latin typeface="Times New Roman" panose="02020603050405020304" pitchFamily="18" charset="0"/>
                <a:cs typeface="Times New Roman" panose="02020603050405020304" pitchFamily="18" charset="0"/>
              </a:rPr>
              <a:t>cơ</a:t>
            </a:r>
            <a:r>
              <a:rPr lang="en-US" sz="4800" b="1" dirty="0" smtClean="0">
                <a:solidFill>
                  <a:srgbClr val="0070C0"/>
                </a:solidFill>
                <a:latin typeface="Times New Roman" panose="02020603050405020304" pitchFamily="18" charset="0"/>
                <a:cs typeface="Times New Roman" panose="02020603050405020304" pitchFamily="18" charset="0"/>
              </a:rPr>
              <a:t> </a:t>
            </a:r>
            <a:r>
              <a:rPr lang="en-US" sz="4800" b="1" dirty="0" err="1" smtClean="0">
                <a:solidFill>
                  <a:srgbClr val="0070C0"/>
                </a:solidFill>
                <a:latin typeface="Times New Roman" panose="02020603050405020304" pitchFamily="18" charset="0"/>
                <a:cs typeface="Times New Roman" panose="02020603050405020304" pitchFamily="18" charset="0"/>
              </a:rPr>
              <a:t>bản</a:t>
            </a:r>
            <a:endParaRPr lang="en-US" sz="4800" b="1" dirty="0">
              <a:solidFill>
                <a:srgbClr val="0070C0"/>
              </a:solidFill>
              <a:latin typeface="Times New Roman" panose="02020603050405020304" pitchFamily="18" charset="0"/>
              <a:cs typeface="Times New Roman" panose="02020603050405020304" pitchFamily="18" charset="0"/>
            </a:endParaRPr>
          </a:p>
        </p:txBody>
      </p:sp>
      <p:sp>
        <p:nvSpPr>
          <p:cNvPr id="10243" name="Content Placeholder 2"/>
          <p:cNvSpPr>
            <a:spLocks noGrp="1"/>
          </p:cNvSpPr>
          <p:nvPr>
            <p:ph idx="1"/>
          </p:nvPr>
        </p:nvSpPr>
        <p:spPr>
          <a:xfrm>
            <a:off x="2286000" y="1666875"/>
            <a:ext cx="8077200" cy="2819400"/>
          </a:xfrm>
        </p:spPr>
        <p:txBody>
          <a:bodyPr>
            <a:noAutofit/>
          </a:bodyPr>
          <a:lstStyle/>
          <a:p>
            <a:pPr marL="514350" indent="-514350">
              <a:buFont typeface="+mj-lt"/>
              <a:buAutoNum type="arabicPeriod"/>
              <a:defRPr/>
            </a:pPr>
            <a:r>
              <a:rPr lang="en-US" sz="3600" b="1" smtClean="0">
                <a:solidFill>
                  <a:schemeClr val="bg1"/>
                </a:solidFill>
                <a:latin typeface="Times New Roman" panose="02020603050405020304" pitchFamily="18" charset="0"/>
                <a:cs typeface="Times New Roman" panose="02020603050405020304" pitchFamily="18" charset="0"/>
              </a:rPr>
              <a:t>Đổi </a:t>
            </a:r>
            <a:r>
              <a:rPr lang="en-US" sz="3600" b="1" dirty="0" err="1">
                <a:solidFill>
                  <a:schemeClr val="bg1"/>
                </a:solidFill>
                <a:latin typeface="Times New Roman" panose="02020603050405020304" pitchFamily="18" charset="0"/>
                <a:cs typeface="Times New Roman" panose="02020603050405020304" pitchFamily="18" charset="0"/>
              </a:rPr>
              <a:t>chổ</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trực</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tiếp</a:t>
            </a:r>
            <a:r>
              <a:rPr lang="en-US" sz="3600" b="1" dirty="0">
                <a:solidFill>
                  <a:schemeClr val="bg1"/>
                </a:solidFill>
                <a:latin typeface="Times New Roman" panose="02020603050405020304" pitchFamily="18" charset="0"/>
                <a:cs typeface="Times New Roman" panose="02020603050405020304" pitchFamily="18" charset="0"/>
              </a:rPr>
              <a:t> – Interchange Sort</a:t>
            </a:r>
          </a:p>
          <a:p>
            <a:pPr marL="514350" indent="-514350">
              <a:buFont typeface="+mj-lt"/>
              <a:buAutoNum type="arabicPeriod"/>
              <a:defRPr/>
            </a:pPr>
            <a:r>
              <a:rPr lang="en-US" sz="3600" b="1" dirty="0" err="1">
                <a:solidFill>
                  <a:schemeClr val="bg1"/>
                </a:solidFill>
                <a:latin typeface="Times New Roman" panose="02020603050405020304" pitchFamily="18" charset="0"/>
                <a:cs typeface="Times New Roman" panose="02020603050405020304" pitchFamily="18" charset="0"/>
              </a:rPr>
              <a:t>Chọn</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trực</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tiếp</a:t>
            </a:r>
            <a:r>
              <a:rPr lang="en-US" sz="3600" b="1" dirty="0">
                <a:solidFill>
                  <a:schemeClr val="bg1"/>
                </a:solidFill>
                <a:latin typeface="Times New Roman" panose="02020603050405020304" pitchFamily="18" charset="0"/>
                <a:cs typeface="Times New Roman" panose="02020603050405020304" pitchFamily="18" charset="0"/>
              </a:rPr>
              <a:t> – Selection Sort</a:t>
            </a:r>
          </a:p>
          <a:p>
            <a:pPr marL="514350" indent="-514350">
              <a:buFont typeface="+mj-lt"/>
              <a:buAutoNum type="arabicPeriod"/>
              <a:defRPr/>
            </a:pPr>
            <a:r>
              <a:rPr lang="en-US" sz="3600" b="1" dirty="0" err="1">
                <a:solidFill>
                  <a:schemeClr val="bg1"/>
                </a:solidFill>
                <a:latin typeface="Times New Roman" panose="02020603050405020304" pitchFamily="18" charset="0"/>
                <a:cs typeface="Times New Roman" panose="02020603050405020304" pitchFamily="18" charset="0"/>
              </a:rPr>
              <a:t>Chèn</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trực</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tiếp</a:t>
            </a:r>
            <a:r>
              <a:rPr lang="en-US" sz="3600" b="1" dirty="0">
                <a:solidFill>
                  <a:schemeClr val="bg1"/>
                </a:solidFill>
                <a:latin typeface="Times New Roman" panose="02020603050405020304" pitchFamily="18" charset="0"/>
                <a:cs typeface="Times New Roman" panose="02020603050405020304" pitchFamily="18" charset="0"/>
              </a:rPr>
              <a:t> – Insertion Sort</a:t>
            </a:r>
          </a:p>
          <a:p>
            <a:pPr marL="514350" indent="-514350">
              <a:buFont typeface="+mj-lt"/>
              <a:buAutoNum type="arabicPeriod"/>
              <a:defRPr/>
            </a:pPr>
            <a:r>
              <a:rPr lang="en-US" sz="3600" b="1" dirty="0" err="1">
                <a:solidFill>
                  <a:schemeClr val="bg1"/>
                </a:solidFill>
                <a:latin typeface="Times New Roman" panose="02020603050405020304" pitchFamily="18" charset="0"/>
                <a:cs typeface="Times New Roman" panose="02020603050405020304" pitchFamily="18" charset="0"/>
              </a:rPr>
              <a:t>Nổi</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bọt</a:t>
            </a:r>
            <a:r>
              <a:rPr lang="en-US" sz="3600" b="1" dirty="0">
                <a:solidFill>
                  <a:schemeClr val="bg1"/>
                </a:solidFill>
                <a:latin typeface="Times New Roman" panose="02020603050405020304" pitchFamily="18" charset="0"/>
                <a:cs typeface="Times New Roman" panose="02020603050405020304" pitchFamily="18" charset="0"/>
              </a:rPr>
              <a:t> – </a:t>
            </a:r>
            <a:r>
              <a:rPr lang="en-US" sz="3600" b="1" dirty="0" smtClean="0">
                <a:solidFill>
                  <a:schemeClr val="bg1"/>
                </a:solidFill>
                <a:latin typeface="Times New Roman" panose="02020603050405020304" pitchFamily="18" charset="0"/>
                <a:cs typeface="Times New Roman" panose="02020603050405020304" pitchFamily="18" charset="0"/>
              </a:rPr>
              <a:t>Bubble </a:t>
            </a:r>
            <a:r>
              <a:rPr lang="en-US" sz="3600" b="1" dirty="0">
                <a:solidFill>
                  <a:schemeClr val="bg1"/>
                </a:solidFill>
                <a:latin typeface="Times New Roman" panose="02020603050405020304" pitchFamily="18" charset="0"/>
                <a:cs typeface="Times New Roman" panose="02020603050405020304" pitchFamily="18" charset="0"/>
              </a:rPr>
              <a:t>Sort</a:t>
            </a:r>
          </a:p>
          <a:p>
            <a:pPr marL="514350" indent="-514350">
              <a:buFont typeface="+mj-lt"/>
              <a:buAutoNum type="arabicPeriod"/>
              <a:defRPr/>
            </a:pPr>
            <a:r>
              <a:rPr lang="en-US" sz="3600" b="1" dirty="0">
                <a:solidFill>
                  <a:schemeClr val="bg1"/>
                </a:solidFill>
                <a:latin typeface="Times New Roman" panose="02020603050405020304" pitchFamily="18" charset="0"/>
                <a:cs typeface="Times New Roman" panose="02020603050405020304" pitchFamily="18" charset="0"/>
              </a:rPr>
              <a:t>Quick Sort</a:t>
            </a:r>
          </a:p>
          <a:p>
            <a:pPr marL="0" indent="0" eaLnBrk="1" hangingPunct="1">
              <a:buNone/>
              <a:defRPr/>
            </a:pP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70F9FA5D-A8E0-4F12-973F-9E8ED4D0CDBC}" type="slidenum">
              <a:rPr lang="en-US" smtClean="0"/>
              <a:pPr>
                <a:defRPr/>
              </a:pPr>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0" dur="500"/>
                                        <p:tgtEl>
                                          <p:spTgt spid="1024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3" dur="500"/>
                                        <p:tgtEl>
                                          <p:spTgt spid="1024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0243">
                                            <p:txEl>
                                              <p:pRg st="4" end="4"/>
                                            </p:txEl>
                                          </p:spTgt>
                                        </p:tgtEl>
                                        <p:attrNameLst>
                                          <p:attrName>style.visibility</p:attrName>
                                        </p:attrNameLst>
                                      </p:cBhvr>
                                      <p:to>
                                        <p:strVal val="visible"/>
                                      </p:to>
                                    </p:set>
                                    <p:animEffect transition="in" filter="blinds(horizontal)">
                                      <p:cBhvr>
                                        <p:cTn id="16" dur="500"/>
                                        <p:tgtEl>
                                          <p:spTgt spid="1024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19" dur="500"/>
                                        <p:tgtEl>
                                          <p:spTgt spid="10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03238"/>
            <a:ext cx="9601200" cy="792162"/>
          </a:xfrm>
        </p:spPr>
        <p:txBody>
          <a:bodyPr vert="horz" lIns="91440" tIns="45720" rIns="91440" bIns="45720" rtlCol="0" anchor="ctr">
            <a:noAutofit/>
          </a:bodyPr>
          <a:lstStyle/>
          <a:p>
            <a:pPr fontAlgn="base">
              <a:spcAft>
                <a:spcPct val="0"/>
              </a:spcAft>
            </a:pPr>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
        <p:nvSpPr>
          <p:cNvPr id="12291" name="Content Placeholder 2"/>
          <p:cNvSpPr>
            <a:spLocks noGrp="1"/>
          </p:cNvSpPr>
          <p:nvPr>
            <p:ph idx="1"/>
          </p:nvPr>
        </p:nvSpPr>
        <p:spPr>
          <a:xfrm>
            <a:off x="685800" y="1143000"/>
            <a:ext cx="10820400" cy="4191000"/>
          </a:xfrm>
        </p:spPr>
        <p:txBody>
          <a:bodyPr>
            <a:noAutofit/>
          </a:bodyPr>
          <a:lstStyle/>
          <a:p>
            <a:pPr marL="0" indent="0" algn="just">
              <a:lnSpc>
                <a:spcPct val="150000"/>
              </a:lnSpc>
              <a:buNone/>
            </a:pPr>
            <a:r>
              <a:rPr lang="en-US" sz="4000" b="1">
                <a:solidFill>
                  <a:schemeClr val="bg1"/>
                </a:solidFill>
                <a:latin typeface="Times New Roman" panose="02020603050405020304" pitchFamily="18" charset="0"/>
                <a:cs typeface="Times New Roman" panose="02020603050405020304" pitchFamily="18" charset="0"/>
              </a:rPr>
              <a:t>Ý </a:t>
            </a:r>
            <a:r>
              <a:rPr lang="en-US" sz="4000" b="1" smtClean="0">
                <a:solidFill>
                  <a:schemeClr val="bg1"/>
                </a:solidFill>
                <a:latin typeface="Times New Roman" panose="02020603050405020304" pitchFamily="18" charset="0"/>
                <a:cs typeface="Times New Roman" panose="02020603050405020304" pitchFamily="18" charset="0"/>
              </a:rPr>
              <a:t>tưởng:</a:t>
            </a:r>
            <a:r>
              <a:rPr lang="en-US" sz="3200" dirty="0" smtClean="0">
                <a:solidFill>
                  <a:schemeClr val="bg1"/>
                </a:solidFill>
                <a:latin typeface="Times New Roman" panose="02020603050405020304" pitchFamily="18" charset="0"/>
                <a:cs typeface="Times New Roman" panose="02020603050405020304" pitchFamily="18" charset="0"/>
              </a:rPr>
              <a:t>	</a:t>
            </a:r>
          </a:p>
          <a:p>
            <a:pPr marL="57150" indent="-11113" algn="just">
              <a:lnSpc>
                <a:spcPct val="150000"/>
              </a:lnSpc>
              <a:buNone/>
            </a:pPr>
            <a:r>
              <a:rPr lang="en-US" sz="3200" smtClean="0">
                <a:solidFill>
                  <a:schemeClr val="bg1"/>
                </a:solidFill>
                <a:latin typeface="Times New Roman" panose="02020603050405020304" pitchFamily="18" charset="0"/>
                <a:cs typeface="Times New Roman" panose="02020603050405020304" pitchFamily="18" charset="0"/>
              </a:rPr>
              <a:t>		Ý </a:t>
            </a:r>
            <a:r>
              <a:rPr lang="en-US" sz="3200" dirty="0" err="1" smtClean="0">
                <a:solidFill>
                  <a:schemeClr val="bg1"/>
                </a:solidFill>
                <a:latin typeface="Times New Roman" panose="02020603050405020304" pitchFamily="18" charset="0"/>
                <a:cs typeface="Times New Roman" panose="02020603050405020304" pitchFamily="18" charset="0"/>
              </a:rPr>
              <a:t>tưởng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chính</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của</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giải</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thuật</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là</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xuất</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phát</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từ</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đầu</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dãy</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tìm</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tất</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cả</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nghịch</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thế</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chứa</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phần</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tử</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này</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triệt</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tiêu</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chúng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bằng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cách</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đổi</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chỗ</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phần</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tử</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này</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với</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phần</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tử</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tương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ứng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trong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cặp</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nghịch</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thế</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Lặp</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lại</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xử</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lý</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trên</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với</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các</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phần</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tử</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tiếp</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theo</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trong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dãy</a:t>
            </a:r>
            <a:r>
              <a:rPr lang="en-US" sz="3200" dirty="0" smtClean="0">
                <a:solidFill>
                  <a:schemeClr val="bg1"/>
                </a:solidFill>
                <a:latin typeface="Times New Roman" panose="02020603050405020304" pitchFamily="18" charset="0"/>
                <a:cs typeface="Times New Roman" panose="02020603050405020304" pitchFamily="18" charset="0"/>
              </a:rPr>
              <a:t>. </a:t>
            </a:r>
          </a:p>
          <a:p>
            <a:pPr algn="just">
              <a:lnSpc>
                <a:spcPct val="150000"/>
              </a:lnSpc>
              <a:buFont typeface="Wingdings" pitchFamily="2" charset="2"/>
              <a:buNone/>
            </a:pPr>
            <a:endParaRPr lang="en-US" sz="320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buFont typeface="Wingdings" pitchFamily="2" charset="2"/>
              <a:buNone/>
            </a:pPr>
            <a:endParaRPr lang="en-US" sz="3600" dirty="0" smtClean="0">
              <a:solidFill>
                <a:schemeClr val="bg1"/>
              </a:solidFill>
              <a:latin typeface="Times New Roman" panose="02020603050405020304" pitchFamily="18" charset="0"/>
              <a:cs typeface="Times New Roman" panose="02020603050405020304" pitchFamily="18" charset="0"/>
            </a:endParaRPr>
          </a:p>
          <a:p>
            <a:pPr>
              <a:lnSpc>
                <a:spcPct val="150000"/>
              </a:lnSpc>
              <a:buFont typeface="Wingdings" pitchFamily="2" charset="2"/>
              <a:buNone/>
            </a:pPr>
            <a:endParaRPr lang="en-US" sz="320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FAFEECAA-2104-44FF-9FF5-5652A617F91A}" type="slidenum">
              <a:rPr lang="en-US" smtClean="0"/>
              <a:pPr>
                <a:defRPr/>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p:cNvSpPr>
            <a:spLocks noGrp="1"/>
          </p:cNvSpPr>
          <p:nvPr>
            <p:ph idx="1"/>
          </p:nvPr>
        </p:nvSpPr>
        <p:spPr>
          <a:xfrm>
            <a:off x="1295400" y="441325"/>
            <a:ext cx="10134600" cy="6188075"/>
          </a:xfrm>
        </p:spPr>
        <p:txBody>
          <a:bodyPr>
            <a:noAutofit/>
          </a:bodyPr>
          <a:lstStyle/>
          <a:p>
            <a:pPr>
              <a:buFont typeface="Wingdings" pitchFamily="2" charset="2"/>
              <a:buNone/>
            </a:pPr>
            <a:r>
              <a:rPr lang="en-US" sz="4800" b="1" err="1">
                <a:solidFill>
                  <a:srgbClr val="0070C0"/>
                </a:solidFill>
                <a:latin typeface="Times New Roman" panose="02020603050405020304" pitchFamily="18" charset="0"/>
                <a:cs typeface="Times New Roman" panose="02020603050405020304" pitchFamily="18" charset="0"/>
              </a:rPr>
              <a:t>Giải</a:t>
            </a:r>
            <a:r>
              <a:rPr lang="en-US" sz="4800" b="1">
                <a:solidFill>
                  <a:srgbClr val="0070C0"/>
                </a:solidFill>
                <a:latin typeface="Times New Roman" panose="02020603050405020304" pitchFamily="18" charset="0"/>
                <a:cs typeface="Times New Roman" panose="02020603050405020304" pitchFamily="18" charset="0"/>
              </a:rPr>
              <a:t> </a:t>
            </a:r>
            <a:r>
              <a:rPr lang="en-US" sz="4800" b="1" smtClean="0">
                <a:solidFill>
                  <a:srgbClr val="0070C0"/>
                </a:solidFill>
                <a:latin typeface="Times New Roman" panose="02020603050405020304" pitchFamily="18" charset="0"/>
                <a:cs typeface="Times New Roman" panose="02020603050405020304" pitchFamily="18" charset="0"/>
              </a:rPr>
              <a:t>thuật:</a:t>
            </a:r>
            <a:endParaRPr lang="en-US" sz="4800" b="1" dirty="0">
              <a:solidFill>
                <a:srgbClr val="0070C0"/>
              </a:solidFill>
              <a:latin typeface="Times New Roman" panose="02020603050405020304" pitchFamily="18" charset="0"/>
              <a:cs typeface="Times New Roman" panose="02020603050405020304" pitchFamily="18" charset="0"/>
            </a:endParaRPr>
          </a:p>
          <a:p>
            <a:pPr lvl="1"/>
            <a:r>
              <a:rPr lang="en-US" sz="3600" dirty="0" err="1">
                <a:solidFill>
                  <a:schemeClr val="bg1"/>
                </a:solidFill>
                <a:latin typeface="Times New Roman" panose="02020603050405020304" pitchFamily="18" charset="0"/>
                <a:cs typeface="Times New Roman" panose="02020603050405020304" pitchFamily="18" charset="0"/>
              </a:rPr>
              <a:t>Bước</a:t>
            </a:r>
            <a:r>
              <a:rPr lang="en-US" sz="3600" dirty="0">
                <a:solidFill>
                  <a:schemeClr val="bg1"/>
                </a:solidFill>
                <a:latin typeface="Times New Roman" panose="02020603050405020304" pitchFamily="18" charset="0"/>
                <a:cs typeface="Times New Roman" panose="02020603050405020304" pitchFamily="18" charset="0"/>
              </a:rPr>
              <a:t> 1 : </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a:t>
            </a:r>
            <a:r>
              <a:rPr lang="en-US" sz="3600">
                <a:solidFill>
                  <a:schemeClr val="bg1"/>
                </a:solidFill>
                <a:latin typeface="Times New Roman" panose="02020603050405020304" pitchFamily="18" charset="0"/>
                <a:cs typeface="Times New Roman" panose="02020603050405020304" pitchFamily="18" charset="0"/>
              </a:rPr>
              <a:t>= </a:t>
            </a:r>
            <a:r>
              <a:rPr lang="en-US" sz="3600" smtClean="0">
                <a:solidFill>
                  <a:schemeClr val="bg1"/>
                </a:solidFill>
                <a:latin typeface="Times New Roman" panose="02020603050405020304" pitchFamily="18" charset="0"/>
                <a:cs typeface="Times New Roman" panose="02020603050405020304" pitchFamily="18" charset="0"/>
              </a:rPr>
              <a:t>0;// </a:t>
            </a:r>
            <a:r>
              <a:rPr lang="en-US" sz="3600" dirty="0" err="1">
                <a:solidFill>
                  <a:schemeClr val="bg1"/>
                </a:solidFill>
                <a:latin typeface="Times New Roman" panose="02020603050405020304" pitchFamily="18" charset="0"/>
                <a:cs typeface="Times New Roman" panose="02020603050405020304" pitchFamily="18" charset="0"/>
              </a:rPr>
              <a:t>bắt</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đầu</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từ</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đầu</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a:t>
            </a:r>
          </a:p>
          <a:p>
            <a:pPr lvl="1"/>
            <a:r>
              <a:rPr lang="en-US" sz="3600" dirty="0" err="1">
                <a:solidFill>
                  <a:schemeClr val="bg1"/>
                </a:solidFill>
                <a:latin typeface="Times New Roman" panose="02020603050405020304" pitchFamily="18" charset="0"/>
                <a:cs typeface="Times New Roman" panose="02020603050405020304" pitchFamily="18" charset="0"/>
              </a:rPr>
              <a:t>Bước</a:t>
            </a:r>
            <a:r>
              <a:rPr lang="en-US" sz="3600" dirty="0">
                <a:solidFill>
                  <a:schemeClr val="bg1"/>
                </a:solidFill>
                <a:latin typeface="Times New Roman" panose="02020603050405020304" pitchFamily="18" charset="0"/>
                <a:cs typeface="Times New Roman" panose="02020603050405020304" pitchFamily="18" charset="0"/>
              </a:rPr>
              <a:t> 2 : j = i+1;//</a:t>
            </a:r>
            <a:r>
              <a:rPr lang="en-US" sz="3600" dirty="0" err="1">
                <a:solidFill>
                  <a:schemeClr val="bg1"/>
                </a:solidFill>
                <a:latin typeface="Times New Roman" panose="02020603050405020304" pitchFamily="18" charset="0"/>
                <a:cs typeface="Times New Roman" panose="02020603050405020304" pitchFamily="18" charset="0"/>
              </a:rPr>
              <a:t>tìm</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các</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phần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tử</a:t>
            </a:r>
            <a:r>
              <a:rPr lang="en-US" sz="3600" dirty="0">
                <a:solidFill>
                  <a:schemeClr val="bg1"/>
                </a:solidFill>
                <a:latin typeface="Times New Roman" panose="02020603050405020304" pitchFamily="18" charset="0"/>
                <a:cs typeface="Times New Roman" panose="02020603050405020304" pitchFamily="18" charset="0"/>
              </a:rPr>
              <a:t> a[j] &lt; a[</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j&gt;</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a:t>
            </a:r>
          </a:p>
          <a:p>
            <a:pPr lvl="1"/>
            <a:r>
              <a:rPr lang="en-US" sz="3600" dirty="0" err="1">
                <a:solidFill>
                  <a:schemeClr val="bg1"/>
                </a:solidFill>
                <a:latin typeface="Times New Roman" panose="02020603050405020304" pitchFamily="18" charset="0"/>
                <a:cs typeface="Times New Roman" panose="02020603050405020304" pitchFamily="18" charset="0"/>
              </a:rPr>
              <a:t>Bước</a:t>
            </a:r>
            <a:r>
              <a:rPr lang="en-US" sz="3600" dirty="0">
                <a:solidFill>
                  <a:schemeClr val="bg1"/>
                </a:solidFill>
                <a:latin typeface="Times New Roman" panose="02020603050405020304" pitchFamily="18" charset="0"/>
                <a:cs typeface="Times New Roman" panose="02020603050405020304" pitchFamily="18" charset="0"/>
              </a:rPr>
              <a:t> 3 : </a:t>
            </a:r>
          </a:p>
          <a:p>
            <a:pPr lvl="1">
              <a:buFont typeface="Wingdings 2" pitchFamily="18" charset="2"/>
              <a:buNone/>
            </a:pP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Trong</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khi</a:t>
            </a:r>
            <a:r>
              <a:rPr lang="en-US" sz="3600" dirty="0">
                <a:solidFill>
                  <a:schemeClr val="bg1"/>
                </a:solidFill>
                <a:latin typeface="Times New Roman" panose="02020603050405020304" pitchFamily="18" charset="0"/>
                <a:cs typeface="Times New Roman" panose="02020603050405020304" pitchFamily="18" charset="0"/>
              </a:rPr>
              <a:t> </a:t>
            </a:r>
            <a:r>
              <a:rPr lang="en-US" sz="3600">
                <a:solidFill>
                  <a:schemeClr val="bg1"/>
                </a:solidFill>
                <a:latin typeface="Times New Roman" panose="02020603050405020304" pitchFamily="18" charset="0"/>
                <a:cs typeface="Times New Roman" panose="02020603050405020304" pitchFamily="18" charset="0"/>
              </a:rPr>
              <a:t>j </a:t>
            </a:r>
            <a:r>
              <a:rPr lang="en-US" sz="3600" smtClean="0">
                <a:solidFill>
                  <a:schemeClr val="bg1"/>
                </a:solidFill>
                <a:latin typeface="Times New Roman" panose="02020603050405020304" pitchFamily="18" charset="0"/>
                <a:cs typeface="Times New Roman" panose="02020603050405020304" pitchFamily="18" charset="0"/>
              </a:rPr>
              <a:t>&lt; </a:t>
            </a:r>
            <a:r>
              <a:rPr lang="en-US" sz="3600" dirty="0">
                <a:solidFill>
                  <a:schemeClr val="bg1"/>
                </a:solidFill>
                <a:latin typeface="Times New Roman" panose="02020603050405020304" pitchFamily="18" charset="0"/>
                <a:cs typeface="Times New Roman" panose="02020603050405020304" pitchFamily="18" charset="0"/>
              </a:rPr>
              <a:t>N </a:t>
            </a:r>
            <a:r>
              <a:rPr lang="en-US" sz="3600" dirty="0" err="1">
                <a:solidFill>
                  <a:schemeClr val="bg1"/>
                </a:solidFill>
                <a:latin typeface="Times New Roman" panose="02020603050405020304" pitchFamily="18" charset="0"/>
                <a:cs typeface="Times New Roman" panose="02020603050405020304" pitchFamily="18" charset="0"/>
              </a:rPr>
              <a:t>thực</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hiện</a:t>
            </a:r>
            <a:r>
              <a:rPr lang="en-US" sz="3600" dirty="0">
                <a:solidFill>
                  <a:schemeClr val="bg1"/>
                </a:solidFill>
                <a:latin typeface="Times New Roman" panose="02020603050405020304" pitchFamily="18" charset="0"/>
                <a:cs typeface="Times New Roman" panose="02020603050405020304" pitchFamily="18" charset="0"/>
              </a:rPr>
              <a:t> </a:t>
            </a:r>
          </a:p>
          <a:p>
            <a:pPr lvl="1">
              <a:buFont typeface="Wingdings 2" pitchFamily="18" charset="2"/>
              <a:buNone/>
            </a:pP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Nếu</a:t>
            </a:r>
            <a:r>
              <a:rPr lang="en-US" sz="3600" dirty="0">
                <a:solidFill>
                  <a:schemeClr val="bg1"/>
                </a:solidFill>
                <a:latin typeface="Times New Roman" panose="02020603050405020304" pitchFamily="18" charset="0"/>
                <a:cs typeface="Times New Roman" panose="02020603050405020304" pitchFamily="18" charset="0"/>
              </a:rPr>
              <a:t> a[j]&lt;a[</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Hoán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vị</a:t>
            </a:r>
            <a:r>
              <a:rPr lang="en-US" sz="3600" dirty="0">
                <a:solidFill>
                  <a:schemeClr val="bg1"/>
                </a:solidFill>
                <a:latin typeface="Times New Roman" panose="02020603050405020304" pitchFamily="18" charset="0"/>
                <a:cs typeface="Times New Roman" panose="02020603050405020304" pitchFamily="18" charset="0"/>
              </a:rPr>
              <a:t> a[</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a[j];</a:t>
            </a:r>
          </a:p>
          <a:p>
            <a:pPr lvl="1">
              <a:buFont typeface="Wingdings 2" pitchFamily="18" charset="2"/>
              <a:buNone/>
            </a:pPr>
            <a:r>
              <a:rPr lang="en-US" sz="3600" dirty="0">
                <a:solidFill>
                  <a:schemeClr val="bg1"/>
                </a:solidFill>
                <a:latin typeface="Times New Roman" panose="02020603050405020304" pitchFamily="18" charset="0"/>
                <a:cs typeface="Times New Roman" panose="02020603050405020304" pitchFamily="18" charset="0"/>
              </a:rPr>
              <a:t>		j = j+1;		</a:t>
            </a:r>
          </a:p>
          <a:p>
            <a:pPr lvl="1"/>
            <a:r>
              <a:rPr lang="en-US" sz="3600" dirty="0" err="1">
                <a:solidFill>
                  <a:schemeClr val="bg1"/>
                </a:solidFill>
                <a:latin typeface="Times New Roman" panose="02020603050405020304" pitchFamily="18" charset="0"/>
                <a:cs typeface="Times New Roman" panose="02020603050405020304" pitchFamily="18" charset="0"/>
              </a:rPr>
              <a:t>Bước</a:t>
            </a:r>
            <a:r>
              <a:rPr lang="en-US" sz="3600" dirty="0">
                <a:solidFill>
                  <a:schemeClr val="bg1"/>
                </a:solidFill>
                <a:latin typeface="Times New Roman" panose="02020603050405020304" pitchFamily="18" charset="0"/>
                <a:cs typeface="Times New Roman" panose="02020603050405020304" pitchFamily="18" charset="0"/>
              </a:rPr>
              <a:t> 4 : </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 i+1; </a:t>
            </a:r>
          </a:p>
          <a:p>
            <a:pPr lvl="1">
              <a:buFont typeface="Wingdings 2" pitchFamily="18" charset="2"/>
              <a:buNone/>
            </a:pP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Nếu</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&lt; N: </a:t>
            </a:r>
            <a:r>
              <a:rPr lang="en-US" sz="3600" dirty="0" err="1">
                <a:solidFill>
                  <a:schemeClr val="bg1"/>
                </a:solidFill>
                <a:latin typeface="Times New Roman" panose="02020603050405020304" pitchFamily="18" charset="0"/>
                <a:cs typeface="Times New Roman" panose="02020603050405020304" pitchFamily="18" charset="0"/>
              </a:rPr>
              <a:t>Lặp</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lại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Bước</a:t>
            </a:r>
            <a:r>
              <a:rPr lang="en-US" sz="3600" dirty="0">
                <a:solidFill>
                  <a:schemeClr val="bg1"/>
                </a:solidFill>
                <a:latin typeface="Times New Roman" panose="02020603050405020304" pitchFamily="18" charset="0"/>
                <a:cs typeface="Times New Roman" panose="02020603050405020304" pitchFamily="18" charset="0"/>
              </a:rPr>
              <a:t> 2. </a:t>
            </a:r>
          </a:p>
          <a:p>
            <a:pPr lvl="1">
              <a:buFont typeface="Wingdings 2" pitchFamily="18" charset="2"/>
              <a:buNone/>
            </a:pP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Ngược</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lại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Dừng</a:t>
            </a:r>
            <a:r>
              <a:rPr lang="en-US" sz="3600" dirty="0">
                <a:solidFill>
                  <a:schemeClr val="bg1"/>
                </a:solidFill>
                <a:latin typeface="Times New Roman" panose="02020603050405020304" pitchFamily="18" charset="0"/>
                <a:cs typeface="Times New Roman" panose="02020603050405020304" pitchFamily="18" charset="0"/>
              </a:rPr>
              <a:t>. </a:t>
            </a:r>
          </a:p>
          <a:p>
            <a:endParaRPr lang="en-US" sz="48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B3CABB5F-6E5A-4779-9A30-370B14CF8FB9}" type="slidenum">
              <a:rPr lang="en-US" smtClean="0"/>
              <a:pPr>
                <a:defRPr/>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805454293"/>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6</a:t>
            </a:fld>
            <a:endParaRPr lang="en-US"/>
          </a:p>
        </p:txBody>
      </p:sp>
      <p:sp>
        <p:nvSpPr>
          <p:cNvPr id="19" name="Rectangle 18"/>
          <p:cNvSpPr/>
          <p:nvPr/>
        </p:nvSpPr>
        <p:spPr>
          <a:xfrm>
            <a:off x="2362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6934199"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2076449" y="1356984"/>
            <a:ext cx="7543800" cy="646331"/>
          </a:xfrm>
          <a:prstGeom prst="rect">
            <a:avLst/>
          </a:prstGeom>
          <a:noFill/>
        </p:spPr>
        <p:txBody>
          <a:bodyPr wrap="square">
            <a:spAutoFit/>
          </a:bodyPr>
          <a:lstStyle/>
          <a:p>
            <a:pPr>
              <a:defRPr/>
            </a:pPr>
            <a:r>
              <a:rPr lang="en-US" sz="3600">
                <a:solidFill>
                  <a:schemeClr val="bg1"/>
                </a:solidFill>
                <a:latin typeface="Times New Roman" panose="02020603050405020304" pitchFamily="18" charset="0"/>
                <a:cs typeface="Times New Roman" panose="02020603050405020304" pitchFamily="18" charset="0"/>
              </a:rPr>
              <a:t>Giả sử cần sắp xếp dãy số sau tăng dần</a:t>
            </a:r>
          </a:p>
        </p:txBody>
      </p:sp>
      <p:sp>
        <p:nvSpPr>
          <p:cNvPr id="16" name="Title 1"/>
          <p:cNvSpPr txBox="1">
            <a:spLocks/>
          </p:cNvSpPr>
          <p:nvPr/>
        </p:nvSpPr>
        <p:spPr>
          <a:xfrm>
            <a:off x="228600" y="579438"/>
            <a:ext cx="9601200" cy="792162"/>
          </a:xfrm>
          <a:prstGeom prst="rect">
            <a:avLst/>
          </a:prstGeom>
        </p:spPr>
        <p:txBody>
          <a:bodyPr vert="horz" lIns="91440" tIns="45720" rIns="91440" bIns="45720" rtlCol="0" anchor="ctr">
            <a:noAutofit/>
          </a:bodyPr>
          <a:lstStyle>
            <a:lvl1pPr defTabSz="914400" eaLnBrk="1" latinLnBrk="0" hangingPunct="1">
              <a:lnSpc>
                <a:spcPct val="90000"/>
              </a:lnSpc>
              <a:buNone/>
              <a:defRPr sz="4400" b="1">
                <a:solidFill>
                  <a:srgbClr val="0070C0"/>
                </a:solidFill>
                <a:latin typeface="Times New Roman" panose="02020603050405020304" pitchFamily="18" charset="0"/>
                <a:ea typeface="+mj-ea"/>
                <a:cs typeface="Times New Roman" panose="02020603050405020304" pitchFamily="18" charset="0"/>
              </a:defRPr>
            </a:lvl1pPr>
          </a:lstStyle>
          <a:p>
            <a:r>
              <a:rPr lang="en-US"/>
              <a:t>1. Đổi chổ trực tiếp – interchange sort</a:t>
            </a:r>
            <a:endParaRPr lang="en-US" dirty="0"/>
          </a:p>
        </p:txBody>
      </p:sp>
    </p:spTree>
    <p:extLst>
      <p:ext uri="{BB962C8B-B14F-4D97-AF65-F5344CB8AC3E}">
        <p14:creationId xmlns:p14="http://schemas.microsoft.com/office/powerpoint/2010/main" val="31625352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966263743"/>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7</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1: Xét phần tử đầu tiên (tại vị trí 1)</a:t>
            </a:r>
          </a:p>
        </p:txBody>
      </p:sp>
      <p:sp>
        <p:nvSpPr>
          <p:cNvPr id="2" name="Up Arrow Callout 1"/>
          <p:cNvSpPr/>
          <p:nvPr/>
        </p:nvSpPr>
        <p:spPr>
          <a:xfrm>
            <a:off x="2362201"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6934199"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3276599"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19" name="Rectangle 18"/>
          <p:cNvSpPr/>
          <p:nvPr/>
        </p:nvSpPr>
        <p:spPr>
          <a:xfrm>
            <a:off x="2362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7" name="Title 1"/>
          <p:cNvSpPr>
            <a:spLocks noGrp="1"/>
          </p:cNvSpPr>
          <p:nvPr>
            <p:ph type="title"/>
          </p:nvPr>
        </p:nvSpPr>
        <p:spPr>
          <a:xfrm>
            <a:off x="228600" y="503238"/>
            <a:ext cx="9601200" cy="792162"/>
          </a:xfrm>
        </p:spPr>
        <p:txBody>
          <a:bodyPr>
            <a:noAutofit/>
          </a:bodyPr>
          <a:lstStyle/>
          <a:p>
            <a:pPr>
              <a:defRPr/>
            </a:pPr>
            <a:r>
              <a:rPr lang="en-US" b="1" smtClean="0">
                <a:solidFill>
                  <a:srgbClr val="0070C0"/>
                </a:solidFill>
                <a:latin typeface="Times New Roman" panose="02020603050405020304" pitchFamily="18" charset="0"/>
                <a:cs typeface="Times New Roman" panose="02020603050405020304" pitchFamily="18" charset="0"/>
              </a:rPr>
              <a:t>1. Đổi </a:t>
            </a:r>
            <a:r>
              <a:rPr lang="en-US" b="1" dirty="0" err="1" smtClean="0">
                <a:solidFill>
                  <a:srgbClr val="0070C0"/>
                </a:solidFill>
                <a:latin typeface="Times New Roman" panose="02020603050405020304" pitchFamily="18" charset="0"/>
                <a:cs typeface="Times New Roman" panose="02020603050405020304" pitchFamily="18" charset="0"/>
              </a:rPr>
              <a:t>chổ</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interchange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76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64" presetClass="path" presetSubtype="0" accel="50000" decel="50000" fill="hold" grpId="0" nodeType="clickEffect">
                                  <p:stCondLst>
                                    <p:cond delay="0"/>
                                  </p:stCondLst>
                                  <p:childTnLst>
                                    <p:animMotion origin="layout" path="M 0 0 L 0 -0.25 E" pathEditMode="relative" ptsTypes="">
                                      <p:cBhvr>
                                        <p:cTn id="14" dur="2000" fill="hold"/>
                                        <p:tgtEl>
                                          <p:spTgt spid="19"/>
                                        </p:tgtEl>
                                        <p:attrNameLst>
                                          <p:attrName>ppt_x</p:attrName>
                                          <p:attrName>ppt_y</p:attrName>
                                        </p:attrNameLst>
                                      </p:cBhvr>
                                    </p:animMotion>
                                  </p:childTnLst>
                                </p:cTn>
                              </p:par>
                            </p:childTnLst>
                          </p:cTn>
                        </p:par>
                        <p:par>
                          <p:cTn id="15" fill="hold">
                            <p:stCondLst>
                              <p:cond delay="2000"/>
                            </p:stCondLst>
                            <p:childTnLst>
                              <p:par>
                                <p:cTn id="16" presetID="64" presetClass="path" presetSubtype="0" accel="50000" decel="50000" fill="hold" grpId="0" nodeType="afterEffect">
                                  <p:stCondLst>
                                    <p:cond delay="0"/>
                                  </p:stCondLst>
                                  <p:childTnLst>
                                    <p:animMotion origin="layout" path="M 0 0 L 0 -0.25 E" pathEditMode="relative" ptsTypes="">
                                      <p:cBhvr>
                                        <p:cTn id="17" dur="2000" fill="hold"/>
                                        <p:tgtEl>
                                          <p:spTgt spid="18"/>
                                        </p:tgtEl>
                                        <p:attrNameLst>
                                          <p:attrName>ppt_x</p:attrName>
                                          <p:attrName>ppt_y</p:attrName>
                                        </p:attrNameLst>
                                      </p:cBhvr>
                                    </p:animMotion>
                                  </p:childTnLst>
                                </p:cTn>
                              </p:par>
                            </p:childTnLst>
                          </p:cTn>
                        </p:par>
                        <p:par>
                          <p:cTn id="18" fill="hold">
                            <p:stCondLst>
                              <p:cond delay="4000"/>
                            </p:stCondLst>
                            <p:childTnLst>
                              <p:par>
                                <p:cTn id="19" presetID="50" presetClass="path" presetSubtype="0" accel="50000" decel="50000" fill="hold" grpId="1" nodeType="afterEffect">
                                  <p:stCondLst>
                                    <p:cond delay="0"/>
                                  </p:stCondLst>
                                  <p:childTnLst>
                                    <p:animMotion origin="layout" path="M 5E-6 -0.25 L 0.03438 -0.25 C 0.04974 -0.25 0.07071 -0.18171 0.07071 -0.1243 L 0.07188 0.00278 " pathEditMode="relative" rAng="0" ptsTypes="AAAA">
                                      <p:cBhvr>
                                        <p:cTn id="20" dur="2000" fill="hold"/>
                                        <p:tgtEl>
                                          <p:spTgt spid="19"/>
                                        </p:tgtEl>
                                        <p:attrNameLst>
                                          <p:attrName>ppt_x</p:attrName>
                                          <p:attrName>ppt_y</p:attrName>
                                        </p:attrNameLst>
                                      </p:cBhvr>
                                      <p:rCtr x="3594" y="12639"/>
                                    </p:animMotion>
                                  </p:childTnLst>
                                </p:cTn>
                              </p:par>
                            </p:childTnLst>
                          </p:cTn>
                        </p:par>
                        <p:par>
                          <p:cTn id="21" fill="hold">
                            <p:stCondLst>
                              <p:cond delay="6000"/>
                            </p:stCondLst>
                            <p:childTnLst>
                              <p:par>
                                <p:cTn id="22" presetID="50" presetClass="path" presetSubtype="0" accel="50000" decel="50000" fill="hold" grpId="1" nodeType="afterEffect">
                                  <p:stCondLst>
                                    <p:cond delay="0"/>
                                  </p:stCondLst>
                                  <p:childTnLst>
                                    <p:animMotion origin="layout" path="M 5E-6 -0.25 L -0.03907 -0.25 C -0.05664 -0.25 -0.07812 -0.18102 -0.07812 -0.125 L -0.07812 1.11111E-6 " pathEditMode="relative" rAng="0" ptsTypes="AAAA">
                                      <p:cBhvr>
                                        <p:cTn id="23" dur="2000" fill="hold"/>
                                        <p:tgtEl>
                                          <p:spTgt spid="18"/>
                                        </p:tgtEl>
                                        <p:attrNameLst>
                                          <p:attrName>ppt_x</p:attrName>
                                          <p:attrName>ppt_y</p:attrName>
                                        </p:attrNameLst>
                                      </p:cBhvr>
                                      <p:rCtr x="-3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6" grpId="0" animBg="1"/>
      <p:bldP spid="19" grpId="0" animBg="1"/>
      <p:bldP spid="19" grpId="1" animBg="1"/>
      <p:bldP spid="18" grpId="0" animBg="1"/>
      <p:bldP spid="18"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383787320"/>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8</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1: Xét phần tử đầu tiên (tại vị trí 1)</a:t>
            </a:r>
          </a:p>
        </p:txBody>
      </p:sp>
      <p:sp>
        <p:nvSpPr>
          <p:cNvPr id="19" name="Rectangle 18"/>
          <p:cNvSpPr/>
          <p:nvPr/>
        </p:nvSpPr>
        <p:spPr>
          <a:xfrm>
            <a:off x="32766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2362201"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1" name="Rectangle 20"/>
          <p:cNvSpPr/>
          <p:nvPr/>
        </p:nvSpPr>
        <p:spPr>
          <a:xfrm>
            <a:off x="5105399"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6934199"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3276599"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18" name="Rectangle 17"/>
          <p:cNvSpPr/>
          <p:nvPr/>
        </p:nvSpPr>
        <p:spPr>
          <a:xfrm>
            <a:off x="23622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7" name="Title 1"/>
          <p:cNvSpPr txBox="1">
            <a:spLocks/>
          </p:cNvSpPr>
          <p:nvPr/>
        </p:nvSpPr>
        <p:spPr>
          <a:xfrm>
            <a:off x="228600" y="503238"/>
            <a:ext cx="9601200" cy="792162"/>
          </a:xfrm>
          <a:prstGeom prst="rect">
            <a:avLst/>
          </a:prstGeom>
        </p:spPr>
        <p:txBody>
          <a:bodyPr vert="horz" lIns="91440" tIns="45720" rIns="91440" bIns="45720" rtlCol="0" anchor="ctr">
            <a:noAutofit/>
          </a:bodyPr>
          <a:lstStyle>
            <a:lvl1pPr defTabSz="914400" eaLnBrk="1" latinLnBrk="0" hangingPunct="1">
              <a:lnSpc>
                <a:spcPct val="90000"/>
              </a:lnSpc>
              <a:buNone/>
              <a:defRPr sz="4400" b="1">
                <a:solidFill>
                  <a:srgbClr val="0070C0"/>
                </a:solidFill>
                <a:latin typeface="Times New Roman" panose="02020603050405020304" pitchFamily="18" charset="0"/>
                <a:ea typeface="+mj-ea"/>
                <a:cs typeface="Times New Roman" panose="02020603050405020304" pitchFamily="18" charset="0"/>
              </a:defRPr>
            </a:lvl1pPr>
          </a:lstStyle>
          <a:p>
            <a:r>
              <a:rPr lang="en-US"/>
              <a:t>1. Đổi chổ trực tiếp – interchange sort</a:t>
            </a:r>
            <a:endParaRPr lang="en-US" dirty="0"/>
          </a:p>
        </p:txBody>
      </p:sp>
    </p:spTree>
    <p:extLst>
      <p:ext uri="{BB962C8B-B14F-4D97-AF65-F5344CB8AC3E}">
        <p14:creationId xmlns:p14="http://schemas.microsoft.com/office/powerpoint/2010/main" val="48597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0.00626 1.11111E-6 L 0.07813 1.11111E-6 " pathEditMode="relative" rAng="0" ptsTypes="AA">
                                      <p:cBhvr>
                                        <p:cTn id="6" dur="2000" fill="hold"/>
                                        <p:tgtEl>
                                          <p:spTgt spid="26"/>
                                        </p:tgtEl>
                                        <p:attrNameLst>
                                          <p:attrName>ppt_x</p:attrName>
                                          <p:attrName>ppt_y</p:attrName>
                                        </p:attrNameLst>
                                      </p:cBhvr>
                                      <p:rCtr x="3594"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18"/>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0"/>
                                        </p:tgtEl>
                                        <p:attrNameLst>
                                          <p:attrName>ppt_x</p:attrName>
                                          <p:attrName>ppt_y</p:attrName>
                                        </p:attrNameLst>
                                      </p:cBhvr>
                                    </p:animMotion>
                                  </p:childTnLst>
                                </p:cTn>
                              </p:par>
                            </p:childTnLst>
                          </p:cTn>
                        </p:par>
                        <p:par>
                          <p:cTn id="13" fill="hold">
                            <p:stCondLst>
                              <p:cond delay="6000"/>
                            </p:stCondLst>
                            <p:childTnLst>
                              <p:par>
                                <p:cTn id="14" presetID="42" presetClass="path" presetSubtype="0" accel="50000" decel="50000" fill="hold" grpId="1" nodeType="afterEffect">
                                  <p:stCondLst>
                                    <p:cond delay="0"/>
                                  </p:stCondLst>
                                  <p:childTnLst>
                                    <p:animMotion origin="layout" path="M 0 -0.24745 L 0 0.00255 " pathEditMode="relative" rAng="0" ptsTypes="AA">
                                      <p:cBhvr>
                                        <p:cTn id="15" dur="2000" fill="hold"/>
                                        <p:tgtEl>
                                          <p:spTgt spid="18"/>
                                        </p:tgtEl>
                                        <p:attrNameLst>
                                          <p:attrName>ppt_x</p:attrName>
                                          <p:attrName>ppt_y</p:attrName>
                                        </p:attrNameLst>
                                      </p:cBhvr>
                                      <p:rCtr x="0" y="12500"/>
                                    </p:animMotion>
                                  </p:childTnLst>
                                </p:cTn>
                              </p:par>
                            </p:childTnLst>
                          </p:cTn>
                        </p:par>
                        <p:par>
                          <p:cTn id="16" fill="hold">
                            <p:stCondLst>
                              <p:cond delay="8000"/>
                            </p:stCondLst>
                            <p:childTnLst>
                              <p:par>
                                <p:cTn id="17" presetID="42" presetClass="path" presetSubtype="0" accel="50000" decel="50000" fill="hold" grpId="1" nodeType="afterEffect">
                                  <p:stCondLst>
                                    <p:cond delay="0"/>
                                  </p:stCondLst>
                                  <p:childTnLst>
                                    <p:animMotion origin="layout" path="M 5.55112E-17 -0.24745 L 5.55112E-17 0.00255 " pathEditMode="relative" rAng="0" ptsTypes="AA">
                                      <p:cBhvr>
                                        <p:cTn id="18" dur="2000" fill="hold"/>
                                        <p:tgtEl>
                                          <p:spTgt spid="20"/>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8" grpId="0" animBg="1"/>
      <p:bldP spid="18" grpId="1" animBg="1"/>
      <p:bldP spid="20" grpId="0" animBg="1"/>
      <p:bldP spid="20"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086623422"/>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9</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1: Xét phần tử đầu tiên (tại vị trí 1)</a:t>
            </a:r>
          </a:p>
        </p:txBody>
      </p:sp>
      <p:sp>
        <p:nvSpPr>
          <p:cNvPr id="19" name="Rectangle 18"/>
          <p:cNvSpPr/>
          <p:nvPr/>
        </p:nvSpPr>
        <p:spPr>
          <a:xfrm>
            <a:off x="32766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2362201"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6934199"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4191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18" name="Rectangle 17"/>
          <p:cNvSpPr/>
          <p:nvPr/>
        </p:nvSpPr>
        <p:spPr>
          <a:xfrm>
            <a:off x="23622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1" name="Rectangle 20"/>
          <p:cNvSpPr/>
          <p:nvPr/>
        </p:nvSpPr>
        <p:spPr>
          <a:xfrm>
            <a:off x="5105399"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7" name="Title 1"/>
          <p:cNvSpPr>
            <a:spLocks noGrp="1"/>
          </p:cNvSpPr>
          <p:nvPr>
            <p:ph type="title"/>
          </p:nvPr>
        </p:nvSpPr>
        <p:spPr>
          <a:xfrm>
            <a:off x="228600" y="503238"/>
            <a:ext cx="9601200" cy="792162"/>
          </a:xfrm>
        </p:spPr>
        <p:txBody>
          <a:bodyPr vert="horz" lIns="91440" tIns="45720" rIns="91440" bIns="45720" rtlCol="0" anchor="ctr">
            <a:noAutofit/>
          </a:bodyPr>
          <a:lstStyle/>
          <a:p>
            <a:pPr fontAlgn="base">
              <a:spcAft>
                <a:spcPct val="0"/>
              </a:spcAft>
            </a:pPr>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169231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0.00312 1.11111E-6 L 0.07188 1.11111E-6 " pathEditMode="relative" rAng="0" ptsTypes="AA">
                                      <p:cBhvr>
                                        <p:cTn id="6" dur="2000" fill="hold"/>
                                        <p:tgtEl>
                                          <p:spTgt spid="26"/>
                                        </p:tgtEl>
                                        <p:attrNameLst>
                                          <p:attrName>ppt_x</p:attrName>
                                          <p:attrName>ppt_y</p:attrName>
                                        </p:attrNameLst>
                                      </p:cBhvr>
                                      <p:rCtr x="3750"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18"/>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1"/>
                                        </p:tgtEl>
                                        <p:attrNameLst>
                                          <p:attrName>ppt_x</p:attrName>
                                          <p:attrName>ppt_y</p:attrName>
                                        </p:attrNameLst>
                                      </p:cBhvr>
                                    </p:animMotion>
                                  </p:childTnLst>
                                </p:cTn>
                              </p:par>
                            </p:childTnLst>
                          </p:cTn>
                        </p:par>
                        <p:par>
                          <p:cTn id="13" fill="hold">
                            <p:stCondLst>
                              <p:cond delay="6000"/>
                            </p:stCondLst>
                            <p:childTnLst>
                              <p:par>
                                <p:cTn id="14" presetID="50" presetClass="path" presetSubtype="0" accel="50000" decel="50000" fill="hold" grpId="1" nodeType="afterEffect">
                                  <p:stCondLst>
                                    <p:cond delay="0"/>
                                  </p:stCondLst>
                                  <p:childTnLst>
                                    <p:animMotion origin="layout" path="M 5E-6 -0.25 L 0.10873 -0.25 C 0.15756 -0.25 0.21758 -0.18102 0.21758 -0.125 L 0.22188 -0.00301 " pathEditMode="relative" rAng="0" ptsTypes="AAAA">
                                      <p:cBhvr>
                                        <p:cTn id="15" dur="2000" fill="hold"/>
                                        <p:tgtEl>
                                          <p:spTgt spid="18"/>
                                        </p:tgtEl>
                                        <p:attrNameLst>
                                          <p:attrName>ppt_x</p:attrName>
                                          <p:attrName>ppt_y</p:attrName>
                                        </p:attrNameLst>
                                      </p:cBhvr>
                                      <p:rCtr x="11094" y="12338"/>
                                    </p:animMotion>
                                  </p:childTnLst>
                                </p:cTn>
                              </p:par>
                            </p:childTnLst>
                          </p:cTn>
                        </p:par>
                        <p:par>
                          <p:cTn id="16" fill="hold">
                            <p:stCondLst>
                              <p:cond delay="8000"/>
                            </p:stCondLst>
                            <p:childTnLst>
                              <p:par>
                                <p:cTn id="17" presetID="50" presetClass="path" presetSubtype="0" accel="50000" decel="50000" fill="hold" grpId="1" nodeType="afterEffect">
                                  <p:stCondLst>
                                    <p:cond delay="0"/>
                                  </p:stCondLst>
                                  <p:childTnLst>
                                    <p:animMotion origin="layout" path="M 5E-6 -0.25 L -0.1125 -0.25 C -0.16316 -0.25 -0.225 -0.18102 -0.225 -0.125 L -0.22813 -0.00046 " pathEditMode="relative" rAng="0" ptsTypes="AAAA">
                                      <p:cBhvr>
                                        <p:cTn id="18" dur="2000" fill="hold"/>
                                        <p:tgtEl>
                                          <p:spTgt spid="21"/>
                                        </p:tgtEl>
                                        <p:attrNameLst>
                                          <p:attrName>ppt_x</p:attrName>
                                          <p:attrName>ppt_y</p:attrName>
                                        </p:attrNameLst>
                                      </p:cBhvr>
                                      <p:rCtr x="-11406" y="1247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8" grpId="0" animBg="1"/>
      <p:bldP spid="18" grpId="1" animBg="1"/>
      <p:bldP spid="21" grpId="0" animBg="1"/>
      <p:bldP spid="21"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142222248"/>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10</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1: Xét phần tử đầu tiên (tại vị trí 1)</a:t>
            </a:r>
          </a:p>
        </p:txBody>
      </p:sp>
      <p:sp>
        <p:nvSpPr>
          <p:cNvPr id="19" name="Rectangle 18"/>
          <p:cNvSpPr/>
          <p:nvPr/>
        </p:nvSpPr>
        <p:spPr>
          <a:xfrm>
            <a:off x="32766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2362201"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3" name="Rectangle 22"/>
          <p:cNvSpPr/>
          <p:nvPr/>
        </p:nvSpPr>
        <p:spPr>
          <a:xfrm>
            <a:off x="6934199"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5105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1" name="Rectangle 20"/>
          <p:cNvSpPr/>
          <p:nvPr/>
        </p:nvSpPr>
        <p:spPr>
          <a:xfrm>
            <a:off x="23622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7" name="Title 1"/>
          <p:cNvSpPr txBox="1">
            <a:spLocks/>
          </p:cNvSpPr>
          <p:nvPr/>
        </p:nvSpPr>
        <p:spPr>
          <a:xfrm>
            <a:off x="228600" y="533400"/>
            <a:ext cx="9601200" cy="792162"/>
          </a:xfrm>
          <a:prstGeom prst="rect">
            <a:avLst/>
          </a:prstGeom>
        </p:spPr>
        <p:txBody>
          <a:bodyPr vert="horz" lIns="91440" tIns="45720" rIns="91440" bIns="45720" rtlCol="0" anchor="ctr">
            <a:noAutofit/>
          </a:bodyPr>
          <a:lstStyle>
            <a:lvl1pPr defTabSz="914400" eaLnBrk="1" latinLnBrk="0" hangingPunct="1">
              <a:lnSpc>
                <a:spcPct val="90000"/>
              </a:lnSpc>
              <a:buNone/>
              <a:defRPr sz="4400" b="1">
                <a:solidFill>
                  <a:srgbClr val="0070C0"/>
                </a:solidFill>
                <a:latin typeface="Times New Roman" panose="02020603050405020304" pitchFamily="18" charset="0"/>
                <a:ea typeface="+mj-ea"/>
                <a:cs typeface="Times New Roman" panose="02020603050405020304" pitchFamily="18" charset="0"/>
              </a:defRPr>
            </a:lvl1pPr>
          </a:lstStyle>
          <a:p>
            <a:r>
              <a:rPr lang="en-US"/>
              <a:t>1. Đổi chổ trực tiếp – interchange sort</a:t>
            </a:r>
            <a:endParaRPr lang="en-US" dirty="0"/>
          </a:p>
        </p:txBody>
      </p:sp>
    </p:spTree>
    <p:extLst>
      <p:ext uri="{BB962C8B-B14F-4D97-AF65-F5344CB8AC3E}">
        <p14:creationId xmlns:p14="http://schemas.microsoft.com/office/powerpoint/2010/main" val="2890756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1"/>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2"/>
                                        </p:tgtEl>
                                        <p:attrNameLst>
                                          <p:attrName>ppt_x</p:attrName>
                                          <p:attrName>ppt_y</p:attrName>
                                        </p:attrNameLst>
                                      </p:cBhvr>
                                    </p:animMotion>
                                  </p:childTnLst>
                                </p:cTn>
                              </p:par>
                            </p:childTnLst>
                          </p:cTn>
                        </p:par>
                        <p:par>
                          <p:cTn id="13" fill="hold">
                            <p:stCondLst>
                              <p:cond delay="6000"/>
                            </p:stCondLst>
                            <p:childTnLst>
                              <p:par>
                                <p:cTn id="14" presetID="42" presetClass="path" presetSubtype="0" accel="50000" decel="50000" fill="hold" grpId="1" nodeType="afterEffect">
                                  <p:stCondLst>
                                    <p:cond delay="0"/>
                                  </p:stCondLst>
                                  <p:childTnLst>
                                    <p:animMotion origin="layout" path="M 0 -0.25046 L 0 -0.00046 " pathEditMode="relative" rAng="0" ptsTypes="AA">
                                      <p:cBhvr>
                                        <p:cTn id="15" dur="2000" fill="hold"/>
                                        <p:tgtEl>
                                          <p:spTgt spid="21"/>
                                        </p:tgtEl>
                                        <p:attrNameLst>
                                          <p:attrName>ppt_x</p:attrName>
                                          <p:attrName>ppt_y</p:attrName>
                                        </p:attrNameLst>
                                      </p:cBhvr>
                                      <p:rCtr x="0" y="12500"/>
                                    </p:animMotion>
                                  </p:childTnLst>
                                </p:cTn>
                              </p:par>
                            </p:childTnLst>
                          </p:cTn>
                        </p:par>
                        <p:par>
                          <p:cTn id="16" fill="hold">
                            <p:stCondLst>
                              <p:cond delay="8000"/>
                            </p:stCondLst>
                            <p:childTnLst>
                              <p:par>
                                <p:cTn id="17" presetID="42" presetClass="path" presetSubtype="0" accel="50000" decel="50000" fill="hold" grpId="1" nodeType="afterEffect">
                                  <p:stCondLst>
                                    <p:cond delay="0"/>
                                  </p:stCondLst>
                                  <p:childTnLst>
                                    <p:animMotion origin="layout" path="M 0 -0.24537 L 0 0.00463 " pathEditMode="relative" rAng="0" ptsTypes="AA">
                                      <p:cBhvr>
                                        <p:cTn id="18" dur="2000" fill="hold"/>
                                        <p:tgtEl>
                                          <p:spTgt spid="22"/>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1" grpId="0" animBg="1"/>
      <p:bldP spid="21" grpId="1" animBg="1"/>
      <p:bldP spid="22" grpId="0" animBg="1"/>
      <p:bldP spid="22"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892291669"/>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11</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1: Xét phần tử đầu tiên (tại vị trí 1)</a:t>
            </a:r>
          </a:p>
        </p:txBody>
      </p:sp>
      <p:sp>
        <p:nvSpPr>
          <p:cNvPr id="19" name="Rectangle 18"/>
          <p:cNvSpPr/>
          <p:nvPr/>
        </p:nvSpPr>
        <p:spPr>
          <a:xfrm>
            <a:off x="32766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2362201"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6019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1" name="Rectangle 20"/>
          <p:cNvSpPr/>
          <p:nvPr/>
        </p:nvSpPr>
        <p:spPr>
          <a:xfrm>
            <a:off x="23622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3" name="Rectangle 22"/>
          <p:cNvSpPr/>
          <p:nvPr/>
        </p:nvSpPr>
        <p:spPr>
          <a:xfrm>
            <a:off x="6934199"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7" name="Title 1"/>
          <p:cNvSpPr>
            <a:spLocks noGrp="1"/>
          </p:cNvSpPr>
          <p:nvPr>
            <p:ph type="title"/>
          </p:nvPr>
        </p:nvSpPr>
        <p:spPr>
          <a:xfrm>
            <a:off x="228600" y="457200"/>
            <a:ext cx="9601200" cy="792162"/>
          </a:xfrm>
        </p:spPr>
        <p:txBody>
          <a:bodyPr vert="horz" lIns="91440" tIns="45720" rIns="91440" bIns="45720" rtlCol="0" anchor="ctr">
            <a:noAutofit/>
          </a:bodyPr>
          <a:lstStyle/>
          <a:p>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173052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1"/>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3"/>
                                        </p:tgtEl>
                                        <p:attrNameLst>
                                          <p:attrName>ppt_x</p:attrName>
                                          <p:attrName>ppt_y</p:attrName>
                                        </p:attrNameLst>
                                      </p:cBhvr>
                                    </p:animMotion>
                                  </p:childTnLst>
                                </p:cTn>
                              </p:par>
                            </p:childTnLst>
                          </p:cTn>
                        </p:par>
                        <p:par>
                          <p:cTn id="13" fill="hold">
                            <p:stCondLst>
                              <p:cond delay="6000"/>
                            </p:stCondLst>
                            <p:childTnLst>
                              <p:par>
                                <p:cTn id="14" presetID="50" presetClass="path" presetSubtype="0" accel="50000" decel="50000" fill="hold" grpId="1" nodeType="afterEffect">
                                  <p:stCondLst>
                                    <p:cond delay="0"/>
                                  </p:stCondLst>
                                  <p:childTnLst>
                                    <p:animMotion origin="layout" path="M 5E-6 -0.25 L 0.18373 -0.25 C 0.26615 -0.25 0.36758 -0.18102 0.36758 -0.125 L 0.37188 -0.00254 " pathEditMode="relative" rAng="0" ptsTypes="AAAA">
                                      <p:cBhvr>
                                        <p:cTn id="15" dur="2000" fill="hold"/>
                                        <p:tgtEl>
                                          <p:spTgt spid="21"/>
                                        </p:tgtEl>
                                        <p:attrNameLst>
                                          <p:attrName>ppt_x</p:attrName>
                                          <p:attrName>ppt_y</p:attrName>
                                        </p:attrNameLst>
                                      </p:cBhvr>
                                      <p:rCtr x="18594" y="12361"/>
                                    </p:animMotion>
                                  </p:childTnLst>
                                </p:cTn>
                              </p:par>
                            </p:childTnLst>
                          </p:cTn>
                        </p:par>
                        <p:par>
                          <p:cTn id="16" fill="hold">
                            <p:stCondLst>
                              <p:cond delay="8000"/>
                            </p:stCondLst>
                            <p:childTnLst>
                              <p:par>
                                <p:cTn id="17" presetID="50" presetClass="path" presetSubtype="0" accel="50000" decel="50000" fill="hold" grpId="1" nodeType="afterEffect">
                                  <p:stCondLst>
                                    <p:cond delay="0"/>
                                  </p:stCondLst>
                                  <p:childTnLst>
                                    <p:animMotion origin="layout" path="M 5E-6 -0.25 L -0.18816 -0.25 C -0.27266 -0.25 -0.37618 -0.18102 -0.37618 -0.125 L -0.37813 -3.33333E-6 " pathEditMode="relative" rAng="0" ptsTypes="AAAA">
                                      <p:cBhvr>
                                        <p:cTn id="18" dur="2000" fill="hold"/>
                                        <p:tgtEl>
                                          <p:spTgt spid="23"/>
                                        </p:tgtEl>
                                        <p:attrNameLst>
                                          <p:attrName>ppt_x</p:attrName>
                                          <p:attrName>ppt_y</p:attrName>
                                        </p:attrNameLst>
                                      </p:cBhvr>
                                      <p:rCtr x="-18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1" grpId="0" animBg="1"/>
      <p:bldP spid="21" grpId="1" animBg="1"/>
      <p:bldP spid="23" grpId="0" animBg="1"/>
      <p:bldP spid="23"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225492478"/>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1: Xét phần tử đầu tiên (tại vị trí 1)</a:t>
            </a:r>
          </a:p>
        </p:txBody>
      </p:sp>
      <p:sp>
        <p:nvSpPr>
          <p:cNvPr id="19" name="Rectangle 18"/>
          <p:cNvSpPr/>
          <p:nvPr/>
        </p:nvSpPr>
        <p:spPr>
          <a:xfrm>
            <a:off x="32766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2362201"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69342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5" name="Rectangle 24"/>
          <p:cNvSpPr/>
          <p:nvPr/>
        </p:nvSpPr>
        <p:spPr>
          <a:xfrm>
            <a:off x="8762999"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69342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3" name="Rectangle 22"/>
          <p:cNvSpPr/>
          <p:nvPr/>
        </p:nvSpPr>
        <p:spPr>
          <a:xfrm>
            <a:off x="23622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7" name="Title 1"/>
          <p:cNvSpPr txBox="1">
            <a:spLocks/>
          </p:cNvSpPr>
          <p:nvPr/>
        </p:nvSpPr>
        <p:spPr>
          <a:xfrm>
            <a:off x="228600" y="457200"/>
            <a:ext cx="9601200" cy="7921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1. Đổi chổ trực tiếp – interchange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8724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3"/>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4"/>
                                        </p:tgtEl>
                                        <p:attrNameLst>
                                          <p:attrName>ppt_x</p:attrName>
                                          <p:attrName>ppt_y</p:attrName>
                                        </p:attrNameLst>
                                      </p:cBhvr>
                                    </p:animMotion>
                                  </p:childTnLst>
                                </p:cTn>
                              </p:par>
                            </p:childTnLst>
                          </p:cTn>
                        </p:par>
                        <p:par>
                          <p:cTn id="13" fill="hold">
                            <p:stCondLst>
                              <p:cond delay="6000"/>
                            </p:stCondLst>
                            <p:childTnLst>
                              <p:par>
                                <p:cTn id="14" presetID="42" presetClass="path" presetSubtype="0" accel="50000" decel="50000" fill="hold" grpId="1" nodeType="afterEffect">
                                  <p:stCondLst>
                                    <p:cond delay="0"/>
                                  </p:stCondLst>
                                  <p:childTnLst>
                                    <p:animMotion origin="layout" path="M 0 -0.24722 L 0 0.00278 " pathEditMode="relative" rAng="0" ptsTypes="AA">
                                      <p:cBhvr>
                                        <p:cTn id="15" dur="2000" fill="hold"/>
                                        <p:tgtEl>
                                          <p:spTgt spid="23"/>
                                        </p:tgtEl>
                                        <p:attrNameLst>
                                          <p:attrName>ppt_x</p:attrName>
                                          <p:attrName>ppt_y</p:attrName>
                                        </p:attrNameLst>
                                      </p:cBhvr>
                                      <p:rCtr x="0" y="12500"/>
                                    </p:animMotion>
                                  </p:childTnLst>
                                </p:cTn>
                              </p:par>
                            </p:childTnLst>
                          </p:cTn>
                        </p:par>
                        <p:par>
                          <p:cTn id="16" fill="hold">
                            <p:stCondLst>
                              <p:cond delay="8000"/>
                            </p:stCondLst>
                            <p:childTnLst>
                              <p:par>
                                <p:cTn id="17" presetID="42" presetClass="path" presetSubtype="0" accel="50000" decel="50000" fill="hold" grpId="1" nodeType="afterEffect">
                                  <p:stCondLst>
                                    <p:cond delay="0"/>
                                  </p:stCondLst>
                                  <p:childTnLst>
                                    <p:animMotion origin="layout" path="M 0 -0.25 L 0 2.22222E-6 " pathEditMode="relative" rAng="0" ptsTypes="AA">
                                      <p:cBhvr>
                                        <p:cTn id="18" dur="2000" fill="hold"/>
                                        <p:tgtEl>
                                          <p:spTgt spid="2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3" grpId="0" animBg="1"/>
      <p:bldP spid="23" grpId="1" animBg="1"/>
      <p:bldP spid="24" grpId="0" animBg="1"/>
      <p:bldP spid="24"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263555174"/>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13</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1: Xét phần tử đầu tiên (tại vị trí 1)</a:t>
            </a:r>
          </a:p>
        </p:txBody>
      </p:sp>
      <p:sp>
        <p:nvSpPr>
          <p:cNvPr id="19" name="Rectangle 18"/>
          <p:cNvSpPr/>
          <p:nvPr/>
        </p:nvSpPr>
        <p:spPr>
          <a:xfrm>
            <a:off x="32766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2362201"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69342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6" name="Up Arrow Callout 25"/>
          <p:cNvSpPr/>
          <p:nvPr/>
        </p:nvSpPr>
        <p:spPr>
          <a:xfrm>
            <a:off x="7848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3" name="Rectangle 22"/>
          <p:cNvSpPr/>
          <p:nvPr/>
        </p:nvSpPr>
        <p:spPr>
          <a:xfrm>
            <a:off x="23622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7" name="Title 1"/>
          <p:cNvSpPr>
            <a:spLocks noGrp="1"/>
          </p:cNvSpPr>
          <p:nvPr>
            <p:ph type="title"/>
          </p:nvPr>
        </p:nvSpPr>
        <p:spPr>
          <a:xfrm>
            <a:off x="228600" y="457200"/>
            <a:ext cx="9601200" cy="792162"/>
          </a:xfrm>
        </p:spPr>
        <p:txBody>
          <a:bodyPr vert="horz" lIns="91440" tIns="45720" rIns="91440" bIns="45720" rtlCol="0" anchor="ctr">
            <a:noAutofit/>
          </a:bodyPr>
          <a:lstStyle/>
          <a:p>
            <a:pPr fontAlgn="base">
              <a:spcAft>
                <a:spcPct val="0"/>
              </a:spcAft>
            </a:pPr>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86877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3"/>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5"/>
                                        </p:tgtEl>
                                        <p:attrNameLst>
                                          <p:attrName>ppt_x</p:attrName>
                                          <p:attrName>ppt_y</p:attrName>
                                        </p:attrNameLst>
                                      </p:cBhvr>
                                    </p:animMotion>
                                  </p:childTnLst>
                                </p:cTn>
                              </p:par>
                            </p:childTnLst>
                          </p:cTn>
                        </p:par>
                        <p:par>
                          <p:cTn id="13" fill="hold">
                            <p:stCondLst>
                              <p:cond delay="6000"/>
                            </p:stCondLst>
                            <p:childTnLst>
                              <p:par>
                                <p:cTn id="14" presetID="50" presetClass="path" presetSubtype="0" accel="50000" decel="50000" fill="hold" grpId="1" nodeType="afterEffect">
                                  <p:stCondLst>
                                    <p:cond delay="0"/>
                                  </p:stCondLst>
                                  <p:childTnLst>
                                    <p:animMotion origin="layout" path="M 5E-6 -0.25 L 0.25873 -0.25 C 0.37487 -0.25 0.51758 -0.18102 0.51758 -0.125 L 0.52188 -3.33333E-6 " pathEditMode="relative" rAng="0" ptsTypes="AAAA">
                                      <p:cBhvr>
                                        <p:cTn id="15" dur="2000" fill="hold"/>
                                        <p:tgtEl>
                                          <p:spTgt spid="23"/>
                                        </p:tgtEl>
                                        <p:attrNameLst>
                                          <p:attrName>ppt_x</p:attrName>
                                          <p:attrName>ppt_y</p:attrName>
                                        </p:attrNameLst>
                                      </p:cBhvr>
                                      <p:rCtr x="26094" y="12500"/>
                                    </p:animMotion>
                                  </p:childTnLst>
                                </p:cTn>
                              </p:par>
                            </p:childTnLst>
                          </p:cTn>
                        </p:par>
                        <p:par>
                          <p:cTn id="16" fill="hold">
                            <p:stCondLst>
                              <p:cond delay="8000"/>
                            </p:stCondLst>
                            <p:childTnLst>
                              <p:par>
                                <p:cTn id="17" presetID="50" presetClass="path" presetSubtype="0" accel="50000" decel="50000" fill="hold" grpId="1" nodeType="afterEffect">
                                  <p:stCondLst>
                                    <p:cond delay="0"/>
                                  </p:stCondLst>
                                  <p:childTnLst>
                                    <p:animMotion origin="layout" path="M 5E-6 -0.25 L -0.2625 -0.25 C -0.38047 -0.25 -0.525 -0.18102 -0.525 -0.125 L -0.52813 -0.00093 " pathEditMode="relative" rAng="0" ptsTypes="AAAA">
                                      <p:cBhvr>
                                        <p:cTn id="18" dur="2000" fill="hold"/>
                                        <p:tgtEl>
                                          <p:spTgt spid="25"/>
                                        </p:tgtEl>
                                        <p:attrNameLst>
                                          <p:attrName>ppt_x</p:attrName>
                                          <p:attrName>ppt_y</p:attrName>
                                        </p:attrNameLst>
                                      </p:cBhvr>
                                      <p:rCtr x="-26406" y="1245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3" grpId="0" animBg="1"/>
      <p:bldP spid="23" grpId="1" animBg="1"/>
      <p:bldP spid="25" grpId="0" animBg="1"/>
      <p:bldP spid="25"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032004526"/>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14</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1: Xét phần tử đầu tiên (tại vị trí 1)</a:t>
            </a:r>
          </a:p>
        </p:txBody>
      </p:sp>
      <p:sp>
        <p:nvSpPr>
          <p:cNvPr id="19" name="Rectangle 18"/>
          <p:cNvSpPr/>
          <p:nvPr/>
        </p:nvSpPr>
        <p:spPr>
          <a:xfrm>
            <a:off x="32766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2362201"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69342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8763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3" name="Cloud 2"/>
          <p:cNvSpPr/>
          <p:nvPr/>
        </p:nvSpPr>
        <p:spPr>
          <a:xfrm>
            <a:off x="9105899" y="1464251"/>
            <a:ext cx="2895600" cy="2120324"/>
          </a:xfrm>
          <a:prstGeom prst="cloud">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Kết thúc bước 1</a:t>
            </a:r>
          </a:p>
        </p:txBody>
      </p:sp>
      <p:sp>
        <p:nvSpPr>
          <p:cNvPr id="28" name="Title 1"/>
          <p:cNvSpPr>
            <a:spLocks noGrp="1"/>
          </p:cNvSpPr>
          <p:nvPr>
            <p:ph type="title"/>
          </p:nvPr>
        </p:nvSpPr>
        <p:spPr>
          <a:xfrm>
            <a:off x="228600" y="457200"/>
            <a:ext cx="9601200" cy="792162"/>
          </a:xfrm>
        </p:spPr>
        <p:txBody>
          <a:bodyPr vert="horz" lIns="91440" tIns="45720" rIns="91440" bIns="45720" rtlCol="0" anchor="ctr">
            <a:noAutofit/>
          </a:bodyPr>
          <a:lstStyle/>
          <a:p>
            <a:pPr fontAlgn="base">
              <a:spcAft>
                <a:spcPct val="0"/>
              </a:spcAft>
            </a:pPr>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229268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584415662"/>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15</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2: Xét phần tử thứ hai (tại vị trí 2)</a:t>
            </a:r>
          </a:p>
        </p:txBody>
      </p:sp>
      <p:sp>
        <p:nvSpPr>
          <p:cNvPr id="2" name="Up Arrow Callout 1"/>
          <p:cNvSpPr/>
          <p:nvPr/>
        </p:nvSpPr>
        <p:spPr>
          <a:xfrm>
            <a:off x="2362201"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1" name="Rectangle 20"/>
          <p:cNvSpPr/>
          <p:nvPr/>
        </p:nvSpPr>
        <p:spPr>
          <a:xfrm>
            <a:off x="69342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4191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9" name="Rectangle 18"/>
          <p:cNvSpPr/>
          <p:nvPr/>
        </p:nvSpPr>
        <p:spPr>
          <a:xfrm>
            <a:off x="32766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8" name="Title 1"/>
          <p:cNvSpPr>
            <a:spLocks noGrp="1"/>
          </p:cNvSpPr>
          <p:nvPr>
            <p:ph type="title"/>
          </p:nvPr>
        </p:nvSpPr>
        <p:spPr>
          <a:xfrm>
            <a:off x="228600" y="457200"/>
            <a:ext cx="9601200" cy="792162"/>
          </a:xfrm>
        </p:spPr>
        <p:txBody>
          <a:bodyPr vert="horz" lIns="91440" tIns="45720" rIns="91440" bIns="45720" rtlCol="0" anchor="ctr">
            <a:noAutofit/>
          </a:bodyPr>
          <a:lstStyle/>
          <a:p>
            <a:pPr fontAlgn="base">
              <a:spcAft>
                <a:spcPct val="0"/>
              </a:spcAft>
            </a:pPr>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130701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
                                        </p:tgtEl>
                                        <p:attrNameLst>
                                          <p:attrName>ppt_x</p:attrName>
                                          <p:attrName>ppt_y</p:attrName>
                                        </p:attrNameLst>
                                      </p:cBhvr>
                                      <p:rCtr x="3906"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par>
                          <p:cTn id="10" fill="hold">
                            <p:stCondLst>
                              <p:cond delay="2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19"/>
                                        </p:tgtEl>
                                        <p:attrNameLst>
                                          <p:attrName>ppt_x</p:attrName>
                                          <p:attrName>ppt_y</p:attrName>
                                        </p:attrNameLst>
                                      </p:cBhvr>
                                    </p:animMotion>
                                  </p:childTnLst>
                                </p:cTn>
                              </p:par>
                            </p:childTnLst>
                          </p:cTn>
                        </p:par>
                        <p:par>
                          <p:cTn id="13" fill="hold">
                            <p:stCondLst>
                              <p:cond delay="4000"/>
                            </p:stCondLst>
                            <p:childTnLst>
                              <p:par>
                                <p:cTn id="14" presetID="64" presetClass="path" presetSubtype="0" accel="50000" decel="50000" fill="hold" grpId="0" nodeType="afterEffect">
                                  <p:stCondLst>
                                    <p:cond delay="0"/>
                                  </p:stCondLst>
                                  <p:childTnLst>
                                    <p:animMotion origin="layout" path="M 0 0 L 0 -0.25 E" pathEditMode="relative" ptsTypes="">
                                      <p:cBhvr>
                                        <p:cTn id="15" dur="2000" fill="hold"/>
                                        <p:tgtEl>
                                          <p:spTgt spid="20"/>
                                        </p:tgtEl>
                                        <p:attrNameLst>
                                          <p:attrName>ppt_x</p:attrName>
                                          <p:attrName>ppt_y</p:attrName>
                                        </p:attrNameLst>
                                      </p:cBhvr>
                                    </p:animMotion>
                                  </p:childTnLst>
                                </p:cTn>
                              </p:par>
                            </p:childTnLst>
                          </p:cTn>
                        </p:par>
                        <p:par>
                          <p:cTn id="16" fill="hold">
                            <p:stCondLst>
                              <p:cond delay="6000"/>
                            </p:stCondLst>
                            <p:childTnLst>
                              <p:par>
                                <p:cTn id="17" presetID="50" presetClass="path" presetSubtype="0" accel="50000" decel="50000" fill="hold" grpId="1" nodeType="afterEffect">
                                  <p:stCondLst>
                                    <p:cond delay="0"/>
                                  </p:stCondLst>
                                  <p:childTnLst>
                                    <p:animMotion origin="layout" path="M 5E-6 -0.25 L 0.03581 -0.25 C 0.05196 -0.25 0.07188 -0.18102 0.07188 -0.125 L 0.07188 -2.22222E-6 " pathEditMode="relative" rAng="0" ptsTypes="AAAA">
                                      <p:cBhvr>
                                        <p:cTn id="18" dur="2000" fill="hold"/>
                                        <p:tgtEl>
                                          <p:spTgt spid="19"/>
                                        </p:tgtEl>
                                        <p:attrNameLst>
                                          <p:attrName>ppt_x</p:attrName>
                                          <p:attrName>ppt_y</p:attrName>
                                        </p:attrNameLst>
                                      </p:cBhvr>
                                      <p:rCtr x="3594" y="12500"/>
                                    </p:animMotion>
                                  </p:childTnLst>
                                </p:cTn>
                              </p:par>
                            </p:childTnLst>
                          </p:cTn>
                        </p:par>
                        <p:par>
                          <p:cTn id="19" fill="hold">
                            <p:stCondLst>
                              <p:cond delay="8000"/>
                            </p:stCondLst>
                            <p:childTnLst>
                              <p:par>
                                <p:cTn id="20" presetID="50" presetClass="path" presetSubtype="0" accel="50000" decel="50000" fill="hold" grpId="1" nodeType="afterEffect">
                                  <p:stCondLst>
                                    <p:cond delay="0"/>
                                  </p:stCondLst>
                                  <p:childTnLst>
                                    <p:animMotion origin="layout" path="M 5E-6 -0.25 L -0.03906 -0.25 C -0.05664 -0.25 -0.07812 -0.18102 -0.07812 -0.125 L -0.07812 -3.7037E-7 " pathEditMode="relative" rAng="0" ptsTypes="AAAA">
                                      <p:cBhvr>
                                        <p:cTn id="21" dur="2000" fill="hold"/>
                                        <p:tgtEl>
                                          <p:spTgt spid="20"/>
                                        </p:tgtEl>
                                        <p:attrNameLst>
                                          <p:attrName>ppt_x</p:attrName>
                                          <p:attrName>ppt_y</p:attrName>
                                        </p:attrNameLst>
                                      </p:cBhvr>
                                      <p:rCtr x="-3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6" grpId="0" animBg="1"/>
      <p:bldP spid="19" grpId="0" animBg="1"/>
      <p:bldP spid="19" grpId="1" animBg="1"/>
      <p:bldP spid="20" grpId="0" animBg="1"/>
      <p:bldP spid="20"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17370618"/>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16</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2: Xét phần tử thứ hai (tại vị trí 2)</a:t>
            </a:r>
          </a:p>
        </p:txBody>
      </p:sp>
      <p:sp>
        <p:nvSpPr>
          <p:cNvPr id="19" name="Rectangle 18"/>
          <p:cNvSpPr/>
          <p:nvPr/>
        </p:nvSpPr>
        <p:spPr>
          <a:xfrm>
            <a:off x="41910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3276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1" name="Rectangle 20"/>
          <p:cNvSpPr/>
          <p:nvPr/>
        </p:nvSpPr>
        <p:spPr>
          <a:xfrm>
            <a:off x="69342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4191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32766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8" name="Title 1"/>
          <p:cNvSpPr>
            <a:spLocks noGrp="1"/>
          </p:cNvSpPr>
          <p:nvPr>
            <p:ph type="title"/>
          </p:nvPr>
        </p:nvSpPr>
        <p:spPr>
          <a:xfrm>
            <a:off x="228600" y="457200"/>
            <a:ext cx="9601200" cy="792162"/>
          </a:xfrm>
        </p:spPr>
        <p:txBody>
          <a:bodyPr vert="horz" lIns="91440" tIns="45720" rIns="91440" bIns="45720" rtlCol="0" anchor="ctr">
            <a:noAutofit/>
          </a:bodyPr>
          <a:lstStyle/>
          <a:p>
            <a:pPr fontAlgn="base">
              <a:spcAft>
                <a:spcPct val="0"/>
              </a:spcAft>
            </a:pPr>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227050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grpId="1" nodeType="afterEffect">
                                  <p:stCondLst>
                                    <p:cond delay="0"/>
                                  </p:stCondLst>
                                  <p:childTnLst>
                                    <p:animMotion origin="layout" path="M 5E-6 1.11111E-6 L 0.07813 1.11111E-6 " pathEditMode="relative" rAng="0" ptsTypes="AA">
                                      <p:cBhvr>
                                        <p:cTn id="9" dur="2000" fill="hold"/>
                                        <p:tgtEl>
                                          <p:spTgt spid="26"/>
                                        </p:tgtEl>
                                        <p:attrNameLst>
                                          <p:attrName>ppt_x</p:attrName>
                                          <p:attrName>ppt_y</p:attrName>
                                        </p:attrNameLst>
                                      </p:cBhvr>
                                      <p:rCtr x="3906" y="0"/>
                                    </p:animMotion>
                                  </p:childTnLst>
                                </p:cTn>
                              </p:par>
                            </p:childTnLst>
                          </p:cTn>
                        </p:par>
                        <p:par>
                          <p:cTn id="10" fill="hold">
                            <p:stCondLst>
                              <p:cond delay="2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0"/>
                                        </p:tgtEl>
                                        <p:attrNameLst>
                                          <p:attrName>ppt_x</p:attrName>
                                          <p:attrName>ppt_y</p:attrName>
                                        </p:attrNameLst>
                                      </p:cBhvr>
                                    </p:animMotion>
                                  </p:childTnLst>
                                </p:cTn>
                              </p:par>
                            </p:childTnLst>
                          </p:cTn>
                        </p:par>
                        <p:par>
                          <p:cTn id="13" fill="hold">
                            <p:stCondLst>
                              <p:cond delay="4000"/>
                            </p:stCondLst>
                            <p:childTnLst>
                              <p:par>
                                <p:cTn id="14" presetID="64" presetClass="path" presetSubtype="0" accel="50000" decel="50000" fill="hold" grpId="0" nodeType="afterEffect">
                                  <p:stCondLst>
                                    <p:cond delay="0"/>
                                  </p:stCondLst>
                                  <p:childTnLst>
                                    <p:animMotion origin="layout" path="M 0 0 L 0 -0.25 E" pathEditMode="relative" ptsTypes="">
                                      <p:cBhvr>
                                        <p:cTn id="15" dur="2000" fill="hold"/>
                                        <p:tgtEl>
                                          <p:spTgt spid="18"/>
                                        </p:tgtEl>
                                        <p:attrNameLst>
                                          <p:attrName>ppt_x</p:attrName>
                                          <p:attrName>ppt_y</p:attrName>
                                        </p:attrNameLst>
                                      </p:cBhvr>
                                    </p:animMotion>
                                  </p:childTnLst>
                                </p:cTn>
                              </p:par>
                            </p:childTnLst>
                          </p:cTn>
                        </p:par>
                        <p:par>
                          <p:cTn id="16" fill="hold">
                            <p:stCondLst>
                              <p:cond delay="6000"/>
                            </p:stCondLst>
                            <p:childTnLst>
                              <p:par>
                                <p:cTn id="17" presetID="50" presetClass="path" presetSubtype="0" accel="50000" decel="50000" fill="hold" grpId="1" nodeType="afterEffect">
                                  <p:stCondLst>
                                    <p:cond delay="0"/>
                                  </p:stCondLst>
                                  <p:childTnLst>
                                    <p:animMotion origin="layout" path="M 5E-6 -0.25 L 0.07331 -0.25 C 0.10626 -0.25 0.14688 -0.18102 0.14688 -0.125 L 0.14688 -3.7037E-7 " pathEditMode="relative" rAng="0" ptsTypes="AAAA">
                                      <p:cBhvr>
                                        <p:cTn id="18" dur="2000" fill="hold"/>
                                        <p:tgtEl>
                                          <p:spTgt spid="20"/>
                                        </p:tgtEl>
                                        <p:attrNameLst>
                                          <p:attrName>ppt_x</p:attrName>
                                          <p:attrName>ppt_y</p:attrName>
                                        </p:attrNameLst>
                                      </p:cBhvr>
                                      <p:rCtr x="7344" y="12500"/>
                                    </p:animMotion>
                                  </p:childTnLst>
                                </p:cTn>
                              </p:par>
                            </p:childTnLst>
                          </p:cTn>
                        </p:par>
                        <p:par>
                          <p:cTn id="19" fill="hold">
                            <p:stCondLst>
                              <p:cond delay="8000"/>
                            </p:stCondLst>
                            <p:childTnLst>
                              <p:par>
                                <p:cTn id="20" presetID="50" presetClass="path" presetSubtype="0" accel="50000" decel="50000" fill="hold" grpId="1" nodeType="afterEffect">
                                  <p:stCondLst>
                                    <p:cond delay="0"/>
                                  </p:stCondLst>
                                  <p:childTnLst>
                                    <p:animMotion origin="layout" path="M 5E-6 -0.25 L -0.07344 -0.25 C -0.10652 -0.25 -0.14688 -0.18102 -0.14688 -0.125 L -0.14688 -2.59259E-6 " pathEditMode="relative" rAng="0" ptsTypes="AAAA">
                                      <p:cBhvr>
                                        <p:cTn id="21" dur="2000" fill="hold"/>
                                        <p:tgtEl>
                                          <p:spTgt spid="18"/>
                                        </p:tgtEl>
                                        <p:attrNameLst>
                                          <p:attrName>ppt_x</p:attrName>
                                          <p:attrName>ppt_y</p:attrName>
                                        </p:attrNameLst>
                                      </p:cBhvr>
                                      <p:rCtr x="-7344"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P spid="18" grpId="0" animBg="1"/>
      <p:bldP spid="18" grpId="1" animBg="1"/>
      <p:bldP spid="20" grpId="0" animBg="1"/>
      <p:bldP spid="20"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194596760"/>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17</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2: Xét phần tử thứ hai (tại vị trí 2)</a:t>
            </a:r>
          </a:p>
        </p:txBody>
      </p:sp>
      <p:sp>
        <p:nvSpPr>
          <p:cNvPr id="19" name="Rectangle 18"/>
          <p:cNvSpPr/>
          <p:nvPr/>
        </p:nvSpPr>
        <p:spPr>
          <a:xfrm>
            <a:off x="41910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3276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0" name="Rectangle 19"/>
          <p:cNvSpPr/>
          <p:nvPr/>
        </p:nvSpPr>
        <p:spPr>
          <a:xfrm>
            <a:off x="51054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69342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3" name="Rectangle 22"/>
          <p:cNvSpPr/>
          <p:nvPr/>
        </p:nvSpPr>
        <p:spPr>
          <a:xfrm>
            <a:off x="87630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5105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8" name="Rectangle 17"/>
          <p:cNvSpPr/>
          <p:nvPr/>
        </p:nvSpPr>
        <p:spPr>
          <a:xfrm>
            <a:off x="32766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8" name="Title 1"/>
          <p:cNvSpPr>
            <a:spLocks noGrp="1"/>
          </p:cNvSpPr>
          <p:nvPr>
            <p:ph type="title"/>
          </p:nvPr>
        </p:nvSpPr>
        <p:spPr>
          <a:xfrm>
            <a:off x="228600" y="457200"/>
            <a:ext cx="9601200" cy="792162"/>
          </a:xfrm>
        </p:spPr>
        <p:txBody>
          <a:bodyPr vert="horz" lIns="91440" tIns="45720" rIns="91440" bIns="45720" rtlCol="0" anchor="ctr">
            <a:noAutofit/>
          </a:bodyPr>
          <a:lstStyle/>
          <a:p>
            <a:pPr fontAlgn="base">
              <a:spcAft>
                <a:spcPct val="0"/>
              </a:spcAft>
            </a:pPr>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3355731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grpId="1" nodeType="afterEffect">
                                  <p:stCondLst>
                                    <p:cond delay="0"/>
                                  </p:stCondLst>
                                  <p:childTnLst>
                                    <p:animMotion origin="layout" path="M 5E-6 1.11111E-6 L 0.07813 1.11111E-6 " pathEditMode="relative" rAng="0" ptsTypes="AA">
                                      <p:cBhvr>
                                        <p:cTn id="9" dur="2000" fill="hold"/>
                                        <p:tgtEl>
                                          <p:spTgt spid="26"/>
                                        </p:tgtEl>
                                        <p:attrNameLst>
                                          <p:attrName>ppt_x</p:attrName>
                                          <p:attrName>ppt_y</p:attrName>
                                        </p:attrNameLst>
                                      </p:cBhvr>
                                      <p:rCtr x="3906" y="0"/>
                                    </p:animMotion>
                                  </p:childTnLst>
                                </p:cTn>
                              </p:par>
                            </p:childTnLst>
                          </p:cTn>
                        </p:par>
                        <p:par>
                          <p:cTn id="10" fill="hold">
                            <p:stCondLst>
                              <p:cond delay="2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18"/>
                                        </p:tgtEl>
                                        <p:attrNameLst>
                                          <p:attrName>ppt_x</p:attrName>
                                          <p:attrName>ppt_y</p:attrName>
                                        </p:attrNameLst>
                                      </p:cBhvr>
                                    </p:animMotion>
                                  </p:childTnLst>
                                </p:cTn>
                              </p:par>
                            </p:childTnLst>
                          </p:cTn>
                        </p:par>
                        <p:par>
                          <p:cTn id="13" fill="hold">
                            <p:stCondLst>
                              <p:cond delay="4000"/>
                            </p:stCondLst>
                            <p:childTnLst>
                              <p:par>
                                <p:cTn id="14" presetID="64" presetClass="path" presetSubtype="0" accel="50000" decel="50000" fill="hold" grpId="0" nodeType="afterEffect">
                                  <p:stCondLst>
                                    <p:cond delay="0"/>
                                  </p:stCondLst>
                                  <p:childTnLst>
                                    <p:animMotion origin="layout" path="M 0 0 L 0 -0.25 E" pathEditMode="relative" ptsTypes="">
                                      <p:cBhvr>
                                        <p:cTn id="15" dur="2000" fill="hold"/>
                                        <p:tgtEl>
                                          <p:spTgt spid="22"/>
                                        </p:tgtEl>
                                        <p:attrNameLst>
                                          <p:attrName>ppt_x</p:attrName>
                                          <p:attrName>ppt_y</p:attrName>
                                        </p:attrNameLst>
                                      </p:cBhvr>
                                    </p:animMotion>
                                  </p:childTnLst>
                                </p:cTn>
                              </p:par>
                            </p:childTnLst>
                          </p:cTn>
                        </p:par>
                        <p:par>
                          <p:cTn id="16" fill="hold">
                            <p:stCondLst>
                              <p:cond delay="6000"/>
                            </p:stCondLst>
                            <p:childTnLst>
                              <p:par>
                                <p:cTn id="17" presetID="42" presetClass="path" presetSubtype="0" accel="50000" decel="50000" fill="hold" grpId="1" nodeType="afterEffect">
                                  <p:stCondLst>
                                    <p:cond delay="0"/>
                                  </p:stCondLst>
                                  <p:childTnLst>
                                    <p:animMotion origin="layout" path="M 0 -0.24745 L 0 0.00255 " pathEditMode="relative" rAng="0" ptsTypes="AA">
                                      <p:cBhvr>
                                        <p:cTn id="18" dur="2000" fill="hold"/>
                                        <p:tgtEl>
                                          <p:spTgt spid="18"/>
                                        </p:tgtEl>
                                        <p:attrNameLst>
                                          <p:attrName>ppt_x</p:attrName>
                                          <p:attrName>ppt_y</p:attrName>
                                        </p:attrNameLst>
                                      </p:cBhvr>
                                      <p:rCtr x="0" y="12500"/>
                                    </p:animMotion>
                                  </p:childTnLst>
                                </p:cTn>
                              </p:par>
                            </p:childTnLst>
                          </p:cTn>
                        </p:par>
                        <p:par>
                          <p:cTn id="19" fill="hold">
                            <p:stCondLst>
                              <p:cond delay="8000"/>
                            </p:stCondLst>
                            <p:childTnLst>
                              <p:par>
                                <p:cTn id="20" presetID="42" presetClass="path" presetSubtype="0" accel="50000" decel="50000" fill="hold" grpId="1" nodeType="afterEffect">
                                  <p:stCondLst>
                                    <p:cond delay="0"/>
                                  </p:stCondLst>
                                  <p:childTnLst>
                                    <p:animMotion origin="layout" path="M 0 -0.24537 L 0 0.00463 " pathEditMode="relative" rAng="0" ptsTypes="AA">
                                      <p:cBhvr>
                                        <p:cTn id="21" dur="2000" fill="hold"/>
                                        <p:tgtEl>
                                          <p:spTgt spid="22"/>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P spid="18" grpId="0" animBg="1"/>
      <p:bldP spid="18" grpId="1" animBg="1"/>
      <p:bldP spid="22" grpId="0" animBg="1"/>
      <p:bldP spid="2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580740275"/>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2: Xét phần tử thứ hai (tại vị trí 2)</a:t>
            </a:r>
          </a:p>
        </p:txBody>
      </p:sp>
      <p:sp>
        <p:nvSpPr>
          <p:cNvPr id="19" name="Rectangle 18"/>
          <p:cNvSpPr/>
          <p:nvPr/>
        </p:nvSpPr>
        <p:spPr>
          <a:xfrm>
            <a:off x="41910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3276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0" name="Rectangle 19"/>
          <p:cNvSpPr/>
          <p:nvPr/>
        </p:nvSpPr>
        <p:spPr>
          <a:xfrm>
            <a:off x="51054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6019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8" name="Rectangle 17"/>
          <p:cNvSpPr/>
          <p:nvPr/>
        </p:nvSpPr>
        <p:spPr>
          <a:xfrm>
            <a:off x="32766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1" name="Rectangle 20"/>
          <p:cNvSpPr/>
          <p:nvPr/>
        </p:nvSpPr>
        <p:spPr>
          <a:xfrm>
            <a:off x="69342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8" name="Title 1"/>
          <p:cNvSpPr txBox="1">
            <a:spLocks/>
          </p:cNvSpPr>
          <p:nvPr/>
        </p:nvSpPr>
        <p:spPr>
          <a:xfrm>
            <a:off x="228600" y="457200"/>
            <a:ext cx="9601200" cy="792162"/>
          </a:xfrm>
          <a:prstGeom prst="rect">
            <a:avLst/>
          </a:prstGeom>
        </p:spPr>
        <p:txBody>
          <a:bodyPr vert="horz" lIns="91440" tIns="45720" rIns="91440" bIns="45720" rtlCol="0" anchor="ctr">
            <a:noAutofit/>
          </a:bodyPr>
          <a:lstStyle>
            <a:defPPr>
              <a:defRPr lang="en-US"/>
            </a:defPPr>
            <a:lvl1pPr defTabSz="914400" eaLnBrk="1" latinLnBrk="0" hangingPunct="1">
              <a:lnSpc>
                <a:spcPct val="90000"/>
              </a:lnSpc>
              <a:buNone/>
              <a:defRPr sz="4400" b="1">
                <a:solidFill>
                  <a:srgbClr val="0070C0"/>
                </a:solidFill>
                <a:latin typeface="Times New Roman" panose="02020603050405020304" pitchFamily="18" charset="0"/>
                <a:ea typeface="+mj-ea"/>
                <a:cs typeface="Times New Roman" panose="02020603050405020304" pitchFamily="18" charset="0"/>
              </a:defRPr>
            </a:lvl1pPr>
          </a:lstStyle>
          <a:p>
            <a:r>
              <a:rPr lang="en-US"/>
              <a:t>1. Đổi chổ trực tiếp – interchange sort</a:t>
            </a:r>
            <a:endParaRPr lang="en-US" dirty="0"/>
          </a:p>
        </p:txBody>
      </p:sp>
    </p:spTree>
    <p:extLst>
      <p:ext uri="{BB962C8B-B14F-4D97-AF65-F5344CB8AC3E}">
        <p14:creationId xmlns:p14="http://schemas.microsoft.com/office/powerpoint/2010/main" val="333123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grpId="1" nodeType="afterEffect">
                                  <p:stCondLst>
                                    <p:cond delay="0"/>
                                  </p:stCondLst>
                                  <p:childTnLst>
                                    <p:animMotion origin="layout" path="M 5E-6 1.11111E-6 L 0.07813 1.11111E-6 " pathEditMode="relative" rAng="0" ptsTypes="AA">
                                      <p:cBhvr>
                                        <p:cTn id="9" dur="2000" fill="hold"/>
                                        <p:tgtEl>
                                          <p:spTgt spid="26"/>
                                        </p:tgtEl>
                                        <p:attrNameLst>
                                          <p:attrName>ppt_x</p:attrName>
                                          <p:attrName>ppt_y</p:attrName>
                                        </p:attrNameLst>
                                      </p:cBhvr>
                                      <p:rCtr x="3906" y="0"/>
                                    </p:animMotion>
                                  </p:childTnLst>
                                </p:cTn>
                              </p:par>
                            </p:childTnLst>
                          </p:cTn>
                        </p:par>
                        <p:par>
                          <p:cTn id="10" fill="hold">
                            <p:stCondLst>
                              <p:cond delay="2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18"/>
                                        </p:tgtEl>
                                        <p:attrNameLst>
                                          <p:attrName>ppt_x</p:attrName>
                                          <p:attrName>ppt_y</p:attrName>
                                        </p:attrNameLst>
                                      </p:cBhvr>
                                    </p:animMotion>
                                  </p:childTnLst>
                                </p:cTn>
                              </p:par>
                            </p:childTnLst>
                          </p:cTn>
                        </p:par>
                        <p:par>
                          <p:cTn id="13" fill="hold">
                            <p:stCondLst>
                              <p:cond delay="4000"/>
                            </p:stCondLst>
                            <p:childTnLst>
                              <p:par>
                                <p:cTn id="14" presetID="64" presetClass="path" presetSubtype="0" accel="50000" decel="50000" fill="hold" grpId="0" nodeType="afterEffect">
                                  <p:stCondLst>
                                    <p:cond delay="0"/>
                                  </p:stCondLst>
                                  <p:childTnLst>
                                    <p:animMotion origin="layout" path="M 0 0 L 0 -0.25 E" pathEditMode="relative" ptsTypes="">
                                      <p:cBhvr>
                                        <p:cTn id="15" dur="2000" fill="hold"/>
                                        <p:tgtEl>
                                          <p:spTgt spid="21"/>
                                        </p:tgtEl>
                                        <p:attrNameLst>
                                          <p:attrName>ppt_x</p:attrName>
                                          <p:attrName>ppt_y</p:attrName>
                                        </p:attrNameLst>
                                      </p:cBhvr>
                                    </p:animMotion>
                                  </p:childTnLst>
                                </p:cTn>
                              </p:par>
                            </p:childTnLst>
                          </p:cTn>
                        </p:par>
                        <p:par>
                          <p:cTn id="16" fill="hold">
                            <p:stCondLst>
                              <p:cond delay="6000"/>
                            </p:stCondLst>
                            <p:childTnLst>
                              <p:par>
                                <p:cTn id="17" presetID="50" presetClass="path" presetSubtype="0" accel="50000" decel="50000" fill="hold" grpId="1" nodeType="afterEffect">
                                  <p:stCondLst>
                                    <p:cond delay="0"/>
                                  </p:stCondLst>
                                  <p:childTnLst>
                                    <p:animMotion origin="layout" path="M 5E-6 -0.25 L 0.14831 -0.25 C 0.21485 -0.25 0.29688 -0.18102 0.29688 -0.125 L 0.29688 -2.59259E-6 " pathEditMode="relative" rAng="0" ptsTypes="AAAA">
                                      <p:cBhvr>
                                        <p:cTn id="18" dur="2000" fill="hold"/>
                                        <p:tgtEl>
                                          <p:spTgt spid="18"/>
                                        </p:tgtEl>
                                        <p:attrNameLst>
                                          <p:attrName>ppt_x</p:attrName>
                                          <p:attrName>ppt_y</p:attrName>
                                        </p:attrNameLst>
                                      </p:cBhvr>
                                      <p:rCtr x="14844" y="12500"/>
                                    </p:animMotion>
                                  </p:childTnLst>
                                </p:cTn>
                              </p:par>
                            </p:childTnLst>
                          </p:cTn>
                        </p:par>
                        <p:par>
                          <p:cTn id="19" fill="hold">
                            <p:stCondLst>
                              <p:cond delay="8000"/>
                            </p:stCondLst>
                            <p:childTnLst>
                              <p:par>
                                <p:cTn id="20" presetID="50" presetClass="path" presetSubtype="0" accel="50000" decel="50000" fill="hold" grpId="1" nodeType="afterEffect">
                                  <p:stCondLst>
                                    <p:cond delay="0"/>
                                  </p:stCondLst>
                                  <p:childTnLst>
                                    <p:animMotion origin="layout" path="M 5E-6 -0.25 L -0.15157 -0.25 C -0.21967 -0.25 -0.30313 -0.18102 -0.30313 -0.125 L -0.30313 -2.96296E-6 " pathEditMode="relative" rAng="0" ptsTypes="AAAA">
                                      <p:cBhvr>
                                        <p:cTn id="21" dur="2000" fill="hold"/>
                                        <p:tgtEl>
                                          <p:spTgt spid="21"/>
                                        </p:tgtEl>
                                        <p:attrNameLst>
                                          <p:attrName>ppt_x</p:attrName>
                                          <p:attrName>ppt_y</p:attrName>
                                        </p:attrNameLst>
                                      </p:cBhvr>
                                      <p:rCtr x="-1515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P spid="18" grpId="0" animBg="1"/>
      <p:bldP spid="18" grpId="1" animBg="1"/>
      <p:bldP spid="21" grpId="0" animBg="1"/>
      <p:bldP spid="21"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558234973"/>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19</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2: Xét phần tử thứ hai (tại vị trí 2)</a:t>
            </a:r>
          </a:p>
        </p:txBody>
      </p:sp>
      <p:sp>
        <p:nvSpPr>
          <p:cNvPr id="19" name="Rectangle 18"/>
          <p:cNvSpPr/>
          <p:nvPr/>
        </p:nvSpPr>
        <p:spPr>
          <a:xfrm>
            <a:off x="41910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3276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69342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51054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69342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1" name="Rectangle 20"/>
          <p:cNvSpPr/>
          <p:nvPr/>
        </p:nvSpPr>
        <p:spPr>
          <a:xfrm>
            <a:off x="32766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8" name="Title 1"/>
          <p:cNvSpPr txBox="1">
            <a:spLocks/>
          </p:cNvSpPr>
          <p:nvPr/>
        </p:nvSpPr>
        <p:spPr>
          <a:xfrm>
            <a:off x="228600" y="457200"/>
            <a:ext cx="9601200" cy="792162"/>
          </a:xfrm>
          <a:prstGeom prst="rect">
            <a:avLst/>
          </a:prstGeom>
        </p:spPr>
        <p:txBody>
          <a:bodyPr vert="horz" lIns="91440" tIns="45720" rIns="91440" bIns="45720" rtlCol="0" anchor="ctr">
            <a:noAutofit/>
          </a:bodyPr>
          <a:lstStyle>
            <a:defPPr>
              <a:defRPr lang="en-US"/>
            </a:defPPr>
            <a:lvl1pPr defTabSz="914400" eaLnBrk="1" latinLnBrk="0" hangingPunct="1">
              <a:lnSpc>
                <a:spcPct val="90000"/>
              </a:lnSpc>
              <a:buNone/>
              <a:defRPr sz="4400" b="1">
                <a:solidFill>
                  <a:srgbClr val="0070C0"/>
                </a:solidFill>
                <a:latin typeface="Times New Roman" panose="02020603050405020304" pitchFamily="18" charset="0"/>
                <a:ea typeface="+mj-ea"/>
                <a:cs typeface="Times New Roman" panose="02020603050405020304" pitchFamily="18" charset="0"/>
              </a:defRPr>
            </a:lvl1pPr>
          </a:lstStyle>
          <a:p>
            <a:r>
              <a:rPr lang="en-US"/>
              <a:t>1. Đổi chổ trực tiếp – interchange sort</a:t>
            </a:r>
            <a:endParaRPr lang="en-US" dirty="0"/>
          </a:p>
        </p:txBody>
      </p:sp>
    </p:spTree>
    <p:extLst>
      <p:ext uri="{BB962C8B-B14F-4D97-AF65-F5344CB8AC3E}">
        <p14:creationId xmlns:p14="http://schemas.microsoft.com/office/powerpoint/2010/main" val="3252822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1"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1"/>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4"/>
                                        </p:tgtEl>
                                        <p:attrNameLst>
                                          <p:attrName>ppt_x</p:attrName>
                                          <p:attrName>ppt_y</p:attrName>
                                        </p:attrNameLst>
                                      </p:cBhvr>
                                    </p:animMotion>
                                  </p:childTnLst>
                                </p:cTn>
                              </p:par>
                            </p:childTnLst>
                          </p:cTn>
                        </p:par>
                        <p:par>
                          <p:cTn id="13" fill="hold">
                            <p:stCondLst>
                              <p:cond delay="6000"/>
                            </p:stCondLst>
                            <p:childTnLst>
                              <p:par>
                                <p:cTn id="14" presetID="42" presetClass="path" presetSubtype="0" accel="50000" decel="50000" fill="hold" grpId="1" nodeType="afterEffect">
                                  <p:stCondLst>
                                    <p:cond delay="0"/>
                                  </p:stCondLst>
                                  <p:childTnLst>
                                    <p:animMotion origin="layout" path="M 0 -0.25046 L 0 -0.00046 " pathEditMode="relative" rAng="0" ptsTypes="AA">
                                      <p:cBhvr>
                                        <p:cTn id="15" dur="2000" fill="hold"/>
                                        <p:tgtEl>
                                          <p:spTgt spid="21"/>
                                        </p:tgtEl>
                                        <p:attrNameLst>
                                          <p:attrName>ppt_x</p:attrName>
                                          <p:attrName>ppt_y</p:attrName>
                                        </p:attrNameLst>
                                      </p:cBhvr>
                                      <p:rCtr x="0" y="12500"/>
                                    </p:animMotion>
                                  </p:childTnLst>
                                </p:cTn>
                              </p:par>
                            </p:childTnLst>
                          </p:cTn>
                        </p:par>
                        <p:par>
                          <p:cTn id="16" fill="hold">
                            <p:stCondLst>
                              <p:cond delay="8000"/>
                            </p:stCondLst>
                            <p:childTnLst>
                              <p:par>
                                <p:cTn id="17" presetID="42" presetClass="path" presetSubtype="0" accel="50000" decel="50000" fill="hold" grpId="1" nodeType="afterEffect">
                                  <p:stCondLst>
                                    <p:cond delay="0"/>
                                  </p:stCondLst>
                                  <p:childTnLst>
                                    <p:animMotion origin="layout" path="M 0 -0.25 L 0 2.22222E-6 " pathEditMode="relative" rAng="0" ptsTypes="AA">
                                      <p:cBhvr>
                                        <p:cTn id="18" dur="2000" fill="hold"/>
                                        <p:tgtEl>
                                          <p:spTgt spid="2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1" animBg="1"/>
      <p:bldP spid="21" grpId="0" animBg="1"/>
      <p:bldP spid="21" grpId="1" animBg="1"/>
      <p:bldP spid="24" grpId="0" animBg="1"/>
      <p:bldP spid="24"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779453388"/>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20</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2: Xét phần tử thứ hai (tại vị trí 2)</a:t>
            </a:r>
          </a:p>
        </p:txBody>
      </p:sp>
      <p:sp>
        <p:nvSpPr>
          <p:cNvPr id="19" name="Rectangle 18"/>
          <p:cNvSpPr/>
          <p:nvPr/>
        </p:nvSpPr>
        <p:spPr>
          <a:xfrm>
            <a:off x="41910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3276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69342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51054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7848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1" name="Rectangle 20"/>
          <p:cNvSpPr/>
          <p:nvPr/>
        </p:nvSpPr>
        <p:spPr>
          <a:xfrm>
            <a:off x="32766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3" name="Rectangle 22"/>
          <p:cNvSpPr/>
          <p:nvPr/>
        </p:nvSpPr>
        <p:spPr>
          <a:xfrm>
            <a:off x="87630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itle 1"/>
          <p:cNvSpPr txBox="1">
            <a:spLocks/>
          </p:cNvSpPr>
          <p:nvPr/>
        </p:nvSpPr>
        <p:spPr>
          <a:xfrm>
            <a:off x="228600" y="457200"/>
            <a:ext cx="9601200" cy="792162"/>
          </a:xfrm>
          <a:prstGeom prst="rect">
            <a:avLst/>
          </a:prstGeom>
        </p:spPr>
        <p:txBody>
          <a:bodyPr vert="horz" lIns="91440" tIns="45720" rIns="91440" bIns="45720" rtlCol="0" anchor="ctr">
            <a:noAutofit/>
          </a:bodyPr>
          <a:lstStyle>
            <a:defPPr>
              <a:defRPr lang="en-US"/>
            </a:defPPr>
            <a:lvl1pPr defTabSz="914400" eaLnBrk="1" latinLnBrk="0" hangingPunct="1">
              <a:lnSpc>
                <a:spcPct val="90000"/>
              </a:lnSpc>
              <a:buNone/>
              <a:defRPr sz="4400" b="1">
                <a:solidFill>
                  <a:srgbClr val="0070C0"/>
                </a:solidFill>
                <a:latin typeface="Times New Roman" panose="02020603050405020304" pitchFamily="18" charset="0"/>
                <a:ea typeface="+mj-ea"/>
                <a:cs typeface="Times New Roman" panose="02020603050405020304" pitchFamily="18" charset="0"/>
              </a:defRPr>
            </a:lvl1pPr>
          </a:lstStyle>
          <a:p>
            <a:r>
              <a:rPr lang="en-US"/>
              <a:t>1. Đổi chổ trực tiếp – interchange sort</a:t>
            </a:r>
            <a:endParaRPr lang="en-US" dirty="0"/>
          </a:p>
        </p:txBody>
      </p:sp>
    </p:spTree>
    <p:extLst>
      <p:ext uri="{BB962C8B-B14F-4D97-AF65-F5344CB8AC3E}">
        <p14:creationId xmlns:p14="http://schemas.microsoft.com/office/powerpoint/2010/main" val="190804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1"/>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3"/>
                                        </p:tgtEl>
                                        <p:attrNameLst>
                                          <p:attrName>ppt_x</p:attrName>
                                          <p:attrName>ppt_y</p:attrName>
                                        </p:attrNameLst>
                                      </p:cBhvr>
                                    </p:animMotion>
                                  </p:childTnLst>
                                </p:cTn>
                              </p:par>
                            </p:childTnLst>
                          </p:cTn>
                        </p:par>
                        <p:par>
                          <p:cTn id="13" fill="hold">
                            <p:stCondLst>
                              <p:cond delay="6000"/>
                            </p:stCondLst>
                            <p:childTnLst>
                              <p:par>
                                <p:cTn id="14" presetID="50" presetClass="path" presetSubtype="0" accel="50000" decel="50000" fill="hold" grpId="1" nodeType="afterEffect">
                                  <p:stCondLst>
                                    <p:cond delay="0"/>
                                  </p:stCondLst>
                                  <p:childTnLst>
                                    <p:animMotion origin="layout" path="M 5E-6 -0.25 L 0.22344 -0.25 C 0.32357 -0.25 0.44688 -0.18102 0.44688 -0.125 L 0.44688 -2.96296E-6 " pathEditMode="relative" rAng="0" ptsTypes="AAAA">
                                      <p:cBhvr>
                                        <p:cTn id="15" dur="2000" fill="hold"/>
                                        <p:tgtEl>
                                          <p:spTgt spid="21"/>
                                        </p:tgtEl>
                                        <p:attrNameLst>
                                          <p:attrName>ppt_x</p:attrName>
                                          <p:attrName>ppt_y</p:attrName>
                                        </p:attrNameLst>
                                      </p:cBhvr>
                                      <p:rCtr x="22344" y="12500"/>
                                    </p:animMotion>
                                  </p:childTnLst>
                                </p:cTn>
                              </p:par>
                            </p:childTnLst>
                          </p:cTn>
                        </p:par>
                        <p:par>
                          <p:cTn id="16" fill="hold">
                            <p:stCondLst>
                              <p:cond delay="8000"/>
                            </p:stCondLst>
                            <p:childTnLst>
                              <p:par>
                                <p:cTn id="17" presetID="50" presetClass="path" presetSubtype="0" accel="50000" decel="50000" fill="hold" grpId="1" nodeType="afterEffect">
                                  <p:stCondLst>
                                    <p:cond delay="0"/>
                                  </p:stCondLst>
                                  <p:childTnLst>
                                    <p:animMotion origin="layout" path="M 5E-6 -0.25 L -0.22657 -0.25 C -0.32826 -0.25 -0.45313 -0.18102 -0.45313 -0.125 L -0.45313 -3.33333E-6 " pathEditMode="relative" rAng="0" ptsTypes="AAAA">
                                      <p:cBhvr>
                                        <p:cTn id="18" dur="2000" fill="hold"/>
                                        <p:tgtEl>
                                          <p:spTgt spid="23"/>
                                        </p:tgtEl>
                                        <p:attrNameLst>
                                          <p:attrName>ppt_x</p:attrName>
                                          <p:attrName>ppt_y</p:attrName>
                                        </p:attrNameLst>
                                      </p:cBhvr>
                                      <p:rCtr x="-2265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1" grpId="0" animBg="1"/>
      <p:bldP spid="21" grpId="1" animBg="1"/>
      <p:bldP spid="23" grpId="0" animBg="1"/>
      <p:bldP spid="23"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82514876"/>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21</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2: Xét phần tử thứ hai (tại vị trí 2)</a:t>
            </a:r>
          </a:p>
        </p:txBody>
      </p:sp>
      <p:sp>
        <p:nvSpPr>
          <p:cNvPr id="19" name="Rectangle 18"/>
          <p:cNvSpPr/>
          <p:nvPr/>
        </p:nvSpPr>
        <p:spPr>
          <a:xfrm>
            <a:off x="41910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3276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69342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51054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8763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8686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8" name="Cloud 27"/>
          <p:cNvSpPr/>
          <p:nvPr/>
        </p:nvSpPr>
        <p:spPr>
          <a:xfrm>
            <a:off x="9105900" y="1347172"/>
            <a:ext cx="2895600" cy="2120324"/>
          </a:xfrm>
          <a:prstGeom prst="cloud">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Kết thúc bước 2</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30" name="Title 1"/>
          <p:cNvSpPr txBox="1">
            <a:spLocks/>
          </p:cNvSpPr>
          <p:nvPr/>
        </p:nvSpPr>
        <p:spPr>
          <a:xfrm>
            <a:off x="228600" y="457200"/>
            <a:ext cx="9601200" cy="792162"/>
          </a:xfrm>
          <a:prstGeom prst="rect">
            <a:avLst/>
          </a:prstGeom>
        </p:spPr>
        <p:txBody>
          <a:bodyPr vert="horz" lIns="91440" tIns="45720" rIns="91440" bIns="45720" rtlCol="0" anchor="ctr">
            <a:noAutofit/>
          </a:bodyPr>
          <a:lstStyle>
            <a:lvl1pPr defTabSz="914400" eaLnBrk="1" latinLnBrk="0" hangingPunct="1">
              <a:lnSpc>
                <a:spcPct val="90000"/>
              </a:lnSpc>
              <a:buNone/>
              <a:defRPr sz="4400" b="1">
                <a:solidFill>
                  <a:srgbClr val="0070C0"/>
                </a:solidFill>
                <a:latin typeface="Times New Roman" panose="02020603050405020304" pitchFamily="18" charset="0"/>
                <a:ea typeface="+mj-ea"/>
                <a:cs typeface="Times New Roman" panose="02020603050405020304" pitchFamily="18" charset="0"/>
              </a:defRPr>
            </a:lvl1pPr>
          </a:lstStyle>
          <a:p>
            <a:r>
              <a:rPr lang="en-US"/>
              <a:t>1. Đổi chổ trực tiếp – interchange sort</a:t>
            </a:r>
            <a:endParaRPr lang="en-US" dirty="0"/>
          </a:p>
        </p:txBody>
      </p:sp>
    </p:spTree>
    <p:extLst>
      <p:ext uri="{BB962C8B-B14F-4D97-AF65-F5344CB8AC3E}">
        <p14:creationId xmlns:p14="http://schemas.microsoft.com/office/powerpoint/2010/main" val="2564293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8126 1.11111E-6 " pathEditMode="relative" rAng="0" ptsTypes="AA">
                                      <p:cBhvr>
                                        <p:cTn id="6" dur="2000" fill="hold"/>
                                        <p:tgtEl>
                                          <p:spTgt spid="26"/>
                                        </p:tgtEl>
                                        <p:attrNameLst>
                                          <p:attrName>ppt_x</p:attrName>
                                          <p:attrName>ppt_y</p:attrName>
                                        </p:attrNameLst>
                                      </p:cBhvr>
                                      <p:rCtr x="4062"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28"/>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2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55682418"/>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22</a:t>
            </a:fld>
            <a:endParaRPr lang="en-US"/>
          </a:p>
        </p:txBody>
      </p:sp>
      <p:sp>
        <p:nvSpPr>
          <p:cNvPr id="17" name="TextBox 16"/>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3: Xét phần tử thứ ba (tại vị trí 3)</a:t>
            </a:r>
          </a:p>
        </p:txBody>
      </p:sp>
      <p:sp>
        <p:nvSpPr>
          <p:cNvPr id="2" name="Up Arrow Callout 1"/>
          <p:cNvSpPr/>
          <p:nvPr/>
        </p:nvSpPr>
        <p:spPr>
          <a:xfrm>
            <a:off x="3276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69342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1" name="Rectangle 20"/>
          <p:cNvSpPr/>
          <p:nvPr/>
        </p:nvSpPr>
        <p:spPr>
          <a:xfrm>
            <a:off x="8763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5105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19" name="Rectangle 18"/>
          <p:cNvSpPr/>
          <p:nvPr/>
        </p:nvSpPr>
        <p:spPr>
          <a:xfrm>
            <a:off x="41910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0" name="Rectangle 19"/>
          <p:cNvSpPr/>
          <p:nvPr/>
        </p:nvSpPr>
        <p:spPr>
          <a:xfrm>
            <a:off x="51054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8" name="Title 1"/>
          <p:cNvSpPr>
            <a:spLocks noGrp="1"/>
          </p:cNvSpPr>
          <p:nvPr>
            <p:ph type="title"/>
          </p:nvPr>
        </p:nvSpPr>
        <p:spPr>
          <a:xfrm>
            <a:off x="228600" y="457200"/>
            <a:ext cx="9601200" cy="792162"/>
          </a:xfrm>
        </p:spPr>
        <p:txBody>
          <a:bodyPr>
            <a:noAutofit/>
          </a:bodyPr>
          <a:lstStyle/>
          <a:p>
            <a:pPr>
              <a:defRPr/>
            </a:pPr>
            <a:r>
              <a:rPr lang="en-US" b="1" smtClean="0">
                <a:solidFill>
                  <a:srgbClr val="0070C0"/>
                </a:solidFill>
                <a:latin typeface="Times New Roman" panose="02020603050405020304" pitchFamily="18" charset="0"/>
                <a:cs typeface="Times New Roman" panose="02020603050405020304" pitchFamily="18" charset="0"/>
              </a:rPr>
              <a:t>1. Đổi </a:t>
            </a:r>
            <a:r>
              <a:rPr lang="en-US" b="1" dirty="0" err="1" smtClean="0">
                <a:solidFill>
                  <a:srgbClr val="0070C0"/>
                </a:solidFill>
                <a:latin typeface="Times New Roman" panose="02020603050405020304" pitchFamily="18" charset="0"/>
                <a:cs typeface="Times New Roman" panose="02020603050405020304" pitchFamily="18" charset="0"/>
              </a:rPr>
              <a:t>chổ</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interchange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0893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2"/>
                                        </p:tgtEl>
                                        <p:attrNameLst>
                                          <p:attrName>ppt_x</p:attrName>
                                          <p:attrName>ppt_y</p:attrName>
                                        </p:attrNameLst>
                                      </p:cBhvr>
                                      <p:rCtr x="3594"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par>
                          <p:cTn id="10" fill="hold">
                            <p:stCondLst>
                              <p:cond delay="2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19"/>
                                        </p:tgtEl>
                                        <p:attrNameLst>
                                          <p:attrName>ppt_x</p:attrName>
                                          <p:attrName>ppt_y</p:attrName>
                                        </p:attrNameLst>
                                      </p:cBhvr>
                                    </p:animMotion>
                                  </p:childTnLst>
                                </p:cTn>
                              </p:par>
                            </p:childTnLst>
                          </p:cTn>
                        </p:par>
                        <p:par>
                          <p:cTn id="13" fill="hold">
                            <p:stCondLst>
                              <p:cond delay="4000"/>
                            </p:stCondLst>
                            <p:childTnLst>
                              <p:par>
                                <p:cTn id="14" presetID="64" presetClass="path" presetSubtype="0" accel="50000" decel="50000" fill="hold" grpId="0" nodeType="afterEffect">
                                  <p:stCondLst>
                                    <p:cond delay="0"/>
                                  </p:stCondLst>
                                  <p:childTnLst>
                                    <p:animMotion origin="layout" path="M 0 0 L 0 -0.25 E" pathEditMode="relative" ptsTypes="">
                                      <p:cBhvr>
                                        <p:cTn id="15" dur="2000" fill="hold"/>
                                        <p:tgtEl>
                                          <p:spTgt spid="20"/>
                                        </p:tgtEl>
                                        <p:attrNameLst>
                                          <p:attrName>ppt_x</p:attrName>
                                          <p:attrName>ppt_y</p:attrName>
                                        </p:attrNameLst>
                                      </p:cBhvr>
                                    </p:animMotion>
                                  </p:childTnLst>
                                </p:cTn>
                              </p:par>
                            </p:childTnLst>
                          </p:cTn>
                        </p:par>
                        <p:par>
                          <p:cTn id="16" fill="hold">
                            <p:stCondLst>
                              <p:cond delay="6000"/>
                            </p:stCondLst>
                            <p:childTnLst>
                              <p:par>
                                <p:cTn id="17" presetID="50" presetClass="path" presetSubtype="0" accel="50000" decel="50000" fill="hold" grpId="1" nodeType="afterEffect">
                                  <p:stCondLst>
                                    <p:cond delay="0"/>
                                  </p:stCondLst>
                                  <p:childTnLst>
                                    <p:animMotion origin="layout" path="M 5E-6 -0.25 L 0.03594 -0.25 C 0.05196 -0.25 0.07188 -0.18102 0.07188 -0.125 L 0.07188 -2.22222E-6 " pathEditMode="relative" rAng="0" ptsTypes="AAAA">
                                      <p:cBhvr>
                                        <p:cTn id="18" dur="2000" fill="hold"/>
                                        <p:tgtEl>
                                          <p:spTgt spid="19"/>
                                        </p:tgtEl>
                                        <p:attrNameLst>
                                          <p:attrName>ppt_x</p:attrName>
                                          <p:attrName>ppt_y</p:attrName>
                                        </p:attrNameLst>
                                      </p:cBhvr>
                                      <p:rCtr x="3594" y="12500"/>
                                    </p:animMotion>
                                  </p:childTnLst>
                                </p:cTn>
                              </p:par>
                            </p:childTnLst>
                          </p:cTn>
                        </p:par>
                        <p:par>
                          <p:cTn id="19" fill="hold">
                            <p:stCondLst>
                              <p:cond delay="8000"/>
                            </p:stCondLst>
                            <p:childTnLst>
                              <p:par>
                                <p:cTn id="20" presetID="50" presetClass="path" presetSubtype="0" accel="50000" decel="50000" fill="hold" grpId="1" nodeType="afterEffect">
                                  <p:stCondLst>
                                    <p:cond delay="0"/>
                                  </p:stCondLst>
                                  <p:childTnLst>
                                    <p:animMotion origin="layout" path="M 5E-6 -0.25 L -0.0392 -0.25 C -0.05677 -0.25 -0.07812 -0.18102 -0.07812 -0.125 L -0.07812 -3.7037E-7 " pathEditMode="relative" rAng="0" ptsTypes="AAAA">
                                      <p:cBhvr>
                                        <p:cTn id="21" dur="2000" fill="hold"/>
                                        <p:tgtEl>
                                          <p:spTgt spid="20"/>
                                        </p:tgtEl>
                                        <p:attrNameLst>
                                          <p:attrName>ppt_x</p:attrName>
                                          <p:attrName>ppt_y</p:attrName>
                                        </p:attrNameLst>
                                      </p:cBhvr>
                                      <p:rCtr x="-3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6" grpId="0" animBg="1"/>
      <p:bldP spid="19" grpId="0" animBg="1"/>
      <p:bldP spid="19" grpId="1" animBg="1"/>
      <p:bldP spid="20" grpId="0" animBg="1"/>
      <p:bldP spid="20"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038471285"/>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23</a:t>
            </a:fld>
            <a:endParaRPr lang="en-US"/>
          </a:p>
        </p:txBody>
      </p:sp>
      <p:sp>
        <p:nvSpPr>
          <p:cNvPr id="19" name="Rectangle 18"/>
          <p:cNvSpPr/>
          <p:nvPr/>
        </p:nvSpPr>
        <p:spPr>
          <a:xfrm>
            <a:off x="51054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4191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69342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1" name="Rectangle 20"/>
          <p:cNvSpPr/>
          <p:nvPr/>
        </p:nvSpPr>
        <p:spPr>
          <a:xfrm>
            <a:off x="8763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5105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extBox 27"/>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3: Xét phần tử thứ ba (tại vị trí 3)</a:t>
            </a:r>
          </a:p>
        </p:txBody>
      </p:sp>
      <p:sp>
        <p:nvSpPr>
          <p:cNvPr id="20" name="Rectangle 19"/>
          <p:cNvSpPr/>
          <p:nvPr/>
        </p:nvSpPr>
        <p:spPr>
          <a:xfrm>
            <a:off x="41910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30" name="Title 1"/>
          <p:cNvSpPr txBox="1">
            <a:spLocks/>
          </p:cNvSpPr>
          <p:nvPr/>
        </p:nvSpPr>
        <p:spPr>
          <a:xfrm>
            <a:off x="228600" y="457200"/>
            <a:ext cx="9601200" cy="7921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1. Đổi chổ trực tiếp – interchange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9903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26"/>
                                        </p:tgtEl>
                                        <p:attrNameLst>
                                          <p:attrName>ppt_x</p:attrName>
                                          <p:attrName>ppt_y</p:attrName>
                                        </p:attrNameLst>
                                      </p:cBhvr>
                                      <p:rCtr x="3594"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0"/>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2"/>
                                        </p:tgtEl>
                                        <p:attrNameLst>
                                          <p:attrName>ppt_x</p:attrName>
                                          <p:attrName>ppt_y</p:attrName>
                                        </p:attrNameLst>
                                      </p:cBhvr>
                                    </p:animMotion>
                                  </p:childTnLst>
                                </p:cTn>
                              </p:par>
                            </p:childTnLst>
                          </p:cTn>
                        </p:par>
                        <p:par>
                          <p:cTn id="13" fill="hold">
                            <p:stCondLst>
                              <p:cond delay="6000"/>
                            </p:stCondLst>
                            <p:childTnLst>
                              <p:par>
                                <p:cTn id="14" presetID="42" presetClass="path" presetSubtype="0" accel="50000" decel="50000" fill="hold" grpId="1" nodeType="afterEffect">
                                  <p:stCondLst>
                                    <p:cond delay="0"/>
                                  </p:stCondLst>
                                  <p:childTnLst>
                                    <p:animMotion origin="layout" path="M 5.55112E-17 -0.24745 L 5.55112E-17 0.00255 " pathEditMode="relative" rAng="0" ptsTypes="AA">
                                      <p:cBhvr>
                                        <p:cTn id="15" dur="2000" fill="hold"/>
                                        <p:tgtEl>
                                          <p:spTgt spid="20"/>
                                        </p:tgtEl>
                                        <p:attrNameLst>
                                          <p:attrName>ppt_x</p:attrName>
                                          <p:attrName>ppt_y</p:attrName>
                                        </p:attrNameLst>
                                      </p:cBhvr>
                                      <p:rCtr x="0" y="12500"/>
                                    </p:animMotion>
                                  </p:childTnLst>
                                </p:cTn>
                              </p:par>
                            </p:childTnLst>
                          </p:cTn>
                        </p:par>
                        <p:par>
                          <p:cTn id="16" fill="hold">
                            <p:stCondLst>
                              <p:cond delay="8000"/>
                            </p:stCondLst>
                            <p:childTnLst>
                              <p:par>
                                <p:cTn id="17" presetID="42" presetClass="path" presetSubtype="0" accel="50000" decel="50000" fill="hold" grpId="1" nodeType="afterEffect">
                                  <p:stCondLst>
                                    <p:cond delay="0"/>
                                  </p:stCondLst>
                                  <p:childTnLst>
                                    <p:animMotion origin="layout" path="M 0 -0.24537 L 0 0.00463 " pathEditMode="relative" rAng="0" ptsTypes="AA">
                                      <p:cBhvr>
                                        <p:cTn id="18" dur="2000" fill="hold"/>
                                        <p:tgtEl>
                                          <p:spTgt spid="22"/>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0" grpId="0" animBg="1"/>
      <p:bldP spid="20" grpId="1" animBg="1"/>
      <p:bldP spid="22" grpId="0" animBg="1"/>
      <p:bldP spid="22"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51776955"/>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24</a:t>
            </a:fld>
            <a:endParaRPr lang="en-US"/>
          </a:p>
        </p:txBody>
      </p:sp>
      <p:sp>
        <p:nvSpPr>
          <p:cNvPr id="19" name="Rectangle 18"/>
          <p:cNvSpPr/>
          <p:nvPr/>
        </p:nvSpPr>
        <p:spPr>
          <a:xfrm>
            <a:off x="51054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4191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1" name="Rectangle 20"/>
          <p:cNvSpPr/>
          <p:nvPr/>
        </p:nvSpPr>
        <p:spPr>
          <a:xfrm>
            <a:off x="8763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6019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extBox 27"/>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3: Xét phần tử thứ ba (tại vị trí 3)</a:t>
            </a:r>
          </a:p>
        </p:txBody>
      </p:sp>
      <p:sp>
        <p:nvSpPr>
          <p:cNvPr id="18" name="Rectangle 17"/>
          <p:cNvSpPr/>
          <p:nvPr/>
        </p:nvSpPr>
        <p:spPr>
          <a:xfrm>
            <a:off x="69342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10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30" name="Title 1"/>
          <p:cNvSpPr>
            <a:spLocks noGrp="1"/>
          </p:cNvSpPr>
          <p:nvPr>
            <p:ph type="title"/>
          </p:nvPr>
        </p:nvSpPr>
        <p:spPr>
          <a:xfrm>
            <a:off x="228600" y="457200"/>
            <a:ext cx="9601200" cy="792162"/>
          </a:xfrm>
        </p:spPr>
        <p:txBody>
          <a:bodyPr vert="horz" lIns="91440" tIns="45720" rIns="91440" bIns="45720" rtlCol="0" anchor="ctr">
            <a:noAutofit/>
          </a:bodyPr>
          <a:lstStyle/>
          <a:p>
            <a:pPr fontAlgn="base">
              <a:spcAft>
                <a:spcPct val="0"/>
              </a:spcAft>
            </a:pPr>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1911369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0"/>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18"/>
                                        </p:tgtEl>
                                        <p:attrNameLst>
                                          <p:attrName>ppt_x</p:attrName>
                                          <p:attrName>ppt_y</p:attrName>
                                        </p:attrNameLst>
                                      </p:cBhvr>
                                    </p:animMotion>
                                  </p:childTnLst>
                                </p:cTn>
                              </p:par>
                            </p:childTnLst>
                          </p:cTn>
                        </p:par>
                        <p:par>
                          <p:cTn id="13" fill="hold">
                            <p:stCondLst>
                              <p:cond delay="6000"/>
                            </p:stCondLst>
                            <p:childTnLst>
                              <p:par>
                                <p:cTn id="14" presetID="50" presetClass="path" presetSubtype="0" accel="50000" decel="50000" fill="hold" grpId="1" nodeType="afterEffect">
                                  <p:stCondLst>
                                    <p:cond delay="0"/>
                                  </p:stCondLst>
                                  <p:childTnLst>
                                    <p:animMotion origin="layout" path="M 5E-6 -0.25 L 0.11094 -0.25 C 0.16055 -0.25 0.22188 -0.18102 0.22188 -0.125 L 0.22188 -3.7037E-7 " pathEditMode="relative" rAng="0" ptsTypes="AAAA">
                                      <p:cBhvr>
                                        <p:cTn id="15" dur="2000" fill="hold"/>
                                        <p:tgtEl>
                                          <p:spTgt spid="20"/>
                                        </p:tgtEl>
                                        <p:attrNameLst>
                                          <p:attrName>ppt_x</p:attrName>
                                          <p:attrName>ppt_y</p:attrName>
                                        </p:attrNameLst>
                                      </p:cBhvr>
                                      <p:rCtr x="11094" y="12500"/>
                                    </p:animMotion>
                                  </p:childTnLst>
                                </p:cTn>
                              </p:par>
                            </p:childTnLst>
                          </p:cTn>
                        </p:par>
                        <p:par>
                          <p:cTn id="16" fill="hold">
                            <p:stCondLst>
                              <p:cond delay="8000"/>
                            </p:stCondLst>
                            <p:childTnLst>
                              <p:par>
                                <p:cTn id="17" presetID="50" presetClass="path" presetSubtype="0" accel="50000" decel="50000" fill="hold" grpId="1" nodeType="afterEffect">
                                  <p:stCondLst>
                                    <p:cond delay="0"/>
                                  </p:stCondLst>
                                  <p:childTnLst>
                                    <p:animMotion origin="layout" path="M 5E-6 -0.25 L -0.1142 -0.25 C -0.16537 -0.25 -0.22813 -0.18102 -0.22813 -0.125 L -0.22813 -2.59259E-6 " pathEditMode="relative" rAng="0" ptsTypes="AAAA">
                                      <p:cBhvr>
                                        <p:cTn id="18" dur="2000" fill="hold"/>
                                        <p:tgtEl>
                                          <p:spTgt spid="18"/>
                                        </p:tgtEl>
                                        <p:attrNameLst>
                                          <p:attrName>ppt_x</p:attrName>
                                          <p:attrName>ppt_y</p:attrName>
                                        </p:attrNameLst>
                                      </p:cBhvr>
                                      <p:rCtr x="-114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8" grpId="0" animBg="1"/>
      <p:bldP spid="18" grpId="1" animBg="1"/>
      <p:bldP spid="20" grpId="0" animBg="1"/>
      <p:bldP spid="20"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69779856"/>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25</a:t>
            </a:fld>
            <a:endParaRPr lang="en-US"/>
          </a:p>
        </p:txBody>
      </p:sp>
      <p:sp>
        <p:nvSpPr>
          <p:cNvPr id="19" name="Rectangle 18"/>
          <p:cNvSpPr/>
          <p:nvPr/>
        </p:nvSpPr>
        <p:spPr>
          <a:xfrm>
            <a:off x="51054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4191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0" name="Rectangle 19"/>
          <p:cNvSpPr/>
          <p:nvPr/>
        </p:nvSpPr>
        <p:spPr>
          <a:xfrm>
            <a:off x="69342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8763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69342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extBox 27"/>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3: Xét phần tử thứ ba (tại vị trí 3)</a:t>
            </a:r>
          </a:p>
        </p:txBody>
      </p:sp>
      <p:sp>
        <p:nvSpPr>
          <p:cNvPr id="18" name="Rectangle 17"/>
          <p:cNvSpPr/>
          <p:nvPr/>
        </p:nvSpPr>
        <p:spPr>
          <a:xfrm>
            <a:off x="41910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30" name="Title 1"/>
          <p:cNvSpPr txBox="1">
            <a:spLocks/>
          </p:cNvSpPr>
          <p:nvPr/>
        </p:nvSpPr>
        <p:spPr>
          <a:xfrm>
            <a:off x="228600" y="457200"/>
            <a:ext cx="9601200" cy="792162"/>
          </a:xfrm>
          <a:prstGeom prst="rect">
            <a:avLst/>
          </a:prstGeom>
        </p:spPr>
        <p:txBody>
          <a:bodyPr vert="horz" lIns="91440" tIns="45720" rIns="91440" bIns="45720" rtlCol="0" anchor="ctr">
            <a:noAutofit/>
          </a:bodyPr>
          <a:lstStyle>
            <a:lvl1pPr defTabSz="914400" eaLnBrk="1" latinLnBrk="0" hangingPunct="1">
              <a:lnSpc>
                <a:spcPct val="90000"/>
              </a:lnSpc>
              <a:buNone/>
              <a:defRPr sz="4400" b="1">
                <a:solidFill>
                  <a:srgbClr val="0070C0"/>
                </a:solidFill>
                <a:latin typeface="Times New Roman" panose="02020603050405020304" pitchFamily="18" charset="0"/>
                <a:ea typeface="+mj-ea"/>
                <a:cs typeface="Times New Roman" panose="02020603050405020304" pitchFamily="18" charset="0"/>
              </a:defRPr>
            </a:lvl1pPr>
          </a:lstStyle>
          <a:p>
            <a:r>
              <a:rPr lang="en-US"/>
              <a:t>1. Đổi chổ trực tiếp – interchange sort</a:t>
            </a:r>
            <a:endParaRPr lang="en-US" dirty="0"/>
          </a:p>
        </p:txBody>
      </p:sp>
    </p:spTree>
    <p:extLst>
      <p:ext uri="{BB962C8B-B14F-4D97-AF65-F5344CB8AC3E}">
        <p14:creationId xmlns:p14="http://schemas.microsoft.com/office/powerpoint/2010/main" val="325942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26"/>
                                        </p:tgtEl>
                                        <p:attrNameLst>
                                          <p:attrName>ppt_x</p:attrName>
                                          <p:attrName>ppt_y</p:attrName>
                                        </p:attrNameLst>
                                      </p:cBhvr>
                                      <p:rCtr x="3594"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18"/>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4"/>
                                        </p:tgtEl>
                                        <p:attrNameLst>
                                          <p:attrName>ppt_x</p:attrName>
                                          <p:attrName>ppt_y</p:attrName>
                                        </p:attrNameLst>
                                      </p:cBhvr>
                                    </p:animMotion>
                                  </p:childTnLst>
                                </p:cTn>
                              </p:par>
                            </p:childTnLst>
                          </p:cTn>
                        </p:par>
                        <p:par>
                          <p:cTn id="13" fill="hold">
                            <p:stCondLst>
                              <p:cond delay="6000"/>
                            </p:stCondLst>
                            <p:childTnLst>
                              <p:par>
                                <p:cTn id="14" presetID="42" presetClass="path" presetSubtype="0" accel="50000" decel="50000" fill="hold" grpId="1" nodeType="afterEffect">
                                  <p:stCondLst>
                                    <p:cond delay="0"/>
                                  </p:stCondLst>
                                  <p:childTnLst>
                                    <p:animMotion origin="layout" path="M 5.55112E-17 -0.25 L 5.55112E-17 -2.59259E-6 " pathEditMode="relative" rAng="0" ptsTypes="AA">
                                      <p:cBhvr>
                                        <p:cTn id="15" dur="2000" fill="hold"/>
                                        <p:tgtEl>
                                          <p:spTgt spid="18"/>
                                        </p:tgtEl>
                                        <p:attrNameLst>
                                          <p:attrName>ppt_x</p:attrName>
                                          <p:attrName>ppt_y</p:attrName>
                                        </p:attrNameLst>
                                      </p:cBhvr>
                                      <p:rCtr x="0" y="12500"/>
                                    </p:animMotion>
                                  </p:childTnLst>
                                </p:cTn>
                              </p:par>
                            </p:childTnLst>
                          </p:cTn>
                        </p:par>
                        <p:par>
                          <p:cTn id="16" fill="hold">
                            <p:stCondLst>
                              <p:cond delay="8000"/>
                            </p:stCondLst>
                            <p:childTnLst>
                              <p:par>
                                <p:cTn id="17" presetID="42" presetClass="path" presetSubtype="0" accel="50000" decel="50000" fill="hold" grpId="1" nodeType="afterEffect">
                                  <p:stCondLst>
                                    <p:cond delay="0"/>
                                  </p:stCondLst>
                                  <p:childTnLst>
                                    <p:animMotion origin="layout" path="M 0 -0.25 L 0 2.22222E-6 " pathEditMode="relative" rAng="0" ptsTypes="AA">
                                      <p:cBhvr>
                                        <p:cTn id="18" dur="2000" fill="hold"/>
                                        <p:tgtEl>
                                          <p:spTgt spid="2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8" grpId="0" animBg="1"/>
      <p:bldP spid="18" grpId="1" animBg="1"/>
      <p:bldP spid="24" grpId="0" animBg="1"/>
      <p:bldP spid="24"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765360632"/>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26</a:t>
            </a:fld>
            <a:endParaRPr lang="en-US"/>
          </a:p>
        </p:txBody>
      </p:sp>
      <p:sp>
        <p:nvSpPr>
          <p:cNvPr id="19" name="Rectangle 18"/>
          <p:cNvSpPr/>
          <p:nvPr/>
        </p:nvSpPr>
        <p:spPr>
          <a:xfrm>
            <a:off x="51054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4191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0" name="Rectangle 19"/>
          <p:cNvSpPr/>
          <p:nvPr/>
        </p:nvSpPr>
        <p:spPr>
          <a:xfrm>
            <a:off x="69342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7848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extBox 27"/>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3: Xét phần tử thứ ba (tại vị trí 3)</a:t>
            </a:r>
          </a:p>
        </p:txBody>
      </p:sp>
      <p:sp>
        <p:nvSpPr>
          <p:cNvPr id="18" name="Rectangle 17"/>
          <p:cNvSpPr/>
          <p:nvPr/>
        </p:nvSpPr>
        <p:spPr>
          <a:xfrm>
            <a:off x="41910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1" name="Rectangle 20"/>
          <p:cNvSpPr/>
          <p:nvPr/>
        </p:nvSpPr>
        <p:spPr>
          <a:xfrm>
            <a:off x="8763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0" name="Title 1"/>
          <p:cNvSpPr>
            <a:spLocks noGrp="1"/>
          </p:cNvSpPr>
          <p:nvPr>
            <p:ph type="title"/>
          </p:nvPr>
        </p:nvSpPr>
        <p:spPr>
          <a:xfrm>
            <a:off x="228600" y="457200"/>
            <a:ext cx="9601200" cy="792162"/>
          </a:xfrm>
        </p:spPr>
        <p:txBody>
          <a:bodyPr>
            <a:noAutofit/>
          </a:bodyPr>
          <a:lstStyle/>
          <a:p>
            <a:pPr>
              <a:defRPr/>
            </a:pPr>
            <a:r>
              <a:rPr lang="en-US" b="1" smtClean="0">
                <a:solidFill>
                  <a:srgbClr val="0070C0"/>
                </a:solidFill>
                <a:latin typeface="Times New Roman" panose="02020603050405020304" pitchFamily="18" charset="0"/>
                <a:cs typeface="Times New Roman" panose="02020603050405020304" pitchFamily="18" charset="0"/>
              </a:rPr>
              <a:t>1. Đổi </a:t>
            </a:r>
            <a:r>
              <a:rPr lang="en-US" b="1" dirty="0" err="1" smtClean="0">
                <a:solidFill>
                  <a:srgbClr val="0070C0"/>
                </a:solidFill>
                <a:latin typeface="Times New Roman" panose="02020603050405020304" pitchFamily="18" charset="0"/>
                <a:cs typeface="Times New Roman" panose="02020603050405020304" pitchFamily="18" charset="0"/>
              </a:rPr>
              <a:t>chổ</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interchange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056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18"/>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1"/>
                                        </p:tgtEl>
                                        <p:attrNameLst>
                                          <p:attrName>ppt_x</p:attrName>
                                          <p:attrName>ppt_y</p:attrName>
                                        </p:attrNameLst>
                                      </p:cBhvr>
                                    </p:animMotion>
                                  </p:childTnLst>
                                </p:cTn>
                              </p:par>
                            </p:childTnLst>
                          </p:cTn>
                        </p:par>
                        <p:par>
                          <p:cTn id="13" fill="hold">
                            <p:stCondLst>
                              <p:cond delay="6000"/>
                            </p:stCondLst>
                            <p:childTnLst>
                              <p:par>
                                <p:cTn id="14" presetID="50" presetClass="path" presetSubtype="0" accel="50000" decel="50000" fill="hold" grpId="1" nodeType="afterEffect">
                                  <p:stCondLst>
                                    <p:cond delay="0"/>
                                  </p:stCondLst>
                                  <p:childTnLst>
                                    <p:animMotion origin="layout" path="M 5E-6 -0.25 L 0.18894 -0.25 C 0.2737 -0.25 0.37813 -0.18102 0.37813 -0.125 L 0.37813 -2.59259E-6 " pathEditMode="relative" rAng="0" ptsTypes="AAAA">
                                      <p:cBhvr>
                                        <p:cTn id="15" dur="2000" fill="hold"/>
                                        <p:tgtEl>
                                          <p:spTgt spid="18"/>
                                        </p:tgtEl>
                                        <p:attrNameLst>
                                          <p:attrName>ppt_x</p:attrName>
                                          <p:attrName>ppt_y</p:attrName>
                                        </p:attrNameLst>
                                      </p:cBhvr>
                                      <p:rCtr x="18906" y="12500"/>
                                    </p:animMotion>
                                  </p:childTnLst>
                                </p:cTn>
                              </p:par>
                            </p:childTnLst>
                          </p:cTn>
                        </p:par>
                        <p:par>
                          <p:cTn id="16" fill="hold">
                            <p:stCondLst>
                              <p:cond delay="8000"/>
                            </p:stCondLst>
                            <p:childTnLst>
                              <p:par>
                                <p:cTn id="17" presetID="50" presetClass="path" presetSubtype="0" accel="50000" decel="50000" fill="hold" grpId="1" nodeType="afterEffect">
                                  <p:stCondLst>
                                    <p:cond delay="0"/>
                                  </p:stCondLst>
                                  <p:childTnLst>
                                    <p:animMotion origin="layout" path="M 5E-6 -0.25 L -0.1892 -0.25 C -0.27396 -0.25 -0.37813 -0.18102 -0.37813 -0.125 L -0.37813 -2.96296E-6 " pathEditMode="relative" rAng="0" ptsTypes="AAAA">
                                      <p:cBhvr>
                                        <p:cTn id="18" dur="2000" fill="hold"/>
                                        <p:tgtEl>
                                          <p:spTgt spid="21"/>
                                        </p:tgtEl>
                                        <p:attrNameLst>
                                          <p:attrName>ppt_x</p:attrName>
                                          <p:attrName>ppt_y</p:attrName>
                                        </p:attrNameLst>
                                      </p:cBhvr>
                                      <p:rCtr x="-18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8" grpId="0" animBg="1"/>
      <p:bldP spid="18" grpId="1" animBg="1"/>
      <p:bldP spid="21" grpId="0" animBg="1"/>
      <p:bldP spid="21"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630317763"/>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19" name="Rectangle 18"/>
          <p:cNvSpPr/>
          <p:nvPr/>
        </p:nvSpPr>
        <p:spPr>
          <a:xfrm>
            <a:off x="51054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4191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87630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9342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8686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extBox 27"/>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3: Xét phần tử thứ ba (tại vị trí 3)</a:t>
            </a:r>
          </a:p>
        </p:txBody>
      </p:sp>
      <p:sp>
        <p:nvSpPr>
          <p:cNvPr id="30" name="Cloud 29"/>
          <p:cNvSpPr/>
          <p:nvPr/>
        </p:nvSpPr>
        <p:spPr>
          <a:xfrm>
            <a:off x="9105900" y="1459200"/>
            <a:ext cx="2895600" cy="2120324"/>
          </a:xfrm>
          <a:prstGeom prst="cloud">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Kết thúc bước 3</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3" name="Title 1"/>
          <p:cNvSpPr>
            <a:spLocks noGrp="1"/>
          </p:cNvSpPr>
          <p:nvPr>
            <p:ph type="title"/>
          </p:nvPr>
        </p:nvSpPr>
        <p:spPr>
          <a:xfrm>
            <a:off x="228600" y="457200"/>
            <a:ext cx="9601200" cy="792162"/>
          </a:xfrm>
        </p:spPr>
        <p:txBody>
          <a:bodyPr vert="horz" lIns="91440" tIns="45720" rIns="91440" bIns="45720" rtlCol="0" anchor="ctr">
            <a:noAutofit/>
          </a:bodyPr>
          <a:lstStyle/>
          <a:p>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124694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8438 1.11111E-6 " pathEditMode="relative" rAng="0" ptsTypes="AA">
                                      <p:cBhvr>
                                        <p:cTn id="6" dur="2000" fill="hold"/>
                                        <p:tgtEl>
                                          <p:spTgt spid="26"/>
                                        </p:tgtEl>
                                        <p:attrNameLst>
                                          <p:attrName>ppt_x</p:attrName>
                                          <p:attrName>ppt_y</p:attrName>
                                        </p:attrNameLst>
                                      </p:cBhvr>
                                      <p:rCtr x="4219"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30"/>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0" grpId="0" animBg="1"/>
      <p:bldP spid="3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714333071"/>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28</a:t>
            </a:fld>
            <a:endParaRPr lang="en-US"/>
          </a:p>
        </p:txBody>
      </p:sp>
      <p:sp>
        <p:nvSpPr>
          <p:cNvPr id="2" name="Up Arrow Callout 1"/>
          <p:cNvSpPr/>
          <p:nvPr/>
        </p:nvSpPr>
        <p:spPr>
          <a:xfrm>
            <a:off x="4191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87630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9342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6019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extBox 27"/>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4: Xét phần tử thứ tư (tại vị trí 4)</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19" name="Rectangle 18"/>
          <p:cNvSpPr/>
          <p:nvPr/>
        </p:nvSpPr>
        <p:spPr>
          <a:xfrm>
            <a:off x="51054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30" name="Title 1"/>
          <p:cNvSpPr>
            <a:spLocks noGrp="1"/>
          </p:cNvSpPr>
          <p:nvPr>
            <p:ph type="title"/>
          </p:nvPr>
        </p:nvSpPr>
        <p:spPr>
          <a:xfrm>
            <a:off x="228600" y="457200"/>
            <a:ext cx="9601200" cy="792162"/>
          </a:xfrm>
        </p:spPr>
        <p:txBody>
          <a:bodyPr>
            <a:noAutofit/>
          </a:bodyPr>
          <a:lstStyle/>
          <a:p>
            <a:pPr>
              <a:defRPr/>
            </a:pPr>
            <a:r>
              <a:rPr lang="en-US" b="1" smtClean="0">
                <a:solidFill>
                  <a:srgbClr val="0070C0"/>
                </a:solidFill>
                <a:latin typeface="Times New Roman" panose="02020603050405020304" pitchFamily="18" charset="0"/>
                <a:cs typeface="Times New Roman" panose="02020603050405020304" pitchFamily="18" charset="0"/>
              </a:rPr>
              <a:t>1. Đổi </a:t>
            </a:r>
            <a:r>
              <a:rPr lang="en-US" b="1" dirty="0" err="1" smtClean="0">
                <a:solidFill>
                  <a:srgbClr val="0070C0"/>
                </a:solidFill>
                <a:latin typeface="Times New Roman" panose="02020603050405020304" pitchFamily="18" charset="0"/>
                <a:cs typeface="Times New Roman" panose="02020603050405020304" pitchFamily="18" charset="0"/>
              </a:rPr>
              <a:t>chổ</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interchange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438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2"/>
                                        </p:tgtEl>
                                        <p:attrNameLst>
                                          <p:attrName>ppt_x</p:attrName>
                                          <p:attrName>ppt_y</p:attrName>
                                        </p:attrNameLst>
                                      </p:cBhvr>
                                      <p:rCtr x="3594"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par>
                          <p:cTn id="10" fill="hold">
                            <p:stCondLst>
                              <p:cond delay="2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19"/>
                                        </p:tgtEl>
                                        <p:attrNameLst>
                                          <p:attrName>ppt_x</p:attrName>
                                          <p:attrName>ppt_y</p:attrName>
                                        </p:attrNameLst>
                                      </p:cBhvr>
                                    </p:animMotion>
                                  </p:childTnLst>
                                </p:cTn>
                              </p:par>
                            </p:childTnLst>
                          </p:cTn>
                        </p:par>
                        <p:par>
                          <p:cTn id="13" fill="hold">
                            <p:stCondLst>
                              <p:cond delay="4000"/>
                            </p:stCondLst>
                            <p:childTnLst>
                              <p:par>
                                <p:cTn id="14" presetID="64" presetClass="path" presetSubtype="0" accel="50000" decel="50000" fill="hold" grpId="0" nodeType="afterEffect">
                                  <p:stCondLst>
                                    <p:cond delay="0"/>
                                  </p:stCondLst>
                                  <p:childTnLst>
                                    <p:animMotion origin="layout" path="M 0 0 L 0 -0.25 E" pathEditMode="relative" ptsTypes="">
                                      <p:cBhvr>
                                        <p:cTn id="15" dur="2000" fill="hold"/>
                                        <p:tgtEl>
                                          <p:spTgt spid="22"/>
                                        </p:tgtEl>
                                        <p:attrNameLst>
                                          <p:attrName>ppt_x</p:attrName>
                                          <p:attrName>ppt_y</p:attrName>
                                        </p:attrNameLst>
                                      </p:cBhvr>
                                    </p:animMotion>
                                  </p:childTnLst>
                                </p:cTn>
                              </p:par>
                            </p:childTnLst>
                          </p:cTn>
                        </p:par>
                        <p:par>
                          <p:cTn id="16" fill="hold">
                            <p:stCondLst>
                              <p:cond delay="6000"/>
                            </p:stCondLst>
                            <p:childTnLst>
                              <p:par>
                                <p:cTn id="17" presetID="50" presetClass="path" presetSubtype="0" accel="50000" decel="50000" fill="hold" grpId="1" nodeType="afterEffect">
                                  <p:stCondLst>
                                    <p:cond delay="0"/>
                                  </p:stCondLst>
                                  <p:childTnLst>
                                    <p:animMotion origin="layout" path="M 5E-6 -0.25 L 0.03581 -0.25 C 0.05196 -0.25 0.07188 -0.18102 0.07188 -0.125 L 0.07188 -2.22222E-6 " pathEditMode="relative" rAng="0" ptsTypes="AAAA">
                                      <p:cBhvr>
                                        <p:cTn id="18" dur="2000" fill="hold"/>
                                        <p:tgtEl>
                                          <p:spTgt spid="19"/>
                                        </p:tgtEl>
                                        <p:attrNameLst>
                                          <p:attrName>ppt_x</p:attrName>
                                          <p:attrName>ppt_y</p:attrName>
                                        </p:attrNameLst>
                                      </p:cBhvr>
                                      <p:rCtr x="3594" y="12500"/>
                                    </p:animMotion>
                                  </p:childTnLst>
                                </p:cTn>
                              </p:par>
                            </p:childTnLst>
                          </p:cTn>
                        </p:par>
                        <p:par>
                          <p:cTn id="19" fill="hold">
                            <p:stCondLst>
                              <p:cond delay="8000"/>
                            </p:stCondLst>
                            <p:childTnLst>
                              <p:par>
                                <p:cTn id="20" presetID="50" presetClass="path" presetSubtype="0" accel="50000" decel="50000" fill="hold" grpId="1" nodeType="afterEffect">
                                  <p:stCondLst>
                                    <p:cond delay="0"/>
                                  </p:stCondLst>
                                  <p:childTnLst>
                                    <p:animMotion origin="layout" path="M 5E-6 -0.25 L -0.03906 -0.25 C -0.05664 -0.25 -0.07812 -0.18101 -0.07812 -0.125 L -0.07812 -4.81481E-6 " pathEditMode="relative" rAng="0" ptsTypes="AAAA">
                                      <p:cBhvr>
                                        <p:cTn id="21" dur="2000" fill="hold"/>
                                        <p:tgtEl>
                                          <p:spTgt spid="22"/>
                                        </p:tgtEl>
                                        <p:attrNameLst>
                                          <p:attrName>ppt_x</p:attrName>
                                          <p:attrName>ppt_y</p:attrName>
                                        </p:attrNameLst>
                                      </p:cBhvr>
                                      <p:rCtr x="-3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6" grpId="0" animBg="1"/>
      <p:bldP spid="19" grpId="0" animBg="1"/>
      <p:bldP spid="19" grpId="1" animBg="1"/>
      <p:bldP spid="22" grpId="0" animBg="1"/>
      <p:bldP spid="22"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2581880"/>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29</a:t>
            </a:fld>
            <a:endParaRPr lang="en-US"/>
          </a:p>
        </p:txBody>
      </p:sp>
      <p:sp>
        <p:nvSpPr>
          <p:cNvPr id="19" name="Rectangle 18"/>
          <p:cNvSpPr/>
          <p:nvPr/>
        </p:nvSpPr>
        <p:spPr>
          <a:xfrm>
            <a:off x="60198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5105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87630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6019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extBox 27"/>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4: Xét phần tử thứ tư (tại vị trí 4)</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0" name="Rectangle 19"/>
          <p:cNvSpPr/>
          <p:nvPr/>
        </p:nvSpPr>
        <p:spPr>
          <a:xfrm>
            <a:off x="69342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51054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30" name="Title 1"/>
          <p:cNvSpPr>
            <a:spLocks noGrp="1"/>
          </p:cNvSpPr>
          <p:nvPr>
            <p:ph type="title"/>
          </p:nvPr>
        </p:nvSpPr>
        <p:spPr>
          <a:xfrm>
            <a:off x="228600" y="457200"/>
            <a:ext cx="9601200" cy="792162"/>
          </a:xfrm>
        </p:spPr>
        <p:txBody>
          <a:bodyPr vert="horz" lIns="91440" tIns="45720" rIns="91440" bIns="45720" rtlCol="0" anchor="ctr">
            <a:noAutofit/>
          </a:bodyPr>
          <a:lstStyle/>
          <a:p>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1783918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1"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2"/>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0"/>
                                        </p:tgtEl>
                                        <p:attrNameLst>
                                          <p:attrName>ppt_x</p:attrName>
                                          <p:attrName>ppt_y</p:attrName>
                                        </p:attrNameLst>
                                      </p:cBhvr>
                                    </p:animMotion>
                                  </p:childTnLst>
                                </p:cTn>
                              </p:par>
                            </p:childTnLst>
                          </p:cTn>
                        </p:par>
                        <p:par>
                          <p:cTn id="13" fill="hold">
                            <p:stCondLst>
                              <p:cond delay="6000"/>
                            </p:stCondLst>
                            <p:childTnLst>
                              <p:par>
                                <p:cTn id="14" presetID="50" presetClass="path" presetSubtype="0" accel="50000" decel="50000" fill="hold" grpId="1" nodeType="afterEffect">
                                  <p:stCondLst>
                                    <p:cond delay="0"/>
                                  </p:stCondLst>
                                  <p:childTnLst>
                                    <p:animMotion origin="layout" path="M 5E-6 -0.25 L 0.0733 -0.25 C 0.10626 -0.25 0.14688 -0.18101 0.14688 -0.125 L 0.14688 -4.81481E-6 " pathEditMode="relative" rAng="0" ptsTypes="AAAA">
                                      <p:cBhvr>
                                        <p:cTn id="15" dur="2000" fill="hold"/>
                                        <p:tgtEl>
                                          <p:spTgt spid="22"/>
                                        </p:tgtEl>
                                        <p:attrNameLst>
                                          <p:attrName>ppt_x</p:attrName>
                                          <p:attrName>ppt_y</p:attrName>
                                        </p:attrNameLst>
                                      </p:cBhvr>
                                      <p:rCtr x="7344" y="12500"/>
                                    </p:animMotion>
                                  </p:childTnLst>
                                </p:cTn>
                              </p:par>
                            </p:childTnLst>
                          </p:cTn>
                        </p:par>
                        <p:par>
                          <p:cTn id="16" fill="hold">
                            <p:stCondLst>
                              <p:cond delay="8000"/>
                            </p:stCondLst>
                            <p:childTnLst>
                              <p:par>
                                <p:cTn id="17" presetID="50" presetClass="path" presetSubtype="0" accel="50000" decel="50000" fill="hold" grpId="1" nodeType="afterEffect">
                                  <p:stCondLst>
                                    <p:cond delay="0"/>
                                  </p:stCondLst>
                                  <p:childTnLst>
                                    <p:animMotion origin="layout" path="M 5E-6 -0.25 L -0.0767 -0.25 C -0.11107 -0.25 -0.15313 -0.18102 -0.15313 -0.125 L -0.15313 -3.7037E-7 " pathEditMode="relative" rAng="0" ptsTypes="AAAA">
                                      <p:cBhvr>
                                        <p:cTn id="18" dur="2000" fill="hold"/>
                                        <p:tgtEl>
                                          <p:spTgt spid="20"/>
                                        </p:tgtEl>
                                        <p:attrNameLst>
                                          <p:attrName>ppt_x</p:attrName>
                                          <p:attrName>ppt_y</p:attrName>
                                        </p:attrNameLst>
                                      </p:cBhvr>
                                      <p:rCtr x="-765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1" animBg="1"/>
      <p:bldP spid="20" grpId="0" animBg="1"/>
      <p:bldP spid="20" grpId="1" animBg="1"/>
      <p:bldP spid="22" grpId="0" animBg="1"/>
      <p:bldP spid="22"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605156886"/>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30</a:t>
            </a:fld>
            <a:endParaRPr lang="en-US"/>
          </a:p>
        </p:txBody>
      </p:sp>
      <p:sp>
        <p:nvSpPr>
          <p:cNvPr id="19" name="Rectangle 18"/>
          <p:cNvSpPr/>
          <p:nvPr/>
        </p:nvSpPr>
        <p:spPr>
          <a:xfrm>
            <a:off x="60198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5105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87630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9342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69342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extBox 27"/>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4: Xét phần tử thứ tư (tại vị trí 4)</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0" name="Rectangle 19"/>
          <p:cNvSpPr/>
          <p:nvPr/>
        </p:nvSpPr>
        <p:spPr>
          <a:xfrm>
            <a:off x="51054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30" name="Title 1"/>
          <p:cNvSpPr>
            <a:spLocks noGrp="1"/>
          </p:cNvSpPr>
          <p:nvPr>
            <p:ph type="title"/>
          </p:nvPr>
        </p:nvSpPr>
        <p:spPr>
          <a:xfrm>
            <a:off x="228600" y="457200"/>
            <a:ext cx="9601200" cy="792162"/>
          </a:xfrm>
        </p:spPr>
        <p:txBody>
          <a:bodyPr>
            <a:noAutofit/>
          </a:bodyPr>
          <a:lstStyle/>
          <a:p>
            <a:pPr>
              <a:defRPr/>
            </a:pPr>
            <a:r>
              <a:rPr lang="en-US" b="1" smtClean="0">
                <a:solidFill>
                  <a:srgbClr val="0070C0"/>
                </a:solidFill>
                <a:latin typeface="Times New Roman" panose="02020603050405020304" pitchFamily="18" charset="0"/>
                <a:cs typeface="Times New Roman" panose="02020603050405020304" pitchFamily="18" charset="0"/>
              </a:rPr>
              <a:t>1. Đổi </a:t>
            </a:r>
            <a:r>
              <a:rPr lang="en-US" b="1" dirty="0" err="1" smtClean="0">
                <a:solidFill>
                  <a:srgbClr val="0070C0"/>
                </a:solidFill>
                <a:latin typeface="Times New Roman" panose="02020603050405020304" pitchFamily="18" charset="0"/>
                <a:cs typeface="Times New Roman" panose="02020603050405020304" pitchFamily="18" charset="0"/>
              </a:rPr>
              <a:t>chổ</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interchange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3937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0"/>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4"/>
                                        </p:tgtEl>
                                        <p:attrNameLst>
                                          <p:attrName>ppt_x</p:attrName>
                                          <p:attrName>ppt_y</p:attrName>
                                        </p:attrNameLst>
                                      </p:cBhvr>
                                    </p:animMotion>
                                  </p:childTnLst>
                                </p:cTn>
                              </p:par>
                            </p:childTnLst>
                          </p:cTn>
                        </p:par>
                        <p:par>
                          <p:cTn id="13" fill="hold">
                            <p:stCondLst>
                              <p:cond delay="6000"/>
                            </p:stCondLst>
                            <p:childTnLst>
                              <p:par>
                                <p:cTn id="14" presetID="42" presetClass="path" presetSubtype="0" accel="50000" decel="50000" fill="hold" grpId="1" nodeType="afterEffect">
                                  <p:stCondLst>
                                    <p:cond delay="0"/>
                                  </p:stCondLst>
                                  <p:childTnLst>
                                    <p:animMotion origin="layout" path="M 5.55112E-17 -0.25 L 5.55112E-17 -3.7037E-7 " pathEditMode="relative" rAng="0" ptsTypes="AA">
                                      <p:cBhvr>
                                        <p:cTn id="15" dur="2000" fill="hold"/>
                                        <p:tgtEl>
                                          <p:spTgt spid="20"/>
                                        </p:tgtEl>
                                        <p:attrNameLst>
                                          <p:attrName>ppt_x</p:attrName>
                                          <p:attrName>ppt_y</p:attrName>
                                        </p:attrNameLst>
                                      </p:cBhvr>
                                      <p:rCtr x="0" y="12500"/>
                                    </p:animMotion>
                                  </p:childTnLst>
                                </p:cTn>
                              </p:par>
                            </p:childTnLst>
                          </p:cTn>
                        </p:par>
                        <p:par>
                          <p:cTn id="16" fill="hold">
                            <p:stCondLst>
                              <p:cond delay="8000"/>
                            </p:stCondLst>
                            <p:childTnLst>
                              <p:par>
                                <p:cTn id="17" presetID="42" presetClass="path" presetSubtype="0" accel="50000" decel="50000" fill="hold" grpId="1" nodeType="afterEffect">
                                  <p:stCondLst>
                                    <p:cond delay="0"/>
                                  </p:stCondLst>
                                  <p:childTnLst>
                                    <p:animMotion origin="layout" path="M 0 -0.25 L 0 2.22222E-6 " pathEditMode="relative" rAng="0" ptsTypes="AA">
                                      <p:cBhvr>
                                        <p:cTn id="18" dur="2000" fill="hold"/>
                                        <p:tgtEl>
                                          <p:spTgt spid="2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0" grpId="0" animBg="1"/>
      <p:bldP spid="20" grpId="1" animBg="1"/>
      <p:bldP spid="24" grpId="0" animBg="1"/>
      <p:bldP spid="24"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754282631"/>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31</a:t>
            </a:fld>
            <a:endParaRPr lang="en-US"/>
          </a:p>
        </p:txBody>
      </p:sp>
      <p:sp>
        <p:nvSpPr>
          <p:cNvPr id="19" name="Rectangle 18"/>
          <p:cNvSpPr/>
          <p:nvPr/>
        </p:nvSpPr>
        <p:spPr>
          <a:xfrm>
            <a:off x="60198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5105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9342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7848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extBox 27"/>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4: Xét phần tử thứ tư (tại vị trí 4)</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18" name="Rectangle 17"/>
          <p:cNvSpPr/>
          <p:nvPr/>
        </p:nvSpPr>
        <p:spPr>
          <a:xfrm>
            <a:off x="87630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51054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30" name="Title 1"/>
          <p:cNvSpPr>
            <a:spLocks noGrp="1"/>
          </p:cNvSpPr>
          <p:nvPr>
            <p:ph type="title"/>
          </p:nvPr>
        </p:nvSpPr>
        <p:spPr>
          <a:xfrm>
            <a:off x="228600" y="457200"/>
            <a:ext cx="9601200" cy="792162"/>
          </a:xfrm>
        </p:spPr>
        <p:txBody>
          <a:bodyPr vert="horz" lIns="91440" tIns="45720" rIns="91440" bIns="45720" rtlCol="0" anchor="ctr">
            <a:noAutofit/>
          </a:bodyPr>
          <a:lstStyle/>
          <a:p>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3053101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0"/>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18"/>
                                        </p:tgtEl>
                                        <p:attrNameLst>
                                          <p:attrName>ppt_x</p:attrName>
                                          <p:attrName>ppt_y</p:attrName>
                                        </p:attrNameLst>
                                      </p:cBhvr>
                                    </p:animMotion>
                                  </p:childTnLst>
                                </p:cTn>
                              </p:par>
                            </p:childTnLst>
                          </p:cTn>
                        </p:par>
                        <p:par>
                          <p:cTn id="13" fill="hold">
                            <p:stCondLst>
                              <p:cond delay="6000"/>
                            </p:stCondLst>
                            <p:childTnLst>
                              <p:par>
                                <p:cTn id="14" presetID="50" presetClass="path" presetSubtype="0" accel="50000" decel="50000" fill="hold" grpId="1" nodeType="afterEffect">
                                  <p:stCondLst>
                                    <p:cond delay="0"/>
                                  </p:stCondLst>
                                  <p:childTnLst>
                                    <p:animMotion origin="layout" path="M 5E-6 -0.25 L 0.14831 -0.25 C 0.21485 -0.25 0.29688 -0.18102 0.29688 -0.125 L 0.29688 -3.7037E-7 " pathEditMode="relative" rAng="0" ptsTypes="AAAA">
                                      <p:cBhvr>
                                        <p:cTn id="15" dur="2000" fill="hold"/>
                                        <p:tgtEl>
                                          <p:spTgt spid="20"/>
                                        </p:tgtEl>
                                        <p:attrNameLst>
                                          <p:attrName>ppt_x</p:attrName>
                                          <p:attrName>ppt_y</p:attrName>
                                        </p:attrNameLst>
                                      </p:cBhvr>
                                      <p:rCtr x="14844" y="12500"/>
                                    </p:animMotion>
                                  </p:childTnLst>
                                </p:cTn>
                              </p:par>
                            </p:childTnLst>
                          </p:cTn>
                        </p:par>
                        <p:par>
                          <p:cTn id="16" fill="hold">
                            <p:stCondLst>
                              <p:cond delay="8000"/>
                            </p:stCondLst>
                            <p:childTnLst>
                              <p:par>
                                <p:cTn id="17" presetID="50" presetClass="path" presetSubtype="0" accel="50000" decel="50000" fill="hold" grpId="1" nodeType="afterEffect">
                                  <p:stCondLst>
                                    <p:cond delay="0"/>
                                  </p:stCondLst>
                                  <p:childTnLst>
                                    <p:animMotion origin="layout" path="M 5E-6 -0.25 L -0.14857 -0.25 C -0.21511 -0.25 -0.29688 -0.18102 -0.29688 -0.125 L -0.29688 -2.59259E-6 " pathEditMode="relative" rAng="0" ptsTypes="AAAA">
                                      <p:cBhvr>
                                        <p:cTn id="18" dur="2000" fill="hold"/>
                                        <p:tgtEl>
                                          <p:spTgt spid="18"/>
                                        </p:tgtEl>
                                        <p:attrNameLst>
                                          <p:attrName>ppt_x</p:attrName>
                                          <p:attrName>ppt_y</p:attrName>
                                        </p:attrNameLst>
                                      </p:cBhvr>
                                      <p:rCtr x="-14844"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8" grpId="0" animBg="1"/>
      <p:bldP spid="18" grpId="1" animBg="1"/>
      <p:bldP spid="20" grpId="0" animBg="1"/>
      <p:bldP spid="20"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972375886"/>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32</a:t>
            </a:fld>
            <a:endParaRPr lang="en-US"/>
          </a:p>
        </p:txBody>
      </p:sp>
      <p:sp>
        <p:nvSpPr>
          <p:cNvPr id="19" name="Rectangle 18"/>
          <p:cNvSpPr/>
          <p:nvPr/>
        </p:nvSpPr>
        <p:spPr>
          <a:xfrm>
            <a:off x="60198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5105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87630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9342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8763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extBox 27"/>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4: Xét phần tử thứ tư (tại vị trí 4)</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0" name="Cloud 29"/>
          <p:cNvSpPr/>
          <p:nvPr/>
        </p:nvSpPr>
        <p:spPr>
          <a:xfrm>
            <a:off x="9144000" y="1405910"/>
            <a:ext cx="2895600" cy="2120324"/>
          </a:xfrm>
          <a:prstGeom prst="cloud">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Kết thúc bước 4</a:t>
            </a:r>
          </a:p>
        </p:txBody>
      </p:sp>
      <p:sp>
        <p:nvSpPr>
          <p:cNvPr id="33" name="Rectangle 32"/>
          <p:cNvSpPr/>
          <p:nvPr/>
        </p:nvSpPr>
        <p:spPr>
          <a:xfrm>
            <a:off x="5105400" y="3921126"/>
            <a:ext cx="838200" cy="8794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34" name="Title 1"/>
          <p:cNvSpPr>
            <a:spLocks noGrp="1"/>
          </p:cNvSpPr>
          <p:nvPr>
            <p:ph type="title"/>
          </p:nvPr>
        </p:nvSpPr>
        <p:spPr>
          <a:xfrm>
            <a:off x="228600" y="457200"/>
            <a:ext cx="9601200" cy="792162"/>
          </a:xfrm>
        </p:spPr>
        <p:txBody>
          <a:bodyPr vert="horz" lIns="91440" tIns="45720" rIns="91440" bIns="45720" rtlCol="0" anchor="ctr">
            <a:noAutofit/>
          </a:bodyPr>
          <a:lstStyle/>
          <a:p>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3671992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8438 1.11111E-6 " pathEditMode="relative" rAng="0" ptsTypes="AA">
                                      <p:cBhvr>
                                        <p:cTn id="6" dur="2000" fill="hold"/>
                                        <p:tgtEl>
                                          <p:spTgt spid="26"/>
                                        </p:tgtEl>
                                        <p:attrNameLst>
                                          <p:attrName>ppt_x</p:attrName>
                                          <p:attrName>ppt_y</p:attrName>
                                        </p:attrNameLst>
                                      </p:cBhvr>
                                      <p:rCtr x="4219"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30"/>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0" grpId="0" animBg="1"/>
      <p:bldP spid="3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518940624"/>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33</a:t>
            </a:fld>
            <a:endParaRPr lang="en-US"/>
          </a:p>
        </p:txBody>
      </p:sp>
      <p:sp>
        <p:nvSpPr>
          <p:cNvPr id="2" name="Up Arrow Callout 1"/>
          <p:cNvSpPr/>
          <p:nvPr/>
        </p:nvSpPr>
        <p:spPr>
          <a:xfrm>
            <a:off x="5105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87630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69342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8" name="TextBox 27"/>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5: Xét phần tử thứ năm (tại vị trí 5)</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3" name="Rectangle 32"/>
          <p:cNvSpPr/>
          <p:nvPr/>
        </p:nvSpPr>
        <p:spPr>
          <a:xfrm>
            <a:off x="5105400" y="3921126"/>
            <a:ext cx="838200" cy="8794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19" name="Rectangle 18"/>
          <p:cNvSpPr/>
          <p:nvPr/>
        </p:nvSpPr>
        <p:spPr>
          <a:xfrm>
            <a:off x="60198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2" name="Rectangle 21"/>
          <p:cNvSpPr/>
          <p:nvPr/>
        </p:nvSpPr>
        <p:spPr>
          <a:xfrm>
            <a:off x="69342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30" name="Title 1"/>
          <p:cNvSpPr>
            <a:spLocks noGrp="1"/>
          </p:cNvSpPr>
          <p:nvPr>
            <p:ph type="title"/>
          </p:nvPr>
        </p:nvSpPr>
        <p:spPr>
          <a:xfrm>
            <a:off x="228600" y="457200"/>
            <a:ext cx="9601200" cy="792162"/>
          </a:xfrm>
        </p:spPr>
        <p:txBody>
          <a:bodyPr vert="horz" lIns="91440" tIns="45720" rIns="91440" bIns="45720" rtlCol="0" anchor="ctr">
            <a:noAutofit/>
          </a:bodyPr>
          <a:lstStyle/>
          <a:p>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1464594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2"/>
                                        </p:tgtEl>
                                        <p:attrNameLst>
                                          <p:attrName>ppt_x</p:attrName>
                                          <p:attrName>ppt_y</p:attrName>
                                        </p:attrNameLst>
                                      </p:cBhvr>
                                      <p:rCtr x="3594"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par>
                          <p:cTn id="10" fill="hold">
                            <p:stCondLst>
                              <p:cond delay="2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19"/>
                                        </p:tgtEl>
                                        <p:attrNameLst>
                                          <p:attrName>ppt_x</p:attrName>
                                          <p:attrName>ppt_y</p:attrName>
                                        </p:attrNameLst>
                                      </p:cBhvr>
                                    </p:animMotion>
                                  </p:childTnLst>
                                </p:cTn>
                              </p:par>
                            </p:childTnLst>
                          </p:cTn>
                        </p:par>
                        <p:par>
                          <p:cTn id="13" fill="hold">
                            <p:stCondLst>
                              <p:cond delay="4000"/>
                            </p:stCondLst>
                            <p:childTnLst>
                              <p:par>
                                <p:cTn id="14" presetID="64" presetClass="path" presetSubtype="0" accel="50000" decel="50000" fill="hold" grpId="0" nodeType="afterEffect">
                                  <p:stCondLst>
                                    <p:cond delay="0"/>
                                  </p:stCondLst>
                                  <p:childTnLst>
                                    <p:animMotion origin="layout" path="M 0 0 L 0 -0.25 E" pathEditMode="relative" ptsTypes="">
                                      <p:cBhvr>
                                        <p:cTn id="15" dur="2000" fill="hold"/>
                                        <p:tgtEl>
                                          <p:spTgt spid="22"/>
                                        </p:tgtEl>
                                        <p:attrNameLst>
                                          <p:attrName>ppt_x</p:attrName>
                                          <p:attrName>ppt_y</p:attrName>
                                        </p:attrNameLst>
                                      </p:cBhvr>
                                    </p:animMotion>
                                  </p:childTnLst>
                                </p:cTn>
                              </p:par>
                            </p:childTnLst>
                          </p:cTn>
                        </p:par>
                        <p:par>
                          <p:cTn id="16" fill="hold">
                            <p:stCondLst>
                              <p:cond delay="6000"/>
                            </p:stCondLst>
                            <p:childTnLst>
                              <p:par>
                                <p:cTn id="17" presetID="50" presetClass="path" presetSubtype="0" accel="50000" decel="50000" fill="hold" grpId="1" nodeType="afterEffect">
                                  <p:stCondLst>
                                    <p:cond delay="0"/>
                                  </p:stCondLst>
                                  <p:childTnLst>
                                    <p:animMotion origin="layout" path="M 5E-6 -0.25 L 0.03581 -0.25 C 0.05196 -0.25 0.07188 -0.18102 0.07188 -0.125 L 0.07188 -2.22222E-6 " pathEditMode="relative" rAng="0" ptsTypes="AAAA">
                                      <p:cBhvr>
                                        <p:cTn id="18" dur="2000" fill="hold"/>
                                        <p:tgtEl>
                                          <p:spTgt spid="19"/>
                                        </p:tgtEl>
                                        <p:attrNameLst>
                                          <p:attrName>ppt_x</p:attrName>
                                          <p:attrName>ppt_y</p:attrName>
                                        </p:attrNameLst>
                                      </p:cBhvr>
                                      <p:rCtr x="3594" y="12500"/>
                                    </p:animMotion>
                                  </p:childTnLst>
                                </p:cTn>
                              </p:par>
                            </p:childTnLst>
                          </p:cTn>
                        </p:par>
                        <p:par>
                          <p:cTn id="19" fill="hold">
                            <p:stCondLst>
                              <p:cond delay="8000"/>
                            </p:stCondLst>
                            <p:childTnLst>
                              <p:par>
                                <p:cTn id="20" presetID="50" presetClass="path" presetSubtype="0" accel="50000" decel="50000" fill="hold" grpId="1" nodeType="afterEffect">
                                  <p:stCondLst>
                                    <p:cond delay="0"/>
                                  </p:stCondLst>
                                  <p:childTnLst>
                                    <p:animMotion origin="layout" path="M 5E-6 -0.25 L -0.0392 -0.25 C -0.05678 -0.25 -0.07813 -0.18101 -0.07813 -0.125 L -0.07813 -4.81481E-6 " pathEditMode="relative" rAng="0" ptsTypes="AAAA">
                                      <p:cBhvr>
                                        <p:cTn id="21" dur="2000" fill="hold"/>
                                        <p:tgtEl>
                                          <p:spTgt spid="22"/>
                                        </p:tgtEl>
                                        <p:attrNameLst>
                                          <p:attrName>ppt_x</p:attrName>
                                          <p:attrName>ppt_y</p:attrName>
                                        </p:attrNameLst>
                                      </p:cBhvr>
                                      <p:rCtr x="-3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6" grpId="0" animBg="1"/>
      <p:bldP spid="19" grpId="0" animBg="1"/>
      <p:bldP spid="19" grpId="1" animBg="1"/>
      <p:bldP spid="22" grpId="0" animBg="1"/>
      <p:bldP spid="22"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985329021"/>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19" name="Rectangle 18"/>
          <p:cNvSpPr/>
          <p:nvPr/>
        </p:nvSpPr>
        <p:spPr>
          <a:xfrm>
            <a:off x="6934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6019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69342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3" name="Rectangle 32"/>
          <p:cNvSpPr/>
          <p:nvPr/>
        </p:nvSpPr>
        <p:spPr>
          <a:xfrm>
            <a:off x="5105400" y="3921126"/>
            <a:ext cx="838200" cy="8794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30" name="TextBox 29"/>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5: Xét phần tử thứ năm (tại vị trí 5)</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0" name="Rectangle 19"/>
          <p:cNvSpPr/>
          <p:nvPr/>
        </p:nvSpPr>
        <p:spPr>
          <a:xfrm>
            <a:off x="87630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0198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8" name="Title 1"/>
          <p:cNvSpPr>
            <a:spLocks noGrp="1"/>
          </p:cNvSpPr>
          <p:nvPr>
            <p:ph type="title"/>
          </p:nvPr>
        </p:nvSpPr>
        <p:spPr>
          <a:xfrm>
            <a:off x="228600" y="457200"/>
            <a:ext cx="9601200" cy="792162"/>
          </a:xfrm>
        </p:spPr>
        <p:txBody>
          <a:bodyPr>
            <a:noAutofit/>
          </a:bodyPr>
          <a:lstStyle/>
          <a:p>
            <a:pPr>
              <a:defRPr/>
            </a:pPr>
            <a:r>
              <a:rPr lang="en-US" b="1" smtClean="0">
                <a:solidFill>
                  <a:srgbClr val="0070C0"/>
                </a:solidFill>
                <a:latin typeface="Times New Roman" panose="02020603050405020304" pitchFamily="18" charset="0"/>
                <a:cs typeface="Times New Roman" panose="02020603050405020304" pitchFamily="18" charset="0"/>
              </a:rPr>
              <a:t>1. Đổi </a:t>
            </a:r>
            <a:r>
              <a:rPr lang="en-US" b="1" dirty="0" err="1" smtClean="0">
                <a:solidFill>
                  <a:srgbClr val="0070C0"/>
                </a:solidFill>
                <a:latin typeface="Times New Roman" panose="02020603050405020304" pitchFamily="18" charset="0"/>
                <a:cs typeface="Times New Roman" panose="02020603050405020304" pitchFamily="18" charset="0"/>
              </a:rPr>
              <a:t>chổ</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interchange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378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26"/>
                                        </p:tgtEl>
                                        <p:attrNameLst>
                                          <p:attrName>ppt_x</p:attrName>
                                          <p:attrName>ppt_y</p:attrName>
                                        </p:attrNameLst>
                                      </p:cBhvr>
                                      <p:rCtr x="3594"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2"/>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4"/>
                                        </p:tgtEl>
                                        <p:attrNameLst>
                                          <p:attrName>ppt_x</p:attrName>
                                          <p:attrName>ppt_y</p:attrName>
                                        </p:attrNameLst>
                                      </p:cBhvr>
                                    </p:animMotion>
                                  </p:childTnLst>
                                </p:cTn>
                              </p:par>
                            </p:childTnLst>
                          </p:cTn>
                        </p:par>
                        <p:par>
                          <p:cTn id="13" fill="hold">
                            <p:stCondLst>
                              <p:cond delay="6000"/>
                            </p:stCondLst>
                            <p:childTnLst>
                              <p:par>
                                <p:cTn id="14" presetID="42" presetClass="path" presetSubtype="0" accel="50000" decel="50000" fill="hold" grpId="1" nodeType="afterEffect">
                                  <p:stCondLst>
                                    <p:cond delay="0"/>
                                  </p:stCondLst>
                                  <p:childTnLst>
                                    <p:animMotion origin="layout" path="M 0 -0.25 L 0 -4.81481E-6 " pathEditMode="relative" rAng="0" ptsTypes="AA">
                                      <p:cBhvr>
                                        <p:cTn id="15" dur="2000" fill="hold"/>
                                        <p:tgtEl>
                                          <p:spTgt spid="22"/>
                                        </p:tgtEl>
                                        <p:attrNameLst>
                                          <p:attrName>ppt_x</p:attrName>
                                          <p:attrName>ppt_y</p:attrName>
                                        </p:attrNameLst>
                                      </p:cBhvr>
                                      <p:rCtr x="0" y="12500"/>
                                    </p:animMotion>
                                  </p:childTnLst>
                                </p:cTn>
                              </p:par>
                            </p:childTnLst>
                          </p:cTn>
                        </p:par>
                        <p:par>
                          <p:cTn id="16" fill="hold">
                            <p:stCondLst>
                              <p:cond delay="8000"/>
                            </p:stCondLst>
                            <p:childTnLst>
                              <p:par>
                                <p:cTn id="17" presetID="42" presetClass="path" presetSubtype="0" accel="50000" decel="50000" fill="hold" grpId="1" nodeType="afterEffect">
                                  <p:stCondLst>
                                    <p:cond delay="0"/>
                                  </p:stCondLst>
                                  <p:childTnLst>
                                    <p:animMotion origin="layout" path="M 0 -0.25 L 0 2.22222E-6 " pathEditMode="relative" rAng="0" ptsTypes="AA">
                                      <p:cBhvr>
                                        <p:cTn id="18" dur="2000" fill="hold"/>
                                        <p:tgtEl>
                                          <p:spTgt spid="2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4" grpId="0" animBg="1"/>
      <p:bldP spid="24" grpId="1" animBg="1"/>
      <p:bldP spid="22" grpId="0" animBg="1"/>
      <p:bldP spid="22"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964585186"/>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35</a:t>
            </a:fld>
            <a:endParaRPr lang="en-US"/>
          </a:p>
        </p:txBody>
      </p:sp>
      <p:sp>
        <p:nvSpPr>
          <p:cNvPr id="19" name="Rectangle 18"/>
          <p:cNvSpPr/>
          <p:nvPr/>
        </p:nvSpPr>
        <p:spPr>
          <a:xfrm>
            <a:off x="6934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6019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7848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3" name="Rectangle 32"/>
          <p:cNvSpPr/>
          <p:nvPr/>
        </p:nvSpPr>
        <p:spPr>
          <a:xfrm>
            <a:off x="5105400" y="3921126"/>
            <a:ext cx="838200" cy="8794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30" name="TextBox 29"/>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5: Xét phần tử thứ năm (tại vị trí 5)</a:t>
            </a:r>
          </a:p>
        </p:txBody>
      </p:sp>
      <p:sp>
        <p:nvSpPr>
          <p:cNvPr id="20" name="Rectangle 19"/>
          <p:cNvSpPr/>
          <p:nvPr/>
        </p:nvSpPr>
        <p:spPr>
          <a:xfrm>
            <a:off x="87630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0198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8" name="Title 1"/>
          <p:cNvSpPr>
            <a:spLocks noGrp="1"/>
          </p:cNvSpPr>
          <p:nvPr>
            <p:ph type="title"/>
          </p:nvPr>
        </p:nvSpPr>
        <p:spPr>
          <a:xfrm>
            <a:off x="228600" y="457200"/>
            <a:ext cx="9601200" cy="792162"/>
          </a:xfrm>
        </p:spPr>
        <p:txBody>
          <a:bodyPr vert="horz" lIns="91440" tIns="45720" rIns="91440" bIns="45720" rtlCol="0" anchor="ctr">
            <a:noAutofit/>
          </a:bodyPr>
          <a:lstStyle/>
          <a:p>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3434250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22"/>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0"/>
                                        </p:tgtEl>
                                        <p:attrNameLst>
                                          <p:attrName>ppt_x</p:attrName>
                                          <p:attrName>ppt_y</p:attrName>
                                        </p:attrNameLst>
                                      </p:cBhvr>
                                    </p:animMotion>
                                  </p:childTnLst>
                                </p:cTn>
                              </p:par>
                            </p:childTnLst>
                          </p:cTn>
                        </p:par>
                        <p:par>
                          <p:cTn id="13" fill="hold">
                            <p:stCondLst>
                              <p:cond delay="6000"/>
                            </p:stCondLst>
                            <p:childTnLst>
                              <p:par>
                                <p:cTn id="14" presetID="50" presetClass="path" presetSubtype="0" accel="50000" decel="50000" fill="hold" grpId="1" nodeType="afterEffect">
                                  <p:stCondLst>
                                    <p:cond delay="0"/>
                                  </p:stCondLst>
                                  <p:childTnLst>
                                    <p:animMotion origin="layout" path="M 5E-6 -0.25 L 0.11394 -0.25 C 0.16511 -0.25 0.22813 -0.18101 0.22813 -0.125 L 0.22813 -4.81481E-6 " pathEditMode="relative" rAng="0" ptsTypes="AAAA">
                                      <p:cBhvr>
                                        <p:cTn id="15" dur="2000" fill="hold"/>
                                        <p:tgtEl>
                                          <p:spTgt spid="22"/>
                                        </p:tgtEl>
                                        <p:attrNameLst>
                                          <p:attrName>ppt_x</p:attrName>
                                          <p:attrName>ppt_y</p:attrName>
                                        </p:attrNameLst>
                                      </p:cBhvr>
                                      <p:rCtr x="11406" y="12500"/>
                                    </p:animMotion>
                                  </p:childTnLst>
                                </p:cTn>
                              </p:par>
                            </p:childTnLst>
                          </p:cTn>
                        </p:par>
                        <p:par>
                          <p:cTn id="16" fill="hold">
                            <p:stCondLst>
                              <p:cond delay="8000"/>
                            </p:stCondLst>
                            <p:childTnLst>
                              <p:par>
                                <p:cTn id="17" presetID="50" presetClass="path" presetSubtype="0" accel="50000" decel="50000" fill="hold" grpId="1" nodeType="afterEffect">
                                  <p:stCondLst>
                                    <p:cond delay="0"/>
                                  </p:stCondLst>
                                  <p:childTnLst>
                                    <p:animMotion origin="layout" path="M 5E-6 -0.25 L -0.1142 -0.25 C -0.16537 -0.25 -0.22813 -0.18102 -0.22813 -0.125 L -0.22813 -3.7037E-7 " pathEditMode="relative" rAng="0" ptsTypes="AAAA">
                                      <p:cBhvr>
                                        <p:cTn id="18" dur="2000" fill="hold"/>
                                        <p:tgtEl>
                                          <p:spTgt spid="20"/>
                                        </p:tgtEl>
                                        <p:attrNameLst>
                                          <p:attrName>ppt_x</p:attrName>
                                          <p:attrName>ppt_y</p:attrName>
                                        </p:attrNameLst>
                                      </p:cBhvr>
                                      <p:rCtr x="-114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0" grpId="0" animBg="1"/>
      <p:bldP spid="20" grpId="1" animBg="1"/>
      <p:bldP spid="22" grpId="0" animBg="1"/>
      <p:bldP spid="22"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155847848"/>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lumMod val="75000"/>
                      </a:schemeClr>
                    </a:solid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36</a:t>
            </a:fld>
            <a:endParaRPr lang="en-US"/>
          </a:p>
        </p:txBody>
      </p:sp>
      <p:sp>
        <p:nvSpPr>
          <p:cNvPr id="19" name="Rectangle 18"/>
          <p:cNvSpPr/>
          <p:nvPr/>
        </p:nvSpPr>
        <p:spPr>
          <a:xfrm>
            <a:off x="6934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6019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0198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87630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8763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3" name="Rectangle 32"/>
          <p:cNvSpPr/>
          <p:nvPr/>
        </p:nvSpPr>
        <p:spPr>
          <a:xfrm>
            <a:off x="5105400" y="3921126"/>
            <a:ext cx="838200" cy="8794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30" name="Cloud 29"/>
          <p:cNvSpPr/>
          <p:nvPr/>
        </p:nvSpPr>
        <p:spPr>
          <a:xfrm>
            <a:off x="9291637" y="1211264"/>
            <a:ext cx="2895600" cy="2120324"/>
          </a:xfrm>
          <a:prstGeom prst="cloud">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Kết thúc bước 5</a:t>
            </a:r>
          </a:p>
        </p:txBody>
      </p:sp>
      <p:sp>
        <p:nvSpPr>
          <p:cNvPr id="34" name="TextBox 33"/>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5: Xét phần tử thứ năm (tại vị trí 5)</a:t>
            </a:r>
          </a:p>
        </p:txBody>
      </p:sp>
      <p:sp>
        <p:nvSpPr>
          <p:cNvPr id="35" name="Rectangle 34"/>
          <p:cNvSpPr/>
          <p:nvPr/>
        </p:nvSpPr>
        <p:spPr>
          <a:xfrm>
            <a:off x="6019800" y="3616326"/>
            <a:ext cx="838200" cy="11842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8" name="Title 1"/>
          <p:cNvSpPr>
            <a:spLocks noGrp="1"/>
          </p:cNvSpPr>
          <p:nvPr>
            <p:ph type="title"/>
          </p:nvPr>
        </p:nvSpPr>
        <p:spPr>
          <a:xfrm>
            <a:off x="228600" y="457200"/>
            <a:ext cx="9601200" cy="792162"/>
          </a:xfrm>
        </p:spPr>
        <p:txBody>
          <a:bodyPr>
            <a:noAutofit/>
          </a:bodyPr>
          <a:lstStyle/>
          <a:p>
            <a:pPr>
              <a:defRPr/>
            </a:pPr>
            <a:r>
              <a:rPr lang="en-US" b="1" smtClean="0">
                <a:solidFill>
                  <a:srgbClr val="0070C0"/>
                </a:solidFill>
                <a:latin typeface="Times New Roman" panose="02020603050405020304" pitchFamily="18" charset="0"/>
                <a:cs typeface="Times New Roman" panose="02020603050405020304" pitchFamily="18" charset="0"/>
              </a:rPr>
              <a:t>1. Đổi </a:t>
            </a:r>
            <a:r>
              <a:rPr lang="en-US" b="1" dirty="0" err="1" smtClean="0">
                <a:solidFill>
                  <a:srgbClr val="0070C0"/>
                </a:solidFill>
                <a:latin typeface="Times New Roman" panose="02020603050405020304" pitchFamily="18" charset="0"/>
                <a:cs typeface="Times New Roman" panose="02020603050405020304" pitchFamily="18" charset="0"/>
              </a:rPr>
              <a:t>chổ</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interchange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8858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30"/>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0" grpId="0" animBg="1"/>
      <p:bldP spid="3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030381134"/>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37</a:t>
            </a:fld>
            <a:endParaRPr lang="en-US"/>
          </a:p>
        </p:txBody>
      </p:sp>
      <p:sp>
        <p:nvSpPr>
          <p:cNvPr id="2" name="Up Arrow Callout 1"/>
          <p:cNvSpPr/>
          <p:nvPr/>
        </p:nvSpPr>
        <p:spPr>
          <a:xfrm>
            <a:off x="6019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0198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87630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7848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3" name="Rectangle 32"/>
          <p:cNvSpPr/>
          <p:nvPr/>
        </p:nvSpPr>
        <p:spPr>
          <a:xfrm>
            <a:off x="5105400" y="3921126"/>
            <a:ext cx="838200" cy="8794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34" name="TextBox 33"/>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6: Xét phần tử thứ sáu (tại vị trí 6)</a:t>
            </a:r>
          </a:p>
        </p:txBody>
      </p:sp>
      <p:sp>
        <p:nvSpPr>
          <p:cNvPr id="35" name="Rectangle 34"/>
          <p:cNvSpPr/>
          <p:nvPr/>
        </p:nvSpPr>
        <p:spPr>
          <a:xfrm>
            <a:off x="6019800" y="3616326"/>
            <a:ext cx="838200" cy="11842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19" name="Rectangle 18"/>
          <p:cNvSpPr/>
          <p:nvPr/>
        </p:nvSpPr>
        <p:spPr>
          <a:xfrm>
            <a:off x="6934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8" name="Title 1"/>
          <p:cNvSpPr>
            <a:spLocks noGrp="1"/>
          </p:cNvSpPr>
          <p:nvPr>
            <p:ph type="title"/>
          </p:nvPr>
        </p:nvSpPr>
        <p:spPr>
          <a:xfrm>
            <a:off x="228600" y="457200"/>
            <a:ext cx="9601200" cy="792162"/>
          </a:xfrm>
        </p:spPr>
        <p:txBody>
          <a:bodyPr>
            <a:noAutofit/>
          </a:bodyPr>
          <a:lstStyle/>
          <a:p>
            <a:pPr>
              <a:defRPr/>
            </a:pPr>
            <a:r>
              <a:rPr lang="en-US" b="1" smtClean="0">
                <a:solidFill>
                  <a:srgbClr val="0070C0"/>
                </a:solidFill>
                <a:latin typeface="Times New Roman" panose="02020603050405020304" pitchFamily="18" charset="0"/>
                <a:cs typeface="Times New Roman" panose="02020603050405020304" pitchFamily="18" charset="0"/>
              </a:rPr>
              <a:t>1. Đổi </a:t>
            </a:r>
            <a:r>
              <a:rPr lang="en-US" b="1" dirty="0" err="1" smtClean="0">
                <a:solidFill>
                  <a:srgbClr val="0070C0"/>
                </a:solidFill>
                <a:latin typeface="Times New Roman" panose="02020603050405020304" pitchFamily="18" charset="0"/>
                <a:cs typeface="Times New Roman" panose="02020603050405020304" pitchFamily="18" charset="0"/>
              </a:rPr>
              <a:t>chổ</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interchange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8997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2"/>
                                        </p:tgtEl>
                                        <p:attrNameLst>
                                          <p:attrName>ppt_x</p:attrName>
                                          <p:attrName>ppt_y</p:attrName>
                                        </p:attrNameLst>
                                      </p:cBhvr>
                                      <p:rCtr x="3594"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par>
                          <p:cTn id="10" fill="hold">
                            <p:stCondLst>
                              <p:cond delay="2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19"/>
                                        </p:tgtEl>
                                        <p:attrNameLst>
                                          <p:attrName>ppt_x</p:attrName>
                                          <p:attrName>ppt_y</p:attrName>
                                        </p:attrNameLst>
                                      </p:cBhvr>
                                    </p:animMotion>
                                  </p:childTnLst>
                                </p:cTn>
                              </p:par>
                            </p:childTnLst>
                          </p:cTn>
                        </p:par>
                        <p:par>
                          <p:cTn id="13" fill="hold">
                            <p:stCondLst>
                              <p:cond delay="4000"/>
                            </p:stCondLst>
                            <p:childTnLst>
                              <p:par>
                                <p:cTn id="14" presetID="64" presetClass="path" presetSubtype="0" accel="50000" decel="50000" fill="hold" grpId="0" nodeType="afterEffect">
                                  <p:stCondLst>
                                    <p:cond delay="0"/>
                                  </p:stCondLst>
                                  <p:childTnLst>
                                    <p:animMotion origin="layout" path="M 0 0 L 0 -0.25 E" pathEditMode="relative" ptsTypes="">
                                      <p:cBhvr>
                                        <p:cTn id="15" dur="2000" fill="hold"/>
                                        <p:tgtEl>
                                          <p:spTgt spid="24"/>
                                        </p:tgtEl>
                                        <p:attrNameLst>
                                          <p:attrName>ppt_x</p:attrName>
                                          <p:attrName>ppt_y</p:attrName>
                                        </p:attrNameLst>
                                      </p:cBhvr>
                                    </p:animMotion>
                                  </p:childTnLst>
                                </p:cTn>
                              </p:par>
                            </p:childTnLst>
                          </p:cTn>
                        </p:par>
                        <p:par>
                          <p:cTn id="16" fill="hold">
                            <p:stCondLst>
                              <p:cond delay="6000"/>
                            </p:stCondLst>
                            <p:childTnLst>
                              <p:par>
                                <p:cTn id="17" presetID="42" presetClass="path" presetSubtype="0" accel="50000" decel="50000" fill="hold" grpId="1" nodeType="afterEffect">
                                  <p:stCondLst>
                                    <p:cond delay="0"/>
                                  </p:stCondLst>
                                  <p:childTnLst>
                                    <p:animMotion origin="layout" path="M 0 -0.25 L 0 -2.22222E-6 " pathEditMode="relative" rAng="0" ptsTypes="AA">
                                      <p:cBhvr>
                                        <p:cTn id="18" dur="2000" fill="hold"/>
                                        <p:tgtEl>
                                          <p:spTgt spid="19"/>
                                        </p:tgtEl>
                                        <p:attrNameLst>
                                          <p:attrName>ppt_x</p:attrName>
                                          <p:attrName>ppt_y</p:attrName>
                                        </p:attrNameLst>
                                      </p:cBhvr>
                                      <p:rCtr x="0" y="12500"/>
                                    </p:animMotion>
                                  </p:childTnLst>
                                </p:cTn>
                              </p:par>
                            </p:childTnLst>
                          </p:cTn>
                        </p:par>
                        <p:par>
                          <p:cTn id="19" fill="hold">
                            <p:stCondLst>
                              <p:cond delay="8000"/>
                            </p:stCondLst>
                            <p:childTnLst>
                              <p:par>
                                <p:cTn id="20" presetID="42" presetClass="path" presetSubtype="0" accel="50000" decel="50000" fill="hold" grpId="1" nodeType="afterEffect">
                                  <p:stCondLst>
                                    <p:cond delay="0"/>
                                  </p:stCondLst>
                                  <p:childTnLst>
                                    <p:animMotion origin="layout" path="M 0 -0.25 L 0 2.22222E-6 " pathEditMode="relative" rAng="0" ptsTypes="AA">
                                      <p:cBhvr>
                                        <p:cTn id="21" dur="2000" fill="hold"/>
                                        <p:tgtEl>
                                          <p:spTgt spid="2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6" grpId="0" animBg="1"/>
      <p:bldP spid="19" grpId="0" animBg="1"/>
      <p:bldP spid="19" grpId="1" animBg="1"/>
      <p:bldP spid="24" grpId="0" animBg="1"/>
      <p:bldP spid="24"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895422285"/>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38</a:t>
            </a:fld>
            <a:endParaRPr lang="en-US"/>
          </a:p>
        </p:txBody>
      </p:sp>
      <p:sp>
        <p:nvSpPr>
          <p:cNvPr id="2" name="Up Arrow Callout 1"/>
          <p:cNvSpPr/>
          <p:nvPr/>
        </p:nvSpPr>
        <p:spPr>
          <a:xfrm>
            <a:off x="69342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0198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7848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3" name="Rectangle 32"/>
          <p:cNvSpPr/>
          <p:nvPr/>
        </p:nvSpPr>
        <p:spPr>
          <a:xfrm>
            <a:off x="5105400" y="3921126"/>
            <a:ext cx="838200" cy="8794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34" name="TextBox 33"/>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6: Xét phần tử thứ sáu (tại vị trí 6)</a:t>
            </a:r>
          </a:p>
        </p:txBody>
      </p:sp>
      <p:sp>
        <p:nvSpPr>
          <p:cNvPr id="35" name="Rectangle 34"/>
          <p:cNvSpPr/>
          <p:nvPr/>
        </p:nvSpPr>
        <p:spPr>
          <a:xfrm>
            <a:off x="6019800" y="3616326"/>
            <a:ext cx="838200" cy="11842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19" name="Rectangle 18"/>
          <p:cNvSpPr/>
          <p:nvPr/>
        </p:nvSpPr>
        <p:spPr>
          <a:xfrm>
            <a:off x="6934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2" name="Rectangle 21"/>
          <p:cNvSpPr/>
          <p:nvPr/>
        </p:nvSpPr>
        <p:spPr>
          <a:xfrm>
            <a:off x="87630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8" name="Title 1"/>
          <p:cNvSpPr>
            <a:spLocks noGrp="1"/>
          </p:cNvSpPr>
          <p:nvPr>
            <p:ph type="title"/>
          </p:nvPr>
        </p:nvSpPr>
        <p:spPr>
          <a:xfrm>
            <a:off x="228600" y="457200"/>
            <a:ext cx="9601200" cy="792162"/>
          </a:xfrm>
        </p:spPr>
        <p:txBody>
          <a:bodyPr vert="horz" lIns="91440" tIns="45720" rIns="91440" bIns="45720" rtlCol="0" anchor="ctr">
            <a:noAutofit/>
          </a:bodyPr>
          <a:lstStyle/>
          <a:p>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4251616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1" nodeType="clickEffect">
                                  <p:stCondLst>
                                    <p:cond delay="0"/>
                                  </p:stCondLst>
                                  <p:childTnLst>
                                    <p:animMotion origin="layout" path="M 5E-6 1.11111E-6 L 0.07813 1.11111E-6 " pathEditMode="relative" rAng="0" ptsTypes="AA">
                                      <p:cBhvr>
                                        <p:cTn id="6" dur="2000" fill="hold"/>
                                        <p:tgtEl>
                                          <p:spTgt spid="26"/>
                                        </p:tgtEl>
                                        <p:attrNameLst>
                                          <p:attrName>ppt_x</p:attrName>
                                          <p:attrName>ppt_y</p:attrName>
                                        </p:attrNameLst>
                                      </p:cBhvr>
                                      <p:rCtr x="3906" y="0"/>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19"/>
                                        </p:tgtEl>
                                        <p:attrNameLst>
                                          <p:attrName>ppt_x</p:attrName>
                                          <p:attrName>ppt_y</p:attrName>
                                        </p:attrNameLst>
                                      </p:cBhvr>
                                    </p:animMotion>
                                  </p:childTnLst>
                                </p:cTn>
                              </p:par>
                            </p:childTnLst>
                          </p:cTn>
                        </p:par>
                        <p:par>
                          <p:cTn id="10" fill="hold">
                            <p:stCondLst>
                              <p:cond delay="4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2"/>
                                        </p:tgtEl>
                                        <p:attrNameLst>
                                          <p:attrName>ppt_x</p:attrName>
                                          <p:attrName>ppt_y</p:attrName>
                                        </p:attrNameLst>
                                      </p:cBhvr>
                                    </p:animMotion>
                                  </p:childTnLst>
                                </p:cTn>
                              </p:par>
                            </p:childTnLst>
                          </p:cTn>
                        </p:par>
                        <p:par>
                          <p:cTn id="13" fill="hold">
                            <p:stCondLst>
                              <p:cond delay="6000"/>
                            </p:stCondLst>
                            <p:childTnLst>
                              <p:par>
                                <p:cTn id="14" presetID="50" presetClass="path" presetSubtype="0" accel="50000" decel="50000" fill="hold" grpId="1" nodeType="afterEffect">
                                  <p:stCondLst>
                                    <p:cond delay="0"/>
                                  </p:stCondLst>
                                  <p:childTnLst>
                                    <p:animMotion origin="layout" path="M 5E-6 -0.25 L 0.07344 -0.25 C 0.10626 -0.25 0.14688 -0.18102 0.14688 -0.125 L 0.14688 -2.22222E-6 " pathEditMode="relative" rAng="0" ptsTypes="AAAA">
                                      <p:cBhvr>
                                        <p:cTn id="15" dur="2000" fill="hold"/>
                                        <p:tgtEl>
                                          <p:spTgt spid="19"/>
                                        </p:tgtEl>
                                        <p:attrNameLst>
                                          <p:attrName>ppt_x</p:attrName>
                                          <p:attrName>ppt_y</p:attrName>
                                        </p:attrNameLst>
                                      </p:cBhvr>
                                      <p:rCtr x="7344" y="12500"/>
                                    </p:animMotion>
                                  </p:childTnLst>
                                </p:cTn>
                              </p:par>
                            </p:childTnLst>
                          </p:cTn>
                        </p:par>
                        <p:par>
                          <p:cTn id="16" fill="hold">
                            <p:stCondLst>
                              <p:cond delay="8000"/>
                            </p:stCondLst>
                            <p:childTnLst>
                              <p:par>
                                <p:cTn id="17" presetID="50" presetClass="path" presetSubtype="0" accel="50000" decel="50000" fill="hold" grpId="1" nodeType="afterEffect">
                                  <p:stCondLst>
                                    <p:cond delay="0"/>
                                  </p:stCondLst>
                                  <p:childTnLst>
                                    <p:animMotion origin="layout" path="M 5E-6 -0.25 L -0.07343 -0.25 C -0.10652 -0.25 -0.14688 -0.18101 -0.14688 -0.125 L -0.14688 -4.81481E-6 " pathEditMode="relative" rAng="0" ptsTypes="AAAA">
                                      <p:cBhvr>
                                        <p:cTn id="18" dur="2000" fill="hold"/>
                                        <p:tgtEl>
                                          <p:spTgt spid="22"/>
                                        </p:tgtEl>
                                        <p:attrNameLst>
                                          <p:attrName>ppt_x</p:attrName>
                                          <p:attrName>ppt_y</p:attrName>
                                        </p:attrNameLst>
                                      </p:cBhvr>
                                      <p:rCtr x="-7344"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1" animBg="1"/>
      <p:bldP spid="19" grpId="0" animBg="1"/>
      <p:bldP spid="19" grpId="1" animBg="1"/>
      <p:bldP spid="22" grpId="0" animBg="1"/>
      <p:bldP spid="22"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359471633"/>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39</a:t>
            </a:fld>
            <a:endParaRPr lang="en-US"/>
          </a:p>
        </p:txBody>
      </p:sp>
      <p:sp>
        <p:nvSpPr>
          <p:cNvPr id="19" name="Rectangle 18"/>
          <p:cNvSpPr/>
          <p:nvPr/>
        </p:nvSpPr>
        <p:spPr>
          <a:xfrm>
            <a:off x="87630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69342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0198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9342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8686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3" name="Rectangle 32"/>
          <p:cNvSpPr/>
          <p:nvPr/>
        </p:nvSpPr>
        <p:spPr>
          <a:xfrm>
            <a:off x="5105400" y="3921126"/>
            <a:ext cx="838200" cy="8794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34" name="TextBox 33"/>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6: Xét phần tử thứ sáu (tại vị trí 6)</a:t>
            </a:r>
          </a:p>
        </p:txBody>
      </p:sp>
      <p:sp>
        <p:nvSpPr>
          <p:cNvPr id="35" name="Rectangle 34"/>
          <p:cNvSpPr/>
          <p:nvPr/>
        </p:nvSpPr>
        <p:spPr>
          <a:xfrm>
            <a:off x="6019800" y="3616326"/>
            <a:ext cx="838200" cy="11842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8" name="Cloud 27"/>
          <p:cNvSpPr/>
          <p:nvPr/>
        </p:nvSpPr>
        <p:spPr>
          <a:xfrm>
            <a:off x="9182100" y="924501"/>
            <a:ext cx="2895600" cy="2120324"/>
          </a:xfrm>
          <a:prstGeom prst="cloud">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Kết thúc bước 6</a:t>
            </a:r>
          </a:p>
        </p:txBody>
      </p:sp>
      <p:sp>
        <p:nvSpPr>
          <p:cNvPr id="30" name="Rectangle 29"/>
          <p:cNvSpPr/>
          <p:nvPr/>
        </p:nvSpPr>
        <p:spPr>
          <a:xfrm>
            <a:off x="6934200" y="3276601"/>
            <a:ext cx="838200" cy="15446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36" name="Title 1"/>
          <p:cNvSpPr>
            <a:spLocks noGrp="1"/>
          </p:cNvSpPr>
          <p:nvPr>
            <p:ph type="title"/>
          </p:nvPr>
        </p:nvSpPr>
        <p:spPr>
          <a:xfrm>
            <a:off x="228600" y="457200"/>
            <a:ext cx="9601200" cy="792162"/>
          </a:xfrm>
        </p:spPr>
        <p:txBody>
          <a:bodyPr vert="horz" lIns="91440" tIns="45720" rIns="91440" bIns="45720" rtlCol="0" anchor="ctr">
            <a:noAutofit/>
          </a:bodyPr>
          <a:lstStyle/>
          <a:p>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3999698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8438 1.11111E-6 " pathEditMode="relative" rAng="0" ptsTypes="AA">
                                      <p:cBhvr>
                                        <p:cTn id="6" dur="2000" fill="hold"/>
                                        <p:tgtEl>
                                          <p:spTgt spid="26"/>
                                        </p:tgtEl>
                                        <p:attrNameLst>
                                          <p:attrName>ppt_x</p:attrName>
                                          <p:attrName>ppt_y</p:attrName>
                                        </p:attrNameLst>
                                      </p:cBhvr>
                                      <p:rCtr x="4219"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28"/>
                                        </p:tgtEl>
                                        <p:attrNameLst>
                                          <p:attrName>style.visibility</p:attrName>
                                        </p:attrNameLst>
                                      </p:cBhvr>
                                      <p:to>
                                        <p:strVal val="visible"/>
                                      </p:to>
                                    </p:set>
                                  </p:childTnLst>
                                </p:cTn>
                              </p:par>
                            </p:childTnLst>
                          </p:cTn>
                        </p:par>
                        <p:par>
                          <p:cTn id="10" fill="hold">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3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986213671"/>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40</a:t>
            </a:fld>
            <a:endParaRPr lang="en-US"/>
          </a:p>
        </p:txBody>
      </p:sp>
      <p:sp>
        <p:nvSpPr>
          <p:cNvPr id="2" name="Up Arrow Callout 1"/>
          <p:cNvSpPr/>
          <p:nvPr/>
        </p:nvSpPr>
        <p:spPr>
          <a:xfrm>
            <a:off x="69342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0198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9342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8686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3" name="Rectangle 32"/>
          <p:cNvSpPr/>
          <p:nvPr/>
        </p:nvSpPr>
        <p:spPr>
          <a:xfrm>
            <a:off x="5105400" y="3921126"/>
            <a:ext cx="838200" cy="8794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34" name="TextBox 33"/>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7: Xét phần tử thứ bảy (tại vị trí 7)</a:t>
            </a:r>
          </a:p>
        </p:txBody>
      </p:sp>
      <p:sp>
        <p:nvSpPr>
          <p:cNvPr id="35" name="Rectangle 34"/>
          <p:cNvSpPr/>
          <p:nvPr/>
        </p:nvSpPr>
        <p:spPr>
          <a:xfrm>
            <a:off x="6019800" y="3616326"/>
            <a:ext cx="838200" cy="11842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30" name="Rectangle 29"/>
          <p:cNvSpPr/>
          <p:nvPr/>
        </p:nvSpPr>
        <p:spPr>
          <a:xfrm>
            <a:off x="6934200" y="3276601"/>
            <a:ext cx="838200" cy="15446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19" name="Rectangle 18"/>
          <p:cNvSpPr/>
          <p:nvPr/>
        </p:nvSpPr>
        <p:spPr>
          <a:xfrm>
            <a:off x="87630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8" name="Title 1"/>
          <p:cNvSpPr>
            <a:spLocks noGrp="1"/>
          </p:cNvSpPr>
          <p:nvPr>
            <p:ph type="title"/>
          </p:nvPr>
        </p:nvSpPr>
        <p:spPr>
          <a:xfrm>
            <a:off x="228600" y="457200"/>
            <a:ext cx="9601200" cy="792162"/>
          </a:xfrm>
        </p:spPr>
        <p:txBody>
          <a:bodyPr vert="horz" lIns="91440" tIns="45720" rIns="91440" bIns="45720" rtlCol="0" anchor="ctr">
            <a:noAutofit/>
          </a:bodyPr>
          <a:lstStyle/>
          <a:p>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1530609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2"/>
                                        </p:tgtEl>
                                        <p:attrNameLst>
                                          <p:attrName>ppt_x</p:attrName>
                                          <p:attrName>ppt_y</p:attrName>
                                        </p:attrNameLst>
                                      </p:cBhvr>
                                      <p:rCtr x="3594" y="0"/>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par>
                          <p:cTn id="10" fill="hold">
                            <p:stCondLst>
                              <p:cond delay="2000"/>
                            </p:stCondLst>
                            <p:childTnLst>
                              <p:par>
                                <p:cTn id="11" presetID="64" presetClass="path" presetSubtype="0" accel="50000" decel="50000" fill="hold" grpId="0" nodeType="afterEffect">
                                  <p:stCondLst>
                                    <p:cond delay="0"/>
                                  </p:stCondLst>
                                  <p:childTnLst>
                                    <p:animMotion origin="layout" path="M 0 0 L 0 -0.25 E" pathEditMode="relative" ptsTypes="">
                                      <p:cBhvr>
                                        <p:cTn id="12" dur="2000" fill="hold"/>
                                        <p:tgtEl>
                                          <p:spTgt spid="24"/>
                                        </p:tgtEl>
                                        <p:attrNameLst>
                                          <p:attrName>ppt_x</p:attrName>
                                          <p:attrName>ppt_y</p:attrName>
                                        </p:attrNameLst>
                                      </p:cBhvr>
                                    </p:animMotion>
                                  </p:childTnLst>
                                </p:cTn>
                              </p:par>
                            </p:childTnLst>
                          </p:cTn>
                        </p:par>
                        <p:par>
                          <p:cTn id="13" fill="hold">
                            <p:stCondLst>
                              <p:cond delay="4000"/>
                            </p:stCondLst>
                            <p:childTnLst>
                              <p:par>
                                <p:cTn id="14" presetID="64" presetClass="path" presetSubtype="0" accel="50000" decel="50000" fill="hold" grpId="0" nodeType="afterEffect">
                                  <p:stCondLst>
                                    <p:cond delay="0"/>
                                  </p:stCondLst>
                                  <p:childTnLst>
                                    <p:animMotion origin="layout" path="M 0 0 L 0 -0.25 E" pathEditMode="relative" ptsTypes="">
                                      <p:cBhvr>
                                        <p:cTn id="15" dur="2000" fill="hold"/>
                                        <p:tgtEl>
                                          <p:spTgt spid="19"/>
                                        </p:tgtEl>
                                        <p:attrNameLst>
                                          <p:attrName>ppt_x</p:attrName>
                                          <p:attrName>ppt_y</p:attrName>
                                        </p:attrNameLst>
                                      </p:cBhvr>
                                    </p:animMotion>
                                  </p:childTnLst>
                                </p:cTn>
                              </p:par>
                            </p:childTnLst>
                          </p:cTn>
                        </p:par>
                        <p:par>
                          <p:cTn id="16" fill="hold">
                            <p:stCondLst>
                              <p:cond delay="6000"/>
                            </p:stCondLst>
                            <p:childTnLst>
                              <p:par>
                                <p:cTn id="17" presetID="50" presetClass="path" presetSubtype="0" accel="50000" decel="50000" fill="hold" grpId="1" nodeType="afterEffect">
                                  <p:stCondLst>
                                    <p:cond delay="0"/>
                                  </p:stCondLst>
                                  <p:childTnLst>
                                    <p:animMotion origin="layout" path="M 5E-6 -0.25 L 0.03594 -0.25 C 0.05196 -0.25 0.07188 -0.18102 0.07188 -0.125 L 0.07188 2.22222E-6 " pathEditMode="relative" rAng="0" ptsTypes="AAAA">
                                      <p:cBhvr>
                                        <p:cTn id="18" dur="2000" fill="hold"/>
                                        <p:tgtEl>
                                          <p:spTgt spid="24"/>
                                        </p:tgtEl>
                                        <p:attrNameLst>
                                          <p:attrName>ppt_x</p:attrName>
                                          <p:attrName>ppt_y</p:attrName>
                                        </p:attrNameLst>
                                      </p:cBhvr>
                                      <p:rCtr x="3594" y="12500"/>
                                    </p:animMotion>
                                  </p:childTnLst>
                                </p:cTn>
                              </p:par>
                            </p:childTnLst>
                          </p:cTn>
                        </p:par>
                        <p:par>
                          <p:cTn id="19" fill="hold">
                            <p:stCondLst>
                              <p:cond delay="8000"/>
                            </p:stCondLst>
                            <p:childTnLst>
                              <p:par>
                                <p:cTn id="20" presetID="50" presetClass="path" presetSubtype="0" accel="50000" decel="50000" fill="hold" grpId="1" nodeType="afterEffect">
                                  <p:stCondLst>
                                    <p:cond delay="0"/>
                                  </p:stCondLst>
                                  <p:childTnLst>
                                    <p:animMotion origin="layout" path="M 5E-6 -0.25 L -0.03907 -0.25 C -0.05664 -0.25 -0.07812 -0.18102 -0.07812 -0.125 L -0.07812 -2.22222E-6 " pathEditMode="relative" rAng="0" ptsTypes="AAAA">
                                      <p:cBhvr>
                                        <p:cTn id="21" dur="2000" fill="hold"/>
                                        <p:tgtEl>
                                          <p:spTgt spid="19"/>
                                        </p:tgtEl>
                                        <p:attrNameLst>
                                          <p:attrName>ppt_x</p:attrName>
                                          <p:attrName>ppt_y</p:attrName>
                                        </p:attrNameLst>
                                      </p:cBhvr>
                                      <p:rCtr x="-3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6" grpId="0" animBg="1"/>
      <p:bldP spid="19" grpId="0" animBg="1"/>
      <p:bldP spid="19" grpId="1" animBg="1"/>
      <p:bldP spid="24" grpId="0" animBg="1"/>
      <p:bldP spid="24"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498735425"/>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19" name="Rectangle 18"/>
          <p:cNvSpPr/>
          <p:nvPr/>
        </p:nvSpPr>
        <p:spPr>
          <a:xfrm>
            <a:off x="78486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 name="Up Arrow Callout 1"/>
          <p:cNvSpPr/>
          <p:nvPr/>
        </p:nvSpPr>
        <p:spPr>
          <a:xfrm>
            <a:off x="7848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0198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9342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8763000"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Up Arrow Callout 25"/>
          <p:cNvSpPr/>
          <p:nvPr/>
        </p:nvSpPr>
        <p:spPr>
          <a:xfrm>
            <a:off x="8686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j</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3" name="Rectangle 32"/>
          <p:cNvSpPr/>
          <p:nvPr/>
        </p:nvSpPr>
        <p:spPr>
          <a:xfrm>
            <a:off x="5105400" y="3921126"/>
            <a:ext cx="838200" cy="8794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34" name="TextBox 33"/>
          <p:cNvSpPr txBox="1"/>
          <p:nvPr/>
        </p:nvSpPr>
        <p:spPr>
          <a:xfrm>
            <a:off x="1752600" y="1219201"/>
            <a:ext cx="83820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Bước 7: Xét phần tử thứ bảy (tại vị trí 7)</a:t>
            </a:r>
          </a:p>
        </p:txBody>
      </p:sp>
      <p:sp>
        <p:nvSpPr>
          <p:cNvPr id="35" name="Rectangle 34"/>
          <p:cNvSpPr/>
          <p:nvPr/>
        </p:nvSpPr>
        <p:spPr>
          <a:xfrm>
            <a:off x="6019800" y="3616326"/>
            <a:ext cx="838200" cy="11842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30" name="Rectangle 29"/>
          <p:cNvSpPr/>
          <p:nvPr/>
        </p:nvSpPr>
        <p:spPr>
          <a:xfrm>
            <a:off x="6934200" y="3276601"/>
            <a:ext cx="838200" cy="15446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8" name="Cloud 27"/>
          <p:cNvSpPr/>
          <p:nvPr/>
        </p:nvSpPr>
        <p:spPr>
          <a:xfrm>
            <a:off x="2733675" y="1768080"/>
            <a:ext cx="2895600" cy="2120324"/>
          </a:xfrm>
          <a:prstGeom prst="cloud">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Kết thúc bước 7</a:t>
            </a:r>
          </a:p>
        </p:txBody>
      </p:sp>
      <p:sp>
        <p:nvSpPr>
          <p:cNvPr id="36" name="Rectangle 35"/>
          <p:cNvSpPr/>
          <p:nvPr/>
        </p:nvSpPr>
        <p:spPr>
          <a:xfrm>
            <a:off x="7848600" y="3048000"/>
            <a:ext cx="838200" cy="1758950"/>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37" name="Title 1"/>
          <p:cNvSpPr>
            <a:spLocks noGrp="1"/>
          </p:cNvSpPr>
          <p:nvPr>
            <p:ph type="title"/>
          </p:nvPr>
        </p:nvSpPr>
        <p:spPr>
          <a:xfrm>
            <a:off x="228600" y="457200"/>
            <a:ext cx="9601200" cy="792162"/>
          </a:xfrm>
        </p:spPr>
        <p:txBody>
          <a:bodyPr vert="horz" lIns="91440" tIns="45720" rIns="91440" bIns="45720" rtlCol="0" anchor="ctr">
            <a:noAutofit/>
          </a:bodyPr>
          <a:lstStyle/>
          <a:p>
            <a:r>
              <a:rPr lang="en-US" b="1">
                <a:solidFill>
                  <a:srgbClr val="0070C0"/>
                </a:solidFill>
                <a:latin typeface="Times New Roman" panose="02020603050405020304" pitchFamily="18" charset="0"/>
                <a:cs typeface="Times New Roman" panose="02020603050405020304" pitchFamily="18" charset="0"/>
              </a:rPr>
              <a:t>1. Đổi </a:t>
            </a:r>
            <a:r>
              <a:rPr lang="en-US" b="1" dirty="0" err="1">
                <a:solidFill>
                  <a:srgbClr val="0070C0"/>
                </a:solidFill>
                <a:latin typeface="Times New Roman" panose="02020603050405020304" pitchFamily="18" charset="0"/>
                <a:cs typeface="Times New Roman" panose="02020603050405020304" pitchFamily="18" charset="0"/>
              </a:rPr>
              <a:t>chổ</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tiếp</a:t>
            </a:r>
            <a:r>
              <a:rPr lang="en-US" b="1" dirty="0">
                <a:solidFill>
                  <a:srgbClr val="0070C0"/>
                </a:solidFill>
                <a:latin typeface="Times New Roman" panose="02020603050405020304" pitchFamily="18" charset="0"/>
                <a:cs typeface="Times New Roman" panose="02020603050405020304" pitchFamily="18" charset="0"/>
              </a:rPr>
              <a:t> – interchange sort</a:t>
            </a:r>
          </a:p>
        </p:txBody>
      </p:sp>
    </p:spTree>
    <p:extLst>
      <p:ext uri="{BB962C8B-B14F-4D97-AF65-F5344CB8AC3E}">
        <p14:creationId xmlns:p14="http://schemas.microsoft.com/office/powerpoint/2010/main" val="122620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grpId="1" nodeType="afterEffect">
                                  <p:stCondLst>
                                    <p:cond delay="0"/>
                                  </p:stCondLst>
                                  <p:childTnLst>
                                    <p:animMotion origin="layout" path="M 5E-6 1.11111E-6 L 0.08438 1.11111E-6 " pathEditMode="relative" rAng="0" ptsTypes="AA">
                                      <p:cBhvr>
                                        <p:cTn id="9" dur="2000" fill="hold"/>
                                        <p:tgtEl>
                                          <p:spTgt spid="26"/>
                                        </p:tgtEl>
                                        <p:attrNameLst>
                                          <p:attrName>ppt_x</p:attrName>
                                          <p:attrName>ppt_y</p:attrName>
                                        </p:attrNameLst>
                                      </p:cBhvr>
                                      <p:rCtr x="4219" y="0"/>
                                    </p:animMotion>
                                  </p:childTnLst>
                                </p:cTn>
                              </p:par>
                            </p:childTnLst>
                          </p:cTn>
                        </p:par>
                        <p:par>
                          <p:cTn id="10" fill="hold">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par>
                          <p:cTn id="13" fill="hold">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P spid="28" grpId="0" animBg="1"/>
      <p:bldP spid="3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364492990"/>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42</a:t>
            </a:fld>
            <a:endParaRPr lang="en-US"/>
          </a:p>
        </p:txBody>
      </p:sp>
      <p:sp>
        <p:nvSpPr>
          <p:cNvPr id="19" name="Rectangle 18"/>
          <p:cNvSpPr/>
          <p:nvPr/>
        </p:nvSpPr>
        <p:spPr>
          <a:xfrm>
            <a:off x="78486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51054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0198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4191000"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9342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32766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8763000" y="2435226"/>
            <a:ext cx="838200" cy="2368548"/>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2362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7" name="Rectangle 26"/>
          <p:cNvSpPr/>
          <p:nvPr/>
        </p:nvSpPr>
        <p:spPr>
          <a:xfrm>
            <a:off x="2362200" y="4437064"/>
            <a:ext cx="838200" cy="3635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9" name="Rectangle 28"/>
          <p:cNvSpPr/>
          <p:nvPr/>
        </p:nvSpPr>
        <p:spPr>
          <a:xfrm>
            <a:off x="3276600" y="4222752"/>
            <a:ext cx="838200" cy="577849"/>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32" name="Rectangle 31"/>
          <p:cNvSpPr/>
          <p:nvPr/>
        </p:nvSpPr>
        <p:spPr>
          <a:xfrm>
            <a:off x="4191000" y="4114801"/>
            <a:ext cx="838200" cy="71278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33" name="Rectangle 32"/>
          <p:cNvSpPr/>
          <p:nvPr/>
        </p:nvSpPr>
        <p:spPr>
          <a:xfrm>
            <a:off x="5105400" y="3921126"/>
            <a:ext cx="838200" cy="8794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34" name="TextBox 33"/>
          <p:cNvSpPr txBox="1"/>
          <p:nvPr/>
        </p:nvSpPr>
        <p:spPr>
          <a:xfrm>
            <a:off x="1576388" y="1431857"/>
            <a:ext cx="8382000" cy="707886"/>
          </a:xfrm>
          <a:prstGeom prst="rect">
            <a:avLst/>
          </a:prstGeom>
          <a:noFill/>
        </p:spPr>
        <p:txBody>
          <a:bodyPr wrap="square">
            <a:spAutoFit/>
          </a:bodyPr>
          <a:lstStyle/>
          <a:p>
            <a:pPr>
              <a:defRPr/>
            </a:pPr>
            <a:r>
              <a:rPr lang="en-US" sz="4000">
                <a:solidFill>
                  <a:srgbClr val="C00000"/>
                </a:solidFill>
                <a:latin typeface="Times New Roman" panose="02020603050405020304" pitchFamily="18" charset="0"/>
                <a:cs typeface="Times New Roman" panose="02020603050405020304" pitchFamily="18" charset="0"/>
              </a:rPr>
              <a:t>Hoàn tất sắp xếp</a:t>
            </a:r>
          </a:p>
        </p:txBody>
      </p:sp>
      <p:sp>
        <p:nvSpPr>
          <p:cNvPr id="35" name="Rectangle 34"/>
          <p:cNvSpPr/>
          <p:nvPr/>
        </p:nvSpPr>
        <p:spPr>
          <a:xfrm>
            <a:off x="6019800" y="3616326"/>
            <a:ext cx="838200" cy="1184275"/>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30" name="Rectangle 29"/>
          <p:cNvSpPr/>
          <p:nvPr/>
        </p:nvSpPr>
        <p:spPr>
          <a:xfrm>
            <a:off x="6934200" y="3276601"/>
            <a:ext cx="838200" cy="1544637"/>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36" name="Rectangle 35"/>
          <p:cNvSpPr/>
          <p:nvPr/>
        </p:nvSpPr>
        <p:spPr>
          <a:xfrm>
            <a:off x="7848600" y="3048000"/>
            <a:ext cx="838200" cy="1758950"/>
          </a:xfrm>
          <a:prstGeom prst="rect">
            <a:avLst/>
          </a:prstGeom>
          <a:solidFill>
            <a:schemeClr val="accent3">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6" name="Title 1"/>
          <p:cNvSpPr>
            <a:spLocks noGrp="1"/>
          </p:cNvSpPr>
          <p:nvPr>
            <p:ph type="title"/>
          </p:nvPr>
        </p:nvSpPr>
        <p:spPr>
          <a:xfrm>
            <a:off x="228600" y="427038"/>
            <a:ext cx="9601200" cy="792162"/>
          </a:xfrm>
        </p:spPr>
        <p:txBody>
          <a:bodyPr>
            <a:noAutofit/>
          </a:bodyPr>
          <a:lstStyle/>
          <a:p>
            <a:pPr>
              <a:defRPr/>
            </a:pPr>
            <a:r>
              <a:rPr lang="en-US" b="1" smtClean="0">
                <a:solidFill>
                  <a:srgbClr val="0070C0"/>
                </a:solidFill>
                <a:latin typeface="Times New Roman" panose="02020603050405020304" pitchFamily="18" charset="0"/>
                <a:cs typeface="Times New Roman" panose="02020603050405020304" pitchFamily="18" charset="0"/>
              </a:rPr>
              <a:t>1. Đổi </a:t>
            </a:r>
            <a:r>
              <a:rPr lang="en-US" b="1" dirty="0" err="1" smtClean="0">
                <a:solidFill>
                  <a:srgbClr val="0070C0"/>
                </a:solidFill>
                <a:latin typeface="Times New Roman" panose="02020603050405020304" pitchFamily="18" charset="0"/>
                <a:cs typeface="Times New Roman" panose="02020603050405020304" pitchFamily="18" charset="0"/>
              </a:rPr>
              <a:t>chổ</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interchange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72086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a:xfrm>
            <a:off x="1600200" y="533400"/>
            <a:ext cx="8229600" cy="6473825"/>
          </a:xfrm>
        </p:spPr>
        <p:txBody>
          <a:bodyPr>
            <a:normAutofit lnSpcReduction="10000"/>
          </a:bodyPr>
          <a:lstStyle/>
          <a:p>
            <a:pPr>
              <a:spcBef>
                <a:spcPts val="0"/>
              </a:spcBef>
              <a:buNone/>
            </a:pPr>
            <a:r>
              <a:rPr lang="en-US" sz="4000" b="1" err="1">
                <a:solidFill>
                  <a:srgbClr val="0070C0"/>
                </a:solidFill>
                <a:latin typeface="Times New Roman" panose="02020603050405020304" pitchFamily="18" charset="0"/>
                <a:cs typeface="Times New Roman" panose="02020603050405020304" pitchFamily="18" charset="0"/>
              </a:rPr>
              <a:t>Cài</a:t>
            </a:r>
            <a:r>
              <a:rPr lang="en-US" sz="4000" b="1">
                <a:solidFill>
                  <a:srgbClr val="0070C0"/>
                </a:solidFill>
                <a:latin typeface="Times New Roman" panose="02020603050405020304" pitchFamily="18" charset="0"/>
                <a:cs typeface="Times New Roman" panose="02020603050405020304" pitchFamily="18" charset="0"/>
              </a:rPr>
              <a:t> </a:t>
            </a:r>
            <a:r>
              <a:rPr lang="en-US" sz="4000" b="1" smtClean="0">
                <a:solidFill>
                  <a:srgbClr val="0070C0"/>
                </a:solidFill>
                <a:latin typeface="Times New Roman" panose="02020603050405020304" pitchFamily="18" charset="0"/>
                <a:cs typeface="Times New Roman" panose="02020603050405020304" pitchFamily="18" charset="0"/>
              </a:rPr>
              <a:t>đặt:</a:t>
            </a:r>
            <a:endParaRPr lang="en-US" sz="4000" b="1" dirty="0">
              <a:solidFill>
                <a:srgbClr val="0070C0"/>
              </a:solidFill>
              <a:latin typeface="Times New Roman" panose="02020603050405020304" pitchFamily="18" charset="0"/>
              <a:cs typeface="Times New Roman" panose="02020603050405020304" pitchFamily="18" charset="0"/>
            </a:endParaRPr>
          </a:p>
          <a:p>
            <a:pPr>
              <a:spcBef>
                <a:spcPts val="0"/>
              </a:spcBef>
              <a:buNone/>
            </a:pPr>
            <a:r>
              <a:rPr lang="en-US" sz="2800" dirty="0">
                <a:solidFill>
                  <a:schemeClr val="bg1"/>
                </a:solidFill>
              </a:rPr>
              <a:t>	void </a:t>
            </a:r>
            <a:r>
              <a:rPr lang="en-US" sz="2800" dirty="0" err="1">
                <a:solidFill>
                  <a:schemeClr val="bg1"/>
                </a:solidFill>
              </a:rPr>
              <a:t>InterchangeSort</a:t>
            </a:r>
            <a:r>
              <a:rPr lang="en-US" sz="2800" dirty="0">
                <a:solidFill>
                  <a:schemeClr val="bg1"/>
                </a:solidFill>
              </a:rPr>
              <a:t>(</a:t>
            </a:r>
            <a:r>
              <a:rPr lang="en-US" sz="2800" dirty="0" err="1">
                <a:solidFill>
                  <a:schemeClr val="bg1"/>
                </a:solidFill>
              </a:rPr>
              <a:t>int</a:t>
            </a:r>
            <a:r>
              <a:rPr lang="en-US" sz="2800" dirty="0">
                <a:solidFill>
                  <a:schemeClr val="bg1"/>
                </a:solidFill>
              </a:rPr>
              <a:t> a[], </a:t>
            </a:r>
            <a:r>
              <a:rPr lang="en-US" sz="2800" dirty="0" err="1">
                <a:solidFill>
                  <a:schemeClr val="bg1"/>
                </a:solidFill>
              </a:rPr>
              <a:t>int</a:t>
            </a:r>
            <a:r>
              <a:rPr lang="en-US" sz="2800" dirty="0">
                <a:solidFill>
                  <a:schemeClr val="bg1"/>
                </a:solidFill>
              </a:rPr>
              <a:t> N )</a:t>
            </a:r>
            <a:br>
              <a:rPr lang="en-US" sz="2800" dirty="0">
                <a:solidFill>
                  <a:schemeClr val="bg1"/>
                </a:solidFill>
              </a:rPr>
            </a:br>
            <a:r>
              <a:rPr lang="en-US" sz="2800" dirty="0">
                <a:solidFill>
                  <a:schemeClr val="bg1"/>
                </a:solidFill>
              </a:rPr>
              <a:t>{	</a:t>
            </a:r>
          </a:p>
          <a:p>
            <a:pPr>
              <a:spcBef>
                <a:spcPts val="0"/>
              </a:spcBef>
              <a:buNone/>
            </a:pPr>
            <a:r>
              <a:rPr lang="en-US" sz="2800" dirty="0">
                <a:solidFill>
                  <a:schemeClr val="bg1"/>
                </a:solidFill>
              </a:rPr>
              <a:t>		</a:t>
            </a:r>
            <a:r>
              <a:rPr lang="en-US" sz="2800" dirty="0" err="1">
                <a:solidFill>
                  <a:schemeClr val="bg1"/>
                </a:solidFill>
              </a:rPr>
              <a:t>int</a:t>
            </a:r>
            <a:r>
              <a:rPr lang="en-US" sz="2800" dirty="0">
                <a:solidFill>
                  <a:schemeClr val="bg1"/>
                </a:solidFill>
              </a:rPr>
              <a:t> </a:t>
            </a:r>
            <a:r>
              <a:rPr lang="en-US" sz="2800" dirty="0" err="1">
                <a:solidFill>
                  <a:schemeClr val="bg1"/>
                </a:solidFill>
              </a:rPr>
              <a:t>i</a:t>
            </a:r>
            <a:r>
              <a:rPr lang="en-US" sz="2800" dirty="0">
                <a:solidFill>
                  <a:schemeClr val="bg1"/>
                </a:solidFill>
              </a:rPr>
              <a:t>, j;</a:t>
            </a:r>
            <a:br>
              <a:rPr lang="en-US" sz="2800" dirty="0">
                <a:solidFill>
                  <a:schemeClr val="bg1"/>
                </a:solidFill>
              </a:rPr>
            </a:br>
            <a:r>
              <a:rPr lang="en-US" sz="2800" dirty="0">
                <a:solidFill>
                  <a:schemeClr val="bg1"/>
                </a:solidFill>
              </a:rPr>
              <a:t>	for (</a:t>
            </a:r>
            <a:r>
              <a:rPr lang="en-US" sz="2800" dirty="0" err="1">
                <a:solidFill>
                  <a:schemeClr val="bg1"/>
                </a:solidFill>
              </a:rPr>
              <a:t>i</a:t>
            </a:r>
            <a:r>
              <a:rPr lang="en-US" sz="2800" dirty="0">
                <a:solidFill>
                  <a:schemeClr val="bg1"/>
                </a:solidFill>
              </a:rPr>
              <a:t> = 0 ; </a:t>
            </a:r>
            <a:r>
              <a:rPr lang="en-US" sz="2800" dirty="0" err="1">
                <a:solidFill>
                  <a:schemeClr val="bg1"/>
                </a:solidFill>
              </a:rPr>
              <a:t>i</a:t>
            </a:r>
            <a:r>
              <a:rPr lang="en-US" sz="2800" dirty="0">
                <a:solidFill>
                  <a:schemeClr val="bg1"/>
                </a:solidFill>
              </a:rPr>
              <a:t>&lt;N-1 ; </a:t>
            </a:r>
            <a:r>
              <a:rPr lang="en-US" sz="2800" dirty="0" err="1">
                <a:solidFill>
                  <a:schemeClr val="bg1"/>
                </a:solidFill>
              </a:rPr>
              <a:t>i</a:t>
            </a:r>
            <a:r>
              <a:rPr lang="en-US" sz="2800" dirty="0">
                <a:solidFill>
                  <a:schemeClr val="bg1"/>
                </a:solidFill>
              </a:rPr>
              <a:t>++)</a:t>
            </a:r>
            <a:br>
              <a:rPr lang="en-US" sz="2800" dirty="0">
                <a:solidFill>
                  <a:schemeClr val="bg1"/>
                </a:solidFill>
              </a:rPr>
            </a:br>
            <a:r>
              <a:rPr lang="en-US" sz="2800" dirty="0">
                <a:solidFill>
                  <a:schemeClr val="bg1"/>
                </a:solidFill>
              </a:rPr>
              <a:t>	{</a:t>
            </a:r>
          </a:p>
          <a:p>
            <a:pPr>
              <a:spcBef>
                <a:spcPts val="0"/>
              </a:spcBef>
              <a:buNone/>
            </a:pPr>
            <a:r>
              <a:rPr lang="en-US" sz="2800" dirty="0">
                <a:solidFill>
                  <a:schemeClr val="bg1"/>
                </a:solidFill>
              </a:rPr>
              <a:t>			for (j =i+1; j &lt; N ; j++)</a:t>
            </a:r>
            <a:br>
              <a:rPr lang="en-US" sz="2800" dirty="0">
                <a:solidFill>
                  <a:schemeClr val="bg1"/>
                </a:solidFill>
              </a:rPr>
            </a:br>
            <a:r>
              <a:rPr lang="en-US" sz="2800" dirty="0">
                <a:solidFill>
                  <a:schemeClr val="bg1"/>
                </a:solidFill>
              </a:rPr>
              <a:t>			if(a[j ]&lt; a[</a:t>
            </a:r>
            <a:r>
              <a:rPr lang="en-US" sz="2800" dirty="0" err="1">
                <a:solidFill>
                  <a:schemeClr val="bg1"/>
                </a:solidFill>
              </a:rPr>
              <a:t>i</a:t>
            </a:r>
            <a:r>
              <a:rPr lang="en-US" sz="2800" dirty="0">
                <a:solidFill>
                  <a:schemeClr val="bg1"/>
                </a:solidFill>
              </a:rPr>
              <a:t>])</a:t>
            </a:r>
            <a:br>
              <a:rPr lang="en-US" sz="2800" dirty="0">
                <a:solidFill>
                  <a:schemeClr val="bg1"/>
                </a:solidFill>
              </a:rPr>
            </a:br>
            <a:r>
              <a:rPr lang="en-US" sz="2800" dirty="0">
                <a:solidFill>
                  <a:schemeClr val="bg1"/>
                </a:solidFill>
              </a:rPr>
              <a:t>				</a:t>
            </a:r>
            <a:r>
              <a:rPr lang="en-US" sz="2800" dirty="0" err="1">
                <a:solidFill>
                  <a:schemeClr val="bg1"/>
                </a:solidFill>
              </a:rPr>
              <a:t>HoanVi</a:t>
            </a:r>
            <a:r>
              <a:rPr lang="en-US" sz="2800" dirty="0">
                <a:solidFill>
                  <a:schemeClr val="bg1"/>
                </a:solidFill>
              </a:rPr>
              <a:t>(a[</a:t>
            </a:r>
            <a:r>
              <a:rPr lang="en-US" sz="2800" dirty="0" err="1">
                <a:solidFill>
                  <a:schemeClr val="bg1"/>
                </a:solidFill>
              </a:rPr>
              <a:t>i</a:t>
            </a:r>
            <a:r>
              <a:rPr lang="en-US" sz="2800" dirty="0">
                <a:solidFill>
                  <a:schemeClr val="bg1"/>
                </a:solidFill>
              </a:rPr>
              <a:t>],a[j]);</a:t>
            </a:r>
          </a:p>
          <a:p>
            <a:pPr>
              <a:spcBef>
                <a:spcPts val="0"/>
              </a:spcBef>
              <a:buNone/>
            </a:pPr>
            <a:r>
              <a:rPr lang="en-US" sz="2800" dirty="0">
                <a:solidFill>
                  <a:schemeClr val="bg1"/>
                </a:solidFill>
              </a:rPr>
              <a:t>		}</a:t>
            </a:r>
            <a:br>
              <a:rPr lang="en-US" sz="2800" dirty="0">
                <a:solidFill>
                  <a:schemeClr val="bg1"/>
                </a:solidFill>
              </a:rPr>
            </a:br>
            <a:r>
              <a:rPr lang="en-US" sz="2800" dirty="0">
                <a:solidFill>
                  <a:schemeClr val="bg1"/>
                </a:solidFill>
              </a:rPr>
              <a:t>}</a:t>
            </a:r>
          </a:p>
          <a:p>
            <a:pPr>
              <a:spcBef>
                <a:spcPts val="0"/>
              </a:spcBef>
              <a:buNone/>
            </a:pPr>
            <a:r>
              <a:rPr lang="en-US" sz="2800" dirty="0">
                <a:solidFill>
                  <a:schemeClr val="bg1"/>
                </a:solidFill>
              </a:rPr>
              <a:t>	void </a:t>
            </a:r>
            <a:r>
              <a:rPr lang="en-US" sz="2800" dirty="0" err="1">
                <a:solidFill>
                  <a:schemeClr val="bg1"/>
                </a:solidFill>
              </a:rPr>
              <a:t>HoanVi</a:t>
            </a:r>
            <a:r>
              <a:rPr lang="en-US" sz="2800" dirty="0">
                <a:solidFill>
                  <a:schemeClr val="bg1"/>
                </a:solidFill>
              </a:rPr>
              <a:t>(</a:t>
            </a:r>
            <a:r>
              <a:rPr lang="en-US" sz="2800" dirty="0" err="1">
                <a:solidFill>
                  <a:schemeClr val="bg1"/>
                </a:solidFill>
              </a:rPr>
              <a:t>int</a:t>
            </a:r>
            <a:r>
              <a:rPr lang="en-US" sz="2800" dirty="0">
                <a:solidFill>
                  <a:schemeClr val="bg1"/>
                </a:solidFill>
              </a:rPr>
              <a:t> &amp;a, </a:t>
            </a:r>
            <a:r>
              <a:rPr lang="en-US" sz="2800" dirty="0" err="1">
                <a:solidFill>
                  <a:schemeClr val="bg1"/>
                </a:solidFill>
              </a:rPr>
              <a:t>int</a:t>
            </a:r>
            <a:r>
              <a:rPr lang="en-US" sz="2800" dirty="0">
                <a:solidFill>
                  <a:schemeClr val="bg1"/>
                </a:solidFill>
              </a:rPr>
              <a:t> &amp;b)</a:t>
            </a:r>
          </a:p>
          <a:p>
            <a:pPr>
              <a:spcBef>
                <a:spcPts val="0"/>
              </a:spcBef>
              <a:buNone/>
            </a:pPr>
            <a:r>
              <a:rPr lang="en-US" sz="2800" dirty="0">
                <a:solidFill>
                  <a:schemeClr val="bg1"/>
                </a:solidFill>
              </a:rPr>
              <a:t>	{</a:t>
            </a:r>
          </a:p>
          <a:p>
            <a:pPr>
              <a:spcBef>
                <a:spcPts val="0"/>
              </a:spcBef>
              <a:buNone/>
            </a:pPr>
            <a:r>
              <a:rPr lang="en-US" sz="2800" dirty="0">
                <a:solidFill>
                  <a:schemeClr val="bg1"/>
                </a:solidFill>
              </a:rPr>
              <a:t>		</a:t>
            </a:r>
            <a:r>
              <a:rPr lang="en-US" sz="2800" dirty="0" err="1">
                <a:solidFill>
                  <a:schemeClr val="bg1"/>
                </a:solidFill>
              </a:rPr>
              <a:t>int</a:t>
            </a:r>
            <a:r>
              <a:rPr lang="en-US" sz="2800" dirty="0">
                <a:solidFill>
                  <a:schemeClr val="bg1"/>
                </a:solidFill>
              </a:rPr>
              <a:t> tam=a;</a:t>
            </a:r>
          </a:p>
          <a:p>
            <a:pPr>
              <a:spcBef>
                <a:spcPts val="0"/>
              </a:spcBef>
              <a:buNone/>
            </a:pPr>
            <a:r>
              <a:rPr lang="en-US" sz="2800" dirty="0">
                <a:solidFill>
                  <a:schemeClr val="bg1"/>
                </a:solidFill>
              </a:rPr>
              <a:t>		a=b;</a:t>
            </a:r>
          </a:p>
          <a:p>
            <a:pPr>
              <a:spcBef>
                <a:spcPts val="0"/>
              </a:spcBef>
              <a:buNone/>
            </a:pPr>
            <a:r>
              <a:rPr lang="en-US" sz="2800" dirty="0">
                <a:solidFill>
                  <a:schemeClr val="bg1"/>
                </a:solidFill>
              </a:rPr>
              <a:t>		b=tam;</a:t>
            </a:r>
          </a:p>
          <a:p>
            <a:pPr>
              <a:spcBef>
                <a:spcPts val="0"/>
              </a:spcBef>
              <a:buNone/>
            </a:pPr>
            <a:r>
              <a:rPr lang="en-US" sz="2800" dirty="0">
                <a:solidFill>
                  <a:schemeClr val="bg1"/>
                </a:solidFill>
              </a:rPr>
              <a:t>	}</a:t>
            </a:r>
          </a:p>
        </p:txBody>
      </p:sp>
      <p:sp>
        <p:nvSpPr>
          <p:cNvPr id="4" name="Slide Number Placeholder 3"/>
          <p:cNvSpPr>
            <a:spLocks noGrp="1"/>
          </p:cNvSpPr>
          <p:nvPr>
            <p:ph type="sldNum" sz="quarter" idx="12"/>
          </p:nvPr>
        </p:nvSpPr>
        <p:spPr/>
        <p:txBody>
          <a:bodyPr/>
          <a:lstStyle/>
          <a:p>
            <a:pPr>
              <a:defRPr/>
            </a:pPr>
            <a:fld id="{A6F9225C-6CAD-455C-AD83-2CA18865FFCC}" type="slidenum">
              <a:rPr lang="en-US" smtClean="0"/>
              <a:pPr>
                <a:defRPr/>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0070C0"/>
                </a:solidFill>
                <a:latin typeface="Times New Roman" panose="02020603050405020304" pitchFamily="18" charset="0"/>
                <a:cs typeface="Times New Roman" panose="02020603050405020304" pitchFamily="18" charset="0"/>
              </a:rPr>
              <a:t>Bài</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tập</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
            </a:pPr>
            <a:r>
              <a:rPr lang="en-US" dirty="0" smtClean="0">
                <a:solidFill>
                  <a:schemeClr val="bg1"/>
                </a:solidFill>
                <a:latin typeface="Times New Roman" panose="02020603050405020304" pitchFamily="18" charset="0"/>
                <a:cs typeface="Times New Roman" panose="02020603050405020304" pitchFamily="18" charset="0"/>
              </a:rPr>
              <a:t>Minh </a:t>
            </a:r>
            <a:r>
              <a:rPr lang="en-US" dirty="0" err="1" smtClean="0">
                <a:solidFill>
                  <a:schemeClr val="bg1"/>
                </a:solidFill>
                <a:latin typeface="Times New Roman" panose="02020603050405020304" pitchFamily="18" charset="0"/>
                <a:cs typeface="Times New Roman" panose="02020603050405020304" pitchFamily="18" charset="0"/>
              </a:rPr>
              <a:t>họa</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từng</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bước</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thực</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hiện</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của</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giải</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thuật</a:t>
            </a:r>
            <a:r>
              <a:rPr lang="en-US" dirty="0" smtClean="0">
                <a:solidFill>
                  <a:schemeClr val="bg1"/>
                </a:solidFill>
                <a:latin typeface="Times New Roman" panose="02020603050405020304" pitchFamily="18" charset="0"/>
                <a:cs typeface="Times New Roman" panose="02020603050405020304" pitchFamily="18" charset="0"/>
              </a:rPr>
              <a:t> Interchange Sort </a:t>
            </a:r>
            <a:r>
              <a:rPr lang="en-US" dirty="0" err="1" smtClean="0">
                <a:solidFill>
                  <a:schemeClr val="bg1"/>
                </a:solidFill>
                <a:latin typeface="Times New Roman" panose="02020603050405020304" pitchFamily="18" charset="0"/>
                <a:cs typeface="Times New Roman" panose="02020603050405020304" pitchFamily="18" charset="0"/>
              </a:rPr>
              <a:t>khi</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sắp</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dãy</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số</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sau</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tăng</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dần</a:t>
            </a:r>
            <a:r>
              <a:rPr lang="en-US" dirty="0" smtClean="0">
                <a:solidFill>
                  <a:schemeClr val="bg1"/>
                </a:solidFill>
                <a:latin typeface="Times New Roman" panose="02020603050405020304" pitchFamily="18" charset="0"/>
                <a:cs typeface="Times New Roman" panose="02020603050405020304" pitchFamily="18" charset="0"/>
              </a:rPr>
              <a:t>:</a:t>
            </a: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endParaRPr lang="en-US" dirty="0" smtClean="0">
              <a:solidFill>
                <a:schemeClr val="bg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US" dirty="0" smtClean="0">
              <a:solidFill>
                <a:schemeClr val="bg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smtClean="0">
                <a:solidFill>
                  <a:schemeClr val="bg1"/>
                </a:solidFill>
                <a:latin typeface="Times New Roman" panose="02020603050405020304" pitchFamily="18" charset="0"/>
                <a:cs typeface="Times New Roman" panose="02020603050405020304" pitchFamily="18" charset="0"/>
              </a:rPr>
              <a:t>Cho </a:t>
            </a:r>
            <a:r>
              <a:rPr lang="en-US" dirty="0" err="1" smtClean="0">
                <a:solidFill>
                  <a:schemeClr val="bg1"/>
                </a:solidFill>
                <a:latin typeface="Times New Roman" panose="02020603050405020304" pitchFamily="18" charset="0"/>
                <a:cs typeface="Times New Roman" panose="02020603050405020304" pitchFamily="18" charset="0"/>
              </a:rPr>
              <a:t>biết</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tổng</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số</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phép</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hoán</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vị</a:t>
            </a:r>
            <a:r>
              <a:rPr lang="en-US" dirty="0" smtClean="0">
                <a:solidFill>
                  <a:schemeClr val="bg1"/>
                </a:solidFill>
                <a:latin typeface="Times New Roman" panose="02020603050405020304" pitchFamily="18" charset="0"/>
                <a:cs typeface="Times New Roman" panose="02020603050405020304" pitchFamily="18" charset="0"/>
              </a:rPr>
              <a:t> </a:t>
            </a:r>
          </a:p>
          <a:p>
            <a:pPr marL="0" indent="0">
              <a:buNone/>
            </a:pPr>
            <a:endParaRPr lang="en-US"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EDD57F7B-2019-4069-8198-EFE0C5B7313D}" type="slidenum">
              <a:rPr lang="en-US" smtClean="0"/>
              <a:pPr>
                <a:defRPr/>
              </a:pPr>
              <a:t>44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824838299"/>
              </p:ext>
            </p:extLst>
          </p:nvPr>
        </p:nvGraphicFramePr>
        <p:xfrm>
          <a:off x="2819400" y="2743200"/>
          <a:ext cx="7162800" cy="1371601"/>
        </p:xfrm>
        <a:graphic>
          <a:graphicData uri="http://schemas.openxmlformats.org/drawingml/2006/table">
            <a:tbl>
              <a:tblPr firstRow="1" bandRow="1">
                <a:tableStyleId>{5C22544A-7EE6-4342-B048-85BDC9FD1C3A}</a:tableStyleId>
              </a:tblPr>
              <a:tblGrid>
                <a:gridCol w="1193800">
                  <a:extLst>
                    <a:ext uri="{9D8B030D-6E8A-4147-A177-3AD203B41FA5}">
                      <a16:colId xmlns:a16="http://schemas.microsoft.com/office/drawing/2014/main" val="20000"/>
                    </a:ext>
                  </a:extLst>
                </a:gridCol>
                <a:gridCol w="1193800">
                  <a:extLst>
                    <a:ext uri="{9D8B030D-6E8A-4147-A177-3AD203B41FA5}">
                      <a16:colId xmlns:a16="http://schemas.microsoft.com/office/drawing/2014/main" val="20001"/>
                    </a:ext>
                  </a:extLst>
                </a:gridCol>
                <a:gridCol w="1193800">
                  <a:extLst>
                    <a:ext uri="{9D8B030D-6E8A-4147-A177-3AD203B41FA5}">
                      <a16:colId xmlns:a16="http://schemas.microsoft.com/office/drawing/2014/main" val="20002"/>
                    </a:ext>
                  </a:extLst>
                </a:gridCol>
                <a:gridCol w="1193800">
                  <a:extLst>
                    <a:ext uri="{9D8B030D-6E8A-4147-A177-3AD203B41FA5}">
                      <a16:colId xmlns:a16="http://schemas.microsoft.com/office/drawing/2014/main" val="20003"/>
                    </a:ext>
                  </a:extLst>
                </a:gridCol>
                <a:gridCol w="1193800">
                  <a:extLst>
                    <a:ext uri="{9D8B030D-6E8A-4147-A177-3AD203B41FA5}">
                      <a16:colId xmlns:a16="http://schemas.microsoft.com/office/drawing/2014/main" val="20004"/>
                    </a:ext>
                  </a:extLst>
                </a:gridCol>
                <a:gridCol w="1193800">
                  <a:extLst>
                    <a:ext uri="{9D8B030D-6E8A-4147-A177-3AD203B41FA5}">
                      <a16:colId xmlns:a16="http://schemas.microsoft.com/office/drawing/2014/main" val="20005"/>
                    </a:ext>
                  </a:extLst>
                </a:gridCol>
              </a:tblGrid>
              <a:tr h="728663">
                <a:tc>
                  <a:txBody>
                    <a:bodyPr/>
                    <a:lstStyle/>
                    <a:p>
                      <a:pPr algn="ctr"/>
                      <a:r>
                        <a:rPr lang="en-US" sz="3200" b="1" dirty="0" smtClean="0"/>
                        <a:t>15</a:t>
                      </a:r>
                      <a:endParaRPr lang="en-US" sz="3200" b="1" dirty="0"/>
                    </a:p>
                  </a:txBody>
                  <a:tcPr>
                    <a:solidFill>
                      <a:srgbClr val="0070C0"/>
                    </a:solidFill>
                  </a:tcPr>
                </a:tc>
                <a:tc>
                  <a:txBody>
                    <a:bodyPr/>
                    <a:lstStyle/>
                    <a:p>
                      <a:pPr algn="ctr"/>
                      <a:r>
                        <a:rPr lang="en-US" sz="3200" b="1" dirty="0" smtClean="0"/>
                        <a:t>7</a:t>
                      </a:r>
                      <a:endParaRPr lang="en-US" sz="3200" b="1" dirty="0"/>
                    </a:p>
                  </a:txBody>
                  <a:tcPr>
                    <a:solidFill>
                      <a:srgbClr val="0070C0"/>
                    </a:solidFill>
                  </a:tcPr>
                </a:tc>
                <a:tc>
                  <a:txBody>
                    <a:bodyPr/>
                    <a:lstStyle/>
                    <a:p>
                      <a:pPr algn="ctr"/>
                      <a:r>
                        <a:rPr lang="en-US" sz="3200" b="1" dirty="0" smtClean="0"/>
                        <a:t>9</a:t>
                      </a:r>
                      <a:endParaRPr lang="en-US" sz="3200" b="1" dirty="0"/>
                    </a:p>
                  </a:txBody>
                  <a:tcPr>
                    <a:solidFill>
                      <a:srgbClr val="0070C0"/>
                    </a:solidFill>
                  </a:tcPr>
                </a:tc>
                <a:tc>
                  <a:txBody>
                    <a:bodyPr/>
                    <a:lstStyle/>
                    <a:p>
                      <a:pPr algn="ctr"/>
                      <a:r>
                        <a:rPr lang="en-US" sz="3200" b="1" dirty="0" smtClean="0"/>
                        <a:t>10</a:t>
                      </a:r>
                      <a:endParaRPr lang="en-US" sz="3200" b="1" dirty="0"/>
                    </a:p>
                  </a:txBody>
                  <a:tcPr>
                    <a:solidFill>
                      <a:srgbClr val="0070C0"/>
                    </a:solidFill>
                  </a:tcPr>
                </a:tc>
                <a:tc>
                  <a:txBody>
                    <a:bodyPr/>
                    <a:lstStyle/>
                    <a:p>
                      <a:pPr algn="ctr"/>
                      <a:r>
                        <a:rPr lang="en-US" sz="3200" b="1" dirty="0" smtClean="0"/>
                        <a:t>6</a:t>
                      </a:r>
                      <a:endParaRPr lang="en-US" sz="3200" b="1" dirty="0"/>
                    </a:p>
                  </a:txBody>
                  <a:tcPr>
                    <a:solidFill>
                      <a:srgbClr val="0070C0"/>
                    </a:solidFill>
                  </a:tcPr>
                </a:tc>
                <a:tc>
                  <a:txBody>
                    <a:bodyPr/>
                    <a:lstStyle/>
                    <a:p>
                      <a:pPr algn="ctr"/>
                      <a:r>
                        <a:rPr lang="en-US" sz="3200" b="1" dirty="0" smtClean="0"/>
                        <a:t>20</a:t>
                      </a:r>
                      <a:endParaRPr lang="en-US" sz="3200" b="1" dirty="0"/>
                    </a:p>
                  </a:txBody>
                  <a:tcPr>
                    <a:solidFill>
                      <a:srgbClr val="0070C0"/>
                    </a:solidFill>
                  </a:tcPr>
                </a:tc>
                <a:extLst>
                  <a:ext uri="{0D108BD9-81ED-4DB2-BD59-A6C34878D82A}">
                    <a16:rowId xmlns:a16="http://schemas.microsoft.com/office/drawing/2014/main" val="10000"/>
                  </a:ext>
                </a:extLst>
              </a:tr>
              <a:tr h="642938">
                <a:tc>
                  <a:txBody>
                    <a:bodyPr/>
                    <a:lstStyle/>
                    <a:p>
                      <a:pPr algn="ctr"/>
                      <a:r>
                        <a:rPr lang="en-US" sz="2800" i="1" dirty="0" smtClean="0"/>
                        <a:t>1</a:t>
                      </a:r>
                      <a:endParaRPr lang="en-US" sz="2800" i="1" dirty="0"/>
                    </a:p>
                  </a:txBody>
                  <a:tcPr/>
                </a:tc>
                <a:tc>
                  <a:txBody>
                    <a:bodyPr/>
                    <a:lstStyle/>
                    <a:p>
                      <a:pPr algn="ctr"/>
                      <a:r>
                        <a:rPr lang="en-US" sz="2800" i="1" dirty="0" smtClean="0"/>
                        <a:t>2</a:t>
                      </a:r>
                      <a:endParaRPr lang="en-US" sz="2800" i="1" dirty="0"/>
                    </a:p>
                  </a:txBody>
                  <a:tcPr/>
                </a:tc>
                <a:tc>
                  <a:txBody>
                    <a:bodyPr/>
                    <a:lstStyle/>
                    <a:p>
                      <a:pPr algn="ctr"/>
                      <a:r>
                        <a:rPr lang="en-US" sz="2800" i="1" dirty="0" smtClean="0"/>
                        <a:t>3</a:t>
                      </a:r>
                      <a:endParaRPr lang="en-US" sz="2800" i="1" dirty="0"/>
                    </a:p>
                  </a:txBody>
                  <a:tcPr/>
                </a:tc>
                <a:tc>
                  <a:txBody>
                    <a:bodyPr/>
                    <a:lstStyle/>
                    <a:p>
                      <a:pPr algn="ctr"/>
                      <a:r>
                        <a:rPr lang="en-US" sz="2800" i="1" dirty="0" smtClean="0"/>
                        <a:t>4</a:t>
                      </a:r>
                      <a:endParaRPr lang="en-US" sz="2800" i="1" dirty="0"/>
                    </a:p>
                  </a:txBody>
                  <a:tcPr/>
                </a:tc>
                <a:tc>
                  <a:txBody>
                    <a:bodyPr/>
                    <a:lstStyle/>
                    <a:p>
                      <a:pPr algn="ctr"/>
                      <a:r>
                        <a:rPr lang="en-US" sz="2800" i="1" dirty="0" smtClean="0"/>
                        <a:t>5</a:t>
                      </a:r>
                      <a:endParaRPr lang="en-US" sz="2800" i="1" dirty="0"/>
                    </a:p>
                  </a:txBody>
                  <a:tcPr/>
                </a:tc>
                <a:tc>
                  <a:txBody>
                    <a:bodyPr/>
                    <a:lstStyle/>
                    <a:p>
                      <a:pPr algn="ctr"/>
                      <a:r>
                        <a:rPr lang="en-US" sz="2800" i="1" dirty="0" smtClean="0"/>
                        <a:t>6</a:t>
                      </a:r>
                      <a:endParaRPr lang="en-US" sz="2800" i="1"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4325734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1"/>
          </p:nvPr>
        </p:nvSpPr>
        <p:spPr>
          <a:xfrm>
            <a:off x="228600" y="533400"/>
            <a:ext cx="11734800" cy="5788025"/>
          </a:xfrm>
        </p:spPr>
        <p:txBody>
          <a:bodyPr>
            <a:normAutofit/>
          </a:bodyPr>
          <a:lstStyle/>
          <a:p>
            <a:pPr marL="0" indent="0">
              <a:buNone/>
            </a:pPr>
            <a:r>
              <a:rPr lang="en-US" sz="3600" b="1" dirty="0" err="1" smtClean="0">
                <a:solidFill>
                  <a:srgbClr val="0070C0"/>
                </a:solidFill>
                <a:latin typeface="Times New Roman" panose="02020603050405020304" pitchFamily="18" charset="0"/>
                <a:cs typeface="Times New Roman" panose="02020603050405020304" pitchFamily="18" charset="0"/>
              </a:rPr>
              <a:t>Ðánh</a:t>
            </a:r>
            <a:r>
              <a:rPr lang="en-US" sz="3600" b="1" dirty="0" smtClean="0">
                <a:solidFill>
                  <a:srgbClr val="0070C0"/>
                </a:solidFill>
                <a:latin typeface="Times New Roman" panose="02020603050405020304" pitchFamily="18" charset="0"/>
                <a:cs typeface="Times New Roman" panose="02020603050405020304" pitchFamily="18" charset="0"/>
              </a:rPr>
              <a:t> </a:t>
            </a:r>
            <a:r>
              <a:rPr lang="en-US" sz="3600" b="1" dirty="0" err="1" smtClean="0">
                <a:solidFill>
                  <a:srgbClr val="0070C0"/>
                </a:solidFill>
                <a:latin typeface="Times New Roman" panose="02020603050405020304" pitchFamily="18" charset="0"/>
                <a:cs typeface="Times New Roman" panose="02020603050405020304" pitchFamily="18" charset="0"/>
              </a:rPr>
              <a:t>giá</a:t>
            </a:r>
            <a:r>
              <a:rPr lang="en-US" sz="3600" b="1" dirty="0" smtClean="0">
                <a:solidFill>
                  <a:srgbClr val="0070C0"/>
                </a:solidFill>
                <a:latin typeface="Times New Roman" panose="02020603050405020304" pitchFamily="18" charset="0"/>
                <a:cs typeface="Times New Roman" panose="02020603050405020304" pitchFamily="18" charset="0"/>
              </a:rPr>
              <a:t> </a:t>
            </a:r>
            <a:r>
              <a:rPr lang="en-US" sz="3600" b="1" err="1" smtClean="0">
                <a:solidFill>
                  <a:srgbClr val="0070C0"/>
                </a:solidFill>
                <a:latin typeface="Times New Roman" panose="02020603050405020304" pitchFamily="18" charset="0"/>
                <a:cs typeface="Times New Roman" panose="02020603050405020304" pitchFamily="18" charset="0"/>
              </a:rPr>
              <a:t>giải</a:t>
            </a:r>
            <a:r>
              <a:rPr lang="en-US" sz="3600" b="1" smtClean="0">
                <a:solidFill>
                  <a:srgbClr val="0070C0"/>
                </a:solidFill>
                <a:latin typeface="Times New Roman" panose="02020603050405020304" pitchFamily="18" charset="0"/>
                <a:cs typeface="Times New Roman" panose="02020603050405020304" pitchFamily="18" charset="0"/>
              </a:rPr>
              <a:t> thuật: </a:t>
            </a:r>
            <a:endParaRPr lang="en-US" sz="3600" dirty="0" smtClean="0">
              <a:solidFill>
                <a:srgbClr val="0070C0"/>
              </a:solidFill>
              <a:latin typeface="Times New Roman" panose="02020603050405020304" pitchFamily="18" charset="0"/>
              <a:cs typeface="Times New Roman" panose="02020603050405020304" pitchFamily="18" charset="0"/>
            </a:endParaRPr>
          </a:p>
          <a:p>
            <a:pPr algn="just">
              <a:buFont typeface="Wingdings" pitchFamily="2" charset="2"/>
              <a:buNone/>
            </a:pPr>
            <a:r>
              <a:rPr lang="en-US" sz="3600" smtClean="0">
                <a:solidFill>
                  <a:schemeClr val="bg1"/>
                </a:solidFill>
                <a:latin typeface="Times New Roman" panose="02020603050405020304" pitchFamily="18" charset="0"/>
                <a:cs typeface="Times New Roman" panose="02020603050405020304" pitchFamily="18" charset="0"/>
              </a:rPr>
              <a:t>		Số </a:t>
            </a:r>
            <a:r>
              <a:rPr lang="en-US" sz="3600" dirty="0" err="1" smtClean="0">
                <a:solidFill>
                  <a:schemeClr val="bg1"/>
                </a:solidFill>
                <a:latin typeface="Times New Roman" panose="02020603050405020304" pitchFamily="18" charset="0"/>
                <a:cs typeface="Times New Roman" panose="02020603050405020304" pitchFamily="18" charset="0"/>
              </a:rPr>
              <a:t>lượng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các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phép</a:t>
            </a:r>
            <a:r>
              <a:rPr lang="en-US" sz="3600" dirty="0" smtClean="0">
                <a:solidFill>
                  <a:schemeClr val="bg1"/>
                </a:solidFill>
                <a:latin typeface="Times New Roman" panose="02020603050405020304" pitchFamily="18" charset="0"/>
                <a:cs typeface="Times New Roman" panose="02020603050405020304" pitchFamily="18" charset="0"/>
              </a:rPr>
              <a:t> so </a:t>
            </a:r>
            <a:r>
              <a:rPr lang="en-US" sz="3600" dirty="0" err="1" smtClean="0">
                <a:solidFill>
                  <a:schemeClr val="bg1"/>
                </a:solidFill>
                <a:latin typeface="Times New Roman" panose="02020603050405020304" pitchFamily="18" charset="0"/>
                <a:cs typeface="Times New Roman" panose="02020603050405020304" pitchFamily="18" charset="0"/>
              </a:rPr>
              <a:t>sánh</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xảy</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ra</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không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phụ</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thuộc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vào</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tình</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trạng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của</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dãy</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số</a:t>
            </a:r>
            <a:r>
              <a:rPr lang="en-US" sz="3600" dirty="0" smtClean="0">
                <a:solidFill>
                  <a:schemeClr val="bg1"/>
                </a:solidFill>
                <a:latin typeface="Times New Roman" panose="02020603050405020304" pitchFamily="18" charset="0"/>
                <a:cs typeface="Times New Roman" panose="02020603050405020304" pitchFamily="18" charset="0"/>
              </a:rPr>
              <a:t> ban </a:t>
            </a:r>
            <a:r>
              <a:rPr lang="en-US" sz="3600" dirty="0" err="1" smtClean="0">
                <a:solidFill>
                  <a:schemeClr val="bg1"/>
                </a:solidFill>
                <a:latin typeface="Times New Roman" panose="02020603050405020304" pitchFamily="18" charset="0"/>
                <a:cs typeface="Times New Roman" panose="02020603050405020304" pitchFamily="18" charset="0"/>
              </a:rPr>
              <a:t>đầu</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nhưng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số</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lượng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phép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hoán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vị</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thực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hiện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tùy</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thuộc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vào</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kết</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quả</a:t>
            </a:r>
            <a:r>
              <a:rPr lang="en-US" sz="3600" dirty="0" smtClean="0">
                <a:solidFill>
                  <a:schemeClr val="bg1"/>
                </a:solidFill>
                <a:latin typeface="Times New Roman" panose="02020603050405020304" pitchFamily="18" charset="0"/>
                <a:cs typeface="Times New Roman" panose="02020603050405020304" pitchFamily="18" charset="0"/>
              </a:rPr>
              <a:t> so </a:t>
            </a:r>
            <a:r>
              <a:rPr lang="en-US" sz="3600" dirty="0" err="1" smtClean="0">
                <a:solidFill>
                  <a:schemeClr val="bg1"/>
                </a:solidFill>
                <a:latin typeface="Times New Roman" panose="02020603050405020304" pitchFamily="18" charset="0"/>
                <a:cs typeface="Times New Roman" panose="02020603050405020304" pitchFamily="18" charset="0"/>
              </a:rPr>
              <a:t>sánh</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có</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thể</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ước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lượng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trong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từng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trường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hợp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như</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sau</a:t>
            </a:r>
            <a:r>
              <a:rPr lang="en-US" sz="3600" dirty="0" smtClean="0">
                <a:solidFill>
                  <a:schemeClr val="bg1"/>
                </a:solidFill>
                <a:latin typeface="Times New Roman" panose="02020603050405020304" pitchFamily="18" charset="0"/>
                <a:cs typeface="Times New Roman" panose="02020603050405020304" pitchFamily="18" charset="0"/>
              </a:rPr>
              <a:t>:</a:t>
            </a:r>
          </a:p>
          <a:p>
            <a:endParaRPr lang="en-US" sz="360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9B609A07-A5D5-4646-A16B-D5E9A983B543}" type="slidenum">
              <a:rPr lang="en-US" smtClean="0"/>
              <a:pPr>
                <a:defRPr/>
              </a:pPr>
              <a:t>45</a:t>
            </a:fld>
            <a:endParaRPr lang="en-US"/>
          </a:p>
        </p:txBody>
      </p:sp>
      <p:pic>
        <p:nvPicPr>
          <p:cNvPr id="2355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3427412"/>
            <a:ext cx="9963351"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27037"/>
            <a:ext cx="8077200" cy="868363"/>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2. Chọn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24579" name="Content Placeholder 2"/>
          <p:cNvSpPr>
            <a:spLocks noGrp="1"/>
          </p:cNvSpPr>
          <p:nvPr>
            <p:ph idx="1"/>
          </p:nvPr>
        </p:nvSpPr>
        <p:spPr>
          <a:xfrm>
            <a:off x="609600" y="1069975"/>
            <a:ext cx="11049000" cy="5559425"/>
          </a:xfrm>
        </p:spPr>
        <p:txBody>
          <a:bodyPr>
            <a:noAutofit/>
          </a:bodyPr>
          <a:lstStyle/>
          <a:p>
            <a:pPr marL="0" indent="0" algn="just">
              <a:lnSpc>
                <a:spcPct val="150000"/>
              </a:lnSpc>
              <a:buNone/>
            </a:pPr>
            <a:r>
              <a:rPr lang="en-US" sz="4000" b="1" dirty="0">
                <a:solidFill>
                  <a:srgbClr val="0070C0"/>
                </a:solidFill>
                <a:latin typeface="Times New Roman" panose="02020603050405020304" pitchFamily="18" charset="0"/>
                <a:cs typeface="Times New Roman" panose="02020603050405020304" pitchFamily="18" charset="0"/>
              </a:rPr>
              <a:t>Ý </a:t>
            </a:r>
            <a:r>
              <a:rPr lang="en-US" sz="4000" b="1" dirty="0" err="1">
                <a:solidFill>
                  <a:srgbClr val="0070C0"/>
                </a:solidFill>
                <a:latin typeface="Times New Roman" panose="02020603050405020304" pitchFamily="18" charset="0"/>
                <a:cs typeface="Times New Roman" panose="02020603050405020304" pitchFamily="18" charset="0"/>
              </a:rPr>
              <a:t>tưởng</a:t>
            </a:r>
            <a:r>
              <a:rPr lang="en-US" sz="4000" b="1" dirty="0">
                <a:solidFill>
                  <a:srgbClr val="0070C0"/>
                </a:solidFill>
                <a:latin typeface="Times New Roman" panose="02020603050405020304" pitchFamily="18" charset="0"/>
                <a:cs typeface="Times New Roman" panose="02020603050405020304" pitchFamily="18" charset="0"/>
              </a:rPr>
              <a:t>:</a:t>
            </a:r>
          </a:p>
          <a:p>
            <a:pPr marL="0" indent="0" algn="just">
              <a:lnSpc>
                <a:spcPct val="150000"/>
              </a:lnSpc>
              <a:buNone/>
            </a:pPr>
            <a:r>
              <a:rPr lang="en-US" sz="3600" dirty="0" err="1">
                <a:solidFill>
                  <a:schemeClr val="bg1"/>
                </a:solidFill>
                <a:latin typeface="Times New Roman" panose="02020603050405020304" pitchFamily="18" charset="0"/>
                <a:cs typeface="Times New Roman" panose="02020603050405020304" pitchFamily="18" charset="0"/>
              </a:rPr>
              <a:t>Chọn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phần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nhỏ</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nhất</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trong</a:t>
            </a:r>
            <a:r>
              <a:rPr lang="en-US" sz="3600" dirty="0">
                <a:solidFill>
                  <a:schemeClr val="bg1"/>
                </a:solidFill>
                <a:latin typeface="Times New Roman" panose="02020603050405020304" pitchFamily="18" charset="0"/>
                <a:cs typeface="Times New Roman" panose="02020603050405020304" pitchFamily="18" charset="0"/>
              </a:rPr>
              <a:t> N </a:t>
            </a:r>
            <a:r>
              <a:rPr lang="en-US" sz="3600" dirty="0" err="1">
                <a:solidFill>
                  <a:schemeClr val="bg1"/>
                </a:solidFill>
                <a:latin typeface="Times New Roman" panose="02020603050405020304" pitchFamily="18" charset="0"/>
                <a:cs typeface="Times New Roman" panose="02020603050405020304" pitchFamily="18" charset="0"/>
              </a:rPr>
              <a:t>phần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tử</a:t>
            </a:r>
            <a:r>
              <a:rPr lang="en-US" sz="3600" dirty="0">
                <a:solidFill>
                  <a:schemeClr val="bg1"/>
                </a:solidFill>
                <a:latin typeface="Times New Roman" panose="02020603050405020304" pitchFamily="18" charset="0"/>
                <a:cs typeface="Times New Roman" panose="02020603050405020304" pitchFamily="18" charset="0"/>
              </a:rPr>
              <a:t> ban </a:t>
            </a:r>
            <a:r>
              <a:rPr lang="en-US" sz="3600" dirty="0" err="1">
                <a:solidFill>
                  <a:schemeClr val="bg1"/>
                </a:solidFill>
                <a:latin typeface="Times New Roman" panose="02020603050405020304" pitchFamily="18" charset="0"/>
                <a:cs typeface="Times New Roman" panose="02020603050405020304" pitchFamily="18" charset="0"/>
              </a:rPr>
              <a:t>đầu</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đưa</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phần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này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về</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vị</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trí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đúng</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là</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đầu</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hiện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hành</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lúc</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này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hiện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hành</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chỉ</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còn</a:t>
            </a:r>
            <a:r>
              <a:rPr lang="en-US" sz="3600" dirty="0">
                <a:solidFill>
                  <a:schemeClr val="bg1"/>
                </a:solidFill>
                <a:latin typeface="Times New Roman" panose="02020603050405020304" pitchFamily="18" charset="0"/>
                <a:cs typeface="Times New Roman" panose="02020603050405020304" pitchFamily="18" charset="0"/>
              </a:rPr>
              <a:t> N-1 </a:t>
            </a:r>
            <a:r>
              <a:rPr lang="en-US" sz="3600" dirty="0" err="1">
                <a:solidFill>
                  <a:schemeClr val="bg1"/>
                </a:solidFill>
                <a:latin typeface="Times New Roman" panose="02020603050405020304" pitchFamily="18" charset="0"/>
                <a:cs typeface="Times New Roman" panose="02020603050405020304" pitchFamily="18" charset="0"/>
              </a:rPr>
              <a:t>phần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sắp</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xếp</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bắt</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đầu</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từ</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vị</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trí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thứ</a:t>
            </a:r>
            <a:r>
              <a:rPr lang="en-US" sz="3600" dirty="0">
                <a:solidFill>
                  <a:schemeClr val="bg1"/>
                </a:solidFill>
                <a:latin typeface="Times New Roman" panose="02020603050405020304" pitchFamily="18" charset="0"/>
                <a:cs typeface="Times New Roman" panose="02020603050405020304" pitchFamily="18" charset="0"/>
              </a:rPr>
              <a:t> 2; </a:t>
            </a:r>
            <a:r>
              <a:rPr lang="en-US" sz="3600" dirty="0" err="1">
                <a:solidFill>
                  <a:schemeClr val="bg1"/>
                </a:solidFill>
                <a:latin typeface="Times New Roman" panose="02020603050405020304" pitchFamily="18" charset="0"/>
                <a:cs typeface="Times New Roman" panose="02020603050405020304" pitchFamily="18" charset="0"/>
              </a:rPr>
              <a:t>lặp</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lại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quá</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trình</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trên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cho</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hiện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hành</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đến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khi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hiện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hành</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chỉ</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còn</a:t>
            </a:r>
            <a:r>
              <a:rPr lang="en-US" sz="3600" dirty="0">
                <a:solidFill>
                  <a:schemeClr val="bg1"/>
                </a:solidFill>
                <a:latin typeface="Times New Roman" panose="02020603050405020304" pitchFamily="18" charset="0"/>
                <a:cs typeface="Times New Roman" panose="02020603050405020304" pitchFamily="18" charset="0"/>
              </a:rPr>
              <a:t> 1 </a:t>
            </a:r>
            <a:r>
              <a:rPr lang="en-US" sz="3600" dirty="0" err="1">
                <a:solidFill>
                  <a:schemeClr val="bg1"/>
                </a:solidFill>
                <a:latin typeface="Times New Roman" panose="02020603050405020304" pitchFamily="18" charset="0"/>
                <a:cs typeface="Times New Roman" panose="02020603050405020304" pitchFamily="18" charset="0"/>
              </a:rPr>
              <a:t>phần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tử</a:t>
            </a: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F0457E5E-540B-4D03-9421-E94588DAC248}" type="slidenum">
              <a:rPr lang="en-US" smtClean="0"/>
              <a:pPr>
                <a:defRPr/>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0457E5E-540B-4D03-9421-E94588DAC248}" type="slidenum">
              <a:rPr lang="en-US" smtClean="0"/>
              <a:pPr>
                <a:defRPr/>
              </a:pPr>
              <a:t>47</a:t>
            </a:fld>
            <a:endParaRPr lang="en-US"/>
          </a:p>
        </p:txBody>
      </p:sp>
      <p:sp>
        <p:nvSpPr>
          <p:cNvPr id="10" name="Title 1"/>
          <p:cNvSpPr>
            <a:spLocks noGrp="1"/>
          </p:cNvSpPr>
          <p:nvPr>
            <p:ph type="title"/>
          </p:nvPr>
        </p:nvSpPr>
        <p:spPr>
          <a:xfrm>
            <a:off x="533400" y="427037"/>
            <a:ext cx="8077200" cy="868363"/>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2. Chọn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109662" y="1676400"/>
            <a:ext cx="10210800" cy="1323439"/>
          </a:xfrm>
          <a:prstGeom prst="rect">
            <a:avLst/>
          </a:prstGeom>
        </p:spPr>
        <p:txBody>
          <a:bodyPr wrap="square">
            <a:spAutoFit/>
          </a:bodyPr>
          <a:lstStyle/>
          <a:p>
            <a:r>
              <a:rPr lang="en-US" sz="4000" smtClean="0">
                <a:solidFill>
                  <a:schemeClr val="bg1"/>
                </a:solidFill>
                <a:latin typeface="Times New Roman" panose="02020603050405020304" pitchFamily="18" charset="0"/>
                <a:cs typeface="Times New Roman" panose="02020603050405020304" pitchFamily="18" charset="0"/>
              </a:rPr>
              <a:t>	Làm </a:t>
            </a:r>
            <a:r>
              <a:rPr lang="en-US" sz="4000">
                <a:solidFill>
                  <a:schemeClr val="bg1"/>
                </a:solidFill>
                <a:latin typeface="Times New Roman" panose="02020603050405020304" pitchFamily="18" charset="0"/>
                <a:cs typeface="Times New Roman" panose="02020603050405020304" pitchFamily="18" charset="0"/>
              </a:rPr>
              <a:t>sao để xác định được vị trí phần tử có giá trị nhỏ nhất trong một dãy gồm N phần tử?</a:t>
            </a:r>
          </a:p>
        </p:txBody>
      </p:sp>
    </p:spTree>
    <p:extLst>
      <p:ext uri="{BB962C8B-B14F-4D97-AF65-F5344CB8AC3E}">
        <p14:creationId xmlns:p14="http://schemas.microsoft.com/office/powerpoint/2010/main" val="18131345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1"/>
          </p:nvPr>
        </p:nvSpPr>
        <p:spPr>
          <a:xfrm>
            <a:off x="533400" y="457201"/>
            <a:ext cx="11277600" cy="6016625"/>
          </a:xfrm>
        </p:spPr>
        <p:txBody>
          <a:bodyPr>
            <a:normAutofit/>
          </a:bodyPr>
          <a:lstStyle/>
          <a:p>
            <a:pPr marL="0" indent="0">
              <a:buNone/>
            </a:pPr>
            <a:r>
              <a:rPr lang="en-US" sz="4400" b="1" err="1">
                <a:solidFill>
                  <a:srgbClr val="0070C0"/>
                </a:solidFill>
                <a:latin typeface="Times New Roman" panose="02020603050405020304" pitchFamily="18" charset="0"/>
                <a:cs typeface="Times New Roman" panose="02020603050405020304" pitchFamily="18" charset="0"/>
              </a:rPr>
              <a:t>Giải</a:t>
            </a:r>
            <a:r>
              <a:rPr lang="en-US" sz="4400" b="1">
                <a:solidFill>
                  <a:srgbClr val="0070C0"/>
                </a:solidFill>
                <a:latin typeface="Times New Roman" panose="02020603050405020304" pitchFamily="18" charset="0"/>
                <a:cs typeface="Times New Roman" panose="02020603050405020304" pitchFamily="18" charset="0"/>
              </a:rPr>
              <a:t> </a:t>
            </a:r>
            <a:r>
              <a:rPr lang="en-US" sz="4400" b="1" smtClean="0">
                <a:solidFill>
                  <a:srgbClr val="0070C0"/>
                </a:solidFill>
                <a:latin typeface="Times New Roman" panose="02020603050405020304" pitchFamily="18" charset="0"/>
                <a:cs typeface="Times New Roman" panose="02020603050405020304" pitchFamily="18" charset="0"/>
              </a:rPr>
              <a:t>thuật:</a:t>
            </a:r>
            <a:endParaRPr lang="en-US" sz="4400" b="1" dirty="0">
              <a:solidFill>
                <a:srgbClr val="0070C0"/>
              </a:solidFill>
              <a:latin typeface="Times New Roman" panose="02020603050405020304" pitchFamily="18" charset="0"/>
              <a:cs typeface="Times New Roman" panose="02020603050405020304" pitchFamily="18" charset="0"/>
            </a:endParaRPr>
          </a:p>
          <a:p>
            <a:pPr lvl="1">
              <a:buFont typeface="Wingdings 2" pitchFamily="18" charset="2"/>
              <a:buNone/>
            </a:pPr>
            <a:r>
              <a:rPr lang="en-US" sz="3600" u="sng" dirty="0" err="1">
                <a:solidFill>
                  <a:schemeClr val="bg1"/>
                </a:solidFill>
                <a:latin typeface="Times New Roman" panose="02020603050405020304" pitchFamily="18" charset="0"/>
                <a:cs typeface="Times New Roman" panose="02020603050405020304" pitchFamily="18" charset="0"/>
              </a:rPr>
              <a:t>Bước</a:t>
            </a:r>
            <a:r>
              <a:rPr lang="en-US" sz="3600" u="sng" dirty="0">
                <a:solidFill>
                  <a:schemeClr val="bg1"/>
                </a:solidFill>
                <a:latin typeface="Times New Roman" panose="02020603050405020304" pitchFamily="18" charset="0"/>
                <a:cs typeface="Times New Roman" panose="02020603050405020304" pitchFamily="18" charset="0"/>
              </a:rPr>
              <a:t> 1</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 1; </a:t>
            </a:r>
          </a:p>
          <a:p>
            <a:pPr lvl="1">
              <a:buFont typeface="Wingdings 2" pitchFamily="18" charset="2"/>
              <a:buNone/>
            </a:pPr>
            <a:r>
              <a:rPr lang="en-US" sz="3600" u="sng" dirty="0" err="1">
                <a:solidFill>
                  <a:schemeClr val="bg1"/>
                </a:solidFill>
                <a:latin typeface="Times New Roman" panose="02020603050405020304" pitchFamily="18" charset="0"/>
                <a:cs typeface="Times New Roman" panose="02020603050405020304" pitchFamily="18" charset="0"/>
              </a:rPr>
              <a:t>Bước</a:t>
            </a:r>
            <a:r>
              <a:rPr lang="en-US" sz="3600" u="sng" dirty="0">
                <a:solidFill>
                  <a:schemeClr val="bg1"/>
                </a:solidFill>
                <a:latin typeface="Times New Roman" panose="02020603050405020304" pitchFamily="18" charset="0"/>
                <a:cs typeface="Times New Roman" panose="02020603050405020304" pitchFamily="18" charset="0"/>
              </a:rPr>
              <a:t> 2</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Tìm</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phần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tử</a:t>
            </a:r>
            <a:r>
              <a:rPr lang="en-US" sz="3600" dirty="0">
                <a:solidFill>
                  <a:schemeClr val="bg1"/>
                </a:solidFill>
                <a:latin typeface="Times New Roman" panose="02020603050405020304" pitchFamily="18" charset="0"/>
                <a:cs typeface="Times New Roman" panose="02020603050405020304" pitchFamily="18" charset="0"/>
              </a:rPr>
              <a:t> a[</a:t>
            </a:r>
            <a:r>
              <a:rPr lang="en-US" sz="3600" dirty="0" err="1">
                <a:solidFill>
                  <a:schemeClr val="bg1"/>
                </a:solidFill>
                <a:latin typeface="Times New Roman" panose="02020603050405020304" pitchFamily="18" charset="0"/>
                <a:cs typeface="Times New Roman" panose="02020603050405020304" pitchFamily="18" charset="0"/>
              </a:rPr>
              <a:t>vtmin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nhỏ</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nhất</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trong</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hiện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hành</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từ</a:t>
            </a:r>
            <a:r>
              <a:rPr lang="en-US" sz="3600" dirty="0">
                <a:solidFill>
                  <a:schemeClr val="bg1"/>
                </a:solidFill>
                <a:latin typeface="Times New Roman" panose="02020603050405020304" pitchFamily="18" charset="0"/>
                <a:cs typeface="Times New Roman" panose="02020603050405020304" pitchFamily="18" charset="0"/>
              </a:rPr>
              <a:t>  a[</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đến</a:t>
            </a:r>
            <a:r>
              <a:rPr lang="en-US" sz="3600" dirty="0">
                <a:solidFill>
                  <a:schemeClr val="bg1"/>
                </a:solidFill>
                <a:latin typeface="Times New Roman" panose="02020603050405020304" pitchFamily="18" charset="0"/>
                <a:cs typeface="Times New Roman" panose="02020603050405020304" pitchFamily="18" charset="0"/>
              </a:rPr>
              <a:t> a[N] </a:t>
            </a:r>
          </a:p>
          <a:p>
            <a:pPr lvl="1">
              <a:buFont typeface="Wingdings 2" pitchFamily="18" charset="2"/>
              <a:buNone/>
            </a:pPr>
            <a:r>
              <a:rPr lang="en-US" sz="3600" u="sng" dirty="0" err="1">
                <a:solidFill>
                  <a:schemeClr val="bg1"/>
                </a:solidFill>
                <a:latin typeface="Times New Roman" panose="02020603050405020304" pitchFamily="18" charset="0"/>
                <a:cs typeface="Times New Roman" panose="02020603050405020304" pitchFamily="18" charset="0"/>
              </a:rPr>
              <a:t>Bước</a:t>
            </a:r>
            <a:r>
              <a:rPr lang="en-US" sz="3600" u="sng" dirty="0">
                <a:solidFill>
                  <a:schemeClr val="bg1"/>
                </a:solidFill>
                <a:latin typeface="Times New Roman" panose="02020603050405020304" pitchFamily="18" charset="0"/>
                <a:cs typeface="Times New Roman" panose="02020603050405020304" pitchFamily="18" charset="0"/>
              </a:rPr>
              <a:t> 3:</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Hoán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vị</a:t>
            </a:r>
            <a:r>
              <a:rPr lang="en-US" sz="3600" dirty="0">
                <a:solidFill>
                  <a:schemeClr val="bg1"/>
                </a:solidFill>
                <a:latin typeface="Times New Roman" panose="02020603050405020304" pitchFamily="18" charset="0"/>
                <a:cs typeface="Times New Roman" panose="02020603050405020304" pitchFamily="18" charset="0"/>
              </a:rPr>
              <a:t> a[</a:t>
            </a:r>
            <a:r>
              <a:rPr lang="en-US" sz="3600" dirty="0" err="1">
                <a:solidFill>
                  <a:schemeClr val="bg1"/>
                </a:solidFill>
                <a:latin typeface="Times New Roman" panose="02020603050405020304" pitchFamily="18" charset="0"/>
                <a:cs typeface="Times New Roman" panose="02020603050405020304" pitchFamily="18" charset="0"/>
              </a:rPr>
              <a:t>vtmin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và</a:t>
            </a:r>
            <a:r>
              <a:rPr lang="en-US" sz="3600" dirty="0">
                <a:solidFill>
                  <a:schemeClr val="bg1"/>
                </a:solidFill>
                <a:latin typeface="Times New Roman" panose="02020603050405020304" pitchFamily="18" charset="0"/>
                <a:cs typeface="Times New Roman" panose="02020603050405020304" pitchFamily="18" charset="0"/>
              </a:rPr>
              <a:t> a[</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a:t>
            </a:r>
          </a:p>
          <a:p>
            <a:pPr lvl="1">
              <a:buFont typeface="Wingdings 2" pitchFamily="18" charset="2"/>
              <a:buNone/>
            </a:pPr>
            <a:r>
              <a:rPr lang="en-US" sz="3600" u="sng" dirty="0" err="1">
                <a:solidFill>
                  <a:schemeClr val="bg1"/>
                </a:solidFill>
                <a:latin typeface="Times New Roman" panose="02020603050405020304" pitchFamily="18" charset="0"/>
                <a:cs typeface="Times New Roman" panose="02020603050405020304" pitchFamily="18" charset="0"/>
              </a:rPr>
              <a:t>Bước</a:t>
            </a:r>
            <a:r>
              <a:rPr lang="en-US" sz="3600" u="sng" dirty="0">
                <a:solidFill>
                  <a:schemeClr val="bg1"/>
                </a:solidFill>
                <a:latin typeface="Times New Roman" panose="02020603050405020304" pitchFamily="18" charset="0"/>
                <a:cs typeface="Times New Roman" panose="02020603050405020304" pitchFamily="18" charset="0"/>
              </a:rPr>
              <a:t> 4</a:t>
            </a:r>
            <a:r>
              <a:rPr lang="en-US" sz="3600" dirty="0">
                <a:solidFill>
                  <a:schemeClr val="bg1"/>
                </a:solidFill>
                <a:latin typeface="Times New Roman" panose="02020603050405020304" pitchFamily="18" charset="0"/>
                <a:cs typeface="Times New Roman" panose="02020603050405020304" pitchFamily="18" charset="0"/>
              </a:rPr>
              <a:t>: </a:t>
            </a:r>
          </a:p>
          <a:p>
            <a:pPr lvl="1">
              <a:buFont typeface="Wingdings 2" pitchFamily="18" charset="2"/>
              <a:buNone/>
            </a:pP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 i+1</a:t>
            </a:r>
          </a:p>
          <a:p>
            <a:pPr lvl="1">
              <a:buFont typeface="Wingdings 2" pitchFamily="18" charset="2"/>
              <a:buNone/>
            </a:pPr>
            <a:r>
              <a:rPr lang="en-US" sz="3600" dirty="0">
                <a:solidFill>
                  <a:schemeClr val="bg1"/>
                </a:solidFill>
                <a:latin typeface="Times New Roman" panose="02020603050405020304" pitchFamily="18" charset="0"/>
                <a:cs typeface="Times New Roman" panose="02020603050405020304" pitchFamily="18" charset="0"/>
              </a:rPr>
              <a:t>		</a:t>
            </a:r>
            <a:r>
              <a:rPr lang="en-US" sz="3600">
                <a:solidFill>
                  <a:schemeClr val="bg1"/>
                </a:solidFill>
                <a:latin typeface="Times New Roman" panose="02020603050405020304" pitchFamily="18" charset="0"/>
                <a:cs typeface="Times New Roman" panose="02020603050405020304" pitchFamily="18" charset="0"/>
              </a:rPr>
              <a:t>        </a:t>
            </a:r>
            <a:r>
              <a:rPr lang="en-US" sz="3600" smtClean="0">
                <a:solidFill>
                  <a:schemeClr val="bg1"/>
                </a:solidFill>
                <a:latin typeface="Times New Roman" panose="02020603050405020304" pitchFamily="18" charset="0"/>
                <a:cs typeface="Times New Roman" panose="02020603050405020304" pitchFamily="18" charset="0"/>
              </a:rPr>
              <a:t>Nếu i &lt; </a:t>
            </a:r>
            <a:r>
              <a:rPr lang="en-US" sz="3600" dirty="0">
                <a:solidFill>
                  <a:schemeClr val="bg1"/>
                </a:solidFill>
                <a:latin typeface="Times New Roman" panose="02020603050405020304" pitchFamily="18" charset="0"/>
                <a:cs typeface="Times New Roman" panose="02020603050405020304" pitchFamily="18" charset="0"/>
              </a:rPr>
              <a:t>N </a:t>
            </a:r>
            <a:r>
              <a:rPr lang="en-US" sz="3600" dirty="0" err="1">
                <a:solidFill>
                  <a:schemeClr val="bg1"/>
                </a:solidFill>
                <a:latin typeface="Times New Roman" panose="02020603050405020304" pitchFamily="18" charset="0"/>
                <a:cs typeface="Times New Roman" panose="02020603050405020304" pitchFamily="18" charset="0"/>
              </a:rPr>
              <a:t>thì</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lặp</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lại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Bước</a:t>
            </a:r>
            <a:r>
              <a:rPr lang="en-US" sz="3600" dirty="0">
                <a:solidFill>
                  <a:schemeClr val="bg1"/>
                </a:solidFill>
                <a:latin typeface="Times New Roman" panose="02020603050405020304" pitchFamily="18" charset="0"/>
                <a:cs typeface="Times New Roman" panose="02020603050405020304" pitchFamily="18" charset="0"/>
              </a:rPr>
              <a:t> 2 </a:t>
            </a:r>
            <a:br>
              <a:rPr lang="en-US" sz="3600" dirty="0">
                <a:solidFill>
                  <a:schemeClr val="bg1"/>
                </a:solidFill>
                <a:latin typeface="Times New Roman" panose="02020603050405020304" pitchFamily="18" charset="0"/>
                <a:cs typeface="Times New Roman" panose="02020603050405020304" pitchFamily="18" charset="0"/>
              </a:rPr>
            </a:b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Ngược</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lại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Dừng</a:t>
            </a:r>
            <a:r>
              <a:rPr lang="en-US" sz="2800" dirty="0" smtClean="0">
                <a:solidFill>
                  <a:schemeClr val="bg1"/>
                </a:solidFill>
                <a:latin typeface="Times New Roman" panose="02020603050405020304" pitchFamily="18" charset="0"/>
                <a:cs typeface="Times New Roman" panose="02020603050405020304" pitchFamily="18" charset="0"/>
              </a:rPr>
              <a:t>.</a:t>
            </a:r>
          </a:p>
          <a:p>
            <a:endParaRPr lang="en-US" sz="320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812D58B-28F1-4BB0-A756-5AB7D666C089}" type="slidenum">
              <a:rPr lang="en-US" smtClean="0"/>
              <a:pPr>
                <a:defRPr/>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23831444"/>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49</a:t>
            </a:fld>
            <a:endParaRPr lang="en-US"/>
          </a:p>
        </p:txBody>
      </p:sp>
      <p:sp>
        <p:nvSpPr>
          <p:cNvPr id="19" name="Rectangle 18"/>
          <p:cNvSpPr/>
          <p:nvPr/>
        </p:nvSpPr>
        <p:spPr>
          <a:xfrm>
            <a:off x="2362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6934200"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914400" y="1409481"/>
            <a:ext cx="10515600" cy="646331"/>
          </a:xfrm>
          <a:prstGeom prst="rect">
            <a:avLst/>
          </a:prstGeom>
          <a:noFill/>
        </p:spPr>
        <p:txBody>
          <a:bodyPr wrap="square">
            <a:spAutoFit/>
          </a:bodyPr>
          <a:lstStyle/>
          <a:p>
            <a:pPr algn="just">
              <a:defRPr/>
            </a:pPr>
            <a:r>
              <a:rPr lang="en-US" sz="3600">
                <a:solidFill>
                  <a:srgbClr val="C00000"/>
                </a:solidFill>
                <a:latin typeface="Times New Roman" panose="02020603050405020304" pitchFamily="18" charset="0"/>
                <a:cs typeface="Times New Roman" panose="02020603050405020304" pitchFamily="18" charset="0"/>
              </a:rPr>
              <a:t>Giả sử cần tìm vị trí phần tử nhỏ nhất trong dãy số sau ? </a:t>
            </a:r>
          </a:p>
        </p:txBody>
      </p:sp>
      <p:sp>
        <p:nvSpPr>
          <p:cNvPr id="16" name="Title 1"/>
          <p:cNvSpPr>
            <a:spLocks noGrp="1"/>
          </p:cNvSpPr>
          <p:nvPr>
            <p:ph type="title"/>
          </p:nvPr>
        </p:nvSpPr>
        <p:spPr>
          <a:xfrm>
            <a:off x="533400" y="427037"/>
            <a:ext cx="8077200" cy="868363"/>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2. Chọn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15835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988011951"/>
              </p:ext>
            </p:extLst>
          </p:nvPr>
        </p:nvGraphicFramePr>
        <p:xfrm>
          <a:off x="2362200" y="53308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3">
                        <a:lumMod val="50000"/>
                      </a:schemeClr>
                    </a:solid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50</a:t>
            </a:fld>
            <a:endParaRPr lang="en-US"/>
          </a:p>
        </p:txBody>
      </p:sp>
      <p:sp>
        <p:nvSpPr>
          <p:cNvPr id="19" name="Rectangle 18"/>
          <p:cNvSpPr/>
          <p:nvPr/>
        </p:nvSpPr>
        <p:spPr>
          <a:xfrm>
            <a:off x="2362200" y="35020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43815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40767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45624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7306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46831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8924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6934200" y="49117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1066800" y="1143000"/>
            <a:ext cx="10439400" cy="1200329"/>
          </a:xfrm>
          <a:prstGeom prst="rect">
            <a:avLst/>
          </a:prstGeom>
          <a:noFill/>
        </p:spPr>
        <p:txBody>
          <a:bodyPr wrap="square">
            <a:spAutoFit/>
          </a:bodyPr>
          <a:lstStyle/>
          <a:p>
            <a:pPr algn="just">
              <a:defRPr/>
            </a:pPr>
            <a:r>
              <a:rPr lang="en-US" sz="3600">
                <a:solidFill>
                  <a:srgbClr val="C00000"/>
                </a:solidFill>
                <a:latin typeface="Times New Roman" panose="02020603050405020304" pitchFamily="18" charset="0"/>
                <a:cs typeface="Times New Roman" panose="02020603050405020304" pitchFamily="18" charset="0"/>
              </a:rPr>
              <a:t>Bước 1: Giả sử vị trí phần tử nhỏ nhất là 1 (vtmin), phần tử này có giá trị 10 </a:t>
            </a:r>
          </a:p>
        </p:txBody>
      </p:sp>
      <p:sp>
        <p:nvSpPr>
          <p:cNvPr id="14" name="Down Arrow Callout 13"/>
          <p:cNvSpPr/>
          <p:nvPr/>
        </p:nvSpPr>
        <p:spPr>
          <a:xfrm>
            <a:off x="2362200" y="25146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vtmin</a:t>
            </a:r>
          </a:p>
        </p:txBody>
      </p:sp>
      <p:sp>
        <p:nvSpPr>
          <p:cNvPr id="16" name="Title 1"/>
          <p:cNvSpPr>
            <a:spLocks noGrp="1"/>
          </p:cNvSpPr>
          <p:nvPr>
            <p:ph type="title"/>
          </p:nvPr>
        </p:nvSpPr>
        <p:spPr>
          <a:xfrm>
            <a:off x="533400" y="427037"/>
            <a:ext cx="8077200" cy="868363"/>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2. Chọn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075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133432854"/>
              </p:ext>
            </p:extLst>
          </p:nvPr>
        </p:nvGraphicFramePr>
        <p:xfrm>
          <a:off x="2362200" y="58642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3">
                        <a:lumMod val="50000"/>
                      </a:schemeClr>
                    </a:solid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51</a:t>
            </a:fld>
            <a:endParaRPr lang="en-US"/>
          </a:p>
        </p:txBody>
      </p:sp>
      <p:sp>
        <p:nvSpPr>
          <p:cNvPr id="18" name="Rectangle 17"/>
          <p:cNvSpPr/>
          <p:nvPr/>
        </p:nvSpPr>
        <p:spPr>
          <a:xfrm>
            <a:off x="3276599" y="49149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46101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50958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42640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52165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34258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6934200" y="54451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533400" y="1173540"/>
            <a:ext cx="11277600" cy="1569660"/>
          </a:xfrm>
          <a:prstGeom prst="rect">
            <a:avLst/>
          </a:prstGeom>
          <a:noFill/>
        </p:spPr>
        <p:txBody>
          <a:bodyPr wrap="square">
            <a:spAutoFit/>
          </a:bodyPr>
          <a:lstStyle/>
          <a:p>
            <a:pPr algn="just">
              <a:defRPr/>
            </a:pPr>
            <a:r>
              <a:rPr lang="en-US" sz="3200">
                <a:solidFill>
                  <a:srgbClr val="C00000"/>
                </a:solidFill>
                <a:latin typeface="Times New Roman" panose="02020603050405020304" pitchFamily="18" charset="0"/>
                <a:cs typeface="Times New Roman" panose="02020603050405020304" pitchFamily="18" charset="0"/>
              </a:rPr>
              <a:t>Bước 2: So sánh giá trị tại vtmin với tất cả giá trị tại vị trí còn lại (từ 2 đến 8), nếu có phần tử nào nhỏ hơn phần tử tại vtmin thì cập nhật lại vtmin  </a:t>
            </a:r>
          </a:p>
        </p:txBody>
      </p:sp>
      <p:sp>
        <p:nvSpPr>
          <p:cNvPr id="14" name="Down Arrow Callout 13"/>
          <p:cNvSpPr/>
          <p:nvPr/>
        </p:nvSpPr>
        <p:spPr>
          <a:xfrm>
            <a:off x="2362200" y="30480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vtmin</a:t>
            </a:r>
          </a:p>
        </p:txBody>
      </p:sp>
      <p:sp>
        <p:nvSpPr>
          <p:cNvPr id="3" name="Oval Callout 2"/>
          <p:cNvSpPr/>
          <p:nvPr/>
        </p:nvSpPr>
        <p:spPr>
          <a:xfrm>
            <a:off x="4419600" y="2181255"/>
            <a:ext cx="3352800" cy="1854170"/>
          </a:xfrm>
          <a:prstGeom prst="wedgeEllipseCallout">
            <a:avLst>
              <a:gd name="adj1" fmla="val -70265"/>
              <a:gd name="adj2" fmla="val 363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5 nhỏ hơn 10 nên cập nhật vị trí min</a:t>
            </a:r>
          </a:p>
        </p:txBody>
      </p:sp>
      <p:sp>
        <p:nvSpPr>
          <p:cNvPr id="19" name="Rectangle 18"/>
          <p:cNvSpPr/>
          <p:nvPr/>
        </p:nvSpPr>
        <p:spPr>
          <a:xfrm>
            <a:off x="2362200" y="40354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6" name="Title 1"/>
          <p:cNvSpPr>
            <a:spLocks noGrp="1"/>
          </p:cNvSpPr>
          <p:nvPr>
            <p:ph type="title"/>
          </p:nvPr>
        </p:nvSpPr>
        <p:spPr>
          <a:xfrm>
            <a:off x="533400" y="427037"/>
            <a:ext cx="8077200" cy="868363"/>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2. Chọn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6542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0 0 L 0 -0.25 E" pathEditMode="relative" ptsTypes="">
                                      <p:cBhvr>
                                        <p:cTn id="6" dur="2000" fill="hold"/>
                                        <p:tgtEl>
                                          <p:spTgt spid="19"/>
                                        </p:tgtEl>
                                        <p:attrNameLst>
                                          <p:attrName>ppt_x</p:attrName>
                                          <p:attrName>ppt_y</p:attrName>
                                        </p:attrNameLst>
                                      </p:cBhvr>
                                    </p:animMotion>
                                  </p:childTnLst>
                                </p:cTn>
                              </p:par>
                            </p:childTnLst>
                          </p:cTn>
                        </p:par>
                        <p:par>
                          <p:cTn id="7" fill="hold">
                            <p:stCondLst>
                              <p:cond delay="2000"/>
                            </p:stCondLst>
                            <p:childTnLst>
                              <p:par>
                                <p:cTn id="8" presetID="64" presetClass="path" presetSubtype="0" accel="50000" decel="50000" fill="hold" grpId="0" nodeType="afterEffect">
                                  <p:stCondLst>
                                    <p:cond delay="0"/>
                                  </p:stCondLst>
                                  <p:childTnLst>
                                    <p:animMotion origin="layout" path="M 0 0 L 0 -0.25 E" pathEditMode="relative" ptsTypes="">
                                      <p:cBhvr>
                                        <p:cTn id="9" dur="2000" fill="hold"/>
                                        <p:tgtEl>
                                          <p:spTgt spid="18"/>
                                        </p:tgtEl>
                                        <p:attrNameLst>
                                          <p:attrName>ppt_x</p:attrName>
                                          <p:attrName>ppt_y</p:attrName>
                                        </p:attrNameLst>
                                      </p:cBhvr>
                                    </p:animMotion>
                                  </p:childTnLst>
                                </p:cTn>
                              </p:par>
                            </p:childTnLst>
                          </p:cTn>
                        </p:par>
                        <p:par>
                          <p:cTn id="10" fill="hold">
                            <p:stCondLst>
                              <p:cond delay="4000"/>
                            </p:stCondLst>
                            <p:childTnLst>
                              <p:par>
                                <p:cTn id="11" presetID="1"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1" nodeType="clickEffect">
                                  <p:stCondLst>
                                    <p:cond delay="0"/>
                                  </p:stCondLst>
                                  <p:childTnLst>
                                    <p:animMotion origin="layout" path="M 0 -0.25 L 0 3.33333E-6 " pathEditMode="relative" rAng="0" ptsTypes="AA">
                                      <p:cBhvr>
                                        <p:cTn id="16" dur="2000" fill="hold"/>
                                        <p:tgtEl>
                                          <p:spTgt spid="19"/>
                                        </p:tgtEl>
                                        <p:attrNameLst>
                                          <p:attrName>ppt_x</p:attrName>
                                          <p:attrName>ppt_y</p:attrName>
                                        </p:attrNameLst>
                                      </p:cBhvr>
                                      <p:rCtr x="0" y="12500"/>
                                    </p:animMotion>
                                  </p:childTnLst>
                                </p:cTn>
                              </p:par>
                            </p:childTnLst>
                          </p:cTn>
                        </p:par>
                        <p:par>
                          <p:cTn id="17" fill="hold">
                            <p:stCondLst>
                              <p:cond delay="2000"/>
                            </p:stCondLst>
                            <p:childTnLst>
                              <p:par>
                                <p:cTn id="18" presetID="42" presetClass="path" presetSubtype="0" accel="50000" decel="50000" fill="hold" grpId="1" nodeType="afterEffect">
                                  <p:stCondLst>
                                    <p:cond delay="0"/>
                                  </p:stCondLst>
                                  <p:childTnLst>
                                    <p:animMotion origin="layout" path="M 0 -0.25 L 0 2.96296E-6 " pathEditMode="relative" rAng="0" ptsTypes="AA">
                                      <p:cBhvr>
                                        <p:cTn id="19" dur="2000" fill="hold"/>
                                        <p:tgtEl>
                                          <p:spTgt spid="18"/>
                                        </p:tgtEl>
                                        <p:attrNameLst>
                                          <p:attrName>ppt_x</p:attrName>
                                          <p:attrName>ppt_y</p:attrName>
                                        </p:attrNameLst>
                                      </p:cBhvr>
                                      <p:rCtr x="0" y="12500"/>
                                    </p:animMotion>
                                  </p:childTnLst>
                                </p:cTn>
                              </p:par>
                            </p:childTnLst>
                          </p:cTn>
                        </p:par>
                      </p:childTnLst>
                    </p:cTn>
                  </p:par>
                  <p:par>
                    <p:cTn id="20" fill="hold">
                      <p:stCondLst>
                        <p:cond delay="indefinite"/>
                      </p:stCondLst>
                      <p:childTnLst>
                        <p:par>
                          <p:cTn id="21" fill="hold">
                            <p:stCondLst>
                              <p:cond delay="0"/>
                            </p:stCondLst>
                            <p:childTnLst>
                              <p:par>
                                <p:cTn id="22" presetID="63" presetClass="path" presetSubtype="0" accel="50000" decel="50000" fill="hold" grpId="1" nodeType="clickEffect">
                                  <p:stCondLst>
                                    <p:cond delay="0"/>
                                  </p:stCondLst>
                                  <p:childTnLst>
                                    <p:animMotion origin="layout" path="M 5E-6 0.00255 L 0.075 0.02222 " pathEditMode="relative" rAng="0" ptsTypes="AA">
                                      <p:cBhvr>
                                        <p:cTn id="23" dur="2000" fill="hold"/>
                                        <p:tgtEl>
                                          <p:spTgt spid="14"/>
                                        </p:tgtEl>
                                        <p:attrNameLst>
                                          <p:attrName>ppt_x</p:attrName>
                                          <p:attrName>ppt_y</p:attrName>
                                        </p:attrNameLst>
                                      </p:cBhvr>
                                      <p:rCtr x="390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4" grpId="1" animBg="1"/>
      <p:bldP spid="3" grpId="0" animBg="1"/>
      <p:bldP spid="19" grpId="0" animBg="1"/>
      <p:bldP spid="19"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590779766"/>
              </p:ext>
            </p:extLst>
          </p:nvPr>
        </p:nvGraphicFramePr>
        <p:xfrm>
          <a:off x="2362200" y="58642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3">
                        <a:lumMod val="50000"/>
                      </a:schemeClr>
                    </a:solid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52</a:t>
            </a:fld>
            <a:endParaRPr lang="en-US"/>
          </a:p>
        </p:txBody>
      </p:sp>
      <p:sp>
        <p:nvSpPr>
          <p:cNvPr id="21" name="Rectangle 20"/>
          <p:cNvSpPr/>
          <p:nvPr/>
        </p:nvSpPr>
        <p:spPr>
          <a:xfrm>
            <a:off x="5105399" y="50958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42640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52165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34258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6934200" y="54451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762000" y="1219200"/>
            <a:ext cx="10744200" cy="1569660"/>
          </a:xfrm>
          <a:prstGeom prst="rect">
            <a:avLst/>
          </a:prstGeom>
          <a:noFill/>
        </p:spPr>
        <p:txBody>
          <a:bodyPr wrap="square">
            <a:spAutoFit/>
          </a:bodyPr>
          <a:lstStyle/>
          <a:p>
            <a:pPr algn="just">
              <a:defRPr/>
            </a:pPr>
            <a:r>
              <a:rPr lang="en-US" sz="3200">
                <a:solidFill>
                  <a:srgbClr val="C00000"/>
                </a:solidFill>
                <a:latin typeface="Times New Roman" panose="02020603050405020304" pitchFamily="18" charset="0"/>
                <a:cs typeface="Times New Roman" panose="02020603050405020304" pitchFamily="18" charset="0"/>
              </a:rPr>
              <a:t>Bước 2: So sánh giá trị tại vtmin với tất cả giá trị tại vị trí còn lại (từ 2 đến 8), nếu có phần tử nào nhỏ hơn phần tử tại vtmin thì cập nhật lại vtmin  </a:t>
            </a:r>
          </a:p>
        </p:txBody>
      </p:sp>
      <p:sp>
        <p:nvSpPr>
          <p:cNvPr id="14" name="Down Arrow Callout 13"/>
          <p:cNvSpPr/>
          <p:nvPr/>
        </p:nvSpPr>
        <p:spPr>
          <a:xfrm>
            <a:off x="3276600" y="30480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vtmin</a:t>
            </a:r>
          </a:p>
        </p:txBody>
      </p:sp>
      <p:sp>
        <p:nvSpPr>
          <p:cNvPr id="3" name="Oval Callout 2"/>
          <p:cNvSpPr/>
          <p:nvPr/>
        </p:nvSpPr>
        <p:spPr>
          <a:xfrm>
            <a:off x="5334000" y="2181255"/>
            <a:ext cx="3352800" cy="1854170"/>
          </a:xfrm>
          <a:prstGeom prst="wedgeEllipseCallout">
            <a:avLst>
              <a:gd name="adj1" fmla="val -70265"/>
              <a:gd name="adj2" fmla="val 363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7 lớn hơn 5 nên không cập nhật vị trí min</a:t>
            </a:r>
          </a:p>
        </p:txBody>
      </p:sp>
      <p:sp>
        <p:nvSpPr>
          <p:cNvPr id="19" name="Rectangle 18"/>
          <p:cNvSpPr/>
          <p:nvPr/>
        </p:nvSpPr>
        <p:spPr>
          <a:xfrm>
            <a:off x="2362200" y="40354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49149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46101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6" name="Title 1"/>
          <p:cNvSpPr>
            <a:spLocks noGrp="1"/>
          </p:cNvSpPr>
          <p:nvPr>
            <p:ph type="title"/>
          </p:nvPr>
        </p:nvSpPr>
        <p:spPr>
          <a:xfrm>
            <a:off x="533400" y="427037"/>
            <a:ext cx="8077200" cy="868363"/>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2. Chọn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4526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0 0 L 0 -0.25 E" pathEditMode="relative" ptsTypes="">
                                      <p:cBhvr>
                                        <p:cTn id="6" dur="2000" fill="hold"/>
                                        <p:tgtEl>
                                          <p:spTgt spid="18"/>
                                        </p:tgtEl>
                                        <p:attrNameLst>
                                          <p:attrName>ppt_x</p:attrName>
                                          <p:attrName>ppt_y</p:attrName>
                                        </p:attrNameLst>
                                      </p:cBhvr>
                                    </p:animMotion>
                                  </p:childTnLst>
                                </p:cTn>
                              </p:par>
                              <p:par>
                                <p:cTn id="7" presetID="64" presetClass="path" presetSubtype="0" accel="50000" decel="50000" fill="hold" grpId="0" nodeType="withEffect">
                                  <p:stCondLst>
                                    <p:cond delay="0"/>
                                  </p:stCondLst>
                                  <p:childTnLst>
                                    <p:animMotion origin="layout" path="M 0 0 L 0 -0.25 E" pathEditMode="relative" ptsTypes="">
                                      <p:cBhvr>
                                        <p:cTn id="8" dur="2000" fill="hold"/>
                                        <p:tgtEl>
                                          <p:spTgt spid="20"/>
                                        </p:tgtEl>
                                        <p:attrNameLst>
                                          <p:attrName>ppt_x</p:attrName>
                                          <p:attrName>ppt_y</p:attrName>
                                        </p:attrNameLst>
                                      </p:cBhvr>
                                    </p:animMotion>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1" nodeType="clickEffect">
                                  <p:stCondLst>
                                    <p:cond delay="0"/>
                                  </p:stCondLst>
                                  <p:childTnLst>
                                    <p:animMotion origin="layout" path="M 0 -0.24746 L 0 0.00254 " pathEditMode="relative" rAng="0" ptsTypes="AA">
                                      <p:cBhvr>
                                        <p:cTn id="15" dur="2000" fill="hold"/>
                                        <p:tgtEl>
                                          <p:spTgt spid="18"/>
                                        </p:tgtEl>
                                        <p:attrNameLst>
                                          <p:attrName>ppt_x</p:attrName>
                                          <p:attrName>ppt_y</p:attrName>
                                        </p:attrNameLst>
                                      </p:cBhvr>
                                      <p:rCtr x="0" y="12500"/>
                                    </p:animMotion>
                                  </p:childTnLst>
                                </p:cTn>
                              </p:par>
                              <p:par>
                                <p:cTn id="16" presetID="42" presetClass="path" presetSubtype="0" accel="50000" decel="50000" fill="hold" grpId="1" nodeType="withEffect">
                                  <p:stCondLst>
                                    <p:cond delay="0"/>
                                  </p:stCondLst>
                                  <p:childTnLst>
                                    <p:animMotion origin="layout" path="M 5.55112E-17 -0.24745 L 5.55112E-17 0.00255 " pathEditMode="relative" rAng="0" ptsTypes="AA">
                                      <p:cBhvr>
                                        <p:cTn id="17" dur="2000" fill="hold"/>
                                        <p:tgtEl>
                                          <p:spTgt spid="20"/>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8" grpId="0" animBg="1"/>
      <p:bldP spid="18" grpId="1" animBg="1"/>
      <p:bldP spid="20" grpId="0" animBg="1"/>
      <p:bldP spid="20"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081676925"/>
              </p:ext>
            </p:extLst>
          </p:nvPr>
        </p:nvGraphicFramePr>
        <p:xfrm>
          <a:off x="2362200" y="58642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3">
                        <a:lumMod val="50000"/>
                      </a:schemeClr>
                    </a:solid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53</a:t>
            </a:fld>
            <a:endParaRPr lang="en-US"/>
          </a:p>
        </p:txBody>
      </p:sp>
      <p:sp>
        <p:nvSpPr>
          <p:cNvPr id="21" name="Rectangle 20"/>
          <p:cNvSpPr/>
          <p:nvPr/>
        </p:nvSpPr>
        <p:spPr>
          <a:xfrm>
            <a:off x="5105399" y="50958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42640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52165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34258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6934200" y="54451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609600" y="1143000"/>
            <a:ext cx="11125200" cy="1569660"/>
          </a:xfrm>
          <a:prstGeom prst="rect">
            <a:avLst/>
          </a:prstGeom>
          <a:noFill/>
        </p:spPr>
        <p:txBody>
          <a:bodyPr wrap="square">
            <a:spAutoFit/>
          </a:bodyPr>
          <a:lstStyle/>
          <a:p>
            <a:pPr algn="just">
              <a:defRPr/>
            </a:pPr>
            <a:r>
              <a:rPr lang="en-US" sz="3200">
                <a:solidFill>
                  <a:srgbClr val="C00000"/>
                </a:solidFill>
                <a:latin typeface="Times New Roman" panose="02020603050405020304" pitchFamily="18" charset="0"/>
                <a:cs typeface="Times New Roman" panose="02020603050405020304" pitchFamily="18" charset="0"/>
              </a:rPr>
              <a:t>Bước 2: So sánh giá trị tại vtmin với tất cả giá trị tại vị trí còn lại (từ 2 đến 8), nếu có phần tử nào nhỏ hơn phần tử tại vtmin thì cập nhật lại vtmin  </a:t>
            </a:r>
          </a:p>
        </p:txBody>
      </p:sp>
      <p:sp>
        <p:nvSpPr>
          <p:cNvPr id="14" name="Down Arrow Callout 13"/>
          <p:cNvSpPr/>
          <p:nvPr/>
        </p:nvSpPr>
        <p:spPr>
          <a:xfrm>
            <a:off x="3276600" y="30480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vtmin</a:t>
            </a:r>
          </a:p>
        </p:txBody>
      </p:sp>
      <p:sp>
        <p:nvSpPr>
          <p:cNvPr id="3" name="Oval Callout 2"/>
          <p:cNvSpPr/>
          <p:nvPr/>
        </p:nvSpPr>
        <p:spPr>
          <a:xfrm>
            <a:off x="6248400" y="2181255"/>
            <a:ext cx="3352800" cy="1854170"/>
          </a:xfrm>
          <a:prstGeom prst="wedgeEllipseCallout">
            <a:avLst>
              <a:gd name="adj1" fmla="val -70265"/>
              <a:gd name="adj2" fmla="val 363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3 nhỏ hơn 5 nên cập nhật vị trí min</a:t>
            </a:r>
          </a:p>
        </p:txBody>
      </p:sp>
      <p:sp>
        <p:nvSpPr>
          <p:cNvPr id="19" name="Rectangle 18"/>
          <p:cNvSpPr/>
          <p:nvPr/>
        </p:nvSpPr>
        <p:spPr>
          <a:xfrm>
            <a:off x="2362200" y="40354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49149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46101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6"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19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0 0 L 0 -0.25 E" pathEditMode="relative" ptsTypes="">
                                      <p:cBhvr>
                                        <p:cTn id="6" dur="2000" fill="hold"/>
                                        <p:tgtEl>
                                          <p:spTgt spid="21"/>
                                        </p:tgtEl>
                                        <p:attrNameLst>
                                          <p:attrName>ppt_x</p:attrName>
                                          <p:attrName>ppt_y</p:attrName>
                                        </p:attrNameLst>
                                      </p:cBhvr>
                                    </p:animMotion>
                                  </p:childTnLst>
                                </p:cTn>
                              </p:par>
                              <p:par>
                                <p:cTn id="7" presetID="64" presetClass="path" presetSubtype="0" accel="50000" decel="50000" fill="hold" grpId="0" nodeType="withEffect">
                                  <p:stCondLst>
                                    <p:cond delay="0"/>
                                  </p:stCondLst>
                                  <p:childTnLst>
                                    <p:animMotion origin="layout" path="M 0 0 L 0 -0.25 E" pathEditMode="relative" ptsTypes="">
                                      <p:cBhvr>
                                        <p:cTn id="8" dur="2000" fill="hold"/>
                                        <p:tgtEl>
                                          <p:spTgt spid="18"/>
                                        </p:tgtEl>
                                        <p:attrNameLst>
                                          <p:attrName>ppt_x</p:attrName>
                                          <p:attrName>ppt_y</p:attrName>
                                        </p:attrNameLst>
                                      </p:cBhvr>
                                    </p:animMotion>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1" nodeType="clickEffect">
                                  <p:stCondLst>
                                    <p:cond delay="0"/>
                                  </p:stCondLst>
                                  <p:childTnLst>
                                    <p:animMotion origin="layout" path="M 5.55112E-17 -0.24746 L 5.55112E-17 0.00254 " pathEditMode="relative" rAng="0" ptsTypes="AA">
                                      <p:cBhvr>
                                        <p:cTn id="15" dur="2000" fill="hold"/>
                                        <p:tgtEl>
                                          <p:spTgt spid="21"/>
                                        </p:tgtEl>
                                        <p:attrNameLst>
                                          <p:attrName>ppt_x</p:attrName>
                                          <p:attrName>ppt_y</p:attrName>
                                        </p:attrNameLst>
                                      </p:cBhvr>
                                      <p:rCtr x="0" y="12500"/>
                                    </p:animMotion>
                                  </p:childTnLst>
                                </p:cTn>
                              </p:par>
                              <p:par>
                                <p:cTn id="16" presetID="42" presetClass="path" presetSubtype="0" accel="50000" decel="50000" fill="hold" grpId="1" nodeType="withEffect">
                                  <p:stCondLst>
                                    <p:cond delay="0"/>
                                  </p:stCondLst>
                                  <p:childTnLst>
                                    <p:animMotion origin="layout" path="M 0 -0.24746 L 0 0.00254 " pathEditMode="relative" rAng="0" ptsTypes="AA">
                                      <p:cBhvr>
                                        <p:cTn id="17" dur="2000" fill="hold"/>
                                        <p:tgtEl>
                                          <p:spTgt spid="18"/>
                                        </p:tgtEl>
                                        <p:attrNameLst>
                                          <p:attrName>ppt_x</p:attrName>
                                          <p:attrName>ppt_y</p:attrName>
                                        </p:attrNameLst>
                                      </p:cBhvr>
                                      <p:rCtr x="0" y="12500"/>
                                    </p:animMotion>
                                  </p:childTnLst>
                                </p:cTn>
                              </p:par>
                            </p:childTnLst>
                          </p:cTn>
                        </p:par>
                        <p:par>
                          <p:cTn id="18" fill="hold">
                            <p:stCondLst>
                              <p:cond delay="2000"/>
                            </p:stCondLst>
                            <p:childTnLst>
                              <p:par>
                                <p:cTn id="19" presetID="63" presetClass="path" presetSubtype="0" accel="50000" decel="50000" fill="hold" grpId="0" nodeType="afterEffect">
                                  <p:stCondLst>
                                    <p:cond delay="0"/>
                                  </p:stCondLst>
                                  <p:childTnLst>
                                    <p:animMotion origin="layout" path="M 5E-6 -4.81481E-6 L 0.15 0.03889 " pathEditMode="relative" rAng="0" ptsTypes="AA">
                                      <p:cBhvr>
                                        <p:cTn id="20" dur="2000" fill="hold"/>
                                        <p:tgtEl>
                                          <p:spTgt spid="14"/>
                                        </p:tgtEl>
                                        <p:attrNameLst>
                                          <p:attrName>ppt_x</p:attrName>
                                          <p:attrName>ppt_y</p:attrName>
                                        </p:attrNameLst>
                                      </p:cBhvr>
                                      <p:rCtr x="7344"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14" grpId="0" animBg="1"/>
      <p:bldP spid="3" grpId="0" animBg="1"/>
      <p:bldP spid="18" grpId="0" animBg="1"/>
      <p:bldP spid="18"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844021047"/>
              </p:ext>
            </p:extLst>
          </p:nvPr>
        </p:nvGraphicFramePr>
        <p:xfrm>
          <a:off x="2362200" y="58642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3">
                        <a:lumMod val="50000"/>
                      </a:schemeClr>
                    </a:solid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54</a:t>
            </a:fld>
            <a:endParaRPr lang="en-US"/>
          </a:p>
        </p:txBody>
      </p:sp>
      <p:sp>
        <p:nvSpPr>
          <p:cNvPr id="21" name="Rectangle 20"/>
          <p:cNvSpPr/>
          <p:nvPr/>
        </p:nvSpPr>
        <p:spPr>
          <a:xfrm>
            <a:off x="5105399" y="50958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42640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52165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34258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6934200" y="54451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490536" y="1128108"/>
            <a:ext cx="11244264" cy="1569660"/>
          </a:xfrm>
          <a:prstGeom prst="rect">
            <a:avLst/>
          </a:prstGeom>
          <a:noFill/>
        </p:spPr>
        <p:txBody>
          <a:bodyPr wrap="square">
            <a:spAutoFit/>
          </a:bodyPr>
          <a:lstStyle/>
          <a:p>
            <a:pPr algn="just">
              <a:defRPr/>
            </a:pPr>
            <a:r>
              <a:rPr lang="en-US" sz="3200">
                <a:solidFill>
                  <a:srgbClr val="C00000"/>
                </a:solidFill>
                <a:latin typeface="Times New Roman" panose="02020603050405020304" pitchFamily="18" charset="0"/>
                <a:cs typeface="Times New Roman" panose="02020603050405020304" pitchFamily="18" charset="0"/>
              </a:rPr>
              <a:t>Bước 2: So sánh giá trị tại vtmin với tất cả giá trị tại vị trí còn lại (từ 2 đến 8), nếu có phần tử nào nhỏ hơn phần tử tại vtmin thì cập nhật lại vtmin  </a:t>
            </a:r>
          </a:p>
        </p:txBody>
      </p:sp>
      <p:sp>
        <p:nvSpPr>
          <p:cNvPr id="14" name="Down Arrow Callout 13"/>
          <p:cNvSpPr/>
          <p:nvPr/>
        </p:nvSpPr>
        <p:spPr>
          <a:xfrm>
            <a:off x="5105400" y="30480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vtmin</a:t>
            </a:r>
          </a:p>
        </p:txBody>
      </p:sp>
      <p:sp>
        <p:nvSpPr>
          <p:cNvPr id="3" name="Oval Callout 2"/>
          <p:cNvSpPr/>
          <p:nvPr/>
        </p:nvSpPr>
        <p:spPr>
          <a:xfrm>
            <a:off x="7162800" y="1600200"/>
            <a:ext cx="3352800" cy="1854170"/>
          </a:xfrm>
          <a:prstGeom prst="wedgeEllipseCallout">
            <a:avLst>
              <a:gd name="adj1" fmla="val -70265"/>
              <a:gd name="adj2" fmla="val 363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9 lớn hơn 3 nên không cập nhật vị trí min</a:t>
            </a:r>
          </a:p>
        </p:txBody>
      </p:sp>
      <p:sp>
        <p:nvSpPr>
          <p:cNvPr id="19" name="Rectangle 18"/>
          <p:cNvSpPr/>
          <p:nvPr/>
        </p:nvSpPr>
        <p:spPr>
          <a:xfrm>
            <a:off x="2362200" y="40354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49149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46101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16"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490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0 0 L 0 -0.25 E" pathEditMode="relative" ptsTypes="">
                                      <p:cBhvr>
                                        <p:cTn id="6" dur="2000" fill="hold"/>
                                        <p:tgtEl>
                                          <p:spTgt spid="21"/>
                                        </p:tgtEl>
                                        <p:attrNameLst>
                                          <p:attrName>ppt_x</p:attrName>
                                          <p:attrName>ppt_y</p:attrName>
                                        </p:attrNameLst>
                                      </p:cBhvr>
                                    </p:animMotion>
                                  </p:childTnLst>
                                </p:cTn>
                              </p:par>
                              <p:par>
                                <p:cTn id="7" presetID="64" presetClass="path" presetSubtype="0" accel="50000" decel="50000" fill="hold" grpId="0" nodeType="withEffect">
                                  <p:stCondLst>
                                    <p:cond delay="0"/>
                                  </p:stCondLst>
                                  <p:childTnLst>
                                    <p:animMotion origin="layout" path="M 0 0 L 0 -0.25 E" pathEditMode="relative" ptsTypes="">
                                      <p:cBhvr>
                                        <p:cTn id="8" dur="2000" fill="hold"/>
                                        <p:tgtEl>
                                          <p:spTgt spid="22"/>
                                        </p:tgtEl>
                                        <p:attrNameLst>
                                          <p:attrName>ppt_x</p:attrName>
                                          <p:attrName>ppt_y</p:attrName>
                                        </p:attrNameLst>
                                      </p:cBhvr>
                                    </p:animMotion>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1" nodeType="clickEffect">
                                  <p:stCondLst>
                                    <p:cond delay="0"/>
                                  </p:stCondLst>
                                  <p:childTnLst>
                                    <p:animMotion origin="layout" path="M 5.55112E-17 -0.24491 L 5.55112E-17 0.00509 " pathEditMode="relative" rAng="0" ptsTypes="AA">
                                      <p:cBhvr>
                                        <p:cTn id="15" dur="2000" fill="hold"/>
                                        <p:tgtEl>
                                          <p:spTgt spid="21"/>
                                        </p:tgtEl>
                                        <p:attrNameLst>
                                          <p:attrName>ppt_x</p:attrName>
                                          <p:attrName>ppt_y</p:attrName>
                                        </p:attrNameLst>
                                      </p:cBhvr>
                                      <p:rCtr x="0" y="12500"/>
                                    </p:animMotion>
                                  </p:childTnLst>
                                </p:cTn>
                              </p:par>
                              <p:par>
                                <p:cTn id="16" presetID="42" presetClass="path" presetSubtype="0" accel="50000" decel="50000" fill="hold" grpId="1" nodeType="withEffect">
                                  <p:stCondLst>
                                    <p:cond delay="0"/>
                                  </p:stCondLst>
                                  <p:childTnLst>
                                    <p:animMotion origin="layout" path="M 0 -0.24491 L 0 0.00509 " pathEditMode="relative" rAng="0" ptsTypes="AA">
                                      <p:cBhvr>
                                        <p:cTn id="17" dur="2000" fill="hold"/>
                                        <p:tgtEl>
                                          <p:spTgt spid="22"/>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2" grpId="0" animBg="1"/>
      <p:bldP spid="22" grpId="1" animBg="1"/>
      <p:bldP spid="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579021042"/>
              </p:ext>
            </p:extLst>
          </p:nvPr>
        </p:nvGraphicFramePr>
        <p:xfrm>
          <a:off x="2362200" y="58642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3">
                        <a:lumMod val="50000"/>
                      </a:schemeClr>
                    </a:solid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55</a:t>
            </a:fld>
            <a:endParaRPr lang="en-US"/>
          </a:p>
        </p:txBody>
      </p:sp>
      <p:sp>
        <p:nvSpPr>
          <p:cNvPr id="22" name="Rectangle 21"/>
          <p:cNvSpPr/>
          <p:nvPr/>
        </p:nvSpPr>
        <p:spPr>
          <a:xfrm>
            <a:off x="6019799" y="42640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52165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34258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5" name="TextBox 14"/>
          <p:cNvSpPr txBox="1"/>
          <p:nvPr/>
        </p:nvSpPr>
        <p:spPr>
          <a:xfrm>
            <a:off x="609600" y="1194465"/>
            <a:ext cx="10972800" cy="1569660"/>
          </a:xfrm>
          <a:prstGeom prst="rect">
            <a:avLst/>
          </a:prstGeom>
          <a:noFill/>
        </p:spPr>
        <p:txBody>
          <a:bodyPr wrap="square">
            <a:spAutoFit/>
          </a:bodyPr>
          <a:lstStyle/>
          <a:p>
            <a:pPr algn="just">
              <a:defRPr/>
            </a:pPr>
            <a:r>
              <a:rPr lang="en-US" sz="3200">
                <a:solidFill>
                  <a:srgbClr val="C00000"/>
                </a:solidFill>
                <a:latin typeface="Times New Roman" panose="02020603050405020304" pitchFamily="18" charset="0"/>
                <a:cs typeface="Times New Roman" panose="02020603050405020304" pitchFamily="18" charset="0"/>
              </a:rPr>
              <a:t>Bước 2: So sánh giá trị tại vtmin với tất cả giá trị tại vị trí còn lại (từ 2 đến 8), nếu có phần tử nào nhỏ hơn phần tử tại vtmin thì cập nhật lại vtmin  </a:t>
            </a:r>
          </a:p>
        </p:txBody>
      </p:sp>
      <p:sp>
        <p:nvSpPr>
          <p:cNvPr id="14" name="Down Arrow Callout 13"/>
          <p:cNvSpPr/>
          <p:nvPr/>
        </p:nvSpPr>
        <p:spPr>
          <a:xfrm>
            <a:off x="5105400" y="30480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vtmin</a:t>
            </a:r>
          </a:p>
        </p:txBody>
      </p:sp>
      <p:sp>
        <p:nvSpPr>
          <p:cNvPr id="3" name="Oval Callout 2"/>
          <p:cNvSpPr/>
          <p:nvPr/>
        </p:nvSpPr>
        <p:spPr>
          <a:xfrm>
            <a:off x="2809875" y="1207195"/>
            <a:ext cx="3352800" cy="1854170"/>
          </a:xfrm>
          <a:prstGeom prst="wedgeEllipseCallout">
            <a:avLst>
              <a:gd name="adj1" fmla="val 77178"/>
              <a:gd name="adj2" fmla="val 648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1 nhỏ hơn 3 nên cập nhật vị trí min</a:t>
            </a:r>
          </a:p>
        </p:txBody>
      </p:sp>
      <p:sp>
        <p:nvSpPr>
          <p:cNvPr id="19" name="Rectangle 18"/>
          <p:cNvSpPr/>
          <p:nvPr/>
        </p:nvSpPr>
        <p:spPr>
          <a:xfrm>
            <a:off x="2362200" y="40354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49149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46101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50958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5" name="Rectangle 24"/>
          <p:cNvSpPr/>
          <p:nvPr/>
        </p:nvSpPr>
        <p:spPr>
          <a:xfrm>
            <a:off x="6934200" y="54451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58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0 0 L 0 -0.25 E" pathEditMode="relative" ptsTypes="">
                                      <p:cBhvr>
                                        <p:cTn id="6" dur="2000" fill="hold"/>
                                        <p:tgtEl>
                                          <p:spTgt spid="21"/>
                                        </p:tgtEl>
                                        <p:attrNameLst>
                                          <p:attrName>ppt_x</p:attrName>
                                          <p:attrName>ppt_y</p:attrName>
                                        </p:attrNameLst>
                                      </p:cBhvr>
                                    </p:animMotion>
                                  </p:childTnLst>
                                </p:cTn>
                              </p:par>
                              <p:par>
                                <p:cTn id="7" presetID="64" presetClass="path" presetSubtype="0" accel="50000" decel="50000" fill="hold" grpId="0" nodeType="withEffect">
                                  <p:stCondLst>
                                    <p:cond delay="0"/>
                                  </p:stCondLst>
                                  <p:childTnLst>
                                    <p:animMotion origin="layout" path="M 0 0 L 0 -0.25 E" pathEditMode="relative" ptsTypes="">
                                      <p:cBhvr>
                                        <p:cTn id="8" dur="2000" fill="hold"/>
                                        <p:tgtEl>
                                          <p:spTgt spid="25"/>
                                        </p:tgtEl>
                                        <p:attrNameLst>
                                          <p:attrName>ppt_x</p:attrName>
                                          <p:attrName>ppt_y</p:attrName>
                                        </p:attrNameLst>
                                      </p:cBhvr>
                                    </p:animMotion>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1" nodeType="clickEffect">
                                  <p:stCondLst>
                                    <p:cond delay="0"/>
                                  </p:stCondLst>
                                  <p:childTnLst>
                                    <p:animMotion origin="layout" path="M 5.55112E-17 -0.24815 L 5.55112E-17 0.00185 " pathEditMode="relative" rAng="0" ptsTypes="AA">
                                      <p:cBhvr>
                                        <p:cTn id="15" dur="2000" fill="hold"/>
                                        <p:tgtEl>
                                          <p:spTgt spid="21"/>
                                        </p:tgtEl>
                                        <p:attrNameLst>
                                          <p:attrName>ppt_x</p:attrName>
                                          <p:attrName>ppt_y</p:attrName>
                                        </p:attrNameLst>
                                      </p:cBhvr>
                                      <p:rCtr x="0" y="12500"/>
                                    </p:animMotion>
                                  </p:childTnLst>
                                </p:cTn>
                              </p:par>
                              <p:par>
                                <p:cTn id="16" presetID="42" presetClass="path" presetSubtype="0" accel="50000" decel="50000" fill="hold" grpId="1" nodeType="withEffect">
                                  <p:stCondLst>
                                    <p:cond delay="0"/>
                                  </p:stCondLst>
                                  <p:childTnLst>
                                    <p:animMotion origin="layout" path="M 0 -0.24815 L 0 0.00185 " pathEditMode="relative" rAng="0" ptsTypes="AA">
                                      <p:cBhvr>
                                        <p:cTn id="17" dur="2000" fill="hold"/>
                                        <p:tgtEl>
                                          <p:spTgt spid="25"/>
                                        </p:tgtEl>
                                        <p:attrNameLst>
                                          <p:attrName>ppt_x</p:attrName>
                                          <p:attrName>ppt_y</p:attrName>
                                        </p:attrNameLst>
                                      </p:cBhvr>
                                      <p:rCtr x="0" y="12500"/>
                                    </p:animMotion>
                                  </p:childTnLst>
                                </p:cTn>
                              </p:par>
                            </p:childTnLst>
                          </p:cTn>
                        </p:par>
                        <p:par>
                          <p:cTn id="18" fill="hold">
                            <p:stCondLst>
                              <p:cond delay="2000"/>
                            </p:stCondLst>
                            <p:childTnLst>
                              <p:par>
                                <p:cTn id="19" presetID="63" presetClass="path" presetSubtype="0" accel="50000" decel="50000" fill="hold" grpId="0" nodeType="afterEffect">
                                  <p:stCondLst>
                                    <p:cond delay="0"/>
                                  </p:stCondLst>
                                  <p:childTnLst>
                                    <p:animMotion origin="layout" path="M 5E-6 0.00255 L 0.15 0.06366 " pathEditMode="relative" rAng="0" ptsTypes="AA">
                                      <p:cBhvr>
                                        <p:cTn id="20" dur="2000" fill="hold"/>
                                        <p:tgtEl>
                                          <p:spTgt spid="14"/>
                                        </p:tgtEl>
                                        <p:attrNameLst>
                                          <p:attrName>ppt_x</p:attrName>
                                          <p:attrName>ppt_y</p:attrName>
                                        </p:attrNameLst>
                                      </p:cBhvr>
                                      <p:rCtr x="7656" y="1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3" grpId="0" animBg="1"/>
      <p:bldP spid="21" grpId="0" animBg="1"/>
      <p:bldP spid="21" grpId="1" animBg="1"/>
      <p:bldP spid="25" grpId="0" animBg="1"/>
      <p:bldP spid="25"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044583011"/>
              </p:ext>
            </p:extLst>
          </p:nvPr>
        </p:nvGraphicFramePr>
        <p:xfrm>
          <a:off x="2362200" y="58642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3">
                        <a:lumMod val="50000"/>
                      </a:schemeClr>
                    </a:solid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56</a:t>
            </a:fld>
            <a:endParaRPr lang="en-US"/>
          </a:p>
        </p:txBody>
      </p:sp>
      <p:sp>
        <p:nvSpPr>
          <p:cNvPr id="22" name="Rectangle 21"/>
          <p:cNvSpPr/>
          <p:nvPr/>
        </p:nvSpPr>
        <p:spPr>
          <a:xfrm>
            <a:off x="6019799" y="42640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8763000" y="52165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15" name="TextBox 14"/>
          <p:cNvSpPr txBox="1"/>
          <p:nvPr/>
        </p:nvSpPr>
        <p:spPr>
          <a:xfrm>
            <a:off x="533400" y="1396425"/>
            <a:ext cx="11125200" cy="1569660"/>
          </a:xfrm>
          <a:prstGeom prst="rect">
            <a:avLst/>
          </a:prstGeom>
          <a:noFill/>
        </p:spPr>
        <p:txBody>
          <a:bodyPr wrap="square">
            <a:spAutoFit/>
          </a:bodyPr>
          <a:lstStyle/>
          <a:p>
            <a:pPr algn="just">
              <a:defRPr/>
            </a:pPr>
            <a:r>
              <a:rPr lang="en-US" sz="3200">
                <a:solidFill>
                  <a:srgbClr val="C00000"/>
                </a:solidFill>
                <a:latin typeface="Times New Roman" panose="02020603050405020304" pitchFamily="18" charset="0"/>
                <a:cs typeface="Times New Roman" panose="02020603050405020304" pitchFamily="18" charset="0"/>
              </a:rPr>
              <a:t>Bước 2: So sánh giá trị tại vtmin với tất cả giá trị tại vị trí còn lại (từ 2 đến 8), nếu có phần tử nào nhỏ hơn phần tử tại vtmin thì cập nhật lại vtmin  </a:t>
            </a:r>
          </a:p>
        </p:txBody>
      </p:sp>
      <p:sp>
        <p:nvSpPr>
          <p:cNvPr id="14" name="Down Arrow Callout 13"/>
          <p:cNvSpPr/>
          <p:nvPr/>
        </p:nvSpPr>
        <p:spPr>
          <a:xfrm>
            <a:off x="6934200" y="30480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vtmin</a:t>
            </a:r>
          </a:p>
        </p:txBody>
      </p:sp>
      <p:sp>
        <p:nvSpPr>
          <p:cNvPr id="3" name="Oval Callout 2"/>
          <p:cNvSpPr/>
          <p:nvPr/>
        </p:nvSpPr>
        <p:spPr>
          <a:xfrm>
            <a:off x="2809875" y="1207195"/>
            <a:ext cx="3352800" cy="1854170"/>
          </a:xfrm>
          <a:prstGeom prst="wedgeEllipseCallout">
            <a:avLst>
              <a:gd name="adj1" fmla="val 112121"/>
              <a:gd name="adj2" fmla="val 532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15 lớn hơn 1 nên không cập nhật vị trí min</a:t>
            </a:r>
          </a:p>
        </p:txBody>
      </p:sp>
      <p:sp>
        <p:nvSpPr>
          <p:cNvPr id="19" name="Rectangle 18"/>
          <p:cNvSpPr/>
          <p:nvPr/>
        </p:nvSpPr>
        <p:spPr>
          <a:xfrm>
            <a:off x="2362200" y="40354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49149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46101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50958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4" name="Rectangle 23"/>
          <p:cNvSpPr/>
          <p:nvPr/>
        </p:nvSpPr>
        <p:spPr>
          <a:xfrm>
            <a:off x="7848599" y="34258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6934200" y="54451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Title 1"/>
          <p:cNvSpPr>
            <a:spLocks noGrp="1"/>
          </p:cNvSpPr>
          <p:nvPr>
            <p:ph type="title"/>
          </p:nvPr>
        </p:nvSpPr>
        <p:spPr>
          <a:xfrm>
            <a:off x="533400" y="427037"/>
            <a:ext cx="8077200" cy="868363"/>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2. Chọn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4398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4" presetClass="path" presetSubtype="0" accel="50000" decel="50000" fill="hold" grpId="0" nodeType="clickEffect">
                                  <p:stCondLst>
                                    <p:cond delay="0"/>
                                  </p:stCondLst>
                                  <p:childTnLst>
                                    <p:animMotion origin="layout" path="M 0 0 L 0 -0.25 E" pathEditMode="relative" ptsTypes="">
                                      <p:cBhvr>
                                        <p:cTn id="10" dur="2000" fill="hold"/>
                                        <p:tgtEl>
                                          <p:spTgt spid="25"/>
                                        </p:tgtEl>
                                        <p:attrNameLst>
                                          <p:attrName>ppt_x</p:attrName>
                                          <p:attrName>ppt_y</p:attrName>
                                        </p:attrNameLst>
                                      </p:cBhvr>
                                    </p:animMotion>
                                  </p:childTnLst>
                                </p:cTn>
                              </p:par>
                              <p:par>
                                <p:cTn id="11" presetID="64" presetClass="path" presetSubtype="0" accel="50000" decel="50000" fill="hold" grpId="0" nodeType="withEffect">
                                  <p:stCondLst>
                                    <p:cond delay="0"/>
                                  </p:stCondLst>
                                  <p:childTnLst>
                                    <p:animMotion origin="layout" path="M 0 0 L 0 -0.25 E" pathEditMode="relative" ptsTypes="">
                                      <p:cBhvr>
                                        <p:cTn id="12" dur="2000" fill="hold"/>
                                        <p:tgtEl>
                                          <p:spTgt spid="24"/>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1" nodeType="clickEffect">
                                  <p:stCondLst>
                                    <p:cond delay="0"/>
                                  </p:stCondLst>
                                  <p:childTnLst>
                                    <p:animMotion origin="layout" path="M 0 -0.25 L 0 -3.7037E-7 " pathEditMode="relative" rAng="0" ptsTypes="AA">
                                      <p:cBhvr>
                                        <p:cTn id="16" dur="2000" fill="hold"/>
                                        <p:tgtEl>
                                          <p:spTgt spid="25"/>
                                        </p:tgtEl>
                                        <p:attrNameLst>
                                          <p:attrName>ppt_x</p:attrName>
                                          <p:attrName>ppt_y</p:attrName>
                                        </p:attrNameLst>
                                      </p:cBhvr>
                                      <p:rCtr x="0" y="12500"/>
                                    </p:animMotion>
                                  </p:childTnLst>
                                </p:cTn>
                              </p:par>
                              <p:par>
                                <p:cTn id="17" presetID="42" presetClass="path" presetSubtype="0" accel="50000" decel="50000" fill="hold" grpId="1" nodeType="withEffect">
                                  <p:stCondLst>
                                    <p:cond delay="0"/>
                                  </p:stCondLst>
                                  <p:childTnLst>
                                    <p:animMotion origin="layout" path="M 0 -0.25 L 0 -2.22222E-6 " pathEditMode="relative" rAng="0" ptsTypes="AA">
                                      <p:cBhvr>
                                        <p:cTn id="18" dur="2000" fill="hold"/>
                                        <p:tgtEl>
                                          <p:spTgt spid="2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4" grpId="0" animBg="1"/>
      <p:bldP spid="24" grpId="1" animBg="1"/>
      <p:bldP spid="25" grpId="0" animBg="1"/>
      <p:bldP spid="25"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544905371"/>
              </p:ext>
            </p:extLst>
          </p:nvPr>
        </p:nvGraphicFramePr>
        <p:xfrm>
          <a:off x="2362200" y="58642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3">
                        <a:lumMod val="50000"/>
                      </a:schemeClr>
                    </a:solid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solidFill>
                      <a:schemeClr val="accent5"/>
                    </a:solid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57</a:t>
            </a:fld>
            <a:endParaRPr lang="en-US"/>
          </a:p>
        </p:txBody>
      </p:sp>
      <p:sp>
        <p:nvSpPr>
          <p:cNvPr id="22" name="Rectangle 21"/>
          <p:cNvSpPr/>
          <p:nvPr/>
        </p:nvSpPr>
        <p:spPr>
          <a:xfrm>
            <a:off x="6019799" y="42640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15" name="TextBox 14"/>
          <p:cNvSpPr txBox="1"/>
          <p:nvPr/>
        </p:nvSpPr>
        <p:spPr>
          <a:xfrm>
            <a:off x="533400" y="1228498"/>
            <a:ext cx="11201400" cy="1569660"/>
          </a:xfrm>
          <a:prstGeom prst="rect">
            <a:avLst/>
          </a:prstGeom>
          <a:noFill/>
        </p:spPr>
        <p:txBody>
          <a:bodyPr wrap="square">
            <a:spAutoFit/>
          </a:bodyPr>
          <a:lstStyle/>
          <a:p>
            <a:pPr algn="just">
              <a:defRPr/>
            </a:pPr>
            <a:r>
              <a:rPr lang="en-US" sz="3200">
                <a:solidFill>
                  <a:srgbClr val="C00000"/>
                </a:solidFill>
                <a:latin typeface="Times New Roman" panose="02020603050405020304" pitchFamily="18" charset="0"/>
                <a:cs typeface="Times New Roman" panose="02020603050405020304" pitchFamily="18" charset="0"/>
              </a:rPr>
              <a:t>Bước 2: So sánh giá trị tại vtmin với tất cả giá trị tại vị trí còn lại (từ 2 đến 8), nếu có phần tử nào nhỏ hơn phần tử tại vtmin thì cập nhật lại vtmin  </a:t>
            </a:r>
          </a:p>
        </p:txBody>
      </p:sp>
      <p:sp>
        <p:nvSpPr>
          <p:cNvPr id="14" name="Down Arrow Callout 13"/>
          <p:cNvSpPr/>
          <p:nvPr/>
        </p:nvSpPr>
        <p:spPr>
          <a:xfrm>
            <a:off x="6934200" y="30480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t>vtmin</a:t>
            </a:r>
          </a:p>
        </p:txBody>
      </p:sp>
      <p:sp>
        <p:nvSpPr>
          <p:cNvPr id="19" name="Rectangle 18"/>
          <p:cNvSpPr/>
          <p:nvPr/>
        </p:nvSpPr>
        <p:spPr>
          <a:xfrm>
            <a:off x="2362200" y="40354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49149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46101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50958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4" name="Rectangle 23"/>
          <p:cNvSpPr/>
          <p:nvPr/>
        </p:nvSpPr>
        <p:spPr>
          <a:xfrm>
            <a:off x="7848599" y="34258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3" name="Oval Callout 2"/>
          <p:cNvSpPr/>
          <p:nvPr/>
        </p:nvSpPr>
        <p:spPr>
          <a:xfrm>
            <a:off x="3810000" y="1879630"/>
            <a:ext cx="3352800" cy="1854170"/>
          </a:xfrm>
          <a:prstGeom prst="wedgeEllipseCallout">
            <a:avLst>
              <a:gd name="adj1" fmla="val 112121"/>
              <a:gd name="adj2" fmla="val 532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2 lớn hơn 1 nên không cập nhật vị trí min</a:t>
            </a:r>
          </a:p>
        </p:txBody>
      </p:sp>
      <p:sp>
        <p:nvSpPr>
          <p:cNvPr id="23" name="Rectangle 22"/>
          <p:cNvSpPr/>
          <p:nvPr/>
        </p:nvSpPr>
        <p:spPr>
          <a:xfrm>
            <a:off x="8763000" y="52165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5" name="Rectangle 24"/>
          <p:cNvSpPr/>
          <p:nvPr/>
        </p:nvSpPr>
        <p:spPr>
          <a:xfrm>
            <a:off x="6934200" y="54451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6" name="Title 1"/>
          <p:cNvSpPr>
            <a:spLocks noGrp="1"/>
          </p:cNvSpPr>
          <p:nvPr>
            <p:ph type="title"/>
          </p:nvPr>
        </p:nvSpPr>
        <p:spPr>
          <a:xfrm>
            <a:off x="533400" y="427037"/>
            <a:ext cx="8077200" cy="868363"/>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2. Chọn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946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0 0 L 0 -0.25 E" pathEditMode="relative" ptsTypes="">
                                      <p:cBhvr>
                                        <p:cTn id="6" dur="2000" fill="hold"/>
                                        <p:tgtEl>
                                          <p:spTgt spid="25"/>
                                        </p:tgtEl>
                                        <p:attrNameLst>
                                          <p:attrName>ppt_x</p:attrName>
                                          <p:attrName>ppt_y</p:attrName>
                                        </p:attrNameLst>
                                      </p:cBhvr>
                                    </p:animMotion>
                                  </p:childTnLst>
                                </p:cTn>
                              </p:par>
                              <p:par>
                                <p:cTn id="7" presetID="64" presetClass="path" presetSubtype="0" accel="50000" decel="50000" fill="hold" grpId="0" nodeType="withEffect">
                                  <p:stCondLst>
                                    <p:cond delay="0"/>
                                  </p:stCondLst>
                                  <p:childTnLst>
                                    <p:animMotion origin="layout" path="M 0 0 L 0 -0.25 E" pathEditMode="relative" ptsTypes="">
                                      <p:cBhvr>
                                        <p:cTn id="8" dur="2000" fill="hold"/>
                                        <p:tgtEl>
                                          <p:spTgt spid="23"/>
                                        </p:tgtEl>
                                        <p:attrNameLst>
                                          <p:attrName>ppt_x</p:attrName>
                                          <p:attrName>ppt_y</p:attrName>
                                        </p:attrNameLst>
                                      </p:cBhvr>
                                    </p:animMotion>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1" nodeType="clickEffect">
                                  <p:stCondLst>
                                    <p:cond delay="0"/>
                                  </p:stCondLst>
                                  <p:childTnLst>
                                    <p:animMotion origin="layout" path="M 0 -0.24722 L 0 0.00278 " pathEditMode="relative" rAng="0" ptsTypes="AA">
                                      <p:cBhvr>
                                        <p:cTn id="15" dur="2000" fill="hold"/>
                                        <p:tgtEl>
                                          <p:spTgt spid="25"/>
                                        </p:tgtEl>
                                        <p:attrNameLst>
                                          <p:attrName>ppt_x</p:attrName>
                                          <p:attrName>ppt_y</p:attrName>
                                        </p:attrNameLst>
                                      </p:cBhvr>
                                      <p:rCtr x="0" y="12500"/>
                                    </p:animMotion>
                                  </p:childTnLst>
                                </p:cTn>
                              </p:par>
                              <p:par>
                                <p:cTn id="16" presetID="42" presetClass="path" presetSubtype="0" accel="50000" decel="50000" fill="hold" grpId="1" nodeType="withEffect">
                                  <p:stCondLst>
                                    <p:cond delay="0"/>
                                  </p:stCondLst>
                                  <p:childTnLst>
                                    <p:animMotion origin="layout" path="M 0 -0.24722 L 0 0.00278 " pathEditMode="relative" rAng="0" ptsTypes="AA">
                                      <p:cBhvr>
                                        <p:cTn id="17" dur="2000" fill="hold"/>
                                        <p:tgtEl>
                                          <p:spTgt spid="23"/>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3" grpId="0" animBg="1"/>
      <p:bldP spid="23" grpId="1" animBg="1"/>
      <p:bldP spid="25" grpId="0" animBg="1"/>
      <p:bldP spid="25"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58</a:t>
            </a:fld>
            <a:endParaRPr lang="en-US"/>
          </a:p>
        </p:txBody>
      </p:sp>
      <p:sp>
        <p:nvSpPr>
          <p:cNvPr id="9"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Rectangle 2"/>
          <p:cNvSpPr/>
          <p:nvPr/>
        </p:nvSpPr>
        <p:spPr>
          <a:xfrm>
            <a:off x="685800" y="1447800"/>
            <a:ext cx="10820400" cy="1754326"/>
          </a:xfrm>
          <a:prstGeom prst="rect">
            <a:avLst/>
          </a:prstGeom>
        </p:spPr>
        <p:txBody>
          <a:bodyPr wrap="square">
            <a:spAutoFit/>
          </a:bodyPr>
          <a:lstStyle/>
          <a:p>
            <a:r>
              <a:rPr lang="en-US" sz="3600" smtClean="0">
                <a:solidFill>
                  <a:schemeClr val="bg1"/>
                </a:solidFill>
                <a:latin typeface="Times New Roman" panose="02020603050405020304" pitchFamily="18" charset="0"/>
                <a:cs typeface="Times New Roman" panose="02020603050405020304" pitchFamily="18" charset="0"/>
              </a:rPr>
              <a:t>	Hãy </a:t>
            </a:r>
            <a:r>
              <a:rPr lang="en-US" sz="3600">
                <a:solidFill>
                  <a:schemeClr val="bg1"/>
                </a:solidFill>
                <a:latin typeface="Times New Roman" panose="02020603050405020304" pitchFamily="18" charset="0"/>
                <a:cs typeface="Times New Roman" panose="02020603050405020304" pitchFamily="18" charset="0"/>
              </a:rPr>
              <a:t>cài đặt hàm tìm và trả về vị trí của phần tử nhỏ nhất bằng ngôn ngữ C, đầu vào là mảng số nguyên a, kích thước N? </a:t>
            </a:r>
            <a:endParaRPr lang="en-US"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651102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853960238"/>
              </p:ext>
            </p:extLst>
          </p:nvPr>
        </p:nvGraphicFramePr>
        <p:xfrm>
          <a:off x="2362200" y="5486400"/>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solidFill>
                      <a:schemeClr val="accent5"/>
                    </a:solidFill>
                  </a:tcPr>
                </a:tc>
                <a:extLst>
                  <a:ext uri="{0D108BD9-81ED-4DB2-BD59-A6C34878D82A}">
                    <a16:rowId xmlns:a16="http://schemas.microsoft.com/office/drawing/2014/main" val="10000"/>
                  </a:ext>
                </a:extLst>
              </a:tr>
            </a:tbl>
          </a:graphicData>
        </a:graphic>
      </p:graphicFrame>
      <p:sp>
        <p:nvSpPr>
          <p:cNvPr id="9" name="Rectangle 8"/>
          <p:cNvSpPr/>
          <p:nvPr/>
        </p:nvSpPr>
        <p:spPr>
          <a:xfrm>
            <a:off x="2362200" y="3657599"/>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0" name="Rectangle 9"/>
          <p:cNvSpPr/>
          <p:nvPr/>
        </p:nvSpPr>
        <p:spPr>
          <a:xfrm>
            <a:off x="3276599" y="5067300"/>
            <a:ext cx="838200" cy="3492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1" name="Rectangle 10"/>
          <p:cNvSpPr/>
          <p:nvPr/>
        </p:nvSpPr>
        <p:spPr>
          <a:xfrm>
            <a:off x="4190999" y="4232275"/>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12" name="Rectangle 11"/>
          <p:cNvSpPr/>
          <p:nvPr/>
        </p:nvSpPr>
        <p:spPr>
          <a:xfrm>
            <a:off x="5105399" y="4718050"/>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13" name="Rectangle 12"/>
          <p:cNvSpPr/>
          <p:nvPr/>
        </p:nvSpPr>
        <p:spPr>
          <a:xfrm>
            <a:off x="6019799" y="3886200"/>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14" name="Rectangle 13"/>
          <p:cNvSpPr/>
          <p:nvPr/>
        </p:nvSpPr>
        <p:spPr>
          <a:xfrm>
            <a:off x="6934199" y="4838700"/>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15" name="Rectangle 14"/>
          <p:cNvSpPr/>
          <p:nvPr/>
        </p:nvSpPr>
        <p:spPr>
          <a:xfrm>
            <a:off x="7848599" y="3048000"/>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8" name="Rectangle 17"/>
          <p:cNvSpPr/>
          <p:nvPr/>
        </p:nvSpPr>
        <p:spPr>
          <a:xfrm>
            <a:off x="8762999" y="4117975"/>
            <a:ext cx="838200" cy="1312862"/>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8</a:t>
            </a:r>
          </a:p>
        </p:txBody>
      </p:sp>
      <p:sp>
        <p:nvSpPr>
          <p:cNvPr id="19"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Rectangle 2"/>
          <p:cNvSpPr/>
          <p:nvPr/>
        </p:nvSpPr>
        <p:spPr>
          <a:xfrm>
            <a:off x="533400" y="1324353"/>
            <a:ext cx="11049000" cy="1569660"/>
          </a:xfrm>
          <a:prstGeom prst="rect">
            <a:avLst/>
          </a:prstGeom>
        </p:spPr>
        <p:txBody>
          <a:bodyPr wrap="square">
            <a:spAutoFit/>
          </a:bodyPr>
          <a:lstStyle/>
          <a:p>
            <a:r>
              <a:rPr lang="en-US" sz="3200" smtClean="0">
                <a:solidFill>
                  <a:schemeClr val="bg1"/>
                </a:solidFill>
                <a:latin typeface="Times New Roman" panose="02020603050405020304" pitchFamily="18" charset="0"/>
                <a:cs typeface="Times New Roman" panose="02020603050405020304" pitchFamily="18" charset="0"/>
              </a:rPr>
              <a:t>	Giả </a:t>
            </a:r>
            <a:r>
              <a:rPr lang="en-US" sz="3200">
                <a:solidFill>
                  <a:schemeClr val="bg1"/>
                </a:solidFill>
                <a:latin typeface="Times New Roman" panose="02020603050405020304" pitchFamily="18" charset="0"/>
                <a:cs typeface="Times New Roman" panose="02020603050405020304" pitchFamily="18" charset="0"/>
              </a:rPr>
              <a:t>sử cần tìm vị trí phần tử nhỏ </a:t>
            </a:r>
            <a:r>
              <a:rPr lang="en-US" sz="3200" smtClean="0">
                <a:solidFill>
                  <a:schemeClr val="bg1"/>
                </a:solidFill>
                <a:latin typeface="Times New Roman" panose="02020603050405020304" pitchFamily="18" charset="0"/>
                <a:cs typeface="Times New Roman" panose="02020603050405020304" pitchFamily="18" charset="0"/>
              </a:rPr>
              <a:t>nhất bắt </a:t>
            </a:r>
            <a:r>
              <a:rPr lang="en-US" sz="3200">
                <a:solidFill>
                  <a:schemeClr val="bg1"/>
                </a:solidFill>
                <a:latin typeface="Times New Roman" panose="02020603050405020304" pitchFamily="18" charset="0"/>
                <a:cs typeface="Times New Roman" panose="02020603050405020304" pitchFamily="18" charset="0"/>
              </a:rPr>
              <a:t>đầu từ vị trí k cho trước (ví dụ đoạn </a:t>
            </a:r>
            <a:r>
              <a:rPr lang="en-US" sz="3200" smtClean="0">
                <a:solidFill>
                  <a:schemeClr val="bg1"/>
                </a:solidFill>
                <a:latin typeface="Times New Roman" panose="02020603050405020304" pitchFamily="18" charset="0"/>
                <a:cs typeface="Times New Roman" panose="02020603050405020304" pitchFamily="18" charset="0"/>
              </a:rPr>
              <a:t>từ </a:t>
            </a:r>
            <a:r>
              <a:rPr lang="en-US" sz="3200">
                <a:solidFill>
                  <a:schemeClr val="bg1"/>
                </a:solidFill>
                <a:latin typeface="Times New Roman" panose="02020603050405020304" pitchFamily="18" charset="0"/>
                <a:cs typeface="Times New Roman" panose="02020603050405020304" pitchFamily="18" charset="0"/>
              </a:rPr>
              <a:t>3 đến 8) thì giải quyết như thế nào? Hãy viết hàm cài đặt bằng ngôn ngữ C?</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376008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165327507"/>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60</a:t>
            </a:fld>
            <a:endParaRPr lang="en-US"/>
          </a:p>
        </p:txBody>
      </p:sp>
      <p:sp>
        <p:nvSpPr>
          <p:cNvPr id="19" name="Rectangle 18"/>
          <p:cNvSpPr/>
          <p:nvPr/>
        </p:nvSpPr>
        <p:spPr>
          <a:xfrm>
            <a:off x="2362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6934199"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2133598" y="1374201"/>
            <a:ext cx="7848601"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Giả sử cần sắp xếp dãy số sau tăng dần</a:t>
            </a:r>
          </a:p>
        </p:txBody>
      </p:sp>
      <p:sp>
        <p:nvSpPr>
          <p:cNvPr id="16"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279076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536993442"/>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solidFill>
                      <a:schemeClr val="accent5"/>
                    </a:solid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61</a:t>
            </a:fld>
            <a:endParaRPr lang="en-US"/>
          </a:p>
        </p:txBody>
      </p:sp>
      <p:sp>
        <p:nvSpPr>
          <p:cNvPr id="18" name="Rectangle 17"/>
          <p:cNvSpPr/>
          <p:nvPr/>
        </p:nvSpPr>
        <p:spPr>
          <a:xfrm>
            <a:off x="3276599"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6934199"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5" name="TextBox 14"/>
          <p:cNvSpPr txBox="1"/>
          <p:nvPr/>
        </p:nvSpPr>
        <p:spPr>
          <a:xfrm>
            <a:off x="1752600" y="990601"/>
            <a:ext cx="6781800" cy="584775"/>
          </a:xfrm>
          <a:prstGeom prst="rect">
            <a:avLst/>
          </a:prstGeom>
          <a:noFill/>
        </p:spPr>
        <p:txBody>
          <a:bodyPr wrap="square">
            <a:spAutoFit/>
          </a:bodyPr>
          <a:lstStyle/>
          <a:p>
            <a:pPr>
              <a:defRPr/>
            </a:pPr>
            <a:r>
              <a:rPr lang="en-US" sz="3200">
                <a:solidFill>
                  <a:schemeClr val="bg1"/>
                </a:solidFill>
                <a:latin typeface="Times New Roman" panose="02020603050405020304" pitchFamily="18" charset="0"/>
                <a:cs typeface="Times New Roman" panose="02020603050405020304" pitchFamily="18" charset="0"/>
              </a:rPr>
              <a:t>Bước 1: Xét phần tử thứ nhất (vị trí 1)</a:t>
            </a:r>
          </a:p>
        </p:txBody>
      </p:sp>
      <p:sp>
        <p:nvSpPr>
          <p:cNvPr id="14" name="Up Arrow Callout 13"/>
          <p:cNvSpPr/>
          <p:nvPr/>
        </p:nvSpPr>
        <p:spPr>
          <a:xfrm>
            <a:off x="2438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6" name="TextBox 15"/>
          <p:cNvSpPr txBox="1"/>
          <p:nvPr/>
        </p:nvSpPr>
        <p:spPr>
          <a:xfrm>
            <a:off x="1752600" y="1457980"/>
            <a:ext cx="67818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Tìm phần tử nhỏ nhất từ vị trí 1 đến 8</a:t>
            </a:r>
          </a:p>
        </p:txBody>
      </p:sp>
      <p:sp>
        <p:nvSpPr>
          <p:cNvPr id="2" name="Down Arrow Callout 1"/>
          <p:cNvSpPr/>
          <p:nvPr/>
        </p:nvSpPr>
        <p:spPr>
          <a:xfrm>
            <a:off x="8762999" y="3044825"/>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min</a:t>
            </a:r>
          </a:p>
        </p:txBody>
      </p:sp>
      <p:sp>
        <p:nvSpPr>
          <p:cNvPr id="26" name="TextBox 25"/>
          <p:cNvSpPr txBox="1"/>
          <p:nvPr/>
        </p:nvSpPr>
        <p:spPr>
          <a:xfrm>
            <a:off x="1752600" y="1905000"/>
            <a:ext cx="89154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Hoán vị 2 phần tử tại vị trí đang xét với vị trí phần tử min</a:t>
            </a:r>
          </a:p>
        </p:txBody>
      </p:sp>
      <p:sp>
        <p:nvSpPr>
          <p:cNvPr id="19" name="Rectangle 18"/>
          <p:cNvSpPr/>
          <p:nvPr/>
        </p:nvSpPr>
        <p:spPr>
          <a:xfrm>
            <a:off x="2362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5" name="Rectangle 24"/>
          <p:cNvSpPr/>
          <p:nvPr/>
        </p:nvSpPr>
        <p:spPr>
          <a:xfrm>
            <a:off x="8762999"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7" name="Title 1"/>
          <p:cNvSpPr txBox="1">
            <a:spLocks/>
          </p:cNvSpPr>
          <p:nvPr/>
        </p:nvSpPr>
        <p:spPr>
          <a:xfrm>
            <a:off x="533400" y="381000"/>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a:t>
            </a:r>
            <a:r>
              <a:rPr lang="en-US" b="1" smtClean="0">
                <a:solidFill>
                  <a:srgbClr val="FF0000"/>
                </a:solidFill>
                <a:latin typeface="Times New Roman" panose="02020603050405020304" pitchFamily="18" charset="0"/>
                <a:cs typeface="Times New Roman" panose="02020603050405020304" pitchFamily="18" charset="0"/>
              </a:rPr>
              <a:t>selection</a:t>
            </a:r>
            <a:r>
              <a:rPr lang="en-US" b="1" smtClean="0">
                <a:solidFill>
                  <a:srgbClr val="0070C0"/>
                </a:solidFill>
                <a:latin typeface="Times New Roman" panose="02020603050405020304" pitchFamily="18" charset="0"/>
                <a:cs typeface="Times New Roman" panose="02020603050405020304" pitchFamily="18" charset="0"/>
              </a:rPr>
              <a:t> </a:t>
            </a:r>
            <a:r>
              <a:rPr lang="en-US" b="1" smtClean="0">
                <a:solidFill>
                  <a:srgbClr val="FF0000"/>
                </a:solidFill>
                <a:latin typeface="Times New Roman" panose="02020603050405020304" pitchFamily="18" charset="0"/>
                <a:cs typeface="Times New Roman" panose="02020603050405020304" pitchFamily="18" charset="0"/>
              </a:rPr>
              <a:t>sort</a:t>
            </a:r>
            <a:endParaRPr lang="en-US"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071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64" presetClass="path" presetSubtype="0" accel="50000" decel="50000" fill="hold" grpId="0" nodeType="clickEffect">
                                  <p:stCondLst>
                                    <p:cond delay="0"/>
                                  </p:stCondLst>
                                  <p:childTnLst>
                                    <p:animMotion origin="layout" path="M 0 0 L 0 -0.25 E" pathEditMode="relative" ptsTypes="">
                                      <p:cBhvr>
                                        <p:cTn id="25" dur="2000" fill="hold"/>
                                        <p:tgtEl>
                                          <p:spTgt spid="19"/>
                                        </p:tgtEl>
                                        <p:attrNameLst>
                                          <p:attrName>ppt_x</p:attrName>
                                          <p:attrName>ppt_y</p:attrName>
                                        </p:attrNameLst>
                                      </p:cBhvr>
                                    </p:animMotion>
                                  </p:childTnLst>
                                </p:cTn>
                              </p:par>
                            </p:childTnLst>
                          </p:cTn>
                        </p:par>
                        <p:par>
                          <p:cTn id="26" fill="hold">
                            <p:stCondLst>
                              <p:cond delay="2000"/>
                            </p:stCondLst>
                            <p:childTnLst>
                              <p:par>
                                <p:cTn id="27" presetID="64" presetClass="path" presetSubtype="0" accel="50000" decel="50000" fill="hold" grpId="0" nodeType="afterEffect">
                                  <p:stCondLst>
                                    <p:cond delay="0"/>
                                  </p:stCondLst>
                                  <p:childTnLst>
                                    <p:animMotion origin="layout" path="M 0 0 L 0 -0.25 E" pathEditMode="relative" ptsTypes="">
                                      <p:cBhvr>
                                        <p:cTn id="28" dur="2000" fill="hold"/>
                                        <p:tgtEl>
                                          <p:spTgt spid="25"/>
                                        </p:tgtEl>
                                        <p:attrNameLst>
                                          <p:attrName>ppt_x</p:attrName>
                                          <p:attrName>ppt_y</p:attrName>
                                        </p:attrNameLst>
                                      </p:cBhvr>
                                    </p:animMotion>
                                  </p:childTnLst>
                                </p:cTn>
                              </p:par>
                            </p:childTnLst>
                          </p:cTn>
                        </p:par>
                        <p:par>
                          <p:cTn id="29" fill="hold">
                            <p:stCondLst>
                              <p:cond delay="4000"/>
                            </p:stCondLst>
                            <p:childTnLst>
                              <p:par>
                                <p:cTn id="30" presetID="50" presetClass="path" presetSubtype="0" accel="50000" decel="50000" fill="hold" grpId="1" nodeType="afterEffect">
                                  <p:stCondLst>
                                    <p:cond delay="0"/>
                                  </p:stCondLst>
                                  <p:childTnLst>
                                    <p:animMotion origin="layout" path="M 5E-6 -0.25 L 0.26081 -0.25 C 0.37787 -0.25 0.52188 -0.18102 0.52188 -0.125 L 0.52188 0.00023 " pathEditMode="relative" rAng="0" ptsTypes="AAAA">
                                      <p:cBhvr>
                                        <p:cTn id="31" dur="2000" fill="hold"/>
                                        <p:tgtEl>
                                          <p:spTgt spid="19"/>
                                        </p:tgtEl>
                                        <p:attrNameLst>
                                          <p:attrName>ppt_x</p:attrName>
                                          <p:attrName>ppt_y</p:attrName>
                                        </p:attrNameLst>
                                      </p:cBhvr>
                                      <p:rCtr x="26094" y="12500"/>
                                    </p:animMotion>
                                  </p:childTnLst>
                                </p:cTn>
                              </p:par>
                            </p:childTnLst>
                          </p:cTn>
                        </p:par>
                        <p:par>
                          <p:cTn id="32" fill="hold">
                            <p:stCondLst>
                              <p:cond delay="6000"/>
                            </p:stCondLst>
                            <p:childTnLst>
                              <p:par>
                                <p:cTn id="33" presetID="50" presetClass="path" presetSubtype="0" accel="50000" decel="50000" fill="hold" grpId="1" nodeType="afterEffect">
                                  <p:stCondLst>
                                    <p:cond delay="0"/>
                                  </p:stCondLst>
                                  <p:childTnLst>
                                    <p:animMotion origin="layout" path="M 5E-6 -0.25 L -0.26407 -0.25 C -0.38269 -0.25 -0.52813 -0.18102 -0.52813 -0.125 L -0.52813 0.00023 " pathEditMode="relative" rAng="0" ptsTypes="AAAA">
                                      <p:cBhvr>
                                        <p:cTn id="34" dur="2000" fill="hold"/>
                                        <p:tgtEl>
                                          <p:spTgt spid="25"/>
                                        </p:tgtEl>
                                        <p:attrNameLst>
                                          <p:attrName>ppt_x</p:attrName>
                                          <p:attrName>ppt_y</p:attrName>
                                        </p:attrNameLst>
                                      </p:cBhvr>
                                      <p:rCtr x="-26406" y="12500"/>
                                    </p:animMotion>
                                  </p:childTnLst>
                                </p:cTn>
                              </p:par>
                            </p:childTnLst>
                          </p:cTn>
                        </p:par>
                        <p:par>
                          <p:cTn id="35" fill="hold">
                            <p:stCondLst>
                              <p:cond delay="8000"/>
                            </p:stCondLst>
                            <p:childTnLst>
                              <p:par>
                                <p:cTn id="36" presetID="1" presetClass="exit" presetSubtype="0" fill="hold" grpId="1" nodeType="afterEffect">
                                  <p:stCondLst>
                                    <p:cond delay="0"/>
                                  </p:stCondLst>
                                  <p:childTnLst>
                                    <p:set>
                                      <p:cBhvr>
                                        <p:cTn id="37"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P spid="2" grpId="0" animBg="1"/>
      <p:bldP spid="2" grpId="1" animBg="1"/>
      <p:bldP spid="26" grpId="0"/>
      <p:bldP spid="19" grpId="0" animBg="1"/>
      <p:bldP spid="19" grpId="1" animBg="1"/>
      <p:bldP spid="25" grpId="0" animBg="1"/>
      <p:bldP spid="25" grpId="1"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511389722"/>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solidFill>
                      <a:schemeClr val="accent5"/>
                    </a:solid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62</a:t>
            </a:fld>
            <a:endParaRPr lang="en-US"/>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5" name="TextBox 14"/>
          <p:cNvSpPr txBox="1"/>
          <p:nvPr/>
        </p:nvSpPr>
        <p:spPr>
          <a:xfrm>
            <a:off x="1752600" y="1076981"/>
            <a:ext cx="6781800" cy="584775"/>
          </a:xfrm>
          <a:prstGeom prst="rect">
            <a:avLst/>
          </a:prstGeom>
          <a:noFill/>
        </p:spPr>
        <p:txBody>
          <a:bodyPr wrap="square">
            <a:spAutoFit/>
          </a:bodyPr>
          <a:lstStyle/>
          <a:p>
            <a:pPr>
              <a:defRPr/>
            </a:pPr>
            <a:r>
              <a:rPr lang="en-US" sz="3200">
                <a:solidFill>
                  <a:schemeClr val="bg1"/>
                </a:solidFill>
                <a:latin typeface="Times New Roman" panose="02020603050405020304" pitchFamily="18" charset="0"/>
                <a:cs typeface="Times New Roman" panose="02020603050405020304" pitchFamily="18" charset="0"/>
              </a:rPr>
              <a:t>Bước 2: Xét phần tử thứ hai (vị trí 2)</a:t>
            </a:r>
          </a:p>
        </p:txBody>
      </p:sp>
      <p:sp>
        <p:nvSpPr>
          <p:cNvPr id="14" name="Up Arrow Callout 13"/>
          <p:cNvSpPr/>
          <p:nvPr/>
        </p:nvSpPr>
        <p:spPr>
          <a:xfrm>
            <a:off x="2438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6" name="TextBox 15"/>
          <p:cNvSpPr txBox="1"/>
          <p:nvPr/>
        </p:nvSpPr>
        <p:spPr>
          <a:xfrm>
            <a:off x="1752600" y="1544360"/>
            <a:ext cx="67818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Tìm phần tử nhỏ nhất từ vị trí </a:t>
            </a:r>
            <a:r>
              <a:rPr lang="en-US" sz="2800" u="sng">
                <a:solidFill>
                  <a:schemeClr val="bg1"/>
                </a:solidFill>
                <a:latin typeface="Times New Roman" panose="02020603050405020304" pitchFamily="18" charset="0"/>
                <a:cs typeface="Times New Roman" panose="02020603050405020304" pitchFamily="18" charset="0"/>
              </a:rPr>
              <a:t>2 đến 8</a:t>
            </a:r>
          </a:p>
        </p:txBody>
      </p:sp>
      <p:sp>
        <p:nvSpPr>
          <p:cNvPr id="2" name="Down Arrow Callout 1"/>
          <p:cNvSpPr/>
          <p:nvPr/>
        </p:nvSpPr>
        <p:spPr>
          <a:xfrm>
            <a:off x="6934200" y="2778126"/>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min</a:t>
            </a:r>
          </a:p>
        </p:txBody>
      </p:sp>
      <p:sp>
        <p:nvSpPr>
          <p:cNvPr id="26" name="TextBox 25"/>
          <p:cNvSpPr txBox="1"/>
          <p:nvPr/>
        </p:nvSpPr>
        <p:spPr>
          <a:xfrm>
            <a:off x="1752600" y="1991380"/>
            <a:ext cx="89154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Hoán vị 2 phần tử tại vị trí đang xét với vị trí phần tử min</a:t>
            </a:r>
          </a:p>
        </p:txBody>
      </p:sp>
      <p:sp>
        <p:nvSpPr>
          <p:cNvPr id="19" name="Rectangle 18"/>
          <p:cNvSpPr/>
          <p:nvPr/>
        </p:nvSpPr>
        <p:spPr>
          <a:xfrm>
            <a:off x="8839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5" name="Rectangle 24"/>
          <p:cNvSpPr/>
          <p:nvPr/>
        </p:nvSpPr>
        <p:spPr>
          <a:xfrm>
            <a:off x="2362200" y="4454526"/>
            <a:ext cx="838200" cy="3635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8" name="Rectangle 17"/>
          <p:cNvSpPr/>
          <p:nvPr/>
        </p:nvSpPr>
        <p:spPr>
          <a:xfrm>
            <a:off x="3276599"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3" name="Rectangle 22"/>
          <p:cNvSpPr/>
          <p:nvPr/>
        </p:nvSpPr>
        <p:spPr>
          <a:xfrm>
            <a:off x="6934199"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7"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639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14"/>
                                        </p:tgtEl>
                                        <p:attrNameLst>
                                          <p:attrName>ppt_x</p:attrName>
                                          <p:attrName>ppt_y</p:attrName>
                                        </p:attrNameLst>
                                      </p:cBhvr>
                                      <p:rCtr x="3594" y="0"/>
                                    </p:animMotion>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par>
                          <p:cTn id="22" fill="hold">
                            <p:stCondLst>
                              <p:cond delay="500"/>
                            </p:stCondLst>
                            <p:childTnLst>
                              <p:par>
                                <p:cTn id="23" presetID="64" presetClass="path" presetSubtype="0" accel="50000" decel="50000" fill="hold" grpId="0" nodeType="afterEffect">
                                  <p:stCondLst>
                                    <p:cond delay="0"/>
                                  </p:stCondLst>
                                  <p:childTnLst>
                                    <p:animMotion origin="layout" path="M 0 0 L 0 -0.25 E" pathEditMode="relative" ptsTypes="">
                                      <p:cBhvr>
                                        <p:cTn id="24" dur="2000" fill="hold"/>
                                        <p:tgtEl>
                                          <p:spTgt spid="18"/>
                                        </p:tgtEl>
                                        <p:attrNameLst>
                                          <p:attrName>ppt_x</p:attrName>
                                          <p:attrName>ppt_y</p:attrName>
                                        </p:attrNameLst>
                                      </p:cBhvr>
                                    </p:animMotion>
                                  </p:childTnLst>
                                </p:cTn>
                              </p:par>
                            </p:childTnLst>
                          </p:cTn>
                        </p:par>
                        <p:par>
                          <p:cTn id="25" fill="hold">
                            <p:stCondLst>
                              <p:cond delay="2500"/>
                            </p:stCondLst>
                            <p:childTnLst>
                              <p:par>
                                <p:cTn id="26" presetID="64" presetClass="path" presetSubtype="0" accel="50000" decel="50000" fill="hold" grpId="0" nodeType="afterEffect">
                                  <p:stCondLst>
                                    <p:cond delay="0"/>
                                  </p:stCondLst>
                                  <p:childTnLst>
                                    <p:animMotion origin="layout" path="M 0 0 L 0 -0.25 E" pathEditMode="relative" ptsTypes="">
                                      <p:cBhvr>
                                        <p:cTn id="27" dur="2000" fill="hold"/>
                                        <p:tgtEl>
                                          <p:spTgt spid="23"/>
                                        </p:tgtEl>
                                        <p:attrNameLst>
                                          <p:attrName>ppt_x</p:attrName>
                                          <p:attrName>ppt_y</p:attrName>
                                        </p:attrNameLst>
                                      </p:cBhvr>
                                    </p:animMotion>
                                  </p:childTnLst>
                                </p:cTn>
                              </p:par>
                            </p:childTnLst>
                          </p:cTn>
                        </p:par>
                        <p:par>
                          <p:cTn id="28" fill="hold">
                            <p:stCondLst>
                              <p:cond delay="4500"/>
                            </p:stCondLst>
                            <p:childTnLst>
                              <p:par>
                                <p:cTn id="29" presetID="50" presetClass="path" presetSubtype="0" accel="50000" decel="50000" fill="hold" grpId="1" nodeType="afterEffect">
                                  <p:stCondLst>
                                    <p:cond delay="0"/>
                                  </p:stCondLst>
                                  <p:childTnLst>
                                    <p:animMotion origin="layout" path="M 5E-6 -0.25 L 0.14831 -0.25 C 0.21485 -0.25 0.29688 -0.18102 0.29688 -0.125 L 0.29688 -2.59259E-6 " pathEditMode="relative" rAng="0" ptsTypes="AAAA">
                                      <p:cBhvr>
                                        <p:cTn id="30" dur="2000" fill="hold"/>
                                        <p:tgtEl>
                                          <p:spTgt spid="18"/>
                                        </p:tgtEl>
                                        <p:attrNameLst>
                                          <p:attrName>ppt_x</p:attrName>
                                          <p:attrName>ppt_y</p:attrName>
                                        </p:attrNameLst>
                                      </p:cBhvr>
                                      <p:rCtr x="14844" y="12500"/>
                                    </p:animMotion>
                                  </p:childTnLst>
                                </p:cTn>
                              </p:par>
                            </p:childTnLst>
                          </p:cTn>
                        </p:par>
                        <p:par>
                          <p:cTn id="31" fill="hold">
                            <p:stCondLst>
                              <p:cond delay="6500"/>
                            </p:stCondLst>
                            <p:childTnLst>
                              <p:par>
                                <p:cTn id="32" presetID="50" presetClass="path" presetSubtype="0" accel="50000" decel="50000" fill="hold" grpId="1" nodeType="afterEffect">
                                  <p:stCondLst>
                                    <p:cond delay="0"/>
                                  </p:stCondLst>
                                  <p:childTnLst>
                                    <p:animMotion origin="layout" path="M 5E-6 -0.25 L -0.14857 -0.25 C -0.21511 -0.25 -0.29688 -0.18102 -0.29688 -0.125 L -0.29688 -3.33333E-6 " pathEditMode="relative" rAng="0" ptsTypes="AAAA">
                                      <p:cBhvr>
                                        <p:cTn id="33" dur="2000" fill="hold"/>
                                        <p:tgtEl>
                                          <p:spTgt spid="23"/>
                                        </p:tgtEl>
                                        <p:attrNameLst>
                                          <p:attrName>ppt_x</p:attrName>
                                          <p:attrName>ppt_y</p:attrName>
                                        </p:attrNameLst>
                                      </p:cBhvr>
                                      <p:rCtr x="-14844" y="12500"/>
                                    </p:animMotion>
                                  </p:childTnLst>
                                </p:cTn>
                              </p:par>
                            </p:childTnLst>
                          </p:cTn>
                        </p:par>
                        <p:par>
                          <p:cTn id="34" fill="hold">
                            <p:stCondLst>
                              <p:cond delay="8500"/>
                            </p:stCondLst>
                            <p:childTnLst>
                              <p:par>
                                <p:cTn id="35" presetID="1" presetClass="exit" presetSubtype="0" fill="hold" grpId="1" nodeType="afterEffect">
                                  <p:stCondLst>
                                    <p:cond delay="0"/>
                                  </p:stCondLst>
                                  <p:childTnLst>
                                    <p:set>
                                      <p:cBhvr>
                                        <p:cTn id="3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P spid="2" grpId="0" animBg="1"/>
      <p:bldP spid="2" grpId="1" animBg="1"/>
      <p:bldP spid="26" grpId="0"/>
      <p:bldP spid="18" grpId="0" animBg="1"/>
      <p:bldP spid="18" grpId="1" animBg="1"/>
      <p:bldP spid="23" grpId="0" animBg="1"/>
      <p:bldP spid="23"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032821383"/>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solidFill>
                      <a:schemeClr val="accent5"/>
                    </a:solid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63</a:t>
            </a:fld>
            <a:endParaRPr lang="en-US"/>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5" name="TextBox 14"/>
          <p:cNvSpPr txBox="1"/>
          <p:nvPr/>
        </p:nvSpPr>
        <p:spPr>
          <a:xfrm>
            <a:off x="1752600" y="1076981"/>
            <a:ext cx="6781800" cy="584775"/>
          </a:xfrm>
          <a:prstGeom prst="rect">
            <a:avLst/>
          </a:prstGeom>
          <a:noFill/>
        </p:spPr>
        <p:txBody>
          <a:bodyPr wrap="square">
            <a:spAutoFit/>
          </a:bodyPr>
          <a:lstStyle/>
          <a:p>
            <a:pPr>
              <a:defRPr/>
            </a:pPr>
            <a:r>
              <a:rPr lang="en-US" sz="3200">
                <a:solidFill>
                  <a:schemeClr val="bg1"/>
                </a:solidFill>
                <a:latin typeface="Times New Roman" panose="02020603050405020304" pitchFamily="18" charset="0"/>
                <a:cs typeface="Times New Roman" panose="02020603050405020304" pitchFamily="18" charset="0"/>
              </a:rPr>
              <a:t>Bước 3: Xét phần tử thứ ba (vị trí 3)</a:t>
            </a:r>
          </a:p>
        </p:txBody>
      </p:sp>
      <p:sp>
        <p:nvSpPr>
          <p:cNvPr id="14" name="Up Arrow Callout 13"/>
          <p:cNvSpPr/>
          <p:nvPr/>
        </p:nvSpPr>
        <p:spPr>
          <a:xfrm>
            <a:off x="32766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6" name="TextBox 15"/>
          <p:cNvSpPr txBox="1"/>
          <p:nvPr/>
        </p:nvSpPr>
        <p:spPr>
          <a:xfrm>
            <a:off x="1752600" y="1544360"/>
            <a:ext cx="6781800" cy="523220"/>
          </a:xfrm>
          <a:prstGeom prst="rect">
            <a:avLst/>
          </a:prstGeom>
          <a:noFill/>
        </p:spPr>
        <p:txBody>
          <a:bodyPr wrap="square">
            <a:spAutoFit/>
          </a:bodyPr>
          <a:lstStyle/>
          <a:p>
            <a:pPr marL="457200" indent="-457200">
              <a:buFont typeface="Arial" pitchFamily="34" charset="0"/>
              <a:buChar char="•"/>
              <a:defRPr/>
            </a:pPr>
            <a:r>
              <a:rPr lang="en-US" sz="2800" dirty="0" err="1">
                <a:solidFill>
                  <a:schemeClr val="bg1"/>
                </a:solidFill>
                <a:latin typeface="Times New Roman" panose="02020603050405020304" pitchFamily="18" charset="0"/>
                <a:cs typeface="Times New Roman" panose="02020603050405020304" pitchFamily="18" charset="0"/>
              </a:rPr>
              <a:t>Tìm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phần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tử</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nhỏ</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nhất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từ</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vị</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trí</a:t>
            </a:r>
            <a:r>
              <a:rPr lang="en-US" sz="2800" dirty="0">
                <a:solidFill>
                  <a:schemeClr val="bg1"/>
                </a:solidFill>
                <a:latin typeface="Times New Roman" panose="02020603050405020304" pitchFamily="18" charset="0"/>
                <a:cs typeface="Times New Roman" panose="02020603050405020304" pitchFamily="18" charset="0"/>
              </a:rPr>
              <a:t> </a:t>
            </a:r>
            <a:r>
              <a:rPr lang="en-US" sz="2800" u="sng" dirty="0">
                <a:solidFill>
                  <a:schemeClr val="bg1"/>
                </a:solidFill>
                <a:latin typeface="Times New Roman" panose="02020603050405020304" pitchFamily="18" charset="0"/>
                <a:cs typeface="Times New Roman" panose="02020603050405020304" pitchFamily="18" charset="0"/>
              </a:rPr>
              <a:t>3 </a:t>
            </a:r>
            <a:r>
              <a:rPr lang="en-US" sz="2800" u="sng" dirty="0" err="1">
                <a:solidFill>
                  <a:schemeClr val="bg1"/>
                </a:solidFill>
                <a:latin typeface="Times New Roman" panose="02020603050405020304" pitchFamily="18" charset="0"/>
                <a:cs typeface="Times New Roman" panose="02020603050405020304" pitchFamily="18" charset="0"/>
              </a:rPr>
              <a:t>đến</a:t>
            </a:r>
            <a:r>
              <a:rPr lang="en-US" sz="2800" u="sng" dirty="0">
                <a:solidFill>
                  <a:schemeClr val="bg1"/>
                </a:solidFill>
                <a:latin typeface="Times New Roman" panose="02020603050405020304" pitchFamily="18" charset="0"/>
                <a:cs typeface="Times New Roman" panose="02020603050405020304" pitchFamily="18" charset="0"/>
              </a:rPr>
              <a:t> 8</a:t>
            </a:r>
          </a:p>
        </p:txBody>
      </p:sp>
      <p:sp>
        <p:nvSpPr>
          <p:cNvPr id="2" name="Down Arrow Callout 1"/>
          <p:cNvSpPr/>
          <p:nvPr/>
        </p:nvSpPr>
        <p:spPr>
          <a:xfrm>
            <a:off x="5105400" y="26670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min</a:t>
            </a:r>
          </a:p>
        </p:txBody>
      </p:sp>
      <p:sp>
        <p:nvSpPr>
          <p:cNvPr id="26" name="TextBox 25"/>
          <p:cNvSpPr txBox="1"/>
          <p:nvPr/>
        </p:nvSpPr>
        <p:spPr>
          <a:xfrm>
            <a:off x="1752600" y="1991380"/>
            <a:ext cx="89154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Hoán vị 2 phần tử tại vị trí đang xét với vị trí phần tử min</a:t>
            </a:r>
          </a:p>
        </p:txBody>
      </p:sp>
      <p:sp>
        <p:nvSpPr>
          <p:cNvPr id="19" name="Rectangle 18"/>
          <p:cNvSpPr/>
          <p:nvPr/>
        </p:nvSpPr>
        <p:spPr>
          <a:xfrm>
            <a:off x="8839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5" name="Rectangle 24"/>
          <p:cNvSpPr/>
          <p:nvPr/>
        </p:nvSpPr>
        <p:spPr>
          <a:xfrm>
            <a:off x="2362200" y="4454526"/>
            <a:ext cx="838200" cy="3635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8" name="Rectangle 17"/>
          <p:cNvSpPr/>
          <p:nvPr/>
        </p:nvSpPr>
        <p:spPr>
          <a:xfrm>
            <a:off x="69342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3" name="Rectangle 22"/>
          <p:cNvSpPr/>
          <p:nvPr/>
        </p:nvSpPr>
        <p:spPr>
          <a:xfrm>
            <a:off x="3276600" y="4225926"/>
            <a:ext cx="838200" cy="577849"/>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7"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9479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14"/>
                                        </p:tgtEl>
                                        <p:attrNameLst>
                                          <p:attrName>ppt_x</p:attrName>
                                          <p:attrName>ppt_y</p:attrName>
                                        </p:attrNameLst>
                                      </p:cBhvr>
                                      <p:rCtr x="3594" y="0"/>
                                    </p:animMotion>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64" presetClass="path" presetSubtype="0" accel="50000" decel="50000" fill="hold" grpId="0" nodeType="clickEffect">
                                  <p:stCondLst>
                                    <p:cond delay="0"/>
                                  </p:stCondLst>
                                  <p:childTnLst>
                                    <p:animMotion origin="layout" path="M 0 0 L 0 -0.25 E" pathEditMode="relative" ptsTypes="">
                                      <p:cBhvr>
                                        <p:cTn id="25" dur="2000" fill="hold"/>
                                        <p:tgtEl>
                                          <p:spTgt spid="20"/>
                                        </p:tgtEl>
                                        <p:attrNameLst>
                                          <p:attrName>ppt_x</p:attrName>
                                          <p:attrName>ppt_y</p:attrName>
                                        </p:attrNameLst>
                                      </p:cBhvr>
                                    </p:animMotion>
                                  </p:childTnLst>
                                </p:cTn>
                              </p:par>
                            </p:childTnLst>
                          </p:cTn>
                        </p:par>
                        <p:par>
                          <p:cTn id="26" fill="hold">
                            <p:stCondLst>
                              <p:cond delay="2000"/>
                            </p:stCondLst>
                            <p:childTnLst>
                              <p:par>
                                <p:cTn id="27" presetID="64" presetClass="path" presetSubtype="0" accel="50000" decel="50000" fill="hold" grpId="0" nodeType="afterEffect">
                                  <p:stCondLst>
                                    <p:cond delay="0"/>
                                  </p:stCondLst>
                                  <p:childTnLst>
                                    <p:animMotion origin="layout" path="M 0 0 L 0 -0.25 E" pathEditMode="relative" ptsTypes="">
                                      <p:cBhvr>
                                        <p:cTn id="28" dur="2000" fill="hold"/>
                                        <p:tgtEl>
                                          <p:spTgt spid="21"/>
                                        </p:tgtEl>
                                        <p:attrNameLst>
                                          <p:attrName>ppt_x</p:attrName>
                                          <p:attrName>ppt_y</p:attrName>
                                        </p:attrNameLst>
                                      </p:cBhvr>
                                    </p:animMotion>
                                  </p:childTnLst>
                                </p:cTn>
                              </p:par>
                            </p:childTnLst>
                          </p:cTn>
                        </p:par>
                        <p:par>
                          <p:cTn id="29" fill="hold">
                            <p:stCondLst>
                              <p:cond delay="4000"/>
                            </p:stCondLst>
                            <p:childTnLst>
                              <p:par>
                                <p:cTn id="30" presetID="50" presetClass="path" presetSubtype="0" accel="50000" decel="50000" fill="hold" grpId="1" nodeType="afterEffect">
                                  <p:stCondLst>
                                    <p:cond delay="0"/>
                                  </p:stCondLst>
                                  <p:childTnLst>
                                    <p:animMotion origin="layout" path="M 5E-6 -0.25 L 0.03581 -0.25 C 0.05196 -0.25 0.07188 -0.18102 0.07188 -0.125 L 0.07188 -3.7037E-7 " pathEditMode="relative" rAng="0" ptsTypes="AAAA">
                                      <p:cBhvr>
                                        <p:cTn id="31" dur="2000" fill="hold"/>
                                        <p:tgtEl>
                                          <p:spTgt spid="20"/>
                                        </p:tgtEl>
                                        <p:attrNameLst>
                                          <p:attrName>ppt_x</p:attrName>
                                          <p:attrName>ppt_y</p:attrName>
                                        </p:attrNameLst>
                                      </p:cBhvr>
                                      <p:rCtr x="3594" y="12500"/>
                                    </p:animMotion>
                                  </p:childTnLst>
                                </p:cTn>
                              </p:par>
                            </p:childTnLst>
                          </p:cTn>
                        </p:par>
                        <p:par>
                          <p:cTn id="32" fill="hold">
                            <p:stCondLst>
                              <p:cond delay="6000"/>
                            </p:stCondLst>
                            <p:childTnLst>
                              <p:par>
                                <p:cTn id="33" presetID="50" presetClass="path" presetSubtype="0" accel="50000" decel="50000" fill="hold" grpId="1" nodeType="afterEffect">
                                  <p:stCondLst>
                                    <p:cond delay="0"/>
                                  </p:stCondLst>
                                  <p:childTnLst>
                                    <p:animMotion origin="layout" path="M 5E-6 -0.25 L -0.03607 -0.25 C -0.05221 -0.25 -0.07188 -0.18102 -0.07188 -0.125 L -0.07188 -2.96296E-6 " pathEditMode="relative" rAng="0" ptsTypes="AAAA">
                                      <p:cBhvr>
                                        <p:cTn id="34" dur="2000" fill="hold"/>
                                        <p:tgtEl>
                                          <p:spTgt spid="21"/>
                                        </p:tgtEl>
                                        <p:attrNameLst>
                                          <p:attrName>ppt_x</p:attrName>
                                          <p:attrName>ppt_y</p:attrName>
                                        </p:attrNameLst>
                                      </p:cBhvr>
                                      <p:rCtr x="-3594" y="12500"/>
                                    </p:animMotion>
                                  </p:childTnLst>
                                </p:cTn>
                              </p:par>
                            </p:childTnLst>
                          </p:cTn>
                        </p:par>
                        <p:par>
                          <p:cTn id="35" fill="hold">
                            <p:stCondLst>
                              <p:cond delay="8000"/>
                            </p:stCondLst>
                            <p:childTnLst>
                              <p:par>
                                <p:cTn id="36" presetID="1" presetClass="exit" presetSubtype="0" fill="hold" grpId="1" nodeType="afterEffect">
                                  <p:stCondLst>
                                    <p:cond delay="0"/>
                                  </p:stCondLst>
                                  <p:childTnLst>
                                    <p:set>
                                      <p:cBhvr>
                                        <p:cTn id="37"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P spid="2" grpId="0" animBg="1"/>
      <p:bldP spid="2" grpId="1" animBg="1"/>
      <p:bldP spid="26" grpId="0"/>
      <p:bldP spid="20" grpId="0" animBg="1"/>
      <p:bldP spid="20" grpId="1" animBg="1"/>
      <p:bldP spid="21" grpId="0" animBg="1"/>
      <p:bldP spid="21"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253335584"/>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solidFill>
                      <a:schemeClr val="accent5"/>
                    </a:solid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64</a:t>
            </a:fld>
            <a:endParaRPr lang="en-US"/>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5" name="TextBox 14"/>
          <p:cNvSpPr txBox="1"/>
          <p:nvPr/>
        </p:nvSpPr>
        <p:spPr>
          <a:xfrm>
            <a:off x="1752600" y="1076981"/>
            <a:ext cx="6781800" cy="584775"/>
          </a:xfrm>
          <a:prstGeom prst="rect">
            <a:avLst/>
          </a:prstGeom>
          <a:noFill/>
        </p:spPr>
        <p:txBody>
          <a:bodyPr wrap="square">
            <a:spAutoFit/>
          </a:bodyPr>
          <a:lstStyle/>
          <a:p>
            <a:pPr>
              <a:defRPr/>
            </a:pPr>
            <a:r>
              <a:rPr lang="en-US" sz="3200">
                <a:solidFill>
                  <a:schemeClr val="bg1"/>
                </a:solidFill>
                <a:latin typeface="Times New Roman" panose="02020603050405020304" pitchFamily="18" charset="0"/>
                <a:cs typeface="Times New Roman" panose="02020603050405020304" pitchFamily="18" charset="0"/>
              </a:rPr>
              <a:t>Bước 4: Xét phần tử thứ tư (vị trí 4)</a:t>
            </a:r>
          </a:p>
        </p:txBody>
      </p:sp>
      <p:sp>
        <p:nvSpPr>
          <p:cNvPr id="14" name="Up Arrow Callout 13"/>
          <p:cNvSpPr/>
          <p:nvPr/>
        </p:nvSpPr>
        <p:spPr>
          <a:xfrm>
            <a:off x="41910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6" name="TextBox 15"/>
          <p:cNvSpPr txBox="1"/>
          <p:nvPr/>
        </p:nvSpPr>
        <p:spPr>
          <a:xfrm>
            <a:off x="1752600" y="1544360"/>
            <a:ext cx="67818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Tìm phần tử nhỏ nhất từ vị trí </a:t>
            </a:r>
            <a:r>
              <a:rPr lang="en-US" sz="2800" u="sng">
                <a:solidFill>
                  <a:schemeClr val="bg1"/>
                </a:solidFill>
                <a:latin typeface="Times New Roman" panose="02020603050405020304" pitchFamily="18" charset="0"/>
                <a:cs typeface="Times New Roman" panose="02020603050405020304" pitchFamily="18" charset="0"/>
              </a:rPr>
              <a:t>4 đến 8</a:t>
            </a:r>
          </a:p>
        </p:txBody>
      </p:sp>
      <p:sp>
        <p:nvSpPr>
          <p:cNvPr id="2" name="Down Arrow Callout 1"/>
          <p:cNvSpPr/>
          <p:nvPr/>
        </p:nvSpPr>
        <p:spPr>
          <a:xfrm>
            <a:off x="6934200" y="25146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min</a:t>
            </a:r>
          </a:p>
        </p:txBody>
      </p:sp>
      <p:sp>
        <p:nvSpPr>
          <p:cNvPr id="26" name="TextBox 25"/>
          <p:cNvSpPr txBox="1"/>
          <p:nvPr/>
        </p:nvSpPr>
        <p:spPr>
          <a:xfrm>
            <a:off x="1752600" y="1991380"/>
            <a:ext cx="89154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Hoán vị 2 phần tử tại vị trí đang xét với vị trí phần tử min</a:t>
            </a:r>
          </a:p>
        </p:txBody>
      </p:sp>
      <p:sp>
        <p:nvSpPr>
          <p:cNvPr id="19" name="Rectangle 18"/>
          <p:cNvSpPr/>
          <p:nvPr/>
        </p:nvSpPr>
        <p:spPr>
          <a:xfrm>
            <a:off x="8839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5" name="Rectangle 24"/>
          <p:cNvSpPr/>
          <p:nvPr/>
        </p:nvSpPr>
        <p:spPr>
          <a:xfrm>
            <a:off x="2362200" y="4454526"/>
            <a:ext cx="838200" cy="3635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3" name="Rectangle 22"/>
          <p:cNvSpPr/>
          <p:nvPr/>
        </p:nvSpPr>
        <p:spPr>
          <a:xfrm>
            <a:off x="3276600" y="4225926"/>
            <a:ext cx="838200" cy="577849"/>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1" name="Rectangle 20"/>
          <p:cNvSpPr/>
          <p:nvPr/>
        </p:nvSpPr>
        <p:spPr>
          <a:xfrm>
            <a:off x="4191000" y="4105276"/>
            <a:ext cx="838200" cy="71278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18" name="Rectangle 17"/>
          <p:cNvSpPr/>
          <p:nvPr/>
        </p:nvSpPr>
        <p:spPr>
          <a:xfrm>
            <a:off x="6934200"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51054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7"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861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813 1.11111E-6 " pathEditMode="relative" rAng="0" ptsTypes="AA">
                                      <p:cBhvr>
                                        <p:cTn id="6" dur="2000" fill="hold"/>
                                        <p:tgtEl>
                                          <p:spTgt spid="14"/>
                                        </p:tgtEl>
                                        <p:attrNameLst>
                                          <p:attrName>ppt_x</p:attrName>
                                          <p:attrName>ppt_y</p:attrName>
                                        </p:attrNameLst>
                                      </p:cBhvr>
                                      <p:rCtr x="3906" y="0"/>
                                    </p:animMotion>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64" presetClass="path" presetSubtype="0" accel="50000" decel="50000" fill="hold" grpId="0" nodeType="clickEffect">
                                  <p:stCondLst>
                                    <p:cond delay="0"/>
                                  </p:stCondLst>
                                  <p:childTnLst>
                                    <p:animMotion origin="layout" path="M 0 0 L 0 -0.25 E" pathEditMode="relative" ptsTypes="">
                                      <p:cBhvr>
                                        <p:cTn id="25" dur="2000" fill="hold"/>
                                        <p:tgtEl>
                                          <p:spTgt spid="20"/>
                                        </p:tgtEl>
                                        <p:attrNameLst>
                                          <p:attrName>ppt_x</p:attrName>
                                          <p:attrName>ppt_y</p:attrName>
                                        </p:attrNameLst>
                                      </p:cBhvr>
                                    </p:animMotion>
                                  </p:childTnLst>
                                </p:cTn>
                              </p:par>
                            </p:childTnLst>
                          </p:cTn>
                        </p:par>
                        <p:par>
                          <p:cTn id="26" fill="hold">
                            <p:stCondLst>
                              <p:cond delay="2000"/>
                            </p:stCondLst>
                            <p:childTnLst>
                              <p:par>
                                <p:cTn id="27" presetID="64" presetClass="path" presetSubtype="0" accel="50000" decel="50000" fill="hold" grpId="0" nodeType="afterEffect">
                                  <p:stCondLst>
                                    <p:cond delay="0"/>
                                  </p:stCondLst>
                                  <p:childTnLst>
                                    <p:animMotion origin="layout" path="M 0 0 L 0 -0.25 E" pathEditMode="relative" ptsTypes="">
                                      <p:cBhvr>
                                        <p:cTn id="28" dur="2000" fill="hold"/>
                                        <p:tgtEl>
                                          <p:spTgt spid="18"/>
                                        </p:tgtEl>
                                        <p:attrNameLst>
                                          <p:attrName>ppt_x</p:attrName>
                                          <p:attrName>ppt_y</p:attrName>
                                        </p:attrNameLst>
                                      </p:cBhvr>
                                    </p:animMotion>
                                  </p:childTnLst>
                                </p:cTn>
                              </p:par>
                            </p:childTnLst>
                          </p:cTn>
                        </p:par>
                        <p:par>
                          <p:cTn id="29" fill="hold">
                            <p:stCondLst>
                              <p:cond delay="4000"/>
                            </p:stCondLst>
                            <p:childTnLst>
                              <p:par>
                                <p:cTn id="30" presetID="50" presetClass="path" presetSubtype="0" accel="50000" decel="50000" fill="hold" grpId="1" nodeType="afterEffect">
                                  <p:stCondLst>
                                    <p:cond delay="0"/>
                                  </p:stCondLst>
                                  <p:childTnLst>
                                    <p:animMotion origin="layout" path="M 5E-6 -0.25 L 0.0733 -0.25 C 0.10612 -0.25 0.14688 -0.18102 0.14688 -0.125 L 0.14688 -3.7037E-7 " pathEditMode="relative" rAng="0" ptsTypes="AAAA">
                                      <p:cBhvr>
                                        <p:cTn id="31" dur="2000" fill="hold"/>
                                        <p:tgtEl>
                                          <p:spTgt spid="20"/>
                                        </p:tgtEl>
                                        <p:attrNameLst>
                                          <p:attrName>ppt_x</p:attrName>
                                          <p:attrName>ppt_y</p:attrName>
                                        </p:attrNameLst>
                                      </p:cBhvr>
                                      <p:rCtr x="7344" y="12500"/>
                                    </p:animMotion>
                                  </p:childTnLst>
                                </p:cTn>
                              </p:par>
                            </p:childTnLst>
                          </p:cTn>
                        </p:par>
                        <p:par>
                          <p:cTn id="32" fill="hold">
                            <p:stCondLst>
                              <p:cond delay="6000"/>
                            </p:stCondLst>
                            <p:childTnLst>
                              <p:par>
                                <p:cTn id="33" presetID="50" presetClass="path" presetSubtype="0" accel="50000" decel="50000" fill="hold" grpId="1" nodeType="afterEffect">
                                  <p:stCondLst>
                                    <p:cond delay="0"/>
                                  </p:stCondLst>
                                  <p:childTnLst>
                                    <p:animMotion origin="layout" path="M 5E-6 -0.25 L -0.0767 -0.25 C -0.11107 -0.25 -0.15313 -0.18102 -0.15313 -0.125 L -0.15313 -2.59259E-6 " pathEditMode="relative" rAng="0" ptsTypes="AAAA">
                                      <p:cBhvr>
                                        <p:cTn id="34" dur="2000" fill="hold"/>
                                        <p:tgtEl>
                                          <p:spTgt spid="18"/>
                                        </p:tgtEl>
                                        <p:attrNameLst>
                                          <p:attrName>ppt_x</p:attrName>
                                          <p:attrName>ppt_y</p:attrName>
                                        </p:attrNameLst>
                                      </p:cBhvr>
                                      <p:rCtr x="-7656" y="12500"/>
                                    </p:animMotion>
                                  </p:childTnLst>
                                </p:cTn>
                              </p:par>
                            </p:childTnLst>
                          </p:cTn>
                        </p:par>
                        <p:par>
                          <p:cTn id="35" fill="hold">
                            <p:stCondLst>
                              <p:cond delay="8000"/>
                            </p:stCondLst>
                            <p:childTnLst>
                              <p:par>
                                <p:cTn id="36" presetID="1" presetClass="exit" presetSubtype="0" fill="hold" grpId="1" nodeType="afterEffect">
                                  <p:stCondLst>
                                    <p:cond delay="0"/>
                                  </p:stCondLst>
                                  <p:childTnLst>
                                    <p:set>
                                      <p:cBhvr>
                                        <p:cTn id="37"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P spid="2" grpId="0" animBg="1"/>
      <p:bldP spid="2" grpId="1" animBg="1"/>
      <p:bldP spid="26" grpId="0"/>
      <p:bldP spid="18" grpId="0" animBg="1"/>
      <p:bldP spid="18" grpId="1" animBg="1"/>
      <p:bldP spid="20" grpId="0" animBg="1"/>
      <p:bldP spid="20"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788731716"/>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solidFill>
                      <a:schemeClr val="accent5"/>
                    </a:solid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65</a:t>
            </a:fld>
            <a:endParaRPr lang="en-US"/>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5" name="TextBox 14"/>
          <p:cNvSpPr txBox="1"/>
          <p:nvPr/>
        </p:nvSpPr>
        <p:spPr>
          <a:xfrm>
            <a:off x="1752600" y="1076981"/>
            <a:ext cx="6781800" cy="584775"/>
          </a:xfrm>
          <a:prstGeom prst="rect">
            <a:avLst/>
          </a:prstGeom>
          <a:noFill/>
        </p:spPr>
        <p:txBody>
          <a:bodyPr wrap="square">
            <a:spAutoFit/>
          </a:bodyPr>
          <a:lstStyle/>
          <a:p>
            <a:pPr>
              <a:defRPr/>
            </a:pPr>
            <a:r>
              <a:rPr lang="en-US" sz="3200">
                <a:solidFill>
                  <a:schemeClr val="bg1"/>
                </a:solidFill>
                <a:latin typeface="Times New Roman" panose="02020603050405020304" pitchFamily="18" charset="0"/>
                <a:cs typeface="Times New Roman" panose="02020603050405020304" pitchFamily="18" charset="0"/>
              </a:rPr>
              <a:t>Bước 5: Xét phần tử thứ năm (vị trí 5)</a:t>
            </a:r>
          </a:p>
        </p:txBody>
      </p:sp>
      <p:sp>
        <p:nvSpPr>
          <p:cNvPr id="14" name="Up Arrow Callout 13"/>
          <p:cNvSpPr/>
          <p:nvPr/>
        </p:nvSpPr>
        <p:spPr>
          <a:xfrm>
            <a:off x="51054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16" name="TextBox 15"/>
          <p:cNvSpPr txBox="1"/>
          <p:nvPr/>
        </p:nvSpPr>
        <p:spPr>
          <a:xfrm>
            <a:off x="1752600" y="1544360"/>
            <a:ext cx="67818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Tìm phần tử nhỏ nhất từ vị trí </a:t>
            </a:r>
            <a:r>
              <a:rPr lang="en-US" sz="2800" u="sng">
                <a:solidFill>
                  <a:schemeClr val="bg1"/>
                </a:solidFill>
                <a:latin typeface="Times New Roman" panose="02020603050405020304" pitchFamily="18" charset="0"/>
                <a:cs typeface="Times New Roman" panose="02020603050405020304" pitchFamily="18" charset="0"/>
              </a:rPr>
              <a:t>5 đến 8</a:t>
            </a:r>
          </a:p>
        </p:txBody>
      </p:sp>
      <p:sp>
        <p:nvSpPr>
          <p:cNvPr id="2" name="Down Arrow Callout 1"/>
          <p:cNvSpPr/>
          <p:nvPr/>
        </p:nvSpPr>
        <p:spPr>
          <a:xfrm>
            <a:off x="6934200" y="24384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min</a:t>
            </a:r>
          </a:p>
        </p:txBody>
      </p:sp>
      <p:sp>
        <p:nvSpPr>
          <p:cNvPr id="26" name="TextBox 25"/>
          <p:cNvSpPr txBox="1"/>
          <p:nvPr/>
        </p:nvSpPr>
        <p:spPr>
          <a:xfrm>
            <a:off x="1752600" y="1991380"/>
            <a:ext cx="89154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Hoán vị 2 phần tử tại vị trí đang xét với vị trí phần tử min</a:t>
            </a:r>
          </a:p>
        </p:txBody>
      </p:sp>
      <p:sp>
        <p:nvSpPr>
          <p:cNvPr id="19" name="Rectangle 18"/>
          <p:cNvSpPr/>
          <p:nvPr/>
        </p:nvSpPr>
        <p:spPr>
          <a:xfrm>
            <a:off x="8839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5" name="Rectangle 24"/>
          <p:cNvSpPr/>
          <p:nvPr/>
        </p:nvSpPr>
        <p:spPr>
          <a:xfrm>
            <a:off x="2362200" y="4454526"/>
            <a:ext cx="838200" cy="3635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3" name="Rectangle 22"/>
          <p:cNvSpPr/>
          <p:nvPr/>
        </p:nvSpPr>
        <p:spPr>
          <a:xfrm>
            <a:off x="3276600" y="4225926"/>
            <a:ext cx="838200" cy="577849"/>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1" name="Rectangle 20"/>
          <p:cNvSpPr/>
          <p:nvPr/>
        </p:nvSpPr>
        <p:spPr>
          <a:xfrm>
            <a:off x="4191000" y="4105276"/>
            <a:ext cx="838200" cy="71278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18" name="Rectangle 17"/>
          <p:cNvSpPr/>
          <p:nvPr/>
        </p:nvSpPr>
        <p:spPr>
          <a:xfrm>
            <a:off x="5105400" y="3924300"/>
            <a:ext cx="838200" cy="8794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0" name="Rectangle 19"/>
          <p:cNvSpPr/>
          <p:nvPr/>
        </p:nvSpPr>
        <p:spPr>
          <a:xfrm>
            <a:off x="6934200"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7"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3919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14"/>
                                        </p:tgtEl>
                                        <p:attrNameLst>
                                          <p:attrName>ppt_x</p:attrName>
                                          <p:attrName>ppt_y</p:attrName>
                                        </p:attrNameLst>
                                      </p:cBhvr>
                                      <p:rCtr x="3594" y="0"/>
                                    </p:animMotion>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64" presetClass="path" presetSubtype="0" accel="50000" decel="50000" fill="hold" grpId="0" nodeType="clickEffect">
                                  <p:stCondLst>
                                    <p:cond delay="0"/>
                                  </p:stCondLst>
                                  <p:childTnLst>
                                    <p:animMotion origin="layout" path="M 0 0 L 0 -0.25 E" pathEditMode="relative" ptsTypes="">
                                      <p:cBhvr>
                                        <p:cTn id="25" dur="2000" fill="hold"/>
                                        <p:tgtEl>
                                          <p:spTgt spid="22"/>
                                        </p:tgtEl>
                                        <p:attrNameLst>
                                          <p:attrName>ppt_x</p:attrName>
                                          <p:attrName>ppt_y</p:attrName>
                                        </p:attrNameLst>
                                      </p:cBhvr>
                                    </p:animMotion>
                                  </p:childTnLst>
                                </p:cTn>
                              </p:par>
                            </p:childTnLst>
                          </p:cTn>
                        </p:par>
                        <p:par>
                          <p:cTn id="26" fill="hold">
                            <p:stCondLst>
                              <p:cond delay="2000"/>
                            </p:stCondLst>
                            <p:childTnLst>
                              <p:par>
                                <p:cTn id="27" presetID="64" presetClass="path" presetSubtype="0" accel="50000" decel="50000" fill="hold" grpId="0" nodeType="afterEffect">
                                  <p:stCondLst>
                                    <p:cond delay="0"/>
                                  </p:stCondLst>
                                  <p:childTnLst>
                                    <p:animMotion origin="layout" path="M 0 0 L 0 -0.25 E" pathEditMode="relative" ptsTypes="">
                                      <p:cBhvr>
                                        <p:cTn id="28" dur="2000" fill="hold"/>
                                        <p:tgtEl>
                                          <p:spTgt spid="20"/>
                                        </p:tgtEl>
                                        <p:attrNameLst>
                                          <p:attrName>ppt_x</p:attrName>
                                          <p:attrName>ppt_y</p:attrName>
                                        </p:attrNameLst>
                                      </p:cBhvr>
                                    </p:animMotion>
                                  </p:childTnLst>
                                </p:cTn>
                              </p:par>
                            </p:childTnLst>
                          </p:cTn>
                        </p:par>
                        <p:par>
                          <p:cTn id="29" fill="hold">
                            <p:stCondLst>
                              <p:cond delay="4000"/>
                            </p:stCondLst>
                            <p:childTnLst>
                              <p:par>
                                <p:cTn id="30" presetID="50" presetClass="path" presetSubtype="0" accel="50000" decel="50000" fill="hold" grpId="1" nodeType="afterEffect">
                                  <p:stCondLst>
                                    <p:cond delay="0"/>
                                  </p:stCondLst>
                                  <p:childTnLst>
                                    <p:animMotion origin="layout" path="M 5E-6 -0.25 L 0.03581 -0.25 C 0.05196 -0.25 0.07188 -0.18101 0.07188 -0.125 L 0.07188 -4.81481E-6 " pathEditMode="relative" rAng="0" ptsTypes="AAAA">
                                      <p:cBhvr>
                                        <p:cTn id="31" dur="2000" fill="hold"/>
                                        <p:tgtEl>
                                          <p:spTgt spid="22"/>
                                        </p:tgtEl>
                                        <p:attrNameLst>
                                          <p:attrName>ppt_x</p:attrName>
                                          <p:attrName>ppt_y</p:attrName>
                                        </p:attrNameLst>
                                      </p:cBhvr>
                                      <p:rCtr x="3594" y="12500"/>
                                    </p:animMotion>
                                  </p:childTnLst>
                                </p:cTn>
                              </p:par>
                            </p:childTnLst>
                          </p:cTn>
                        </p:par>
                        <p:par>
                          <p:cTn id="32" fill="hold">
                            <p:stCondLst>
                              <p:cond delay="6000"/>
                            </p:stCondLst>
                            <p:childTnLst>
                              <p:par>
                                <p:cTn id="33" presetID="50" presetClass="path" presetSubtype="0" accel="50000" decel="50000" fill="hold" grpId="1" nodeType="afterEffect">
                                  <p:stCondLst>
                                    <p:cond delay="0"/>
                                  </p:stCondLst>
                                  <p:childTnLst>
                                    <p:animMotion origin="layout" path="M 5E-6 -0.25 L -0.0392 -0.25 C -0.05678 -0.25 -0.07813 -0.18102 -0.07813 -0.125 L -0.07813 -3.7037E-7 " pathEditMode="relative" rAng="0" ptsTypes="AAAA">
                                      <p:cBhvr>
                                        <p:cTn id="34" dur="2000" fill="hold"/>
                                        <p:tgtEl>
                                          <p:spTgt spid="20"/>
                                        </p:tgtEl>
                                        <p:attrNameLst>
                                          <p:attrName>ppt_x</p:attrName>
                                          <p:attrName>ppt_y</p:attrName>
                                        </p:attrNameLst>
                                      </p:cBhvr>
                                      <p:rCtr x="-3906" y="12500"/>
                                    </p:animMotion>
                                  </p:childTnLst>
                                </p:cTn>
                              </p:par>
                            </p:childTnLst>
                          </p:cTn>
                        </p:par>
                        <p:par>
                          <p:cTn id="35" fill="hold">
                            <p:stCondLst>
                              <p:cond delay="8000"/>
                            </p:stCondLst>
                            <p:childTnLst>
                              <p:par>
                                <p:cTn id="36" presetID="1" presetClass="exit" presetSubtype="0" fill="hold" grpId="1" nodeType="afterEffect">
                                  <p:stCondLst>
                                    <p:cond delay="0"/>
                                  </p:stCondLst>
                                  <p:childTnLst>
                                    <p:set>
                                      <p:cBhvr>
                                        <p:cTn id="37"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P spid="2" grpId="0" animBg="1"/>
      <p:bldP spid="2" grpId="1" animBg="1"/>
      <p:bldP spid="26" grpId="0"/>
      <p:bldP spid="22" grpId="0" animBg="1"/>
      <p:bldP spid="22" grpId="1" animBg="1"/>
      <p:bldP spid="20" grpId="0" animBg="1"/>
      <p:bldP spid="20"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1752600" y="1076981"/>
            <a:ext cx="6781800" cy="584775"/>
          </a:xfrm>
          <a:prstGeom prst="rect">
            <a:avLst/>
          </a:prstGeom>
          <a:noFill/>
        </p:spPr>
        <p:txBody>
          <a:bodyPr wrap="square">
            <a:spAutoFit/>
          </a:bodyPr>
          <a:lstStyle/>
          <a:p>
            <a:pPr>
              <a:defRPr/>
            </a:pPr>
            <a:r>
              <a:rPr lang="en-US" sz="3200">
                <a:solidFill>
                  <a:schemeClr val="bg1"/>
                </a:solidFill>
                <a:latin typeface="Times New Roman" panose="02020603050405020304" pitchFamily="18" charset="0"/>
                <a:cs typeface="Times New Roman" panose="02020603050405020304" pitchFamily="18" charset="0"/>
              </a:rPr>
              <a:t>Bước 6: Xét phần tử thứ sáu (vị trí 6)</a:t>
            </a:r>
          </a:p>
        </p:txBody>
      </p:sp>
      <p:sp>
        <p:nvSpPr>
          <p:cNvPr id="16" name="TextBox 15"/>
          <p:cNvSpPr txBox="1"/>
          <p:nvPr/>
        </p:nvSpPr>
        <p:spPr>
          <a:xfrm>
            <a:off x="1752600" y="1544360"/>
            <a:ext cx="67818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Tìm phần tử nhỏ nhất từ vị trí </a:t>
            </a:r>
            <a:r>
              <a:rPr lang="en-US" sz="2800" u="sng">
                <a:solidFill>
                  <a:schemeClr val="bg1"/>
                </a:solidFill>
                <a:latin typeface="Times New Roman" panose="02020603050405020304" pitchFamily="18" charset="0"/>
                <a:cs typeface="Times New Roman" panose="02020603050405020304" pitchFamily="18" charset="0"/>
              </a:rPr>
              <a:t>6 đến 8</a:t>
            </a:r>
          </a:p>
        </p:txBody>
      </p:sp>
      <p:sp>
        <p:nvSpPr>
          <p:cNvPr id="26" name="TextBox 25"/>
          <p:cNvSpPr txBox="1"/>
          <p:nvPr/>
        </p:nvSpPr>
        <p:spPr>
          <a:xfrm>
            <a:off x="1752600" y="1991380"/>
            <a:ext cx="89154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Hoán vị 2 phần tử tại vị trí đang xét với vị trí phần tử min</a:t>
            </a:r>
          </a:p>
        </p:txBody>
      </p:sp>
      <p:graphicFrame>
        <p:nvGraphicFramePr>
          <p:cNvPr id="5" name="Table 4"/>
          <p:cNvGraphicFramePr>
            <a:graphicFrameLocks noGrp="1"/>
          </p:cNvGraphicFramePr>
          <p:nvPr>
            <p:extLst>
              <p:ext uri="{D42A27DB-BD31-4B8C-83A1-F6EECF244321}">
                <p14:modId xmlns:p14="http://schemas.microsoft.com/office/powerpoint/2010/main" val="1157865831"/>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solidFill>
                      <a:schemeClr val="accent5"/>
                    </a:solid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66</a:t>
            </a:fld>
            <a:endParaRPr lang="en-US"/>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4" name="Up Arrow Callout 13"/>
          <p:cNvSpPr/>
          <p:nvPr/>
        </p:nvSpPr>
        <p:spPr>
          <a:xfrm>
            <a:off x="60198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 name="Down Arrow Callout 1"/>
          <p:cNvSpPr/>
          <p:nvPr/>
        </p:nvSpPr>
        <p:spPr>
          <a:xfrm>
            <a:off x="6934200" y="22098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min</a:t>
            </a:r>
          </a:p>
        </p:txBody>
      </p:sp>
      <p:sp>
        <p:nvSpPr>
          <p:cNvPr id="19" name="Rectangle 18"/>
          <p:cNvSpPr/>
          <p:nvPr/>
        </p:nvSpPr>
        <p:spPr>
          <a:xfrm>
            <a:off x="8839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5" name="Rectangle 24"/>
          <p:cNvSpPr/>
          <p:nvPr/>
        </p:nvSpPr>
        <p:spPr>
          <a:xfrm>
            <a:off x="2362200" y="4454526"/>
            <a:ext cx="838200" cy="3635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3" name="Rectangle 22"/>
          <p:cNvSpPr/>
          <p:nvPr/>
        </p:nvSpPr>
        <p:spPr>
          <a:xfrm>
            <a:off x="3276600" y="4225926"/>
            <a:ext cx="838200" cy="577849"/>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1" name="Rectangle 20"/>
          <p:cNvSpPr/>
          <p:nvPr/>
        </p:nvSpPr>
        <p:spPr>
          <a:xfrm>
            <a:off x="4191000" y="4105276"/>
            <a:ext cx="838200" cy="71278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18" name="Rectangle 17"/>
          <p:cNvSpPr/>
          <p:nvPr/>
        </p:nvSpPr>
        <p:spPr>
          <a:xfrm>
            <a:off x="5105400" y="3924300"/>
            <a:ext cx="838200" cy="8794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019800" y="3619501"/>
            <a:ext cx="838200" cy="11842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934200"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7"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0671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14"/>
                                        </p:tgtEl>
                                        <p:attrNameLst>
                                          <p:attrName>ppt_x</p:attrName>
                                          <p:attrName>ppt_y</p:attrName>
                                        </p:attrNameLst>
                                      </p:cBhvr>
                                      <p:rCtr x="3594" y="0"/>
                                    </p:animMotion>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64" presetClass="path" presetSubtype="0" accel="50000" decel="50000" fill="hold" grpId="0" nodeType="clickEffect">
                                  <p:stCondLst>
                                    <p:cond delay="0"/>
                                  </p:stCondLst>
                                  <p:childTnLst>
                                    <p:animMotion origin="layout" path="M 0 0 L 0 -0.25 E" pathEditMode="relative" ptsTypes="">
                                      <p:cBhvr>
                                        <p:cTn id="25" dur="2000" fill="hold"/>
                                        <p:tgtEl>
                                          <p:spTgt spid="22"/>
                                        </p:tgtEl>
                                        <p:attrNameLst>
                                          <p:attrName>ppt_x</p:attrName>
                                          <p:attrName>ppt_y</p:attrName>
                                        </p:attrNameLst>
                                      </p:cBhvr>
                                    </p:animMotion>
                                  </p:childTnLst>
                                </p:cTn>
                              </p:par>
                            </p:childTnLst>
                          </p:cTn>
                        </p:par>
                        <p:par>
                          <p:cTn id="26" fill="hold">
                            <p:stCondLst>
                              <p:cond delay="2000"/>
                            </p:stCondLst>
                            <p:childTnLst>
                              <p:par>
                                <p:cTn id="27" presetID="42" presetClass="path" presetSubtype="0" accel="50000" decel="50000" fill="hold" grpId="1" nodeType="afterEffect">
                                  <p:stCondLst>
                                    <p:cond delay="0"/>
                                  </p:stCondLst>
                                  <p:childTnLst>
                                    <p:animMotion origin="layout" path="M 0 -0.25092 L 0 -0.00092 " pathEditMode="relative" rAng="0" ptsTypes="AA">
                                      <p:cBhvr>
                                        <p:cTn id="28" dur="2000" fill="hold"/>
                                        <p:tgtEl>
                                          <p:spTgt spid="22"/>
                                        </p:tgtEl>
                                        <p:attrNameLst>
                                          <p:attrName>ppt_x</p:attrName>
                                          <p:attrName>ppt_y</p:attrName>
                                        </p:attrNameLst>
                                      </p:cBhvr>
                                      <p:rCtr x="0" y="12500"/>
                                    </p:animMotion>
                                  </p:childTnLst>
                                </p:cTn>
                              </p:par>
                            </p:childTnLst>
                          </p:cTn>
                        </p:par>
                        <p:par>
                          <p:cTn id="29" fill="hold">
                            <p:stCondLst>
                              <p:cond delay="4000"/>
                            </p:stCondLst>
                            <p:childTnLst>
                              <p:par>
                                <p:cTn id="30" presetID="1" presetClass="exit" presetSubtype="0" fill="hold" grpId="1" nodeType="afterEffect">
                                  <p:stCondLst>
                                    <p:cond delay="0"/>
                                  </p:stCondLst>
                                  <p:childTnLst>
                                    <p:set>
                                      <p:cBhvr>
                                        <p:cTn id="31"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6" grpId="0"/>
      <p:bldP spid="14" grpId="0" animBg="1"/>
      <p:bldP spid="2" grpId="0" animBg="1"/>
      <p:bldP spid="2" grpId="1" animBg="1"/>
      <p:bldP spid="22" grpId="0" animBg="1"/>
      <p:bldP spid="22"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1752600" y="1076981"/>
            <a:ext cx="6781800" cy="584775"/>
          </a:xfrm>
          <a:prstGeom prst="rect">
            <a:avLst/>
          </a:prstGeom>
          <a:noFill/>
        </p:spPr>
        <p:txBody>
          <a:bodyPr wrap="square">
            <a:spAutoFit/>
          </a:bodyPr>
          <a:lstStyle/>
          <a:p>
            <a:pPr>
              <a:defRPr/>
            </a:pPr>
            <a:r>
              <a:rPr lang="en-US" sz="3200">
                <a:solidFill>
                  <a:schemeClr val="bg1"/>
                </a:solidFill>
                <a:latin typeface="Times New Roman" panose="02020603050405020304" pitchFamily="18" charset="0"/>
                <a:cs typeface="Times New Roman" panose="02020603050405020304" pitchFamily="18" charset="0"/>
              </a:rPr>
              <a:t>Bước 7: Xét phần tử thứ bảy (vị trí 7)</a:t>
            </a:r>
          </a:p>
        </p:txBody>
      </p:sp>
      <p:sp>
        <p:nvSpPr>
          <p:cNvPr id="16" name="TextBox 15"/>
          <p:cNvSpPr txBox="1"/>
          <p:nvPr/>
        </p:nvSpPr>
        <p:spPr>
          <a:xfrm>
            <a:off x="1752600" y="1544360"/>
            <a:ext cx="67818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Tìm phần tử nhỏ nhất từ vị trí </a:t>
            </a:r>
            <a:r>
              <a:rPr lang="en-US" sz="2800" u="sng">
                <a:solidFill>
                  <a:schemeClr val="bg1"/>
                </a:solidFill>
                <a:latin typeface="Times New Roman" panose="02020603050405020304" pitchFamily="18" charset="0"/>
                <a:cs typeface="Times New Roman" panose="02020603050405020304" pitchFamily="18" charset="0"/>
              </a:rPr>
              <a:t>7 đến 8</a:t>
            </a:r>
          </a:p>
        </p:txBody>
      </p:sp>
      <p:graphicFrame>
        <p:nvGraphicFramePr>
          <p:cNvPr id="5" name="Table 4"/>
          <p:cNvGraphicFramePr>
            <a:graphicFrameLocks noGrp="1"/>
          </p:cNvGraphicFramePr>
          <p:nvPr>
            <p:extLst>
              <p:ext uri="{D42A27DB-BD31-4B8C-83A1-F6EECF244321}">
                <p14:modId xmlns:p14="http://schemas.microsoft.com/office/powerpoint/2010/main" val="2821186876"/>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solidFill>
                      <a:schemeClr val="accent5"/>
                    </a:solidFill>
                  </a:tcPr>
                </a:tc>
                <a:extLst>
                  <a:ext uri="{0D108BD9-81ED-4DB2-BD59-A6C34878D82A}">
                    <a16:rowId xmlns:a16="http://schemas.microsoft.com/office/drawing/2014/main" val="10000"/>
                  </a:ext>
                </a:extLst>
              </a:tr>
            </a:tbl>
          </a:graphicData>
        </a:graphic>
      </p:graphicFrame>
      <p:sp>
        <p:nvSpPr>
          <p:cNvPr id="14" name="Up Arrow Callout 13"/>
          <p:cNvSpPr/>
          <p:nvPr/>
        </p:nvSpPr>
        <p:spPr>
          <a:xfrm>
            <a:off x="6934200" y="5715000"/>
            <a:ext cx="838200" cy="762000"/>
          </a:xfrm>
          <a:prstGeom prst="up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i</a:t>
            </a:r>
          </a:p>
        </p:txBody>
      </p:sp>
      <p:sp>
        <p:nvSpPr>
          <p:cNvPr id="2" name="Down Arrow Callout 1"/>
          <p:cNvSpPr/>
          <p:nvPr/>
        </p:nvSpPr>
        <p:spPr>
          <a:xfrm>
            <a:off x="8839200" y="2057400"/>
            <a:ext cx="838200" cy="879474"/>
          </a:xfrm>
          <a:prstGeom prst="downArrowCallou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min</a:t>
            </a:r>
          </a:p>
        </p:txBody>
      </p:sp>
      <p:sp>
        <p:nvSpPr>
          <p:cNvPr id="25" name="Rectangle 24"/>
          <p:cNvSpPr/>
          <p:nvPr/>
        </p:nvSpPr>
        <p:spPr>
          <a:xfrm>
            <a:off x="2362200" y="4454526"/>
            <a:ext cx="838200" cy="3635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3" name="Rectangle 22"/>
          <p:cNvSpPr/>
          <p:nvPr/>
        </p:nvSpPr>
        <p:spPr>
          <a:xfrm>
            <a:off x="3276600" y="4225926"/>
            <a:ext cx="838200" cy="577849"/>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1" name="Rectangle 20"/>
          <p:cNvSpPr/>
          <p:nvPr/>
        </p:nvSpPr>
        <p:spPr>
          <a:xfrm>
            <a:off x="4191000" y="4105276"/>
            <a:ext cx="838200" cy="71278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18" name="Rectangle 17"/>
          <p:cNvSpPr/>
          <p:nvPr/>
        </p:nvSpPr>
        <p:spPr>
          <a:xfrm>
            <a:off x="5105400" y="3924300"/>
            <a:ext cx="838200" cy="8794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019800" y="3619501"/>
            <a:ext cx="838200" cy="11842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934200" y="3273426"/>
            <a:ext cx="838200" cy="15446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6" name="TextBox 25"/>
          <p:cNvSpPr txBox="1"/>
          <p:nvPr/>
        </p:nvSpPr>
        <p:spPr>
          <a:xfrm>
            <a:off x="1752600" y="1991380"/>
            <a:ext cx="8915400" cy="523220"/>
          </a:xfrm>
          <a:prstGeom prst="rect">
            <a:avLst/>
          </a:prstGeom>
          <a:noFill/>
        </p:spPr>
        <p:txBody>
          <a:bodyPr wrap="square">
            <a:spAutoFit/>
          </a:bodyPr>
          <a:lstStyle/>
          <a:p>
            <a:pPr marL="457200" indent="-457200">
              <a:buFont typeface="Arial" pitchFamily="34" charset="0"/>
              <a:buChar char="•"/>
              <a:defRPr/>
            </a:pPr>
            <a:r>
              <a:rPr lang="en-US" sz="2800">
                <a:solidFill>
                  <a:schemeClr val="bg1"/>
                </a:solidFill>
                <a:latin typeface="Times New Roman" panose="02020603050405020304" pitchFamily="18" charset="0"/>
                <a:cs typeface="Times New Roman" panose="02020603050405020304" pitchFamily="18" charset="0"/>
              </a:rPr>
              <a:t>Hoán vị 2 phần tử tại vị trí đang xét với vị trí phần tử min</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9" name="Rectangle 18"/>
          <p:cNvSpPr/>
          <p:nvPr/>
        </p:nvSpPr>
        <p:spPr>
          <a:xfrm>
            <a:off x="8839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27"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975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5E-6 1.11111E-6 L 0.07188 1.11111E-6 " pathEditMode="relative" rAng="0" ptsTypes="AA">
                                      <p:cBhvr>
                                        <p:cTn id="6" dur="2000" fill="hold"/>
                                        <p:tgtEl>
                                          <p:spTgt spid="14"/>
                                        </p:tgtEl>
                                        <p:attrNameLst>
                                          <p:attrName>ppt_x</p:attrName>
                                          <p:attrName>ppt_y</p:attrName>
                                        </p:attrNameLst>
                                      </p:cBhvr>
                                      <p:rCtr x="3594" y="0"/>
                                    </p:animMotion>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64" presetClass="path" presetSubtype="0" accel="50000" decel="50000" fill="hold" grpId="0" nodeType="clickEffect">
                                  <p:stCondLst>
                                    <p:cond delay="0"/>
                                  </p:stCondLst>
                                  <p:childTnLst>
                                    <p:animMotion origin="layout" path="M 0 0 L 0 -0.25 E" pathEditMode="relative" ptsTypes="">
                                      <p:cBhvr>
                                        <p:cTn id="25" dur="2000" fill="hold"/>
                                        <p:tgtEl>
                                          <p:spTgt spid="24"/>
                                        </p:tgtEl>
                                        <p:attrNameLst>
                                          <p:attrName>ppt_x</p:attrName>
                                          <p:attrName>ppt_y</p:attrName>
                                        </p:attrNameLst>
                                      </p:cBhvr>
                                    </p:animMotion>
                                  </p:childTnLst>
                                </p:cTn>
                              </p:par>
                            </p:childTnLst>
                          </p:cTn>
                        </p:par>
                        <p:par>
                          <p:cTn id="26" fill="hold">
                            <p:stCondLst>
                              <p:cond delay="2000"/>
                            </p:stCondLst>
                            <p:childTnLst>
                              <p:par>
                                <p:cTn id="27" presetID="64" presetClass="path" presetSubtype="0" accel="50000" decel="50000" fill="hold" grpId="0" nodeType="afterEffect">
                                  <p:stCondLst>
                                    <p:cond delay="0"/>
                                  </p:stCondLst>
                                  <p:childTnLst>
                                    <p:animMotion origin="layout" path="M 0 0 L 0 -0.25 E" pathEditMode="relative" ptsTypes="">
                                      <p:cBhvr>
                                        <p:cTn id="28" dur="2000" fill="hold"/>
                                        <p:tgtEl>
                                          <p:spTgt spid="19"/>
                                        </p:tgtEl>
                                        <p:attrNameLst>
                                          <p:attrName>ppt_x</p:attrName>
                                          <p:attrName>ppt_y</p:attrName>
                                        </p:attrNameLst>
                                      </p:cBhvr>
                                    </p:animMotion>
                                  </p:childTnLst>
                                </p:cTn>
                              </p:par>
                            </p:childTnLst>
                          </p:cTn>
                        </p:par>
                        <p:par>
                          <p:cTn id="29" fill="hold">
                            <p:stCondLst>
                              <p:cond delay="4000"/>
                            </p:stCondLst>
                            <p:childTnLst>
                              <p:par>
                                <p:cTn id="30" presetID="50" presetClass="path" presetSubtype="0" accel="50000" decel="50000" fill="hold" grpId="1" nodeType="afterEffect">
                                  <p:stCondLst>
                                    <p:cond delay="0"/>
                                  </p:stCondLst>
                                  <p:childTnLst>
                                    <p:animMotion origin="layout" path="M 5E-6 -0.25 L 0.03894 -0.25 C 0.05652 -0.25 0.07813 -0.18102 0.07813 -0.125 L 0.07813 2.22222E-6 " pathEditMode="relative" rAng="0" ptsTypes="AAAA">
                                      <p:cBhvr>
                                        <p:cTn id="31" dur="2000" fill="hold"/>
                                        <p:tgtEl>
                                          <p:spTgt spid="24"/>
                                        </p:tgtEl>
                                        <p:attrNameLst>
                                          <p:attrName>ppt_x</p:attrName>
                                          <p:attrName>ppt_y</p:attrName>
                                        </p:attrNameLst>
                                      </p:cBhvr>
                                      <p:rCtr x="3906" y="12500"/>
                                    </p:animMotion>
                                  </p:childTnLst>
                                </p:cTn>
                              </p:par>
                            </p:childTnLst>
                          </p:cTn>
                        </p:par>
                        <p:par>
                          <p:cTn id="32" fill="hold">
                            <p:stCondLst>
                              <p:cond delay="6000"/>
                            </p:stCondLst>
                            <p:childTnLst>
                              <p:par>
                                <p:cTn id="33" presetID="50" presetClass="path" presetSubtype="0" accel="50000" decel="50000" fill="hold" grpId="1" nodeType="afterEffect">
                                  <p:stCondLst>
                                    <p:cond delay="0"/>
                                  </p:stCondLst>
                                  <p:childTnLst>
                                    <p:animMotion origin="layout" path="M 5E-6 -0.25 L -0.0392 -0.25 C -0.05664 -0.25 -0.07812 -0.18102 -0.07812 -0.125 L -0.07812 -2.22222E-6 " pathEditMode="relative" rAng="0" ptsTypes="AAAA">
                                      <p:cBhvr>
                                        <p:cTn id="34" dur="2000" fill="hold"/>
                                        <p:tgtEl>
                                          <p:spTgt spid="19"/>
                                        </p:tgtEl>
                                        <p:attrNameLst>
                                          <p:attrName>ppt_x</p:attrName>
                                          <p:attrName>ppt_y</p:attrName>
                                        </p:attrNameLst>
                                      </p:cBhvr>
                                      <p:rCtr x="-3906" y="12500"/>
                                    </p:animMotion>
                                  </p:childTnLst>
                                </p:cTn>
                              </p:par>
                            </p:childTnLst>
                          </p:cTn>
                        </p:par>
                        <p:par>
                          <p:cTn id="35" fill="hold">
                            <p:stCondLst>
                              <p:cond delay="8000"/>
                            </p:stCondLst>
                            <p:childTnLst>
                              <p:par>
                                <p:cTn id="36" presetID="1" presetClass="exit" presetSubtype="0" fill="hold" grpId="1" nodeType="afterEffect">
                                  <p:stCondLst>
                                    <p:cond delay="0"/>
                                  </p:stCondLst>
                                  <p:childTnLst>
                                    <p:set>
                                      <p:cBhvr>
                                        <p:cTn id="37"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4" grpId="0" animBg="1"/>
      <p:bldP spid="2" grpId="0" animBg="1"/>
      <p:bldP spid="2" grpId="1" animBg="1"/>
      <p:bldP spid="26" grpId="0"/>
      <p:bldP spid="24" grpId="0" animBg="1"/>
      <p:bldP spid="24" grpId="1" animBg="1"/>
      <p:bldP spid="19" grpId="0" animBg="1"/>
      <p:bldP spid="19" grpId="1"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1905000" y="1500912"/>
            <a:ext cx="8686800" cy="646331"/>
          </a:xfrm>
          <a:prstGeom prst="rect">
            <a:avLst/>
          </a:prstGeom>
          <a:noFill/>
        </p:spPr>
        <p:txBody>
          <a:bodyPr wrap="square">
            <a:spAutoFit/>
          </a:bodyPr>
          <a:lstStyle/>
          <a:p>
            <a:pPr>
              <a:defRPr/>
            </a:pPr>
            <a:r>
              <a:rPr lang="en-US" sz="3600">
                <a:solidFill>
                  <a:srgbClr val="C00000"/>
                </a:solidFill>
                <a:latin typeface="Times New Roman" panose="02020603050405020304" pitchFamily="18" charset="0"/>
                <a:cs typeface="Times New Roman" panose="02020603050405020304" pitchFamily="18" charset="0"/>
              </a:rPr>
              <a:t>Kết thúc giải thuật - hoàn tất sắp xếp</a:t>
            </a:r>
          </a:p>
        </p:txBody>
      </p:sp>
      <p:graphicFrame>
        <p:nvGraphicFramePr>
          <p:cNvPr id="5" name="Table 4"/>
          <p:cNvGraphicFramePr>
            <a:graphicFrameLocks noGrp="1"/>
          </p:cNvGraphicFramePr>
          <p:nvPr>
            <p:extLst>
              <p:ext uri="{D42A27DB-BD31-4B8C-83A1-F6EECF244321}">
                <p14:modId xmlns:p14="http://schemas.microsoft.com/office/powerpoint/2010/main" val="1823002438"/>
              </p:ext>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solidFill>
                      <a:schemeClr val="accent5"/>
                    </a:solid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68</a:t>
            </a:fld>
            <a:endParaRPr lang="en-US"/>
          </a:p>
        </p:txBody>
      </p:sp>
      <p:sp>
        <p:nvSpPr>
          <p:cNvPr id="25" name="Rectangle 24"/>
          <p:cNvSpPr/>
          <p:nvPr/>
        </p:nvSpPr>
        <p:spPr>
          <a:xfrm>
            <a:off x="2362200" y="4454526"/>
            <a:ext cx="838200" cy="3635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23" name="Rectangle 22"/>
          <p:cNvSpPr/>
          <p:nvPr/>
        </p:nvSpPr>
        <p:spPr>
          <a:xfrm>
            <a:off x="3276600" y="4225926"/>
            <a:ext cx="838200" cy="577849"/>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1" name="Rectangle 20"/>
          <p:cNvSpPr/>
          <p:nvPr/>
        </p:nvSpPr>
        <p:spPr>
          <a:xfrm>
            <a:off x="4191000" y="4105276"/>
            <a:ext cx="838200" cy="71278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18" name="Rectangle 17"/>
          <p:cNvSpPr/>
          <p:nvPr/>
        </p:nvSpPr>
        <p:spPr>
          <a:xfrm>
            <a:off x="5105400" y="3924300"/>
            <a:ext cx="838200" cy="8794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6019800" y="3619501"/>
            <a:ext cx="838200" cy="11842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2" name="Rectangle 21"/>
          <p:cNvSpPr/>
          <p:nvPr/>
        </p:nvSpPr>
        <p:spPr>
          <a:xfrm>
            <a:off x="6934200" y="3273426"/>
            <a:ext cx="838200" cy="15446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4" name="Rectangle 23"/>
          <p:cNvSpPr/>
          <p:nvPr/>
        </p:nvSpPr>
        <p:spPr>
          <a:xfrm>
            <a:off x="8763000"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9" name="Rectangle 18"/>
          <p:cNvSpPr/>
          <p:nvPr/>
        </p:nvSpPr>
        <p:spPr>
          <a:xfrm>
            <a:off x="7848600" y="3044825"/>
            <a:ext cx="838200" cy="1758950"/>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6" name="Title 1"/>
          <p:cNvSpPr txBox="1">
            <a:spLocks/>
          </p:cNvSpPr>
          <p:nvPr/>
        </p:nvSpPr>
        <p:spPr>
          <a:xfrm>
            <a:off x="533400" y="427037"/>
            <a:ext cx="8077200" cy="868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2. Chọn trực tiếp – selection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339876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819400"/>
            <a:ext cx="6934200" cy="2590800"/>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00"/>
              </a:solidFill>
            </a:endParaRPr>
          </a:p>
        </p:txBody>
      </p:sp>
      <p:sp>
        <p:nvSpPr>
          <p:cNvPr id="34818" name="Content Placeholder 2"/>
          <p:cNvSpPr>
            <a:spLocks noGrp="1"/>
          </p:cNvSpPr>
          <p:nvPr>
            <p:ph idx="1"/>
          </p:nvPr>
        </p:nvSpPr>
        <p:spPr>
          <a:xfrm>
            <a:off x="2209800" y="533400"/>
            <a:ext cx="7924800" cy="6629400"/>
          </a:xfrm>
        </p:spPr>
        <p:txBody>
          <a:bodyPr>
            <a:normAutofit lnSpcReduction="10000"/>
          </a:bodyPr>
          <a:lstStyle/>
          <a:p>
            <a:pPr>
              <a:buFont typeface="Wingdings" pitchFamily="2" charset="2"/>
              <a:buNone/>
            </a:pPr>
            <a:r>
              <a:rPr lang="en-US" sz="2800" b="1" smtClean="0">
                <a:solidFill>
                  <a:schemeClr val="bg1"/>
                </a:solidFill>
              </a:rPr>
              <a:t>void </a:t>
            </a:r>
            <a:r>
              <a:rPr lang="en-US" sz="2800" b="1" dirty="0" err="1">
                <a:solidFill>
                  <a:schemeClr val="bg1"/>
                </a:solidFill>
              </a:rPr>
              <a:t>SelectionSort</a:t>
            </a:r>
            <a:r>
              <a:rPr lang="en-US" sz="2800" b="1" dirty="0">
                <a:solidFill>
                  <a:schemeClr val="bg1"/>
                </a:solidFill>
              </a:rPr>
              <a:t>(</a:t>
            </a:r>
            <a:r>
              <a:rPr lang="en-US" sz="2800" b="1" dirty="0" err="1">
                <a:solidFill>
                  <a:schemeClr val="bg1"/>
                </a:solidFill>
              </a:rPr>
              <a:t>int</a:t>
            </a:r>
            <a:r>
              <a:rPr lang="en-US" sz="2800" b="1" dirty="0">
                <a:solidFill>
                  <a:schemeClr val="bg1"/>
                </a:solidFill>
              </a:rPr>
              <a:t> a[],</a:t>
            </a:r>
            <a:r>
              <a:rPr lang="en-US" sz="2800" b="1" dirty="0" err="1">
                <a:solidFill>
                  <a:schemeClr val="bg1"/>
                </a:solidFill>
              </a:rPr>
              <a:t>int</a:t>
            </a:r>
            <a:r>
              <a:rPr lang="en-US" sz="2800" b="1" dirty="0">
                <a:solidFill>
                  <a:schemeClr val="bg1"/>
                </a:solidFill>
              </a:rPr>
              <a:t> N )</a:t>
            </a:r>
          </a:p>
          <a:p>
            <a:pPr>
              <a:buFont typeface="Wingdings" pitchFamily="2" charset="2"/>
              <a:buNone/>
            </a:pPr>
            <a:r>
              <a:rPr lang="en-US" sz="2800" b="1" dirty="0">
                <a:solidFill>
                  <a:schemeClr val="bg1"/>
                </a:solidFill>
              </a:rPr>
              <a:t>{	</a:t>
            </a:r>
          </a:p>
          <a:p>
            <a:pPr>
              <a:buFont typeface="Wingdings" pitchFamily="2" charset="2"/>
              <a:buNone/>
            </a:pPr>
            <a:r>
              <a:rPr lang="en-US" sz="2800" b="1" dirty="0">
                <a:solidFill>
                  <a:schemeClr val="bg1"/>
                </a:solidFill>
              </a:rPr>
              <a:t>	 </a:t>
            </a:r>
            <a:r>
              <a:rPr lang="en-US" sz="2800" b="1" dirty="0" err="1">
                <a:solidFill>
                  <a:schemeClr val="bg1"/>
                </a:solidFill>
              </a:rPr>
              <a:t>int</a:t>
            </a:r>
            <a:r>
              <a:rPr lang="en-US" sz="2800" b="1" dirty="0">
                <a:solidFill>
                  <a:schemeClr val="bg1"/>
                </a:solidFill>
              </a:rPr>
              <a:t>	</a:t>
            </a:r>
            <a:r>
              <a:rPr lang="en-US" sz="2800" b="1" dirty="0" err="1">
                <a:solidFill>
                  <a:schemeClr val="bg1"/>
                </a:solidFill>
              </a:rPr>
              <a:t>vtmin</a:t>
            </a:r>
            <a:r>
              <a:rPr lang="en-US" sz="2800" b="1" dirty="0">
                <a:solidFill>
                  <a:schemeClr val="bg1"/>
                </a:solidFill>
              </a:rPr>
              <a:t>; </a:t>
            </a:r>
          </a:p>
          <a:p>
            <a:pPr>
              <a:buFont typeface="Wingdings" pitchFamily="2" charset="2"/>
              <a:buNone/>
            </a:pPr>
            <a:r>
              <a:rPr lang="en-US" sz="2800" b="1" dirty="0">
                <a:solidFill>
                  <a:schemeClr val="bg1"/>
                </a:solidFill>
              </a:rPr>
              <a:t>	 for (</a:t>
            </a:r>
            <a:r>
              <a:rPr lang="en-US" sz="2800" b="1" dirty="0" err="1">
                <a:solidFill>
                  <a:schemeClr val="bg1"/>
                </a:solidFill>
              </a:rPr>
              <a:t>int</a:t>
            </a:r>
            <a:r>
              <a:rPr lang="en-US" sz="2800" b="1" dirty="0">
                <a:solidFill>
                  <a:schemeClr val="bg1"/>
                </a:solidFill>
              </a:rPr>
              <a:t>  </a:t>
            </a:r>
            <a:r>
              <a:rPr lang="en-US" sz="2800" b="1" dirty="0" err="1">
                <a:solidFill>
                  <a:schemeClr val="bg1"/>
                </a:solidFill>
              </a:rPr>
              <a:t>i</a:t>
            </a:r>
            <a:r>
              <a:rPr lang="en-US" sz="2800" b="1" dirty="0">
                <a:solidFill>
                  <a:schemeClr val="bg1"/>
                </a:solidFill>
              </a:rPr>
              <a:t>=0; </a:t>
            </a:r>
            <a:r>
              <a:rPr lang="en-US" sz="2800" b="1" dirty="0" err="1">
                <a:solidFill>
                  <a:schemeClr val="bg1"/>
                </a:solidFill>
              </a:rPr>
              <a:t>i</a:t>
            </a:r>
            <a:r>
              <a:rPr lang="en-US" sz="2800" b="1" dirty="0">
                <a:solidFill>
                  <a:schemeClr val="bg1"/>
                </a:solidFill>
              </a:rPr>
              <a:t>&lt;N-1 ; </a:t>
            </a:r>
            <a:r>
              <a:rPr lang="en-US" sz="2800" b="1" dirty="0" err="1">
                <a:solidFill>
                  <a:schemeClr val="bg1"/>
                </a:solidFill>
              </a:rPr>
              <a:t>i</a:t>
            </a:r>
            <a:r>
              <a:rPr lang="en-US" sz="2800" b="1" dirty="0">
                <a:solidFill>
                  <a:schemeClr val="bg1"/>
                </a:solidFill>
              </a:rPr>
              <a:t>++)</a:t>
            </a:r>
          </a:p>
          <a:p>
            <a:pPr>
              <a:buFont typeface="Wingdings" pitchFamily="2" charset="2"/>
              <a:buNone/>
            </a:pPr>
            <a:r>
              <a:rPr lang="en-US" sz="2800" b="1" dirty="0">
                <a:solidFill>
                  <a:schemeClr val="bg1"/>
                </a:solidFill>
              </a:rPr>
              <a:t>	 {</a:t>
            </a:r>
            <a:br>
              <a:rPr lang="en-US" sz="2800" b="1" dirty="0">
                <a:solidFill>
                  <a:schemeClr val="bg1"/>
                </a:solidFill>
              </a:rPr>
            </a:br>
            <a:r>
              <a:rPr lang="en-US" sz="2800" b="1" dirty="0">
                <a:solidFill>
                  <a:schemeClr val="bg1"/>
                </a:solidFill>
              </a:rPr>
              <a:t>	</a:t>
            </a:r>
            <a:r>
              <a:rPr lang="en-US" sz="2800" b="1" dirty="0" err="1">
                <a:solidFill>
                  <a:schemeClr val="bg1"/>
                </a:solidFill>
              </a:rPr>
              <a:t>vtmin</a:t>
            </a:r>
            <a:r>
              <a:rPr lang="en-US" sz="2800" b="1" dirty="0">
                <a:solidFill>
                  <a:schemeClr val="bg1"/>
                </a:solidFill>
              </a:rPr>
              <a:t> = </a:t>
            </a:r>
            <a:r>
              <a:rPr lang="en-US" sz="2800" b="1" dirty="0" err="1">
                <a:solidFill>
                  <a:schemeClr val="bg1"/>
                </a:solidFill>
              </a:rPr>
              <a:t>i</a:t>
            </a:r>
            <a:r>
              <a:rPr lang="en-US" sz="2800" b="1" dirty="0">
                <a:solidFill>
                  <a:schemeClr val="bg1"/>
                </a:solidFill>
              </a:rPr>
              <a:t>;</a:t>
            </a:r>
          </a:p>
          <a:p>
            <a:pPr>
              <a:buFont typeface="Wingdings" pitchFamily="2" charset="2"/>
              <a:buNone/>
            </a:pPr>
            <a:r>
              <a:rPr lang="en-US" sz="2800" b="1" dirty="0">
                <a:solidFill>
                  <a:schemeClr val="bg1"/>
                </a:solidFill>
              </a:rPr>
              <a:t>		for(</a:t>
            </a:r>
            <a:r>
              <a:rPr lang="en-US" sz="2800" b="1" dirty="0" err="1">
                <a:solidFill>
                  <a:schemeClr val="bg1"/>
                </a:solidFill>
              </a:rPr>
              <a:t>int</a:t>
            </a:r>
            <a:r>
              <a:rPr lang="en-US" sz="2800" b="1" dirty="0">
                <a:solidFill>
                  <a:schemeClr val="bg1"/>
                </a:solidFill>
              </a:rPr>
              <a:t> j = i+1; j &lt;N ; j++)</a:t>
            </a:r>
          </a:p>
          <a:p>
            <a:pPr>
              <a:buFont typeface="Wingdings" pitchFamily="2" charset="2"/>
              <a:buNone/>
            </a:pPr>
            <a:r>
              <a:rPr lang="en-US" sz="2800" b="1" dirty="0">
                <a:solidFill>
                  <a:schemeClr val="bg1"/>
                </a:solidFill>
              </a:rPr>
              <a:t>           {</a:t>
            </a:r>
          </a:p>
          <a:p>
            <a:pPr>
              <a:buFont typeface="Wingdings" pitchFamily="2" charset="2"/>
              <a:buNone/>
            </a:pPr>
            <a:r>
              <a:rPr lang="en-US" sz="2800" b="1" dirty="0">
                <a:solidFill>
                  <a:schemeClr val="bg1"/>
                </a:solidFill>
              </a:rPr>
              <a:t>			if (a[j ] &lt; a[</a:t>
            </a:r>
            <a:r>
              <a:rPr lang="en-US" sz="2800" b="1" dirty="0" err="1">
                <a:solidFill>
                  <a:schemeClr val="bg1"/>
                </a:solidFill>
              </a:rPr>
              <a:t>vtmin</a:t>
            </a:r>
            <a:r>
              <a:rPr lang="en-US" sz="2800" b="1" dirty="0">
                <a:solidFill>
                  <a:schemeClr val="bg1"/>
                </a:solidFill>
              </a:rPr>
              <a:t>])</a:t>
            </a:r>
          </a:p>
          <a:p>
            <a:pPr>
              <a:buFont typeface="Wingdings" pitchFamily="2" charset="2"/>
              <a:buNone/>
            </a:pPr>
            <a:r>
              <a:rPr lang="en-US" sz="2800" b="1" dirty="0">
                <a:solidFill>
                  <a:schemeClr val="bg1"/>
                </a:solidFill>
              </a:rPr>
              <a:t>				</a:t>
            </a:r>
            <a:r>
              <a:rPr lang="en-US" sz="2800" b="1" dirty="0" err="1">
                <a:solidFill>
                  <a:schemeClr val="bg1"/>
                </a:solidFill>
              </a:rPr>
              <a:t>vtmin</a:t>
            </a:r>
            <a:r>
              <a:rPr lang="en-US" sz="2800" b="1" dirty="0">
                <a:solidFill>
                  <a:schemeClr val="bg1"/>
                </a:solidFill>
              </a:rPr>
              <a:t>=j;</a:t>
            </a:r>
          </a:p>
          <a:p>
            <a:pPr>
              <a:buFont typeface="Wingdings" pitchFamily="2" charset="2"/>
              <a:buNone/>
            </a:pPr>
            <a:r>
              <a:rPr lang="en-US" sz="2800" b="1" dirty="0">
                <a:solidFill>
                  <a:schemeClr val="bg1"/>
                </a:solidFill>
              </a:rPr>
              <a:t>           }</a:t>
            </a:r>
          </a:p>
          <a:p>
            <a:pPr>
              <a:buFont typeface="Wingdings" pitchFamily="2" charset="2"/>
              <a:buNone/>
            </a:pPr>
            <a:r>
              <a:rPr lang="en-US" sz="2800" b="1" dirty="0">
                <a:solidFill>
                  <a:schemeClr val="bg1"/>
                </a:solidFill>
              </a:rPr>
              <a:t>		</a:t>
            </a:r>
            <a:r>
              <a:rPr lang="en-US" sz="2800" b="1" dirty="0" err="1">
                <a:solidFill>
                  <a:schemeClr val="bg1"/>
                </a:solidFill>
              </a:rPr>
              <a:t>HoanVi</a:t>
            </a:r>
            <a:r>
              <a:rPr lang="en-US" sz="2800" b="1" dirty="0">
                <a:solidFill>
                  <a:schemeClr val="bg1"/>
                </a:solidFill>
              </a:rPr>
              <a:t>(a[</a:t>
            </a:r>
            <a:r>
              <a:rPr lang="en-US" sz="2800" b="1" dirty="0" err="1">
                <a:solidFill>
                  <a:schemeClr val="bg1"/>
                </a:solidFill>
              </a:rPr>
              <a:t>vtmin</a:t>
            </a:r>
            <a:r>
              <a:rPr lang="en-US" sz="2800" b="1" dirty="0">
                <a:solidFill>
                  <a:schemeClr val="bg1"/>
                </a:solidFill>
              </a:rPr>
              <a:t>], a[</a:t>
            </a:r>
            <a:r>
              <a:rPr lang="en-US" sz="2800" b="1" dirty="0" err="1">
                <a:solidFill>
                  <a:schemeClr val="bg1"/>
                </a:solidFill>
              </a:rPr>
              <a:t>i</a:t>
            </a:r>
            <a:r>
              <a:rPr lang="en-US" sz="2800" b="1" dirty="0">
                <a:solidFill>
                  <a:schemeClr val="bg1"/>
                </a:solidFill>
              </a:rPr>
              <a:t>]);</a:t>
            </a:r>
            <a:br>
              <a:rPr lang="en-US" sz="2800" b="1" dirty="0">
                <a:solidFill>
                  <a:schemeClr val="bg1"/>
                </a:solidFill>
              </a:rPr>
            </a:br>
            <a:r>
              <a:rPr lang="en-US" sz="2800" b="1" dirty="0">
                <a:solidFill>
                  <a:schemeClr val="bg1"/>
                </a:solidFill>
              </a:rPr>
              <a:t> }</a:t>
            </a:r>
          </a:p>
          <a:p>
            <a:pPr>
              <a:buFont typeface="Wingdings" pitchFamily="2" charset="2"/>
              <a:buNone/>
            </a:pPr>
            <a:r>
              <a:rPr lang="en-US" sz="2800" b="1" dirty="0">
                <a:solidFill>
                  <a:schemeClr val="bg1"/>
                </a:solidFill>
              </a:rPr>
              <a:t>}</a:t>
            </a:r>
          </a:p>
          <a:p>
            <a:endParaRPr lang="en-US" sz="2800" b="1" dirty="0">
              <a:solidFill>
                <a:schemeClr val="bg1"/>
              </a:solidFill>
            </a:endParaRPr>
          </a:p>
        </p:txBody>
      </p:sp>
      <p:sp>
        <p:nvSpPr>
          <p:cNvPr id="4" name="Slide Number Placeholder 3"/>
          <p:cNvSpPr>
            <a:spLocks noGrp="1"/>
          </p:cNvSpPr>
          <p:nvPr>
            <p:ph type="sldNum" sz="quarter" idx="12"/>
          </p:nvPr>
        </p:nvSpPr>
        <p:spPr/>
        <p:txBody>
          <a:bodyPr/>
          <a:lstStyle/>
          <a:p>
            <a:pPr>
              <a:defRPr/>
            </a:pPr>
            <a:fld id="{6E93E8F7-E5C9-486C-8491-D3EF666A7439}" type="slidenum">
              <a:rPr lang="en-US" smtClean="0"/>
              <a:pPr>
                <a:defRPr/>
              </a:pPr>
              <a:t>69</a:t>
            </a:fld>
            <a:endParaRPr lang="en-US"/>
          </a:p>
        </p:txBody>
      </p:sp>
      <p:grpSp>
        <p:nvGrpSpPr>
          <p:cNvPr id="9" name="Group 8"/>
          <p:cNvGrpSpPr/>
          <p:nvPr/>
        </p:nvGrpSpPr>
        <p:grpSpPr>
          <a:xfrm>
            <a:off x="7467600" y="1752600"/>
            <a:ext cx="2971800" cy="2133600"/>
            <a:chOff x="5943600" y="1752600"/>
            <a:chExt cx="2971800" cy="2133600"/>
          </a:xfrm>
        </p:grpSpPr>
        <p:sp>
          <p:nvSpPr>
            <p:cNvPr id="3" name="Folded Corner 2"/>
            <p:cNvSpPr/>
            <p:nvPr/>
          </p:nvSpPr>
          <p:spPr>
            <a:xfrm>
              <a:off x="5943600" y="1752600"/>
              <a:ext cx="2971800" cy="1447800"/>
            </a:xfrm>
            <a:prstGeom prst="foldedCorne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err="1"/>
                <a:t>Tìm</a:t>
              </a:r>
              <a:r>
                <a:rPr lang="en-US" sz="3200" dirty="0"/>
                <a:t> </a:t>
              </a:r>
              <a:r>
                <a:rPr lang="en-US" sz="3200" dirty="0" err="1"/>
                <a:t>vị</a:t>
              </a:r>
              <a:r>
                <a:rPr lang="en-US" sz="3200" dirty="0"/>
                <a:t> </a:t>
              </a:r>
              <a:r>
                <a:rPr lang="en-US" sz="3200" dirty="0" err="1"/>
                <a:t>trí</a:t>
              </a:r>
              <a:r>
                <a:rPr lang="en-US" sz="3200" dirty="0"/>
                <a:t> min </a:t>
              </a:r>
              <a:r>
                <a:rPr lang="en-US" sz="3200" dirty="0" err="1"/>
                <a:t>tính</a:t>
              </a:r>
              <a:r>
                <a:rPr lang="en-US" sz="3200" dirty="0"/>
                <a:t> </a:t>
              </a:r>
              <a:r>
                <a:rPr lang="en-US" sz="3200" dirty="0" err="1"/>
                <a:t>từ</a:t>
              </a:r>
              <a:r>
                <a:rPr lang="en-US" sz="3200" dirty="0"/>
                <a:t> </a:t>
              </a:r>
              <a:r>
                <a:rPr lang="en-US" sz="3200" dirty="0" err="1"/>
                <a:t>i</a:t>
              </a:r>
              <a:r>
                <a:rPr lang="en-US" sz="3200" dirty="0"/>
                <a:t> </a:t>
              </a:r>
              <a:r>
                <a:rPr lang="en-US" sz="3200" dirty="0" err="1"/>
                <a:t>đến</a:t>
              </a:r>
              <a:r>
                <a:rPr lang="en-US" sz="3200" dirty="0"/>
                <a:t> N-1</a:t>
              </a:r>
            </a:p>
          </p:txBody>
        </p:sp>
        <p:cxnSp>
          <p:nvCxnSpPr>
            <p:cNvPr id="8" name="Straight Connector 7"/>
            <p:cNvCxnSpPr/>
            <p:nvPr/>
          </p:nvCxnSpPr>
          <p:spPr>
            <a:xfrm flipH="1">
              <a:off x="6629400" y="3200400"/>
              <a:ext cx="876300" cy="68580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grpSp>
      <p:sp>
        <p:nvSpPr>
          <p:cNvPr id="5" name="Rectangle 4"/>
          <p:cNvSpPr/>
          <p:nvPr/>
        </p:nvSpPr>
        <p:spPr>
          <a:xfrm>
            <a:off x="152400" y="381000"/>
            <a:ext cx="2133918" cy="646331"/>
          </a:xfrm>
          <a:prstGeom prst="rect">
            <a:avLst/>
          </a:prstGeom>
        </p:spPr>
        <p:txBody>
          <a:bodyPr wrap="none">
            <a:spAutoFit/>
          </a:bodyPr>
          <a:lstStyle/>
          <a:p>
            <a:pPr>
              <a:buFont typeface="Wingdings" pitchFamily="2" charset="2"/>
              <a:buNone/>
            </a:pPr>
            <a:r>
              <a:rPr lang="en-US" sz="3600" b="1">
                <a:solidFill>
                  <a:srgbClr val="002060"/>
                </a:solidFill>
                <a:latin typeface="Times New Roman" panose="02020603050405020304" pitchFamily="18" charset="0"/>
                <a:cs typeface="Times New Roman" panose="02020603050405020304" pitchFamily="18" charset="0"/>
              </a:rPr>
              <a:t>Cài đặt </a:t>
            </a:r>
            <a:r>
              <a:rPr lang="en-US" sz="3600" b="1" smtClean="0">
                <a:solidFill>
                  <a:srgbClr val="002060"/>
                </a:solidFill>
                <a:latin typeface="Times New Roman" panose="02020603050405020304" pitchFamily="18" charset="0"/>
                <a:cs typeface="Times New Roman" panose="02020603050405020304" pitchFamily="18" charset="0"/>
              </a:rPr>
              <a:t>1:</a:t>
            </a:r>
            <a:endParaRPr lang="en-US" sz="36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6" presetClass="entr" presetSubtype="16"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circle(in)">
                                      <p:cBhvr>
                                        <p:cTn id="11"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p:cNvSpPr>
            <a:spLocks noGrp="1"/>
          </p:cNvSpPr>
          <p:nvPr>
            <p:ph idx="1"/>
          </p:nvPr>
        </p:nvSpPr>
        <p:spPr>
          <a:xfrm>
            <a:off x="609600" y="533400"/>
            <a:ext cx="5562600" cy="5943600"/>
          </a:xfrm>
        </p:spPr>
        <p:txBody>
          <a:bodyPr>
            <a:noAutofit/>
          </a:bodyPr>
          <a:lstStyle/>
          <a:p>
            <a:pPr>
              <a:buFont typeface="Wingdings" pitchFamily="2" charset="2"/>
              <a:buNone/>
            </a:pPr>
            <a:r>
              <a:rPr lang="en-US" sz="3200" b="1" dirty="0" err="1" smtClean="0">
                <a:solidFill>
                  <a:srgbClr val="0070C0"/>
                </a:solidFill>
                <a:latin typeface="Times New Roman" panose="02020603050405020304" pitchFamily="18" charset="0"/>
                <a:cs typeface="Times New Roman" panose="02020603050405020304" pitchFamily="18" charset="0"/>
              </a:rPr>
              <a:t>Cài</a:t>
            </a:r>
            <a:r>
              <a:rPr lang="en-US" sz="3200" b="1" dirty="0" smtClean="0">
                <a:solidFill>
                  <a:srgbClr val="0070C0"/>
                </a:solidFill>
                <a:latin typeface="Times New Roman" panose="02020603050405020304" pitchFamily="18" charset="0"/>
                <a:cs typeface="Times New Roman" panose="02020603050405020304" pitchFamily="18" charset="0"/>
              </a:rPr>
              <a:t> </a:t>
            </a:r>
            <a:r>
              <a:rPr lang="en-US" sz="3200" b="1" err="1" smtClean="0">
                <a:solidFill>
                  <a:srgbClr val="0070C0"/>
                </a:solidFill>
                <a:latin typeface="Times New Roman" panose="02020603050405020304" pitchFamily="18" charset="0"/>
                <a:cs typeface="Times New Roman" panose="02020603050405020304" pitchFamily="18" charset="0"/>
              </a:rPr>
              <a:t>đặt</a:t>
            </a:r>
            <a:r>
              <a:rPr lang="en-US" sz="3200" b="1" smtClean="0">
                <a:solidFill>
                  <a:srgbClr val="0070C0"/>
                </a:solidFill>
                <a:latin typeface="Times New Roman" panose="02020603050405020304" pitchFamily="18" charset="0"/>
                <a:cs typeface="Times New Roman" panose="02020603050405020304" pitchFamily="18" charset="0"/>
              </a:rPr>
              <a:t> 2:</a:t>
            </a:r>
            <a:endParaRPr lang="en-US" sz="3200" b="1" dirty="0" smtClean="0">
              <a:solidFill>
                <a:srgbClr val="0070C0"/>
              </a:solidFill>
              <a:latin typeface="Times New Roman" panose="02020603050405020304" pitchFamily="18" charset="0"/>
              <a:cs typeface="Times New Roman" panose="02020603050405020304" pitchFamily="18" charset="0"/>
            </a:endParaRPr>
          </a:p>
          <a:p>
            <a:pPr>
              <a:buFont typeface="Wingdings" pitchFamily="2" charset="2"/>
              <a:buNone/>
            </a:pPr>
            <a:r>
              <a:rPr lang="en-US" dirty="0" err="1">
                <a:solidFill>
                  <a:schemeClr val="bg1"/>
                </a:solidFill>
                <a:latin typeface="Times New Roman" panose="02020603050405020304" pitchFamily="18" charset="0"/>
                <a:cs typeface="Times New Roman" panose="02020603050405020304" pitchFamily="18" charset="0"/>
              </a:rPr>
              <a:t>int</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TimVTMin</a:t>
            </a:r>
            <a:r>
              <a:rPr lang="en-US" dirty="0">
                <a:solidFill>
                  <a:schemeClr val="bg1"/>
                </a:solidFill>
                <a:latin typeface="Times New Roman" panose="02020603050405020304" pitchFamily="18" charset="0"/>
                <a:cs typeface="Times New Roman" panose="02020603050405020304" pitchFamily="18" charset="0"/>
              </a:rPr>
              <a:t>(</a:t>
            </a:r>
            <a:r>
              <a:rPr lang="en-US" dirty="0" err="1">
                <a:solidFill>
                  <a:schemeClr val="bg1"/>
                </a:solidFill>
                <a:latin typeface="Times New Roman" panose="02020603050405020304" pitchFamily="18" charset="0"/>
                <a:cs typeface="Times New Roman" panose="02020603050405020304" pitchFamily="18" charset="0"/>
              </a:rPr>
              <a:t>int</a:t>
            </a:r>
            <a:r>
              <a:rPr lang="en-US" dirty="0">
                <a:solidFill>
                  <a:schemeClr val="bg1"/>
                </a:solidFill>
                <a:latin typeface="Times New Roman" panose="02020603050405020304" pitchFamily="18" charset="0"/>
                <a:cs typeface="Times New Roman" panose="02020603050405020304" pitchFamily="18" charset="0"/>
              </a:rPr>
              <a:t> a[], </a:t>
            </a:r>
            <a:r>
              <a:rPr lang="en-US" dirty="0" err="1">
                <a:solidFill>
                  <a:schemeClr val="bg1"/>
                </a:solidFill>
                <a:latin typeface="Times New Roman" panose="02020603050405020304" pitchFamily="18" charset="0"/>
                <a:cs typeface="Times New Roman" panose="02020603050405020304" pitchFamily="18" charset="0"/>
              </a:rPr>
              <a:t>int</a:t>
            </a:r>
            <a:r>
              <a:rPr lang="en-US" dirty="0">
                <a:solidFill>
                  <a:schemeClr val="bg1"/>
                </a:solidFill>
                <a:latin typeface="Times New Roman" panose="02020603050405020304" pitchFamily="18" charset="0"/>
                <a:cs typeface="Times New Roman" panose="02020603050405020304" pitchFamily="18" charset="0"/>
              </a:rPr>
              <a:t> N, </a:t>
            </a:r>
            <a:r>
              <a:rPr lang="en-US" dirty="0" err="1">
                <a:solidFill>
                  <a:schemeClr val="bg1"/>
                </a:solidFill>
                <a:latin typeface="Times New Roman" panose="02020603050405020304" pitchFamily="18" charset="0"/>
                <a:cs typeface="Times New Roman" panose="02020603050405020304" pitchFamily="18" charset="0"/>
              </a:rPr>
              <a:t>int</a:t>
            </a:r>
            <a:r>
              <a:rPr lang="en-US" dirty="0">
                <a:solidFill>
                  <a:schemeClr val="bg1"/>
                </a:solidFill>
                <a:latin typeface="Times New Roman" panose="02020603050405020304" pitchFamily="18" charset="0"/>
                <a:cs typeface="Times New Roman" panose="02020603050405020304" pitchFamily="18" charset="0"/>
              </a:rPr>
              <a:t> k)</a:t>
            </a:r>
          </a:p>
          <a:p>
            <a:pPr>
              <a:buFont typeface="Wingdings" pitchFamily="2" charset="2"/>
              <a:buNone/>
            </a:pPr>
            <a:r>
              <a:rPr lang="en-US" dirty="0">
                <a:solidFill>
                  <a:schemeClr val="bg1"/>
                </a:solidFill>
                <a:latin typeface="Times New Roman" panose="02020603050405020304" pitchFamily="18" charset="0"/>
                <a:cs typeface="Times New Roman" panose="02020603050405020304" pitchFamily="18" charset="0"/>
              </a:rPr>
              <a:t>{</a:t>
            </a:r>
          </a:p>
          <a:p>
            <a:pPr>
              <a:buFont typeface="Wingdings" pitchFamily="2" charset="2"/>
              <a:buNone/>
            </a:pP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int</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vtmin</a:t>
            </a:r>
            <a:r>
              <a:rPr lang="en-US" dirty="0">
                <a:solidFill>
                  <a:schemeClr val="bg1"/>
                </a:solidFill>
                <a:latin typeface="Times New Roman" panose="02020603050405020304" pitchFamily="18" charset="0"/>
                <a:cs typeface="Times New Roman" panose="02020603050405020304" pitchFamily="18" charset="0"/>
              </a:rPr>
              <a:t>=k;</a:t>
            </a:r>
          </a:p>
          <a:p>
            <a:pPr>
              <a:buFont typeface="Wingdings" pitchFamily="2" charset="2"/>
              <a:buNone/>
            </a:pPr>
            <a:r>
              <a:rPr lang="en-US" dirty="0">
                <a:solidFill>
                  <a:schemeClr val="bg1"/>
                </a:solidFill>
                <a:latin typeface="Times New Roman" panose="02020603050405020304" pitchFamily="18" charset="0"/>
                <a:cs typeface="Times New Roman" panose="02020603050405020304" pitchFamily="18" charset="0"/>
              </a:rPr>
              <a:t>	for(</a:t>
            </a:r>
            <a:r>
              <a:rPr lang="en-US" dirty="0" err="1">
                <a:solidFill>
                  <a:schemeClr val="bg1"/>
                </a:solidFill>
                <a:latin typeface="Times New Roman" panose="02020603050405020304" pitchFamily="18" charset="0"/>
                <a:cs typeface="Times New Roman" panose="02020603050405020304" pitchFamily="18" charset="0"/>
              </a:rPr>
              <a:t>int</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i</a:t>
            </a:r>
            <a:r>
              <a:rPr lang="en-US" dirty="0">
                <a:solidFill>
                  <a:schemeClr val="bg1"/>
                </a:solidFill>
                <a:latin typeface="Times New Roman" panose="02020603050405020304" pitchFamily="18" charset="0"/>
                <a:cs typeface="Times New Roman" panose="02020603050405020304" pitchFamily="18" charset="0"/>
              </a:rPr>
              <a:t>=k+1; </a:t>
            </a:r>
            <a:r>
              <a:rPr lang="en-US" dirty="0" err="1">
                <a:solidFill>
                  <a:schemeClr val="bg1"/>
                </a:solidFill>
                <a:latin typeface="Times New Roman" panose="02020603050405020304" pitchFamily="18" charset="0"/>
                <a:cs typeface="Times New Roman" panose="02020603050405020304" pitchFamily="18" charset="0"/>
              </a:rPr>
              <a:t>i</a:t>
            </a:r>
            <a:r>
              <a:rPr lang="en-US" dirty="0">
                <a:solidFill>
                  <a:schemeClr val="bg1"/>
                </a:solidFill>
                <a:latin typeface="Times New Roman" panose="02020603050405020304" pitchFamily="18" charset="0"/>
                <a:cs typeface="Times New Roman" panose="02020603050405020304" pitchFamily="18" charset="0"/>
              </a:rPr>
              <a:t>&lt;N; </a:t>
            </a:r>
            <a:r>
              <a:rPr lang="en-US" dirty="0" err="1">
                <a:solidFill>
                  <a:schemeClr val="bg1"/>
                </a:solidFill>
                <a:latin typeface="Times New Roman" panose="02020603050405020304" pitchFamily="18" charset="0"/>
                <a:cs typeface="Times New Roman" panose="02020603050405020304" pitchFamily="18" charset="0"/>
              </a:rPr>
              <a:t>i</a:t>
            </a:r>
            <a:r>
              <a:rPr lang="en-US" dirty="0">
                <a:solidFill>
                  <a:schemeClr val="bg1"/>
                </a:solidFill>
                <a:latin typeface="Times New Roman" panose="02020603050405020304" pitchFamily="18" charset="0"/>
                <a:cs typeface="Times New Roman" panose="02020603050405020304" pitchFamily="18" charset="0"/>
              </a:rPr>
              <a:t>++)</a:t>
            </a:r>
          </a:p>
          <a:p>
            <a:pPr>
              <a:buFont typeface="Wingdings" pitchFamily="2" charset="2"/>
              <a:buNone/>
            </a:pPr>
            <a:r>
              <a:rPr lang="en-US" dirty="0">
                <a:solidFill>
                  <a:schemeClr val="bg1"/>
                </a:solidFill>
                <a:latin typeface="Times New Roman" panose="02020603050405020304" pitchFamily="18" charset="0"/>
                <a:cs typeface="Times New Roman" panose="02020603050405020304" pitchFamily="18" charset="0"/>
              </a:rPr>
              <a:t>	{</a:t>
            </a:r>
          </a:p>
          <a:p>
            <a:pPr>
              <a:buFont typeface="Wingdings" pitchFamily="2" charset="2"/>
              <a:buNone/>
            </a:pPr>
            <a:r>
              <a:rPr lang="en-US" dirty="0">
                <a:solidFill>
                  <a:schemeClr val="bg1"/>
                </a:solidFill>
                <a:latin typeface="Times New Roman" panose="02020603050405020304" pitchFamily="18" charset="0"/>
                <a:cs typeface="Times New Roman" panose="02020603050405020304" pitchFamily="18" charset="0"/>
              </a:rPr>
              <a:t>		if(a[</a:t>
            </a:r>
            <a:r>
              <a:rPr lang="en-US" dirty="0" err="1">
                <a:solidFill>
                  <a:schemeClr val="bg1"/>
                </a:solidFill>
                <a:latin typeface="Times New Roman" panose="02020603050405020304" pitchFamily="18" charset="0"/>
                <a:cs typeface="Times New Roman" panose="02020603050405020304" pitchFamily="18" charset="0"/>
              </a:rPr>
              <a:t>i</a:t>
            </a:r>
            <a:r>
              <a:rPr lang="en-US" dirty="0">
                <a:solidFill>
                  <a:schemeClr val="bg1"/>
                </a:solidFill>
                <a:latin typeface="Times New Roman" panose="02020603050405020304" pitchFamily="18" charset="0"/>
                <a:cs typeface="Times New Roman" panose="02020603050405020304" pitchFamily="18" charset="0"/>
              </a:rPr>
              <a:t>]&lt;a[</a:t>
            </a:r>
            <a:r>
              <a:rPr lang="en-US" dirty="0" err="1">
                <a:solidFill>
                  <a:schemeClr val="bg1"/>
                </a:solidFill>
                <a:latin typeface="Times New Roman" panose="02020603050405020304" pitchFamily="18" charset="0"/>
                <a:cs typeface="Times New Roman" panose="02020603050405020304" pitchFamily="18" charset="0"/>
              </a:rPr>
              <a:t>vtmin</a:t>
            </a:r>
            <a:r>
              <a:rPr lang="en-US" dirty="0">
                <a:solidFill>
                  <a:schemeClr val="bg1"/>
                </a:solidFill>
                <a:latin typeface="Times New Roman" panose="02020603050405020304" pitchFamily="18" charset="0"/>
                <a:cs typeface="Times New Roman" panose="02020603050405020304" pitchFamily="18" charset="0"/>
              </a:rPr>
              <a:t>])</a:t>
            </a:r>
          </a:p>
          <a:p>
            <a:pPr>
              <a:buFont typeface="Wingdings" pitchFamily="2" charset="2"/>
              <a:buNone/>
            </a:pP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vtmin</a:t>
            </a:r>
            <a:r>
              <a:rPr lang="en-US" dirty="0">
                <a:solidFill>
                  <a:schemeClr val="bg1"/>
                </a:solidFill>
                <a:latin typeface="Times New Roman" panose="02020603050405020304" pitchFamily="18" charset="0"/>
                <a:cs typeface="Times New Roman" panose="02020603050405020304" pitchFamily="18" charset="0"/>
              </a:rPr>
              <a:t>=</a:t>
            </a:r>
            <a:r>
              <a:rPr lang="en-US" dirty="0" err="1">
                <a:solidFill>
                  <a:schemeClr val="bg1"/>
                </a:solidFill>
                <a:latin typeface="Times New Roman" panose="02020603050405020304" pitchFamily="18" charset="0"/>
                <a:cs typeface="Times New Roman" panose="02020603050405020304" pitchFamily="18" charset="0"/>
              </a:rPr>
              <a:t>i</a:t>
            </a:r>
            <a:r>
              <a:rPr lang="en-US" dirty="0">
                <a:solidFill>
                  <a:schemeClr val="bg1"/>
                </a:solidFill>
                <a:latin typeface="Times New Roman" panose="02020603050405020304" pitchFamily="18" charset="0"/>
                <a:cs typeface="Times New Roman" panose="02020603050405020304" pitchFamily="18" charset="0"/>
              </a:rPr>
              <a:t>;</a:t>
            </a:r>
          </a:p>
          <a:p>
            <a:pPr>
              <a:buFont typeface="Wingdings" pitchFamily="2" charset="2"/>
              <a:buNone/>
            </a:pPr>
            <a:r>
              <a:rPr lang="en-US" dirty="0">
                <a:solidFill>
                  <a:schemeClr val="bg1"/>
                </a:solidFill>
                <a:latin typeface="Times New Roman" panose="02020603050405020304" pitchFamily="18" charset="0"/>
                <a:cs typeface="Times New Roman" panose="02020603050405020304" pitchFamily="18" charset="0"/>
              </a:rPr>
              <a:t>	}</a:t>
            </a:r>
          </a:p>
          <a:p>
            <a:pPr>
              <a:buFont typeface="Wingdings" pitchFamily="2" charset="2"/>
              <a:buNone/>
            </a:pPr>
            <a:r>
              <a:rPr lang="en-US" dirty="0">
                <a:solidFill>
                  <a:schemeClr val="bg1"/>
                </a:solidFill>
                <a:latin typeface="Times New Roman" panose="02020603050405020304" pitchFamily="18" charset="0"/>
                <a:cs typeface="Times New Roman" panose="02020603050405020304" pitchFamily="18" charset="0"/>
              </a:rPr>
              <a:t>	return </a:t>
            </a:r>
            <a:r>
              <a:rPr lang="en-US" dirty="0" err="1">
                <a:solidFill>
                  <a:schemeClr val="bg1"/>
                </a:solidFill>
                <a:latin typeface="Times New Roman" panose="02020603050405020304" pitchFamily="18" charset="0"/>
                <a:cs typeface="Times New Roman" panose="02020603050405020304" pitchFamily="18" charset="0"/>
              </a:rPr>
              <a:t>vtmin</a:t>
            </a:r>
            <a:r>
              <a:rPr lang="en-US" dirty="0">
                <a:solidFill>
                  <a:schemeClr val="bg1"/>
                </a:solidFill>
                <a:latin typeface="Times New Roman" panose="02020603050405020304" pitchFamily="18" charset="0"/>
                <a:cs typeface="Times New Roman" panose="02020603050405020304" pitchFamily="18" charset="0"/>
              </a:rPr>
              <a:t>;</a:t>
            </a:r>
          </a:p>
          <a:p>
            <a:pPr>
              <a:buFont typeface="Wingdings" pitchFamily="2" charset="2"/>
              <a:buNone/>
            </a:pPr>
            <a:r>
              <a:rPr lang="en-US" dirty="0">
                <a:solidFill>
                  <a:schemeClr val="bg1"/>
                </a:solidFill>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pPr>
              <a:defRPr/>
            </a:pPr>
            <a:fld id="{6E93E8F7-E5C9-486C-8491-D3EF666A7439}" type="slidenum">
              <a:rPr lang="en-US" smtClean="0"/>
              <a:pPr>
                <a:defRPr/>
              </a:pPr>
              <a:t>70</a:t>
            </a:fld>
            <a:endParaRPr lang="en-US"/>
          </a:p>
        </p:txBody>
      </p:sp>
      <p:sp>
        <p:nvSpPr>
          <p:cNvPr id="10" name="Content Placeholder 2"/>
          <p:cNvSpPr txBox="1">
            <a:spLocks/>
          </p:cNvSpPr>
          <p:nvPr/>
        </p:nvSpPr>
        <p:spPr>
          <a:xfrm>
            <a:off x="6477000" y="1066800"/>
            <a:ext cx="5334000" cy="4495800"/>
          </a:xfrm>
          <a:prstGeom prst="rect">
            <a:avLst/>
          </a:prstGeom>
          <a:ln>
            <a:solidFill>
              <a:srgbClr val="0070C0"/>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Wingdings 2" pitchFamily="18" charset="2"/>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Wingdings 2" pitchFamily="18" charset="2"/>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fontAlgn="auto">
              <a:spcAft>
                <a:spcPts val="0"/>
              </a:spcAft>
              <a:buNone/>
            </a:pPr>
            <a:r>
              <a:rPr lang="en-US" sz="2800" dirty="0">
                <a:solidFill>
                  <a:schemeClr val="bg1"/>
                </a:solidFill>
              </a:rPr>
              <a:t>void </a:t>
            </a:r>
            <a:r>
              <a:rPr lang="en-US" sz="2800" dirty="0" err="1">
                <a:solidFill>
                  <a:schemeClr val="bg1"/>
                </a:solidFill>
              </a:rPr>
              <a:t>SelectionSort</a:t>
            </a:r>
            <a:r>
              <a:rPr lang="en-US" sz="2800" dirty="0">
                <a:solidFill>
                  <a:schemeClr val="bg1"/>
                </a:solidFill>
              </a:rPr>
              <a:t>(</a:t>
            </a:r>
            <a:r>
              <a:rPr lang="en-US" sz="2800" dirty="0" err="1">
                <a:solidFill>
                  <a:schemeClr val="bg1"/>
                </a:solidFill>
              </a:rPr>
              <a:t>int</a:t>
            </a:r>
            <a:r>
              <a:rPr lang="en-US" sz="2800" dirty="0">
                <a:solidFill>
                  <a:schemeClr val="bg1"/>
                </a:solidFill>
              </a:rPr>
              <a:t> a[],</a:t>
            </a:r>
            <a:r>
              <a:rPr lang="en-US" sz="2800" dirty="0" err="1">
                <a:solidFill>
                  <a:schemeClr val="bg1"/>
                </a:solidFill>
              </a:rPr>
              <a:t>int</a:t>
            </a:r>
            <a:r>
              <a:rPr lang="en-US" sz="2800" dirty="0">
                <a:solidFill>
                  <a:schemeClr val="bg1"/>
                </a:solidFill>
              </a:rPr>
              <a:t> N )</a:t>
            </a:r>
          </a:p>
          <a:p>
            <a:pPr fontAlgn="auto">
              <a:spcAft>
                <a:spcPts val="0"/>
              </a:spcAft>
              <a:buNone/>
            </a:pPr>
            <a:r>
              <a:rPr lang="en-US" sz="2800" dirty="0">
                <a:solidFill>
                  <a:schemeClr val="bg1"/>
                </a:solidFill>
              </a:rPr>
              <a:t>{	</a:t>
            </a:r>
          </a:p>
          <a:p>
            <a:pPr fontAlgn="auto">
              <a:spcAft>
                <a:spcPts val="0"/>
              </a:spcAft>
              <a:buNone/>
            </a:pPr>
            <a:r>
              <a:rPr lang="en-US" sz="2800" dirty="0">
                <a:solidFill>
                  <a:schemeClr val="bg1"/>
                </a:solidFill>
              </a:rPr>
              <a:t>	 </a:t>
            </a:r>
            <a:r>
              <a:rPr lang="en-US" sz="2800" dirty="0" err="1">
                <a:solidFill>
                  <a:schemeClr val="bg1"/>
                </a:solidFill>
              </a:rPr>
              <a:t>int</a:t>
            </a:r>
            <a:r>
              <a:rPr lang="en-US" sz="2800" dirty="0">
                <a:solidFill>
                  <a:schemeClr val="bg1"/>
                </a:solidFill>
              </a:rPr>
              <a:t> </a:t>
            </a:r>
            <a:r>
              <a:rPr lang="en-US" sz="2800" dirty="0" err="1">
                <a:solidFill>
                  <a:schemeClr val="bg1"/>
                </a:solidFill>
              </a:rPr>
              <a:t>vtmin</a:t>
            </a:r>
            <a:r>
              <a:rPr lang="en-US" sz="2800" dirty="0">
                <a:solidFill>
                  <a:schemeClr val="bg1"/>
                </a:solidFill>
              </a:rPr>
              <a:t>; </a:t>
            </a:r>
          </a:p>
          <a:p>
            <a:pPr fontAlgn="auto">
              <a:spcAft>
                <a:spcPts val="0"/>
              </a:spcAft>
              <a:buNone/>
            </a:pPr>
            <a:r>
              <a:rPr lang="en-US" sz="2800" dirty="0">
                <a:solidFill>
                  <a:schemeClr val="bg1"/>
                </a:solidFill>
              </a:rPr>
              <a:t>	 for (</a:t>
            </a:r>
            <a:r>
              <a:rPr lang="en-US" sz="2800" dirty="0" err="1">
                <a:solidFill>
                  <a:schemeClr val="bg1"/>
                </a:solidFill>
              </a:rPr>
              <a:t>int</a:t>
            </a:r>
            <a:r>
              <a:rPr lang="en-US" sz="2800" dirty="0">
                <a:solidFill>
                  <a:schemeClr val="bg1"/>
                </a:solidFill>
              </a:rPr>
              <a:t>  </a:t>
            </a:r>
            <a:r>
              <a:rPr lang="en-US" sz="2800" dirty="0" err="1">
                <a:solidFill>
                  <a:schemeClr val="bg1"/>
                </a:solidFill>
              </a:rPr>
              <a:t>i</a:t>
            </a:r>
            <a:r>
              <a:rPr lang="en-US" sz="2800" dirty="0">
                <a:solidFill>
                  <a:schemeClr val="bg1"/>
                </a:solidFill>
              </a:rPr>
              <a:t>=0; </a:t>
            </a:r>
            <a:r>
              <a:rPr lang="en-US" sz="2800" dirty="0" err="1">
                <a:solidFill>
                  <a:schemeClr val="bg1"/>
                </a:solidFill>
              </a:rPr>
              <a:t>i</a:t>
            </a:r>
            <a:r>
              <a:rPr lang="en-US" sz="2800" dirty="0">
                <a:solidFill>
                  <a:schemeClr val="bg1"/>
                </a:solidFill>
              </a:rPr>
              <a:t>&lt;N-1 ; </a:t>
            </a:r>
            <a:r>
              <a:rPr lang="en-US" sz="2800" dirty="0" err="1">
                <a:solidFill>
                  <a:schemeClr val="bg1"/>
                </a:solidFill>
              </a:rPr>
              <a:t>i</a:t>
            </a:r>
            <a:r>
              <a:rPr lang="en-US" sz="2800" dirty="0">
                <a:solidFill>
                  <a:schemeClr val="bg1"/>
                </a:solidFill>
              </a:rPr>
              <a:t>++)</a:t>
            </a:r>
          </a:p>
          <a:p>
            <a:pPr fontAlgn="auto">
              <a:spcAft>
                <a:spcPts val="0"/>
              </a:spcAft>
              <a:buNone/>
            </a:pPr>
            <a:r>
              <a:rPr lang="en-US" sz="2800" dirty="0">
                <a:solidFill>
                  <a:schemeClr val="bg1"/>
                </a:solidFill>
              </a:rPr>
              <a:t>	 {</a:t>
            </a:r>
            <a:br>
              <a:rPr lang="en-US" sz="2800" dirty="0">
                <a:solidFill>
                  <a:schemeClr val="bg1"/>
                </a:solidFill>
              </a:rPr>
            </a:br>
            <a:r>
              <a:rPr lang="en-US" sz="2800" dirty="0">
                <a:solidFill>
                  <a:schemeClr val="bg1"/>
                </a:solidFill>
              </a:rPr>
              <a:t>	</a:t>
            </a:r>
            <a:r>
              <a:rPr lang="en-US" sz="2800" dirty="0" err="1">
                <a:solidFill>
                  <a:schemeClr val="bg1"/>
                </a:solidFill>
              </a:rPr>
              <a:t>vtmin</a:t>
            </a:r>
            <a:r>
              <a:rPr lang="en-US" sz="2800" dirty="0">
                <a:solidFill>
                  <a:schemeClr val="bg1"/>
                </a:solidFill>
              </a:rPr>
              <a:t> = </a:t>
            </a:r>
            <a:r>
              <a:rPr lang="en-US" sz="2800" dirty="0" err="1">
                <a:solidFill>
                  <a:schemeClr val="bg1"/>
                </a:solidFill>
              </a:rPr>
              <a:t>TimVTMin</a:t>
            </a:r>
            <a:r>
              <a:rPr lang="en-US" sz="2800" dirty="0">
                <a:solidFill>
                  <a:schemeClr val="bg1"/>
                </a:solidFill>
              </a:rPr>
              <a:t>(a, N, </a:t>
            </a:r>
            <a:r>
              <a:rPr lang="en-US" sz="2800" dirty="0" err="1">
                <a:solidFill>
                  <a:schemeClr val="bg1"/>
                </a:solidFill>
              </a:rPr>
              <a:t>i</a:t>
            </a:r>
            <a:r>
              <a:rPr lang="en-US" sz="2800" dirty="0">
                <a:solidFill>
                  <a:schemeClr val="bg1"/>
                </a:solidFill>
              </a:rPr>
              <a:t>);</a:t>
            </a:r>
          </a:p>
          <a:p>
            <a:pPr fontAlgn="auto">
              <a:spcAft>
                <a:spcPts val="0"/>
              </a:spcAft>
              <a:buNone/>
            </a:pPr>
            <a:r>
              <a:rPr lang="en-US" sz="2800" dirty="0">
                <a:solidFill>
                  <a:schemeClr val="bg1"/>
                </a:solidFill>
              </a:rPr>
              <a:t>		</a:t>
            </a:r>
            <a:r>
              <a:rPr lang="en-US" sz="2800" dirty="0" err="1">
                <a:solidFill>
                  <a:schemeClr val="bg1"/>
                </a:solidFill>
              </a:rPr>
              <a:t>HoanVi</a:t>
            </a:r>
            <a:r>
              <a:rPr lang="en-US" sz="2800" dirty="0">
                <a:solidFill>
                  <a:schemeClr val="bg1"/>
                </a:solidFill>
              </a:rPr>
              <a:t>(a[</a:t>
            </a:r>
            <a:r>
              <a:rPr lang="en-US" sz="2800" dirty="0" err="1">
                <a:solidFill>
                  <a:schemeClr val="bg1"/>
                </a:solidFill>
              </a:rPr>
              <a:t>vtmin</a:t>
            </a:r>
            <a:r>
              <a:rPr lang="en-US" sz="2800" dirty="0">
                <a:solidFill>
                  <a:schemeClr val="bg1"/>
                </a:solidFill>
              </a:rPr>
              <a:t>], a[</a:t>
            </a:r>
            <a:r>
              <a:rPr lang="en-US" sz="2800" dirty="0" err="1">
                <a:solidFill>
                  <a:schemeClr val="bg1"/>
                </a:solidFill>
              </a:rPr>
              <a:t>i</a:t>
            </a:r>
            <a:r>
              <a:rPr lang="en-US" sz="2800" dirty="0">
                <a:solidFill>
                  <a:schemeClr val="bg1"/>
                </a:solidFill>
              </a:rPr>
              <a:t>]);</a:t>
            </a:r>
            <a:br>
              <a:rPr lang="en-US" sz="2800" dirty="0">
                <a:solidFill>
                  <a:schemeClr val="bg1"/>
                </a:solidFill>
              </a:rPr>
            </a:br>
            <a:r>
              <a:rPr lang="en-US" sz="2800" dirty="0">
                <a:solidFill>
                  <a:schemeClr val="bg1"/>
                </a:solidFill>
              </a:rPr>
              <a:t> }</a:t>
            </a:r>
          </a:p>
          <a:p>
            <a:pPr fontAlgn="auto">
              <a:spcAft>
                <a:spcPts val="0"/>
              </a:spcAft>
              <a:buNone/>
            </a:pPr>
            <a:r>
              <a:rPr lang="en-US" sz="2800" dirty="0">
                <a:solidFill>
                  <a:schemeClr val="bg1"/>
                </a:solidFill>
              </a:rPr>
              <a:t>}</a:t>
            </a:r>
          </a:p>
          <a:p>
            <a:pPr fontAlgn="auto">
              <a:spcAft>
                <a:spcPts val="0"/>
              </a:spcAft>
            </a:pPr>
            <a:endParaRPr lang="en-US" sz="2800" b="1" dirty="0">
              <a:solidFill>
                <a:schemeClr val="bg1"/>
              </a:solidFill>
            </a:endParaRPr>
          </a:p>
        </p:txBody>
      </p:sp>
    </p:spTree>
    <p:extLst>
      <p:ext uri="{BB962C8B-B14F-4D97-AF65-F5344CB8AC3E}">
        <p14:creationId xmlns:p14="http://schemas.microsoft.com/office/powerpoint/2010/main" val="144782473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0070C0"/>
                </a:solidFill>
                <a:latin typeface="Times New Roman" panose="02020603050405020304" pitchFamily="18" charset="0"/>
                <a:cs typeface="Times New Roman" panose="02020603050405020304" pitchFamily="18" charset="0"/>
              </a:rPr>
              <a:t>Bài</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tập</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
            </a:pPr>
            <a:r>
              <a:rPr lang="en-US" dirty="0" smtClean="0">
                <a:solidFill>
                  <a:schemeClr val="bg1"/>
                </a:solidFill>
                <a:latin typeface="Times New Roman" panose="02020603050405020304" pitchFamily="18" charset="0"/>
                <a:cs typeface="Times New Roman" panose="02020603050405020304" pitchFamily="18" charset="0"/>
              </a:rPr>
              <a:t>Minh </a:t>
            </a:r>
            <a:r>
              <a:rPr lang="en-US" dirty="0" err="1" smtClean="0">
                <a:solidFill>
                  <a:schemeClr val="bg1"/>
                </a:solidFill>
                <a:latin typeface="Times New Roman" panose="02020603050405020304" pitchFamily="18" charset="0"/>
                <a:cs typeface="Times New Roman" panose="02020603050405020304" pitchFamily="18" charset="0"/>
              </a:rPr>
              <a:t>họa</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từng</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bước</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thực</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hiện</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của</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giải</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thuật</a:t>
            </a:r>
            <a:r>
              <a:rPr lang="en-US" dirty="0" smtClean="0">
                <a:solidFill>
                  <a:schemeClr val="bg1"/>
                </a:solidFill>
                <a:latin typeface="Times New Roman" panose="02020603050405020304" pitchFamily="18" charset="0"/>
                <a:cs typeface="Times New Roman" panose="02020603050405020304" pitchFamily="18" charset="0"/>
              </a:rPr>
              <a:t> Selection Sort </a:t>
            </a:r>
            <a:r>
              <a:rPr lang="en-US" dirty="0" err="1" smtClean="0">
                <a:solidFill>
                  <a:schemeClr val="bg1"/>
                </a:solidFill>
                <a:latin typeface="Times New Roman" panose="02020603050405020304" pitchFamily="18" charset="0"/>
                <a:cs typeface="Times New Roman" panose="02020603050405020304" pitchFamily="18" charset="0"/>
              </a:rPr>
              <a:t>khi</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sắp</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dãy</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số</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sau</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tăng</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dần</a:t>
            </a:r>
            <a:r>
              <a:rPr lang="en-US" smtClean="0">
                <a:solidFill>
                  <a:schemeClr val="bg1"/>
                </a:solidFill>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endParaRPr lang="en-US" dirty="0" smtClean="0">
              <a:solidFill>
                <a:schemeClr val="bg1"/>
              </a:solidFill>
              <a:latin typeface="Times New Roman" panose="02020603050405020304" pitchFamily="18" charset="0"/>
              <a:cs typeface="Times New Roman" panose="02020603050405020304" pitchFamily="18" charset="0"/>
            </a:endParaRPr>
          </a:p>
          <a:p>
            <a:pPr marL="0" indent="0">
              <a:buNone/>
            </a:pPr>
            <a:endParaRPr lang="en-US" dirty="0">
              <a:solidFill>
                <a:schemeClr val="bg1"/>
              </a:solidFill>
              <a:latin typeface="Times New Roman" panose="02020603050405020304" pitchFamily="18" charset="0"/>
              <a:cs typeface="Times New Roman" panose="02020603050405020304" pitchFamily="18" charset="0"/>
            </a:endParaRPr>
          </a:p>
          <a:p>
            <a:pPr marL="0" indent="0">
              <a:buNone/>
            </a:pPr>
            <a:endParaRPr lang="en-US" dirty="0" smtClean="0">
              <a:solidFill>
                <a:schemeClr val="bg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dirty="0" smtClean="0">
                <a:solidFill>
                  <a:schemeClr val="bg1"/>
                </a:solidFill>
                <a:latin typeface="Times New Roman" panose="02020603050405020304" pitchFamily="18" charset="0"/>
                <a:cs typeface="Times New Roman" panose="02020603050405020304" pitchFamily="18" charset="0"/>
              </a:rPr>
              <a:t>Cho </a:t>
            </a:r>
            <a:r>
              <a:rPr lang="en-US" dirty="0" err="1" smtClean="0">
                <a:solidFill>
                  <a:schemeClr val="bg1"/>
                </a:solidFill>
                <a:latin typeface="Times New Roman" panose="02020603050405020304" pitchFamily="18" charset="0"/>
                <a:cs typeface="Times New Roman" panose="02020603050405020304" pitchFamily="18" charset="0"/>
              </a:rPr>
              <a:t>biết</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tổng</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số</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phép</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gán</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tìm</a:t>
            </a:r>
            <a:r>
              <a:rPr lang="en-US" dirty="0" smtClean="0">
                <a:solidFill>
                  <a:schemeClr val="bg1"/>
                </a:solidFill>
                <a:latin typeface="Times New Roman" panose="02020603050405020304" pitchFamily="18" charset="0"/>
                <a:cs typeface="Times New Roman" panose="02020603050405020304" pitchFamily="18" charset="0"/>
              </a:rPr>
              <a:t> min </a:t>
            </a:r>
            <a:r>
              <a:rPr lang="en-US" dirty="0" err="1" smtClean="0">
                <a:solidFill>
                  <a:schemeClr val="bg1"/>
                </a:solidFill>
                <a:latin typeface="Times New Roman" panose="02020603050405020304" pitchFamily="18" charset="0"/>
                <a:cs typeface="Times New Roman" panose="02020603050405020304" pitchFamily="18" charset="0"/>
              </a:rPr>
              <a:t>và</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tổng</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số</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phép</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hoán</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vị</a:t>
            </a:r>
            <a:r>
              <a:rPr lang="en-US" dirty="0" smtClean="0">
                <a:solidFill>
                  <a:schemeClr val="bg1"/>
                </a:solidFill>
                <a:latin typeface="Times New Roman" panose="02020603050405020304" pitchFamily="18" charset="0"/>
                <a:cs typeface="Times New Roman" panose="02020603050405020304" pitchFamily="18" charset="0"/>
              </a:rPr>
              <a:t> </a:t>
            </a:r>
          </a:p>
          <a:p>
            <a:pPr marL="0" indent="0">
              <a:buNone/>
            </a:pPr>
            <a:endParaRPr lang="en-US"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EDD57F7B-2019-4069-8198-EFE0C5B7313D}" type="slidenum">
              <a:rPr lang="en-US" smtClean="0"/>
              <a:pPr>
                <a:defRPr/>
              </a:pPr>
              <a:t>71</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183939681"/>
              </p:ext>
            </p:extLst>
          </p:nvPr>
        </p:nvGraphicFramePr>
        <p:xfrm>
          <a:off x="2590800" y="2971800"/>
          <a:ext cx="7086600" cy="1219200"/>
        </p:xfrm>
        <a:graphic>
          <a:graphicData uri="http://schemas.openxmlformats.org/drawingml/2006/table">
            <a:tbl>
              <a:tblPr firstRow="1" bandRow="1">
                <a:tableStyleId>{5C22544A-7EE6-4342-B048-85BDC9FD1C3A}</a:tableStyleId>
              </a:tblPr>
              <a:tblGrid>
                <a:gridCol w="118110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1181100">
                  <a:extLst>
                    <a:ext uri="{9D8B030D-6E8A-4147-A177-3AD203B41FA5}">
                      <a16:colId xmlns:a16="http://schemas.microsoft.com/office/drawing/2014/main" val="20002"/>
                    </a:ext>
                  </a:extLst>
                </a:gridCol>
                <a:gridCol w="1181100">
                  <a:extLst>
                    <a:ext uri="{9D8B030D-6E8A-4147-A177-3AD203B41FA5}">
                      <a16:colId xmlns:a16="http://schemas.microsoft.com/office/drawing/2014/main" val="20003"/>
                    </a:ext>
                  </a:extLst>
                </a:gridCol>
                <a:gridCol w="1181100">
                  <a:extLst>
                    <a:ext uri="{9D8B030D-6E8A-4147-A177-3AD203B41FA5}">
                      <a16:colId xmlns:a16="http://schemas.microsoft.com/office/drawing/2014/main" val="20004"/>
                    </a:ext>
                  </a:extLst>
                </a:gridCol>
                <a:gridCol w="1181100">
                  <a:extLst>
                    <a:ext uri="{9D8B030D-6E8A-4147-A177-3AD203B41FA5}">
                      <a16:colId xmlns:a16="http://schemas.microsoft.com/office/drawing/2014/main" val="20005"/>
                    </a:ext>
                  </a:extLst>
                </a:gridCol>
              </a:tblGrid>
              <a:tr h="370840">
                <a:tc>
                  <a:txBody>
                    <a:bodyPr/>
                    <a:lstStyle/>
                    <a:p>
                      <a:pPr algn="ctr"/>
                      <a:r>
                        <a:rPr lang="en-US" sz="3600" b="1" dirty="0" smtClean="0"/>
                        <a:t>15</a:t>
                      </a:r>
                      <a:endParaRPr lang="en-US" sz="3600" b="1" dirty="0"/>
                    </a:p>
                  </a:txBody>
                  <a:tcPr>
                    <a:solidFill>
                      <a:srgbClr val="0070C0"/>
                    </a:solidFill>
                  </a:tcPr>
                </a:tc>
                <a:tc>
                  <a:txBody>
                    <a:bodyPr/>
                    <a:lstStyle/>
                    <a:p>
                      <a:pPr algn="ctr"/>
                      <a:r>
                        <a:rPr lang="en-US" sz="3600" b="1" dirty="0" smtClean="0"/>
                        <a:t>7</a:t>
                      </a:r>
                      <a:endParaRPr lang="en-US" sz="3600" b="1" dirty="0"/>
                    </a:p>
                  </a:txBody>
                  <a:tcPr>
                    <a:solidFill>
                      <a:srgbClr val="0070C0"/>
                    </a:solidFill>
                  </a:tcPr>
                </a:tc>
                <a:tc>
                  <a:txBody>
                    <a:bodyPr/>
                    <a:lstStyle/>
                    <a:p>
                      <a:pPr algn="ctr"/>
                      <a:r>
                        <a:rPr lang="en-US" sz="3600" b="1" dirty="0" smtClean="0"/>
                        <a:t>9</a:t>
                      </a:r>
                      <a:endParaRPr lang="en-US" sz="3600" b="1" dirty="0"/>
                    </a:p>
                  </a:txBody>
                  <a:tcPr>
                    <a:solidFill>
                      <a:srgbClr val="0070C0"/>
                    </a:solidFill>
                  </a:tcPr>
                </a:tc>
                <a:tc>
                  <a:txBody>
                    <a:bodyPr/>
                    <a:lstStyle/>
                    <a:p>
                      <a:pPr algn="ctr"/>
                      <a:r>
                        <a:rPr lang="en-US" sz="3600" b="1" dirty="0" smtClean="0"/>
                        <a:t>10</a:t>
                      </a:r>
                      <a:endParaRPr lang="en-US" sz="3600" b="1" dirty="0"/>
                    </a:p>
                  </a:txBody>
                  <a:tcPr>
                    <a:solidFill>
                      <a:srgbClr val="0070C0"/>
                    </a:solidFill>
                  </a:tcPr>
                </a:tc>
                <a:tc>
                  <a:txBody>
                    <a:bodyPr/>
                    <a:lstStyle/>
                    <a:p>
                      <a:pPr algn="ctr"/>
                      <a:r>
                        <a:rPr lang="en-US" sz="3600" b="1" dirty="0" smtClean="0"/>
                        <a:t>6</a:t>
                      </a:r>
                      <a:endParaRPr lang="en-US" sz="3600" b="1" dirty="0"/>
                    </a:p>
                  </a:txBody>
                  <a:tcPr>
                    <a:solidFill>
                      <a:srgbClr val="0070C0"/>
                    </a:solidFill>
                  </a:tcPr>
                </a:tc>
                <a:tc>
                  <a:txBody>
                    <a:bodyPr/>
                    <a:lstStyle/>
                    <a:p>
                      <a:pPr algn="ctr"/>
                      <a:r>
                        <a:rPr lang="en-US" sz="3600" b="1" dirty="0" smtClean="0"/>
                        <a:t>20</a:t>
                      </a:r>
                      <a:endParaRPr lang="en-US" sz="3600" b="1" dirty="0"/>
                    </a:p>
                  </a:txBody>
                  <a:tcPr>
                    <a:solidFill>
                      <a:srgbClr val="0070C0"/>
                    </a:solidFill>
                  </a:tcPr>
                </a:tc>
                <a:extLst>
                  <a:ext uri="{0D108BD9-81ED-4DB2-BD59-A6C34878D82A}">
                    <a16:rowId xmlns:a16="http://schemas.microsoft.com/office/drawing/2014/main" val="10000"/>
                  </a:ext>
                </a:extLst>
              </a:tr>
              <a:tr h="289560">
                <a:tc>
                  <a:txBody>
                    <a:bodyPr/>
                    <a:lstStyle/>
                    <a:p>
                      <a:pPr algn="ctr"/>
                      <a:r>
                        <a:rPr lang="en-US" sz="3200" i="1" dirty="0" smtClean="0"/>
                        <a:t>1</a:t>
                      </a:r>
                      <a:endParaRPr lang="en-US" sz="3200" i="1" dirty="0"/>
                    </a:p>
                  </a:txBody>
                  <a:tcPr/>
                </a:tc>
                <a:tc>
                  <a:txBody>
                    <a:bodyPr/>
                    <a:lstStyle/>
                    <a:p>
                      <a:pPr algn="ctr"/>
                      <a:r>
                        <a:rPr lang="en-US" sz="3200" i="1" dirty="0" smtClean="0"/>
                        <a:t>2</a:t>
                      </a:r>
                      <a:endParaRPr lang="en-US" sz="3200" i="1" dirty="0"/>
                    </a:p>
                  </a:txBody>
                  <a:tcPr/>
                </a:tc>
                <a:tc>
                  <a:txBody>
                    <a:bodyPr/>
                    <a:lstStyle/>
                    <a:p>
                      <a:pPr algn="ctr"/>
                      <a:r>
                        <a:rPr lang="en-US" sz="3200" i="1" dirty="0" smtClean="0"/>
                        <a:t>3</a:t>
                      </a:r>
                      <a:endParaRPr lang="en-US" sz="3200" i="1" dirty="0"/>
                    </a:p>
                  </a:txBody>
                  <a:tcPr/>
                </a:tc>
                <a:tc>
                  <a:txBody>
                    <a:bodyPr/>
                    <a:lstStyle/>
                    <a:p>
                      <a:pPr algn="ctr"/>
                      <a:r>
                        <a:rPr lang="en-US" sz="3200" i="1" dirty="0" smtClean="0"/>
                        <a:t>4</a:t>
                      </a:r>
                      <a:endParaRPr lang="en-US" sz="3200" i="1" dirty="0"/>
                    </a:p>
                  </a:txBody>
                  <a:tcPr/>
                </a:tc>
                <a:tc>
                  <a:txBody>
                    <a:bodyPr/>
                    <a:lstStyle/>
                    <a:p>
                      <a:pPr algn="ctr"/>
                      <a:r>
                        <a:rPr lang="en-US" sz="3200" i="1" dirty="0" smtClean="0"/>
                        <a:t>5</a:t>
                      </a:r>
                      <a:endParaRPr lang="en-US" sz="3200" i="1" dirty="0"/>
                    </a:p>
                  </a:txBody>
                  <a:tcPr/>
                </a:tc>
                <a:tc>
                  <a:txBody>
                    <a:bodyPr/>
                    <a:lstStyle/>
                    <a:p>
                      <a:pPr algn="ctr"/>
                      <a:r>
                        <a:rPr lang="en-US" sz="3200" i="1" dirty="0" smtClean="0"/>
                        <a:t>6</a:t>
                      </a:r>
                      <a:endParaRPr lang="en-US" sz="3200" i="1"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7143100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p:cNvSpPr>
            <a:spLocks noGrp="1"/>
          </p:cNvSpPr>
          <p:nvPr>
            <p:ph idx="1"/>
          </p:nvPr>
        </p:nvSpPr>
        <p:spPr>
          <a:xfrm>
            <a:off x="228600" y="457200"/>
            <a:ext cx="11506200" cy="3733800"/>
          </a:xfrm>
        </p:spPr>
        <p:txBody>
          <a:bodyPr>
            <a:normAutofit/>
          </a:bodyPr>
          <a:lstStyle/>
          <a:p>
            <a:pPr marL="0" indent="0">
              <a:buNone/>
            </a:pPr>
            <a:r>
              <a:rPr lang="en-US" sz="4000" b="1" dirty="0" err="1">
                <a:solidFill>
                  <a:srgbClr val="0070C0"/>
                </a:solidFill>
                <a:latin typeface="Times New Roman" panose="02020603050405020304" pitchFamily="18" charset="0"/>
                <a:cs typeface="Times New Roman" panose="02020603050405020304" pitchFamily="18" charset="0"/>
              </a:rPr>
              <a:t>Ðánh</a:t>
            </a:r>
            <a:r>
              <a:rPr lang="en-US" sz="4000" b="1" dirty="0">
                <a:solidFill>
                  <a:srgbClr val="0070C0"/>
                </a:solidFill>
                <a:latin typeface="Times New Roman" panose="02020603050405020304" pitchFamily="18" charset="0"/>
                <a:cs typeface="Times New Roman" panose="02020603050405020304" pitchFamily="18" charset="0"/>
              </a:rPr>
              <a:t> </a:t>
            </a:r>
            <a:r>
              <a:rPr lang="en-US" sz="4000" b="1" dirty="0" err="1">
                <a:solidFill>
                  <a:srgbClr val="0070C0"/>
                </a:solidFill>
                <a:latin typeface="Times New Roman" panose="02020603050405020304" pitchFamily="18" charset="0"/>
                <a:cs typeface="Times New Roman" panose="02020603050405020304" pitchFamily="18" charset="0"/>
              </a:rPr>
              <a:t>giá</a:t>
            </a:r>
            <a:r>
              <a:rPr lang="en-US" sz="4000" b="1" dirty="0">
                <a:solidFill>
                  <a:srgbClr val="0070C0"/>
                </a:solidFill>
                <a:latin typeface="Times New Roman" panose="02020603050405020304" pitchFamily="18" charset="0"/>
                <a:cs typeface="Times New Roman" panose="02020603050405020304" pitchFamily="18" charset="0"/>
              </a:rPr>
              <a:t> </a:t>
            </a:r>
            <a:r>
              <a:rPr lang="en-US" sz="4000" b="1" err="1">
                <a:solidFill>
                  <a:srgbClr val="0070C0"/>
                </a:solidFill>
                <a:latin typeface="Times New Roman" panose="02020603050405020304" pitchFamily="18" charset="0"/>
                <a:cs typeface="Times New Roman" panose="02020603050405020304" pitchFamily="18" charset="0"/>
              </a:rPr>
              <a:t>giải</a:t>
            </a:r>
            <a:r>
              <a:rPr lang="en-US" sz="4000" b="1">
                <a:solidFill>
                  <a:srgbClr val="0070C0"/>
                </a:solidFill>
                <a:latin typeface="Times New Roman" panose="02020603050405020304" pitchFamily="18" charset="0"/>
                <a:cs typeface="Times New Roman" panose="02020603050405020304" pitchFamily="18" charset="0"/>
              </a:rPr>
              <a:t> </a:t>
            </a:r>
            <a:r>
              <a:rPr lang="en-US" sz="4000" b="1" smtClean="0">
                <a:solidFill>
                  <a:srgbClr val="0070C0"/>
                </a:solidFill>
                <a:latin typeface="Times New Roman" panose="02020603050405020304" pitchFamily="18" charset="0"/>
                <a:cs typeface="Times New Roman" panose="02020603050405020304" pitchFamily="18" charset="0"/>
              </a:rPr>
              <a:t>thuật:</a:t>
            </a:r>
            <a:endParaRPr lang="en-US" sz="4000" b="1" smtClean="0">
              <a:solidFill>
                <a:srgbClr val="FF0000"/>
              </a:solidFill>
              <a:latin typeface="Times New Roman" panose="02020603050405020304" pitchFamily="18" charset="0"/>
              <a:cs typeface="Times New Roman" panose="02020603050405020304" pitchFamily="18" charset="0"/>
            </a:endParaRPr>
          </a:p>
          <a:p>
            <a:pPr algn="just">
              <a:buFont typeface="Wingdings" pitchFamily="2" charset="2"/>
              <a:buNone/>
            </a:pPr>
            <a:r>
              <a:rPr lang="en-US" b="1" smtClean="0">
                <a:solidFill>
                  <a:schemeClr val="bg1"/>
                </a:solidFill>
                <a:latin typeface="Times New Roman" panose="02020603050405020304" pitchFamily="18" charset="0"/>
                <a:cs typeface="Times New Roman" panose="02020603050405020304" pitchFamily="18" charset="0"/>
              </a:rPr>
              <a:t>		</a:t>
            </a:r>
            <a:r>
              <a:rPr lang="en-US" sz="3300" smtClean="0">
                <a:solidFill>
                  <a:schemeClr val="bg1"/>
                </a:solidFill>
                <a:latin typeface="Times New Roman" panose="02020603050405020304" pitchFamily="18" charset="0"/>
                <a:cs typeface="Times New Roman" panose="02020603050405020304" pitchFamily="18" charset="0"/>
              </a:rPr>
              <a:t>Ðối với giải thuật chọn trực tiếp, có thể thấy rằng ở lượt thứ  i, bao giờ cũng cần  (n-i) lần so sánh để xác định phần tử nhỏ nhất hiện hành. Số lượng phép so sánh này không phụ thuộc vào tình trạng của dãy số ban đầu, do vậy trong mọi trường hợp có thể kết luận :</a:t>
            </a:r>
            <a:r>
              <a:rPr lang="en-US" sz="2800" smtClean="0">
                <a:solidFill>
                  <a:schemeClr val="bg1"/>
                </a:solidFill>
                <a:latin typeface="Times New Roman" panose="02020603050405020304" pitchFamily="18" charset="0"/>
                <a:cs typeface="Times New Roman" panose="02020603050405020304" pitchFamily="18" charset="0"/>
              </a:rPr>
              <a:t> </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B3E34C7D-B5CC-47E0-8641-4B9B01D499AA}" type="slidenum">
              <a:rPr lang="en-US" smtClean="0"/>
              <a:pPr>
                <a:defRPr/>
              </a:pPr>
              <a:t>72</a:t>
            </a:fld>
            <a:endParaRPr lang="en-US"/>
          </a:p>
        </p:txBody>
      </p:sp>
      <p:pic>
        <p:nvPicPr>
          <p:cNvPr id="35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733800"/>
            <a:ext cx="9791326"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41325"/>
            <a:ext cx="7543800" cy="930275"/>
          </a:xfrm>
        </p:spPr>
        <p:txBody>
          <a:bodyPr>
            <a:normAutofit/>
          </a:bodyPr>
          <a:lstStyle/>
          <a:p>
            <a:pPr>
              <a:defRPr/>
            </a:pPr>
            <a:r>
              <a:rPr lang="en-US" b="1" smtClean="0">
                <a:solidFill>
                  <a:srgbClr val="0070C0"/>
                </a:solidFill>
                <a:latin typeface="Times New Roman" panose="02020603050405020304" pitchFamily="18" charset="0"/>
                <a:cs typeface="Times New Roman" panose="02020603050405020304" pitchFamily="18" charset="0"/>
              </a:rPr>
              <a:t>3. Nổi </a:t>
            </a:r>
            <a:r>
              <a:rPr lang="en-US" b="1" dirty="0" err="1" smtClean="0">
                <a:solidFill>
                  <a:srgbClr val="0070C0"/>
                </a:solidFill>
                <a:latin typeface="Times New Roman" panose="02020603050405020304" pitchFamily="18" charset="0"/>
                <a:cs typeface="Times New Roman" panose="02020603050405020304" pitchFamily="18" charset="0"/>
              </a:rPr>
              <a:t>bọt</a:t>
            </a:r>
            <a:r>
              <a:rPr lang="en-US" b="1" dirty="0" smtClean="0">
                <a:solidFill>
                  <a:srgbClr val="0070C0"/>
                </a:solidFill>
                <a:latin typeface="Times New Roman" panose="02020603050405020304" pitchFamily="18" charset="0"/>
                <a:cs typeface="Times New Roman" panose="02020603050405020304" pitchFamily="18" charset="0"/>
              </a:rPr>
              <a:t> – </a:t>
            </a:r>
            <a:r>
              <a:rPr lang="en-US" b="1" smtClean="0">
                <a:solidFill>
                  <a:srgbClr val="0070C0"/>
                </a:solidFill>
                <a:latin typeface="Times New Roman" panose="02020603050405020304" pitchFamily="18" charset="0"/>
                <a:cs typeface="Times New Roman" panose="02020603050405020304" pitchFamily="18" charset="0"/>
              </a:rPr>
              <a:t>bubble sort</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9155" name="Content Placeholder 2"/>
          <p:cNvSpPr>
            <a:spLocks noGrp="1"/>
          </p:cNvSpPr>
          <p:nvPr>
            <p:ph idx="1"/>
          </p:nvPr>
        </p:nvSpPr>
        <p:spPr>
          <a:xfrm>
            <a:off x="838200" y="1311275"/>
            <a:ext cx="10668000" cy="4351338"/>
          </a:xfrm>
        </p:spPr>
        <p:txBody>
          <a:bodyPr>
            <a:normAutofit/>
          </a:bodyPr>
          <a:lstStyle/>
          <a:p>
            <a:pPr marL="0" indent="0" algn="just">
              <a:buNone/>
            </a:pPr>
            <a:r>
              <a:rPr lang="en-US" sz="3600" b="1" dirty="0">
                <a:solidFill>
                  <a:srgbClr val="0070C0"/>
                </a:solidFill>
                <a:latin typeface="Times New Roman" panose="02020603050405020304" pitchFamily="18" charset="0"/>
                <a:cs typeface="Times New Roman" panose="02020603050405020304" pitchFamily="18" charset="0"/>
              </a:rPr>
              <a:t>Ý </a:t>
            </a:r>
            <a:r>
              <a:rPr lang="en-US" sz="3600" b="1" dirty="0" err="1">
                <a:solidFill>
                  <a:srgbClr val="0070C0"/>
                </a:solidFill>
                <a:latin typeface="Times New Roman" panose="02020603050405020304" pitchFamily="18" charset="0"/>
                <a:cs typeface="Times New Roman" panose="02020603050405020304" pitchFamily="18" charset="0"/>
              </a:rPr>
              <a:t>tưởng</a:t>
            </a:r>
            <a:r>
              <a:rPr lang="en-US" sz="3600" b="1" dirty="0">
                <a:solidFill>
                  <a:srgbClr val="0070C0"/>
                </a:solidFill>
                <a:latin typeface="Times New Roman" panose="02020603050405020304" pitchFamily="18" charset="0"/>
                <a:cs typeface="Times New Roman" panose="02020603050405020304" pitchFamily="18" charset="0"/>
              </a:rPr>
              <a:t>:	</a:t>
            </a:r>
          </a:p>
          <a:p>
            <a:pPr marL="57150" indent="-11113" algn="just">
              <a:buNone/>
            </a:pPr>
            <a:r>
              <a:rPr lang="en-US" sz="3600" smtClean="0">
                <a:solidFill>
                  <a:schemeClr val="bg1"/>
                </a:solidFill>
                <a:latin typeface="Times New Roman" panose="02020603050405020304" pitchFamily="18" charset="0"/>
                <a:cs typeface="Times New Roman" panose="02020603050405020304" pitchFamily="18" charset="0"/>
              </a:rPr>
              <a:t>		Xuất </a:t>
            </a:r>
            <a:r>
              <a:rPr lang="en-US" sz="3600" dirty="0" err="1">
                <a:solidFill>
                  <a:schemeClr val="bg1"/>
                </a:solidFill>
                <a:latin typeface="Times New Roman" panose="02020603050405020304" pitchFamily="18" charset="0"/>
                <a:cs typeface="Times New Roman" panose="02020603050405020304" pitchFamily="18" charset="0"/>
              </a:rPr>
              <a:t>phát</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từ</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cuối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đổi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chỗ</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các</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cặp</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phần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kế</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cận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để</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đưa</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phần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nhỏ</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hơn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trong</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cặp</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phần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đó</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về</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vị</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trí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đúng</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đầu</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hiện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hành</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sau</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đó</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sẽ</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không</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xét</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đến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nó</a:t>
            </a:r>
            <a:r>
              <a:rPr lang="en-US" sz="3600" dirty="0">
                <a:solidFill>
                  <a:schemeClr val="bg1"/>
                </a:solidFill>
                <a:latin typeface="Times New Roman" panose="02020603050405020304" pitchFamily="18" charset="0"/>
                <a:cs typeface="Times New Roman" panose="02020603050405020304" pitchFamily="18" charset="0"/>
              </a:rPr>
              <a:t> ở </a:t>
            </a:r>
            <a:r>
              <a:rPr lang="en-US" sz="3600" dirty="0" err="1">
                <a:solidFill>
                  <a:schemeClr val="bg1"/>
                </a:solidFill>
                <a:latin typeface="Times New Roman" panose="02020603050405020304" pitchFamily="18" charset="0"/>
                <a:cs typeface="Times New Roman" panose="02020603050405020304" pitchFamily="18" charset="0"/>
              </a:rPr>
              <a:t>bước</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tiếp</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theo</a:t>
            </a:r>
            <a:r>
              <a:rPr lang="en-US" sz="3600" dirty="0">
                <a:solidFill>
                  <a:schemeClr val="bg1"/>
                </a:solidFill>
                <a:latin typeface="Times New Roman" panose="02020603050405020304" pitchFamily="18" charset="0"/>
                <a:cs typeface="Times New Roman" panose="02020603050405020304" pitchFamily="18" charset="0"/>
              </a:rPr>
              <a:t>, do </a:t>
            </a:r>
            <a:r>
              <a:rPr lang="en-US" sz="3600" dirty="0" err="1">
                <a:solidFill>
                  <a:schemeClr val="bg1"/>
                </a:solidFill>
                <a:latin typeface="Times New Roman" panose="02020603050405020304" pitchFamily="18" charset="0"/>
                <a:cs typeface="Times New Roman" panose="02020603050405020304" pitchFamily="18" charset="0"/>
              </a:rPr>
              <a:t>vậy</a:t>
            </a:r>
            <a:r>
              <a:rPr lang="en-US" sz="3600" dirty="0">
                <a:solidFill>
                  <a:schemeClr val="bg1"/>
                </a:solidFill>
                <a:latin typeface="Times New Roman" panose="02020603050405020304" pitchFamily="18" charset="0"/>
                <a:cs typeface="Times New Roman" panose="02020603050405020304" pitchFamily="18" charset="0"/>
              </a:rPr>
              <a:t> ở </a:t>
            </a:r>
            <a:r>
              <a:rPr lang="en-US" sz="3600" dirty="0" err="1">
                <a:solidFill>
                  <a:schemeClr val="bg1"/>
                </a:solidFill>
                <a:latin typeface="Times New Roman" panose="02020603050405020304" pitchFamily="18" charset="0"/>
                <a:cs typeface="Times New Roman" panose="02020603050405020304" pitchFamily="18" charset="0"/>
              </a:rPr>
              <a:t>lần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xử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lý</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thứ</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sẽ</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có</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vị</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trí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đầu</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là</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Lặp</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lại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xử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lý</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trên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cho</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đến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khi</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không</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còn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cặp</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phần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tử</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nào</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để</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xét</a:t>
            </a:r>
            <a:r>
              <a:rPr lang="en-US" sz="3600" dirty="0">
                <a:solidFill>
                  <a:schemeClr val="bg1"/>
                </a:solidFill>
                <a:latin typeface="Times New Roman" panose="02020603050405020304" pitchFamily="18" charset="0"/>
                <a:cs typeface="Times New Roman" panose="02020603050405020304" pitchFamily="18" charset="0"/>
              </a:rPr>
              <a:t>. </a:t>
            </a:r>
          </a:p>
          <a:p>
            <a:pPr algn="just"/>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DA07D74F-03B2-4788-B0FB-4FDFBAED7594}" type="slidenum">
              <a:rPr lang="en-US" smtClean="0"/>
              <a:pPr>
                <a:defRPr/>
              </a:pPr>
              <a:t>73</a:t>
            </a:fld>
            <a:endParaRPr 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p:cNvSpPr>
            <a:spLocks noGrp="1"/>
          </p:cNvSpPr>
          <p:nvPr>
            <p:ph idx="1"/>
          </p:nvPr>
        </p:nvSpPr>
        <p:spPr>
          <a:xfrm>
            <a:off x="2057400" y="457200"/>
            <a:ext cx="7924800" cy="6473825"/>
          </a:xfrm>
        </p:spPr>
        <p:txBody>
          <a:bodyPr>
            <a:normAutofit/>
          </a:bodyPr>
          <a:lstStyle/>
          <a:p>
            <a:pPr>
              <a:lnSpc>
                <a:spcPct val="100000"/>
              </a:lnSpc>
              <a:spcBef>
                <a:spcPts val="0"/>
              </a:spcBef>
              <a:buFont typeface="Wingdings" pitchFamily="2" charset="2"/>
              <a:buNone/>
            </a:pPr>
            <a:r>
              <a:rPr lang="en-US" sz="3600" b="1" err="1">
                <a:solidFill>
                  <a:srgbClr val="0070C0"/>
                </a:solidFill>
                <a:latin typeface="Times New Roman" panose="02020603050405020304" pitchFamily="18" charset="0"/>
                <a:cs typeface="Times New Roman" panose="02020603050405020304" pitchFamily="18" charset="0"/>
              </a:rPr>
              <a:t>Giải</a:t>
            </a:r>
            <a:r>
              <a:rPr lang="en-US" sz="3600" b="1">
                <a:solidFill>
                  <a:srgbClr val="0070C0"/>
                </a:solidFill>
                <a:latin typeface="Times New Roman" panose="02020603050405020304" pitchFamily="18" charset="0"/>
                <a:cs typeface="Times New Roman" panose="02020603050405020304" pitchFamily="18" charset="0"/>
              </a:rPr>
              <a:t> </a:t>
            </a:r>
            <a:r>
              <a:rPr lang="en-US" sz="3600" b="1" smtClean="0">
                <a:solidFill>
                  <a:srgbClr val="0070C0"/>
                </a:solidFill>
                <a:latin typeface="Times New Roman" panose="02020603050405020304" pitchFamily="18" charset="0"/>
                <a:cs typeface="Times New Roman" panose="02020603050405020304" pitchFamily="18" charset="0"/>
              </a:rPr>
              <a:t>thuật:</a:t>
            </a:r>
            <a:endParaRPr lang="en-US" sz="3600" b="1" dirty="0">
              <a:solidFill>
                <a:srgbClr val="0070C0"/>
              </a:solidFill>
              <a:latin typeface="Times New Roman" panose="02020603050405020304" pitchFamily="18" charset="0"/>
              <a:cs typeface="Times New Roman" panose="02020603050405020304" pitchFamily="18" charset="0"/>
            </a:endParaRPr>
          </a:p>
          <a:p>
            <a:pPr>
              <a:lnSpc>
                <a:spcPct val="100000"/>
              </a:lnSpc>
              <a:spcBef>
                <a:spcPts val="0"/>
              </a:spcBef>
              <a:buFont typeface="Wingdings" pitchFamily="2" charset="2"/>
              <a:buNone/>
            </a:pPr>
            <a:r>
              <a:rPr lang="en-US" sz="2800" u="sng" dirty="0" err="1">
                <a:solidFill>
                  <a:schemeClr val="bg1"/>
                </a:solidFill>
                <a:latin typeface="Times New Roman" panose="02020603050405020304" pitchFamily="18" charset="0"/>
                <a:cs typeface="Times New Roman" panose="02020603050405020304" pitchFamily="18" charset="0"/>
              </a:rPr>
              <a:t>Bước</a:t>
            </a:r>
            <a:r>
              <a:rPr lang="en-US" sz="2800" u="sng" dirty="0">
                <a:solidFill>
                  <a:schemeClr val="bg1"/>
                </a:solidFill>
                <a:latin typeface="Times New Roman" panose="02020603050405020304" pitchFamily="18" charset="0"/>
                <a:cs typeface="Times New Roman" panose="02020603050405020304" pitchFamily="18" charset="0"/>
              </a:rPr>
              <a:t> 1: </a:t>
            </a:r>
          </a:p>
          <a:p>
            <a:pPr>
              <a:lnSpc>
                <a:spcPct val="100000"/>
              </a:lnSpc>
              <a:spcBef>
                <a:spcPts val="0"/>
              </a:spcBef>
              <a:buFont typeface="Wingdings" pitchFamily="2" charset="2"/>
              <a:buNone/>
            </a:pP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i</a:t>
            </a:r>
            <a:r>
              <a:rPr lang="en-US" sz="2800" dirty="0">
                <a:solidFill>
                  <a:schemeClr val="bg1"/>
                </a:solidFill>
                <a:latin typeface="Times New Roman" panose="02020603050405020304" pitchFamily="18" charset="0"/>
                <a:cs typeface="Times New Roman" panose="02020603050405020304" pitchFamily="18" charset="0"/>
              </a:rPr>
              <a:t> = 1;	</a:t>
            </a:r>
          </a:p>
          <a:p>
            <a:pPr>
              <a:lnSpc>
                <a:spcPct val="100000"/>
              </a:lnSpc>
              <a:spcBef>
                <a:spcPts val="0"/>
              </a:spcBef>
              <a:buFont typeface="Wingdings" pitchFamily="2" charset="2"/>
              <a:buNone/>
            </a:pPr>
            <a:r>
              <a:rPr lang="en-US" sz="2800" u="sng" dirty="0" err="1">
                <a:solidFill>
                  <a:schemeClr val="bg1"/>
                </a:solidFill>
                <a:latin typeface="Times New Roman" panose="02020603050405020304" pitchFamily="18" charset="0"/>
                <a:cs typeface="Times New Roman" panose="02020603050405020304" pitchFamily="18" charset="0"/>
              </a:rPr>
              <a:t>Bước</a:t>
            </a:r>
            <a:r>
              <a:rPr lang="en-US" sz="2800" u="sng" dirty="0">
                <a:solidFill>
                  <a:schemeClr val="bg1"/>
                </a:solidFill>
                <a:latin typeface="Times New Roman" panose="02020603050405020304" pitchFamily="18" charset="0"/>
                <a:cs typeface="Times New Roman" panose="02020603050405020304" pitchFamily="18" charset="0"/>
              </a:rPr>
              <a:t> 2: </a:t>
            </a:r>
          </a:p>
          <a:p>
            <a:pPr>
              <a:lnSpc>
                <a:spcPct val="100000"/>
              </a:lnSpc>
              <a:spcBef>
                <a:spcPts val="0"/>
              </a:spcBef>
              <a:buFont typeface="Wingdings" pitchFamily="2" charset="2"/>
              <a:buNone/>
            </a:pPr>
            <a:r>
              <a:rPr lang="en-US" sz="2800" dirty="0">
                <a:solidFill>
                  <a:schemeClr val="bg1"/>
                </a:solidFill>
                <a:latin typeface="Times New Roman" panose="02020603050405020304" pitchFamily="18" charset="0"/>
                <a:cs typeface="Times New Roman" panose="02020603050405020304" pitchFamily="18" charset="0"/>
              </a:rPr>
              <a:t>		j = N;	</a:t>
            </a:r>
          </a:p>
          <a:p>
            <a:pPr>
              <a:lnSpc>
                <a:spcPct val="100000"/>
              </a:lnSpc>
              <a:spcBef>
                <a:spcPts val="0"/>
              </a:spcBef>
              <a:buFont typeface="Wingdings" pitchFamily="2" charset="2"/>
              <a:buNone/>
            </a:pP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Trong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khi</a:t>
            </a:r>
            <a:r>
              <a:rPr lang="en-US" sz="2800" dirty="0">
                <a:solidFill>
                  <a:schemeClr val="bg1"/>
                </a:solidFill>
                <a:latin typeface="Times New Roman" panose="02020603050405020304" pitchFamily="18" charset="0"/>
                <a:cs typeface="Times New Roman" panose="02020603050405020304" pitchFamily="18" charset="0"/>
              </a:rPr>
              <a:t> (j &gt; </a:t>
            </a:r>
            <a:r>
              <a:rPr lang="en-US" sz="2800" dirty="0" err="1">
                <a:solidFill>
                  <a:schemeClr val="bg1"/>
                </a:solidFill>
                <a:latin typeface="Times New Roman" panose="02020603050405020304" pitchFamily="18" charset="0"/>
                <a:cs typeface="Times New Roman" panose="02020603050405020304" pitchFamily="18" charset="0"/>
              </a:rPr>
              <a:t>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thực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hiện</a:t>
            </a:r>
            <a:r>
              <a:rPr lang="en-US" sz="2800" dirty="0">
                <a:solidFill>
                  <a:schemeClr val="bg1"/>
                </a:solidFill>
                <a:latin typeface="Times New Roman" panose="02020603050405020304" pitchFamily="18" charset="0"/>
                <a:cs typeface="Times New Roman" panose="02020603050405020304" pitchFamily="18" charset="0"/>
              </a:rPr>
              <a:t>: </a:t>
            </a:r>
          </a:p>
          <a:p>
            <a:pPr>
              <a:lnSpc>
                <a:spcPct val="100000"/>
              </a:lnSpc>
              <a:spcBef>
                <a:spcPts val="0"/>
              </a:spcBef>
              <a:buFont typeface="Wingdings" pitchFamily="2" charset="2"/>
              <a:buNone/>
            </a:pP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Nếu</a:t>
            </a:r>
            <a:r>
              <a:rPr lang="en-US" sz="2800" dirty="0">
                <a:solidFill>
                  <a:schemeClr val="bg1"/>
                </a:solidFill>
                <a:latin typeface="Times New Roman" panose="02020603050405020304" pitchFamily="18" charset="0"/>
                <a:cs typeface="Times New Roman" panose="02020603050405020304" pitchFamily="18" charset="0"/>
              </a:rPr>
              <a:t> a[j]&lt;</a:t>
            </a:r>
            <a:r>
              <a:rPr lang="en-US" sz="2800">
                <a:solidFill>
                  <a:schemeClr val="bg1"/>
                </a:solidFill>
                <a:latin typeface="Times New Roman" panose="02020603050405020304" pitchFamily="18" charset="0"/>
                <a:cs typeface="Times New Roman" panose="02020603050405020304" pitchFamily="18" charset="0"/>
              </a:rPr>
              <a:t>a[j-1</a:t>
            </a:r>
            <a:r>
              <a:rPr lang="en-US" sz="2800" smtClean="0">
                <a:solidFill>
                  <a:schemeClr val="bg1"/>
                </a:solidFill>
                <a:latin typeface="Times New Roman" panose="02020603050405020304" pitchFamily="18" charset="0"/>
                <a:cs typeface="Times New Roman" panose="02020603050405020304" pitchFamily="18" charset="0"/>
              </a:rPr>
              <a:t>] </a:t>
            </a:r>
          </a:p>
          <a:p>
            <a:pPr>
              <a:lnSpc>
                <a:spcPct val="100000"/>
              </a:lnSpc>
              <a:spcBef>
                <a:spcPts val="0"/>
              </a:spcBef>
              <a:buFont typeface="Wingdings" pitchFamily="2" charset="2"/>
              <a:buNone/>
            </a:pPr>
            <a:r>
              <a:rPr lang="en-US">
                <a:solidFill>
                  <a:schemeClr val="bg1"/>
                </a:solidFill>
                <a:latin typeface="Times New Roman" panose="02020603050405020304" pitchFamily="18" charset="0"/>
                <a:cs typeface="Times New Roman" panose="02020603050405020304" pitchFamily="18" charset="0"/>
              </a:rPr>
              <a:t>	</a:t>
            </a:r>
            <a:r>
              <a:rPr lang="en-US" smtClean="0">
                <a:solidFill>
                  <a:schemeClr val="bg1"/>
                </a:solidFill>
                <a:latin typeface="Times New Roman" panose="02020603050405020304" pitchFamily="18" charset="0"/>
                <a:cs typeface="Times New Roman" panose="02020603050405020304" pitchFamily="18" charset="0"/>
              </a:rPr>
              <a:t>			</a:t>
            </a:r>
            <a:r>
              <a:rPr lang="en-US" sz="2800" smtClean="0">
                <a:solidFill>
                  <a:schemeClr val="bg1"/>
                </a:solidFill>
                <a:latin typeface="Times New Roman" panose="02020603050405020304" pitchFamily="18" charset="0"/>
                <a:cs typeface="Times New Roman" panose="02020603050405020304" pitchFamily="18" charset="0"/>
              </a:rPr>
              <a:t>Hoán </a:t>
            </a:r>
            <a:r>
              <a:rPr lang="en-US" sz="2800" dirty="0" err="1">
                <a:solidFill>
                  <a:schemeClr val="bg1"/>
                </a:solidFill>
                <a:latin typeface="Times New Roman" panose="02020603050405020304" pitchFamily="18" charset="0"/>
                <a:cs typeface="Times New Roman" panose="02020603050405020304" pitchFamily="18" charset="0"/>
              </a:rPr>
              <a:t>vị</a:t>
            </a:r>
            <a:r>
              <a:rPr lang="en-US" sz="2800" dirty="0">
                <a:solidFill>
                  <a:schemeClr val="bg1"/>
                </a:solidFill>
                <a:latin typeface="Times New Roman" panose="02020603050405020304" pitchFamily="18" charset="0"/>
                <a:cs typeface="Times New Roman" panose="02020603050405020304" pitchFamily="18" charset="0"/>
              </a:rPr>
              <a:t> a[j] </a:t>
            </a:r>
            <a:r>
              <a:rPr lang="en-US" sz="2800" dirty="0" err="1">
                <a:solidFill>
                  <a:schemeClr val="bg1"/>
                </a:solidFill>
                <a:latin typeface="Times New Roman" panose="02020603050405020304" pitchFamily="18" charset="0"/>
                <a:cs typeface="Times New Roman" panose="02020603050405020304" pitchFamily="18" charset="0"/>
              </a:rPr>
              <a:t>và</a:t>
            </a:r>
            <a:r>
              <a:rPr lang="en-US" sz="2800" dirty="0">
                <a:solidFill>
                  <a:schemeClr val="bg1"/>
                </a:solidFill>
                <a:latin typeface="Times New Roman" panose="02020603050405020304" pitchFamily="18" charset="0"/>
                <a:cs typeface="Times New Roman" panose="02020603050405020304" pitchFamily="18" charset="0"/>
              </a:rPr>
              <a:t> </a:t>
            </a:r>
            <a:r>
              <a:rPr lang="en-US" sz="2800">
                <a:solidFill>
                  <a:schemeClr val="bg1"/>
                </a:solidFill>
                <a:latin typeface="Times New Roman" panose="02020603050405020304" pitchFamily="18" charset="0"/>
                <a:cs typeface="Times New Roman" panose="02020603050405020304" pitchFamily="18" charset="0"/>
              </a:rPr>
              <a:t>a[j-1</a:t>
            </a:r>
            <a:r>
              <a:rPr lang="en-US" sz="2800" smtClean="0">
                <a:solidFill>
                  <a:schemeClr val="bg1"/>
                </a:solidFill>
                <a:latin typeface="Times New Roman" panose="02020603050405020304" pitchFamily="18" charset="0"/>
                <a:cs typeface="Times New Roman" panose="02020603050405020304" pitchFamily="18" charset="0"/>
              </a:rPr>
              <a:t>];</a:t>
            </a:r>
            <a:endParaRPr lang="en-US" sz="2800" dirty="0">
              <a:solidFill>
                <a:schemeClr val="bg1"/>
              </a:solidFill>
              <a:latin typeface="Times New Roman" panose="02020603050405020304" pitchFamily="18" charset="0"/>
              <a:cs typeface="Times New Roman" panose="02020603050405020304" pitchFamily="18" charset="0"/>
            </a:endParaRPr>
          </a:p>
          <a:p>
            <a:pPr>
              <a:lnSpc>
                <a:spcPct val="100000"/>
              </a:lnSpc>
              <a:spcBef>
                <a:spcPts val="0"/>
              </a:spcBef>
              <a:buFont typeface="Wingdings" pitchFamily="2" charset="2"/>
              <a:buNone/>
            </a:pPr>
            <a:r>
              <a:rPr lang="en-US" sz="2800" dirty="0">
                <a:solidFill>
                  <a:schemeClr val="bg1"/>
                </a:solidFill>
                <a:latin typeface="Times New Roman" panose="02020603050405020304" pitchFamily="18" charset="0"/>
                <a:cs typeface="Times New Roman" panose="02020603050405020304" pitchFamily="18" charset="0"/>
              </a:rPr>
              <a:t>		</a:t>
            </a:r>
            <a:r>
              <a:rPr lang="en-US" sz="2800">
                <a:solidFill>
                  <a:schemeClr val="bg1"/>
                </a:solidFill>
                <a:latin typeface="Times New Roman" panose="02020603050405020304" pitchFamily="18" charset="0"/>
                <a:cs typeface="Times New Roman" panose="02020603050405020304" pitchFamily="18" charset="0"/>
              </a:rPr>
              <a:t>	</a:t>
            </a:r>
            <a:r>
              <a:rPr lang="en-US" sz="2800" smtClean="0">
                <a:solidFill>
                  <a:schemeClr val="bg1"/>
                </a:solidFill>
                <a:latin typeface="Times New Roman" panose="02020603050405020304" pitchFamily="18" charset="0"/>
                <a:cs typeface="Times New Roman" panose="02020603050405020304" pitchFamily="18" charset="0"/>
              </a:rPr>
              <a:t>	j </a:t>
            </a:r>
            <a:r>
              <a:rPr lang="en-US" sz="2800" dirty="0">
                <a:solidFill>
                  <a:schemeClr val="bg1"/>
                </a:solidFill>
                <a:latin typeface="Times New Roman" panose="02020603050405020304" pitchFamily="18" charset="0"/>
                <a:cs typeface="Times New Roman" panose="02020603050405020304" pitchFamily="18" charset="0"/>
              </a:rPr>
              <a:t>= j-1;		</a:t>
            </a:r>
          </a:p>
          <a:p>
            <a:pPr>
              <a:lnSpc>
                <a:spcPct val="100000"/>
              </a:lnSpc>
              <a:spcBef>
                <a:spcPts val="0"/>
              </a:spcBef>
              <a:buFont typeface="Wingdings" pitchFamily="2" charset="2"/>
              <a:buNone/>
            </a:pPr>
            <a:r>
              <a:rPr lang="en-US" sz="2800" u="sng" dirty="0" err="1">
                <a:solidFill>
                  <a:schemeClr val="bg1"/>
                </a:solidFill>
                <a:latin typeface="Times New Roman" panose="02020603050405020304" pitchFamily="18" charset="0"/>
                <a:cs typeface="Times New Roman" panose="02020603050405020304" pitchFamily="18" charset="0"/>
              </a:rPr>
              <a:t>Bước</a:t>
            </a:r>
            <a:r>
              <a:rPr lang="en-US" sz="2800" u="sng" dirty="0">
                <a:solidFill>
                  <a:schemeClr val="bg1"/>
                </a:solidFill>
                <a:latin typeface="Times New Roman" panose="02020603050405020304" pitchFamily="18" charset="0"/>
                <a:cs typeface="Times New Roman" panose="02020603050405020304" pitchFamily="18" charset="0"/>
              </a:rPr>
              <a:t> 3: </a:t>
            </a:r>
          </a:p>
          <a:p>
            <a:pPr>
              <a:lnSpc>
                <a:spcPct val="100000"/>
              </a:lnSpc>
              <a:spcBef>
                <a:spcPts val="0"/>
              </a:spcBef>
              <a:buFont typeface="Wingdings" pitchFamily="2" charset="2"/>
              <a:buNone/>
            </a:pP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i</a:t>
            </a:r>
            <a:r>
              <a:rPr lang="en-US" sz="2800" dirty="0">
                <a:solidFill>
                  <a:schemeClr val="bg1"/>
                </a:solidFill>
                <a:latin typeface="Times New Roman" panose="02020603050405020304" pitchFamily="18" charset="0"/>
                <a:cs typeface="Times New Roman" panose="02020603050405020304" pitchFamily="18" charset="0"/>
              </a:rPr>
              <a:t> = i+1;	 </a:t>
            </a:r>
          </a:p>
          <a:p>
            <a:pPr>
              <a:lnSpc>
                <a:spcPct val="100000"/>
              </a:lnSpc>
              <a:spcBef>
                <a:spcPts val="0"/>
              </a:spcBef>
              <a:buFont typeface="Wingdings" pitchFamily="2" charset="2"/>
              <a:buNone/>
            </a:pP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Nếu</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i</a:t>
            </a:r>
            <a:r>
              <a:rPr lang="en-US" sz="2800" dirty="0">
                <a:solidFill>
                  <a:schemeClr val="bg1"/>
                </a:solidFill>
                <a:latin typeface="Times New Roman" panose="02020603050405020304" pitchFamily="18" charset="0"/>
                <a:cs typeface="Times New Roman" panose="02020603050405020304" pitchFamily="18" charset="0"/>
              </a:rPr>
              <a:t> </a:t>
            </a:r>
            <a:r>
              <a:rPr lang="en-US" sz="2800">
                <a:solidFill>
                  <a:schemeClr val="bg1"/>
                </a:solidFill>
                <a:latin typeface="Times New Roman" panose="02020603050405020304" pitchFamily="18" charset="0"/>
                <a:cs typeface="Times New Roman" panose="02020603050405020304" pitchFamily="18" charset="0"/>
              </a:rPr>
              <a:t>&gt;</a:t>
            </a:r>
            <a:r>
              <a:rPr lang="en-US" sz="2800" smtClean="0">
                <a:solidFill>
                  <a:schemeClr val="bg1"/>
                </a:solidFill>
                <a:latin typeface="Times New Roman" panose="02020603050405020304" pitchFamily="18" charset="0"/>
                <a:cs typeface="Times New Roman" panose="02020603050405020304" pitchFamily="18" charset="0"/>
              </a:rPr>
              <a:t>N-1</a:t>
            </a:r>
          </a:p>
          <a:p>
            <a:pPr>
              <a:lnSpc>
                <a:spcPct val="100000"/>
              </a:lnSpc>
              <a:spcBef>
                <a:spcPts val="0"/>
              </a:spcBef>
              <a:buFont typeface="Wingdings" pitchFamily="2" charset="2"/>
              <a:buNone/>
            </a:pPr>
            <a:r>
              <a:rPr lang="en-US">
                <a:solidFill>
                  <a:schemeClr val="bg1"/>
                </a:solidFill>
                <a:latin typeface="Times New Roman" panose="02020603050405020304" pitchFamily="18" charset="0"/>
                <a:cs typeface="Times New Roman" panose="02020603050405020304" pitchFamily="18" charset="0"/>
              </a:rPr>
              <a:t>	</a:t>
            </a:r>
            <a:r>
              <a:rPr lang="en-US" smtClean="0">
                <a:solidFill>
                  <a:schemeClr val="bg1"/>
                </a:solidFill>
                <a:latin typeface="Times New Roman" panose="02020603050405020304" pitchFamily="18" charset="0"/>
                <a:cs typeface="Times New Roman" panose="02020603050405020304" pitchFamily="18" charset="0"/>
              </a:rPr>
              <a:t>		</a:t>
            </a:r>
            <a:r>
              <a:rPr lang="en-US" sz="2800" smtClean="0">
                <a:solidFill>
                  <a:schemeClr val="bg1"/>
                </a:solidFill>
                <a:latin typeface="Times New Roman" panose="02020603050405020304" pitchFamily="18" charset="0"/>
                <a:cs typeface="Times New Roman" panose="02020603050405020304" pitchFamily="18" charset="0"/>
              </a:rPr>
              <a:t>Hết dãy; Dừng;</a:t>
            </a:r>
            <a:r>
              <a:rPr lang="en-US" sz="2800" dirty="0">
                <a:solidFill>
                  <a:schemeClr val="bg1"/>
                </a:solidFill>
                <a:latin typeface="Times New Roman" panose="02020603050405020304" pitchFamily="18" charset="0"/>
                <a:cs typeface="Times New Roman" panose="02020603050405020304" pitchFamily="18" charset="0"/>
              </a:rPr>
              <a:t>	</a:t>
            </a:r>
          </a:p>
          <a:p>
            <a:pPr>
              <a:lnSpc>
                <a:spcPct val="100000"/>
              </a:lnSpc>
              <a:spcBef>
                <a:spcPts val="0"/>
              </a:spcBef>
              <a:buFont typeface="Wingdings" pitchFamily="2" charset="2"/>
              <a:buNone/>
            </a:pP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Ngược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lại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Lặp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lại</a:t>
            </a:r>
            <a:r>
              <a:rPr lang="en-US" sz="2800" dirty="0">
                <a:solidFill>
                  <a:schemeClr val="bg1"/>
                </a:solidFill>
                <a:latin typeface="Times New Roman" panose="02020603050405020304" pitchFamily="18" charset="0"/>
                <a:cs typeface="Times New Roman" panose="02020603050405020304" pitchFamily="18" charset="0"/>
              </a:rPr>
              <a:t> </a:t>
            </a:r>
            <a:r>
              <a:rPr lang="en-US" sz="2800" err="1">
                <a:solidFill>
                  <a:schemeClr val="bg1"/>
                </a:solidFill>
                <a:latin typeface="Times New Roman" panose="02020603050405020304" pitchFamily="18" charset="0"/>
                <a:cs typeface="Times New Roman" panose="02020603050405020304" pitchFamily="18" charset="0"/>
              </a:rPr>
              <a:t>Bước</a:t>
            </a:r>
            <a:r>
              <a:rPr lang="en-US" sz="2800">
                <a:solidFill>
                  <a:schemeClr val="bg1"/>
                </a:solidFill>
                <a:latin typeface="Times New Roman" panose="02020603050405020304" pitchFamily="18" charset="0"/>
                <a:cs typeface="Times New Roman" panose="02020603050405020304" pitchFamily="18" charset="0"/>
              </a:rPr>
              <a:t> </a:t>
            </a:r>
            <a:r>
              <a:rPr lang="en-US" sz="2800" smtClean="0">
                <a:solidFill>
                  <a:schemeClr val="bg1"/>
                </a:solidFill>
                <a:latin typeface="Times New Roman" panose="02020603050405020304" pitchFamily="18" charset="0"/>
                <a:cs typeface="Times New Roman" panose="02020603050405020304" pitchFamily="18" charset="0"/>
              </a:rPr>
              <a:t>2; </a:t>
            </a:r>
            <a:endParaRPr lang="en-US" sz="2800" dirty="0">
              <a:solidFill>
                <a:schemeClr val="bg1"/>
              </a:solidFill>
              <a:latin typeface="Times New Roman" panose="02020603050405020304" pitchFamily="18" charset="0"/>
              <a:cs typeface="Times New Roman" panose="02020603050405020304" pitchFamily="18" charset="0"/>
            </a:endParaRPr>
          </a:p>
          <a:p>
            <a:pPr>
              <a:lnSpc>
                <a:spcPct val="100000"/>
              </a:lnSpc>
              <a:spcBef>
                <a:spcPts val="0"/>
              </a:spcBef>
              <a:buFont typeface="Wingdings" pitchFamily="2" charset="2"/>
              <a:buNone/>
            </a:pP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DD304AF9-762B-4CAD-8E8F-CC592061913D}" type="slidenum">
              <a:rPr lang="en-US" smtClean="0"/>
              <a:pPr>
                <a:defRPr/>
              </a:pPr>
              <a:t>74</a:t>
            </a:fld>
            <a:endParaRPr lang="en-US"/>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able 34"/>
          <p:cNvGraphicFramePr>
            <a:graphicFrameLocks noGrp="1"/>
          </p:cNvGraphicFramePr>
          <p:nvPr/>
        </p:nvGraphicFramePr>
        <p:xfrm>
          <a:off x="5410201" y="1168400"/>
          <a:ext cx="1268413" cy="4775200"/>
        </p:xfrm>
        <a:graphic>
          <a:graphicData uri="http://schemas.openxmlformats.org/drawingml/2006/table">
            <a:tbl>
              <a:tblPr firstRow="1" bandRow="1">
                <a:tableStyleId>{5C22544A-7EE6-4342-B048-85BDC9FD1C3A}</a:tableStyleId>
              </a:tblPr>
              <a:tblGrid>
                <a:gridCol w="761810">
                  <a:extLst>
                    <a:ext uri="{9D8B030D-6E8A-4147-A177-3AD203B41FA5}">
                      <a16:colId xmlns:a16="http://schemas.microsoft.com/office/drawing/2014/main" val="20000"/>
                    </a:ext>
                  </a:extLst>
                </a:gridCol>
                <a:gridCol w="506603">
                  <a:extLst>
                    <a:ext uri="{9D8B030D-6E8A-4147-A177-3AD203B41FA5}">
                      <a16:colId xmlns:a16="http://schemas.microsoft.com/office/drawing/2014/main" val="20001"/>
                    </a:ext>
                  </a:extLst>
                </a:gridCol>
              </a:tblGrid>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1</a:t>
                      </a:r>
                      <a:endParaRPr lang="en-US" b="1">
                        <a:solidFill>
                          <a:srgbClr val="7030A0"/>
                        </a:solidFill>
                      </a:endParaRPr>
                    </a:p>
                  </a:txBody>
                  <a:tcPr marL="91417" marR="91417" anchor="ctr">
                    <a:noFill/>
                  </a:tcPr>
                </a:tc>
                <a:extLst>
                  <a:ext uri="{0D108BD9-81ED-4DB2-BD59-A6C34878D82A}">
                    <a16:rowId xmlns:a16="http://schemas.microsoft.com/office/drawing/2014/main" val="10000"/>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2</a:t>
                      </a:r>
                      <a:endParaRPr lang="en-US" b="1">
                        <a:solidFill>
                          <a:srgbClr val="7030A0"/>
                        </a:solidFill>
                      </a:endParaRPr>
                    </a:p>
                  </a:txBody>
                  <a:tcPr marL="91417" marR="91417" anchor="ctr">
                    <a:noFill/>
                  </a:tcPr>
                </a:tc>
                <a:extLst>
                  <a:ext uri="{0D108BD9-81ED-4DB2-BD59-A6C34878D82A}">
                    <a16:rowId xmlns:a16="http://schemas.microsoft.com/office/drawing/2014/main" val="10001"/>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3</a:t>
                      </a:r>
                      <a:endParaRPr lang="en-US" b="1">
                        <a:solidFill>
                          <a:srgbClr val="7030A0"/>
                        </a:solidFill>
                      </a:endParaRPr>
                    </a:p>
                  </a:txBody>
                  <a:tcPr marL="91417" marR="91417" anchor="ctr">
                    <a:noFill/>
                  </a:tcPr>
                </a:tc>
                <a:extLst>
                  <a:ext uri="{0D108BD9-81ED-4DB2-BD59-A6C34878D82A}">
                    <a16:rowId xmlns:a16="http://schemas.microsoft.com/office/drawing/2014/main" val="10002"/>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4</a:t>
                      </a:r>
                      <a:endParaRPr lang="en-US" b="1">
                        <a:solidFill>
                          <a:srgbClr val="7030A0"/>
                        </a:solidFill>
                      </a:endParaRPr>
                    </a:p>
                  </a:txBody>
                  <a:tcPr marL="91417" marR="91417" anchor="ctr">
                    <a:noFill/>
                  </a:tcPr>
                </a:tc>
                <a:extLst>
                  <a:ext uri="{0D108BD9-81ED-4DB2-BD59-A6C34878D82A}">
                    <a16:rowId xmlns:a16="http://schemas.microsoft.com/office/drawing/2014/main" val="10003"/>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5</a:t>
                      </a:r>
                      <a:endParaRPr lang="en-US" b="1">
                        <a:solidFill>
                          <a:srgbClr val="7030A0"/>
                        </a:solidFill>
                      </a:endParaRPr>
                    </a:p>
                  </a:txBody>
                  <a:tcPr marL="91417" marR="91417" anchor="ctr">
                    <a:noFill/>
                  </a:tcPr>
                </a:tc>
                <a:extLst>
                  <a:ext uri="{0D108BD9-81ED-4DB2-BD59-A6C34878D82A}">
                    <a16:rowId xmlns:a16="http://schemas.microsoft.com/office/drawing/2014/main" val="10004"/>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6</a:t>
                      </a:r>
                      <a:endParaRPr lang="en-US" b="1">
                        <a:solidFill>
                          <a:srgbClr val="7030A0"/>
                        </a:solidFill>
                      </a:endParaRPr>
                    </a:p>
                  </a:txBody>
                  <a:tcPr marL="91417" marR="91417" anchor="ctr">
                    <a:noFill/>
                  </a:tcPr>
                </a:tc>
                <a:extLst>
                  <a:ext uri="{0D108BD9-81ED-4DB2-BD59-A6C34878D82A}">
                    <a16:rowId xmlns:a16="http://schemas.microsoft.com/office/drawing/2014/main" val="10005"/>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7</a:t>
                      </a:r>
                      <a:endParaRPr lang="en-US" b="1">
                        <a:solidFill>
                          <a:srgbClr val="7030A0"/>
                        </a:solidFill>
                      </a:endParaRPr>
                    </a:p>
                  </a:txBody>
                  <a:tcPr marL="91417" marR="91417" anchor="ctr">
                    <a:noFill/>
                  </a:tcPr>
                </a:tc>
                <a:extLst>
                  <a:ext uri="{0D108BD9-81ED-4DB2-BD59-A6C34878D82A}">
                    <a16:rowId xmlns:a16="http://schemas.microsoft.com/office/drawing/2014/main" val="10006"/>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8</a:t>
                      </a:r>
                      <a:endParaRPr lang="en-US" b="1">
                        <a:solidFill>
                          <a:srgbClr val="7030A0"/>
                        </a:solidFill>
                      </a:endParaRPr>
                    </a:p>
                  </a:txBody>
                  <a:tcPr marL="91417" marR="91417" anchor="ctr">
                    <a:noFill/>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18E6F525-0716-49C2-9F72-0BD34B807FD7}" type="slidenum">
              <a:rPr lang="en-US" smtClean="0"/>
              <a:pPr>
                <a:defRPr/>
              </a:pPr>
              <a:t>75</a:t>
            </a:fld>
            <a:endParaRPr lang="en-US"/>
          </a:p>
        </p:txBody>
      </p:sp>
      <p:sp>
        <p:nvSpPr>
          <p:cNvPr id="8" name="Oval 7"/>
          <p:cNvSpPr/>
          <p:nvPr/>
        </p:nvSpPr>
        <p:spPr>
          <a:xfrm>
            <a:off x="5486400" y="24384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9" name="Oval 8"/>
          <p:cNvSpPr/>
          <p:nvPr/>
        </p:nvSpPr>
        <p:spPr>
          <a:xfrm>
            <a:off x="5486400" y="30480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10" name="Oval 9"/>
          <p:cNvSpPr/>
          <p:nvPr/>
        </p:nvSpPr>
        <p:spPr>
          <a:xfrm>
            <a:off x="5486400" y="36576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1" name="Oval 10"/>
          <p:cNvSpPr/>
          <p:nvPr/>
        </p:nvSpPr>
        <p:spPr>
          <a:xfrm>
            <a:off x="5486400" y="41910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12" name="Oval 11"/>
          <p:cNvSpPr/>
          <p:nvPr/>
        </p:nvSpPr>
        <p:spPr>
          <a:xfrm>
            <a:off x="5486400" y="48006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5486400" y="5410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6" name="Oval 5"/>
          <p:cNvSpPr/>
          <p:nvPr/>
        </p:nvSpPr>
        <p:spPr>
          <a:xfrm>
            <a:off x="5486400" y="1219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7" name="Oval 6"/>
          <p:cNvSpPr/>
          <p:nvPr/>
        </p:nvSpPr>
        <p:spPr>
          <a:xfrm>
            <a:off x="5486400" y="1828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grpSp>
        <p:nvGrpSpPr>
          <p:cNvPr id="50216" name="Group 45"/>
          <p:cNvGrpSpPr>
            <a:grpSpLocks/>
          </p:cNvGrpSpPr>
          <p:nvPr/>
        </p:nvGrpSpPr>
        <p:grpSpPr bwMode="auto">
          <a:xfrm>
            <a:off x="3581400" y="1371600"/>
            <a:ext cx="4343400" cy="382588"/>
            <a:chOff x="1143000" y="1371600"/>
            <a:chExt cx="4343400" cy="382588"/>
          </a:xfrm>
        </p:grpSpPr>
        <p:cxnSp>
          <p:nvCxnSpPr>
            <p:cNvPr id="41" name="Straight Connector 40"/>
            <p:cNvCxnSpPr/>
            <p:nvPr/>
          </p:nvCxnSpPr>
          <p:spPr>
            <a:xfrm>
              <a:off x="1143000" y="1752600"/>
              <a:ext cx="4343400" cy="1588"/>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1143000" y="1371600"/>
              <a:ext cx="838200" cy="304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grpSp>
      <p:grpSp>
        <p:nvGrpSpPr>
          <p:cNvPr id="3" name="Group 46"/>
          <p:cNvGrpSpPr>
            <a:grpSpLocks/>
          </p:cNvGrpSpPr>
          <p:nvPr/>
        </p:nvGrpSpPr>
        <p:grpSpPr bwMode="auto">
          <a:xfrm>
            <a:off x="3581400" y="5561014"/>
            <a:ext cx="4343400" cy="382587"/>
            <a:chOff x="1143000" y="1371600"/>
            <a:chExt cx="4343400" cy="382588"/>
          </a:xfrm>
        </p:grpSpPr>
        <p:cxnSp>
          <p:nvCxnSpPr>
            <p:cNvPr id="48" name="Straight Connector 47"/>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9" name="Rounded Rectangle 48"/>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grpSp>
      <p:sp>
        <p:nvSpPr>
          <p:cNvPr id="18" name="Title 1"/>
          <p:cNvSpPr>
            <a:spLocks noGrp="1"/>
          </p:cNvSpPr>
          <p:nvPr>
            <p:ph type="title"/>
          </p:nvPr>
        </p:nvSpPr>
        <p:spPr>
          <a:xfrm>
            <a:off x="533400" y="381000"/>
            <a:ext cx="10515600" cy="930275"/>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3. Nổi </a:t>
            </a:r>
            <a:r>
              <a:rPr lang="en-US" b="1" dirty="0" err="1" smtClean="0">
                <a:solidFill>
                  <a:srgbClr val="0070C0"/>
                </a:solidFill>
                <a:latin typeface="Times New Roman" panose="02020603050405020304" pitchFamily="18" charset="0"/>
                <a:cs typeface="Times New Roman" panose="02020603050405020304" pitchFamily="18" charset="0"/>
              </a:rPr>
              <a:t>bọt</a:t>
            </a:r>
            <a:r>
              <a:rPr lang="en-US" b="1" dirty="0" smtClean="0">
                <a:solidFill>
                  <a:srgbClr val="0070C0"/>
                </a:solidFill>
                <a:latin typeface="Times New Roman" panose="02020603050405020304" pitchFamily="18" charset="0"/>
                <a:cs typeface="Times New Roman" panose="02020603050405020304" pitchFamily="18" charset="0"/>
              </a:rPr>
              <a:t> – bubble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path" presetSubtype="0" accel="50000" decel="50000" fill="hold" grpId="0" nodeType="clickEffect">
                                  <p:stCondLst>
                                    <p:cond delay="0"/>
                                  </p:stCondLst>
                                  <p:childTnLst>
                                    <p:animMotion origin="layout" path="M 3.33333E-6 -2.22222E-6 L 0.15399 -0.00162 L 0.15399 -0.08657 L -0.00122 -0.08657 " pathEditMode="relative" rAng="0" ptsTypes="FFFF">
                                      <p:cBhvr>
                                        <p:cTn id="6" dur="1000" fill="hold"/>
                                        <p:tgtEl>
                                          <p:spTgt spid="13"/>
                                        </p:tgtEl>
                                        <p:attrNameLst>
                                          <p:attrName>ppt_x</p:attrName>
                                          <p:attrName>ppt_y</p:attrName>
                                        </p:attrNameLst>
                                      </p:cBhvr>
                                      <p:rCtr x="7639" y="-4329"/>
                                    </p:animMotion>
                                  </p:childTnLst>
                                </p:cTn>
                              </p:par>
                              <p:par>
                                <p:cTn id="7" presetID="7" presetClass="path" presetSubtype="0" accel="50000" decel="50000" fill="hold" grpId="0" nodeType="withEffect">
                                  <p:stCondLst>
                                    <p:cond delay="0"/>
                                  </p:stCondLst>
                                  <p:childTnLst>
                                    <p:animMotion origin="layout" path="M 3.33333E-6 -3.33333E-6 L -0.15122 0.00232 L -0.15122 0.08727 L 0.00052 0.08727 " pathEditMode="relative" rAng="0" ptsTypes="FFFF">
                                      <p:cBhvr>
                                        <p:cTn id="8" dur="1000" fill="hold"/>
                                        <p:tgtEl>
                                          <p:spTgt spid="12"/>
                                        </p:tgtEl>
                                        <p:attrNameLst>
                                          <p:attrName>ppt_x</p:attrName>
                                          <p:attrName>ppt_y</p:attrName>
                                        </p:attrNameLst>
                                      </p:cBhvr>
                                      <p:rCtr x="-7535" y="4352"/>
                                    </p:animMotion>
                                  </p:childTnLst>
                                </p:cTn>
                              </p:par>
                            </p:childTnLst>
                          </p:cTn>
                        </p:par>
                        <p:par>
                          <p:cTn id="9" fill="hold" nodeType="afterGroup">
                            <p:stCondLst>
                              <p:cond delay="1000"/>
                            </p:stCondLst>
                            <p:childTnLst>
                              <p:par>
                                <p:cTn id="10" presetID="64" presetClass="path" presetSubtype="0" accel="50000" decel="50000" fill="hold" nodeType="afterEffect">
                                  <p:stCondLst>
                                    <p:cond delay="0"/>
                                  </p:stCondLst>
                                  <p:childTnLst>
                                    <p:animMotion origin="layout" path="M 0.00469 -0.00533 L 0.0059 -0.0838 " pathEditMode="relative" rAng="0" ptsTypes="AA">
                                      <p:cBhvr>
                                        <p:cTn id="11" dur="2000" fill="hold"/>
                                        <p:tgtEl>
                                          <p:spTgt spid="3"/>
                                        </p:tgtEl>
                                        <p:attrNameLst>
                                          <p:attrName>ppt_x</p:attrName>
                                          <p:attrName>ppt_y</p:attrName>
                                        </p:attrNameLst>
                                      </p:cBhvr>
                                      <p:rCtr x="52" y="-3935"/>
                                    </p:animMotion>
                                  </p:childTnLst>
                                </p:cTn>
                              </p:par>
                            </p:childTnLst>
                          </p:cTn>
                        </p:par>
                        <p:par>
                          <p:cTn id="12" fill="hold" nodeType="afterGroup">
                            <p:stCondLst>
                              <p:cond delay="3000"/>
                            </p:stCondLst>
                            <p:childTnLst>
                              <p:par>
                                <p:cTn id="13" presetID="7" presetClass="path" presetSubtype="0" accel="50000" decel="50000" fill="hold" grpId="1" nodeType="afterEffect">
                                  <p:stCondLst>
                                    <p:cond delay="0"/>
                                  </p:stCondLst>
                                  <p:childTnLst>
                                    <p:animMotion origin="layout" path="M 0.00052 -0.08657 L 0.15225 -0.08657 L 0.15052 -0.17847 L -0.00122 -0.17616 " pathEditMode="relative" rAng="0" ptsTypes="FFFF">
                                      <p:cBhvr>
                                        <p:cTn id="14" dur="1000" fill="hold"/>
                                        <p:tgtEl>
                                          <p:spTgt spid="13"/>
                                        </p:tgtEl>
                                        <p:attrNameLst>
                                          <p:attrName>ppt_x</p:attrName>
                                          <p:attrName>ppt_y</p:attrName>
                                        </p:attrNameLst>
                                      </p:cBhvr>
                                      <p:rCtr x="7500" y="-4606"/>
                                    </p:animMotion>
                                  </p:childTnLst>
                                </p:cTn>
                              </p:par>
                              <p:par>
                                <p:cTn id="15" presetID="7" presetClass="path" presetSubtype="0" accel="50000" decel="50000" fill="hold" grpId="0" nodeType="withEffect">
                                  <p:stCondLst>
                                    <p:cond delay="0"/>
                                  </p:stCondLst>
                                  <p:childTnLst>
                                    <p:animMotion origin="layout" path="M 3.33333E-6 -4.44444E-6 L -0.15122 -0.00069 L -0.15122 0.09352 L 0.00052 0.09121 " pathEditMode="relative" rAng="0" ptsTypes="FFFF">
                                      <p:cBhvr>
                                        <p:cTn id="16" dur="1000" fill="hold"/>
                                        <p:tgtEl>
                                          <p:spTgt spid="11"/>
                                        </p:tgtEl>
                                        <p:attrNameLst>
                                          <p:attrName>ppt_x</p:attrName>
                                          <p:attrName>ppt_y</p:attrName>
                                        </p:attrNameLst>
                                      </p:cBhvr>
                                      <p:rCtr x="-7535" y="4630"/>
                                    </p:animMotion>
                                  </p:childTnLst>
                                </p:cTn>
                              </p:par>
                            </p:childTnLst>
                          </p:cTn>
                        </p:par>
                        <p:par>
                          <p:cTn id="17" fill="hold" nodeType="afterGroup">
                            <p:stCondLst>
                              <p:cond delay="4000"/>
                            </p:stCondLst>
                            <p:childTnLst>
                              <p:par>
                                <p:cTn id="18" presetID="64" presetClass="path" presetSubtype="0" accel="50000" decel="50000" fill="hold" nodeType="afterEffect">
                                  <p:stCondLst>
                                    <p:cond delay="0"/>
                                  </p:stCondLst>
                                  <p:childTnLst>
                                    <p:animMotion origin="layout" path="M 0.00417 -0.08635 L 0 -0.17199 " pathEditMode="relative" rAng="0" ptsTypes="AA">
                                      <p:cBhvr>
                                        <p:cTn id="19" dur="2000" fill="hold"/>
                                        <p:tgtEl>
                                          <p:spTgt spid="3"/>
                                        </p:tgtEl>
                                        <p:attrNameLst>
                                          <p:attrName>ppt_x</p:attrName>
                                          <p:attrName>ppt_y</p:attrName>
                                        </p:attrNameLst>
                                      </p:cBhvr>
                                      <p:rCtr x="-208" y="-4282"/>
                                    </p:animMotion>
                                  </p:childTnLst>
                                </p:cTn>
                              </p:par>
                            </p:childTnLst>
                          </p:cTn>
                        </p:par>
                        <p:par>
                          <p:cTn id="20" fill="hold" nodeType="afterGroup">
                            <p:stCondLst>
                              <p:cond delay="6000"/>
                            </p:stCondLst>
                            <p:childTnLst>
                              <p:par>
                                <p:cTn id="21" presetID="7" presetClass="path" presetSubtype="0" accel="50000" decel="50000" fill="hold" grpId="2" nodeType="afterEffect">
                                  <p:stCondLst>
                                    <p:cond delay="0"/>
                                  </p:stCondLst>
                                  <p:childTnLst>
                                    <p:animMotion origin="layout" path="M -0.00122 -0.17616 L 0.15052 -0.17384 L 0.15225 -0.2544 L -0.00122 -0.25671 " pathEditMode="relative" rAng="0" ptsTypes="FFFF">
                                      <p:cBhvr>
                                        <p:cTn id="22" dur="1000" fill="hold"/>
                                        <p:tgtEl>
                                          <p:spTgt spid="13"/>
                                        </p:tgtEl>
                                        <p:attrNameLst>
                                          <p:attrName>ppt_x</p:attrName>
                                          <p:attrName>ppt_y</p:attrName>
                                        </p:attrNameLst>
                                      </p:cBhvr>
                                      <p:rCtr x="7674" y="-3912"/>
                                    </p:animMotion>
                                  </p:childTnLst>
                                </p:cTn>
                              </p:par>
                              <p:par>
                                <p:cTn id="23" presetID="7" presetClass="path" presetSubtype="0" accel="50000" decel="50000" fill="hold" grpId="0" nodeType="withEffect">
                                  <p:stCondLst>
                                    <p:cond delay="0"/>
                                  </p:stCondLst>
                                  <p:childTnLst>
                                    <p:animMotion origin="layout" path="M 3.33333E-6 3.33333E-6 L -0.15452 -0.00116 L -0.15295 0.07708 L -0.00122 0.07708 " pathEditMode="relative" rAng="0" ptsTypes="FFFF">
                                      <p:cBhvr>
                                        <p:cTn id="24" dur="1000" fill="hold"/>
                                        <p:tgtEl>
                                          <p:spTgt spid="10"/>
                                        </p:tgtEl>
                                        <p:attrNameLst>
                                          <p:attrName>ppt_x</p:attrName>
                                          <p:attrName>ppt_y</p:attrName>
                                        </p:attrNameLst>
                                      </p:cBhvr>
                                      <p:rCtr x="-7726" y="3796"/>
                                    </p:animMotion>
                                  </p:childTnLst>
                                </p:cTn>
                              </p:par>
                            </p:childTnLst>
                          </p:cTn>
                        </p:par>
                        <p:par>
                          <p:cTn id="25" fill="hold" nodeType="afterGroup">
                            <p:stCondLst>
                              <p:cond delay="7000"/>
                            </p:stCondLst>
                            <p:childTnLst>
                              <p:par>
                                <p:cTn id="26" presetID="64" presetClass="path" presetSubtype="0" accel="50000" decel="50000" fill="hold" nodeType="afterEffect">
                                  <p:stCondLst>
                                    <p:cond delay="0"/>
                                  </p:stCondLst>
                                  <p:childTnLst>
                                    <p:animMotion origin="layout" path="M 0.00295 -0.17199 L -0.00104 -0.25486 " pathEditMode="relative" rAng="0" ptsTypes="AA">
                                      <p:cBhvr>
                                        <p:cTn id="27" dur="2000" fill="hold"/>
                                        <p:tgtEl>
                                          <p:spTgt spid="3"/>
                                        </p:tgtEl>
                                        <p:attrNameLst>
                                          <p:attrName>ppt_x</p:attrName>
                                          <p:attrName>ppt_y</p:attrName>
                                        </p:attrNameLst>
                                      </p:cBhvr>
                                      <p:rCtr x="-208" y="-4144"/>
                                    </p:animMotion>
                                  </p:childTnLst>
                                </p:cTn>
                              </p:par>
                            </p:childTnLst>
                          </p:cTn>
                        </p:par>
                        <p:par>
                          <p:cTn id="28" fill="hold" nodeType="afterGroup">
                            <p:stCondLst>
                              <p:cond delay="9000"/>
                            </p:stCondLst>
                            <p:childTnLst>
                              <p:par>
                                <p:cTn id="29" presetID="7" presetClass="path" presetSubtype="0" accel="50000" decel="50000" fill="hold" grpId="3" nodeType="afterEffect">
                                  <p:stCondLst>
                                    <p:cond delay="0"/>
                                  </p:stCondLst>
                                  <p:childTnLst>
                                    <p:animMotion origin="layout" path="M -0.00122 -0.25671 L 0.15399 -0.25903 L 0.15225 -0.34629 L -0.00122 -0.34398 " pathEditMode="relative" rAng="0" ptsTypes="FFFF">
                                      <p:cBhvr>
                                        <p:cTn id="30" dur="1000" fill="hold"/>
                                        <p:tgtEl>
                                          <p:spTgt spid="13"/>
                                        </p:tgtEl>
                                        <p:attrNameLst>
                                          <p:attrName>ppt_x</p:attrName>
                                          <p:attrName>ppt_y</p:attrName>
                                        </p:attrNameLst>
                                      </p:cBhvr>
                                      <p:rCtr x="7760" y="-4491"/>
                                    </p:animMotion>
                                  </p:childTnLst>
                                </p:cTn>
                              </p:par>
                              <p:par>
                                <p:cTn id="31" presetID="7" presetClass="path" presetSubtype="0" accel="50000" decel="50000" fill="hold" grpId="0" nodeType="withEffect">
                                  <p:stCondLst>
                                    <p:cond delay="0"/>
                                  </p:stCondLst>
                                  <p:childTnLst>
                                    <p:animMotion origin="layout" path="M 3.33333E-6 2.22222E-6 L -0.15452 -0.00185 L -0.15452 0.0831 L -0.00122 0.09004 " pathEditMode="relative" rAng="0" ptsTypes="FFFF">
                                      <p:cBhvr>
                                        <p:cTn id="32" dur="1000" fill="hold"/>
                                        <p:tgtEl>
                                          <p:spTgt spid="9"/>
                                        </p:tgtEl>
                                        <p:attrNameLst>
                                          <p:attrName>ppt_x</p:attrName>
                                          <p:attrName>ppt_y</p:attrName>
                                        </p:attrNameLst>
                                      </p:cBhvr>
                                      <p:rCtr x="-7726" y="4398"/>
                                    </p:animMotion>
                                  </p:childTnLst>
                                </p:cTn>
                              </p:par>
                            </p:childTnLst>
                          </p:cTn>
                        </p:par>
                        <p:par>
                          <p:cTn id="33" fill="hold" nodeType="afterGroup">
                            <p:stCondLst>
                              <p:cond delay="10000"/>
                            </p:stCondLst>
                            <p:childTnLst>
                              <p:par>
                                <p:cTn id="34" presetID="64" presetClass="path" presetSubtype="0" accel="50000" decel="50000" fill="hold" nodeType="afterEffect">
                                  <p:stCondLst>
                                    <p:cond delay="0"/>
                                  </p:stCondLst>
                                  <p:childTnLst>
                                    <p:animMotion origin="layout" path="M 0 -0.25556 L 0.00417 -0.33866 " pathEditMode="relative" rAng="0" ptsTypes="AA">
                                      <p:cBhvr>
                                        <p:cTn id="35" dur="2000" fill="hold"/>
                                        <p:tgtEl>
                                          <p:spTgt spid="3"/>
                                        </p:tgtEl>
                                        <p:attrNameLst>
                                          <p:attrName>ppt_x</p:attrName>
                                          <p:attrName>ppt_y</p:attrName>
                                        </p:attrNameLst>
                                      </p:cBhvr>
                                      <p:rCtr x="208" y="-4167"/>
                                    </p:animMotion>
                                  </p:childTnLst>
                                </p:cTn>
                              </p:par>
                            </p:childTnLst>
                          </p:cTn>
                        </p:par>
                        <p:par>
                          <p:cTn id="36" fill="hold" nodeType="afterGroup">
                            <p:stCondLst>
                              <p:cond delay="12000"/>
                            </p:stCondLst>
                            <p:childTnLst>
                              <p:par>
                                <p:cTn id="37" presetID="7" presetClass="path" presetSubtype="0" accel="50000" decel="50000" fill="hold" grpId="4" nodeType="afterEffect">
                                  <p:stCondLst>
                                    <p:cond delay="0"/>
                                  </p:stCondLst>
                                  <p:childTnLst>
                                    <p:animMotion origin="layout" path="M -0.00122 -0.34398 L 0.15225 -0.34861 L 0.15225 -0.43148 L -0.00122 -0.43379 " pathEditMode="relative" rAng="0" ptsTypes="FFFF">
                                      <p:cBhvr>
                                        <p:cTn id="38" dur="1000" fill="hold"/>
                                        <p:tgtEl>
                                          <p:spTgt spid="13"/>
                                        </p:tgtEl>
                                        <p:attrNameLst>
                                          <p:attrName>ppt_x</p:attrName>
                                          <p:attrName>ppt_y</p:attrName>
                                        </p:attrNameLst>
                                      </p:cBhvr>
                                      <p:rCtr x="7674" y="-4491"/>
                                    </p:animMotion>
                                  </p:childTnLst>
                                </p:cTn>
                              </p:par>
                              <p:par>
                                <p:cTn id="39" presetID="7" presetClass="path" presetSubtype="0" accel="50000" decel="50000" fill="hold" grpId="0" nodeType="withEffect">
                                  <p:stCondLst>
                                    <p:cond delay="0"/>
                                  </p:stCondLst>
                                  <p:childTnLst>
                                    <p:animMotion origin="layout" path="M 3.33333E-6 1.11111E-6 L -0.15295 -0.00278 L -0.15452 0.08472 L -0.00122 0.08704 " pathEditMode="relative" rAng="0" ptsTypes="FFFF">
                                      <p:cBhvr>
                                        <p:cTn id="40" dur="1000" fill="hold"/>
                                        <p:tgtEl>
                                          <p:spTgt spid="8"/>
                                        </p:tgtEl>
                                        <p:attrNameLst>
                                          <p:attrName>ppt_x</p:attrName>
                                          <p:attrName>ppt_y</p:attrName>
                                        </p:attrNameLst>
                                      </p:cBhvr>
                                      <p:rCtr x="-7726" y="4213"/>
                                    </p:animMotion>
                                  </p:childTnLst>
                                </p:cTn>
                              </p:par>
                            </p:childTnLst>
                          </p:cTn>
                        </p:par>
                        <p:par>
                          <p:cTn id="41" fill="hold" nodeType="afterGroup">
                            <p:stCondLst>
                              <p:cond delay="13000"/>
                            </p:stCondLst>
                            <p:childTnLst>
                              <p:par>
                                <p:cTn id="42" presetID="64" presetClass="path" presetSubtype="0" accel="50000" decel="50000" fill="hold" nodeType="afterEffect">
                                  <p:stCondLst>
                                    <p:cond delay="0"/>
                                  </p:stCondLst>
                                  <p:childTnLst>
                                    <p:animMotion origin="layout" path="M 0.00295 -0.33866 L 0.00417 -0.43866 " pathEditMode="relative" rAng="0" ptsTypes="AA">
                                      <p:cBhvr>
                                        <p:cTn id="43" dur="2000" fill="hold"/>
                                        <p:tgtEl>
                                          <p:spTgt spid="3"/>
                                        </p:tgtEl>
                                        <p:attrNameLst>
                                          <p:attrName>ppt_x</p:attrName>
                                          <p:attrName>ppt_y</p:attrName>
                                        </p:attrNameLst>
                                      </p:cBhvr>
                                      <p:rCtr x="52" y="-5000"/>
                                    </p:animMotion>
                                  </p:childTnLst>
                                </p:cTn>
                              </p:par>
                            </p:childTnLst>
                          </p:cTn>
                        </p:par>
                        <p:par>
                          <p:cTn id="44" fill="hold" nodeType="afterGroup">
                            <p:stCondLst>
                              <p:cond delay="15000"/>
                            </p:stCondLst>
                            <p:childTnLst>
                              <p:par>
                                <p:cTn id="45" presetID="7" presetClass="path" presetSubtype="0" accel="50000" decel="50000" fill="hold" grpId="5" nodeType="afterEffect">
                                  <p:stCondLst>
                                    <p:cond delay="0"/>
                                  </p:stCondLst>
                                  <p:childTnLst>
                                    <p:animMotion origin="layout" path="M -0.00122 -0.43379 L 0.15225 -0.43611 L 0.15052 -0.52106 L -0.00122 -0.52106 " pathEditMode="relative" rAng="0" ptsTypes="FFFF">
                                      <p:cBhvr>
                                        <p:cTn id="46" dur="1000" fill="hold"/>
                                        <p:tgtEl>
                                          <p:spTgt spid="13"/>
                                        </p:tgtEl>
                                        <p:attrNameLst>
                                          <p:attrName>ppt_x</p:attrName>
                                          <p:attrName>ppt_y</p:attrName>
                                        </p:attrNameLst>
                                      </p:cBhvr>
                                      <p:rCtr x="7674" y="-4375"/>
                                    </p:animMotion>
                                  </p:childTnLst>
                                </p:cTn>
                              </p:par>
                              <p:par>
                                <p:cTn id="47" presetID="7" presetClass="path" presetSubtype="0" accel="50000" decel="50000" fill="hold" grpId="0" nodeType="withEffect">
                                  <p:stCondLst>
                                    <p:cond delay="0"/>
                                  </p:stCondLst>
                                  <p:childTnLst>
                                    <p:animMotion origin="layout" path="M 3.33333E-6 5.55112E-17 L -0.15295 0.00116 L -0.15295 0.08611 L -0.00122 0.08843 " pathEditMode="relative" rAng="0" ptsTypes="FFFF">
                                      <p:cBhvr>
                                        <p:cTn id="48" dur="1000" fill="hold"/>
                                        <p:tgtEl>
                                          <p:spTgt spid="7"/>
                                        </p:tgtEl>
                                        <p:attrNameLst>
                                          <p:attrName>ppt_x</p:attrName>
                                          <p:attrName>ppt_y</p:attrName>
                                        </p:attrNameLst>
                                      </p:cBhvr>
                                      <p:rCtr x="-7656" y="4421"/>
                                    </p:animMotion>
                                  </p:childTnLst>
                                </p:cTn>
                              </p:par>
                            </p:childTnLst>
                          </p:cTn>
                        </p:par>
                        <p:par>
                          <p:cTn id="49" fill="hold" nodeType="afterGroup">
                            <p:stCondLst>
                              <p:cond delay="16000"/>
                            </p:stCondLst>
                            <p:childTnLst>
                              <p:par>
                                <p:cTn id="50" presetID="64" presetClass="path" presetSubtype="0" accel="50000" decel="50000" fill="hold" nodeType="afterEffect">
                                  <p:stCondLst>
                                    <p:cond delay="0"/>
                                  </p:stCondLst>
                                  <p:childTnLst>
                                    <p:animMotion origin="layout" path="M 0.00295 -0.43866 L -0.00122 -0.52755 " pathEditMode="relative" rAng="0" ptsTypes="AA">
                                      <p:cBhvr>
                                        <p:cTn id="51" dur="2000" fill="hold"/>
                                        <p:tgtEl>
                                          <p:spTgt spid="3"/>
                                        </p:tgtEl>
                                        <p:attrNameLst>
                                          <p:attrName>ppt_x</p:attrName>
                                          <p:attrName>ppt_y</p:attrName>
                                        </p:attrNameLst>
                                      </p:cBhvr>
                                      <p:rCtr x="-208" y="-4444"/>
                                    </p:animMotion>
                                  </p:childTnLst>
                                </p:cTn>
                              </p:par>
                            </p:childTnLst>
                          </p:cTn>
                        </p:par>
                        <p:par>
                          <p:cTn id="52" fill="hold" nodeType="afterGroup">
                            <p:stCondLst>
                              <p:cond delay="18000"/>
                            </p:stCondLst>
                            <p:childTnLst>
                              <p:par>
                                <p:cTn id="53" presetID="7" presetClass="path" presetSubtype="0" accel="50000" decel="50000" fill="hold" grpId="6" nodeType="afterEffect">
                                  <p:stCondLst>
                                    <p:cond delay="0"/>
                                  </p:stCondLst>
                                  <p:childTnLst>
                                    <p:animMotion origin="layout" path="M -0.00122 -0.52106 L 0.15052 -0.52338 L 0.15225 -0.61065 L -0.00122 -0.61065 " pathEditMode="relative" rAng="0" ptsTypes="FFFF">
                                      <p:cBhvr>
                                        <p:cTn id="54" dur="1000" fill="hold"/>
                                        <p:tgtEl>
                                          <p:spTgt spid="13"/>
                                        </p:tgtEl>
                                        <p:attrNameLst>
                                          <p:attrName>ppt_x</p:attrName>
                                          <p:attrName>ppt_y</p:attrName>
                                        </p:attrNameLst>
                                      </p:cBhvr>
                                      <p:rCtr x="7674" y="-4491"/>
                                    </p:animMotion>
                                  </p:childTnLst>
                                </p:cTn>
                              </p:par>
                              <p:par>
                                <p:cTn id="55" presetID="7" presetClass="path" presetSubtype="0" accel="50000" decel="50000" fill="hold" grpId="0" nodeType="withEffect">
                                  <p:stCondLst>
                                    <p:cond delay="0"/>
                                  </p:stCondLst>
                                  <p:childTnLst>
                                    <p:animMotion origin="layout" path="M 3.33333E-6 -1.11111E-6 L -0.15625 0.00046 L -0.15452 0.08773 L -0.00122 0.09005 " pathEditMode="relative" rAng="0" ptsTypes="FFFF">
                                      <p:cBhvr>
                                        <p:cTn id="56" dur="1000" fill="hold"/>
                                        <p:tgtEl>
                                          <p:spTgt spid="6"/>
                                        </p:tgtEl>
                                        <p:attrNameLst>
                                          <p:attrName>ppt_x</p:attrName>
                                          <p:attrName>ppt_y</p:attrName>
                                        </p:attrNameLst>
                                      </p:cBhvr>
                                      <p:rCtr x="-7813" y="4491"/>
                                    </p:animMotion>
                                  </p:childTnLst>
                                </p:cTn>
                              </p:par>
                            </p:childTnLst>
                          </p:cTn>
                        </p:par>
                        <p:par>
                          <p:cTn id="57" fill="hold" nodeType="afterGroup">
                            <p:stCondLst>
                              <p:cond delay="19000"/>
                            </p:stCondLst>
                            <p:childTnLst>
                              <p:par>
                                <p:cTn id="58" presetID="64" presetClass="path" presetSubtype="0" accel="50000" decel="50000" fill="hold" nodeType="afterEffect">
                                  <p:stCondLst>
                                    <p:cond delay="0"/>
                                  </p:stCondLst>
                                  <p:childTnLst>
                                    <p:animMotion origin="layout" path="M 0.00295 -0.52755 L 0.00712 -0.61644 " pathEditMode="relative" rAng="0" ptsTypes="AA">
                                      <p:cBhvr>
                                        <p:cTn id="59" dur="2000" fill="hold"/>
                                        <p:tgtEl>
                                          <p:spTgt spid="3"/>
                                        </p:tgtEl>
                                        <p:attrNameLst>
                                          <p:attrName>ppt_x</p:attrName>
                                          <p:attrName>ppt_y</p:attrName>
                                        </p:attrNameLst>
                                      </p:cBhvr>
                                      <p:rCtr x="208" y="-44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3" grpId="1" animBg="1"/>
      <p:bldP spid="13" grpId="2" animBg="1"/>
      <p:bldP spid="13" grpId="3" animBg="1"/>
      <p:bldP spid="13" grpId="4" animBg="1"/>
      <p:bldP spid="13" grpId="5" animBg="1"/>
      <p:bldP spid="13" grpId="6" animBg="1"/>
      <p:bldP spid="6" grpId="0" animBg="1"/>
      <p:bldP spid="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able 34"/>
          <p:cNvGraphicFramePr>
            <a:graphicFrameLocks noGrp="1"/>
          </p:cNvGraphicFramePr>
          <p:nvPr/>
        </p:nvGraphicFramePr>
        <p:xfrm>
          <a:off x="5410201" y="1168400"/>
          <a:ext cx="1268413" cy="4775200"/>
        </p:xfrm>
        <a:graphic>
          <a:graphicData uri="http://schemas.openxmlformats.org/drawingml/2006/table">
            <a:tbl>
              <a:tblPr firstRow="1" bandRow="1">
                <a:tableStyleId>{5C22544A-7EE6-4342-B048-85BDC9FD1C3A}</a:tableStyleId>
              </a:tblPr>
              <a:tblGrid>
                <a:gridCol w="761810">
                  <a:extLst>
                    <a:ext uri="{9D8B030D-6E8A-4147-A177-3AD203B41FA5}">
                      <a16:colId xmlns:a16="http://schemas.microsoft.com/office/drawing/2014/main" val="20000"/>
                    </a:ext>
                  </a:extLst>
                </a:gridCol>
                <a:gridCol w="506603">
                  <a:extLst>
                    <a:ext uri="{9D8B030D-6E8A-4147-A177-3AD203B41FA5}">
                      <a16:colId xmlns:a16="http://schemas.microsoft.com/office/drawing/2014/main" val="20001"/>
                    </a:ext>
                  </a:extLst>
                </a:gridCol>
              </a:tblGrid>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1</a:t>
                      </a:r>
                      <a:endParaRPr lang="en-US" b="1">
                        <a:solidFill>
                          <a:srgbClr val="7030A0"/>
                        </a:solidFill>
                      </a:endParaRPr>
                    </a:p>
                  </a:txBody>
                  <a:tcPr marL="91417" marR="91417" anchor="ctr">
                    <a:noFill/>
                  </a:tcPr>
                </a:tc>
                <a:extLst>
                  <a:ext uri="{0D108BD9-81ED-4DB2-BD59-A6C34878D82A}">
                    <a16:rowId xmlns:a16="http://schemas.microsoft.com/office/drawing/2014/main" val="10000"/>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2</a:t>
                      </a:r>
                      <a:endParaRPr lang="en-US" b="1">
                        <a:solidFill>
                          <a:srgbClr val="7030A0"/>
                        </a:solidFill>
                      </a:endParaRPr>
                    </a:p>
                  </a:txBody>
                  <a:tcPr marL="91417" marR="91417" anchor="ctr">
                    <a:noFill/>
                  </a:tcPr>
                </a:tc>
                <a:extLst>
                  <a:ext uri="{0D108BD9-81ED-4DB2-BD59-A6C34878D82A}">
                    <a16:rowId xmlns:a16="http://schemas.microsoft.com/office/drawing/2014/main" val="10001"/>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3</a:t>
                      </a:r>
                      <a:endParaRPr lang="en-US" b="1">
                        <a:solidFill>
                          <a:srgbClr val="7030A0"/>
                        </a:solidFill>
                      </a:endParaRPr>
                    </a:p>
                  </a:txBody>
                  <a:tcPr marL="91417" marR="91417" anchor="ctr">
                    <a:noFill/>
                  </a:tcPr>
                </a:tc>
                <a:extLst>
                  <a:ext uri="{0D108BD9-81ED-4DB2-BD59-A6C34878D82A}">
                    <a16:rowId xmlns:a16="http://schemas.microsoft.com/office/drawing/2014/main" val="10002"/>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4</a:t>
                      </a:r>
                      <a:endParaRPr lang="en-US" b="1">
                        <a:solidFill>
                          <a:srgbClr val="7030A0"/>
                        </a:solidFill>
                      </a:endParaRPr>
                    </a:p>
                  </a:txBody>
                  <a:tcPr marL="91417" marR="91417" anchor="ctr">
                    <a:noFill/>
                  </a:tcPr>
                </a:tc>
                <a:extLst>
                  <a:ext uri="{0D108BD9-81ED-4DB2-BD59-A6C34878D82A}">
                    <a16:rowId xmlns:a16="http://schemas.microsoft.com/office/drawing/2014/main" val="10003"/>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5</a:t>
                      </a:r>
                      <a:endParaRPr lang="en-US" b="1">
                        <a:solidFill>
                          <a:srgbClr val="7030A0"/>
                        </a:solidFill>
                      </a:endParaRPr>
                    </a:p>
                  </a:txBody>
                  <a:tcPr marL="91417" marR="91417" anchor="ctr">
                    <a:noFill/>
                  </a:tcPr>
                </a:tc>
                <a:extLst>
                  <a:ext uri="{0D108BD9-81ED-4DB2-BD59-A6C34878D82A}">
                    <a16:rowId xmlns:a16="http://schemas.microsoft.com/office/drawing/2014/main" val="10004"/>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6</a:t>
                      </a:r>
                      <a:endParaRPr lang="en-US" b="1">
                        <a:solidFill>
                          <a:srgbClr val="7030A0"/>
                        </a:solidFill>
                      </a:endParaRPr>
                    </a:p>
                  </a:txBody>
                  <a:tcPr marL="91417" marR="91417" anchor="ctr">
                    <a:noFill/>
                  </a:tcPr>
                </a:tc>
                <a:extLst>
                  <a:ext uri="{0D108BD9-81ED-4DB2-BD59-A6C34878D82A}">
                    <a16:rowId xmlns:a16="http://schemas.microsoft.com/office/drawing/2014/main" val="10005"/>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7</a:t>
                      </a:r>
                      <a:endParaRPr lang="en-US" b="1">
                        <a:solidFill>
                          <a:srgbClr val="7030A0"/>
                        </a:solidFill>
                      </a:endParaRPr>
                    </a:p>
                  </a:txBody>
                  <a:tcPr marL="91417" marR="91417" anchor="ctr">
                    <a:noFill/>
                  </a:tcPr>
                </a:tc>
                <a:extLst>
                  <a:ext uri="{0D108BD9-81ED-4DB2-BD59-A6C34878D82A}">
                    <a16:rowId xmlns:a16="http://schemas.microsoft.com/office/drawing/2014/main" val="10006"/>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8</a:t>
                      </a:r>
                      <a:endParaRPr lang="en-US" b="1">
                        <a:solidFill>
                          <a:srgbClr val="7030A0"/>
                        </a:solidFill>
                      </a:endParaRPr>
                    </a:p>
                  </a:txBody>
                  <a:tcPr marL="91417" marR="91417" anchor="ctr">
                    <a:noFill/>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B59B7F87-B326-4819-8A56-B0845A543EEC}" type="slidenum">
              <a:rPr lang="en-US" smtClean="0"/>
              <a:pPr>
                <a:defRPr/>
              </a:pPr>
              <a:t>76</a:t>
            </a:fld>
            <a:endParaRPr lang="en-US"/>
          </a:p>
        </p:txBody>
      </p:sp>
      <p:sp>
        <p:nvSpPr>
          <p:cNvPr id="8" name="Oval 7"/>
          <p:cNvSpPr/>
          <p:nvPr/>
        </p:nvSpPr>
        <p:spPr>
          <a:xfrm>
            <a:off x="5486400" y="30480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9" name="Oval 8"/>
          <p:cNvSpPr/>
          <p:nvPr/>
        </p:nvSpPr>
        <p:spPr>
          <a:xfrm>
            <a:off x="5486400" y="36576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10" name="Oval 9"/>
          <p:cNvSpPr/>
          <p:nvPr/>
        </p:nvSpPr>
        <p:spPr>
          <a:xfrm>
            <a:off x="5486400" y="422275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1" name="Oval 10"/>
          <p:cNvSpPr/>
          <p:nvPr/>
        </p:nvSpPr>
        <p:spPr>
          <a:xfrm>
            <a:off x="5486400" y="48006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12" name="Oval 11"/>
          <p:cNvSpPr/>
          <p:nvPr/>
        </p:nvSpPr>
        <p:spPr>
          <a:xfrm>
            <a:off x="5486400" y="5410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5486400" y="12192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6" name="Oval 5"/>
          <p:cNvSpPr/>
          <p:nvPr/>
        </p:nvSpPr>
        <p:spPr>
          <a:xfrm>
            <a:off x="5486400" y="1828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7" name="Oval 6"/>
          <p:cNvSpPr/>
          <p:nvPr/>
        </p:nvSpPr>
        <p:spPr>
          <a:xfrm>
            <a:off x="5486400" y="24384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grpSp>
        <p:nvGrpSpPr>
          <p:cNvPr id="2" name="Group 45"/>
          <p:cNvGrpSpPr>
            <a:grpSpLocks/>
          </p:cNvGrpSpPr>
          <p:nvPr/>
        </p:nvGrpSpPr>
        <p:grpSpPr bwMode="auto">
          <a:xfrm>
            <a:off x="3581400" y="1371600"/>
            <a:ext cx="4343400" cy="382588"/>
            <a:chOff x="1143000" y="1371600"/>
            <a:chExt cx="4343400" cy="382588"/>
          </a:xfrm>
        </p:grpSpPr>
        <p:cxnSp>
          <p:nvCxnSpPr>
            <p:cNvPr id="41" name="Straight Connector 40"/>
            <p:cNvCxnSpPr/>
            <p:nvPr/>
          </p:nvCxnSpPr>
          <p:spPr>
            <a:xfrm>
              <a:off x="1143000" y="1752600"/>
              <a:ext cx="4343400" cy="1588"/>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1143000" y="1371600"/>
              <a:ext cx="838200" cy="304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grpSp>
      <p:grpSp>
        <p:nvGrpSpPr>
          <p:cNvPr id="3" name="Group 46"/>
          <p:cNvGrpSpPr>
            <a:grpSpLocks/>
          </p:cNvGrpSpPr>
          <p:nvPr/>
        </p:nvGrpSpPr>
        <p:grpSpPr bwMode="auto">
          <a:xfrm>
            <a:off x="3581400" y="5561014"/>
            <a:ext cx="4343400" cy="382587"/>
            <a:chOff x="1143000" y="1371600"/>
            <a:chExt cx="4343400" cy="382588"/>
          </a:xfrm>
        </p:grpSpPr>
        <p:cxnSp>
          <p:nvCxnSpPr>
            <p:cNvPr id="48" name="Straight Connector 47"/>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9" name="Rounded Rectangle 48"/>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grpSp>
      <p:sp>
        <p:nvSpPr>
          <p:cNvPr id="18" name="Title 1"/>
          <p:cNvSpPr>
            <a:spLocks noGrp="1"/>
          </p:cNvSpPr>
          <p:nvPr>
            <p:ph type="title"/>
          </p:nvPr>
        </p:nvSpPr>
        <p:spPr>
          <a:xfrm>
            <a:off x="533400" y="381000"/>
            <a:ext cx="10515600" cy="930275"/>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3. Nổi </a:t>
            </a:r>
            <a:r>
              <a:rPr lang="en-US" b="1" dirty="0" err="1" smtClean="0">
                <a:solidFill>
                  <a:srgbClr val="0070C0"/>
                </a:solidFill>
                <a:latin typeface="Times New Roman" panose="02020603050405020304" pitchFamily="18" charset="0"/>
                <a:cs typeface="Times New Roman" panose="02020603050405020304" pitchFamily="18" charset="0"/>
              </a:rPr>
              <a:t>bọt</a:t>
            </a:r>
            <a:r>
              <a:rPr lang="en-US" b="1" dirty="0" smtClean="0">
                <a:solidFill>
                  <a:srgbClr val="0070C0"/>
                </a:solidFill>
                <a:latin typeface="Times New Roman" panose="02020603050405020304" pitchFamily="18" charset="0"/>
                <a:cs typeface="Times New Roman" panose="02020603050405020304" pitchFamily="18" charset="0"/>
              </a:rPr>
              <a:t> – bubble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0 2.22222E-6 L 0.00243 0.08773 " pathEditMode="relative" rAng="0" ptsTypes="AA">
                                      <p:cBhvr>
                                        <p:cTn id="6" dur="2000" fill="hold"/>
                                        <p:tgtEl>
                                          <p:spTgt spid="2"/>
                                        </p:tgtEl>
                                        <p:attrNameLst>
                                          <p:attrName>ppt_x</p:attrName>
                                          <p:attrName>ppt_y</p:attrName>
                                        </p:attrNameLst>
                                      </p:cBhvr>
                                      <p:rCtr x="122" y="4375"/>
                                    </p:animMotion>
                                  </p:childTnLst>
                                </p:cTn>
                              </p:par>
                            </p:childTnLst>
                          </p:cTn>
                        </p:par>
                        <p:par>
                          <p:cTn id="7" fill="hold" nodeType="afterGroup">
                            <p:stCondLst>
                              <p:cond delay="2000"/>
                            </p:stCondLst>
                            <p:childTnLst>
                              <p:par>
                                <p:cTn id="8" presetID="3" presetClass="entr" presetSubtype="1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64" presetClass="path" presetSubtype="0" accel="50000" decel="50000" fill="hold" nodeType="clickEffect">
                                  <p:stCondLst>
                                    <p:cond delay="0"/>
                                  </p:stCondLst>
                                  <p:childTnLst>
                                    <p:animMotion origin="layout" path="M 0 2.59259E-6 L -0.00035 -0.09144 " pathEditMode="relative" rAng="0" ptsTypes="AA">
                                      <p:cBhvr>
                                        <p:cTn id="14" dur="2000" fill="hold"/>
                                        <p:tgtEl>
                                          <p:spTgt spid="3"/>
                                        </p:tgtEl>
                                        <p:attrNameLst>
                                          <p:attrName>ppt_x</p:attrName>
                                          <p:attrName>ppt_y</p:attrName>
                                        </p:attrNameLst>
                                      </p:cBhvr>
                                      <p:rCtr x="-17" y="-4583"/>
                                    </p:animMotion>
                                  </p:childTnLst>
                                </p:cTn>
                              </p:par>
                            </p:childTnLst>
                          </p:cTn>
                        </p:par>
                        <p:par>
                          <p:cTn id="15" fill="hold" nodeType="afterGroup">
                            <p:stCondLst>
                              <p:cond delay="2000"/>
                            </p:stCondLst>
                            <p:childTnLst>
                              <p:par>
                                <p:cTn id="16" presetID="7" presetClass="path" presetSubtype="0" accel="50000" decel="50000" fill="hold" grpId="0" nodeType="afterEffect">
                                  <p:stCondLst>
                                    <p:cond delay="0"/>
                                  </p:stCondLst>
                                  <p:childTnLst>
                                    <p:animMotion origin="layout" path="M 3.33333E-6 -3.33333E-6 L 0.17639 -0.00231 L 0.17639 -0.08055 L -0.00122 -0.08287 " pathEditMode="relative" rAng="0" ptsTypes="FFFF">
                                      <p:cBhvr>
                                        <p:cTn id="17" dur="1000" fill="hold"/>
                                        <p:tgtEl>
                                          <p:spTgt spid="11"/>
                                        </p:tgtEl>
                                        <p:attrNameLst>
                                          <p:attrName>ppt_x</p:attrName>
                                          <p:attrName>ppt_y</p:attrName>
                                        </p:attrNameLst>
                                      </p:cBhvr>
                                      <p:rCtr x="8750" y="-4144"/>
                                    </p:animMotion>
                                  </p:childTnLst>
                                </p:cTn>
                              </p:par>
                              <p:par>
                                <p:cTn id="18" presetID="7" presetClass="path" presetSubtype="0" accel="50000" decel="50000" fill="hold" grpId="0" nodeType="withEffect">
                                  <p:stCondLst>
                                    <p:cond delay="0"/>
                                  </p:stCondLst>
                                  <p:childTnLst>
                                    <p:animMotion origin="layout" path="M 3.33333E-6 -4.07407E-6 L -0.15452 -0.00301 L -0.15295 0.08658 L -0.00122 0.08658 " pathEditMode="relative" rAng="0" ptsTypes="FFFF">
                                      <p:cBhvr>
                                        <p:cTn id="19" dur="1000" fill="hold"/>
                                        <p:tgtEl>
                                          <p:spTgt spid="10"/>
                                        </p:tgtEl>
                                        <p:attrNameLst>
                                          <p:attrName>ppt_x</p:attrName>
                                          <p:attrName>ppt_y</p:attrName>
                                        </p:attrNameLst>
                                      </p:cBhvr>
                                      <p:rCtr x="-7726" y="4167"/>
                                    </p:animMotion>
                                  </p:childTnLst>
                                </p:cTn>
                              </p:par>
                            </p:childTnLst>
                          </p:cTn>
                        </p:par>
                        <p:par>
                          <p:cTn id="20" fill="hold" nodeType="afterGroup">
                            <p:stCondLst>
                              <p:cond delay="3000"/>
                            </p:stCondLst>
                            <p:childTnLst>
                              <p:par>
                                <p:cTn id="21" presetID="64" presetClass="path" presetSubtype="0" accel="50000" decel="50000" fill="hold" nodeType="afterEffect">
                                  <p:stCondLst>
                                    <p:cond delay="0"/>
                                  </p:stCondLst>
                                  <p:childTnLst>
                                    <p:animMotion origin="layout" path="M -0.00035 -0.09144 L 0.00538 -0.17755 " pathEditMode="relative" rAng="0" ptsTypes="AA">
                                      <p:cBhvr>
                                        <p:cTn id="22" dur="2000" fill="hold"/>
                                        <p:tgtEl>
                                          <p:spTgt spid="3"/>
                                        </p:tgtEl>
                                        <p:attrNameLst>
                                          <p:attrName>ppt_x</p:attrName>
                                          <p:attrName>ppt_y</p:attrName>
                                        </p:attrNameLst>
                                      </p:cBhvr>
                                      <p:rCtr x="278" y="-4306"/>
                                    </p:animMotion>
                                  </p:childTnLst>
                                </p:cTn>
                              </p:par>
                            </p:childTnLst>
                          </p:cTn>
                        </p:par>
                        <p:par>
                          <p:cTn id="23" fill="hold" nodeType="afterGroup">
                            <p:stCondLst>
                              <p:cond delay="5000"/>
                            </p:stCondLst>
                            <p:childTnLst>
                              <p:par>
                                <p:cTn id="24" presetID="7" presetClass="path" presetSubtype="0" accel="50000" decel="50000" fill="hold" grpId="1" nodeType="afterEffect">
                                  <p:stCondLst>
                                    <p:cond delay="0"/>
                                  </p:stCondLst>
                                  <p:childTnLst>
                                    <p:animMotion origin="layout" path="M -0.00122 -0.08287 L 0.17986 -0.08287 L 0.17639 -0.15856 L -0.00122 -0.16319 " pathEditMode="relative" rAng="0" ptsTypes="FFFF">
                                      <p:cBhvr>
                                        <p:cTn id="25" dur="1000" fill="hold"/>
                                        <p:tgtEl>
                                          <p:spTgt spid="11"/>
                                        </p:tgtEl>
                                        <p:attrNameLst>
                                          <p:attrName>ppt_x</p:attrName>
                                          <p:attrName>ppt_y</p:attrName>
                                        </p:attrNameLst>
                                      </p:cBhvr>
                                      <p:rCtr x="9045" y="-4028"/>
                                    </p:animMotion>
                                  </p:childTnLst>
                                </p:cTn>
                              </p:par>
                              <p:par>
                                <p:cTn id="26" presetID="7" presetClass="path" presetSubtype="0" accel="50000" decel="50000" fill="hold" grpId="0" nodeType="withEffect">
                                  <p:stCondLst>
                                    <p:cond delay="0"/>
                                  </p:stCondLst>
                                  <p:childTnLst>
                                    <p:animMotion origin="layout" path="M 3.33333E-6 3.33333E-6 L -0.15973 -0.00579 L -0.15625 0.07708 L -0.00122 0.08379 " pathEditMode="relative" rAng="0" ptsTypes="FFFF">
                                      <p:cBhvr>
                                        <p:cTn id="27" dur="1000" fill="hold"/>
                                        <p:tgtEl>
                                          <p:spTgt spid="9"/>
                                        </p:tgtEl>
                                        <p:attrNameLst>
                                          <p:attrName>ppt_x</p:attrName>
                                          <p:attrName>ppt_y</p:attrName>
                                        </p:attrNameLst>
                                      </p:cBhvr>
                                      <p:rCtr x="-7986" y="3889"/>
                                    </p:animMotion>
                                  </p:childTnLst>
                                </p:cTn>
                              </p:par>
                            </p:childTnLst>
                          </p:cTn>
                        </p:par>
                        <p:par>
                          <p:cTn id="28" fill="hold" nodeType="afterGroup">
                            <p:stCondLst>
                              <p:cond delay="6000"/>
                            </p:stCondLst>
                            <p:childTnLst>
                              <p:par>
                                <p:cTn id="29" presetID="64" presetClass="path" presetSubtype="0" accel="50000" decel="50000" fill="hold" nodeType="afterEffect">
                                  <p:stCondLst>
                                    <p:cond delay="0"/>
                                  </p:stCondLst>
                                  <p:childTnLst>
                                    <p:animMotion origin="layout" path="M 0.00295 -0.17685 L 0.00486 -0.25625 " pathEditMode="relative" rAng="0" ptsTypes="AA">
                                      <p:cBhvr>
                                        <p:cTn id="30" dur="2000" fill="hold"/>
                                        <p:tgtEl>
                                          <p:spTgt spid="3"/>
                                        </p:tgtEl>
                                        <p:attrNameLst>
                                          <p:attrName>ppt_x</p:attrName>
                                          <p:attrName>ppt_y</p:attrName>
                                        </p:attrNameLst>
                                      </p:cBhvr>
                                      <p:rCtr x="87" y="-3981"/>
                                    </p:animMotion>
                                  </p:childTnLst>
                                </p:cTn>
                              </p:par>
                            </p:childTnLst>
                          </p:cTn>
                        </p:par>
                        <p:par>
                          <p:cTn id="31" fill="hold" nodeType="afterGroup">
                            <p:stCondLst>
                              <p:cond delay="8000"/>
                            </p:stCondLst>
                            <p:childTnLst>
                              <p:par>
                                <p:cTn id="32" presetID="7" presetClass="path" presetSubtype="0" accel="50000" decel="50000" fill="hold" grpId="2" nodeType="afterEffect">
                                  <p:stCondLst>
                                    <p:cond delay="0"/>
                                  </p:stCondLst>
                                  <p:childTnLst>
                                    <p:animMotion origin="layout" path="M -0.00122 -0.16319 L 0.17812 -0.16088 L 0.17639 -0.25277 L -0.00122 -0.25277 " pathEditMode="relative" rAng="0" ptsTypes="FFFF">
                                      <p:cBhvr>
                                        <p:cTn id="33" dur="1000" fill="hold"/>
                                        <p:tgtEl>
                                          <p:spTgt spid="11"/>
                                        </p:tgtEl>
                                        <p:attrNameLst>
                                          <p:attrName>ppt_x</p:attrName>
                                          <p:attrName>ppt_y</p:attrName>
                                        </p:attrNameLst>
                                      </p:cBhvr>
                                      <p:rCtr x="8958" y="-4375"/>
                                    </p:animMotion>
                                  </p:childTnLst>
                                </p:cTn>
                              </p:par>
                              <p:par>
                                <p:cTn id="34" presetID="7" presetClass="path" presetSubtype="0" accel="50000" decel="50000" fill="hold" grpId="0" nodeType="withEffect">
                                  <p:stCondLst>
                                    <p:cond delay="0"/>
                                  </p:stCondLst>
                                  <p:childTnLst>
                                    <p:animMotion origin="layout" path="M 3.33333E-6 2.22222E-6 L -0.16493 -0.00185 L -0.15973 0.07847 L 0.00052 0.09236 " pathEditMode="relative" rAng="0" ptsTypes="FFFF">
                                      <p:cBhvr>
                                        <p:cTn id="35" dur="1000" fill="hold"/>
                                        <p:tgtEl>
                                          <p:spTgt spid="8"/>
                                        </p:tgtEl>
                                        <p:attrNameLst>
                                          <p:attrName>ppt_x</p:attrName>
                                          <p:attrName>ppt_y</p:attrName>
                                        </p:attrNameLst>
                                      </p:cBhvr>
                                      <p:rCtr x="-8229" y="4514"/>
                                    </p:animMotion>
                                  </p:childTnLst>
                                </p:cTn>
                              </p:par>
                            </p:childTnLst>
                          </p:cTn>
                        </p:par>
                        <p:par>
                          <p:cTn id="36" fill="hold" nodeType="afterGroup">
                            <p:stCondLst>
                              <p:cond delay="9000"/>
                            </p:stCondLst>
                            <p:childTnLst>
                              <p:par>
                                <p:cTn id="37" presetID="64" presetClass="path" presetSubtype="0" accel="50000" decel="50000" fill="hold" nodeType="afterEffect">
                                  <p:stCondLst>
                                    <p:cond delay="0"/>
                                  </p:stCondLst>
                                  <p:childTnLst>
                                    <p:animMotion origin="layout" path="M 0.00295 -0.26852 L 0.00417 -0.34977 " pathEditMode="relative" rAng="0" ptsTypes="AA">
                                      <p:cBhvr>
                                        <p:cTn id="38" dur="2000" fill="hold"/>
                                        <p:tgtEl>
                                          <p:spTgt spid="3"/>
                                        </p:tgtEl>
                                        <p:attrNameLst>
                                          <p:attrName>ppt_x</p:attrName>
                                          <p:attrName>ppt_y</p:attrName>
                                        </p:attrNameLst>
                                      </p:cBhvr>
                                      <p:rCtr x="52" y="-4074"/>
                                    </p:animMotion>
                                  </p:childTnLst>
                                </p:cTn>
                              </p:par>
                            </p:childTnLst>
                          </p:cTn>
                        </p:par>
                        <p:par>
                          <p:cTn id="39" fill="hold" nodeType="afterGroup">
                            <p:stCondLst>
                              <p:cond delay="11000"/>
                            </p:stCondLst>
                            <p:childTnLst>
                              <p:par>
                                <p:cTn id="40" presetID="7" presetClass="path" presetSubtype="0" accel="50000" decel="50000" fill="hold" grpId="3" nodeType="afterEffect">
                                  <p:stCondLst>
                                    <p:cond delay="0"/>
                                  </p:stCondLst>
                                  <p:childTnLst>
                                    <p:animMotion origin="layout" path="M -0.00122 -0.25277 L 0.17639 -0.25509 L 0.17986 -0.3449 L 0.00052 -0.3449 " pathEditMode="relative" rAng="0" ptsTypes="FFFF">
                                      <p:cBhvr>
                                        <p:cTn id="41" dur="1000" fill="hold"/>
                                        <p:tgtEl>
                                          <p:spTgt spid="11"/>
                                        </p:tgtEl>
                                        <p:attrNameLst>
                                          <p:attrName>ppt_x</p:attrName>
                                          <p:attrName>ppt_y</p:attrName>
                                        </p:attrNameLst>
                                      </p:cBhvr>
                                      <p:rCtr x="9045" y="-4606"/>
                                    </p:animMotion>
                                  </p:childTnLst>
                                </p:cTn>
                              </p:par>
                              <p:par>
                                <p:cTn id="42" presetID="7" presetClass="path" presetSubtype="0" accel="50000" decel="50000" fill="hold" grpId="0" nodeType="withEffect">
                                  <p:stCondLst>
                                    <p:cond delay="0"/>
                                  </p:stCondLst>
                                  <p:childTnLst>
                                    <p:animMotion origin="layout" path="M 3.33333E-6 1.11111E-6 L -0.16667 -0.00046 L -0.16841 0.08472 L 0.00052 0.09398 " pathEditMode="relative" rAng="0" ptsTypes="FFFF">
                                      <p:cBhvr>
                                        <p:cTn id="43" dur="1000" fill="hold"/>
                                        <p:tgtEl>
                                          <p:spTgt spid="7"/>
                                        </p:tgtEl>
                                        <p:attrNameLst>
                                          <p:attrName>ppt_x</p:attrName>
                                          <p:attrName>ppt_y</p:attrName>
                                        </p:attrNameLst>
                                      </p:cBhvr>
                                      <p:rCtr x="-8403" y="4676"/>
                                    </p:animMotion>
                                  </p:childTnLst>
                                </p:cTn>
                              </p:par>
                            </p:childTnLst>
                          </p:cTn>
                        </p:par>
                        <p:par>
                          <p:cTn id="44" fill="hold" nodeType="afterGroup">
                            <p:stCondLst>
                              <p:cond delay="12000"/>
                            </p:stCondLst>
                            <p:childTnLst>
                              <p:par>
                                <p:cTn id="45" presetID="64" presetClass="path" presetSubtype="0" accel="50000" decel="50000" fill="hold" nodeType="afterEffect">
                                  <p:stCondLst>
                                    <p:cond delay="0"/>
                                  </p:stCondLst>
                                  <p:childTnLst>
                                    <p:animMotion origin="layout" path="M 0.00295 -0.3581 L 0.00417 -0.43866 " pathEditMode="relative" rAng="0" ptsTypes="AA">
                                      <p:cBhvr>
                                        <p:cTn id="46" dur="2000" fill="hold"/>
                                        <p:tgtEl>
                                          <p:spTgt spid="3"/>
                                        </p:tgtEl>
                                        <p:attrNameLst>
                                          <p:attrName>ppt_x</p:attrName>
                                          <p:attrName>ppt_y</p:attrName>
                                        </p:attrNameLst>
                                      </p:cBhvr>
                                      <p:rCtr x="52" y="-4028"/>
                                    </p:animMotion>
                                  </p:childTnLst>
                                </p:cTn>
                              </p:par>
                            </p:childTnLst>
                          </p:cTn>
                        </p:par>
                        <p:par>
                          <p:cTn id="47" fill="hold" nodeType="afterGroup">
                            <p:stCondLst>
                              <p:cond delay="14000"/>
                            </p:stCondLst>
                            <p:childTnLst>
                              <p:par>
                                <p:cTn id="48" presetID="7" presetClass="path" presetSubtype="0" accel="50000" decel="50000" fill="hold" grpId="4" nodeType="afterEffect">
                                  <p:stCondLst>
                                    <p:cond delay="0"/>
                                  </p:stCondLst>
                                  <p:childTnLst>
                                    <p:animMotion origin="layout" path="M 0.00052 -0.3449 L 0.17639 -0.34722 L 0.17812 -0.42754 L -0.00122 -0.42986 " pathEditMode="relative" rAng="0" ptsTypes="FFFF">
                                      <p:cBhvr>
                                        <p:cTn id="49" dur="1000" fill="hold"/>
                                        <p:tgtEl>
                                          <p:spTgt spid="11"/>
                                        </p:tgtEl>
                                        <p:attrNameLst>
                                          <p:attrName>ppt_x</p:attrName>
                                          <p:attrName>ppt_y</p:attrName>
                                        </p:attrNameLst>
                                      </p:cBhvr>
                                      <p:rCtr x="8785" y="-4259"/>
                                    </p:animMotion>
                                  </p:childTnLst>
                                </p:cTn>
                              </p:par>
                              <p:par>
                                <p:cTn id="50" presetID="7" presetClass="path" presetSubtype="0" accel="50000" decel="50000" fill="hold" grpId="0" nodeType="withEffect">
                                  <p:stCondLst>
                                    <p:cond delay="0"/>
                                  </p:stCondLst>
                                  <p:childTnLst>
                                    <p:animMotion origin="layout" path="M 3.33333E-6 5.55112E-17 L -0.17709 -0.00116 L -0.17188 0.08611 L 0.00052 0.09306 " pathEditMode="relative" rAng="0" ptsTypes="FFFF">
                                      <p:cBhvr>
                                        <p:cTn id="51" dur="1000" fill="hold"/>
                                        <p:tgtEl>
                                          <p:spTgt spid="6"/>
                                        </p:tgtEl>
                                        <p:attrNameLst>
                                          <p:attrName>ppt_x</p:attrName>
                                          <p:attrName>ppt_y</p:attrName>
                                        </p:attrNameLst>
                                      </p:cBhvr>
                                      <p:rCtr x="-8837" y="4583"/>
                                    </p:animMotion>
                                  </p:childTnLst>
                                </p:cTn>
                              </p:par>
                            </p:childTnLst>
                          </p:cTn>
                        </p:par>
                        <p:par>
                          <p:cTn id="52" fill="hold" nodeType="afterGroup">
                            <p:stCondLst>
                              <p:cond delay="15000"/>
                            </p:stCondLst>
                            <p:childTnLst>
                              <p:par>
                                <p:cTn id="53" presetID="64" presetClass="path" presetSubtype="0" accel="50000" decel="50000" fill="hold" nodeType="afterEffect">
                                  <p:stCondLst>
                                    <p:cond delay="0"/>
                                  </p:stCondLst>
                                  <p:childTnLst>
                                    <p:animMotion origin="layout" path="M 0.00469 -0.45023 L 0.00052 -0.52801 " pathEditMode="relative" rAng="0" ptsTypes="AA">
                                      <p:cBhvr>
                                        <p:cTn id="54" dur="2000" fill="hold"/>
                                        <p:tgtEl>
                                          <p:spTgt spid="3"/>
                                        </p:tgtEl>
                                        <p:attrNameLst>
                                          <p:attrName>ppt_x</p:attrName>
                                          <p:attrName>ppt_y</p:attrName>
                                        </p:attrNameLst>
                                      </p:cBhvr>
                                      <p:rCtr x="-208" y="-388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1" grpId="1" animBg="1"/>
      <p:bldP spid="11" grpId="2" animBg="1"/>
      <p:bldP spid="11" grpId="3" animBg="1"/>
      <p:bldP spid="11" grpId="4" animBg="1"/>
      <p:bldP spid="6" grpId="0" animBg="1"/>
      <p:bldP spid="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able 34"/>
          <p:cNvGraphicFramePr>
            <a:graphicFrameLocks noGrp="1"/>
          </p:cNvGraphicFramePr>
          <p:nvPr/>
        </p:nvGraphicFramePr>
        <p:xfrm>
          <a:off x="5410201" y="1168400"/>
          <a:ext cx="1268413" cy="4775200"/>
        </p:xfrm>
        <a:graphic>
          <a:graphicData uri="http://schemas.openxmlformats.org/drawingml/2006/table">
            <a:tbl>
              <a:tblPr firstRow="1" bandRow="1">
                <a:tableStyleId>{5C22544A-7EE6-4342-B048-85BDC9FD1C3A}</a:tableStyleId>
              </a:tblPr>
              <a:tblGrid>
                <a:gridCol w="761810">
                  <a:extLst>
                    <a:ext uri="{9D8B030D-6E8A-4147-A177-3AD203B41FA5}">
                      <a16:colId xmlns:a16="http://schemas.microsoft.com/office/drawing/2014/main" val="20000"/>
                    </a:ext>
                  </a:extLst>
                </a:gridCol>
                <a:gridCol w="506603">
                  <a:extLst>
                    <a:ext uri="{9D8B030D-6E8A-4147-A177-3AD203B41FA5}">
                      <a16:colId xmlns:a16="http://schemas.microsoft.com/office/drawing/2014/main" val="20001"/>
                    </a:ext>
                  </a:extLst>
                </a:gridCol>
              </a:tblGrid>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1</a:t>
                      </a:r>
                      <a:endParaRPr lang="en-US" b="1">
                        <a:solidFill>
                          <a:srgbClr val="7030A0"/>
                        </a:solidFill>
                      </a:endParaRPr>
                    </a:p>
                  </a:txBody>
                  <a:tcPr marL="91417" marR="91417" anchor="ctr">
                    <a:noFill/>
                  </a:tcPr>
                </a:tc>
                <a:extLst>
                  <a:ext uri="{0D108BD9-81ED-4DB2-BD59-A6C34878D82A}">
                    <a16:rowId xmlns:a16="http://schemas.microsoft.com/office/drawing/2014/main" val="10000"/>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2</a:t>
                      </a:r>
                      <a:endParaRPr lang="en-US" b="1">
                        <a:solidFill>
                          <a:srgbClr val="7030A0"/>
                        </a:solidFill>
                      </a:endParaRPr>
                    </a:p>
                  </a:txBody>
                  <a:tcPr marL="91417" marR="91417" anchor="ctr">
                    <a:noFill/>
                  </a:tcPr>
                </a:tc>
                <a:extLst>
                  <a:ext uri="{0D108BD9-81ED-4DB2-BD59-A6C34878D82A}">
                    <a16:rowId xmlns:a16="http://schemas.microsoft.com/office/drawing/2014/main" val="10001"/>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3</a:t>
                      </a:r>
                      <a:endParaRPr lang="en-US" b="1">
                        <a:solidFill>
                          <a:srgbClr val="7030A0"/>
                        </a:solidFill>
                      </a:endParaRPr>
                    </a:p>
                  </a:txBody>
                  <a:tcPr marL="91417" marR="91417" anchor="ctr">
                    <a:noFill/>
                  </a:tcPr>
                </a:tc>
                <a:extLst>
                  <a:ext uri="{0D108BD9-81ED-4DB2-BD59-A6C34878D82A}">
                    <a16:rowId xmlns:a16="http://schemas.microsoft.com/office/drawing/2014/main" val="10002"/>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4</a:t>
                      </a:r>
                      <a:endParaRPr lang="en-US" b="1">
                        <a:solidFill>
                          <a:srgbClr val="7030A0"/>
                        </a:solidFill>
                      </a:endParaRPr>
                    </a:p>
                  </a:txBody>
                  <a:tcPr marL="91417" marR="91417" anchor="ctr">
                    <a:noFill/>
                  </a:tcPr>
                </a:tc>
                <a:extLst>
                  <a:ext uri="{0D108BD9-81ED-4DB2-BD59-A6C34878D82A}">
                    <a16:rowId xmlns:a16="http://schemas.microsoft.com/office/drawing/2014/main" val="10003"/>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5</a:t>
                      </a:r>
                      <a:endParaRPr lang="en-US" b="1">
                        <a:solidFill>
                          <a:srgbClr val="7030A0"/>
                        </a:solidFill>
                      </a:endParaRPr>
                    </a:p>
                  </a:txBody>
                  <a:tcPr marL="91417" marR="91417" anchor="ctr">
                    <a:noFill/>
                  </a:tcPr>
                </a:tc>
                <a:extLst>
                  <a:ext uri="{0D108BD9-81ED-4DB2-BD59-A6C34878D82A}">
                    <a16:rowId xmlns:a16="http://schemas.microsoft.com/office/drawing/2014/main" val="10004"/>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6</a:t>
                      </a:r>
                      <a:endParaRPr lang="en-US" b="1">
                        <a:solidFill>
                          <a:srgbClr val="7030A0"/>
                        </a:solidFill>
                      </a:endParaRPr>
                    </a:p>
                  </a:txBody>
                  <a:tcPr marL="91417" marR="91417" anchor="ctr">
                    <a:noFill/>
                  </a:tcPr>
                </a:tc>
                <a:extLst>
                  <a:ext uri="{0D108BD9-81ED-4DB2-BD59-A6C34878D82A}">
                    <a16:rowId xmlns:a16="http://schemas.microsoft.com/office/drawing/2014/main" val="10005"/>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7</a:t>
                      </a:r>
                      <a:endParaRPr lang="en-US" b="1">
                        <a:solidFill>
                          <a:srgbClr val="7030A0"/>
                        </a:solidFill>
                      </a:endParaRPr>
                    </a:p>
                  </a:txBody>
                  <a:tcPr marL="91417" marR="91417" anchor="ctr">
                    <a:noFill/>
                  </a:tcPr>
                </a:tc>
                <a:extLst>
                  <a:ext uri="{0D108BD9-81ED-4DB2-BD59-A6C34878D82A}">
                    <a16:rowId xmlns:a16="http://schemas.microsoft.com/office/drawing/2014/main" val="10006"/>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8</a:t>
                      </a:r>
                      <a:endParaRPr lang="en-US" b="1">
                        <a:solidFill>
                          <a:srgbClr val="7030A0"/>
                        </a:solidFill>
                      </a:endParaRPr>
                    </a:p>
                  </a:txBody>
                  <a:tcPr marL="91417" marR="91417" anchor="ctr">
                    <a:noFill/>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3561DBC2-71A8-4460-8EFB-FE085E8F8D85}" type="slidenum">
              <a:rPr lang="en-US" smtClean="0"/>
              <a:pPr>
                <a:defRPr/>
              </a:pPr>
              <a:t>77</a:t>
            </a:fld>
            <a:endParaRPr lang="en-US"/>
          </a:p>
        </p:txBody>
      </p:sp>
      <p:sp>
        <p:nvSpPr>
          <p:cNvPr id="8" name="Oval 7"/>
          <p:cNvSpPr/>
          <p:nvPr/>
        </p:nvSpPr>
        <p:spPr>
          <a:xfrm>
            <a:off x="5486400" y="362585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9" name="Oval 8"/>
          <p:cNvSpPr/>
          <p:nvPr/>
        </p:nvSpPr>
        <p:spPr>
          <a:xfrm>
            <a:off x="5486400" y="422275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10" name="Oval 9"/>
          <p:cNvSpPr/>
          <p:nvPr/>
        </p:nvSpPr>
        <p:spPr>
          <a:xfrm>
            <a:off x="5486400" y="48006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1" name="Oval 10"/>
          <p:cNvSpPr/>
          <p:nvPr/>
        </p:nvSpPr>
        <p:spPr>
          <a:xfrm>
            <a:off x="5486400" y="18288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12" name="Oval 11"/>
          <p:cNvSpPr/>
          <p:nvPr/>
        </p:nvSpPr>
        <p:spPr>
          <a:xfrm>
            <a:off x="5486400" y="5410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5486400" y="12192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6" name="Oval 5"/>
          <p:cNvSpPr/>
          <p:nvPr/>
        </p:nvSpPr>
        <p:spPr>
          <a:xfrm>
            <a:off x="5486400" y="24384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7" name="Oval 6"/>
          <p:cNvSpPr/>
          <p:nvPr/>
        </p:nvSpPr>
        <p:spPr>
          <a:xfrm>
            <a:off x="5486400" y="301625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grpSp>
        <p:nvGrpSpPr>
          <p:cNvPr id="2" name="Group 45"/>
          <p:cNvGrpSpPr>
            <a:grpSpLocks/>
          </p:cNvGrpSpPr>
          <p:nvPr/>
        </p:nvGrpSpPr>
        <p:grpSpPr bwMode="auto">
          <a:xfrm>
            <a:off x="3657600" y="1979614"/>
            <a:ext cx="4343400" cy="382587"/>
            <a:chOff x="1143000" y="1371600"/>
            <a:chExt cx="4343400" cy="382588"/>
          </a:xfrm>
        </p:grpSpPr>
        <p:cxnSp>
          <p:nvCxnSpPr>
            <p:cNvPr id="41" name="Straight Connector 40"/>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grpSp>
      <p:grpSp>
        <p:nvGrpSpPr>
          <p:cNvPr id="3" name="Group 46"/>
          <p:cNvGrpSpPr>
            <a:grpSpLocks/>
          </p:cNvGrpSpPr>
          <p:nvPr/>
        </p:nvGrpSpPr>
        <p:grpSpPr bwMode="auto">
          <a:xfrm>
            <a:off x="3581400" y="5561014"/>
            <a:ext cx="4343400" cy="382587"/>
            <a:chOff x="1143000" y="1371600"/>
            <a:chExt cx="4343400" cy="382588"/>
          </a:xfrm>
        </p:grpSpPr>
        <p:cxnSp>
          <p:nvCxnSpPr>
            <p:cNvPr id="48" name="Straight Connector 47"/>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9" name="Rounded Rectangle 48"/>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grpSp>
      <p:sp>
        <p:nvSpPr>
          <p:cNvPr id="18" name="Title 1"/>
          <p:cNvSpPr>
            <a:spLocks noGrp="1"/>
          </p:cNvSpPr>
          <p:nvPr>
            <p:ph type="title"/>
          </p:nvPr>
        </p:nvSpPr>
        <p:spPr>
          <a:xfrm>
            <a:off x="533400" y="381000"/>
            <a:ext cx="10515600" cy="930275"/>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3. Nổi </a:t>
            </a:r>
            <a:r>
              <a:rPr lang="en-US" b="1" dirty="0" err="1" smtClean="0">
                <a:solidFill>
                  <a:srgbClr val="0070C0"/>
                </a:solidFill>
                <a:latin typeface="Times New Roman" panose="02020603050405020304" pitchFamily="18" charset="0"/>
                <a:cs typeface="Times New Roman" panose="02020603050405020304" pitchFamily="18" charset="0"/>
              </a:rPr>
              <a:t>bọt</a:t>
            </a:r>
            <a:r>
              <a:rPr lang="en-US" b="1" dirty="0" smtClean="0">
                <a:solidFill>
                  <a:srgbClr val="0070C0"/>
                </a:solidFill>
                <a:latin typeface="Times New Roman" panose="02020603050405020304" pitchFamily="18" charset="0"/>
                <a:cs typeface="Times New Roman" panose="02020603050405020304" pitchFamily="18" charset="0"/>
              </a:rPr>
              <a:t> – bubble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3.33333E-6 4.81481E-6 L -0.00416 0.08587 " pathEditMode="relative" rAng="0" ptsTypes="AA">
                                      <p:cBhvr>
                                        <p:cTn id="6" dur="2000" fill="hold"/>
                                        <p:tgtEl>
                                          <p:spTgt spid="2"/>
                                        </p:tgtEl>
                                        <p:attrNameLst>
                                          <p:attrName>ppt_x</p:attrName>
                                          <p:attrName>ppt_y</p:attrName>
                                        </p:attrNameLst>
                                      </p:cBhvr>
                                      <p:rCtr x="-208" y="4282"/>
                                    </p:animMotion>
                                  </p:childTnLst>
                                </p:cTn>
                              </p:par>
                            </p:childTnLst>
                          </p:cTn>
                        </p:par>
                        <p:par>
                          <p:cTn id="7" fill="hold" nodeType="afterGroup">
                            <p:stCondLst>
                              <p:cond delay="2000"/>
                            </p:stCondLst>
                            <p:childTnLst>
                              <p:par>
                                <p:cTn id="8" presetID="3" presetClass="entr" presetSubtype="1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64" presetClass="path" presetSubtype="0" accel="50000" decel="50000" fill="hold" nodeType="clickEffect">
                                  <p:stCondLst>
                                    <p:cond delay="0"/>
                                  </p:stCondLst>
                                  <p:childTnLst>
                                    <p:animMotion origin="layout" path="M 0 2.59259E-6 L 0.00295 -0.08241 " pathEditMode="relative" rAng="0" ptsTypes="AA">
                                      <p:cBhvr>
                                        <p:cTn id="14" dur="2000" fill="hold"/>
                                        <p:tgtEl>
                                          <p:spTgt spid="3"/>
                                        </p:tgtEl>
                                        <p:attrNameLst>
                                          <p:attrName>ppt_x</p:attrName>
                                          <p:attrName>ppt_y</p:attrName>
                                        </p:attrNameLst>
                                      </p:cBhvr>
                                      <p:rCtr x="139" y="-4120"/>
                                    </p:animMotion>
                                  </p:childTnLst>
                                </p:cTn>
                              </p:par>
                            </p:childTnLst>
                          </p:cTn>
                        </p:par>
                        <p:par>
                          <p:cTn id="15" fill="hold" nodeType="afterGroup">
                            <p:stCondLst>
                              <p:cond delay="2000"/>
                            </p:stCondLst>
                            <p:childTnLst>
                              <p:par>
                                <p:cTn id="16" presetID="64" presetClass="path" presetSubtype="0" accel="50000" decel="50000" fill="hold" nodeType="afterEffect">
                                  <p:stCondLst>
                                    <p:cond delay="0"/>
                                  </p:stCondLst>
                                  <p:childTnLst>
                                    <p:animMotion origin="layout" path="M 0.00295 -0.08241 L 0.00382 -0.1713 " pathEditMode="relative" rAng="0" ptsTypes="AA">
                                      <p:cBhvr>
                                        <p:cTn id="17" dur="2000" fill="hold"/>
                                        <p:tgtEl>
                                          <p:spTgt spid="3"/>
                                        </p:tgtEl>
                                        <p:attrNameLst>
                                          <p:attrName>ppt_x</p:attrName>
                                          <p:attrName>ppt_y</p:attrName>
                                        </p:attrNameLst>
                                      </p:cBhvr>
                                      <p:rCtr x="35" y="-4444"/>
                                    </p:animMotion>
                                  </p:childTnLst>
                                </p:cTn>
                              </p:par>
                            </p:childTnLst>
                          </p:cTn>
                        </p:par>
                        <p:par>
                          <p:cTn id="18" fill="hold" nodeType="afterGroup">
                            <p:stCondLst>
                              <p:cond delay="4000"/>
                            </p:stCondLst>
                            <p:childTnLst>
                              <p:par>
                                <p:cTn id="19" presetID="7" presetClass="path" presetSubtype="0" accel="50000" decel="50000" fill="hold" grpId="0" nodeType="afterEffect">
                                  <p:stCondLst>
                                    <p:cond delay="0"/>
                                  </p:stCondLst>
                                  <p:childTnLst>
                                    <p:animMotion origin="layout" path="M 3.33333E-6 -4.07407E-6 L 0.19878 -0.00301 L 0.19705 -0.08356 L 0.00052 -0.08588 " pathEditMode="relative" rAng="0" ptsTypes="FFFF">
                                      <p:cBhvr>
                                        <p:cTn id="20" dur="1000" fill="hold"/>
                                        <p:tgtEl>
                                          <p:spTgt spid="9"/>
                                        </p:tgtEl>
                                        <p:attrNameLst>
                                          <p:attrName>ppt_x</p:attrName>
                                          <p:attrName>ppt_y</p:attrName>
                                        </p:attrNameLst>
                                      </p:cBhvr>
                                      <p:rCtr x="9931" y="-4306"/>
                                    </p:animMotion>
                                  </p:childTnLst>
                                </p:cTn>
                              </p:par>
                              <p:par>
                                <p:cTn id="21" presetID="7" presetClass="path" presetSubtype="0" accel="50000" decel="50000" fill="hold" grpId="0" nodeType="withEffect">
                                  <p:stCondLst>
                                    <p:cond delay="0"/>
                                  </p:stCondLst>
                                  <p:childTnLst>
                                    <p:animMotion origin="layout" path="M 3.33333E-6 2.96296E-6 L -0.16146 -0.00348 L -0.15973 0.08634 L 0.00225 0.09074 " pathEditMode="relative" rAng="0" ptsTypes="FFFF">
                                      <p:cBhvr>
                                        <p:cTn id="22" dur="1000" fill="hold"/>
                                        <p:tgtEl>
                                          <p:spTgt spid="8"/>
                                        </p:tgtEl>
                                        <p:attrNameLst>
                                          <p:attrName>ppt_x</p:attrName>
                                          <p:attrName>ppt_y</p:attrName>
                                        </p:attrNameLst>
                                      </p:cBhvr>
                                      <p:rCtr x="-7969" y="4352"/>
                                    </p:animMotion>
                                  </p:childTnLst>
                                </p:cTn>
                              </p:par>
                            </p:childTnLst>
                          </p:cTn>
                        </p:par>
                        <p:par>
                          <p:cTn id="23" fill="hold" nodeType="afterGroup">
                            <p:stCondLst>
                              <p:cond delay="5000"/>
                            </p:stCondLst>
                            <p:childTnLst>
                              <p:par>
                                <p:cTn id="24" presetID="64" presetClass="path" presetSubtype="0" accel="50000" decel="50000" fill="hold" nodeType="afterEffect">
                                  <p:stCondLst>
                                    <p:cond delay="0"/>
                                  </p:stCondLst>
                                  <p:childTnLst>
                                    <p:animMotion origin="layout" path="M 0.00382 -0.1713 L 0.00191 -0.25857 " pathEditMode="relative" rAng="0" ptsTypes="AA">
                                      <p:cBhvr>
                                        <p:cTn id="25" dur="2000" fill="hold"/>
                                        <p:tgtEl>
                                          <p:spTgt spid="3"/>
                                        </p:tgtEl>
                                        <p:attrNameLst>
                                          <p:attrName>ppt_x</p:attrName>
                                          <p:attrName>ppt_y</p:attrName>
                                        </p:attrNameLst>
                                      </p:cBhvr>
                                      <p:rCtr x="-104" y="-4375"/>
                                    </p:animMotion>
                                  </p:childTnLst>
                                </p:cTn>
                              </p:par>
                            </p:childTnLst>
                          </p:cTn>
                        </p:par>
                        <p:par>
                          <p:cTn id="26" fill="hold" nodeType="afterGroup">
                            <p:stCondLst>
                              <p:cond delay="7000"/>
                            </p:stCondLst>
                            <p:childTnLst>
                              <p:par>
                                <p:cTn id="27" presetID="7" presetClass="path" presetSubtype="0" accel="50000" decel="50000" fill="hold" grpId="1" nodeType="afterEffect">
                                  <p:stCondLst>
                                    <p:cond delay="0"/>
                                  </p:stCondLst>
                                  <p:childTnLst>
                                    <p:animMotion origin="layout" path="M 0.00052 -0.08588 L 0.19548 -0.08356 L 0.19375 -0.17083 L 0.00052 -0.17546 " pathEditMode="relative" rAng="0" ptsTypes="FFFF">
                                      <p:cBhvr>
                                        <p:cTn id="28" dur="1000" fill="hold"/>
                                        <p:tgtEl>
                                          <p:spTgt spid="9"/>
                                        </p:tgtEl>
                                        <p:attrNameLst>
                                          <p:attrName>ppt_x</p:attrName>
                                          <p:attrName>ppt_y</p:attrName>
                                        </p:attrNameLst>
                                      </p:cBhvr>
                                      <p:rCtr x="9740" y="-4375"/>
                                    </p:animMotion>
                                  </p:childTnLst>
                                </p:cTn>
                              </p:par>
                              <p:par>
                                <p:cTn id="29" presetID="7" presetClass="path" presetSubtype="0" accel="50000" decel="50000" fill="hold" grpId="0" nodeType="withEffect">
                                  <p:stCondLst>
                                    <p:cond delay="0"/>
                                  </p:stCondLst>
                                  <p:childTnLst>
                                    <p:animMotion origin="layout" path="M 3.33333E-6 1.85185E-6 L -0.16146 -0.00185 L -0.1632 0.0831 L -0.00122 0.09004 " pathEditMode="relative" rAng="0" ptsTypes="FFFF">
                                      <p:cBhvr>
                                        <p:cTn id="30" dur="1000" fill="hold"/>
                                        <p:tgtEl>
                                          <p:spTgt spid="7"/>
                                        </p:tgtEl>
                                        <p:attrNameLst>
                                          <p:attrName>ppt_x</p:attrName>
                                          <p:attrName>ppt_y</p:attrName>
                                        </p:attrNameLst>
                                      </p:cBhvr>
                                      <p:rCtr x="-8160" y="4398"/>
                                    </p:animMotion>
                                  </p:childTnLst>
                                </p:cTn>
                              </p:par>
                            </p:childTnLst>
                          </p:cTn>
                        </p:par>
                        <p:par>
                          <p:cTn id="31" fill="hold" nodeType="afterGroup">
                            <p:stCondLst>
                              <p:cond delay="8000"/>
                            </p:stCondLst>
                            <p:childTnLst>
                              <p:par>
                                <p:cTn id="32" presetID="64" presetClass="path" presetSubtype="0" accel="50000" decel="50000" fill="hold" nodeType="afterEffect">
                                  <p:stCondLst>
                                    <p:cond delay="0"/>
                                  </p:stCondLst>
                                  <p:childTnLst>
                                    <p:animMotion origin="layout" path="M 0.00469 -0.26088 L 0.00538 -0.34514 " pathEditMode="relative" rAng="0" ptsTypes="AA">
                                      <p:cBhvr>
                                        <p:cTn id="33" dur="2000" fill="hold"/>
                                        <p:tgtEl>
                                          <p:spTgt spid="3"/>
                                        </p:tgtEl>
                                        <p:attrNameLst>
                                          <p:attrName>ppt_x</p:attrName>
                                          <p:attrName>ppt_y</p:attrName>
                                        </p:attrNameLst>
                                      </p:cBhvr>
                                      <p:rCtr x="35" y="-4213"/>
                                    </p:animMotion>
                                  </p:childTnLst>
                                </p:cTn>
                              </p:par>
                            </p:childTnLst>
                          </p:cTn>
                        </p:par>
                        <p:par>
                          <p:cTn id="34" fill="hold" nodeType="afterGroup">
                            <p:stCondLst>
                              <p:cond delay="10000"/>
                            </p:stCondLst>
                            <p:childTnLst>
                              <p:par>
                                <p:cTn id="35" presetID="7" presetClass="path" presetSubtype="0" accel="50000" decel="50000" fill="hold" grpId="2" nodeType="afterEffect">
                                  <p:stCondLst>
                                    <p:cond delay="0"/>
                                  </p:stCondLst>
                                  <p:childTnLst>
                                    <p:animMotion origin="layout" path="M 3.33333E-6 -0.17129 L 0.19201 -0.17314 L 0.19375 -0.25833 L 0.00052 -0.25601 " pathEditMode="relative" rAng="0" ptsTypes="FFFF">
                                      <p:cBhvr>
                                        <p:cTn id="36" dur="1000" fill="hold"/>
                                        <p:tgtEl>
                                          <p:spTgt spid="9"/>
                                        </p:tgtEl>
                                        <p:attrNameLst>
                                          <p:attrName>ppt_x</p:attrName>
                                          <p:attrName>ppt_y</p:attrName>
                                        </p:attrNameLst>
                                      </p:cBhvr>
                                      <p:rCtr x="9687" y="-4352"/>
                                    </p:animMotion>
                                  </p:childTnLst>
                                </p:cTn>
                              </p:par>
                              <p:par>
                                <p:cTn id="37" presetID="7" presetClass="path" presetSubtype="0" accel="50000" decel="50000" fill="hold" grpId="0" nodeType="withEffect">
                                  <p:stCondLst>
                                    <p:cond delay="0"/>
                                  </p:stCondLst>
                                  <p:childTnLst>
                                    <p:animMotion origin="layout" path="M 3.33333E-6 1.11111E-6 L -0.16493 -0.00278 L -0.16146 0.08009 L 0.00225 0.08472 " pathEditMode="relative" rAng="0" ptsTypes="FFFF">
                                      <p:cBhvr>
                                        <p:cTn id="38" dur="1000" fill="hold"/>
                                        <p:tgtEl>
                                          <p:spTgt spid="6"/>
                                        </p:tgtEl>
                                        <p:attrNameLst>
                                          <p:attrName>ppt_x</p:attrName>
                                          <p:attrName>ppt_y</p:attrName>
                                        </p:attrNameLst>
                                      </p:cBhvr>
                                      <p:rCtr x="-8142" y="4097"/>
                                    </p:animMotion>
                                  </p:childTnLst>
                                </p:cTn>
                              </p:par>
                            </p:childTnLst>
                          </p:cTn>
                        </p:par>
                        <p:par>
                          <p:cTn id="39" fill="hold" nodeType="afterGroup">
                            <p:stCondLst>
                              <p:cond delay="11000"/>
                            </p:stCondLst>
                            <p:childTnLst>
                              <p:par>
                                <p:cTn id="40" presetID="64" presetClass="path" presetSubtype="0" accel="50000" decel="50000" fill="hold" nodeType="afterEffect">
                                  <p:stCondLst>
                                    <p:cond delay="0"/>
                                  </p:stCondLst>
                                  <p:childTnLst>
                                    <p:animMotion origin="layout" path="M 0.00469 -0.34977 L 0.00538 -0.43866 " pathEditMode="relative" rAng="0" ptsTypes="AA">
                                      <p:cBhvr>
                                        <p:cTn id="41" dur="2000" fill="hold"/>
                                        <p:tgtEl>
                                          <p:spTgt spid="3"/>
                                        </p:tgtEl>
                                        <p:attrNameLst>
                                          <p:attrName>ppt_x</p:attrName>
                                          <p:attrName>ppt_y</p:attrName>
                                        </p:attrNameLst>
                                      </p:cBhvr>
                                      <p:rCtr x="35" y="-44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9" grpId="1" animBg="1"/>
      <p:bldP spid="9" grpId="2" animBg="1"/>
      <p:bldP spid="6" grpId="0" animBg="1"/>
      <p:bldP spid="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able 34"/>
          <p:cNvGraphicFramePr>
            <a:graphicFrameLocks noGrp="1"/>
          </p:cNvGraphicFramePr>
          <p:nvPr/>
        </p:nvGraphicFramePr>
        <p:xfrm>
          <a:off x="5410201" y="1168400"/>
          <a:ext cx="1268413" cy="4775200"/>
        </p:xfrm>
        <a:graphic>
          <a:graphicData uri="http://schemas.openxmlformats.org/drawingml/2006/table">
            <a:tbl>
              <a:tblPr firstRow="1" bandRow="1">
                <a:tableStyleId>{5C22544A-7EE6-4342-B048-85BDC9FD1C3A}</a:tableStyleId>
              </a:tblPr>
              <a:tblGrid>
                <a:gridCol w="761810">
                  <a:extLst>
                    <a:ext uri="{9D8B030D-6E8A-4147-A177-3AD203B41FA5}">
                      <a16:colId xmlns:a16="http://schemas.microsoft.com/office/drawing/2014/main" val="20000"/>
                    </a:ext>
                  </a:extLst>
                </a:gridCol>
                <a:gridCol w="506603">
                  <a:extLst>
                    <a:ext uri="{9D8B030D-6E8A-4147-A177-3AD203B41FA5}">
                      <a16:colId xmlns:a16="http://schemas.microsoft.com/office/drawing/2014/main" val="20001"/>
                    </a:ext>
                  </a:extLst>
                </a:gridCol>
              </a:tblGrid>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1</a:t>
                      </a:r>
                      <a:endParaRPr lang="en-US" b="1">
                        <a:solidFill>
                          <a:srgbClr val="7030A0"/>
                        </a:solidFill>
                      </a:endParaRPr>
                    </a:p>
                  </a:txBody>
                  <a:tcPr marL="91417" marR="91417" anchor="ctr">
                    <a:noFill/>
                  </a:tcPr>
                </a:tc>
                <a:extLst>
                  <a:ext uri="{0D108BD9-81ED-4DB2-BD59-A6C34878D82A}">
                    <a16:rowId xmlns:a16="http://schemas.microsoft.com/office/drawing/2014/main" val="10000"/>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2</a:t>
                      </a:r>
                      <a:endParaRPr lang="en-US" b="1">
                        <a:solidFill>
                          <a:srgbClr val="7030A0"/>
                        </a:solidFill>
                      </a:endParaRPr>
                    </a:p>
                  </a:txBody>
                  <a:tcPr marL="91417" marR="91417" anchor="ctr">
                    <a:noFill/>
                  </a:tcPr>
                </a:tc>
                <a:extLst>
                  <a:ext uri="{0D108BD9-81ED-4DB2-BD59-A6C34878D82A}">
                    <a16:rowId xmlns:a16="http://schemas.microsoft.com/office/drawing/2014/main" val="10001"/>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3</a:t>
                      </a:r>
                      <a:endParaRPr lang="en-US" b="1">
                        <a:solidFill>
                          <a:srgbClr val="7030A0"/>
                        </a:solidFill>
                      </a:endParaRPr>
                    </a:p>
                  </a:txBody>
                  <a:tcPr marL="91417" marR="91417" anchor="ctr">
                    <a:noFill/>
                  </a:tcPr>
                </a:tc>
                <a:extLst>
                  <a:ext uri="{0D108BD9-81ED-4DB2-BD59-A6C34878D82A}">
                    <a16:rowId xmlns:a16="http://schemas.microsoft.com/office/drawing/2014/main" val="10002"/>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4</a:t>
                      </a:r>
                      <a:endParaRPr lang="en-US" b="1">
                        <a:solidFill>
                          <a:srgbClr val="7030A0"/>
                        </a:solidFill>
                      </a:endParaRPr>
                    </a:p>
                  </a:txBody>
                  <a:tcPr marL="91417" marR="91417" anchor="ctr">
                    <a:noFill/>
                  </a:tcPr>
                </a:tc>
                <a:extLst>
                  <a:ext uri="{0D108BD9-81ED-4DB2-BD59-A6C34878D82A}">
                    <a16:rowId xmlns:a16="http://schemas.microsoft.com/office/drawing/2014/main" val="10003"/>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5</a:t>
                      </a:r>
                      <a:endParaRPr lang="en-US" b="1">
                        <a:solidFill>
                          <a:srgbClr val="7030A0"/>
                        </a:solidFill>
                      </a:endParaRPr>
                    </a:p>
                  </a:txBody>
                  <a:tcPr marL="91417" marR="91417" anchor="ctr">
                    <a:noFill/>
                  </a:tcPr>
                </a:tc>
                <a:extLst>
                  <a:ext uri="{0D108BD9-81ED-4DB2-BD59-A6C34878D82A}">
                    <a16:rowId xmlns:a16="http://schemas.microsoft.com/office/drawing/2014/main" val="10004"/>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6</a:t>
                      </a:r>
                      <a:endParaRPr lang="en-US" b="1">
                        <a:solidFill>
                          <a:srgbClr val="7030A0"/>
                        </a:solidFill>
                      </a:endParaRPr>
                    </a:p>
                  </a:txBody>
                  <a:tcPr marL="91417" marR="91417" anchor="ctr">
                    <a:noFill/>
                  </a:tcPr>
                </a:tc>
                <a:extLst>
                  <a:ext uri="{0D108BD9-81ED-4DB2-BD59-A6C34878D82A}">
                    <a16:rowId xmlns:a16="http://schemas.microsoft.com/office/drawing/2014/main" val="10005"/>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7</a:t>
                      </a:r>
                      <a:endParaRPr lang="en-US" b="1">
                        <a:solidFill>
                          <a:srgbClr val="7030A0"/>
                        </a:solidFill>
                      </a:endParaRPr>
                    </a:p>
                  </a:txBody>
                  <a:tcPr marL="91417" marR="91417" anchor="ctr">
                    <a:noFill/>
                  </a:tcPr>
                </a:tc>
                <a:extLst>
                  <a:ext uri="{0D108BD9-81ED-4DB2-BD59-A6C34878D82A}">
                    <a16:rowId xmlns:a16="http://schemas.microsoft.com/office/drawing/2014/main" val="10006"/>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8</a:t>
                      </a:r>
                      <a:endParaRPr lang="en-US" b="1">
                        <a:solidFill>
                          <a:srgbClr val="7030A0"/>
                        </a:solidFill>
                      </a:endParaRPr>
                    </a:p>
                  </a:txBody>
                  <a:tcPr marL="91417" marR="91417" anchor="ctr">
                    <a:noFill/>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6BFCA169-0B17-4D8B-9260-736E09E40D10}" type="slidenum">
              <a:rPr lang="en-US" smtClean="0"/>
              <a:pPr>
                <a:defRPr/>
              </a:pPr>
              <a:t>78</a:t>
            </a:fld>
            <a:endParaRPr lang="en-US"/>
          </a:p>
        </p:txBody>
      </p:sp>
      <p:sp>
        <p:nvSpPr>
          <p:cNvPr id="8" name="Oval 7"/>
          <p:cNvSpPr/>
          <p:nvPr/>
        </p:nvSpPr>
        <p:spPr>
          <a:xfrm>
            <a:off x="5486400" y="4219575"/>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9" name="Oval 8"/>
          <p:cNvSpPr/>
          <p:nvPr/>
        </p:nvSpPr>
        <p:spPr>
          <a:xfrm>
            <a:off x="5486400" y="24384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10" name="Oval 9"/>
          <p:cNvSpPr/>
          <p:nvPr/>
        </p:nvSpPr>
        <p:spPr>
          <a:xfrm>
            <a:off x="5486400" y="48006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1" name="Oval 10"/>
          <p:cNvSpPr/>
          <p:nvPr/>
        </p:nvSpPr>
        <p:spPr>
          <a:xfrm>
            <a:off x="5486400" y="18288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12" name="Oval 11"/>
          <p:cNvSpPr/>
          <p:nvPr/>
        </p:nvSpPr>
        <p:spPr>
          <a:xfrm>
            <a:off x="5486400" y="5410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5486400" y="12192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6" name="Oval 5"/>
          <p:cNvSpPr/>
          <p:nvPr/>
        </p:nvSpPr>
        <p:spPr>
          <a:xfrm>
            <a:off x="5486400" y="3032125"/>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7" name="Oval 6"/>
          <p:cNvSpPr/>
          <p:nvPr/>
        </p:nvSpPr>
        <p:spPr>
          <a:xfrm>
            <a:off x="5486400" y="3609975"/>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grpSp>
        <p:nvGrpSpPr>
          <p:cNvPr id="2" name="Group 45"/>
          <p:cNvGrpSpPr>
            <a:grpSpLocks/>
          </p:cNvGrpSpPr>
          <p:nvPr/>
        </p:nvGrpSpPr>
        <p:grpSpPr bwMode="auto">
          <a:xfrm>
            <a:off x="3657600" y="2589214"/>
            <a:ext cx="4343400" cy="382587"/>
            <a:chOff x="1143000" y="1371600"/>
            <a:chExt cx="4343400" cy="382588"/>
          </a:xfrm>
        </p:grpSpPr>
        <p:cxnSp>
          <p:nvCxnSpPr>
            <p:cNvPr id="41" name="Straight Connector 40"/>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grpSp>
      <p:grpSp>
        <p:nvGrpSpPr>
          <p:cNvPr id="3" name="Group 46"/>
          <p:cNvGrpSpPr>
            <a:grpSpLocks/>
          </p:cNvGrpSpPr>
          <p:nvPr/>
        </p:nvGrpSpPr>
        <p:grpSpPr bwMode="auto">
          <a:xfrm>
            <a:off x="3581400" y="5561014"/>
            <a:ext cx="4343400" cy="382587"/>
            <a:chOff x="1143000" y="1371600"/>
            <a:chExt cx="4343400" cy="382588"/>
          </a:xfrm>
        </p:grpSpPr>
        <p:cxnSp>
          <p:nvCxnSpPr>
            <p:cNvPr id="48" name="Straight Connector 47"/>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9" name="Rounded Rectangle 48"/>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grpSp>
      <p:sp>
        <p:nvSpPr>
          <p:cNvPr id="18" name="Title 1"/>
          <p:cNvSpPr>
            <a:spLocks noGrp="1"/>
          </p:cNvSpPr>
          <p:nvPr>
            <p:ph type="title"/>
          </p:nvPr>
        </p:nvSpPr>
        <p:spPr>
          <a:xfrm>
            <a:off x="533400" y="381000"/>
            <a:ext cx="10515600" cy="930275"/>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3. Nổi </a:t>
            </a:r>
            <a:r>
              <a:rPr lang="en-US" b="1" dirty="0" err="1" smtClean="0">
                <a:solidFill>
                  <a:srgbClr val="0070C0"/>
                </a:solidFill>
                <a:latin typeface="Times New Roman" panose="02020603050405020304" pitchFamily="18" charset="0"/>
                <a:cs typeface="Times New Roman" panose="02020603050405020304" pitchFamily="18" charset="0"/>
              </a:rPr>
              <a:t>bọt</a:t>
            </a:r>
            <a:r>
              <a:rPr lang="en-US" b="1" dirty="0" smtClean="0">
                <a:solidFill>
                  <a:srgbClr val="0070C0"/>
                </a:solidFill>
                <a:latin typeface="Times New Roman" panose="02020603050405020304" pitchFamily="18" charset="0"/>
                <a:cs typeface="Times New Roman" panose="02020603050405020304" pitchFamily="18" charset="0"/>
              </a:rPr>
              <a:t> – bubble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3.33333E-6 -4.07407E-6 L -0.00416 0.08357 " pathEditMode="relative" rAng="0" ptsTypes="AA">
                                      <p:cBhvr>
                                        <p:cTn id="6" dur="2000" fill="hold"/>
                                        <p:tgtEl>
                                          <p:spTgt spid="2"/>
                                        </p:tgtEl>
                                        <p:attrNameLst>
                                          <p:attrName>ppt_x</p:attrName>
                                          <p:attrName>ppt_y</p:attrName>
                                        </p:attrNameLst>
                                      </p:cBhvr>
                                      <p:rCtr x="-208" y="4167"/>
                                    </p:animMotion>
                                  </p:childTnLst>
                                </p:cTn>
                              </p:par>
                            </p:childTnLst>
                          </p:cTn>
                        </p:par>
                        <p:par>
                          <p:cTn id="7" fill="hold" nodeType="afterGroup">
                            <p:stCondLst>
                              <p:cond delay="2000"/>
                            </p:stCondLst>
                            <p:childTnLst>
                              <p:par>
                                <p:cTn id="8" presetID="3" presetClass="entr" presetSubtype="1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par>
                          <p:cTn id="11" fill="hold" nodeType="afterGroup">
                            <p:stCondLst>
                              <p:cond delay="2500"/>
                            </p:stCondLst>
                            <p:childTnLst>
                              <p:par>
                                <p:cTn id="12" presetID="64" presetClass="path" presetSubtype="0" accel="50000" decel="50000" fill="hold" nodeType="afterEffect">
                                  <p:stCondLst>
                                    <p:cond delay="0"/>
                                  </p:stCondLst>
                                  <p:childTnLst>
                                    <p:animMotion origin="layout" path="M 0 -4.44444E-6 L -0.00208 -0.07986 " pathEditMode="relative" rAng="0" ptsTypes="AA">
                                      <p:cBhvr>
                                        <p:cTn id="13" dur="2000" fill="hold"/>
                                        <p:tgtEl>
                                          <p:spTgt spid="3"/>
                                        </p:tgtEl>
                                        <p:attrNameLst>
                                          <p:attrName>ppt_x</p:attrName>
                                          <p:attrName>ppt_y</p:attrName>
                                        </p:attrNameLst>
                                      </p:cBhvr>
                                      <p:rCtr x="-104" y="-4005"/>
                                    </p:animMotion>
                                  </p:childTnLst>
                                </p:cTn>
                              </p:par>
                            </p:childTnLst>
                          </p:cTn>
                        </p:par>
                        <p:par>
                          <p:cTn id="14" fill="hold" nodeType="afterGroup">
                            <p:stCondLst>
                              <p:cond delay="4500"/>
                            </p:stCondLst>
                            <p:childTnLst>
                              <p:par>
                                <p:cTn id="15" presetID="64" presetClass="path" presetSubtype="0" accel="50000" decel="50000" fill="hold" nodeType="afterEffect">
                                  <p:stCondLst>
                                    <p:cond delay="0"/>
                                  </p:stCondLst>
                                  <p:childTnLst>
                                    <p:animMotion origin="layout" path="M -0.00208 -0.07986 L 0.00295 -0.17407 " pathEditMode="relative" rAng="0" ptsTypes="AA">
                                      <p:cBhvr>
                                        <p:cTn id="16" dur="2000" fill="hold"/>
                                        <p:tgtEl>
                                          <p:spTgt spid="3"/>
                                        </p:tgtEl>
                                        <p:attrNameLst>
                                          <p:attrName>ppt_x</p:attrName>
                                          <p:attrName>ppt_y</p:attrName>
                                        </p:attrNameLst>
                                      </p:cBhvr>
                                      <p:rCtr x="243" y="-4722"/>
                                    </p:animMotion>
                                  </p:childTnLst>
                                </p:cTn>
                              </p:par>
                            </p:childTnLst>
                          </p:cTn>
                        </p:par>
                        <p:par>
                          <p:cTn id="17" fill="hold" nodeType="afterGroup">
                            <p:stCondLst>
                              <p:cond delay="6500"/>
                            </p:stCondLst>
                            <p:childTnLst>
                              <p:par>
                                <p:cTn id="18" presetID="64" presetClass="path" presetSubtype="0" accel="50000" decel="50000" fill="hold" nodeType="afterEffect">
                                  <p:stCondLst>
                                    <p:cond delay="0"/>
                                  </p:stCondLst>
                                  <p:childTnLst>
                                    <p:animMotion origin="layout" path="M 0.00295 -0.17662 L 0.00156 -0.26204 " pathEditMode="relative" rAng="0" ptsTypes="AA">
                                      <p:cBhvr>
                                        <p:cTn id="19" dur="2000" fill="hold"/>
                                        <p:tgtEl>
                                          <p:spTgt spid="3"/>
                                        </p:tgtEl>
                                        <p:attrNameLst>
                                          <p:attrName>ppt_x</p:attrName>
                                          <p:attrName>ppt_y</p:attrName>
                                        </p:attrNameLst>
                                      </p:cBhvr>
                                      <p:rCtr x="-69" y="-4282"/>
                                    </p:animMotion>
                                  </p:childTnLst>
                                </p:cTn>
                              </p:par>
                            </p:childTnLst>
                          </p:cTn>
                        </p:par>
                        <p:par>
                          <p:cTn id="20" fill="hold" nodeType="afterGroup">
                            <p:stCondLst>
                              <p:cond delay="8500"/>
                            </p:stCondLst>
                            <p:childTnLst>
                              <p:par>
                                <p:cTn id="21" presetID="7" presetClass="path" presetSubtype="0" accel="50000" decel="50000" fill="hold" grpId="0" nodeType="afterEffect">
                                  <p:stCondLst>
                                    <p:cond delay="0"/>
                                  </p:stCondLst>
                                  <p:childTnLst>
                                    <p:animMotion origin="layout" path="M 3.33333E-6 -2.22222E-6 L 0.18854 -0.00116 L 0.18854 -0.08148 L -0.00122 -0.08379 " pathEditMode="relative" rAng="0" ptsTypes="FFFF">
                                      <p:cBhvr>
                                        <p:cTn id="22" dur="1000" fill="hold"/>
                                        <p:tgtEl>
                                          <p:spTgt spid="7"/>
                                        </p:tgtEl>
                                        <p:attrNameLst>
                                          <p:attrName>ppt_x</p:attrName>
                                          <p:attrName>ppt_y</p:attrName>
                                        </p:attrNameLst>
                                      </p:cBhvr>
                                      <p:rCtr x="9358" y="-4190"/>
                                    </p:animMotion>
                                  </p:childTnLst>
                                </p:cTn>
                              </p:par>
                              <p:par>
                                <p:cTn id="23" presetID="7" presetClass="path" presetSubtype="0" accel="50000" decel="50000" fill="hold" grpId="0" nodeType="withEffect">
                                  <p:stCondLst>
                                    <p:cond delay="0"/>
                                  </p:stCondLst>
                                  <p:childTnLst>
                                    <p:animMotion origin="layout" path="M 3.33333E-6 -2.96296E-6 L -0.17882 -0.00416 L -0.17882 0.0831 L 0.00052 0.08773 " pathEditMode="relative" rAng="0" ptsTypes="FFFF">
                                      <p:cBhvr>
                                        <p:cTn id="24" dur="1000" fill="hold"/>
                                        <p:tgtEl>
                                          <p:spTgt spid="6"/>
                                        </p:tgtEl>
                                        <p:attrNameLst>
                                          <p:attrName>ppt_x</p:attrName>
                                          <p:attrName>ppt_y</p:attrName>
                                        </p:attrNameLst>
                                      </p:cBhvr>
                                      <p:rCtr x="-8924" y="4167"/>
                                    </p:animMotion>
                                  </p:childTnLst>
                                </p:cTn>
                              </p:par>
                            </p:childTnLst>
                          </p:cTn>
                        </p:par>
                        <p:par>
                          <p:cTn id="25" fill="hold" nodeType="afterGroup">
                            <p:stCondLst>
                              <p:cond delay="9500"/>
                            </p:stCondLst>
                            <p:childTnLst>
                              <p:par>
                                <p:cTn id="26" presetID="64" presetClass="path" presetSubtype="0" accel="50000" decel="50000" fill="hold" nodeType="afterEffect">
                                  <p:stCondLst>
                                    <p:cond delay="0"/>
                                  </p:stCondLst>
                                  <p:childTnLst>
                                    <p:animMotion origin="layout" path="M 0.00156 -0.26204 L 0.00069 -0.35093 " pathEditMode="relative" rAng="0" ptsTypes="AA">
                                      <p:cBhvr>
                                        <p:cTn id="27" dur="2000" fill="hold"/>
                                        <p:tgtEl>
                                          <p:spTgt spid="3"/>
                                        </p:tgtEl>
                                        <p:attrNameLst>
                                          <p:attrName>ppt_x</p:attrName>
                                          <p:attrName>ppt_y</p:attrName>
                                        </p:attrNameLst>
                                      </p:cBhvr>
                                      <p:rCtr x="-52" y="-44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able 34"/>
          <p:cNvGraphicFramePr>
            <a:graphicFrameLocks noGrp="1"/>
          </p:cNvGraphicFramePr>
          <p:nvPr/>
        </p:nvGraphicFramePr>
        <p:xfrm>
          <a:off x="5410201" y="1168400"/>
          <a:ext cx="1268413" cy="4775200"/>
        </p:xfrm>
        <a:graphic>
          <a:graphicData uri="http://schemas.openxmlformats.org/drawingml/2006/table">
            <a:tbl>
              <a:tblPr firstRow="1" bandRow="1">
                <a:tableStyleId>{5C22544A-7EE6-4342-B048-85BDC9FD1C3A}</a:tableStyleId>
              </a:tblPr>
              <a:tblGrid>
                <a:gridCol w="761810">
                  <a:extLst>
                    <a:ext uri="{9D8B030D-6E8A-4147-A177-3AD203B41FA5}">
                      <a16:colId xmlns:a16="http://schemas.microsoft.com/office/drawing/2014/main" val="20000"/>
                    </a:ext>
                  </a:extLst>
                </a:gridCol>
                <a:gridCol w="506603">
                  <a:extLst>
                    <a:ext uri="{9D8B030D-6E8A-4147-A177-3AD203B41FA5}">
                      <a16:colId xmlns:a16="http://schemas.microsoft.com/office/drawing/2014/main" val="20001"/>
                    </a:ext>
                  </a:extLst>
                </a:gridCol>
              </a:tblGrid>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1</a:t>
                      </a:r>
                      <a:endParaRPr lang="en-US" b="1">
                        <a:solidFill>
                          <a:srgbClr val="7030A0"/>
                        </a:solidFill>
                      </a:endParaRPr>
                    </a:p>
                  </a:txBody>
                  <a:tcPr marL="91417" marR="91417" anchor="ctr">
                    <a:noFill/>
                  </a:tcPr>
                </a:tc>
                <a:extLst>
                  <a:ext uri="{0D108BD9-81ED-4DB2-BD59-A6C34878D82A}">
                    <a16:rowId xmlns:a16="http://schemas.microsoft.com/office/drawing/2014/main" val="10000"/>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2</a:t>
                      </a:r>
                      <a:endParaRPr lang="en-US" b="1">
                        <a:solidFill>
                          <a:srgbClr val="7030A0"/>
                        </a:solidFill>
                      </a:endParaRPr>
                    </a:p>
                  </a:txBody>
                  <a:tcPr marL="91417" marR="91417" anchor="ctr">
                    <a:noFill/>
                  </a:tcPr>
                </a:tc>
                <a:extLst>
                  <a:ext uri="{0D108BD9-81ED-4DB2-BD59-A6C34878D82A}">
                    <a16:rowId xmlns:a16="http://schemas.microsoft.com/office/drawing/2014/main" val="10001"/>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3</a:t>
                      </a:r>
                      <a:endParaRPr lang="en-US" b="1">
                        <a:solidFill>
                          <a:srgbClr val="7030A0"/>
                        </a:solidFill>
                      </a:endParaRPr>
                    </a:p>
                  </a:txBody>
                  <a:tcPr marL="91417" marR="91417" anchor="ctr">
                    <a:noFill/>
                  </a:tcPr>
                </a:tc>
                <a:extLst>
                  <a:ext uri="{0D108BD9-81ED-4DB2-BD59-A6C34878D82A}">
                    <a16:rowId xmlns:a16="http://schemas.microsoft.com/office/drawing/2014/main" val="10002"/>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4</a:t>
                      </a:r>
                      <a:endParaRPr lang="en-US" b="1">
                        <a:solidFill>
                          <a:srgbClr val="7030A0"/>
                        </a:solidFill>
                      </a:endParaRPr>
                    </a:p>
                  </a:txBody>
                  <a:tcPr marL="91417" marR="91417" anchor="ctr">
                    <a:noFill/>
                  </a:tcPr>
                </a:tc>
                <a:extLst>
                  <a:ext uri="{0D108BD9-81ED-4DB2-BD59-A6C34878D82A}">
                    <a16:rowId xmlns:a16="http://schemas.microsoft.com/office/drawing/2014/main" val="10003"/>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5</a:t>
                      </a:r>
                      <a:endParaRPr lang="en-US" b="1">
                        <a:solidFill>
                          <a:srgbClr val="7030A0"/>
                        </a:solidFill>
                      </a:endParaRPr>
                    </a:p>
                  </a:txBody>
                  <a:tcPr marL="91417" marR="91417" anchor="ctr">
                    <a:noFill/>
                  </a:tcPr>
                </a:tc>
                <a:extLst>
                  <a:ext uri="{0D108BD9-81ED-4DB2-BD59-A6C34878D82A}">
                    <a16:rowId xmlns:a16="http://schemas.microsoft.com/office/drawing/2014/main" val="10004"/>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6</a:t>
                      </a:r>
                      <a:endParaRPr lang="en-US" b="1">
                        <a:solidFill>
                          <a:srgbClr val="7030A0"/>
                        </a:solidFill>
                      </a:endParaRPr>
                    </a:p>
                  </a:txBody>
                  <a:tcPr marL="91417" marR="91417" anchor="ctr">
                    <a:noFill/>
                  </a:tcPr>
                </a:tc>
                <a:extLst>
                  <a:ext uri="{0D108BD9-81ED-4DB2-BD59-A6C34878D82A}">
                    <a16:rowId xmlns:a16="http://schemas.microsoft.com/office/drawing/2014/main" val="10005"/>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7</a:t>
                      </a:r>
                      <a:endParaRPr lang="en-US" b="1">
                        <a:solidFill>
                          <a:srgbClr val="7030A0"/>
                        </a:solidFill>
                      </a:endParaRPr>
                    </a:p>
                  </a:txBody>
                  <a:tcPr marL="91417" marR="91417" anchor="ctr">
                    <a:noFill/>
                  </a:tcPr>
                </a:tc>
                <a:extLst>
                  <a:ext uri="{0D108BD9-81ED-4DB2-BD59-A6C34878D82A}">
                    <a16:rowId xmlns:a16="http://schemas.microsoft.com/office/drawing/2014/main" val="10006"/>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8</a:t>
                      </a:r>
                      <a:endParaRPr lang="en-US" b="1">
                        <a:solidFill>
                          <a:srgbClr val="7030A0"/>
                        </a:solidFill>
                      </a:endParaRPr>
                    </a:p>
                  </a:txBody>
                  <a:tcPr marL="91417" marR="91417" anchor="ctr">
                    <a:noFill/>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3DCA610D-46E8-4B1F-9F09-772833366ADC}" type="slidenum">
              <a:rPr lang="en-US" smtClean="0"/>
              <a:pPr>
                <a:defRPr/>
              </a:pPr>
              <a:t>79</a:t>
            </a:fld>
            <a:endParaRPr lang="en-US"/>
          </a:p>
        </p:txBody>
      </p:sp>
      <p:sp>
        <p:nvSpPr>
          <p:cNvPr id="8" name="Oval 7"/>
          <p:cNvSpPr/>
          <p:nvPr/>
        </p:nvSpPr>
        <p:spPr>
          <a:xfrm>
            <a:off x="5486400" y="4219575"/>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9" name="Oval 8"/>
          <p:cNvSpPr/>
          <p:nvPr/>
        </p:nvSpPr>
        <p:spPr>
          <a:xfrm>
            <a:off x="5486400" y="24384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10" name="Oval 9"/>
          <p:cNvSpPr/>
          <p:nvPr/>
        </p:nvSpPr>
        <p:spPr>
          <a:xfrm>
            <a:off x="5486400" y="48006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1" name="Oval 10"/>
          <p:cNvSpPr/>
          <p:nvPr/>
        </p:nvSpPr>
        <p:spPr>
          <a:xfrm>
            <a:off x="5486400" y="18288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12" name="Oval 11"/>
          <p:cNvSpPr/>
          <p:nvPr/>
        </p:nvSpPr>
        <p:spPr>
          <a:xfrm>
            <a:off x="5486400" y="5410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5486400" y="12192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6" name="Oval 5"/>
          <p:cNvSpPr/>
          <p:nvPr/>
        </p:nvSpPr>
        <p:spPr>
          <a:xfrm>
            <a:off x="5486400" y="36576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7" name="Oval 6"/>
          <p:cNvSpPr/>
          <p:nvPr/>
        </p:nvSpPr>
        <p:spPr>
          <a:xfrm>
            <a:off x="5486400" y="3032125"/>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grpSp>
        <p:nvGrpSpPr>
          <p:cNvPr id="2" name="Group 45"/>
          <p:cNvGrpSpPr>
            <a:grpSpLocks/>
          </p:cNvGrpSpPr>
          <p:nvPr/>
        </p:nvGrpSpPr>
        <p:grpSpPr bwMode="auto">
          <a:xfrm>
            <a:off x="3657600" y="3167064"/>
            <a:ext cx="4343400" cy="382587"/>
            <a:chOff x="1143000" y="1371600"/>
            <a:chExt cx="4343400" cy="382588"/>
          </a:xfrm>
        </p:grpSpPr>
        <p:cxnSp>
          <p:nvCxnSpPr>
            <p:cNvPr id="41" name="Straight Connector 40"/>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grpSp>
      <p:grpSp>
        <p:nvGrpSpPr>
          <p:cNvPr id="3" name="Group 46"/>
          <p:cNvGrpSpPr>
            <a:grpSpLocks/>
          </p:cNvGrpSpPr>
          <p:nvPr/>
        </p:nvGrpSpPr>
        <p:grpSpPr bwMode="auto">
          <a:xfrm>
            <a:off x="3581400" y="5561014"/>
            <a:ext cx="4343400" cy="382587"/>
            <a:chOff x="1143000" y="1371600"/>
            <a:chExt cx="4343400" cy="382588"/>
          </a:xfrm>
        </p:grpSpPr>
        <p:cxnSp>
          <p:nvCxnSpPr>
            <p:cNvPr id="48" name="Straight Connector 47"/>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9" name="Rounded Rectangle 48"/>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grpSp>
      <p:sp>
        <p:nvSpPr>
          <p:cNvPr id="18" name="Title 1"/>
          <p:cNvSpPr>
            <a:spLocks noGrp="1"/>
          </p:cNvSpPr>
          <p:nvPr>
            <p:ph type="title"/>
          </p:nvPr>
        </p:nvSpPr>
        <p:spPr>
          <a:xfrm>
            <a:off x="533400" y="381000"/>
            <a:ext cx="10515600" cy="930275"/>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3. Nổi </a:t>
            </a:r>
            <a:r>
              <a:rPr lang="en-US" b="1" dirty="0" err="1" smtClean="0">
                <a:solidFill>
                  <a:srgbClr val="0070C0"/>
                </a:solidFill>
                <a:latin typeface="Times New Roman" panose="02020603050405020304" pitchFamily="18" charset="0"/>
                <a:cs typeface="Times New Roman" panose="02020603050405020304" pitchFamily="18" charset="0"/>
              </a:rPr>
              <a:t>bọt</a:t>
            </a:r>
            <a:r>
              <a:rPr lang="en-US" b="1" dirty="0" smtClean="0">
                <a:solidFill>
                  <a:srgbClr val="0070C0"/>
                </a:solidFill>
                <a:latin typeface="Times New Roman" panose="02020603050405020304" pitchFamily="18" charset="0"/>
                <a:cs typeface="Times New Roman" panose="02020603050405020304" pitchFamily="18" charset="0"/>
              </a:rPr>
              <a:t> – bubble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3.33333E-6 -3.33333E-6 L -0.00225 0.08565 " pathEditMode="relative" rAng="0" ptsTypes="AA">
                                      <p:cBhvr>
                                        <p:cTn id="6" dur="2000" fill="hold"/>
                                        <p:tgtEl>
                                          <p:spTgt spid="2"/>
                                        </p:tgtEl>
                                        <p:attrNameLst>
                                          <p:attrName>ppt_x</p:attrName>
                                          <p:attrName>ppt_y</p:attrName>
                                        </p:attrNameLst>
                                      </p:cBhvr>
                                      <p:rCtr x="-122" y="4282"/>
                                    </p:animMotion>
                                  </p:childTnLst>
                                </p:cTn>
                              </p:par>
                            </p:childTnLst>
                          </p:cTn>
                        </p:par>
                        <p:par>
                          <p:cTn id="7" fill="hold" nodeType="afterGroup">
                            <p:stCondLst>
                              <p:cond delay="2000"/>
                            </p:stCondLst>
                            <p:childTnLst>
                              <p:par>
                                <p:cTn id="8" presetID="3" presetClass="entr" presetSubtype="1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64" presetClass="path" presetSubtype="0" accel="50000" decel="50000" fill="hold" nodeType="clickEffect">
                                  <p:stCondLst>
                                    <p:cond delay="0"/>
                                  </p:stCondLst>
                                  <p:childTnLst>
                                    <p:animMotion origin="layout" path="M 0 2.59259E-6 L 0.00139 -0.08704 " pathEditMode="relative" rAng="0" ptsTypes="AA">
                                      <p:cBhvr>
                                        <p:cTn id="14" dur="2000" fill="hold"/>
                                        <p:tgtEl>
                                          <p:spTgt spid="3"/>
                                        </p:tgtEl>
                                        <p:attrNameLst>
                                          <p:attrName>ppt_x</p:attrName>
                                          <p:attrName>ppt_y</p:attrName>
                                        </p:attrNameLst>
                                      </p:cBhvr>
                                      <p:rCtr x="69" y="-4352"/>
                                    </p:animMotion>
                                  </p:childTnLst>
                                </p:cTn>
                              </p:par>
                            </p:childTnLst>
                          </p:cTn>
                        </p:par>
                        <p:par>
                          <p:cTn id="15" fill="hold" nodeType="afterGroup">
                            <p:stCondLst>
                              <p:cond delay="2000"/>
                            </p:stCondLst>
                            <p:childTnLst>
                              <p:par>
                                <p:cTn id="16" presetID="64" presetClass="path" presetSubtype="0" accel="50000" decel="50000" fill="hold" nodeType="afterEffect">
                                  <p:stCondLst>
                                    <p:cond delay="0"/>
                                  </p:stCondLst>
                                  <p:childTnLst>
                                    <p:animMotion origin="layout" path="M 0.00139 -0.08704 L 0.0033 -0.17593 " pathEditMode="relative" rAng="0" ptsTypes="AA">
                                      <p:cBhvr>
                                        <p:cTn id="17" dur="2000" fill="hold"/>
                                        <p:tgtEl>
                                          <p:spTgt spid="3"/>
                                        </p:tgtEl>
                                        <p:attrNameLst>
                                          <p:attrName>ppt_x</p:attrName>
                                          <p:attrName>ppt_y</p:attrName>
                                        </p:attrNameLst>
                                      </p:cBhvr>
                                      <p:rCtr x="87" y="-4444"/>
                                    </p:animMotion>
                                  </p:childTnLst>
                                </p:cTn>
                              </p:par>
                            </p:childTnLst>
                          </p:cTn>
                        </p:par>
                        <p:par>
                          <p:cTn id="18" fill="hold" nodeType="afterGroup">
                            <p:stCondLst>
                              <p:cond delay="4000"/>
                            </p:stCondLst>
                            <p:childTnLst>
                              <p:par>
                                <p:cTn id="19" presetID="7" presetClass="path" presetSubtype="0" accel="50000" decel="50000" fill="hold" grpId="0" nodeType="afterEffect">
                                  <p:stCondLst>
                                    <p:cond delay="0"/>
                                  </p:stCondLst>
                                  <p:childTnLst>
                                    <p:animMotion origin="layout" path="M 3.33333E-6 -1.11111E-6 L 0.17986 -0.00486 L 0.17812 -0.0831 L 0.00052 -0.0831 " pathEditMode="relative" rAng="0" ptsTypes="FFFF">
                                      <p:cBhvr>
                                        <p:cTn id="20" dur="1000" fill="hold"/>
                                        <p:tgtEl>
                                          <p:spTgt spid="8"/>
                                        </p:tgtEl>
                                        <p:attrNameLst>
                                          <p:attrName>ppt_x</p:attrName>
                                          <p:attrName>ppt_y</p:attrName>
                                        </p:attrNameLst>
                                      </p:cBhvr>
                                      <p:rCtr x="8993" y="-4167"/>
                                    </p:animMotion>
                                  </p:childTnLst>
                                </p:cTn>
                              </p:par>
                              <p:par>
                                <p:cTn id="21" presetID="7" presetClass="path" presetSubtype="0" accel="50000" decel="50000" fill="hold" grpId="0" nodeType="withEffect">
                                  <p:stCondLst>
                                    <p:cond delay="0"/>
                                  </p:stCondLst>
                                  <p:childTnLst>
                                    <p:animMotion origin="layout" path="M 3.33333E-6 3.33333E-6 L -0.18039 0.00115 L -0.17882 0.07708 L -0.00122 0.08611 " pathEditMode="relative" rAng="0" ptsTypes="FFFF">
                                      <p:cBhvr>
                                        <p:cTn id="22" dur="1000" fill="hold"/>
                                        <p:tgtEl>
                                          <p:spTgt spid="6"/>
                                        </p:tgtEl>
                                        <p:attrNameLst>
                                          <p:attrName>ppt_x</p:attrName>
                                          <p:attrName>ppt_y</p:attrName>
                                        </p:attrNameLst>
                                      </p:cBhvr>
                                      <p:rCtr x="-9028" y="4306"/>
                                    </p:animMotion>
                                  </p:childTnLst>
                                </p:cTn>
                              </p:par>
                            </p:childTnLst>
                          </p:cTn>
                        </p:par>
                        <p:par>
                          <p:cTn id="23" fill="hold" nodeType="afterGroup">
                            <p:stCondLst>
                              <p:cond delay="5000"/>
                            </p:stCondLst>
                            <p:childTnLst>
                              <p:par>
                                <p:cTn id="24" presetID="64" presetClass="path" presetSubtype="0" accel="50000" decel="50000" fill="hold" nodeType="afterEffect">
                                  <p:stCondLst>
                                    <p:cond delay="0"/>
                                  </p:stCondLst>
                                  <p:childTnLst>
                                    <p:animMotion origin="layout" path="M 0.0033 -0.17593 L 0.00226 -0.26042 " pathEditMode="relative" rAng="0" ptsTypes="AA">
                                      <p:cBhvr>
                                        <p:cTn id="25" dur="2000" fill="hold"/>
                                        <p:tgtEl>
                                          <p:spTgt spid="3"/>
                                        </p:tgtEl>
                                        <p:attrNameLst>
                                          <p:attrName>ppt_x</p:attrName>
                                          <p:attrName>ppt_y</p:attrName>
                                        </p:attrNameLst>
                                      </p:cBhvr>
                                      <p:rCtr x="-52" y="-42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able 34"/>
          <p:cNvGraphicFramePr>
            <a:graphicFrameLocks noGrp="1"/>
          </p:cNvGraphicFramePr>
          <p:nvPr/>
        </p:nvGraphicFramePr>
        <p:xfrm>
          <a:off x="5410201" y="1168400"/>
          <a:ext cx="1268413" cy="4775200"/>
        </p:xfrm>
        <a:graphic>
          <a:graphicData uri="http://schemas.openxmlformats.org/drawingml/2006/table">
            <a:tbl>
              <a:tblPr firstRow="1" bandRow="1">
                <a:tableStyleId>{5C22544A-7EE6-4342-B048-85BDC9FD1C3A}</a:tableStyleId>
              </a:tblPr>
              <a:tblGrid>
                <a:gridCol w="761810">
                  <a:extLst>
                    <a:ext uri="{9D8B030D-6E8A-4147-A177-3AD203B41FA5}">
                      <a16:colId xmlns:a16="http://schemas.microsoft.com/office/drawing/2014/main" val="20000"/>
                    </a:ext>
                  </a:extLst>
                </a:gridCol>
                <a:gridCol w="506603">
                  <a:extLst>
                    <a:ext uri="{9D8B030D-6E8A-4147-A177-3AD203B41FA5}">
                      <a16:colId xmlns:a16="http://schemas.microsoft.com/office/drawing/2014/main" val="20001"/>
                    </a:ext>
                  </a:extLst>
                </a:gridCol>
              </a:tblGrid>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1</a:t>
                      </a:r>
                      <a:endParaRPr lang="en-US" b="1">
                        <a:solidFill>
                          <a:srgbClr val="7030A0"/>
                        </a:solidFill>
                      </a:endParaRPr>
                    </a:p>
                  </a:txBody>
                  <a:tcPr marL="91417" marR="91417" anchor="ctr">
                    <a:noFill/>
                  </a:tcPr>
                </a:tc>
                <a:extLst>
                  <a:ext uri="{0D108BD9-81ED-4DB2-BD59-A6C34878D82A}">
                    <a16:rowId xmlns:a16="http://schemas.microsoft.com/office/drawing/2014/main" val="10000"/>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2</a:t>
                      </a:r>
                      <a:endParaRPr lang="en-US" b="1">
                        <a:solidFill>
                          <a:srgbClr val="7030A0"/>
                        </a:solidFill>
                      </a:endParaRPr>
                    </a:p>
                  </a:txBody>
                  <a:tcPr marL="91417" marR="91417" anchor="ctr">
                    <a:noFill/>
                  </a:tcPr>
                </a:tc>
                <a:extLst>
                  <a:ext uri="{0D108BD9-81ED-4DB2-BD59-A6C34878D82A}">
                    <a16:rowId xmlns:a16="http://schemas.microsoft.com/office/drawing/2014/main" val="10001"/>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3</a:t>
                      </a:r>
                      <a:endParaRPr lang="en-US" b="1">
                        <a:solidFill>
                          <a:srgbClr val="7030A0"/>
                        </a:solidFill>
                      </a:endParaRPr>
                    </a:p>
                  </a:txBody>
                  <a:tcPr marL="91417" marR="91417" anchor="ctr">
                    <a:noFill/>
                  </a:tcPr>
                </a:tc>
                <a:extLst>
                  <a:ext uri="{0D108BD9-81ED-4DB2-BD59-A6C34878D82A}">
                    <a16:rowId xmlns:a16="http://schemas.microsoft.com/office/drawing/2014/main" val="10002"/>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4</a:t>
                      </a:r>
                      <a:endParaRPr lang="en-US" b="1">
                        <a:solidFill>
                          <a:srgbClr val="7030A0"/>
                        </a:solidFill>
                      </a:endParaRPr>
                    </a:p>
                  </a:txBody>
                  <a:tcPr marL="91417" marR="91417" anchor="ctr">
                    <a:noFill/>
                  </a:tcPr>
                </a:tc>
                <a:extLst>
                  <a:ext uri="{0D108BD9-81ED-4DB2-BD59-A6C34878D82A}">
                    <a16:rowId xmlns:a16="http://schemas.microsoft.com/office/drawing/2014/main" val="10003"/>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5</a:t>
                      </a:r>
                      <a:endParaRPr lang="en-US" b="1">
                        <a:solidFill>
                          <a:srgbClr val="7030A0"/>
                        </a:solidFill>
                      </a:endParaRPr>
                    </a:p>
                  </a:txBody>
                  <a:tcPr marL="91417" marR="91417" anchor="ctr">
                    <a:noFill/>
                  </a:tcPr>
                </a:tc>
                <a:extLst>
                  <a:ext uri="{0D108BD9-81ED-4DB2-BD59-A6C34878D82A}">
                    <a16:rowId xmlns:a16="http://schemas.microsoft.com/office/drawing/2014/main" val="10004"/>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6</a:t>
                      </a:r>
                      <a:endParaRPr lang="en-US" b="1">
                        <a:solidFill>
                          <a:srgbClr val="7030A0"/>
                        </a:solidFill>
                      </a:endParaRPr>
                    </a:p>
                  </a:txBody>
                  <a:tcPr marL="91417" marR="91417" anchor="ctr">
                    <a:noFill/>
                  </a:tcPr>
                </a:tc>
                <a:extLst>
                  <a:ext uri="{0D108BD9-81ED-4DB2-BD59-A6C34878D82A}">
                    <a16:rowId xmlns:a16="http://schemas.microsoft.com/office/drawing/2014/main" val="10005"/>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7</a:t>
                      </a:r>
                      <a:endParaRPr lang="en-US" b="1">
                        <a:solidFill>
                          <a:srgbClr val="7030A0"/>
                        </a:solidFill>
                      </a:endParaRPr>
                    </a:p>
                  </a:txBody>
                  <a:tcPr marL="91417" marR="91417" anchor="ctr">
                    <a:noFill/>
                  </a:tcPr>
                </a:tc>
                <a:extLst>
                  <a:ext uri="{0D108BD9-81ED-4DB2-BD59-A6C34878D82A}">
                    <a16:rowId xmlns:a16="http://schemas.microsoft.com/office/drawing/2014/main" val="10006"/>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8</a:t>
                      </a:r>
                      <a:endParaRPr lang="en-US" b="1">
                        <a:solidFill>
                          <a:srgbClr val="7030A0"/>
                        </a:solidFill>
                      </a:endParaRPr>
                    </a:p>
                  </a:txBody>
                  <a:tcPr marL="91417" marR="91417" anchor="ctr">
                    <a:noFill/>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94DB7959-116A-4855-ABB0-3F6EC0F4D380}" type="slidenum">
              <a:rPr lang="en-US" smtClean="0"/>
              <a:pPr>
                <a:defRPr/>
              </a:pPr>
              <a:t>80</a:t>
            </a:fld>
            <a:endParaRPr lang="en-US"/>
          </a:p>
        </p:txBody>
      </p:sp>
      <p:sp>
        <p:nvSpPr>
          <p:cNvPr id="8" name="Oval 7"/>
          <p:cNvSpPr/>
          <p:nvPr/>
        </p:nvSpPr>
        <p:spPr>
          <a:xfrm>
            <a:off x="5486400" y="3629025"/>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9" name="Oval 8"/>
          <p:cNvSpPr/>
          <p:nvPr/>
        </p:nvSpPr>
        <p:spPr>
          <a:xfrm>
            <a:off x="5486400" y="24384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10" name="Oval 9"/>
          <p:cNvSpPr/>
          <p:nvPr/>
        </p:nvSpPr>
        <p:spPr>
          <a:xfrm>
            <a:off x="5486400" y="48006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1" name="Oval 10"/>
          <p:cNvSpPr/>
          <p:nvPr/>
        </p:nvSpPr>
        <p:spPr>
          <a:xfrm>
            <a:off x="5486400" y="18288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12" name="Oval 11"/>
          <p:cNvSpPr/>
          <p:nvPr/>
        </p:nvSpPr>
        <p:spPr>
          <a:xfrm>
            <a:off x="5486400" y="5410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5486400" y="12192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6" name="Oval 5"/>
          <p:cNvSpPr/>
          <p:nvPr/>
        </p:nvSpPr>
        <p:spPr>
          <a:xfrm>
            <a:off x="5486400" y="4225925"/>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7" name="Oval 6"/>
          <p:cNvSpPr/>
          <p:nvPr/>
        </p:nvSpPr>
        <p:spPr>
          <a:xfrm>
            <a:off x="5486400" y="3032125"/>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grpSp>
        <p:nvGrpSpPr>
          <p:cNvPr id="2" name="Group 45"/>
          <p:cNvGrpSpPr>
            <a:grpSpLocks/>
          </p:cNvGrpSpPr>
          <p:nvPr/>
        </p:nvGrpSpPr>
        <p:grpSpPr bwMode="auto">
          <a:xfrm>
            <a:off x="3657600" y="3776664"/>
            <a:ext cx="4343400" cy="382587"/>
            <a:chOff x="1143000" y="1371600"/>
            <a:chExt cx="4343400" cy="382588"/>
          </a:xfrm>
        </p:grpSpPr>
        <p:cxnSp>
          <p:nvCxnSpPr>
            <p:cNvPr id="41" name="Straight Connector 40"/>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grpSp>
      <p:grpSp>
        <p:nvGrpSpPr>
          <p:cNvPr id="3" name="Group 46"/>
          <p:cNvGrpSpPr>
            <a:grpSpLocks/>
          </p:cNvGrpSpPr>
          <p:nvPr/>
        </p:nvGrpSpPr>
        <p:grpSpPr bwMode="auto">
          <a:xfrm>
            <a:off x="3581400" y="5561014"/>
            <a:ext cx="4343400" cy="382587"/>
            <a:chOff x="1143000" y="1371600"/>
            <a:chExt cx="4343400" cy="382588"/>
          </a:xfrm>
        </p:grpSpPr>
        <p:cxnSp>
          <p:nvCxnSpPr>
            <p:cNvPr id="48" name="Straight Connector 47"/>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9" name="Rounded Rectangle 48"/>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grpSp>
      <p:sp>
        <p:nvSpPr>
          <p:cNvPr id="18" name="Title 1"/>
          <p:cNvSpPr>
            <a:spLocks noGrp="1"/>
          </p:cNvSpPr>
          <p:nvPr>
            <p:ph type="title"/>
          </p:nvPr>
        </p:nvSpPr>
        <p:spPr>
          <a:xfrm>
            <a:off x="533400" y="381000"/>
            <a:ext cx="10515600" cy="930275"/>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3. Nổi </a:t>
            </a:r>
            <a:r>
              <a:rPr lang="en-US" b="1" dirty="0" err="1" smtClean="0">
                <a:solidFill>
                  <a:srgbClr val="0070C0"/>
                </a:solidFill>
                <a:latin typeface="Times New Roman" panose="02020603050405020304" pitchFamily="18" charset="0"/>
                <a:cs typeface="Times New Roman" panose="02020603050405020304" pitchFamily="18" charset="0"/>
              </a:rPr>
              <a:t>bọt</a:t>
            </a:r>
            <a:r>
              <a:rPr lang="en-US" b="1" dirty="0" smtClean="0">
                <a:solidFill>
                  <a:srgbClr val="0070C0"/>
                </a:solidFill>
                <a:latin typeface="Times New Roman" panose="02020603050405020304" pitchFamily="18" charset="0"/>
                <a:cs typeface="Times New Roman" panose="02020603050405020304" pitchFamily="18" charset="0"/>
              </a:rPr>
              <a:t> – bubble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3.33333E-6 0.01111 L -0.00069 0.0882 " pathEditMode="relative" rAng="0" ptsTypes="AA">
                                      <p:cBhvr>
                                        <p:cTn id="6" dur="2000" fill="hold"/>
                                        <p:tgtEl>
                                          <p:spTgt spid="2"/>
                                        </p:tgtEl>
                                        <p:attrNameLst>
                                          <p:attrName>ppt_x</p:attrName>
                                          <p:attrName>ppt_y</p:attrName>
                                        </p:attrNameLst>
                                      </p:cBhvr>
                                      <p:rCtr x="-35" y="3843"/>
                                    </p:animMotion>
                                  </p:childTnLst>
                                </p:cTn>
                              </p:par>
                            </p:childTnLst>
                          </p:cTn>
                        </p:par>
                        <p:par>
                          <p:cTn id="7" fill="hold" nodeType="afterGroup">
                            <p:stCondLst>
                              <p:cond delay="2000"/>
                            </p:stCondLst>
                            <p:childTnLst>
                              <p:par>
                                <p:cTn id="8" presetID="3" presetClass="entr" presetSubtype="1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par>
                          <p:cTn id="11" fill="hold" nodeType="afterGroup">
                            <p:stCondLst>
                              <p:cond delay="2500"/>
                            </p:stCondLst>
                            <p:childTnLst>
                              <p:par>
                                <p:cTn id="12" presetID="64" presetClass="path" presetSubtype="0" accel="50000" decel="50000" fill="hold" nodeType="afterEffect">
                                  <p:stCondLst>
                                    <p:cond delay="0"/>
                                  </p:stCondLst>
                                  <p:childTnLst>
                                    <p:animMotion origin="layout" path="M 0 2.59259E-6 L 0.00226 -0.08727 " pathEditMode="relative" rAng="0" ptsTypes="AA">
                                      <p:cBhvr>
                                        <p:cTn id="13" dur="2000" fill="hold"/>
                                        <p:tgtEl>
                                          <p:spTgt spid="3"/>
                                        </p:tgtEl>
                                        <p:attrNameLst>
                                          <p:attrName>ppt_x</p:attrName>
                                          <p:attrName>ppt_y</p:attrName>
                                        </p:attrNameLst>
                                      </p:cBhvr>
                                      <p:rCtr x="104" y="-4375"/>
                                    </p:animMotion>
                                  </p:childTnLst>
                                </p:cTn>
                              </p:par>
                            </p:childTnLst>
                          </p:cTn>
                        </p:par>
                        <p:par>
                          <p:cTn id="14" fill="hold" nodeType="afterGroup">
                            <p:stCondLst>
                              <p:cond delay="4500"/>
                            </p:stCondLst>
                            <p:childTnLst>
                              <p:par>
                                <p:cTn id="15" presetID="7" presetClass="path" presetSubtype="0" accel="50000" decel="50000" fill="hold" grpId="0" nodeType="afterEffect">
                                  <p:stCondLst>
                                    <p:cond delay="0"/>
                                  </p:stCondLst>
                                  <p:childTnLst>
                                    <p:animMotion origin="layout" path="M 3.33333E-6 -3.33333E-6 L 0.1868 -3.33333E-6 L 0.18507 -0.07592 L 0.00052 -0.07824 " pathEditMode="relative" rAng="0" ptsTypes="FFFF">
                                      <p:cBhvr>
                                        <p:cTn id="16" dur="1000" fill="hold"/>
                                        <p:tgtEl>
                                          <p:spTgt spid="10"/>
                                        </p:tgtEl>
                                        <p:attrNameLst>
                                          <p:attrName>ppt_x</p:attrName>
                                          <p:attrName>ppt_y</p:attrName>
                                        </p:attrNameLst>
                                      </p:cBhvr>
                                      <p:rCtr x="9340" y="-3912"/>
                                    </p:animMotion>
                                  </p:childTnLst>
                                </p:cTn>
                              </p:par>
                              <p:par>
                                <p:cTn id="17" presetID="7" presetClass="path" presetSubtype="0" accel="50000" decel="50000" fill="hold" grpId="0" nodeType="withEffect">
                                  <p:stCondLst>
                                    <p:cond delay="0"/>
                                  </p:stCondLst>
                                  <p:childTnLst>
                                    <p:animMotion origin="layout" path="M 3.33333E-6 2.96296E-6 L -0.16493 -0.00116 L -0.16146 0.08379 L 0.00052 0.08842 " pathEditMode="relative" rAng="0" ptsTypes="FFFF">
                                      <p:cBhvr>
                                        <p:cTn id="18" dur="1000" fill="hold"/>
                                        <p:tgtEl>
                                          <p:spTgt spid="6"/>
                                        </p:tgtEl>
                                        <p:attrNameLst>
                                          <p:attrName>ppt_x</p:attrName>
                                          <p:attrName>ppt_y</p:attrName>
                                        </p:attrNameLst>
                                      </p:cBhvr>
                                      <p:rCtr x="-8229" y="4352"/>
                                    </p:animMotion>
                                  </p:childTnLst>
                                </p:cTn>
                              </p:par>
                            </p:childTnLst>
                          </p:cTn>
                        </p:par>
                        <p:par>
                          <p:cTn id="19" fill="hold" nodeType="afterGroup">
                            <p:stCondLst>
                              <p:cond delay="5500"/>
                            </p:stCondLst>
                            <p:childTnLst>
                              <p:par>
                                <p:cTn id="20" presetID="64" presetClass="path" presetSubtype="0" accel="50000" decel="50000" fill="hold" nodeType="afterEffect">
                                  <p:stCondLst>
                                    <p:cond delay="0"/>
                                  </p:stCondLst>
                                  <p:childTnLst>
                                    <p:animMotion origin="layout" path="M 0.00226 -0.08727 L 0.00365 -0.17616 " pathEditMode="relative" rAng="0" ptsTypes="AA">
                                      <p:cBhvr>
                                        <p:cTn id="21" dur="2000" fill="hold"/>
                                        <p:tgtEl>
                                          <p:spTgt spid="3"/>
                                        </p:tgtEl>
                                        <p:attrNameLst>
                                          <p:attrName>ppt_x</p:attrName>
                                          <p:attrName>ppt_y</p:attrName>
                                        </p:attrNameLst>
                                      </p:cBhvr>
                                      <p:rCtr x="69" y="-44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able 34"/>
          <p:cNvGraphicFramePr>
            <a:graphicFrameLocks noGrp="1"/>
          </p:cNvGraphicFramePr>
          <p:nvPr/>
        </p:nvGraphicFramePr>
        <p:xfrm>
          <a:off x="5410201" y="1168400"/>
          <a:ext cx="1268413" cy="4775200"/>
        </p:xfrm>
        <a:graphic>
          <a:graphicData uri="http://schemas.openxmlformats.org/drawingml/2006/table">
            <a:tbl>
              <a:tblPr firstRow="1" bandRow="1">
                <a:tableStyleId>{5C22544A-7EE6-4342-B048-85BDC9FD1C3A}</a:tableStyleId>
              </a:tblPr>
              <a:tblGrid>
                <a:gridCol w="761810">
                  <a:extLst>
                    <a:ext uri="{9D8B030D-6E8A-4147-A177-3AD203B41FA5}">
                      <a16:colId xmlns:a16="http://schemas.microsoft.com/office/drawing/2014/main" val="20000"/>
                    </a:ext>
                  </a:extLst>
                </a:gridCol>
                <a:gridCol w="506603">
                  <a:extLst>
                    <a:ext uri="{9D8B030D-6E8A-4147-A177-3AD203B41FA5}">
                      <a16:colId xmlns:a16="http://schemas.microsoft.com/office/drawing/2014/main" val="20001"/>
                    </a:ext>
                  </a:extLst>
                </a:gridCol>
              </a:tblGrid>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1</a:t>
                      </a:r>
                      <a:endParaRPr lang="en-US" b="1">
                        <a:solidFill>
                          <a:srgbClr val="7030A0"/>
                        </a:solidFill>
                      </a:endParaRPr>
                    </a:p>
                  </a:txBody>
                  <a:tcPr marL="91417" marR="91417" anchor="ctr">
                    <a:noFill/>
                  </a:tcPr>
                </a:tc>
                <a:extLst>
                  <a:ext uri="{0D108BD9-81ED-4DB2-BD59-A6C34878D82A}">
                    <a16:rowId xmlns:a16="http://schemas.microsoft.com/office/drawing/2014/main" val="10000"/>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2</a:t>
                      </a:r>
                      <a:endParaRPr lang="en-US" b="1">
                        <a:solidFill>
                          <a:srgbClr val="7030A0"/>
                        </a:solidFill>
                      </a:endParaRPr>
                    </a:p>
                  </a:txBody>
                  <a:tcPr marL="91417" marR="91417" anchor="ctr">
                    <a:noFill/>
                  </a:tcPr>
                </a:tc>
                <a:extLst>
                  <a:ext uri="{0D108BD9-81ED-4DB2-BD59-A6C34878D82A}">
                    <a16:rowId xmlns:a16="http://schemas.microsoft.com/office/drawing/2014/main" val="10001"/>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3</a:t>
                      </a:r>
                      <a:endParaRPr lang="en-US" b="1">
                        <a:solidFill>
                          <a:srgbClr val="7030A0"/>
                        </a:solidFill>
                      </a:endParaRPr>
                    </a:p>
                  </a:txBody>
                  <a:tcPr marL="91417" marR="91417" anchor="ctr">
                    <a:noFill/>
                  </a:tcPr>
                </a:tc>
                <a:extLst>
                  <a:ext uri="{0D108BD9-81ED-4DB2-BD59-A6C34878D82A}">
                    <a16:rowId xmlns:a16="http://schemas.microsoft.com/office/drawing/2014/main" val="10002"/>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4</a:t>
                      </a:r>
                      <a:endParaRPr lang="en-US" b="1">
                        <a:solidFill>
                          <a:srgbClr val="7030A0"/>
                        </a:solidFill>
                      </a:endParaRPr>
                    </a:p>
                  </a:txBody>
                  <a:tcPr marL="91417" marR="91417" anchor="ctr">
                    <a:noFill/>
                  </a:tcPr>
                </a:tc>
                <a:extLst>
                  <a:ext uri="{0D108BD9-81ED-4DB2-BD59-A6C34878D82A}">
                    <a16:rowId xmlns:a16="http://schemas.microsoft.com/office/drawing/2014/main" val="10003"/>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5</a:t>
                      </a:r>
                      <a:endParaRPr lang="en-US" b="1">
                        <a:solidFill>
                          <a:srgbClr val="7030A0"/>
                        </a:solidFill>
                      </a:endParaRPr>
                    </a:p>
                  </a:txBody>
                  <a:tcPr marL="91417" marR="91417" anchor="ctr">
                    <a:noFill/>
                  </a:tcPr>
                </a:tc>
                <a:extLst>
                  <a:ext uri="{0D108BD9-81ED-4DB2-BD59-A6C34878D82A}">
                    <a16:rowId xmlns:a16="http://schemas.microsoft.com/office/drawing/2014/main" val="10004"/>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6</a:t>
                      </a:r>
                      <a:endParaRPr lang="en-US" b="1">
                        <a:solidFill>
                          <a:srgbClr val="7030A0"/>
                        </a:solidFill>
                      </a:endParaRPr>
                    </a:p>
                  </a:txBody>
                  <a:tcPr marL="91417" marR="91417" anchor="ctr">
                    <a:noFill/>
                  </a:tcPr>
                </a:tc>
                <a:extLst>
                  <a:ext uri="{0D108BD9-81ED-4DB2-BD59-A6C34878D82A}">
                    <a16:rowId xmlns:a16="http://schemas.microsoft.com/office/drawing/2014/main" val="10005"/>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7</a:t>
                      </a:r>
                      <a:endParaRPr lang="en-US" b="1">
                        <a:solidFill>
                          <a:srgbClr val="7030A0"/>
                        </a:solidFill>
                      </a:endParaRPr>
                    </a:p>
                  </a:txBody>
                  <a:tcPr marL="91417" marR="91417" anchor="ctr">
                    <a:noFill/>
                  </a:tcPr>
                </a:tc>
                <a:extLst>
                  <a:ext uri="{0D108BD9-81ED-4DB2-BD59-A6C34878D82A}">
                    <a16:rowId xmlns:a16="http://schemas.microsoft.com/office/drawing/2014/main" val="10006"/>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8</a:t>
                      </a:r>
                      <a:endParaRPr lang="en-US" b="1">
                        <a:solidFill>
                          <a:srgbClr val="7030A0"/>
                        </a:solidFill>
                      </a:endParaRPr>
                    </a:p>
                  </a:txBody>
                  <a:tcPr marL="91417" marR="91417" anchor="ctr">
                    <a:noFill/>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9BD912B5-A6A1-4AFE-9A4C-32B199927631}" type="slidenum">
              <a:rPr lang="en-US" smtClean="0"/>
              <a:pPr>
                <a:defRPr/>
              </a:pPr>
              <a:t>81</a:t>
            </a:fld>
            <a:endParaRPr lang="en-US"/>
          </a:p>
        </p:txBody>
      </p:sp>
      <p:sp>
        <p:nvSpPr>
          <p:cNvPr id="8" name="Oval 7"/>
          <p:cNvSpPr/>
          <p:nvPr/>
        </p:nvSpPr>
        <p:spPr>
          <a:xfrm>
            <a:off x="5486400" y="3629025"/>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9" name="Oval 8"/>
          <p:cNvSpPr/>
          <p:nvPr/>
        </p:nvSpPr>
        <p:spPr>
          <a:xfrm>
            <a:off x="5486400" y="24384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10" name="Oval 9"/>
          <p:cNvSpPr/>
          <p:nvPr/>
        </p:nvSpPr>
        <p:spPr>
          <a:xfrm>
            <a:off x="5486400" y="4238625"/>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1" name="Oval 10"/>
          <p:cNvSpPr/>
          <p:nvPr/>
        </p:nvSpPr>
        <p:spPr>
          <a:xfrm>
            <a:off x="5486400" y="18288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12" name="Oval 11"/>
          <p:cNvSpPr/>
          <p:nvPr/>
        </p:nvSpPr>
        <p:spPr>
          <a:xfrm>
            <a:off x="5486400" y="5410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5486400" y="12192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6" name="Oval 5"/>
          <p:cNvSpPr/>
          <p:nvPr/>
        </p:nvSpPr>
        <p:spPr>
          <a:xfrm>
            <a:off x="5470525" y="4816475"/>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7" name="Oval 6"/>
          <p:cNvSpPr/>
          <p:nvPr/>
        </p:nvSpPr>
        <p:spPr>
          <a:xfrm>
            <a:off x="5486400" y="3032125"/>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grpSp>
        <p:nvGrpSpPr>
          <p:cNvPr id="2" name="Group 45"/>
          <p:cNvGrpSpPr>
            <a:grpSpLocks/>
          </p:cNvGrpSpPr>
          <p:nvPr/>
        </p:nvGrpSpPr>
        <p:grpSpPr bwMode="auto">
          <a:xfrm>
            <a:off x="3581400" y="4357689"/>
            <a:ext cx="4343400" cy="382587"/>
            <a:chOff x="1143000" y="1371600"/>
            <a:chExt cx="4343400" cy="382588"/>
          </a:xfrm>
        </p:grpSpPr>
        <p:cxnSp>
          <p:nvCxnSpPr>
            <p:cNvPr id="41" name="Straight Connector 40"/>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grpSp>
      <p:grpSp>
        <p:nvGrpSpPr>
          <p:cNvPr id="3" name="Group 46"/>
          <p:cNvGrpSpPr>
            <a:grpSpLocks/>
          </p:cNvGrpSpPr>
          <p:nvPr/>
        </p:nvGrpSpPr>
        <p:grpSpPr bwMode="auto">
          <a:xfrm>
            <a:off x="3581400" y="5561014"/>
            <a:ext cx="4343400" cy="382587"/>
            <a:chOff x="1143000" y="1371600"/>
            <a:chExt cx="4343400" cy="382588"/>
          </a:xfrm>
        </p:grpSpPr>
        <p:cxnSp>
          <p:nvCxnSpPr>
            <p:cNvPr id="48" name="Straight Connector 47"/>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9" name="Rounded Rectangle 48"/>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grpSp>
      <p:sp>
        <p:nvSpPr>
          <p:cNvPr id="18" name="Title 1"/>
          <p:cNvSpPr>
            <a:spLocks noGrp="1"/>
          </p:cNvSpPr>
          <p:nvPr>
            <p:ph type="title"/>
          </p:nvPr>
        </p:nvSpPr>
        <p:spPr>
          <a:xfrm>
            <a:off x="533400" y="381000"/>
            <a:ext cx="10515600" cy="930275"/>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3. Nổi </a:t>
            </a:r>
            <a:r>
              <a:rPr lang="en-US" b="1" dirty="0" err="1" smtClean="0">
                <a:solidFill>
                  <a:srgbClr val="0070C0"/>
                </a:solidFill>
                <a:latin typeface="Times New Roman" panose="02020603050405020304" pitchFamily="18" charset="0"/>
                <a:cs typeface="Times New Roman" panose="02020603050405020304" pitchFamily="18" charset="0"/>
              </a:rPr>
              <a:t>bọt</a:t>
            </a:r>
            <a:r>
              <a:rPr lang="en-US" b="1" dirty="0" smtClean="0">
                <a:solidFill>
                  <a:srgbClr val="0070C0"/>
                </a:solidFill>
                <a:latin typeface="Times New Roman" panose="02020603050405020304" pitchFamily="18" charset="0"/>
                <a:cs typeface="Times New Roman" panose="02020603050405020304" pitchFamily="18" charset="0"/>
              </a:rPr>
              <a:t> – bubble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0.00173 -4.44444E-6 L -0.00468 0.0919 " pathEditMode="relative" rAng="0" ptsTypes="AA">
                                      <p:cBhvr>
                                        <p:cTn id="6" dur="2000" fill="hold"/>
                                        <p:tgtEl>
                                          <p:spTgt spid="2"/>
                                        </p:tgtEl>
                                        <p:attrNameLst>
                                          <p:attrName>ppt_x</p:attrName>
                                          <p:attrName>ppt_y</p:attrName>
                                        </p:attrNameLst>
                                      </p:cBhvr>
                                      <p:rCtr x="-156" y="4583"/>
                                    </p:animMotion>
                                  </p:childTnLst>
                                </p:cTn>
                              </p:par>
                            </p:childTnLst>
                          </p:cTn>
                        </p:par>
                        <p:par>
                          <p:cTn id="7" fill="hold" nodeType="afterGroup">
                            <p:stCondLst>
                              <p:cond delay="2000"/>
                            </p:stCondLst>
                            <p:childTnLst>
                              <p:par>
                                <p:cTn id="8" presetID="3" presetClass="entr" presetSubtype="1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64" presetClass="path" presetSubtype="0" accel="50000" decel="50000" fill="hold" nodeType="clickEffect">
                                  <p:stCondLst>
                                    <p:cond delay="0"/>
                                  </p:stCondLst>
                                  <p:childTnLst>
                                    <p:animMotion origin="layout" path="M 0 2.59259E-6 L 0.00243 -0.0875 " pathEditMode="relative" rAng="0" ptsTypes="AA">
                                      <p:cBhvr>
                                        <p:cTn id="14" dur="2000" fill="hold"/>
                                        <p:tgtEl>
                                          <p:spTgt spid="3"/>
                                        </p:tgtEl>
                                        <p:attrNameLst>
                                          <p:attrName>ppt_x</p:attrName>
                                          <p:attrName>ppt_y</p:attrName>
                                        </p:attrNameLst>
                                      </p:cBhvr>
                                      <p:rCtr x="122" y="-437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able 34"/>
          <p:cNvGraphicFramePr>
            <a:graphicFrameLocks noGrp="1"/>
          </p:cNvGraphicFramePr>
          <p:nvPr/>
        </p:nvGraphicFramePr>
        <p:xfrm>
          <a:off x="5410201" y="1168400"/>
          <a:ext cx="1268413" cy="4775200"/>
        </p:xfrm>
        <a:graphic>
          <a:graphicData uri="http://schemas.openxmlformats.org/drawingml/2006/table">
            <a:tbl>
              <a:tblPr firstRow="1" bandRow="1">
                <a:tableStyleId>{5C22544A-7EE6-4342-B048-85BDC9FD1C3A}</a:tableStyleId>
              </a:tblPr>
              <a:tblGrid>
                <a:gridCol w="761810">
                  <a:extLst>
                    <a:ext uri="{9D8B030D-6E8A-4147-A177-3AD203B41FA5}">
                      <a16:colId xmlns:a16="http://schemas.microsoft.com/office/drawing/2014/main" val="20000"/>
                    </a:ext>
                  </a:extLst>
                </a:gridCol>
                <a:gridCol w="506603">
                  <a:extLst>
                    <a:ext uri="{9D8B030D-6E8A-4147-A177-3AD203B41FA5}">
                      <a16:colId xmlns:a16="http://schemas.microsoft.com/office/drawing/2014/main" val="20001"/>
                    </a:ext>
                  </a:extLst>
                </a:gridCol>
              </a:tblGrid>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1</a:t>
                      </a:r>
                      <a:endParaRPr lang="en-US" b="1">
                        <a:solidFill>
                          <a:srgbClr val="7030A0"/>
                        </a:solidFill>
                      </a:endParaRPr>
                    </a:p>
                  </a:txBody>
                  <a:tcPr marL="91417" marR="91417" anchor="ctr">
                    <a:noFill/>
                  </a:tcPr>
                </a:tc>
                <a:extLst>
                  <a:ext uri="{0D108BD9-81ED-4DB2-BD59-A6C34878D82A}">
                    <a16:rowId xmlns:a16="http://schemas.microsoft.com/office/drawing/2014/main" val="10000"/>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2</a:t>
                      </a:r>
                      <a:endParaRPr lang="en-US" b="1">
                        <a:solidFill>
                          <a:srgbClr val="7030A0"/>
                        </a:solidFill>
                      </a:endParaRPr>
                    </a:p>
                  </a:txBody>
                  <a:tcPr marL="91417" marR="91417" anchor="ctr">
                    <a:noFill/>
                  </a:tcPr>
                </a:tc>
                <a:extLst>
                  <a:ext uri="{0D108BD9-81ED-4DB2-BD59-A6C34878D82A}">
                    <a16:rowId xmlns:a16="http://schemas.microsoft.com/office/drawing/2014/main" val="10001"/>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3</a:t>
                      </a:r>
                      <a:endParaRPr lang="en-US" b="1">
                        <a:solidFill>
                          <a:srgbClr val="7030A0"/>
                        </a:solidFill>
                      </a:endParaRPr>
                    </a:p>
                  </a:txBody>
                  <a:tcPr marL="91417" marR="91417" anchor="ctr">
                    <a:noFill/>
                  </a:tcPr>
                </a:tc>
                <a:extLst>
                  <a:ext uri="{0D108BD9-81ED-4DB2-BD59-A6C34878D82A}">
                    <a16:rowId xmlns:a16="http://schemas.microsoft.com/office/drawing/2014/main" val="10002"/>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4</a:t>
                      </a:r>
                      <a:endParaRPr lang="en-US" b="1">
                        <a:solidFill>
                          <a:srgbClr val="7030A0"/>
                        </a:solidFill>
                      </a:endParaRPr>
                    </a:p>
                  </a:txBody>
                  <a:tcPr marL="91417" marR="91417" anchor="ctr">
                    <a:noFill/>
                  </a:tcPr>
                </a:tc>
                <a:extLst>
                  <a:ext uri="{0D108BD9-81ED-4DB2-BD59-A6C34878D82A}">
                    <a16:rowId xmlns:a16="http://schemas.microsoft.com/office/drawing/2014/main" val="10003"/>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5</a:t>
                      </a:r>
                      <a:endParaRPr lang="en-US" b="1">
                        <a:solidFill>
                          <a:srgbClr val="7030A0"/>
                        </a:solidFill>
                      </a:endParaRPr>
                    </a:p>
                  </a:txBody>
                  <a:tcPr marL="91417" marR="91417" anchor="ctr">
                    <a:noFill/>
                  </a:tcPr>
                </a:tc>
                <a:extLst>
                  <a:ext uri="{0D108BD9-81ED-4DB2-BD59-A6C34878D82A}">
                    <a16:rowId xmlns:a16="http://schemas.microsoft.com/office/drawing/2014/main" val="10004"/>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6</a:t>
                      </a:r>
                      <a:endParaRPr lang="en-US" b="1">
                        <a:solidFill>
                          <a:srgbClr val="7030A0"/>
                        </a:solidFill>
                      </a:endParaRPr>
                    </a:p>
                  </a:txBody>
                  <a:tcPr marL="91417" marR="91417" anchor="ctr">
                    <a:noFill/>
                  </a:tcPr>
                </a:tc>
                <a:extLst>
                  <a:ext uri="{0D108BD9-81ED-4DB2-BD59-A6C34878D82A}">
                    <a16:rowId xmlns:a16="http://schemas.microsoft.com/office/drawing/2014/main" val="10005"/>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7</a:t>
                      </a:r>
                      <a:endParaRPr lang="en-US" b="1">
                        <a:solidFill>
                          <a:srgbClr val="7030A0"/>
                        </a:solidFill>
                      </a:endParaRPr>
                    </a:p>
                  </a:txBody>
                  <a:tcPr marL="91417" marR="91417" anchor="ctr">
                    <a:noFill/>
                  </a:tcPr>
                </a:tc>
                <a:extLst>
                  <a:ext uri="{0D108BD9-81ED-4DB2-BD59-A6C34878D82A}">
                    <a16:rowId xmlns:a16="http://schemas.microsoft.com/office/drawing/2014/main" val="10006"/>
                  </a:ext>
                </a:extLst>
              </a:tr>
              <a:tr h="596900">
                <a:tc>
                  <a:txBody>
                    <a:bodyPr/>
                    <a:lstStyle/>
                    <a:p>
                      <a:endParaRPr lang="en-US"/>
                    </a:p>
                  </a:txBody>
                  <a:tcPr marL="91417" marR="91417">
                    <a:solidFill>
                      <a:schemeClr val="accent1">
                        <a:lumMod val="75000"/>
                      </a:schemeClr>
                    </a:solidFill>
                  </a:tcPr>
                </a:tc>
                <a:tc>
                  <a:txBody>
                    <a:bodyPr/>
                    <a:lstStyle/>
                    <a:p>
                      <a:pPr algn="ctr"/>
                      <a:r>
                        <a:rPr lang="en-US" b="1" smtClean="0">
                          <a:solidFill>
                            <a:srgbClr val="7030A0"/>
                          </a:solidFill>
                        </a:rPr>
                        <a:t>8</a:t>
                      </a:r>
                      <a:endParaRPr lang="en-US" b="1">
                        <a:solidFill>
                          <a:srgbClr val="7030A0"/>
                        </a:solidFill>
                      </a:endParaRPr>
                    </a:p>
                  </a:txBody>
                  <a:tcPr marL="91417" marR="91417" anchor="ctr">
                    <a:noFill/>
                  </a:tcPr>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D4CA7D95-4E97-4863-A681-08B16A7F72FE}" type="slidenum">
              <a:rPr lang="en-US" smtClean="0"/>
              <a:pPr>
                <a:defRPr/>
              </a:pPr>
              <a:t>82</a:t>
            </a:fld>
            <a:endParaRPr lang="en-US"/>
          </a:p>
        </p:txBody>
      </p:sp>
      <p:sp>
        <p:nvSpPr>
          <p:cNvPr id="8" name="Oval 7"/>
          <p:cNvSpPr/>
          <p:nvPr/>
        </p:nvSpPr>
        <p:spPr>
          <a:xfrm>
            <a:off x="5486400" y="3629025"/>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9" name="Oval 8"/>
          <p:cNvSpPr/>
          <p:nvPr/>
        </p:nvSpPr>
        <p:spPr>
          <a:xfrm>
            <a:off x="5486400" y="24384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10" name="Oval 9"/>
          <p:cNvSpPr/>
          <p:nvPr/>
        </p:nvSpPr>
        <p:spPr>
          <a:xfrm>
            <a:off x="5486400" y="4238625"/>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1" name="Oval 10"/>
          <p:cNvSpPr/>
          <p:nvPr/>
        </p:nvSpPr>
        <p:spPr>
          <a:xfrm>
            <a:off x="5486400" y="18288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12" name="Oval 11"/>
          <p:cNvSpPr/>
          <p:nvPr/>
        </p:nvSpPr>
        <p:spPr>
          <a:xfrm>
            <a:off x="5486400" y="5410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5486400" y="1219200"/>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6" name="Oval 5"/>
          <p:cNvSpPr/>
          <p:nvPr/>
        </p:nvSpPr>
        <p:spPr>
          <a:xfrm>
            <a:off x="5470525" y="4816475"/>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7" name="Oval 6"/>
          <p:cNvSpPr/>
          <p:nvPr/>
        </p:nvSpPr>
        <p:spPr>
          <a:xfrm>
            <a:off x="5486400" y="3032125"/>
            <a:ext cx="609600" cy="4572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grpSp>
        <p:nvGrpSpPr>
          <p:cNvPr id="2" name="Group 45"/>
          <p:cNvGrpSpPr>
            <a:grpSpLocks/>
          </p:cNvGrpSpPr>
          <p:nvPr/>
        </p:nvGrpSpPr>
        <p:grpSpPr bwMode="auto">
          <a:xfrm>
            <a:off x="3581400" y="4967289"/>
            <a:ext cx="4343400" cy="382587"/>
            <a:chOff x="1143000" y="1371600"/>
            <a:chExt cx="4343400" cy="382588"/>
          </a:xfrm>
        </p:grpSpPr>
        <p:cxnSp>
          <p:nvCxnSpPr>
            <p:cNvPr id="41" name="Straight Connector 40"/>
            <p:cNvCxnSpPr/>
            <p:nvPr/>
          </p:nvCxnSpPr>
          <p:spPr>
            <a:xfrm>
              <a:off x="1143000" y="1752601"/>
              <a:ext cx="4343400" cy="1587"/>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1143000" y="1371600"/>
              <a:ext cx="838200" cy="3048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grpSp>
      <p:sp>
        <p:nvSpPr>
          <p:cNvPr id="18" name="Cloud 17"/>
          <p:cNvSpPr/>
          <p:nvPr/>
        </p:nvSpPr>
        <p:spPr>
          <a:xfrm>
            <a:off x="8281988" y="2181225"/>
            <a:ext cx="1981200" cy="1905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err="1"/>
              <a:t>Kết</a:t>
            </a:r>
            <a:r>
              <a:rPr lang="en-US" sz="2800" b="1" dirty="0"/>
              <a:t> </a:t>
            </a:r>
            <a:r>
              <a:rPr lang="en-US" sz="2800" b="1" dirty="0" err="1"/>
              <a:t>thúc</a:t>
            </a:r>
            <a:endParaRPr lang="en-US" sz="2800" b="1" dirty="0"/>
          </a:p>
        </p:txBody>
      </p:sp>
      <p:sp>
        <p:nvSpPr>
          <p:cNvPr id="16" name="Title 1"/>
          <p:cNvSpPr>
            <a:spLocks noGrp="1"/>
          </p:cNvSpPr>
          <p:nvPr>
            <p:ph type="title"/>
          </p:nvPr>
        </p:nvSpPr>
        <p:spPr>
          <a:xfrm>
            <a:off x="533400" y="381000"/>
            <a:ext cx="10515600" cy="930275"/>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3. Nổi </a:t>
            </a:r>
            <a:r>
              <a:rPr lang="en-US" b="1" dirty="0" err="1" smtClean="0">
                <a:solidFill>
                  <a:srgbClr val="0070C0"/>
                </a:solidFill>
                <a:latin typeface="Times New Roman" panose="02020603050405020304" pitchFamily="18" charset="0"/>
                <a:cs typeface="Times New Roman" panose="02020603050405020304" pitchFamily="18" charset="0"/>
              </a:rPr>
              <a:t>bọt</a:t>
            </a:r>
            <a:r>
              <a:rPr lang="en-US" b="1" dirty="0" smtClean="0">
                <a:solidFill>
                  <a:srgbClr val="0070C0"/>
                </a:solidFill>
                <a:latin typeface="Times New Roman" panose="02020603050405020304" pitchFamily="18" charset="0"/>
                <a:cs typeface="Times New Roman" panose="02020603050405020304" pitchFamily="18" charset="0"/>
              </a:rPr>
              <a:t> – bubble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path" presetSubtype="0" accel="50000" decel="50000" fill="hold" nodeType="afterEffect">
                                  <p:stCondLst>
                                    <p:cond delay="0"/>
                                  </p:stCondLst>
                                  <p:childTnLst>
                                    <p:animMotion origin="layout" path="M 0 -3.33333E-6 L -0.00312 0.08588 " pathEditMode="relative" rAng="0" ptsTypes="AA">
                                      <p:cBhvr>
                                        <p:cTn id="6" dur="2000" fill="hold"/>
                                        <p:tgtEl>
                                          <p:spTgt spid="2"/>
                                        </p:tgtEl>
                                        <p:attrNameLst>
                                          <p:attrName>ppt_x</p:attrName>
                                          <p:attrName>ppt_y</p:attrName>
                                        </p:attrNameLst>
                                      </p:cBhvr>
                                      <p:rCtr x="-156" y="4282"/>
                                    </p:animMotion>
                                  </p:childTnLst>
                                </p:cTn>
                              </p:par>
                            </p:childTnLst>
                          </p:cTn>
                        </p:par>
                        <p:par>
                          <p:cTn id="7" fill="hold" nodeType="afterGroup">
                            <p:stCondLst>
                              <p:cond delay="2000"/>
                            </p:stCondLst>
                            <p:childTnLst>
                              <p:par>
                                <p:cTn id="8" presetID="41" presetClass="path" presetSubtype="0" accel="50000" decel="50000" fill="hold" grpId="0" nodeType="afterEffect">
                                  <p:stCondLst>
                                    <p:cond delay="0"/>
                                  </p:stCondLst>
                                  <p:childTnLst>
                                    <p:animMotion origin="layout" path="M -0.08663 0.09028 C -0.09253 0.08681 -0.11319 0.08333 -0.12031 0.08333 C -0.16597 0.08333 -0.21284 0.13889 -0.21284 0.19445 C -0.21284 0.16644 -0.23645 0.13889 -0.2585 0.13889 C -0.28211 0.13889 -0.30416 0.1669 -0.30416 0.19445 C -0.30416 0.18056 -0.31597 0.16644 -0.3276 0.16644 C -0.33941 0.16644 -0.35121 0.18009 -0.35121 0.19445 C -0.35121 0.18727 -0.35694 0.18056 -0.36284 0.18056 C -0.36875 0.18056 -0.37465 0.18773 -0.37465 0.19445 C -0.37465 0.19074 -0.3776 0.18727 -0.38038 0.18727 C -0.38194 0.18727 -0.38628 0.19074 -0.38628 0.19445 C -0.38628 0.19259 -0.38784 0.19074 -0.38941 0.19074 C -0.38941 0.19028 -0.39236 0.19259 -0.39236 0.19445 C -0.39236 0.19352 -0.39236 0.19259 -0.39392 0.19259 C -0.39392 0.19306 -0.39548 0.19352 -0.39548 0.19445 C -0.39548 0.19398 -0.39548 0.19352 -0.39548 0.19306 C -0.39705 0.19306 -0.39705 0.19352 -0.39705 0.19398 C -0.39861 0.19398 -0.39861 0.19352 -0.39861 0.19306 C -0.4 0.19306 -0.4 0.19352 -0.4 0.19398 " pathEditMode="relative" rAng="0" ptsTypes="fffffffffffffffffff">
                                      <p:cBhvr>
                                        <p:cTn id="9" dur="2000" fill="hold"/>
                                        <p:tgtEl>
                                          <p:spTgt spid="18"/>
                                        </p:tgtEl>
                                        <p:attrNameLst>
                                          <p:attrName>ppt_x</p:attrName>
                                          <p:attrName>ppt_y</p:attrName>
                                        </p:attrNameLst>
                                      </p:cBhvr>
                                      <p:rCtr x="-15677" y="486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2"/>
          <p:cNvSpPr>
            <a:spLocks noGrp="1"/>
          </p:cNvSpPr>
          <p:nvPr>
            <p:ph idx="1"/>
          </p:nvPr>
        </p:nvSpPr>
        <p:spPr>
          <a:xfrm>
            <a:off x="2514600" y="762000"/>
            <a:ext cx="7391400" cy="5791200"/>
          </a:xfrm>
        </p:spPr>
        <p:txBody>
          <a:bodyPr>
            <a:normAutofit/>
          </a:bodyPr>
          <a:lstStyle/>
          <a:p>
            <a:pPr>
              <a:lnSpc>
                <a:spcPct val="100000"/>
              </a:lnSpc>
              <a:spcBef>
                <a:spcPts val="0"/>
              </a:spcBef>
              <a:buFont typeface="Wingdings" pitchFamily="2" charset="2"/>
              <a:buNone/>
            </a:pPr>
            <a:r>
              <a:rPr lang="en-US" smtClean="0">
                <a:solidFill>
                  <a:schemeClr val="bg1"/>
                </a:solidFill>
              </a:rPr>
              <a:t>void </a:t>
            </a:r>
            <a:r>
              <a:rPr lang="en-US" dirty="0" err="1" smtClean="0">
                <a:solidFill>
                  <a:schemeClr val="bg1"/>
                </a:solidFill>
              </a:rPr>
              <a:t>BubleSort</a:t>
            </a:r>
            <a:r>
              <a:rPr lang="en-US" dirty="0" smtClean="0">
                <a:solidFill>
                  <a:schemeClr val="bg1"/>
                </a:solidFill>
              </a:rPr>
              <a:t>(</a:t>
            </a:r>
            <a:r>
              <a:rPr lang="en-US" dirty="0" err="1" smtClean="0">
                <a:solidFill>
                  <a:schemeClr val="bg1"/>
                </a:solidFill>
              </a:rPr>
              <a:t>int</a:t>
            </a:r>
            <a:r>
              <a:rPr lang="en-US" dirty="0" smtClean="0">
                <a:solidFill>
                  <a:schemeClr val="bg1"/>
                </a:solidFill>
              </a:rPr>
              <a:t> a[], </a:t>
            </a:r>
            <a:r>
              <a:rPr lang="en-US" dirty="0" err="1" smtClean="0">
                <a:solidFill>
                  <a:schemeClr val="bg1"/>
                </a:solidFill>
              </a:rPr>
              <a:t>int</a:t>
            </a:r>
            <a:r>
              <a:rPr lang="en-US" dirty="0" smtClean="0">
                <a:solidFill>
                  <a:schemeClr val="bg1"/>
                </a:solidFill>
              </a:rPr>
              <a:t> N )</a:t>
            </a:r>
          </a:p>
          <a:p>
            <a:pPr>
              <a:lnSpc>
                <a:spcPct val="100000"/>
              </a:lnSpc>
              <a:spcBef>
                <a:spcPts val="0"/>
              </a:spcBef>
              <a:buFont typeface="Wingdings" pitchFamily="2" charset="2"/>
              <a:buNone/>
            </a:pPr>
            <a:r>
              <a:rPr lang="en-US" dirty="0" smtClean="0">
                <a:solidFill>
                  <a:schemeClr val="bg1"/>
                </a:solidFill>
              </a:rPr>
              <a:t>{	</a:t>
            </a:r>
          </a:p>
          <a:p>
            <a:pPr lvl="1">
              <a:lnSpc>
                <a:spcPct val="100000"/>
              </a:lnSpc>
              <a:spcBef>
                <a:spcPts val="0"/>
              </a:spcBef>
              <a:buFont typeface="Wingdings" pitchFamily="2" charset="2"/>
              <a:buNone/>
            </a:pPr>
            <a:r>
              <a:rPr lang="en-US" sz="3200" dirty="0">
                <a:solidFill>
                  <a:schemeClr val="bg1"/>
                </a:solidFill>
              </a:rPr>
              <a:t>	</a:t>
            </a:r>
            <a:r>
              <a:rPr lang="en-US" sz="3200" dirty="0" err="1">
                <a:solidFill>
                  <a:schemeClr val="bg1"/>
                </a:solidFill>
              </a:rPr>
              <a:t>int</a:t>
            </a:r>
            <a:r>
              <a:rPr lang="en-US" sz="3200" dirty="0">
                <a:solidFill>
                  <a:schemeClr val="bg1"/>
                </a:solidFill>
              </a:rPr>
              <a:t> </a:t>
            </a:r>
            <a:r>
              <a:rPr lang="en-US" sz="3200" dirty="0" err="1">
                <a:solidFill>
                  <a:schemeClr val="bg1"/>
                </a:solidFill>
              </a:rPr>
              <a:t>i</a:t>
            </a:r>
            <a:r>
              <a:rPr lang="en-US" sz="3200" dirty="0">
                <a:solidFill>
                  <a:schemeClr val="bg1"/>
                </a:solidFill>
              </a:rPr>
              <a:t>, j;</a:t>
            </a:r>
            <a:br>
              <a:rPr lang="en-US" sz="3200" dirty="0">
                <a:solidFill>
                  <a:schemeClr val="bg1"/>
                </a:solidFill>
              </a:rPr>
            </a:br>
            <a:r>
              <a:rPr lang="en-US" sz="3200" dirty="0">
                <a:solidFill>
                  <a:schemeClr val="bg1"/>
                </a:solidFill>
              </a:rPr>
              <a:t>for (</a:t>
            </a:r>
            <a:r>
              <a:rPr lang="en-US" sz="3200" dirty="0" err="1">
                <a:solidFill>
                  <a:schemeClr val="bg1"/>
                </a:solidFill>
              </a:rPr>
              <a:t>i</a:t>
            </a:r>
            <a:r>
              <a:rPr lang="en-US" sz="3200" dirty="0">
                <a:solidFill>
                  <a:schemeClr val="bg1"/>
                </a:solidFill>
              </a:rPr>
              <a:t> = 0 ; </a:t>
            </a:r>
            <a:r>
              <a:rPr lang="en-US" sz="3200" dirty="0" err="1">
                <a:solidFill>
                  <a:schemeClr val="bg1"/>
                </a:solidFill>
              </a:rPr>
              <a:t>i</a:t>
            </a:r>
            <a:r>
              <a:rPr lang="en-US" sz="3200" dirty="0">
                <a:solidFill>
                  <a:schemeClr val="bg1"/>
                </a:solidFill>
              </a:rPr>
              <a:t>&lt;N-1 ; </a:t>
            </a:r>
            <a:r>
              <a:rPr lang="en-US" sz="3200" dirty="0" err="1">
                <a:solidFill>
                  <a:schemeClr val="bg1"/>
                </a:solidFill>
              </a:rPr>
              <a:t>i</a:t>
            </a:r>
            <a:r>
              <a:rPr lang="en-US" sz="3200" dirty="0">
                <a:solidFill>
                  <a:schemeClr val="bg1"/>
                </a:solidFill>
              </a:rPr>
              <a:t>++)</a:t>
            </a:r>
          </a:p>
          <a:p>
            <a:pPr lvl="1">
              <a:lnSpc>
                <a:spcPct val="100000"/>
              </a:lnSpc>
              <a:spcBef>
                <a:spcPts val="0"/>
              </a:spcBef>
              <a:buFont typeface="Wingdings" pitchFamily="2" charset="2"/>
              <a:buNone/>
            </a:pPr>
            <a:r>
              <a:rPr lang="en-US" sz="3200" dirty="0">
                <a:solidFill>
                  <a:schemeClr val="bg1"/>
                </a:solidFill>
              </a:rPr>
              <a:t>	{</a:t>
            </a:r>
            <a:br>
              <a:rPr lang="en-US" sz="3200" dirty="0">
                <a:solidFill>
                  <a:schemeClr val="bg1"/>
                </a:solidFill>
              </a:rPr>
            </a:br>
            <a:r>
              <a:rPr lang="en-US" sz="3200" dirty="0">
                <a:solidFill>
                  <a:schemeClr val="bg1"/>
                </a:solidFill>
              </a:rPr>
              <a:t>		for (j =N-1; j &gt;</a:t>
            </a:r>
            <a:r>
              <a:rPr lang="en-US" sz="3200" dirty="0" err="1">
                <a:solidFill>
                  <a:schemeClr val="bg1"/>
                </a:solidFill>
              </a:rPr>
              <a:t>i</a:t>
            </a:r>
            <a:r>
              <a:rPr lang="en-US" sz="3200" dirty="0">
                <a:solidFill>
                  <a:schemeClr val="bg1"/>
                </a:solidFill>
              </a:rPr>
              <a:t> ; j --)</a:t>
            </a:r>
          </a:p>
          <a:p>
            <a:pPr lvl="1">
              <a:lnSpc>
                <a:spcPct val="100000"/>
              </a:lnSpc>
              <a:spcBef>
                <a:spcPts val="0"/>
              </a:spcBef>
              <a:buFont typeface="Wingdings" pitchFamily="2" charset="2"/>
              <a:buNone/>
            </a:pPr>
            <a:r>
              <a:rPr lang="en-US" sz="3200" dirty="0">
                <a:solidFill>
                  <a:schemeClr val="bg1"/>
                </a:solidFill>
              </a:rPr>
              <a:t>			{</a:t>
            </a:r>
            <a:br>
              <a:rPr lang="en-US" sz="3200" dirty="0">
                <a:solidFill>
                  <a:schemeClr val="bg1"/>
                </a:solidFill>
              </a:rPr>
            </a:br>
            <a:r>
              <a:rPr lang="en-US" sz="3200" dirty="0">
                <a:solidFill>
                  <a:schemeClr val="bg1"/>
                </a:solidFill>
              </a:rPr>
              <a:t>			if(a[j]&lt; a[j-1])</a:t>
            </a:r>
            <a:br>
              <a:rPr lang="en-US" sz="3200" dirty="0">
                <a:solidFill>
                  <a:schemeClr val="bg1"/>
                </a:solidFill>
              </a:rPr>
            </a:br>
            <a:r>
              <a:rPr lang="en-US" sz="3200" dirty="0">
                <a:solidFill>
                  <a:schemeClr val="bg1"/>
                </a:solidFill>
              </a:rPr>
              <a:t>				</a:t>
            </a:r>
            <a:r>
              <a:rPr lang="en-US" sz="3200" dirty="0" err="1">
                <a:solidFill>
                  <a:schemeClr val="bg1"/>
                </a:solidFill>
              </a:rPr>
              <a:t>HoanVi</a:t>
            </a:r>
            <a:r>
              <a:rPr lang="en-US" sz="3200" dirty="0">
                <a:solidFill>
                  <a:schemeClr val="bg1"/>
                </a:solidFill>
              </a:rPr>
              <a:t>(a[j],a[j-1]);</a:t>
            </a:r>
          </a:p>
          <a:p>
            <a:pPr lvl="1">
              <a:lnSpc>
                <a:spcPct val="100000"/>
              </a:lnSpc>
              <a:spcBef>
                <a:spcPts val="0"/>
              </a:spcBef>
              <a:buFont typeface="Wingdings" pitchFamily="2" charset="2"/>
              <a:buNone/>
            </a:pPr>
            <a:r>
              <a:rPr lang="en-US" sz="3200" dirty="0">
                <a:solidFill>
                  <a:schemeClr val="bg1"/>
                </a:solidFill>
              </a:rPr>
              <a:t>			}</a:t>
            </a:r>
          </a:p>
          <a:p>
            <a:pPr lvl="1">
              <a:lnSpc>
                <a:spcPct val="100000"/>
              </a:lnSpc>
              <a:spcBef>
                <a:spcPts val="0"/>
              </a:spcBef>
              <a:buFont typeface="Wingdings" pitchFamily="2" charset="2"/>
              <a:buNone/>
            </a:pPr>
            <a:r>
              <a:rPr lang="en-US" sz="3200" dirty="0">
                <a:solidFill>
                  <a:schemeClr val="bg1"/>
                </a:solidFill>
              </a:rPr>
              <a:t>	}</a:t>
            </a:r>
          </a:p>
          <a:p>
            <a:pPr>
              <a:lnSpc>
                <a:spcPct val="100000"/>
              </a:lnSpc>
              <a:spcBef>
                <a:spcPts val="0"/>
              </a:spcBef>
              <a:buFont typeface="Wingdings" pitchFamily="2" charset="2"/>
              <a:buNone/>
            </a:pPr>
            <a:r>
              <a:rPr lang="en-US" smtClean="0">
                <a:solidFill>
                  <a:schemeClr val="bg1"/>
                </a:solidFill>
              </a:rPr>
              <a:t>}</a:t>
            </a:r>
            <a:endParaRPr lang="en-US" b="1" dirty="0" smtClean="0">
              <a:solidFill>
                <a:schemeClr val="bg1"/>
              </a:solidFill>
            </a:endParaRPr>
          </a:p>
        </p:txBody>
      </p:sp>
      <p:sp>
        <p:nvSpPr>
          <p:cNvPr id="4" name="Slide Number Placeholder 3"/>
          <p:cNvSpPr>
            <a:spLocks noGrp="1"/>
          </p:cNvSpPr>
          <p:nvPr>
            <p:ph type="sldNum" sz="quarter" idx="12"/>
          </p:nvPr>
        </p:nvSpPr>
        <p:spPr/>
        <p:txBody>
          <a:bodyPr/>
          <a:lstStyle/>
          <a:p>
            <a:pPr>
              <a:defRPr/>
            </a:pPr>
            <a:fld id="{CBC0B8D6-24FF-493F-957F-9768E4B1689F}" type="slidenum">
              <a:rPr lang="en-US" smtClean="0"/>
              <a:pPr>
                <a:defRPr/>
              </a:pPr>
              <a:t>83</a:t>
            </a:fld>
            <a:endParaRPr lang="en-US"/>
          </a:p>
        </p:txBody>
      </p:sp>
      <p:sp>
        <p:nvSpPr>
          <p:cNvPr id="2" name="Rectangle 1"/>
          <p:cNvSpPr/>
          <p:nvPr/>
        </p:nvSpPr>
        <p:spPr>
          <a:xfrm>
            <a:off x="457200" y="482025"/>
            <a:ext cx="1608133" cy="584775"/>
          </a:xfrm>
          <a:prstGeom prst="rect">
            <a:avLst/>
          </a:prstGeom>
        </p:spPr>
        <p:txBody>
          <a:bodyPr wrap="none">
            <a:spAutoFit/>
          </a:bodyPr>
          <a:lstStyle/>
          <a:p>
            <a:pPr>
              <a:lnSpc>
                <a:spcPct val="100000"/>
              </a:lnSpc>
              <a:spcBef>
                <a:spcPts val="0"/>
              </a:spcBef>
              <a:buFont typeface="Wingdings" pitchFamily="2" charset="2"/>
              <a:buNone/>
            </a:pPr>
            <a:r>
              <a:rPr lang="en-US" sz="3200" b="1">
                <a:solidFill>
                  <a:srgbClr val="0070C0"/>
                </a:solidFill>
                <a:latin typeface="Times New Roman" panose="02020603050405020304" pitchFamily="18" charset="0"/>
                <a:cs typeface="Times New Roman" panose="02020603050405020304" pitchFamily="18" charset="0"/>
              </a:rPr>
              <a:t>Cài đặt:</a:t>
            </a:r>
            <a:endParaRPr lang="en-US" sz="3200"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2"/>
          <p:cNvSpPr>
            <a:spLocks noGrp="1"/>
          </p:cNvSpPr>
          <p:nvPr>
            <p:ph idx="1"/>
          </p:nvPr>
        </p:nvSpPr>
        <p:spPr>
          <a:xfrm>
            <a:off x="2057400" y="457200"/>
            <a:ext cx="8305800" cy="5711825"/>
          </a:xfrm>
        </p:spPr>
        <p:txBody>
          <a:bodyPr>
            <a:normAutofit/>
          </a:bodyPr>
          <a:lstStyle/>
          <a:p>
            <a:pPr>
              <a:buFont typeface="Wingdings" pitchFamily="2" charset="2"/>
              <a:buNone/>
            </a:pPr>
            <a:r>
              <a:rPr lang="en-US" sz="4000" b="1" dirty="0" err="1">
                <a:solidFill>
                  <a:srgbClr val="0070C0"/>
                </a:solidFill>
                <a:latin typeface="Times New Roman" panose="02020603050405020304" pitchFamily="18" charset="0"/>
                <a:cs typeface="Times New Roman" panose="02020603050405020304" pitchFamily="18" charset="0"/>
              </a:rPr>
              <a:t>Đánh</a:t>
            </a:r>
            <a:r>
              <a:rPr lang="en-US" sz="4000" b="1" dirty="0">
                <a:solidFill>
                  <a:srgbClr val="0070C0"/>
                </a:solidFill>
                <a:latin typeface="Times New Roman" panose="02020603050405020304" pitchFamily="18" charset="0"/>
                <a:cs typeface="Times New Roman" panose="02020603050405020304" pitchFamily="18" charset="0"/>
              </a:rPr>
              <a:t> </a:t>
            </a:r>
            <a:r>
              <a:rPr lang="en-US" sz="4000" b="1" dirty="0" err="1">
                <a:solidFill>
                  <a:srgbClr val="0070C0"/>
                </a:solidFill>
                <a:latin typeface="Times New Roman" panose="02020603050405020304" pitchFamily="18" charset="0"/>
                <a:cs typeface="Times New Roman" panose="02020603050405020304" pitchFamily="18" charset="0"/>
              </a:rPr>
              <a:t>giá</a:t>
            </a:r>
            <a:r>
              <a:rPr lang="en-US" sz="4000" b="1" dirty="0">
                <a:solidFill>
                  <a:srgbClr val="0070C0"/>
                </a:solidFill>
                <a:latin typeface="Times New Roman" panose="02020603050405020304" pitchFamily="18" charset="0"/>
                <a:cs typeface="Times New Roman" panose="02020603050405020304" pitchFamily="18" charset="0"/>
              </a:rPr>
              <a:t> </a:t>
            </a:r>
            <a:r>
              <a:rPr lang="en-US" sz="4000" b="1" err="1">
                <a:solidFill>
                  <a:srgbClr val="0070C0"/>
                </a:solidFill>
                <a:latin typeface="Times New Roman" panose="02020603050405020304" pitchFamily="18" charset="0"/>
                <a:cs typeface="Times New Roman" panose="02020603050405020304" pitchFamily="18" charset="0"/>
              </a:rPr>
              <a:t>giải</a:t>
            </a:r>
            <a:r>
              <a:rPr lang="en-US" sz="4000" b="1">
                <a:solidFill>
                  <a:srgbClr val="0070C0"/>
                </a:solidFill>
                <a:latin typeface="Times New Roman" panose="02020603050405020304" pitchFamily="18" charset="0"/>
                <a:cs typeface="Times New Roman" panose="02020603050405020304" pitchFamily="18" charset="0"/>
              </a:rPr>
              <a:t> </a:t>
            </a:r>
            <a:r>
              <a:rPr lang="en-US" sz="4000" b="1" smtClean="0">
                <a:solidFill>
                  <a:srgbClr val="0070C0"/>
                </a:solidFill>
                <a:latin typeface="Times New Roman" panose="02020603050405020304" pitchFamily="18" charset="0"/>
                <a:cs typeface="Times New Roman" panose="02020603050405020304" pitchFamily="18" charset="0"/>
              </a:rPr>
              <a:t>thuật:</a:t>
            </a:r>
            <a:endParaRPr lang="en-US" sz="4000" b="1" dirty="0">
              <a:solidFill>
                <a:srgbClr val="0070C0"/>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3200" dirty="0" err="1" smtClean="0">
                <a:solidFill>
                  <a:schemeClr val="bg1"/>
                </a:solidFill>
                <a:latin typeface="Times New Roman" panose="02020603050405020304" pitchFamily="18" charset="0"/>
                <a:cs typeface="Times New Roman" panose="02020603050405020304" pitchFamily="18" charset="0"/>
              </a:rPr>
              <a:t>Trong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mọi</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trường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hợp</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số</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phép</a:t>
            </a:r>
            <a:r>
              <a:rPr lang="en-US" sz="3200" dirty="0" smtClean="0">
                <a:solidFill>
                  <a:schemeClr val="bg1"/>
                </a:solidFill>
                <a:latin typeface="Times New Roman" panose="02020603050405020304" pitchFamily="18" charset="0"/>
                <a:cs typeface="Times New Roman" panose="02020603050405020304" pitchFamily="18" charset="0"/>
              </a:rPr>
              <a:t> so </a:t>
            </a:r>
            <a:r>
              <a:rPr lang="en-US" sz="3200" dirty="0" err="1" smtClean="0">
                <a:solidFill>
                  <a:schemeClr val="bg1"/>
                </a:solidFill>
                <a:latin typeface="Times New Roman" panose="02020603050405020304" pitchFamily="18" charset="0"/>
                <a:cs typeface="Times New Roman" panose="02020603050405020304" pitchFamily="18" charset="0"/>
              </a:rPr>
              <a:t>sánh</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là</a:t>
            </a:r>
            <a:r>
              <a:rPr lang="en-US" sz="3200" dirty="0" smtClean="0">
                <a:solidFill>
                  <a:schemeClr val="bg1"/>
                </a:solidFill>
                <a:latin typeface="Times New Roman" panose="02020603050405020304" pitchFamily="18" charset="0"/>
                <a:cs typeface="Times New Roman" panose="02020603050405020304" pitchFamily="18" charset="0"/>
              </a:rPr>
              <a:t>:</a:t>
            </a:r>
          </a:p>
          <a:p>
            <a:pPr marL="0" indent="0">
              <a:lnSpc>
                <a:spcPct val="150000"/>
              </a:lnSpc>
              <a:buNone/>
            </a:pPr>
            <a:r>
              <a:rPr lang="en-US" sz="3200" dirty="0">
                <a:solidFill>
                  <a:schemeClr val="bg1"/>
                </a:solidFill>
                <a:latin typeface="Times New Roman" panose="02020603050405020304" pitchFamily="18" charset="0"/>
                <a:cs typeface="Times New Roman" panose="02020603050405020304" pitchFamily="18" charset="0"/>
              </a:rPr>
              <a:t>	(n-1) + (n-2) + … + 1 = n(n-1)/2 = </a:t>
            </a:r>
            <a:r>
              <a:rPr lang="en-US" sz="3200" b="1" dirty="0">
                <a:solidFill>
                  <a:schemeClr val="bg1"/>
                </a:solidFill>
                <a:latin typeface="Times New Roman" panose="02020603050405020304" pitchFamily="18" charset="0"/>
                <a:cs typeface="Times New Roman" panose="02020603050405020304" pitchFamily="18" charset="0"/>
              </a:rPr>
              <a:t>O(n</a:t>
            </a:r>
            <a:r>
              <a:rPr lang="en-US" sz="3200" b="1" baseline="30000" dirty="0">
                <a:solidFill>
                  <a:schemeClr val="bg1"/>
                </a:solidFill>
                <a:latin typeface="Times New Roman" panose="02020603050405020304" pitchFamily="18" charset="0"/>
                <a:cs typeface="Times New Roman" panose="02020603050405020304" pitchFamily="18" charset="0"/>
              </a:rPr>
              <a:t>2</a:t>
            </a:r>
            <a:r>
              <a:rPr lang="en-US" sz="3200" b="1" dirty="0">
                <a:solidFill>
                  <a:schemeClr val="bg1"/>
                </a:solidFill>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
            </a:pPr>
            <a:r>
              <a:rPr lang="en-US" sz="3200" dirty="0" err="1" smtClean="0">
                <a:solidFill>
                  <a:schemeClr val="bg1"/>
                </a:solidFill>
                <a:latin typeface="Times New Roman" panose="02020603050405020304" pitchFamily="18" charset="0"/>
                <a:cs typeface="Times New Roman" panose="02020603050405020304" pitchFamily="18" charset="0"/>
              </a:rPr>
              <a:t>Số</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phép</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hoán</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vị</a:t>
            </a:r>
            <a:r>
              <a:rPr lang="en-US" sz="3200" dirty="0" smtClean="0">
                <a:solidFill>
                  <a:schemeClr val="bg1"/>
                </a:solidFill>
                <a:latin typeface="Times New Roman" panose="02020603050405020304" pitchFamily="18" charset="0"/>
                <a:cs typeface="Times New Roman" panose="02020603050405020304" pitchFamily="18" charset="0"/>
              </a:rPr>
              <a:t>:</a:t>
            </a:r>
          </a:p>
          <a:p>
            <a:pPr lvl="1">
              <a:lnSpc>
                <a:spcPct val="150000"/>
              </a:lnSpc>
              <a:buFont typeface="Wingdings" panose="05000000000000000000" pitchFamily="2" charset="2"/>
              <a:buChar char="§"/>
            </a:pPr>
            <a:r>
              <a:rPr lang="en-US" sz="2800" dirty="0" err="1" smtClean="0">
                <a:solidFill>
                  <a:schemeClr val="bg1"/>
                </a:solidFill>
                <a:latin typeface="Times New Roman" panose="02020603050405020304" pitchFamily="18" charset="0"/>
                <a:cs typeface="Times New Roman" panose="02020603050405020304" pitchFamily="18" charset="0"/>
              </a:rPr>
              <a:t>Trường</a:t>
            </a:r>
            <a:r>
              <a:rPr lang="en-US" sz="2800" dirty="0" smtClean="0">
                <a:solidFill>
                  <a:schemeClr val="bg1"/>
                </a:solidFill>
                <a:latin typeface="Times New Roman" panose="02020603050405020304" pitchFamily="18" charset="0"/>
                <a:cs typeface="Times New Roman" panose="02020603050405020304" pitchFamily="18" charset="0"/>
              </a:rPr>
              <a:t> </a:t>
            </a:r>
            <a:r>
              <a:rPr lang="en-US" sz="2800" dirty="0" err="1" smtClean="0">
                <a:solidFill>
                  <a:schemeClr val="bg1"/>
                </a:solidFill>
                <a:latin typeface="Times New Roman" panose="02020603050405020304" pitchFamily="18" charset="0"/>
                <a:cs typeface="Times New Roman" panose="02020603050405020304" pitchFamily="18" charset="0"/>
              </a:rPr>
              <a:t>hợp</a:t>
            </a:r>
            <a:r>
              <a:rPr lang="en-US" sz="2800" dirty="0" smtClean="0">
                <a:solidFill>
                  <a:schemeClr val="bg1"/>
                </a:solidFill>
                <a:latin typeface="Times New Roman" panose="02020603050405020304" pitchFamily="18" charset="0"/>
                <a:cs typeface="Times New Roman" panose="02020603050405020304" pitchFamily="18" charset="0"/>
              </a:rPr>
              <a:t> </a:t>
            </a:r>
            <a:r>
              <a:rPr lang="en-US" sz="2800" dirty="0" err="1" smtClean="0">
                <a:solidFill>
                  <a:schemeClr val="bg1"/>
                </a:solidFill>
                <a:latin typeface="Times New Roman" panose="02020603050405020304" pitchFamily="18" charset="0"/>
                <a:cs typeface="Times New Roman" panose="02020603050405020304" pitchFamily="18" charset="0"/>
              </a:rPr>
              <a:t>xấu</a:t>
            </a:r>
            <a:r>
              <a:rPr lang="en-US" sz="2800" dirty="0" smtClean="0">
                <a:solidFill>
                  <a:schemeClr val="bg1"/>
                </a:solidFill>
                <a:latin typeface="Times New Roman" panose="02020603050405020304" pitchFamily="18" charset="0"/>
                <a:cs typeface="Times New Roman" panose="02020603050405020304" pitchFamily="18" charset="0"/>
              </a:rPr>
              <a:t> </a:t>
            </a:r>
            <a:r>
              <a:rPr lang="en-US" sz="2800" dirty="0" err="1" smtClean="0">
                <a:solidFill>
                  <a:schemeClr val="bg1"/>
                </a:solidFill>
                <a:latin typeface="Times New Roman" panose="02020603050405020304" pitchFamily="18" charset="0"/>
                <a:cs typeface="Times New Roman" panose="02020603050405020304" pitchFamily="18" charset="0"/>
              </a:rPr>
              <a:t>nhất</a:t>
            </a:r>
            <a:r>
              <a:rPr lang="en-US" sz="2800" dirty="0" smtClean="0">
                <a:solidFill>
                  <a:schemeClr val="bg1"/>
                </a:solidFill>
                <a:latin typeface="Times New Roman" panose="02020603050405020304" pitchFamily="18" charset="0"/>
                <a:cs typeface="Times New Roman" panose="02020603050405020304" pitchFamily="18" charset="0"/>
              </a:rPr>
              <a:t>: </a:t>
            </a:r>
            <a:r>
              <a:rPr lang="en-US" sz="2800" b="1" dirty="0" smtClean="0">
                <a:solidFill>
                  <a:schemeClr val="bg1"/>
                </a:solidFill>
                <a:latin typeface="Times New Roman" panose="02020603050405020304" pitchFamily="18" charset="0"/>
                <a:cs typeface="Times New Roman" panose="02020603050405020304" pitchFamily="18" charset="0"/>
              </a:rPr>
              <a:t>n(n-1)/2</a:t>
            </a:r>
          </a:p>
          <a:p>
            <a:pPr lvl="1">
              <a:lnSpc>
                <a:spcPct val="150000"/>
              </a:lnSpc>
              <a:buFont typeface="Wingdings" panose="05000000000000000000" pitchFamily="2" charset="2"/>
              <a:buChar char="§"/>
            </a:pPr>
            <a:r>
              <a:rPr lang="en-US" sz="2800" dirty="0" err="1" smtClean="0">
                <a:solidFill>
                  <a:schemeClr val="bg1"/>
                </a:solidFill>
                <a:latin typeface="Times New Roman" panose="02020603050405020304" pitchFamily="18" charset="0"/>
                <a:cs typeface="Times New Roman" panose="02020603050405020304" pitchFamily="18" charset="0"/>
              </a:rPr>
              <a:t>Trường</a:t>
            </a:r>
            <a:r>
              <a:rPr lang="en-US" sz="2800" dirty="0" smtClean="0">
                <a:solidFill>
                  <a:schemeClr val="bg1"/>
                </a:solidFill>
                <a:latin typeface="Times New Roman" panose="02020603050405020304" pitchFamily="18" charset="0"/>
                <a:cs typeface="Times New Roman" panose="02020603050405020304" pitchFamily="18" charset="0"/>
              </a:rPr>
              <a:t> </a:t>
            </a:r>
            <a:r>
              <a:rPr lang="en-US" sz="2800" dirty="0" err="1" smtClean="0">
                <a:solidFill>
                  <a:schemeClr val="bg1"/>
                </a:solidFill>
                <a:latin typeface="Times New Roman" panose="02020603050405020304" pitchFamily="18" charset="0"/>
                <a:cs typeface="Times New Roman" panose="02020603050405020304" pitchFamily="18" charset="0"/>
              </a:rPr>
              <a:t>hợp</a:t>
            </a:r>
            <a:r>
              <a:rPr lang="en-US" sz="2800" dirty="0" smtClean="0">
                <a:solidFill>
                  <a:schemeClr val="bg1"/>
                </a:solidFill>
                <a:latin typeface="Times New Roman" panose="02020603050405020304" pitchFamily="18" charset="0"/>
                <a:cs typeface="Times New Roman" panose="02020603050405020304" pitchFamily="18" charset="0"/>
              </a:rPr>
              <a:t> </a:t>
            </a:r>
            <a:r>
              <a:rPr lang="en-US" sz="2800" dirty="0" err="1" smtClean="0">
                <a:solidFill>
                  <a:schemeClr val="bg1"/>
                </a:solidFill>
                <a:latin typeface="Times New Roman" panose="02020603050405020304" pitchFamily="18" charset="0"/>
                <a:cs typeface="Times New Roman" panose="02020603050405020304" pitchFamily="18" charset="0"/>
              </a:rPr>
              <a:t>tốt</a:t>
            </a:r>
            <a:r>
              <a:rPr lang="en-US" sz="2800" dirty="0" smtClean="0">
                <a:solidFill>
                  <a:schemeClr val="bg1"/>
                </a:solidFill>
                <a:latin typeface="Times New Roman" panose="02020603050405020304" pitchFamily="18" charset="0"/>
                <a:cs typeface="Times New Roman" panose="02020603050405020304" pitchFamily="18" charset="0"/>
              </a:rPr>
              <a:t> </a:t>
            </a:r>
            <a:r>
              <a:rPr lang="en-US" sz="2800" dirty="0" err="1" smtClean="0">
                <a:solidFill>
                  <a:schemeClr val="bg1"/>
                </a:solidFill>
                <a:latin typeface="Times New Roman" panose="02020603050405020304" pitchFamily="18" charset="0"/>
                <a:cs typeface="Times New Roman" panose="02020603050405020304" pitchFamily="18" charset="0"/>
              </a:rPr>
              <a:t>nhất</a:t>
            </a:r>
            <a:r>
              <a:rPr lang="en-US" sz="2800" dirty="0" smtClean="0">
                <a:solidFill>
                  <a:schemeClr val="bg1"/>
                </a:solidFill>
                <a:latin typeface="Times New Roman" panose="02020603050405020304" pitchFamily="18" charset="0"/>
                <a:cs typeface="Times New Roman" panose="02020603050405020304" pitchFamily="18" charset="0"/>
              </a:rPr>
              <a:t>: </a:t>
            </a:r>
            <a:r>
              <a:rPr lang="en-US" sz="2800" b="1" dirty="0" smtClean="0">
                <a:solidFill>
                  <a:schemeClr val="bg1"/>
                </a:solidFill>
                <a:latin typeface="Times New Roman" panose="02020603050405020304" pitchFamily="18" charset="0"/>
                <a:cs typeface="Times New Roman" panose="02020603050405020304" pitchFamily="18" charset="0"/>
              </a:rPr>
              <a:t>0</a:t>
            </a:r>
            <a:endParaRPr lang="en-US" sz="2800" dirty="0" smtClean="0">
              <a:solidFill>
                <a:schemeClr val="bg1"/>
              </a:solidFill>
              <a:latin typeface="Times New Roman" panose="02020603050405020304" pitchFamily="18" charset="0"/>
              <a:cs typeface="Times New Roman" panose="02020603050405020304" pitchFamily="18" charset="0"/>
            </a:endParaRPr>
          </a:p>
          <a:p>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4838C10E-61A6-4A08-84A6-03DAC41CA725}" type="slidenum">
              <a:rPr lang="en-US" smtClean="0"/>
              <a:pPr>
                <a:defRPr/>
              </a:pPr>
              <a:t>84</a:t>
            </a:fld>
            <a:endParaRPr 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912" y="312740"/>
            <a:ext cx="8153400" cy="1020762"/>
          </a:xfrm>
        </p:spPr>
        <p:txBody>
          <a:bodyPr>
            <a:normAutofit/>
          </a:bodyPr>
          <a:lstStyle/>
          <a:p>
            <a:pPr>
              <a:defRPr/>
            </a:pPr>
            <a:r>
              <a:rPr lang="en-US" b="1" smtClean="0">
                <a:solidFill>
                  <a:srgbClr val="0070C0"/>
                </a:solidFill>
                <a:latin typeface="Times New Roman" panose="02020603050405020304" pitchFamily="18" charset="0"/>
                <a:cs typeface="Times New Roman" panose="02020603050405020304" pitchFamily="18" charset="0"/>
              </a:rPr>
              <a:t>4. Chèn </a:t>
            </a:r>
            <a:r>
              <a:rPr lang="en-US" b="1" dirty="0" err="1" smtClean="0">
                <a:solidFill>
                  <a:srgbClr val="0070C0"/>
                </a:solidFill>
                <a:latin typeface="Times New Roman" panose="02020603050405020304" pitchFamily="18" charset="0"/>
                <a:cs typeface="Times New Roman" panose="02020603050405020304" pitchFamily="18" charset="0"/>
              </a:rPr>
              <a:t>trực</a:t>
            </a:r>
            <a:r>
              <a:rPr lang="en-US" b="1" dirty="0" smtClean="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tiếp</a:t>
            </a:r>
            <a:r>
              <a:rPr lang="en-US" b="1" dirty="0" smtClean="0">
                <a:solidFill>
                  <a:srgbClr val="0070C0"/>
                </a:solidFill>
                <a:latin typeface="Times New Roman" panose="02020603050405020304" pitchFamily="18" charset="0"/>
                <a:cs typeface="Times New Roman" panose="02020603050405020304" pitchFamily="18" charset="0"/>
              </a:rPr>
              <a:t> – insertion </a:t>
            </a:r>
            <a:r>
              <a:rPr lang="en-US" b="1" dirty="0">
                <a:solidFill>
                  <a:srgbClr val="0070C0"/>
                </a:solidFill>
                <a:latin typeface="Times New Roman" panose="02020603050405020304" pitchFamily="18" charset="0"/>
                <a:cs typeface="Times New Roman" panose="02020603050405020304" pitchFamily="18" charset="0"/>
              </a:rPr>
              <a:t>sort</a:t>
            </a:r>
          </a:p>
        </p:txBody>
      </p:sp>
      <p:sp>
        <p:nvSpPr>
          <p:cNvPr id="36867" name="Content Placeholder 2"/>
          <p:cNvSpPr>
            <a:spLocks noGrp="1"/>
          </p:cNvSpPr>
          <p:nvPr>
            <p:ph idx="1"/>
          </p:nvPr>
        </p:nvSpPr>
        <p:spPr>
          <a:xfrm>
            <a:off x="609600" y="1143000"/>
            <a:ext cx="11201400" cy="4873625"/>
          </a:xfrm>
        </p:spPr>
        <p:txBody>
          <a:bodyPr>
            <a:normAutofit/>
          </a:bodyPr>
          <a:lstStyle/>
          <a:p>
            <a:pPr algn="just">
              <a:buFont typeface="Wingdings" pitchFamily="2" charset="2"/>
              <a:buNone/>
            </a:pPr>
            <a:r>
              <a:rPr lang="en-US" sz="3600" b="1" smtClean="0">
                <a:solidFill>
                  <a:srgbClr val="0070C0"/>
                </a:solidFill>
                <a:latin typeface="Times New Roman" panose="02020603050405020304" pitchFamily="18" charset="0"/>
                <a:cs typeface="Times New Roman" panose="02020603050405020304" pitchFamily="18" charset="0"/>
              </a:rPr>
              <a:t>Ý tưởng:</a:t>
            </a:r>
            <a:r>
              <a:rPr lang="en-US" sz="3600" dirty="0" smtClean="0">
                <a:solidFill>
                  <a:schemeClr val="bg1"/>
                </a:solidFill>
                <a:latin typeface="Times New Roman" panose="02020603050405020304" pitchFamily="18" charset="0"/>
                <a:cs typeface="Times New Roman" panose="02020603050405020304" pitchFamily="18" charset="0"/>
              </a:rPr>
              <a:t>	</a:t>
            </a:r>
          </a:p>
          <a:p>
            <a:pPr marL="0" indent="0" algn="just">
              <a:buNone/>
            </a:pPr>
            <a:r>
              <a:rPr lang="en-US" sz="3600" smtClean="0">
                <a:solidFill>
                  <a:schemeClr val="bg1"/>
                </a:solidFill>
                <a:latin typeface="Times New Roman" panose="02020603050405020304" pitchFamily="18" charset="0"/>
                <a:cs typeface="Times New Roman" panose="02020603050405020304" pitchFamily="18" charset="0"/>
              </a:rPr>
              <a:t>	Cho </a:t>
            </a:r>
            <a:r>
              <a:rPr lang="en-US" sz="3600" dirty="0" err="1" smtClean="0">
                <a:solidFill>
                  <a:schemeClr val="bg1"/>
                </a:solidFill>
                <a:latin typeface="Times New Roman" panose="02020603050405020304" pitchFamily="18" charset="0"/>
                <a:cs typeface="Times New Roman" panose="02020603050405020304" pitchFamily="18" charset="0"/>
              </a:rPr>
              <a:t>dãy</a:t>
            </a:r>
            <a:r>
              <a:rPr lang="en-US" sz="3600" dirty="0" smtClean="0">
                <a:solidFill>
                  <a:schemeClr val="bg1"/>
                </a:solidFill>
                <a:latin typeface="Times New Roman" panose="02020603050405020304" pitchFamily="18" charset="0"/>
                <a:cs typeface="Times New Roman" panose="02020603050405020304" pitchFamily="18" charset="0"/>
              </a:rPr>
              <a:t> ban </a:t>
            </a:r>
            <a:r>
              <a:rPr lang="en-US" sz="3600" dirty="0" err="1" smtClean="0">
                <a:solidFill>
                  <a:schemeClr val="bg1"/>
                </a:solidFill>
                <a:latin typeface="Times New Roman" panose="02020603050405020304" pitchFamily="18" charset="0"/>
                <a:cs typeface="Times New Roman" panose="02020603050405020304" pitchFamily="18" charset="0"/>
              </a:rPr>
              <a:t>đầu</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1 </a:t>
            </a:r>
            <a:r>
              <a:rPr lang="en-US" sz="3600" b="1" dirty="0" smtClean="0">
                <a:solidFill>
                  <a:schemeClr val="bg1"/>
                </a:solidFill>
                <a:latin typeface="Times New Roman" panose="02020603050405020304" pitchFamily="18" charset="0"/>
                <a:cs typeface="Times New Roman" panose="02020603050405020304" pitchFamily="18" charset="0"/>
              </a:rPr>
              <a:t>, a</a:t>
            </a:r>
            <a:r>
              <a:rPr lang="en-US" sz="3600" b="1" baseline="-25000" dirty="0" smtClean="0">
                <a:solidFill>
                  <a:schemeClr val="bg1"/>
                </a:solidFill>
                <a:latin typeface="Times New Roman" panose="02020603050405020304" pitchFamily="18" charset="0"/>
                <a:cs typeface="Times New Roman" panose="02020603050405020304" pitchFamily="18" charset="0"/>
              </a:rPr>
              <a:t>2 </a:t>
            </a:r>
            <a:r>
              <a:rPr lang="en-US" sz="3600" b="1" dirty="0" smtClean="0">
                <a:solidFill>
                  <a:schemeClr val="bg1"/>
                </a:solidFill>
                <a:latin typeface="Times New Roman" panose="02020603050405020304" pitchFamily="18" charset="0"/>
                <a:cs typeface="Times New Roman" panose="02020603050405020304" pitchFamily="18" charset="0"/>
              </a:rPr>
              <a:t>,... ,a</a:t>
            </a:r>
            <a:r>
              <a:rPr lang="en-US" sz="3600" b="1" baseline="-25000" dirty="0" smtClean="0">
                <a:solidFill>
                  <a:schemeClr val="bg1"/>
                </a:solidFill>
                <a:latin typeface="Times New Roman" panose="02020603050405020304" pitchFamily="18" charset="0"/>
                <a:cs typeface="Times New Roman" panose="02020603050405020304" pitchFamily="18" charset="0"/>
              </a:rPr>
              <a:t>n</a:t>
            </a:r>
            <a:r>
              <a:rPr lang="en-US" sz="3600" dirty="0" smtClean="0">
                <a:solidFill>
                  <a:schemeClr val="bg1"/>
                </a:solidFill>
                <a:latin typeface="Times New Roman" panose="02020603050405020304" pitchFamily="18" charset="0"/>
                <a:cs typeface="Times New Roman" panose="02020603050405020304" pitchFamily="18" charset="0"/>
              </a:rPr>
              <a:t>, ta </a:t>
            </a:r>
            <a:r>
              <a:rPr lang="en-US" sz="3600" dirty="0" err="1" smtClean="0">
                <a:solidFill>
                  <a:schemeClr val="bg1"/>
                </a:solidFill>
                <a:latin typeface="Times New Roman" panose="02020603050405020304" pitchFamily="18" charset="0"/>
                <a:cs typeface="Times New Roman" panose="02020603050405020304" pitchFamily="18" charset="0"/>
              </a:rPr>
              <a:t>có</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thể</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xem</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như</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đã</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có</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đoạn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gồm</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một</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phần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tử</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1 </a:t>
            </a:r>
            <a:r>
              <a:rPr lang="en-US" sz="3600" dirty="0" err="1" smtClean="0">
                <a:solidFill>
                  <a:schemeClr val="bg1"/>
                </a:solidFill>
                <a:latin typeface="Times New Roman" panose="02020603050405020304" pitchFamily="18" charset="0"/>
                <a:cs typeface="Times New Roman" panose="02020603050405020304" pitchFamily="18" charset="0"/>
              </a:rPr>
              <a:t>đã</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được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sắp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sau</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đó</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thêm</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2  </a:t>
            </a:r>
            <a:r>
              <a:rPr lang="en-US" sz="3600" dirty="0" err="1" smtClean="0">
                <a:solidFill>
                  <a:schemeClr val="bg1"/>
                </a:solidFill>
                <a:latin typeface="Times New Roman" panose="02020603050405020304" pitchFamily="18" charset="0"/>
                <a:cs typeface="Times New Roman" panose="02020603050405020304" pitchFamily="18" charset="0"/>
              </a:rPr>
              <a:t>vào</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đoạn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1 </a:t>
            </a:r>
            <a:r>
              <a:rPr lang="en-US" sz="3600" dirty="0" err="1" smtClean="0">
                <a:solidFill>
                  <a:schemeClr val="bg1"/>
                </a:solidFill>
                <a:latin typeface="Times New Roman" panose="02020603050405020304" pitchFamily="18" charset="0"/>
                <a:cs typeface="Times New Roman" panose="02020603050405020304" pitchFamily="18" charset="0"/>
              </a:rPr>
              <a:t>sẽ</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có</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đoạn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1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2</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được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sắp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tiếp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tục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thêm</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3  </a:t>
            </a:r>
            <a:r>
              <a:rPr lang="en-US" sz="3600" dirty="0" err="1" smtClean="0">
                <a:solidFill>
                  <a:schemeClr val="bg1"/>
                </a:solidFill>
                <a:latin typeface="Times New Roman" panose="02020603050405020304" pitchFamily="18" charset="0"/>
                <a:cs typeface="Times New Roman" panose="02020603050405020304" pitchFamily="18" charset="0"/>
              </a:rPr>
              <a:t>vào</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đoạn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1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2 </a:t>
            </a:r>
            <a:r>
              <a:rPr lang="en-US" sz="3600" dirty="0" err="1" smtClean="0">
                <a:solidFill>
                  <a:schemeClr val="bg1"/>
                </a:solidFill>
                <a:latin typeface="Times New Roman" panose="02020603050405020304" pitchFamily="18" charset="0"/>
                <a:cs typeface="Times New Roman" panose="02020603050405020304" pitchFamily="18" charset="0"/>
              </a:rPr>
              <a:t>để</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có</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đoạn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1</a:t>
            </a:r>
            <a:r>
              <a:rPr lang="en-US" sz="3600" b="1" dirty="0" smtClean="0">
                <a:solidFill>
                  <a:schemeClr val="bg1"/>
                </a:solidFill>
                <a:latin typeface="Times New Roman" panose="02020603050405020304" pitchFamily="18" charset="0"/>
                <a:cs typeface="Times New Roman" panose="02020603050405020304" pitchFamily="18" charset="0"/>
              </a:rPr>
              <a:t> a</a:t>
            </a:r>
            <a:r>
              <a:rPr lang="en-US" sz="3600" b="1" baseline="-25000" dirty="0" smtClean="0">
                <a:solidFill>
                  <a:schemeClr val="bg1"/>
                </a:solidFill>
                <a:latin typeface="Times New Roman" panose="02020603050405020304" pitchFamily="18" charset="0"/>
                <a:cs typeface="Times New Roman" panose="02020603050405020304" pitchFamily="18" charset="0"/>
              </a:rPr>
              <a:t>2</a:t>
            </a:r>
            <a:r>
              <a:rPr lang="en-US" sz="3600" b="1" dirty="0" smtClean="0">
                <a:solidFill>
                  <a:schemeClr val="bg1"/>
                </a:solidFill>
                <a:latin typeface="Times New Roman" panose="02020603050405020304" pitchFamily="18" charset="0"/>
                <a:cs typeface="Times New Roman" panose="02020603050405020304" pitchFamily="18" charset="0"/>
              </a:rPr>
              <a:t>  a</a:t>
            </a:r>
            <a:r>
              <a:rPr lang="en-US" sz="3600" b="1" baseline="-25000" dirty="0" smtClean="0">
                <a:solidFill>
                  <a:schemeClr val="bg1"/>
                </a:solidFill>
                <a:latin typeface="Times New Roman" panose="02020603050405020304" pitchFamily="18" charset="0"/>
                <a:cs typeface="Times New Roman" panose="02020603050405020304" pitchFamily="18" charset="0"/>
              </a:rPr>
              <a:t>3</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được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sắp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tiếp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tục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cho</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đến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khi</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thêm</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xong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err="1" smtClean="0">
                <a:solidFill>
                  <a:schemeClr val="bg1"/>
                </a:solidFill>
                <a:latin typeface="Times New Roman" panose="02020603050405020304" pitchFamily="18" charset="0"/>
                <a:cs typeface="Times New Roman" panose="02020603050405020304" pitchFamily="18" charset="0"/>
              </a:rPr>
              <a:t>a</a:t>
            </a:r>
            <a:r>
              <a:rPr lang="en-US" sz="3600" b="1" baseline="-25000" dirty="0" err="1" smtClean="0">
                <a:solidFill>
                  <a:schemeClr val="bg1"/>
                </a:solidFill>
                <a:latin typeface="Times New Roman" panose="02020603050405020304" pitchFamily="18" charset="0"/>
                <a:cs typeface="Times New Roman" panose="02020603050405020304" pitchFamily="18" charset="0"/>
              </a:rPr>
              <a:t>N</a:t>
            </a:r>
            <a:r>
              <a:rPr lang="en-US" sz="3600" b="1" baseline="-250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vào</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đoạn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1</a:t>
            </a:r>
            <a:r>
              <a:rPr lang="en-US" sz="3600" b="1" dirty="0" smtClean="0">
                <a:solidFill>
                  <a:schemeClr val="bg1"/>
                </a:solidFill>
                <a:latin typeface="Times New Roman" panose="02020603050405020304" pitchFamily="18" charset="0"/>
                <a:cs typeface="Times New Roman" panose="02020603050405020304" pitchFamily="18" charset="0"/>
              </a:rPr>
              <a:t> a</a:t>
            </a:r>
            <a:r>
              <a:rPr lang="en-US" sz="3600" b="1" baseline="-25000" dirty="0" smtClean="0">
                <a:solidFill>
                  <a:schemeClr val="bg1"/>
                </a:solidFill>
                <a:latin typeface="Times New Roman" panose="02020603050405020304" pitchFamily="18" charset="0"/>
                <a:cs typeface="Times New Roman" panose="02020603050405020304" pitchFamily="18" charset="0"/>
              </a:rPr>
              <a:t>2 ...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N-1</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baseline="-250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sẽ</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có</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dãy</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1 </a:t>
            </a:r>
            <a:r>
              <a:rPr lang="en-US" sz="3600" b="1" dirty="0" smtClean="0">
                <a:solidFill>
                  <a:schemeClr val="bg1"/>
                </a:solidFill>
                <a:latin typeface="Times New Roman" panose="02020603050405020304" pitchFamily="18" charset="0"/>
                <a:cs typeface="Times New Roman" panose="02020603050405020304" pitchFamily="18" charset="0"/>
              </a:rPr>
              <a:t>a</a:t>
            </a:r>
            <a:r>
              <a:rPr lang="en-US" sz="3600" b="1" baseline="-25000" dirty="0" smtClean="0">
                <a:solidFill>
                  <a:schemeClr val="bg1"/>
                </a:solidFill>
                <a:latin typeface="Times New Roman" panose="02020603050405020304" pitchFamily="18" charset="0"/>
                <a:cs typeface="Times New Roman" panose="02020603050405020304" pitchFamily="18" charset="0"/>
              </a:rPr>
              <a:t>2 ....</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b="1" dirty="0" err="1" smtClean="0">
                <a:solidFill>
                  <a:schemeClr val="bg1"/>
                </a:solidFill>
                <a:latin typeface="Times New Roman" panose="02020603050405020304" pitchFamily="18" charset="0"/>
                <a:cs typeface="Times New Roman" panose="02020603050405020304" pitchFamily="18" charset="0"/>
              </a:rPr>
              <a:t>a</a:t>
            </a:r>
            <a:r>
              <a:rPr lang="en-US" sz="3600" b="1" baseline="-25000" dirty="0" err="1" smtClean="0">
                <a:solidFill>
                  <a:schemeClr val="bg1"/>
                </a:solidFill>
                <a:latin typeface="Times New Roman" panose="02020603050405020304" pitchFamily="18" charset="0"/>
                <a:cs typeface="Times New Roman" panose="02020603050405020304" pitchFamily="18" charset="0"/>
              </a:rPr>
              <a:t>N</a:t>
            </a:r>
            <a:r>
              <a:rPr lang="en-US" sz="3600" b="1" baseline="-250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được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sắp</a:t>
            </a:r>
            <a:r>
              <a:rPr lang="en-US" sz="3600" dirty="0" smtClean="0">
                <a:solidFill>
                  <a:schemeClr val="bg1"/>
                </a:solidFill>
                <a:latin typeface="Times New Roman" panose="02020603050405020304" pitchFamily="18" charset="0"/>
                <a:cs typeface="Times New Roman" panose="02020603050405020304" pitchFamily="18" charset="0"/>
              </a:rPr>
              <a:t>. </a:t>
            </a:r>
          </a:p>
          <a:p>
            <a:endParaRPr lang="en-US" sz="360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6985E77A-6F25-42DE-9F24-657B0985CF94}" type="slidenum">
              <a:rPr lang="en-US" smtClean="0"/>
              <a:pPr>
                <a:defRPr/>
              </a:pPr>
              <a:t>85</a:t>
            </a:fld>
            <a:endParaRPr lang="en-US"/>
          </a:p>
        </p:txBody>
      </p:sp>
    </p:spTree>
    <p:extLst>
      <p:ext uri="{BB962C8B-B14F-4D97-AF65-F5344CB8AC3E}">
        <p14:creationId xmlns:p14="http://schemas.microsoft.com/office/powerpoint/2010/main" val="421952120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Content Placeholder 2"/>
          <p:cNvSpPr>
            <a:spLocks noGrp="1"/>
          </p:cNvSpPr>
          <p:nvPr>
            <p:ph idx="1"/>
          </p:nvPr>
        </p:nvSpPr>
        <p:spPr>
          <a:xfrm>
            <a:off x="0" y="587375"/>
            <a:ext cx="12192000" cy="6096000"/>
          </a:xfrm>
        </p:spPr>
        <p:txBody>
          <a:bodyPr>
            <a:noAutofit/>
          </a:bodyPr>
          <a:lstStyle/>
          <a:p>
            <a:pPr lvl="1" algn="just">
              <a:buFont typeface="Wingdings 2" pitchFamily="18" charset="2"/>
              <a:buNone/>
            </a:pPr>
            <a:r>
              <a:rPr lang="en-US" sz="4400" b="1" err="1">
                <a:solidFill>
                  <a:srgbClr val="0070C0"/>
                </a:solidFill>
                <a:latin typeface="Times New Roman" panose="02020603050405020304" pitchFamily="18" charset="0"/>
                <a:cs typeface="Times New Roman" panose="02020603050405020304" pitchFamily="18" charset="0"/>
              </a:rPr>
              <a:t>Giải</a:t>
            </a:r>
            <a:r>
              <a:rPr lang="en-US" sz="4400" b="1">
                <a:solidFill>
                  <a:srgbClr val="0070C0"/>
                </a:solidFill>
                <a:latin typeface="Times New Roman" panose="02020603050405020304" pitchFamily="18" charset="0"/>
                <a:cs typeface="Times New Roman" panose="02020603050405020304" pitchFamily="18" charset="0"/>
              </a:rPr>
              <a:t> </a:t>
            </a:r>
            <a:r>
              <a:rPr lang="en-US" sz="4400" b="1" smtClean="0">
                <a:solidFill>
                  <a:srgbClr val="0070C0"/>
                </a:solidFill>
                <a:latin typeface="Times New Roman" panose="02020603050405020304" pitchFamily="18" charset="0"/>
                <a:cs typeface="Times New Roman" panose="02020603050405020304" pitchFamily="18" charset="0"/>
              </a:rPr>
              <a:t>thuật:</a:t>
            </a:r>
            <a:endParaRPr lang="en-US" sz="4400" b="1" dirty="0">
              <a:solidFill>
                <a:srgbClr val="0070C0"/>
              </a:solidFill>
              <a:latin typeface="Times New Roman" panose="02020603050405020304" pitchFamily="18" charset="0"/>
              <a:cs typeface="Times New Roman" panose="02020603050405020304" pitchFamily="18" charset="0"/>
            </a:endParaRPr>
          </a:p>
          <a:p>
            <a:pPr lvl="1" algn="just">
              <a:buFont typeface="Wingdings 2" pitchFamily="18" charset="2"/>
              <a:buNone/>
            </a:pPr>
            <a:r>
              <a:rPr lang="en-US" sz="3200" u="sng" dirty="0" err="1">
                <a:solidFill>
                  <a:schemeClr val="bg1"/>
                </a:solidFill>
                <a:latin typeface="Times New Roman" panose="02020603050405020304" pitchFamily="18" charset="0"/>
                <a:cs typeface="Times New Roman" panose="02020603050405020304" pitchFamily="18" charset="0"/>
              </a:rPr>
              <a:t>Bước</a:t>
            </a:r>
            <a:r>
              <a:rPr lang="en-US" sz="3200" u="sng" dirty="0">
                <a:solidFill>
                  <a:schemeClr val="bg1"/>
                </a:solidFill>
                <a:latin typeface="Times New Roman" panose="02020603050405020304" pitchFamily="18" charset="0"/>
                <a:cs typeface="Times New Roman" panose="02020603050405020304" pitchFamily="18" charset="0"/>
              </a:rPr>
              <a:t> 1</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i</a:t>
            </a:r>
            <a:r>
              <a:rPr lang="en-US" sz="3200" dirty="0">
                <a:solidFill>
                  <a:schemeClr val="bg1"/>
                </a:solidFill>
                <a:latin typeface="Times New Roman" panose="02020603050405020304" pitchFamily="18" charset="0"/>
                <a:cs typeface="Times New Roman" panose="02020603050405020304" pitchFamily="18" charset="0"/>
              </a:rPr>
              <a:t> </a:t>
            </a:r>
            <a:r>
              <a:rPr lang="en-US" sz="3200">
                <a:solidFill>
                  <a:schemeClr val="bg1"/>
                </a:solidFill>
                <a:latin typeface="Times New Roman" panose="02020603050405020304" pitchFamily="18" charset="0"/>
                <a:cs typeface="Times New Roman" panose="02020603050405020304" pitchFamily="18" charset="0"/>
              </a:rPr>
              <a:t>= 2</a:t>
            </a:r>
            <a:r>
              <a:rPr lang="en-US" sz="3200" smtClean="0">
                <a:solidFill>
                  <a:schemeClr val="bg1"/>
                </a:solidFill>
                <a:latin typeface="Times New Roman" panose="02020603050405020304" pitchFamily="18" charset="0"/>
                <a:cs typeface="Times New Roman" panose="02020603050405020304" pitchFamily="18" charset="0"/>
              </a:rPr>
              <a:t>  // </a:t>
            </a:r>
            <a:r>
              <a:rPr lang="en-US" sz="3200" dirty="0" err="1">
                <a:solidFill>
                  <a:schemeClr val="bg1"/>
                </a:solidFill>
                <a:latin typeface="Times New Roman" panose="02020603050405020304" pitchFamily="18" charset="0"/>
                <a:cs typeface="Times New Roman" panose="02020603050405020304" pitchFamily="18" charset="0"/>
              </a:rPr>
              <a:t>giả</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sử</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có</a:t>
            </a:r>
            <a:r>
              <a:rPr lang="en-US" sz="3200" dirty="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đoạn</a:t>
            </a:r>
            <a:r>
              <a:rPr lang="en-US" sz="3200">
                <a:solidFill>
                  <a:schemeClr val="bg1"/>
                </a:solidFill>
                <a:latin typeface="Times New Roman" panose="02020603050405020304" pitchFamily="18" charset="0"/>
                <a:cs typeface="Times New Roman" panose="02020603050405020304" pitchFamily="18" charset="0"/>
              </a:rPr>
              <a:t> </a:t>
            </a:r>
            <a:r>
              <a:rPr lang="en-US" sz="3200" smtClean="0">
                <a:solidFill>
                  <a:schemeClr val="bg1"/>
                </a:solidFill>
                <a:latin typeface="Times New Roman" panose="02020603050405020304" pitchFamily="18" charset="0"/>
                <a:cs typeface="Times New Roman" panose="02020603050405020304" pitchFamily="18" charset="0"/>
              </a:rPr>
              <a:t>a[1]</a:t>
            </a:r>
            <a:r>
              <a:rPr lang="en-US" sz="3200" baseline="-25000" smtClean="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đã</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được</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sắp</a:t>
            </a:r>
            <a:r>
              <a:rPr lang="en-US" sz="3200" dirty="0">
                <a:solidFill>
                  <a:schemeClr val="bg1"/>
                </a:solidFill>
                <a:latin typeface="Times New Roman" panose="02020603050405020304" pitchFamily="18" charset="0"/>
                <a:cs typeface="Times New Roman" panose="02020603050405020304" pitchFamily="18" charset="0"/>
              </a:rPr>
              <a:t> </a:t>
            </a:r>
          </a:p>
          <a:p>
            <a:pPr lvl="1" algn="just">
              <a:buFont typeface="Wingdings 2" pitchFamily="18" charset="2"/>
              <a:buNone/>
            </a:pPr>
            <a:r>
              <a:rPr lang="en-US" sz="3200" u="sng" dirty="0" err="1">
                <a:solidFill>
                  <a:schemeClr val="bg1"/>
                </a:solidFill>
                <a:latin typeface="Times New Roman" panose="02020603050405020304" pitchFamily="18" charset="0"/>
                <a:cs typeface="Times New Roman" panose="02020603050405020304" pitchFamily="18" charset="0"/>
              </a:rPr>
              <a:t>Bước</a:t>
            </a:r>
            <a:r>
              <a:rPr lang="en-US" sz="3200" u="sng" dirty="0">
                <a:solidFill>
                  <a:schemeClr val="bg1"/>
                </a:solidFill>
                <a:latin typeface="Times New Roman" panose="02020603050405020304" pitchFamily="18" charset="0"/>
                <a:cs typeface="Times New Roman" panose="02020603050405020304" pitchFamily="18" charset="0"/>
              </a:rPr>
              <a:t> 2</a:t>
            </a:r>
            <a:r>
              <a:rPr lang="en-US" sz="3200" dirty="0">
                <a:solidFill>
                  <a:schemeClr val="bg1"/>
                </a:solidFill>
                <a:latin typeface="Times New Roman" panose="02020603050405020304" pitchFamily="18" charset="0"/>
                <a:cs typeface="Times New Roman" panose="02020603050405020304" pitchFamily="18" charset="0"/>
              </a:rPr>
              <a:t>: x = a[</a:t>
            </a:r>
            <a:r>
              <a:rPr lang="en-US" sz="3200" dirty="0" err="1">
                <a:solidFill>
                  <a:schemeClr val="bg1"/>
                </a:solidFill>
                <a:latin typeface="Times New Roman" panose="02020603050405020304" pitchFamily="18" charset="0"/>
                <a:cs typeface="Times New Roman" panose="02020603050405020304" pitchFamily="18" charset="0"/>
              </a:rPr>
              <a:t>i</a:t>
            </a:r>
            <a:r>
              <a:rPr lang="en-US" sz="3200" dirty="0">
                <a:solidFill>
                  <a:schemeClr val="bg1"/>
                </a:solidFill>
                <a:latin typeface="Times New Roman" panose="02020603050405020304" pitchFamily="18" charset="0"/>
                <a:cs typeface="Times New Roman" panose="02020603050405020304" pitchFamily="18" charset="0"/>
              </a:rPr>
              <a:t>]; </a:t>
            </a:r>
          </a:p>
          <a:p>
            <a:pPr lvl="1" algn="just">
              <a:buFont typeface="Wingdings 2" pitchFamily="18" charset="2"/>
              <a:buNone/>
            </a:pP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Tìm</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vị</a:t>
            </a:r>
            <a:r>
              <a:rPr lang="en-US" sz="3200" dirty="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trí</a:t>
            </a:r>
            <a:r>
              <a:rPr lang="en-US" sz="3200">
                <a:solidFill>
                  <a:schemeClr val="bg1"/>
                </a:solidFill>
                <a:latin typeface="Times New Roman" panose="02020603050405020304" pitchFamily="18" charset="0"/>
                <a:cs typeface="Times New Roman" panose="02020603050405020304" pitchFamily="18" charset="0"/>
              </a:rPr>
              <a:t> </a:t>
            </a:r>
            <a:r>
              <a:rPr lang="en-US" sz="3200" smtClean="0">
                <a:solidFill>
                  <a:schemeClr val="bg1"/>
                </a:solidFill>
                <a:latin typeface="Times New Roman" panose="02020603050405020304" pitchFamily="18" charset="0"/>
                <a:cs typeface="Times New Roman" panose="02020603050405020304" pitchFamily="18" charset="0"/>
              </a:rPr>
              <a:t>(</a:t>
            </a:r>
            <a:r>
              <a:rPr lang="en-US" sz="3200">
                <a:solidFill>
                  <a:schemeClr val="bg1"/>
                </a:solidFill>
              </a:rPr>
              <a:t>position</a:t>
            </a:r>
            <a:r>
              <a:rPr lang="en-US" sz="3200" smtClean="0">
                <a:solidFill>
                  <a:schemeClr val="bg1"/>
                </a:solidFill>
                <a:latin typeface="Times New Roman" panose="02020603050405020304" pitchFamily="18" charset="0"/>
                <a:cs typeface="Times New Roman" panose="02020603050405020304" pitchFamily="18" charset="0"/>
              </a:rPr>
              <a:t>) pos </a:t>
            </a:r>
            <a:r>
              <a:rPr lang="en-US" sz="3200" dirty="0" err="1">
                <a:solidFill>
                  <a:schemeClr val="bg1"/>
                </a:solidFill>
                <a:latin typeface="Times New Roman" panose="02020603050405020304" pitchFamily="18" charset="0"/>
                <a:cs typeface="Times New Roman" panose="02020603050405020304" pitchFamily="18" charset="0"/>
              </a:rPr>
              <a:t>thích</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hợp</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trong</a:t>
            </a:r>
            <a:r>
              <a:rPr lang="en-US" sz="3200" dirty="0">
                <a:solidFill>
                  <a:schemeClr val="bg1"/>
                </a:solidFill>
                <a:latin typeface="Times New Roman" panose="02020603050405020304" pitchFamily="18" charset="0"/>
                <a:cs typeface="Times New Roman" panose="02020603050405020304" pitchFamily="18" charset="0"/>
              </a:rPr>
              <a:t> </a:t>
            </a:r>
            <a:r>
              <a:rPr lang="en-US" sz="3200" err="1">
                <a:solidFill>
                  <a:schemeClr val="bg1"/>
                </a:solidFill>
                <a:latin typeface="Times New Roman" panose="02020603050405020304" pitchFamily="18" charset="0"/>
                <a:cs typeface="Times New Roman" panose="02020603050405020304" pitchFamily="18" charset="0"/>
              </a:rPr>
              <a:t>đoạn</a:t>
            </a:r>
            <a:r>
              <a:rPr lang="en-US" sz="3200">
                <a:solidFill>
                  <a:schemeClr val="bg1"/>
                </a:solidFill>
                <a:latin typeface="Times New Roman" panose="02020603050405020304" pitchFamily="18" charset="0"/>
                <a:cs typeface="Times New Roman" panose="02020603050405020304" pitchFamily="18" charset="0"/>
              </a:rPr>
              <a:t> </a:t>
            </a:r>
            <a:r>
              <a:rPr lang="en-US" sz="3200" smtClean="0">
                <a:solidFill>
                  <a:schemeClr val="bg1"/>
                </a:solidFill>
                <a:latin typeface="Times New Roman" panose="02020603050405020304" pitchFamily="18" charset="0"/>
                <a:cs typeface="Times New Roman" panose="02020603050405020304" pitchFamily="18" charset="0"/>
              </a:rPr>
              <a:t>[1..</a:t>
            </a:r>
            <a:r>
              <a:rPr lang="en-US" sz="3200" dirty="0">
                <a:solidFill>
                  <a:schemeClr val="bg1"/>
                </a:solidFill>
                <a:latin typeface="Times New Roman" panose="02020603050405020304" pitchFamily="18" charset="0"/>
                <a:cs typeface="Times New Roman" panose="02020603050405020304" pitchFamily="18" charset="0"/>
              </a:rPr>
              <a:t>i-1</a:t>
            </a:r>
            <a:r>
              <a:rPr lang="en-US" sz="3200">
                <a:solidFill>
                  <a:schemeClr val="bg1"/>
                </a:solidFill>
                <a:latin typeface="Times New Roman" panose="02020603050405020304" pitchFamily="18" charset="0"/>
                <a:cs typeface="Times New Roman" panose="02020603050405020304" pitchFamily="18" charset="0"/>
              </a:rPr>
              <a:t>] </a:t>
            </a:r>
            <a:r>
              <a:rPr lang="en-US" sz="3200" smtClean="0">
                <a:solidFill>
                  <a:schemeClr val="bg1"/>
                </a:solidFill>
                <a:latin typeface="Times New Roman" panose="02020603050405020304" pitchFamily="18" charset="0"/>
                <a:cs typeface="Times New Roman" panose="02020603050405020304" pitchFamily="18" charset="0"/>
              </a:rPr>
              <a:t>để chèn </a:t>
            </a:r>
            <a:r>
              <a:rPr lang="en-US" sz="3200" dirty="0">
                <a:solidFill>
                  <a:schemeClr val="bg1"/>
                </a:solidFill>
                <a:latin typeface="Times New Roman" panose="02020603050405020304" pitchFamily="18" charset="0"/>
                <a:cs typeface="Times New Roman" panose="02020603050405020304" pitchFamily="18" charset="0"/>
              </a:rPr>
              <a:t>a[</a:t>
            </a:r>
            <a:r>
              <a:rPr lang="en-US" sz="3200" dirty="0" err="1">
                <a:solidFill>
                  <a:schemeClr val="bg1"/>
                </a:solidFill>
                <a:latin typeface="Times New Roman" panose="02020603050405020304" pitchFamily="18" charset="0"/>
                <a:cs typeface="Times New Roman" panose="02020603050405020304" pitchFamily="18" charset="0"/>
              </a:rPr>
              <a:t>i</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vào</a:t>
            </a:r>
            <a:r>
              <a:rPr lang="en-US" sz="3200" dirty="0">
                <a:solidFill>
                  <a:schemeClr val="bg1"/>
                </a:solidFill>
                <a:latin typeface="Times New Roman" panose="02020603050405020304" pitchFamily="18" charset="0"/>
                <a:cs typeface="Times New Roman" panose="02020603050405020304" pitchFamily="18" charset="0"/>
              </a:rPr>
              <a:t> </a:t>
            </a:r>
          </a:p>
          <a:p>
            <a:pPr lvl="1" algn="just">
              <a:buFont typeface="Wingdings 2" pitchFamily="18" charset="2"/>
              <a:buNone/>
            </a:pPr>
            <a:r>
              <a:rPr lang="en-US" sz="3200" u="sng" dirty="0" err="1">
                <a:solidFill>
                  <a:schemeClr val="bg1"/>
                </a:solidFill>
                <a:latin typeface="Times New Roman" panose="02020603050405020304" pitchFamily="18" charset="0"/>
                <a:cs typeface="Times New Roman" panose="02020603050405020304" pitchFamily="18" charset="0"/>
              </a:rPr>
              <a:t>Bước</a:t>
            </a:r>
            <a:r>
              <a:rPr lang="en-US" sz="3200" u="sng" dirty="0">
                <a:solidFill>
                  <a:schemeClr val="bg1"/>
                </a:solidFill>
                <a:latin typeface="Times New Roman" panose="02020603050405020304" pitchFamily="18" charset="0"/>
                <a:cs typeface="Times New Roman" panose="02020603050405020304" pitchFamily="18" charset="0"/>
              </a:rPr>
              <a:t> 3</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Dời</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chỗ</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các</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phần</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tử</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từ</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pos</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đến</a:t>
            </a:r>
            <a:r>
              <a:rPr lang="en-US" sz="3200" dirty="0">
                <a:solidFill>
                  <a:schemeClr val="bg1"/>
                </a:solidFill>
                <a:latin typeface="Times New Roman" panose="02020603050405020304" pitchFamily="18" charset="0"/>
                <a:cs typeface="Times New Roman" panose="02020603050405020304" pitchFamily="18" charset="0"/>
              </a:rPr>
              <a:t> i-1 sang </a:t>
            </a:r>
            <a:r>
              <a:rPr lang="en-US" sz="3200" dirty="0" err="1">
                <a:solidFill>
                  <a:schemeClr val="bg1"/>
                </a:solidFill>
                <a:latin typeface="Times New Roman" panose="02020603050405020304" pitchFamily="18" charset="0"/>
                <a:cs typeface="Times New Roman" panose="02020603050405020304" pitchFamily="18" charset="0"/>
              </a:rPr>
              <a:t>phải</a:t>
            </a:r>
            <a:r>
              <a:rPr lang="en-US" sz="3200" dirty="0">
                <a:solidFill>
                  <a:schemeClr val="bg1"/>
                </a:solidFill>
                <a:latin typeface="Times New Roman" panose="02020603050405020304" pitchFamily="18" charset="0"/>
                <a:cs typeface="Times New Roman" panose="02020603050405020304" pitchFamily="18" charset="0"/>
              </a:rPr>
              <a:t> 1 </a:t>
            </a:r>
            <a:r>
              <a:rPr lang="en-US" sz="3200" dirty="0" err="1">
                <a:solidFill>
                  <a:schemeClr val="bg1"/>
                </a:solidFill>
                <a:latin typeface="Times New Roman" panose="02020603050405020304" pitchFamily="18" charset="0"/>
                <a:cs typeface="Times New Roman" panose="02020603050405020304" pitchFamily="18" charset="0"/>
              </a:rPr>
              <a:t>vị</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trí</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để</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dành</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chỗ</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cho</a:t>
            </a:r>
            <a:r>
              <a:rPr lang="en-US" sz="3200" dirty="0">
                <a:solidFill>
                  <a:schemeClr val="bg1"/>
                </a:solidFill>
                <a:latin typeface="Times New Roman" panose="02020603050405020304" pitchFamily="18" charset="0"/>
                <a:cs typeface="Times New Roman" panose="02020603050405020304" pitchFamily="18" charset="0"/>
              </a:rPr>
              <a:t> a[</a:t>
            </a:r>
            <a:r>
              <a:rPr lang="en-US" sz="3200" dirty="0" err="1">
                <a:solidFill>
                  <a:schemeClr val="bg1"/>
                </a:solidFill>
                <a:latin typeface="Times New Roman" panose="02020603050405020304" pitchFamily="18" charset="0"/>
                <a:cs typeface="Times New Roman" panose="02020603050405020304" pitchFamily="18" charset="0"/>
              </a:rPr>
              <a:t>i</a:t>
            </a:r>
            <a:r>
              <a:rPr lang="en-US" sz="3200" dirty="0">
                <a:solidFill>
                  <a:schemeClr val="bg1"/>
                </a:solidFill>
                <a:latin typeface="Times New Roman" panose="02020603050405020304" pitchFamily="18" charset="0"/>
                <a:cs typeface="Times New Roman" panose="02020603050405020304" pitchFamily="18" charset="0"/>
              </a:rPr>
              <a:t>] </a:t>
            </a:r>
          </a:p>
          <a:p>
            <a:pPr lvl="1" algn="just">
              <a:buFont typeface="Wingdings 2" pitchFamily="18" charset="2"/>
              <a:buNone/>
            </a:pPr>
            <a:r>
              <a:rPr lang="en-US" sz="3200" u="sng" dirty="0" err="1">
                <a:solidFill>
                  <a:schemeClr val="bg1"/>
                </a:solidFill>
                <a:latin typeface="Times New Roman" panose="02020603050405020304" pitchFamily="18" charset="0"/>
                <a:cs typeface="Times New Roman" panose="02020603050405020304" pitchFamily="18" charset="0"/>
              </a:rPr>
              <a:t>Bước</a:t>
            </a:r>
            <a:r>
              <a:rPr lang="en-US" sz="3200" u="sng" dirty="0">
                <a:solidFill>
                  <a:schemeClr val="bg1"/>
                </a:solidFill>
                <a:latin typeface="Times New Roman" panose="02020603050405020304" pitchFamily="18" charset="0"/>
                <a:cs typeface="Times New Roman" panose="02020603050405020304" pitchFamily="18" charset="0"/>
              </a:rPr>
              <a:t> 4</a:t>
            </a:r>
            <a:r>
              <a:rPr lang="en-US" sz="3200" dirty="0">
                <a:solidFill>
                  <a:schemeClr val="bg1"/>
                </a:solidFill>
                <a:latin typeface="Times New Roman" panose="02020603050405020304" pitchFamily="18" charset="0"/>
                <a:cs typeface="Times New Roman" panose="02020603050405020304" pitchFamily="18" charset="0"/>
              </a:rPr>
              <a:t>: a[</a:t>
            </a:r>
            <a:r>
              <a:rPr lang="en-US" sz="3200" dirty="0" err="1">
                <a:solidFill>
                  <a:schemeClr val="bg1"/>
                </a:solidFill>
                <a:latin typeface="Times New Roman" panose="02020603050405020304" pitchFamily="18" charset="0"/>
                <a:cs typeface="Times New Roman" panose="02020603050405020304" pitchFamily="18" charset="0"/>
              </a:rPr>
              <a:t>pos</a:t>
            </a:r>
            <a:r>
              <a:rPr lang="en-US" sz="3200" dirty="0">
                <a:solidFill>
                  <a:schemeClr val="bg1"/>
                </a:solidFill>
                <a:latin typeface="Times New Roman" panose="02020603050405020304" pitchFamily="18" charset="0"/>
                <a:cs typeface="Times New Roman" panose="02020603050405020304" pitchFamily="18" charset="0"/>
              </a:rPr>
              <a:t>] = x;</a:t>
            </a:r>
            <a:r>
              <a:rPr lang="en-US" sz="3200">
                <a:solidFill>
                  <a:schemeClr val="bg1"/>
                </a:solidFill>
                <a:latin typeface="Times New Roman" panose="02020603050405020304" pitchFamily="18" charset="0"/>
                <a:cs typeface="Times New Roman" panose="02020603050405020304" pitchFamily="18" charset="0"/>
              </a:rPr>
              <a:t>	</a:t>
            </a:r>
            <a:r>
              <a:rPr lang="en-US" sz="3200" smtClean="0">
                <a:solidFill>
                  <a:schemeClr val="bg1"/>
                </a:solidFill>
                <a:latin typeface="Times New Roman" panose="02020603050405020304" pitchFamily="18" charset="0"/>
                <a:cs typeface="Times New Roman" panose="02020603050405020304" pitchFamily="18" charset="0"/>
              </a:rPr>
              <a:t> // </a:t>
            </a:r>
            <a:r>
              <a:rPr lang="en-US" sz="3200" dirty="0" err="1">
                <a:solidFill>
                  <a:schemeClr val="bg1"/>
                </a:solidFill>
                <a:latin typeface="Times New Roman" panose="02020603050405020304" pitchFamily="18" charset="0"/>
                <a:cs typeface="Times New Roman" panose="02020603050405020304" pitchFamily="18" charset="0"/>
              </a:rPr>
              <a:t>có</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đoạn</a:t>
            </a:r>
            <a:r>
              <a:rPr lang="en-US" sz="3200" dirty="0">
                <a:solidFill>
                  <a:schemeClr val="bg1"/>
                </a:solidFill>
                <a:latin typeface="Times New Roman" panose="02020603050405020304" pitchFamily="18" charset="0"/>
                <a:cs typeface="Times New Roman" panose="02020603050405020304" pitchFamily="18" charset="0"/>
              </a:rPr>
              <a:t> a[1]..a[</a:t>
            </a:r>
            <a:r>
              <a:rPr lang="en-US" sz="3200" dirty="0" err="1">
                <a:solidFill>
                  <a:schemeClr val="bg1"/>
                </a:solidFill>
                <a:latin typeface="Times New Roman" panose="02020603050405020304" pitchFamily="18" charset="0"/>
                <a:cs typeface="Times New Roman" panose="02020603050405020304" pitchFamily="18" charset="0"/>
              </a:rPr>
              <a:t>i</a:t>
            </a:r>
            <a:r>
              <a:rPr lang="en-US" sz="3200" dirty="0">
                <a:solidFill>
                  <a:schemeClr val="bg1"/>
                </a:solidFill>
                <a:latin typeface="Times New Roman" panose="02020603050405020304" pitchFamily="18" charset="0"/>
                <a:cs typeface="Times New Roman" panose="02020603050405020304" pitchFamily="18" charset="0"/>
              </a:rPr>
              <a:t>] </a:t>
            </a:r>
            <a:r>
              <a:rPr lang="en-US" sz="3200" baseline="-250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đã</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được</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sắp</a:t>
            </a:r>
            <a:r>
              <a:rPr lang="en-US" sz="3200" dirty="0">
                <a:solidFill>
                  <a:schemeClr val="bg1"/>
                </a:solidFill>
                <a:latin typeface="Times New Roman" panose="02020603050405020304" pitchFamily="18" charset="0"/>
                <a:cs typeface="Times New Roman" panose="02020603050405020304" pitchFamily="18" charset="0"/>
              </a:rPr>
              <a:t> </a:t>
            </a:r>
          </a:p>
          <a:p>
            <a:pPr lvl="1" algn="just">
              <a:buFont typeface="Wingdings 2" pitchFamily="18" charset="2"/>
              <a:buNone/>
            </a:pPr>
            <a:r>
              <a:rPr lang="en-US" sz="3200" u="sng" dirty="0" err="1">
                <a:solidFill>
                  <a:schemeClr val="bg1"/>
                </a:solidFill>
                <a:latin typeface="Times New Roman" panose="02020603050405020304" pitchFamily="18" charset="0"/>
                <a:cs typeface="Times New Roman" panose="02020603050405020304" pitchFamily="18" charset="0"/>
              </a:rPr>
              <a:t>Bước</a:t>
            </a:r>
            <a:r>
              <a:rPr lang="en-US" sz="3200" u="sng" dirty="0">
                <a:solidFill>
                  <a:schemeClr val="bg1"/>
                </a:solidFill>
                <a:latin typeface="Times New Roman" panose="02020603050405020304" pitchFamily="18" charset="0"/>
                <a:cs typeface="Times New Roman" panose="02020603050405020304" pitchFamily="18" charset="0"/>
              </a:rPr>
              <a:t> 5</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i</a:t>
            </a:r>
            <a:r>
              <a:rPr lang="en-US" sz="3200" dirty="0">
                <a:solidFill>
                  <a:schemeClr val="bg1"/>
                </a:solidFill>
                <a:latin typeface="Times New Roman" panose="02020603050405020304" pitchFamily="18" charset="0"/>
                <a:cs typeface="Times New Roman" panose="02020603050405020304" pitchFamily="18" charset="0"/>
              </a:rPr>
              <a:t> = i+1; </a:t>
            </a:r>
          </a:p>
          <a:p>
            <a:pPr lvl="1" algn="just">
              <a:buFont typeface="Wingdings 2" pitchFamily="18" charset="2"/>
              <a:buNone/>
            </a:pP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Nếu</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i</a:t>
            </a:r>
            <a:r>
              <a:rPr lang="en-US" sz="3200" baseline="-25000" dirty="0">
                <a:solidFill>
                  <a:schemeClr val="bg1"/>
                </a:solidFill>
                <a:latin typeface="Times New Roman" panose="02020603050405020304" pitchFamily="18" charset="0"/>
                <a:cs typeface="Times New Roman" panose="02020603050405020304" pitchFamily="18" charset="0"/>
              </a:rPr>
              <a:t> </a:t>
            </a:r>
            <a:r>
              <a:rPr lang="en-US" sz="3200" b="1" dirty="0">
                <a:solidFill>
                  <a:schemeClr val="bg1"/>
                </a:solidFill>
                <a:latin typeface="Times New Roman" panose="02020603050405020304" pitchFamily="18" charset="0"/>
                <a:cs typeface="Times New Roman" panose="02020603050405020304" pitchFamily="18" charset="0"/>
              </a:rPr>
              <a:t> ≤</a:t>
            </a:r>
            <a:r>
              <a:rPr lang="en-US" sz="3200" dirty="0">
                <a:solidFill>
                  <a:schemeClr val="bg1"/>
                </a:solidFill>
                <a:latin typeface="Times New Roman" panose="02020603050405020304" pitchFamily="18" charset="0"/>
                <a:cs typeface="Times New Roman" panose="02020603050405020304" pitchFamily="18" charset="0"/>
              </a:rPr>
              <a:t> N : </a:t>
            </a:r>
            <a:r>
              <a:rPr lang="en-US" sz="3200" dirty="0" err="1">
                <a:solidFill>
                  <a:schemeClr val="bg1"/>
                </a:solidFill>
                <a:latin typeface="Times New Roman" panose="02020603050405020304" pitchFamily="18" charset="0"/>
                <a:cs typeface="Times New Roman" panose="02020603050405020304" pitchFamily="18" charset="0"/>
              </a:rPr>
              <a:t>Lặp</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lại</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Bước</a:t>
            </a:r>
            <a:r>
              <a:rPr lang="en-US" sz="3200" dirty="0">
                <a:solidFill>
                  <a:schemeClr val="bg1"/>
                </a:solidFill>
                <a:latin typeface="Times New Roman" panose="02020603050405020304" pitchFamily="18" charset="0"/>
                <a:cs typeface="Times New Roman" panose="02020603050405020304" pitchFamily="18" charset="0"/>
              </a:rPr>
              <a:t> 2. </a:t>
            </a:r>
          </a:p>
          <a:p>
            <a:pPr lvl="1" algn="just">
              <a:buFont typeface="Wingdings 2" pitchFamily="18" charset="2"/>
              <a:buNone/>
            </a:pP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Ngược</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lại</a:t>
            </a:r>
            <a:r>
              <a:rPr lang="en-US" sz="3200" dirty="0">
                <a:solidFill>
                  <a:schemeClr val="bg1"/>
                </a:solidFill>
                <a:latin typeface="Times New Roman" panose="02020603050405020304" pitchFamily="18" charset="0"/>
                <a:cs typeface="Times New Roman" panose="02020603050405020304" pitchFamily="18" charset="0"/>
              </a:rPr>
              <a:t>  : </a:t>
            </a:r>
            <a:r>
              <a:rPr lang="en-US" sz="3200" dirty="0" err="1">
                <a:solidFill>
                  <a:schemeClr val="bg1"/>
                </a:solidFill>
                <a:latin typeface="Times New Roman" panose="02020603050405020304" pitchFamily="18" charset="0"/>
                <a:cs typeface="Times New Roman" panose="02020603050405020304" pitchFamily="18" charset="0"/>
              </a:rPr>
              <a:t>Dừng</a:t>
            </a:r>
            <a:r>
              <a:rPr lang="en-US" sz="3200" dirty="0">
                <a:solidFill>
                  <a:schemeClr val="bg1"/>
                </a:solidFill>
                <a:latin typeface="Times New Roman" panose="02020603050405020304" pitchFamily="18" charset="0"/>
                <a:cs typeface="Times New Roman" panose="02020603050405020304" pitchFamily="18" charset="0"/>
              </a:rPr>
              <a:t>. </a:t>
            </a:r>
          </a:p>
          <a:p>
            <a:pPr algn="just"/>
            <a:endParaRPr lang="en-US" sz="44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73337903-F1DF-4ECC-89C1-14561E38678B}" type="slidenum">
              <a:rPr lang="en-US" smtClean="0"/>
              <a:pPr>
                <a:defRPr/>
              </a:pPr>
              <a:t>86</a:t>
            </a:fld>
            <a:endParaRPr lang="en-US"/>
          </a:p>
        </p:txBody>
      </p:sp>
    </p:spTree>
    <p:extLst>
      <p:ext uri="{BB962C8B-B14F-4D97-AF65-F5344CB8AC3E}">
        <p14:creationId xmlns:p14="http://schemas.microsoft.com/office/powerpoint/2010/main" val="41253797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2362200" y="48736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no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87</a:t>
            </a:fld>
            <a:endParaRPr lang="en-US"/>
          </a:p>
        </p:txBody>
      </p:sp>
      <p:sp>
        <p:nvSpPr>
          <p:cNvPr id="19" name="Rectangle 18"/>
          <p:cNvSpPr/>
          <p:nvPr/>
        </p:nvSpPr>
        <p:spPr>
          <a:xfrm>
            <a:off x="2362200" y="3044825"/>
            <a:ext cx="838200" cy="1758950"/>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39243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6195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41052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2734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6934199" y="42259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4352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4545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1981200" y="1219201"/>
            <a:ext cx="8153400" cy="646331"/>
          </a:xfrm>
          <a:prstGeom prst="rect">
            <a:avLst/>
          </a:prstGeom>
          <a:noFill/>
        </p:spPr>
        <p:txBody>
          <a:bodyPr wrap="square">
            <a:spAutoFit/>
          </a:bodyPr>
          <a:lstStyle/>
          <a:p>
            <a:pPr>
              <a:defRPr/>
            </a:pPr>
            <a:r>
              <a:rPr lang="en-US" sz="3200" dirty="0" err="1">
                <a:solidFill>
                  <a:srgbClr val="C00000"/>
                </a:solidFill>
                <a:latin typeface="+mn-lt"/>
              </a:rPr>
              <a:t>Giả</a:t>
            </a:r>
            <a:r>
              <a:rPr lang="en-US" sz="3200" dirty="0">
                <a:solidFill>
                  <a:srgbClr val="C00000"/>
                </a:solidFill>
                <a:latin typeface="+mn-lt"/>
              </a:rPr>
              <a:t> </a:t>
            </a:r>
            <a:r>
              <a:rPr lang="en-US" sz="3200" dirty="0" err="1">
                <a:solidFill>
                  <a:srgbClr val="C00000"/>
                </a:solidFill>
                <a:latin typeface="+mn-lt"/>
              </a:rPr>
              <a:t>sử</a:t>
            </a:r>
            <a:r>
              <a:rPr lang="en-US" sz="3200" dirty="0">
                <a:solidFill>
                  <a:srgbClr val="C00000"/>
                </a:solidFill>
                <a:latin typeface="+mn-lt"/>
              </a:rPr>
              <a:t> </a:t>
            </a:r>
            <a:r>
              <a:rPr lang="en-US" sz="3200" dirty="0" err="1">
                <a:solidFill>
                  <a:srgbClr val="C00000"/>
                </a:solidFill>
                <a:latin typeface="+mn-lt"/>
              </a:rPr>
              <a:t>cần</a:t>
            </a:r>
            <a:r>
              <a:rPr lang="en-US" sz="3200" dirty="0">
                <a:solidFill>
                  <a:srgbClr val="C00000"/>
                </a:solidFill>
                <a:latin typeface="+mn-lt"/>
              </a:rPr>
              <a:t> </a:t>
            </a:r>
            <a:r>
              <a:rPr lang="en-US" sz="3200" dirty="0" err="1">
                <a:solidFill>
                  <a:srgbClr val="C00000"/>
                </a:solidFill>
                <a:latin typeface="+mn-lt"/>
              </a:rPr>
              <a:t>sắp</a:t>
            </a:r>
            <a:r>
              <a:rPr lang="en-US" sz="3200" dirty="0">
                <a:solidFill>
                  <a:srgbClr val="C00000"/>
                </a:solidFill>
                <a:latin typeface="+mn-lt"/>
              </a:rPr>
              <a:t> </a:t>
            </a:r>
            <a:r>
              <a:rPr lang="en-US" sz="3200" dirty="0" err="1">
                <a:solidFill>
                  <a:srgbClr val="C00000"/>
                </a:solidFill>
                <a:latin typeface="+mn-lt"/>
              </a:rPr>
              <a:t>xếp</a:t>
            </a:r>
            <a:r>
              <a:rPr lang="en-US" sz="3200" dirty="0">
                <a:solidFill>
                  <a:srgbClr val="C00000"/>
                </a:solidFill>
                <a:latin typeface="+mn-lt"/>
              </a:rPr>
              <a:t> </a:t>
            </a:r>
            <a:r>
              <a:rPr lang="en-US" sz="3200" dirty="0" err="1">
                <a:solidFill>
                  <a:srgbClr val="C00000"/>
                </a:solidFill>
                <a:latin typeface="+mn-lt"/>
              </a:rPr>
              <a:t>dãy</a:t>
            </a:r>
            <a:r>
              <a:rPr lang="en-US" sz="3200" dirty="0">
                <a:solidFill>
                  <a:srgbClr val="C00000"/>
                </a:solidFill>
                <a:latin typeface="+mn-lt"/>
              </a:rPr>
              <a:t> </a:t>
            </a:r>
            <a:r>
              <a:rPr lang="en-US" sz="3200" dirty="0" err="1">
                <a:solidFill>
                  <a:srgbClr val="C00000"/>
                </a:solidFill>
                <a:latin typeface="+mn-lt"/>
              </a:rPr>
              <a:t>số</a:t>
            </a:r>
            <a:r>
              <a:rPr lang="en-US" sz="3200" dirty="0">
                <a:solidFill>
                  <a:srgbClr val="C00000"/>
                </a:solidFill>
                <a:latin typeface="+mn-lt"/>
              </a:rPr>
              <a:t> </a:t>
            </a:r>
            <a:r>
              <a:rPr lang="en-US" sz="3600" dirty="0" err="1">
                <a:solidFill>
                  <a:srgbClr val="C00000"/>
                </a:solidFill>
                <a:latin typeface="Times New Roman" panose="02020603050405020304" pitchFamily="18" charset="0"/>
                <a:cs typeface="Times New Roman" panose="02020603050405020304" pitchFamily="18" charset="0"/>
              </a:rPr>
              <a:t>sau</a:t>
            </a:r>
            <a:r>
              <a:rPr lang="en-US" sz="3200" dirty="0">
                <a:solidFill>
                  <a:srgbClr val="C00000"/>
                </a:solidFill>
                <a:latin typeface="+mn-lt"/>
              </a:rPr>
              <a:t> </a:t>
            </a:r>
            <a:r>
              <a:rPr lang="en-US" sz="3200" dirty="0" err="1">
                <a:solidFill>
                  <a:srgbClr val="C00000"/>
                </a:solidFill>
                <a:latin typeface="+mn-lt"/>
              </a:rPr>
              <a:t>tăng</a:t>
            </a:r>
            <a:r>
              <a:rPr lang="en-US" sz="3200" dirty="0">
                <a:solidFill>
                  <a:srgbClr val="C00000"/>
                </a:solidFill>
                <a:latin typeface="+mn-lt"/>
              </a:rPr>
              <a:t> </a:t>
            </a:r>
            <a:r>
              <a:rPr lang="en-US" sz="3200" dirty="0" err="1">
                <a:solidFill>
                  <a:srgbClr val="C00000"/>
                </a:solidFill>
                <a:latin typeface="+mn-lt"/>
              </a:rPr>
              <a:t>dần</a:t>
            </a:r>
            <a:endParaRPr lang="en-US" sz="3200" dirty="0">
              <a:solidFill>
                <a:srgbClr val="C00000"/>
              </a:solidFill>
              <a:latin typeface="+mn-lt"/>
            </a:endParaRPr>
          </a:p>
        </p:txBody>
      </p:sp>
      <p:sp>
        <p:nvSpPr>
          <p:cNvPr id="17" name="Title 1"/>
          <p:cNvSpPr txBox="1">
            <a:spLocks/>
          </p:cNvSpPr>
          <p:nvPr/>
        </p:nvSpPr>
        <p:spPr>
          <a:xfrm>
            <a:off x="442912" y="312740"/>
            <a:ext cx="8153400" cy="1020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4. Chèn trực tiếp – insertion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428726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2362200" y="50260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2</a:t>
                      </a:r>
                      <a:endParaRPr lang="en-US" sz="2800" b="1">
                        <a:solidFill>
                          <a:srgbClr val="002060"/>
                        </a:solidFill>
                      </a:endParaRPr>
                    </a:p>
                  </a:txBody>
                  <a:tcPr>
                    <a:no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88</a:t>
            </a:fld>
            <a:endParaRPr lang="en-US"/>
          </a:p>
        </p:txBody>
      </p:sp>
      <p:sp>
        <p:nvSpPr>
          <p:cNvPr id="19" name="Rectangle 18"/>
          <p:cNvSpPr/>
          <p:nvPr/>
        </p:nvSpPr>
        <p:spPr>
          <a:xfrm>
            <a:off x="2362200" y="3197225"/>
            <a:ext cx="838200" cy="1758950"/>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599" y="4076700"/>
            <a:ext cx="838200" cy="8794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0" name="Rectangle 19"/>
          <p:cNvSpPr/>
          <p:nvPr/>
        </p:nvSpPr>
        <p:spPr>
          <a:xfrm>
            <a:off x="4190999" y="37719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42576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4258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6934199" y="43783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5876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6069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1981200" y="1066801"/>
            <a:ext cx="7924800" cy="584775"/>
          </a:xfrm>
          <a:prstGeom prst="rect">
            <a:avLst/>
          </a:prstGeom>
          <a:noFill/>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Xem</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như</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1 </a:t>
            </a:r>
            <a:r>
              <a:rPr lang="en-US" sz="3200" dirty="0" err="1">
                <a:solidFill>
                  <a:srgbClr val="C00000"/>
                </a:solidFill>
                <a:latin typeface="Times New Roman" panose="02020603050405020304" pitchFamily="18" charset="0"/>
                <a:cs typeface="Times New Roman" panose="02020603050405020304" pitchFamily="18" charset="0"/>
              </a:rPr>
              <a:t>đã</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có</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tự</a:t>
            </a:r>
            <a:endParaRPr lang="en-US" sz="3200" dirty="0">
              <a:solidFill>
                <a:srgbClr val="C0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1981200" y="1524001"/>
            <a:ext cx="8077200" cy="584775"/>
          </a:xfrm>
          <a:prstGeom prst="rect">
            <a:avLst/>
          </a:prstGeom>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Tìm</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vị</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trí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thích</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hợp</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để</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chèn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cho</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2</a:t>
            </a:r>
          </a:p>
        </p:txBody>
      </p:sp>
      <p:sp>
        <p:nvSpPr>
          <p:cNvPr id="17" name="Title 1"/>
          <p:cNvSpPr txBox="1">
            <a:spLocks/>
          </p:cNvSpPr>
          <p:nvPr/>
        </p:nvSpPr>
        <p:spPr>
          <a:xfrm>
            <a:off x="442912" y="312740"/>
            <a:ext cx="8153400" cy="1020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4. Chèn trực tiếp – insertion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2863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64" presetClass="path" presetSubtype="0" accel="50000" decel="50000" fill="hold" grpId="0" nodeType="clickEffect">
                                  <p:stCondLst>
                                    <p:cond delay="0"/>
                                  </p:stCondLst>
                                  <p:childTnLst>
                                    <p:animMotion origin="layout" path="M 0 0 L 0 -0.25 E" pathEditMode="relative" ptsTypes="">
                                      <p:cBhvr>
                                        <p:cTn id="15" dur="2000" fill="hold"/>
                                        <p:tgtEl>
                                          <p:spTgt spid="18"/>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64" presetClass="path" presetSubtype="0" accel="50000" decel="50000" fill="hold" grpId="0" nodeType="clickEffect">
                                  <p:stCondLst>
                                    <p:cond delay="0"/>
                                  </p:stCondLst>
                                  <p:childTnLst>
                                    <p:animMotion origin="layout" path="M 0 0 L 0 -0.25 E" pathEditMode="relative" ptsTypes="">
                                      <p:cBhvr>
                                        <p:cTn id="19" dur="2000" fill="hold"/>
                                        <p:tgtEl>
                                          <p:spTgt spid="19"/>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50" presetClass="path" presetSubtype="0" accel="50000" decel="50000" fill="hold" grpId="1" nodeType="clickEffect">
                                  <p:stCondLst>
                                    <p:cond delay="0"/>
                                  </p:stCondLst>
                                  <p:childTnLst>
                                    <p:animMotion origin="layout" path="M 5E-6 -0.25 L 0.03894 -0.25 C 0.05652 -0.25 0.07813 -0.18101 0.07813 -0.125 L 0.07813 -4.44444E-6 " pathEditMode="relative" rAng="0" ptsTypes="AAAA">
                                      <p:cBhvr>
                                        <p:cTn id="23" dur="2000" fill="hold"/>
                                        <p:tgtEl>
                                          <p:spTgt spid="19"/>
                                        </p:tgtEl>
                                        <p:attrNameLst>
                                          <p:attrName>ppt_x</p:attrName>
                                          <p:attrName>ppt_y</p:attrName>
                                        </p:attrNameLst>
                                      </p:cBhvr>
                                      <p:rCtr x="3906" y="12500"/>
                                    </p:animMotion>
                                  </p:childTnLst>
                                </p:cTn>
                              </p:par>
                            </p:childTnLst>
                          </p:cTn>
                        </p:par>
                      </p:childTnLst>
                    </p:cTn>
                  </p:par>
                  <p:par>
                    <p:cTn id="24" fill="hold">
                      <p:stCondLst>
                        <p:cond delay="indefinite"/>
                      </p:stCondLst>
                      <p:childTnLst>
                        <p:par>
                          <p:cTn id="25" fill="hold">
                            <p:stCondLst>
                              <p:cond delay="0"/>
                            </p:stCondLst>
                            <p:childTnLst>
                              <p:par>
                                <p:cTn id="26" presetID="50" presetClass="path" presetSubtype="0" accel="50000" decel="50000" fill="hold" grpId="1" nodeType="clickEffect">
                                  <p:stCondLst>
                                    <p:cond delay="0"/>
                                  </p:stCondLst>
                                  <p:childTnLst>
                                    <p:animMotion origin="layout" path="M 5E-6 -0.25 L -0.0392 -0.25 C -0.05678 -0.25 -0.07812 -0.18101 -0.07812 -0.125 L -0.07812 -4.81481E-6 " pathEditMode="relative" rAng="0" ptsTypes="AAAA">
                                      <p:cBhvr>
                                        <p:cTn id="27" dur="2000" fill="hold"/>
                                        <p:tgtEl>
                                          <p:spTgt spid="18"/>
                                        </p:tgtEl>
                                        <p:attrNameLst>
                                          <p:attrName>ppt_x</p:attrName>
                                          <p:attrName>ppt_y</p:attrName>
                                        </p:attrNameLst>
                                      </p:cBhvr>
                                      <p:rCtr x="-3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18" grpId="0" animBg="1"/>
      <p:bldP spid="18" grpId="1" animBg="1"/>
      <p:bldP spid="15" grpId="0"/>
      <p:bldP spid="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2362200" y="50260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3</a:t>
                      </a:r>
                      <a:endParaRPr lang="en-US" sz="2800" b="1">
                        <a:solidFill>
                          <a:srgbClr val="002060"/>
                        </a:solidFill>
                      </a:endParaRPr>
                    </a:p>
                  </a:txBody>
                  <a:tcPr>
                    <a:no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89</a:t>
            </a:fld>
            <a:endParaRPr lang="en-US"/>
          </a:p>
        </p:txBody>
      </p:sp>
      <p:sp>
        <p:nvSpPr>
          <p:cNvPr id="20" name="Rectangle 19"/>
          <p:cNvSpPr/>
          <p:nvPr/>
        </p:nvSpPr>
        <p:spPr>
          <a:xfrm>
            <a:off x="4190999" y="3771901"/>
            <a:ext cx="838200" cy="1184275"/>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21" name="Rectangle 20"/>
          <p:cNvSpPr/>
          <p:nvPr/>
        </p:nvSpPr>
        <p:spPr>
          <a:xfrm>
            <a:off x="5105399" y="42576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4258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6934199" y="43783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5876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6069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1981200" y="1066801"/>
            <a:ext cx="7924800" cy="584775"/>
          </a:xfrm>
          <a:prstGeom prst="rect">
            <a:avLst/>
          </a:prstGeom>
          <a:noFill/>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Hai</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đầu</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tiên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đã</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có</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tự</a:t>
            </a:r>
            <a:endParaRPr lang="en-US" sz="3200" dirty="0">
              <a:solidFill>
                <a:srgbClr val="C0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1981200" y="1524001"/>
            <a:ext cx="8077200" cy="584775"/>
          </a:xfrm>
          <a:prstGeom prst="rect">
            <a:avLst/>
          </a:prstGeom>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Tìm</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vị</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trí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thích</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hợp</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để</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chèn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cho</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3</a:t>
            </a:r>
          </a:p>
        </p:txBody>
      </p:sp>
      <p:sp>
        <p:nvSpPr>
          <p:cNvPr id="19" name="Rectangle 18"/>
          <p:cNvSpPr/>
          <p:nvPr/>
        </p:nvSpPr>
        <p:spPr>
          <a:xfrm>
            <a:off x="3276600" y="3197225"/>
            <a:ext cx="838200" cy="1758950"/>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2362200" y="4076700"/>
            <a:ext cx="838200" cy="8794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17" name="Title 1"/>
          <p:cNvSpPr txBox="1">
            <a:spLocks/>
          </p:cNvSpPr>
          <p:nvPr/>
        </p:nvSpPr>
        <p:spPr>
          <a:xfrm>
            <a:off x="442912" y="312740"/>
            <a:ext cx="8153400" cy="1020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4. Chèn trực tiếp – insertion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3231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64" presetClass="path" presetSubtype="0" accel="50000" decel="50000" fill="hold" grpId="0" nodeType="clickEffect">
                                  <p:stCondLst>
                                    <p:cond delay="0"/>
                                  </p:stCondLst>
                                  <p:childTnLst>
                                    <p:animMotion origin="layout" path="M 0 0 L 0 -0.25 E" pathEditMode="relative" ptsTypes="">
                                      <p:cBhvr>
                                        <p:cTn id="15" dur="2000" fill="hold"/>
                                        <p:tgtEl>
                                          <p:spTgt spid="20"/>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64" presetClass="path" presetSubtype="0" accel="50000" decel="50000" fill="hold" grpId="0" nodeType="clickEffect">
                                  <p:stCondLst>
                                    <p:cond delay="0"/>
                                  </p:stCondLst>
                                  <p:childTnLst>
                                    <p:animMotion origin="layout" path="M 0 0 L 0 -0.25 E" pathEditMode="relative" ptsTypes="">
                                      <p:cBhvr>
                                        <p:cTn id="19" dur="2000" fill="hold"/>
                                        <p:tgtEl>
                                          <p:spTgt spid="19"/>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50" presetClass="path" presetSubtype="0" accel="50000" decel="50000" fill="hold" grpId="1" nodeType="clickEffect">
                                  <p:stCondLst>
                                    <p:cond delay="0"/>
                                  </p:stCondLst>
                                  <p:childTnLst>
                                    <p:animMotion origin="layout" path="M 5E-6 -0.25 L 0.03907 -0.25 C 0.05639 -0.25 0.07813 -0.18101 0.07813 -0.125 L 0.07813 -4.44444E-6 " pathEditMode="relative" rAng="0" ptsTypes="AAAA">
                                      <p:cBhvr>
                                        <p:cTn id="23" dur="2000" fill="hold"/>
                                        <p:tgtEl>
                                          <p:spTgt spid="19"/>
                                        </p:tgtEl>
                                        <p:attrNameLst>
                                          <p:attrName>ppt_x</p:attrName>
                                          <p:attrName>ppt_y</p:attrName>
                                        </p:attrNameLst>
                                      </p:cBhvr>
                                      <p:rCtr x="3906" y="12500"/>
                                    </p:animMotion>
                                  </p:childTnLst>
                                </p:cTn>
                              </p:par>
                            </p:childTnLst>
                          </p:cTn>
                        </p:par>
                      </p:childTnLst>
                    </p:cTn>
                  </p:par>
                  <p:par>
                    <p:cTn id="24" fill="hold">
                      <p:stCondLst>
                        <p:cond delay="indefinite"/>
                      </p:stCondLst>
                      <p:childTnLst>
                        <p:par>
                          <p:cTn id="25" fill="hold">
                            <p:stCondLst>
                              <p:cond delay="0"/>
                            </p:stCondLst>
                            <p:childTnLst>
                              <p:par>
                                <p:cTn id="26" presetID="64" presetClass="path" presetSubtype="0" accel="50000" decel="50000" fill="hold" grpId="0" nodeType="clickEffect">
                                  <p:stCondLst>
                                    <p:cond delay="0"/>
                                  </p:stCondLst>
                                  <p:childTnLst>
                                    <p:animMotion origin="layout" path="M 0 0 L 0 -0.25 E" pathEditMode="relative" ptsTypes="">
                                      <p:cBhvr>
                                        <p:cTn id="27" dur="2000" fill="hold"/>
                                        <p:tgtEl>
                                          <p:spTgt spid="18"/>
                                        </p:tgtEl>
                                        <p:attrNameLst>
                                          <p:attrName>ppt_x</p:attrName>
                                          <p:attrName>ppt_y</p:attrName>
                                        </p:attrNameLst>
                                      </p:cBhvr>
                                    </p:animMotion>
                                  </p:childTnLst>
                                </p:cTn>
                              </p:par>
                            </p:childTnLst>
                          </p:cTn>
                        </p:par>
                      </p:childTnLst>
                    </p:cTn>
                  </p:par>
                  <p:par>
                    <p:cTn id="28" fill="hold">
                      <p:stCondLst>
                        <p:cond delay="indefinite"/>
                      </p:stCondLst>
                      <p:childTnLst>
                        <p:par>
                          <p:cTn id="29" fill="hold">
                            <p:stCondLst>
                              <p:cond delay="0"/>
                            </p:stCondLst>
                            <p:childTnLst>
                              <p:par>
                                <p:cTn id="30" presetID="42" presetClass="path" presetSubtype="0" accel="50000" decel="50000" fill="hold" grpId="1" nodeType="clickEffect">
                                  <p:stCondLst>
                                    <p:cond delay="0"/>
                                  </p:stCondLst>
                                  <p:childTnLst>
                                    <p:animMotion origin="layout" path="M 0 -0.24745 L 0 0.00255 " pathEditMode="relative" rAng="0" ptsTypes="AA">
                                      <p:cBhvr>
                                        <p:cTn id="31" dur="2000" fill="hold"/>
                                        <p:tgtEl>
                                          <p:spTgt spid="18"/>
                                        </p:tgtEl>
                                        <p:attrNameLst>
                                          <p:attrName>ppt_x</p:attrName>
                                          <p:attrName>ppt_y</p:attrName>
                                        </p:attrNameLst>
                                      </p:cBhvr>
                                      <p:rCtr x="0" y="12500"/>
                                    </p:animMotion>
                                  </p:childTnLst>
                                </p:cTn>
                              </p:par>
                            </p:childTnLst>
                          </p:cTn>
                        </p:par>
                      </p:childTnLst>
                    </p:cTn>
                  </p:par>
                  <p:par>
                    <p:cTn id="32" fill="hold">
                      <p:stCondLst>
                        <p:cond delay="indefinite"/>
                      </p:stCondLst>
                      <p:childTnLst>
                        <p:par>
                          <p:cTn id="33" fill="hold">
                            <p:stCondLst>
                              <p:cond delay="0"/>
                            </p:stCondLst>
                            <p:childTnLst>
                              <p:par>
                                <p:cTn id="34" presetID="50" presetClass="path" presetSubtype="0" accel="50000" decel="50000" fill="hold" grpId="1" nodeType="clickEffect">
                                  <p:stCondLst>
                                    <p:cond delay="0"/>
                                  </p:stCondLst>
                                  <p:childTnLst>
                                    <p:animMotion origin="layout" path="M 5E-6 -0.25 L -0.03906 -0.25 C -0.05664 -0.25 -0.07812 -0.18102 -0.07812 -0.125 L -0.07812 -2.59259E-6 " pathEditMode="relative" rAng="0" ptsTypes="AAAA">
                                      <p:cBhvr>
                                        <p:cTn id="35" dur="2000" fill="hold"/>
                                        <p:tgtEl>
                                          <p:spTgt spid="20"/>
                                        </p:tgtEl>
                                        <p:attrNameLst>
                                          <p:attrName>ppt_x</p:attrName>
                                          <p:attrName>ppt_y</p:attrName>
                                        </p:attrNameLst>
                                      </p:cBhvr>
                                      <p:rCtr x="-3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5" grpId="0"/>
      <p:bldP spid="2" grpId="0"/>
      <p:bldP spid="19" grpId="0" animBg="1"/>
      <p:bldP spid="19" grpId="1" animBg="1"/>
      <p:bldP spid="18" grpId="0" animBg="1"/>
      <p:bldP spid="18" grpId="1"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2362200" y="50260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no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90</a:t>
            </a:fld>
            <a:endParaRPr lang="en-US"/>
          </a:p>
        </p:txBody>
      </p:sp>
      <p:sp>
        <p:nvSpPr>
          <p:cNvPr id="21" name="Rectangle 20"/>
          <p:cNvSpPr/>
          <p:nvPr/>
        </p:nvSpPr>
        <p:spPr>
          <a:xfrm>
            <a:off x="5105399" y="4257676"/>
            <a:ext cx="838200" cy="71278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2" name="Rectangle 21"/>
          <p:cNvSpPr/>
          <p:nvPr/>
        </p:nvSpPr>
        <p:spPr>
          <a:xfrm>
            <a:off x="6019799" y="34258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6934199" y="43783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5876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6069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1981200" y="1066801"/>
            <a:ext cx="7924800" cy="584775"/>
          </a:xfrm>
          <a:prstGeom prst="rect">
            <a:avLst/>
          </a:prstGeom>
          <a:noFill/>
        </p:spPr>
        <p:txBody>
          <a:bodyPr wrap="square">
            <a:spAutoFit/>
          </a:bodyPr>
          <a:lstStyle/>
          <a:p>
            <a:pPr>
              <a:defRPr/>
            </a:pPr>
            <a:r>
              <a:rPr lang="en-US" sz="3200" dirty="0">
                <a:solidFill>
                  <a:srgbClr val="C00000"/>
                </a:solidFill>
                <a:latin typeface="Times New Roman" panose="02020603050405020304" pitchFamily="18" charset="0"/>
                <a:cs typeface="Times New Roman" panose="02020603050405020304" pitchFamily="18" charset="0"/>
              </a:rPr>
              <a:t>Ba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đầu</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tiên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đã</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có</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tự</a:t>
            </a:r>
            <a:endParaRPr lang="en-US" sz="3200" dirty="0">
              <a:solidFill>
                <a:srgbClr val="C0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1981200" y="1524001"/>
            <a:ext cx="8077200" cy="584775"/>
          </a:xfrm>
          <a:prstGeom prst="rect">
            <a:avLst/>
          </a:prstGeom>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Tìm</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vị</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trí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thích</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hợp</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để</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chèn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cho</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4</a:t>
            </a:r>
          </a:p>
        </p:txBody>
      </p:sp>
      <p:sp>
        <p:nvSpPr>
          <p:cNvPr id="20" name="Rectangle 19"/>
          <p:cNvSpPr/>
          <p:nvPr/>
        </p:nvSpPr>
        <p:spPr>
          <a:xfrm>
            <a:off x="3276600" y="3771901"/>
            <a:ext cx="838200" cy="11842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19" name="Rectangle 18"/>
          <p:cNvSpPr/>
          <p:nvPr/>
        </p:nvSpPr>
        <p:spPr>
          <a:xfrm>
            <a:off x="4191000" y="3197225"/>
            <a:ext cx="838200" cy="1758950"/>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2362200" y="4076700"/>
            <a:ext cx="838200" cy="8794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17" name="Title 1"/>
          <p:cNvSpPr txBox="1">
            <a:spLocks/>
          </p:cNvSpPr>
          <p:nvPr/>
        </p:nvSpPr>
        <p:spPr>
          <a:xfrm>
            <a:off x="442912" y="312740"/>
            <a:ext cx="8153400" cy="1020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4. Chèn trực tiếp – insertion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073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64" presetClass="path" presetSubtype="0" accel="50000" decel="50000" fill="hold" grpId="0" nodeType="clickEffect">
                                  <p:stCondLst>
                                    <p:cond delay="0"/>
                                  </p:stCondLst>
                                  <p:childTnLst>
                                    <p:animMotion origin="layout" path="M 0 0 L 0 -0.25 E" pathEditMode="relative" ptsTypes="">
                                      <p:cBhvr>
                                        <p:cTn id="15" dur="2000" fill="hold"/>
                                        <p:tgtEl>
                                          <p:spTgt spid="21"/>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64" presetClass="path" presetSubtype="0" accel="50000" decel="50000" fill="hold" grpId="0" nodeType="clickEffect">
                                  <p:stCondLst>
                                    <p:cond delay="0"/>
                                  </p:stCondLst>
                                  <p:childTnLst>
                                    <p:animMotion origin="layout" path="M 0 0 L 0 -0.25 E" pathEditMode="relative" ptsTypes="">
                                      <p:cBhvr>
                                        <p:cTn id="19" dur="2000" fill="hold"/>
                                        <p:tgtEl>
                                          <p:spTgt spid="19"/>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50" presetClass="path" presetSubtype="0" accel="50000" decel="50000" fill="hold" grpId="1" nodeType="clickEffect">
                                  <p:stCondLst>
                                    <p:cond delay="0"/>
                                  </p:stCondLst>
                                  <p:childTnLst>
                                    <p:animMotion origin="layout" path="M 5E-6 -0.25 L 0.03581 -0.25 C 0.05196 -0.25 0.07188 -0.18101 0.07188 -0.125 L 0.07188 -4.44444E-6 " pathEditMode="relative" rAng="0" ptsTypes="AAAA">
                                      <p:cBhvr>
                                        <p:cTn id="23" dur="2000" fill="hold"/>
                                        <p:tgtEl>
                                          <p:spTgt spid="19"/>
                                        </p:tgtEl>
                                        <p:attrNameLst>
                                          <p:attrName>ppt_x</p:attrName>
                                          <p:attrName>ppt_y</p:attrName>
                                        </p:attrNameLst>
                                      </p:cBhvr>
                                      <p:rCtr x="3594" y="12500"/>
                                    </p:animMotion>
                                  </p:childTnLst>
                                </p:cTn>
                              </p:par>
                            </p:childTnLst>
                          </p:cTn>
                        </p:par>
                      </p:childTnLst>
                    </p:cTn>
                  </p:par>
                  <p:par>
                    <p:cTn id="24" fill="hold">
                      <p:stCondLst>
                        <p:cond delay="indefinite"/>
                      </p:stCondLst>
                      <p:childTnLst>
                        <p:par>
                          <p:cTn id="25" fill="hold">
                            <p:stCondLst>
                              <p:cond delay="0"/>
                            </p:stCondLst>
                            <p:childTnLst>
                              <p:par>
                                <p:cTn id="26" presetID="64" presetClass="path" presetSubtype="0" accel="50000" decel="50000" fill="hold" grpId="0" nodeType="clickEffect">
                                  <p:stCondLst>
                                    <p:cond delay="0"/>
                                  </p:stCondLst>
                                  <p:childTnLst>
                                    <p:animMotion origin="layout" path="M 0 0 L 0 -0.25 E" pathEditMode="relative" ptsTypes="">
                                      <p:cBhvr>
                                        <p:cTn id="27" dur="2000" fill="hold"/>
                                        <p:tgtEl>
                                          <p:spTgt spid="20"/>
                                        </p:tgtEl>
                                        <p:attrNameLst>
                                          <p:attrName>ppt_x</p:attrName>
                                          <p:attrName>ppt_y</p:attrName>
                                        </p:attrNameLst>
                                      </p:cBhvr>
                                    </p:animMotion>
                                  </p:childTnLst>
                                </p:cTn>
                              </p:par>
                            </p:childTnLst>
                          </p:cTn>
                        </p:par>
                      </p:childTnLst>
                    </p:cTn>
                  </p:par>
                  <p:par>
                    <p:cTn id="28" fill="hold">
                      <p:stCondLst>
                        <p:cond delay="indefinite"/>
                      </p:stCondLst>
                      <p:childTnLst>
                        <p:par>
                          <p:cTn id="29" fill="hold">
                            <p:stCondLst>
                              <p:cond delay="0"/>
                            </p:stCondLst>
                            <p:childTnLst>
                              <p:par>
                                <p:cTn id="30" presetID="50" presetClass="path" presetSubtype="0" accel="50000" decel="50000" fill="hold" grpId="1" nodeType="clickEffect">
                                  <p:stCondLst>
                                    <p:cond delay="0"/>
                                  </p:stCondLst>
                                  <p:childTnLst>
                                    <p:animMotion origin="layout" path="M 5E-6 -0.25 L 0.03581 -0.25 C 0.05196 -0.25 0.07188 -0.18102 0.07188 -0.125 L 0.07188 -2.59259E-6 " pathEditMode="relative" rAng="0" ptsTypes="AAAA">
                                      <p:cBhvr>
                                        <p:cTn id="31" dur="2000" fill="hold"/>
                                        <p:tgtEl>
                                          <p:spTgt spid="20"/>
                                        </p:tgtEl>
                                        <p:attrNameLst>
                                          <p:attrName>ppt_x</p:attrName>
                                          <p:attrName>ppt_y</p:attrName>
                                        </p:attrNameLst>
                                      </p:cBhvr>
                                      <p:rCtr x="3594" y="12500"/>
                                    </p:animMotion>
                                  </p:childTnLst>
                                </p:cTn>
                              </p:par>
                            </p:childTnLst>
                          </p:cTn>
                        </p:par>
                      </p:childTnLst>
                    </p:cTn>
                  </p:par>
                  <p:par>
                    <p:cTn id="32" fill="hold">
                      <p:stCondLst>
                        <p:cond delay="indefinite"/>
                      </p:stCondLst>
                      <p:childTnLst>
                        <p:par>
                          <p:cTn id="33" fill="hold">
                            <p:stCondLst>
                              <p:cond delay="0"/>
                            </p:stCondLst>
                            <p:childTnLst>
                              <p:par>
                                <p:cTn id="34" presetID="64" presetClass="path" presetSubtype="0" accel="50000" decel="50000" fill="hold" grpId="0" nodeType="clickEffect">
                                  <p:stCondLst>
                                    <p:cond delay="0"/>
                                  </p:stCondLst>
                                  <p:childTnLst>
                                    <p:animMotion origin="layout" path="M 0 0 L 0 -0.25 E" pathEditMode="relative" ptsTypes="">
                                      <p:cBhvr>
                                        <p:cTn id="35" dur="2000" fill="hold"/>
                                        <p:tgtEl>
                                          <p:spTgt spid="18"/>
                                        </p:tgtEl>
                                        <p:attrNameLst>
                                          <p:attrName>ppt_x</p:attrName>
                                          <p:attrName>ppt_y</p:attrName>
                                        </p:attrNameLst>
                                      </p:cBhvr>
                                    </p:animMotion>
                                  </p:childTnLst>
                                </p:cTn>
                              </p:par>
                            </p:childTnLst>
                          </p:cTn>
                        </p:par>
                      </p:childTnLst>
                    </p:cTn>
                  </p:par>
                  <p:par>
                    <p:cTn id="36" fill="hold">
                      <p:stCondLst>
                        <p:cond delay="indefinite"/>
                      </p:stCondLst>
                      <p:childTnLst>
                        <p:par>
                          <p:cTn id="37" fill="hold">
                            <p:stCondLst>
                              <p:cond delay="0"/>
                            </p:stCondLst>
                            <p:childTnLst>
                              <p:par>
                                <p:cTn id="38" presetID="50" presetClass="path" presetSubtype="0" accel="50000" decel="50000" fill="hold" grpId="1" nodeType="clickEffect">
                                  <p:stCondLst>
                                    <p:cond delay="0"/>
                                  </p:stCondLst>
                                  <p:childTnLst>
                                    <p:animMotion origin="layout" path="M 5E-6 -0.25 L 0.03594 -0.25 C 0.05196 -0.25 0.07188 -0.18101 0.07188 -0.125 L 0.07188 -4.81481E-6 " pathEditMode="relative" rAng="0" ptsTypes="AAAA">
                                      <p:cBhvr>
                                        <p:cTn id="39" dur="2000" fill="hold"/>
                                        <p:tgtEl>
                                          <p:spTgt spid="18"/>
                                        </p:tgtEl>
                                        <p:attrNameLst>
                                          <p:attrName>ppt_x</p:attrName>
                                          <p:attrName>ppt_y</p:attrName>
                                        </p:attrNameLst>
                                      </p:cBhvr>
                                      <p:rCtr x="3594" y="12500"/>
                                    </p:animMotion>
                                  </p:childTnLst>
                                </p:cTn>
                              </p:par>
                            </p:childTnLst>
                          </p:cTn>
                        </p:par>
                      </p:childTnLst>
                    </p:cTn>
                  </p:par>
                  <p:par>
                    <p:cTn id="40" fill="hold">
                      <p:stCondLst>
                        <p:cond delay="indefinite"/>
                      </p:stCondLst>
                      <p:childTnLst>
                        <p:par>
                          <p:cTn id="41" fill="hold">
                            <p:stCondLst>
                              <p:cond delay="0"/>
                            </p:stCondLst>
                            <p:childTnLst>
                              <p:par>
                                <p:cTn id="42" presetID="50" presetClass="path" presetSubtype="0" accel="50000" decel="50000" fill="hold" grpId="1" nodeType="clickEffect">
                                  <p:stCondLst>
                                    <p:cond delay="0"/>
                                  </p:stCondLst>
                                  <p:childTnLst>
                                    <p:animMotion origin="layout" path="M 5E-6 -0.25 L -0.1142 -0.25 C -0.16537 -0.25 -0.22813 -0.18102 -0.22813 -0.125 L -0.22813 4.81481E-6 " pathEditMode="relative" rAng="0" ptsTypes="AAAA">
                                      <p:cBhvr>
                                        <p:cTn id="43" dur="2000" fill="hold"/>
                                        <p:tgtEl>
                                          <p:spTgt spid="21"/>
                                        </p:tgtEl>
                                        <p:attrNameLst>
                                          <p:attrName>ppt_x</p:attrName>
                                          <p:attrName>ppt_y</p:attrName>
                                        </p:attrNameLst>
                                      </p:cBhvr>
                                      <p:rCtr x="-114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15" grpId="0"/>
      <p:bldP spid="2" grpId="0"/>
      <p:bldP spid="20" grpId="0" animBg="1"/>
      <p:bldP spid="20" grpId="1" animBg="1"/>
      <p:bldP spid="19" grpId="0" animBg="1"/>
      <p:bldP spid="19" grpId="1" animBg="1"/>
      <p:bldP spid="18" grpId="0" animBg="1"/>
      <p:bldP spid="18" grpId="1"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2362200" y="50260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no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91</a:t>
            </a:fld>
            <a:endParaRPr lang="en-US"/>
          </a:p>
        </p:txBody>
      </p:sp>
      <p:sp>
        <p:nvSpPr>
          <p:cNvPr id="22" name="Rectangle 21"/>
          <p:cNvSpPr/>
          <p:nvPr/>
        </p:nvSpPr>
        <p:spPr>
          <a:xfrm>
            <a:off x="6019799" y="3425826"/>
            <a:ext cx="838200" cy="15446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3" name="Rectangle 22"/>
          <p:cNvSpPr/>
          <p:nvPr/>
        </p:nvSpPr>
        <p:spPr>
          <a:xfrm>
            <a:off x="6934199" y="43783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5876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6069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1981200" y="1063369"/>
            <a:ext cx="8153400" cy="584775"/>
          </a:xfrm>
          <a:prstGeom prst="rect">
            <a:avLst/>
          </a:prstGeom>
          <a:noFill/>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Bốn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đầu</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tiên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đã</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có</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tự</a:t>
            </a:r>
            <a:endParaRPr lang="en-US" sz="3200" dirty="0">
              <a:solidFill>
                <a:srgbClr val="C0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1981200" y="1524001"/>
            <a:ext cx="8077200" cy="584775"/>
          </a:xfrm>
          <a:prstGeom prst="rect">
            <a:avLst/>
          </a:prstGeom>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Tìm</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vị</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trí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thích</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hợp</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để</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chèn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cho</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5</a:t>
            </a:r>
          </a:p>
        </p:txBody>
      </p:sp>
      <p:sp>
        <p:nvSpPr>
          <p:cNvPr id="21" name="Rectangle 20"/>
          <p:cNvSpPr/>
          <p:nvPr/>
        </p:nvSpPr>
        <p:spPr>
          <a:xfrm>
            <a:off x="2362200" y="4257676"/>
            <a:ext cx="838200" cy="71278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0" name="Rectangle 19"/>
          <p:cNvSpPr/>
          <p:nvPr/>
        </p:nvSpPr>
        <p:spPr>
          <a:xfrm>
            <a:off x="4191000" y="3771901"/>
            <a:ext cx="838200" cy="11842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19" name="Rectangle 18"/>
          <p:cNvSpPr/>
          <p:nvPr/>
        </p:nvSpPr>
        <p:spPr>
          <a:xfrm>
            <a:off x="5105400" y="3197225"/>
            <a:ext cx="838200" cy="1758950"/>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600" y="4076700"/>
            <a:ext cx="838200" cy="8794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17" name="Title 1"/>
          <p:cNvSpPr txBox="1">
            <a:spLocks/>
          </p:cNvSpPr>
          <p:nvPr/>
        </p:nvSpPr>
        <p:spPr>
          <a:xfrm>
            <a:off x="442912" y="312740"/>
            <a:ext cx="8153400" cy="1020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4. Chèn trực tiếp – insertion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849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64" presetClass="path" presetSubtype="0" accel="50000" decel="50000" fill="hold" grpId="0" nodeType="clickEffect">
                                  <p:stCondLst>
                                    <p:cond delay="0"/>
                                  </p:stCondLst>
                                  <p:childTnLst>
                                    <p:animMotion origin="layout" path="M 0 0 L 0 -0.25 E" pathEditMode="relative" ptsTypes="">
                                      <p:cBhvr>
                                        <p:cTn id="15" dur="2000" fill="hold"/>
                                        <p:tgtEl>
                                          <p:spTgt spid="22"/>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64" presetClass="path" presetSubtype="0" accel="50000" decel="50000" fill="hold" grpId="0" nodeType="clickEffect">
                                  <p:stCondLst>
                                    <p:cond delay="0"/>
                                  </p:stCondLst>
                                  <p:childTnLst>
                                    <p:animMotion origin="layout" path="M 0 0 L 0 -0.25 E" pathEditMode="relative" ptsTypes="">
                                      <p:cBhvr>
                                        <p:cTn id="19" dur="2000" fill="hold"/>
                                        <p:tgtEl>
                                          <p:spTgt spid="19"/>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50" presetClass="path" presetSubtype="0" accel="50000" decel="50000" fill="hold" grpId="1" nodeType="clickEffect">
                                  <p:stCondLst>
                                    <p:cond delay="0"/>
                                  </p:stCondLst>
                                  <p:childTnLst>
                                    <p:animMotion origin="layout" path="M 5E-6 -0.25 L 0.03894 -0.25 C 0.05652 -0.25 0.07813 -0.18101 0.07813 -0.12476 L 0.07813 -4.44444E-6 " pathEditMode="relative" rAng="0" ptsTypes="AAAA">
                                      <p:cBhvr>
                                        <p:cTn id="23" dur="2000" fill="hold"/>
                                        <p:tgtEl>
                                          <p:spTgt spid="19"/>
                                        </p:tgtEl>
                                        <p:attrNameLst>
                                          <p:attrName>ppt_x</p:attrName>
                                          <p:attrName>ppt_y</p:attrName>
                                        </p:attrNameLst>
                                      </p:cBhvr>
                                      <p:rCtr x="3906" y="12500"/>
                                    </p:animMotion>
                                  </p:childTnLst>
                                </p:cTn>
                              </p:par>
                            </p:childTnLst>
                          </p:cTn>
                        </p:par>
                      </p:childTnLst>
                    </p:cTn>
                  </p:par>
                  <p:par>
                    <p:cTn id="24" fill="hold">
                      <p:stCondLst>
                        <p:cond delay="indefinite"/>
                      </p:stCondLst>
                      <p:childTnLst>
                        <p:par>
                          <p:cTn id="25" fill="hold">
                            <p:stCondLst>
                              <p:cond delay="0"/>
                            </p:stCondLst>
                            <p:childTnLst>
                              <p:par>
                                <p:cTn id="26" presetID="64" presetClass="path" presetSubtype="0" accel="50000" decel="50000" fill="hold" grpId="0" nodeType="clickEffect">
                                  <p:stCondLst>
                                    <p:cond delay="0"/>
                                  </p:stCondLst>
                                  <p:childTnLst>
                                    <p:animMotion origin="layout" path="M 0 0 L 0 -0.25 E" pathEditMode="relative" ptsTypes="">
                                      <p:cBhvr>
                                        <p:cTn id="27" dur="2000" fill="hold"/>
                                        <p:tgtEl>
                                          <p:spTgt spid="20"/>
                                        </p:tgtEl>
                                        <p:attrNameLst>
                                          <p:attrName>ppt_x</p:attrName>
                                          <p:attrName>ppt_y</p:attrName>
                                        </p:attrNameLst>
                                      </p:cBhvr>
                                    </p:animMotion>
                                  </p:childTnLst>
                                </p:cTn>
                              </p:par>
                            </p:childTnLst>
                          </p:cTn>
                        </p:par>
                      </p:childTnLst>
                    </p:cTn>
                  </p:par>
                  <p:par>
                    <p:cTn id="28" fill="hold">
                      <p:stCondLst>
                        <p:cond delay="indefinite"/>
                      </p:stCondLst>
                      <p:childTnLst>
                        <p:par>
                          <p:cTn id="29" fill="hold">
                            <p:stCondLst>
                              <p:cond delay="0"/>
                            </p:stCondLst>
                            <p:childTnLst>
                              <p:par>
                                <p:cTn id="30" presetID="42" presetClass="path" presetSubtype="0" accel="50000" decel="50000" fill="hold" grpId="1" nodeType="clickEffect">
                                  <p:stCondLst>
                                    <p:cond delay="0"/>
                                  </p:stCondLst>
                                  <p:childTnLst>
                                    <p:animMotion origin="layout" path="M 5.55112E-17 -0.24717 L 5.55112E-17 0.00277 " pathEditMode="relative" rAng="0" ptsTypes="AA">
                                      <p:cBhvr>
                                        <p:cTn id="31" dur="2000" fill="hold"/>
                                        <p:tgtEl>
                                          <p:spTgt spid="20"/>
                                        </p:tgtEl>
                                        <p:attrNameLst>
                                          <p:attrName>ppt_x</p:attrName>
                                          <p:attrName>ppt_y</p:attrName>
                                        </p:attrNameLst>
                                      </p:cBhvr>
                                      <p:rCtr x="0" y="12486"/>
                                    </p:animMotion>
                                  </p:childTnLst>
                                </p:cTn>
                              </p:par>
                            </p:childTnLst>
                          </p:cTn>
                        </p:par>
                      </p:childTnLst>
                    </p:cTn>
                  </p:par>
                  <p:par>
                    <p:cTn id="32" fill="hold">
                      <p:stCondLst>
                        <p:cond delay="indefinite"/>
                      </p:stCondLst>
                      <p:childTnLst>
                        <p:par>
                          <p:cTn id="33" fill="hold">
                            <p:stCondLst>
                              <p:cond delay="0"/>
                            </p:stCondLst>
                            <p:childTnLst>
                              <p:par>
                                <p:cTn id="34" presetID="50" presetClass="path" presetSubtype="0" accel="50000" decel="50000" fill="hold" grpId="1" nodeType="clickEffect">
                                  <p:stCondLst>
                                    <p:cond delay="0"/>
                                  </p:stCondLst>
                                  <p:childTnLst>
                                    <p:animMotion origin="layout" path="M 5E-6 -0.25 L -0.03919 -0.25 C -0.05677 -0.25 -0.07812 -0.18102 -0.07812 -0.12477 L -0.07812 2.96296E-6 " pathEditMode="relative" rAng="0" ptsTypes="AAAA">
                                      <p:cBhvr>
                                        <p:cTn id="35" dur="2000" fill="hold"/>
                                        <p:tgtEl>
                                          <p:spTgt spid="22"/>
                                        </p:tgtEl>
                                        <p:attrNameLst>
                                          <p:attrName>ppt_x</p:attrName>
                                          <p:attrName>ppt_y</p:attrName>
                                        </p:attrNameLst>
                                      </p:cBhvr>
                                      <p:rCtr x="-3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15" grpId="0"/>
      <p:bldP spid="2" grpId="0"/>
      <p:bldP spid="20" grpId="0" animBg="1"/>
      <p:bldP spid="20" grpId="1" animBg="1"/>
      <p:bldP spid="19" grpId="0" animBg="1"/>
      <p:bldP spid="19" grpId="1"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2362200" y="50260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6</a:t>
                      </a:r>
                      <a:endParaRPr lang="en-US" sz="2800" b="1">
                        <a:solidFill>
                          <a:srgbClr val="002060"/>
                        </a:solidFill>
                      </a:endParaRPr>
                    </a:p>
                  </a:txBody>
                  <a:tcPr>
                    <a:no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16" name="Title 1"/>
          <p:cNvSpPr>
            <a:spLocks noGrp="1"/>
          </p:cNvSpPr>
          <p:nvPr>
            <p:ph type="title"/>
          </p:nvPr>
        </p:nvSpPr>
        <p:spPr>
          <a:xfrm>
            <a:off x="1981200" y="274638"/>
            <a:ext cx="8153400" cy="1020762"/>
          </a:xfrm>
        </p:spPr>
        <p:txBody>
          <a:bodyPr>
            <a:normAutofit/>
          </a:bodyPr>
          <a:lstStyle/>
          <a:p>
            <a:pPr>
              <a:defRPr/>
            </a:pPr>
            <a:r>
              <a:rPr lang="en-US" dirty="0" err="1" smtClean="0"/>
              <a:t>Chèn</a:t>
            </a:r>
            <a:r>
              <a:rPr lang="en-US" dirty="0" smtClean="0"/>
              <a:t> </a:t>
            </a:r>
            <a:r>
              <a:rPr lang="en-US" dirty="0" err="1" smtClean="0"/>
              <a:t>trực</a:t>
            </a:r>
            <a:r>
              <a:rPr lang="en-US" dirty="0" smtClean="0"/>
              <a:t> </a:t>
            </a:r>
            <a:r>
              <a:rPr lang="en-US" dirty="0" err="1" smtClean="0"/>
              <a:t>tiếp</a:t>
            </a:r>
            <a:r>
              <a:rPr lang="en-US" dirty="0" smtClean="0"/>
              <a:t> – insertion sort</a:t>
            </a:r>
            <a:endParaRPr lang="en-US" dirty="0"/>
          </a:p>
        </p:txBody>
      </p:sp>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92</a:t>
            </a:fld>
            <a:endParaRPr lang="en-US"/>
          </a:p>
        </p:txBody>
      </p:sp>
      <p:sp>
        <p:nvSpPr>
          <p:cNvPr id="23" name="Rectangle 22"/>
          <p:cNvSpPr/>
          <p:nvPr/>
        </p:nvSpPr>
        <p:spPr>
          <a:xfrm>
            <a:off x="6934199" y="4378326"/>
            <a:ext cx="838200" cy="577849"/>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4" name="Rectangle 23"/>
          <p:cNvSpPr/>
          <p:nvPr/>
        </p:nvSpPr>
        <p:spPr>
          <a:xfrm>
            <a:off x="7848599" y="25876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6069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1981200" y="1066801"/>
            <a:ext cx="7924800" cy="584775"/>
          </a:xfrm>
          <a:prstGeom prst="rect">
            <a:avLst/>
          </a:prstGeom>
          <a:noFill/>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Năm</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đầu</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tiên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đã</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có</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tự</a:t>
            </a:r>
            <a:endParaRPr lang="en-US" sz="3200" dirty="0">
              <a:solidFill>
                <a:srgbClr val="C0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1981200" y="1524001"/>
            <a:ext cx="8077200" cy="584775"/>
          </a:xfrm>
          <a:prstGeom prst="rect">
            <a:avLst/>
          </a:prstGeom>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Tìm</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vị</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trí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thích</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hợp</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để</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chèn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cho</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6</a:t>
            </a:r>
          </a:p>
        </p:txBody>
      </p:sp>
      <p:sp>
        <p:nvSpPr>
          <p:cNvPr id="22" name="Rectangle 21"/>
          <p:cNvSpPr/>
          <p:nvPr/>
        </p:nvSpPr>
        <p:spPr>
          <a:xfrm>
            <a:off x="5105400" y="3425826"/>
            <a:ext cx="838200" cy="15446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1" name="Rectangle 20"/>
          <p:cNvSpPr/>
          <p:nvPr/>
        </p:nvSpPr>
        <p:spPr>
          <a:xfrm>
            <a:off x="2362200" y="4257676"/>
            <a:ext cx="838200" cy="71278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0" name="Rectangle 19"/>
          <p:cNvSpPr/>
          <p:nvPr/>
        </p:nvSpPr>
        <p:spPr>
          <a:xfrm>
            <a:off x="4191000" y="3771901"/>
            <a:ext cx="838200" cy="11842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19" name="Rectangle 18"/>
          <p:cNvSpPr/>
          <p:nvPr/>
        </p:nvSpPr>
        <p:spPr>
          <a:xfrm>
            <a:off x="6019800" y="3197225"/>
            <a:ext cx="838200" cy="1758950"/>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3276600" y="4076700"/>
            <a:ext cx="838200" cy="8794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17" name="Title 1"/>
          <p:cNvSpPr txBox="1">
            <a:spLocks/>
          </p:cNvSpPr>
          <p:nvPr/>
        </p:nvSpPr>
        <p:spPr>
          <a:xfrm>
            <a:off x="442912" y="312740"/>
            <a:ext cx="8153400" cy="1020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4. Chèn trực tiếp – insertion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042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64" presetClass="path" presetSubtype="0" accel="50000" decel="50000" fill="hold" grpId="0" nodeType="clickEffect">
                                  <p:stCondLst>
                                    <p:cond delay="0"/>
                                  </p:stCondLst>
                                  <p:childTnLst>
                                    <p:animMotion origin="layout" path="M 0 0 L 0 -0.25 E" pathEditMode="relative" ptsTypes="">
                                      <p:cBhvr>
                                        <p:cTn id="15" dur="2000" fill="hold"/>
                                        <p:tgtEl>
                                          <p:spTgt spid="23"/>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64" presetClass="path" presetSubtype="0" accel="50000" decel="50000" fill="hold" grpId="0" nodeType="clickEffect">
                                  <p:stCondLst>
                                    <p:cond delay="0"/>
                                  </p:stCondLst>
                                  <p:childTnLst>
                                    <p:animMotion origin="layout" path="M 0 0 L 0 -0.25 E" pathEditMode="relative" ptsTypes="">
                                      <p:cBhvr>
                                        <p:cTn id="19" dur="2000" fill="hold"/>
                                        <p:tgtEl>
                                          <p:spTgt spid="19"/>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50" presetClass="path" presetSubtype="0" accel="50000" decel="50000" fill="hold" grpId="1" nodeType="clickEffect">
                                  <p:stCondLst>
                                    <p:cond delay="0"/>
                                  </p:stCondLst>
                                  <p:childTnLst>
                                    <p:animMotion origin="layout" path="M 5E-6 -0.25 L 0.03594 -0.25 C 0.05196 -0.25 0.07188 -0.18101 0.07188 -0.125 L 0.07188 -4.44444E-6 " pathEditMode="relative" rAng="0" ptsTypes="AAAA">
                                      <p:cBhvr>
                                        <p:cTn id="23" dur="2000" fill="hold"/>
                                        <p:tgtEl>
                                          <p:spTgt spid="19"/>
                                        </p:tgtEl>
                                        <p:attrNameLst>
                                          <p:attrName>ppt_x</p:attrName>
                                          <p:attrName>ppt_y</p:attrName>
                                        </p:attrNameLst>
                                      </p:cBhvr>
                                      <p:rCtr x="3594" y="12500"/>
                                    </p:animMotion>
                                  </p:childTnLst>
                                </p:cTn>
                              </p:par>
                            </p:childTnLst>
                          </p:cTn>
                        </p:par>
                      </p:childTnLst>
                    </p:cTn>
                  </p:par>
                  <p:par>
                    <p:cTn id="24" fill="hold">
                      <p:stCondLst>
                        <p:cond delay="indefinite"/>
                      </p:stCondLst>
                      <p:childTnLst>
                        <p:par>
                          <p:cTn id="25" fill="hold">
                            <p:stCondLst>
                              <p:cond delay="0"/>
                            </p:stCondLst>
                            <p:childTnLst>
                              <p:par>
                                <p:cTn id="26" presetID="64" presetClass="path" presetSubtype="0" accel="50000" decel="50000" fill="hold" grpId="0" nodeType="clickEffect">
                                  <p:stCondLst>
                                    <p:cond delay="0"/>
                                  </p:stCondLst>
                                  <p:childTnLst>
                                    <p:animMotion origin="layout" path="M 0 0 L 0 -0.25 E" pathEditMode="relative" ptsTypes="">
                                      <p:cBhvr>
                                        <p:cTn id="27" dur="2000" fill="hold"/>
                                        <p:tgtEl>
                                          <p:spTgt spid="22"/>
                                        </p:tgtEl>
                                        <p:attrNameLst>
                                          <p:attrName>ppt_x</p:attrName>
                                          <p:attrName>ppt_y</p:attrName>
                                        </p:attrNameLst>
                                      </p:cBhvr>
                                    </p:animMotion>
                                  </p:childTnLst>
                                </p:cTn>
                              </p:par>
                            </p:childTnLst>
                          </p:cTn>
                        </p:par>
                      </p:childTnLst>
                    </p:cTn>
                  </p:par>
                  <p:par>
                    <p:cTn id="28" fill="hold">
                      <p:stCondLst>
                        <p:cond delay="indefinite"/>
                      </p:stCondLst>
                      <p:childTnLst>
                        <p:par>
                          <p:cTn id="29" fill="hold">
                            <p:stCondLst>
                              <p:cond delay="0"/>
                            </p:stCondLst>
                            <p:childTnLst>
                              <p:par>
                                <p:cTn id="30" presetID="50" presetClass="path" presetSubtype="0" accel="50000" decel="50000" fill="hold" grpId="1" nodeType="clickEffect">
                                  <p:stCondLst>
                                    <p:cond delay="0"/>
                                  </p:stCondLst>
                                  <p:childTnLst>
                                    <p:animMotion origin="layout" path="M 5E-6 -0.25 L 0.03594 -0.25 C 0.05196 -0.25 0.07188 -0.18102 0.07188 -0.125 L 0.07188 2.96296E-6 " pathEditMode="relative" rAng="0" ptsTypes="AAAA">
                                      <p:cBhvr>
                                        <p:cTn id="31" dur="2000" fill="hold"/>
                                        <p:tgtEl>
                                          <p:spTgt spid="22"/>
                                        </p:tgtEl>
                                        <p:attrNameLst>
                                          <p:attrName>ppt_x</p:attrName>
                                          <p:attrName>ppt_y</p:attrName>
                                        </p:attrNameLst>
                                      </p:cBhvr>
                                      <p:rCtr x="3594" y="12500"/>
                                    </p:animMotion>
                                  </p:childTnLst>
                                </p:cTn>
                              </p:par>
                            </p:childTnLst>
                          </p:cTn>
                        </p:par>
                      </p:childTnLst>
                    </p:cTn>
                  </p:par>
                  <p:par>
                    <p:cTn id="32" fill="hold">
                      <p:stCondLst>
                        <p:cond delay="indefinite"/>
                      </p:stCondLst>
                      <p:childTnLst>
                        <p:par>
                          <p:cTn id="33" fill="hold">
                            <p:stCondLst>
                              <p:cond delay="0"/>
                            </p:stCondLst>
                            <p:childTnLst>
                              <p:par>
                                <p:cTn id="34" presetID="64" presetClass="path" presetSubtype="0" accel="50000" decel="50000" fill="hold" grpId="0" nodeType="clickEffect">
                                  <p:stCondLst>
                                    <p:cond delay="0"/>
                                  </p:stCondLst>
                                  <p:childTnLst>
                                    <p:animMotion origin="layout" path="M 0 0 L 0 -0.25 E" pathEditMode="relative" ptsTypes="">
                                      <p:cBhvr>
                                        <p:cTn id="35" dur="2000" fill="hold"/>
                                        <p:tgtEl>
                                          <p:spTgt spid="20"/>
                                        </p:tgtEl>
                                        <p:attrNameLst>
                                          <p:attrName>ppt_x</p:attrName>
                                          <p:attrName>ppt_y</p:attrName>
                                        </p:attrNameLst>
                                      </p:cBhvr>
                                    </p:animMotion>
                                  </p:childTnLst>
                                </p:cTn>
                              </p:par>
                            </p:childTnLst>
                          </p:cTn>
                        </p:par>
                      </p:childTnLst>
                    </p:cTn>
                  </p:par>
                  <p:par>
                    <p:cTn id="36" fill="hold">
                      <p:stCondLst>
                        <p:cond delay="indefinite"/>
                      </p:stCondLst>
                      <p:childTnLst>
                        <p:par>
                          <p:cTn id="37" fill="hold">
                            <p:stCondLst>
                              <p:cond delay="0"/>
                            </p:stCondLst>
                            <p:childTnLst>
                              <p:par>
                                <p:cTn id="38" presetID="50" presetClass="path" presetSubtype="0" accel="50000" decel="50000" fill="hold" grpId="1" nodeType="clickEffect">
                                  <p:stCondLst>
                                    <p:cond delay="0"/>
                                  </p:stCondLst>
                                  <p:childTnLst>
                                    <p:animMotion origin="layout" path="M 5E-6 -0.25 L 0.03907 -0.25 C 0.05652 -0.25 0.07813 -0.18102 0.07813 -0.125 L 0.07813 -2.59259E-6 " pathEditMode="relative" rAng="0" ptsTypes="AAAA">
                                      <p:cBhvr>
                                        <p:cTn id="39" dur="2000" fill="hold"/>
                                        <p:tgtEl>
                                          <p:spTgt spid="20"/>
                                        </p:tgtEl>
                                        <p:attrNameLst>
                                          <p:attrName>ppt_x</p:attrName>
                                          <p:attrName>ppt_y</p:attrName>
                                        </p:attrNameLst>
                                      </p:cBhvr>
                                      <p:rCtr x="3906" y="12500"/>
                                    </p:animMotion>
                                  </p:childTnLst>
                                </p:cTn>
                              </p:par>
                            </p:childTnLst>
                          </p:cTn>
                        </p:par>
                      </p:childTnLst>
                    </p:cTn>
                  </p:par>
                  <p:par>
                    <p:cTn id="40" fill="hold">
                      <p:stCondLst>
                        <p:cond delay="indefinite"/>
                      </p:stCondLst>
                      <p:childTnLst>
                        <p:par>
                          <p:cTn id="41" fill="hold">
                            <p:stCondLst>
                              <p:cond delay="0"/>
                            </p:stCondLst>
                            <p:childTnLst>
                              <p:par>
                                <p:cTn id="42" presetID="64" presetClass="path" presetSubtype="0" accel="50000" decel="50000" fill="hold" grpId="0" nodeType="clickEffect">
                                  <p:stCondLst>
                                    <p:cond delay="0"/>
                                  </p:stCondLst>
                                  <p:childTnLst>
                                    <p:animMotion origin="layout" path="M 0 0 L 0 -0.25 E" pathEditMode="relative" ptsTypes="">
                                      <p:cBhvr>
                                        <p:cTn id="43" dur="2000" fill="hold"/>
                                        <p:tgtEl>
                                          <p:spTgt spid="18"/>
                                        </p:tgtEl>
                                        <p:attrNameLst>
                                          <p:attrName>ppt_x</p:attrName>
                                          <p:attrName>ppt_y</p:attrName>
                                        </p:attrNameLst>
                                      </p:cBhvr>
                                    </p:animMotion>
                                  </p:childTnLst>
                                </p:cTn>
                              </p:par>
                            </p:childTnLst>
                          </p:cTn>
                        </p:par>
                      </p:childTnLst>
                    </p:cTn>
                  </p:par>
                  <p:par>
                    <p:cTn id="44" fill="hold">
                      <p:stCondLst>
                        <p:cond delay="indefinite"/>
                      </p:stCondLst>
                      <p:childTnLst>
                        <p:par>
                          <p:cTn id="45" fill="hold">
                            <p:stCondLst>
                              <p:cond delay="0"/>
                            </p:stCondLst>
                            <p:childTnLst>
                              <p:par>
                                <p:cTn id="46" presetID="50" presetClass="path" presetSubtype="0" accel="50000" decel="50000" fill="hold" grpId="1" nodeType="clickEffect">
                                  <p:stCondLst>
                                    <p:cond delay="0"/>
                                  </p:stCondLst>
                                  <p:childTnLst>
                                    <p:animMotion origin="layout" path="M 5E-6 -0.25 L 0.03894 -0.25 C 0.05652 -0.25 0.07813 -0.18101 0.07813 -0.125 L 0.07813 -4.81481E-6 " pathEditMode="relative" rAng="0" ptsTypes="AAAA">
                                      <p:cBhvr>
                                        <p:cTn id="47" dur="2000" fill="hold"/>
                                        <p:tgtEl>
                                          <p:spTgt spid="18"/>
                                        </p:tgtEl>
                                        <p:attrNameLst>
                                          <p:attrName>ppt_x</p:attrName>
                                          <p:attrName>ppt_y</p:attrName>
                                        </p:attrNameLst>
                                      </p:cBhvr>
                                      <p:rCtr x="3906" y="12500"/>
                                    </p:animMotion>
                                  </p:childTnLst>
                                </p:cTn>
                              </p:par>
                            </p:childTnLst>
                          </p:cTn>
                        </p:par>
                      </p:childTnLst>
                    </p:cTn>
                  </p:par>
                  <p:par>
                    <p:cTn id="48" fill="hold">
                      <p:stCondLst>
                        <p:cond delay="indefinite"/>
                      </p:stCondLst>
                      <p:childTnLst>
                        <p:par>
                          <p:cTn id="49" fill="hold">
                            <p:stCondLst>
                              <p:cond delay="0"/>
                            </p:stCondLst>
                            <p:childTnLst>
                              <p:par>
                                <p:cTn id="50" presetID="64" presetClass="path" presetSubtype="0" accel="50000" decel="50000" fill="hold" grpId="0" nodeType="clickEffect">
                                  <p:stCondLst>
                                    <p:cond delay="0"/>
                                  </p:stCondLst>
                                  <p:childTnLst>
                                    <p:animMotion origin="layout" path="M 0 0 L 0 -0.25 E" pathEditMode="relative" ptsTypes="">
                                      <p:cBhvr>
                                        <p:cTn id="51" dur="2000" fill="hold"/>
                                        <p:tgtEl>
                                          <p:spTgt spid="21"/>
                                        </p:tgtEl>
                                        <p:attrNameLst>
                                          <p:attrName>ppt_x</p:attrName>
                                          <p:attrName>ppt_y</p:attrName>
                                        </p:attrNameLst>
                                      </p:cBhvr>
                                    </p:animMotion>
                                  </p:childTnLst>
                                </p:cTn>
                              </p:par>
                            </p:childTnLst>
                          </p:cTn>
                        </p:par>
                      </p:childTnLst>
                    </p:cTn>
                  </p:par>
                  <p:par>
                    <p:cTn id="52" fill="hold">
                      <p:stCondLst>
                        <p:cond delay="indefinite"/>
                      </p:stCondLst>
                      <p:childTnLst>
                        <p:par>
                          <p:cTn id="53" fill="hold">
                            <p:stCondLst>
                              <p:cond delay="0"/>
                            </p:stCondLst>
                            <p:childTnLst>
                              <p:par>
                                <p:cTn id="54" presetID="50" presetClass="path" presetSubtype="0" accel="50000" decel="50000" fill="hold" grpId="1" nodeType="clickEffect">
                                  <p:stCondLst>
                                    <p:cond delay="0"/>
                                  </p:stCondLst>
                                  <p:childTnLst>
                                    <p:animMotion origin="layout" path="M 5E-6 -0.25 L 0.03894 -0.25 C 0.05652 -0.25 0.07813 -0.18102 0.07813 -0.125 L 0.07813 4.81481E-6 " pathEditMode="relative" rAng="0" ptsTypes="AAAA">
                                      <p:cBhvr>
                                        <p:cTn id="55" dur="2000" fill="hold"/>
                                        <p:tgtEl>
                                          <p:spTgt spid="21"/>
                                        </p:tgtEl>
                                        <p:attrNameLst>
                                          <p:attrName>ppt_x</p:attrName>
                                          <p:attrName>ppt_y</p:attrName>
                                        </p:attrNameLst>
                                      </p:cBhvr>
                                      <p:rCtr x="3906" y="12500"/>
                                    </p:animMotion>
                                  </p:childTnLst>
                                </p:cTn>
                              </p:par>
                            </p:childTnLst>
                          </p:cTn>
                        </p:par>
                      </p:childTnLst>
                    </p:cTn>
                  </p:par>
                  <p:par>
                    <p:cTn id="56" fill="hold">
                      <p:stCondLst>
                        <p:cond delay="indefinite"/>
                      </p:stCondLst>
                      <p:childTnLst>
                        <p:par>
                          <p:cTn id="57" fill="hold">
                            <p:stCondLst>
                              <p:cond delay="0"/>
                            </p:stCondLst>
                            <p:childTnLst>
                              <p:par>
                                <p:cTn id="58" presetID="50" presetClass="path" presetSubtype="0" accel="50000" decel="50000" fill="hold" grpId="1" nodeType="clickEffect">
                                  <p:stCondLst>
                                    <p:cond delay="0"/>
                                  </p:stCondLst>
                                  <p:childTnLst>
                                    <p:animMotion origin="layout" path="M 5E-6 -0.25 L -0.1892 -0.25 C -0.27396 -0.25 -0.37813 -0.18102 -0.37813 -0.125 L -0.37813 4.44444E-6 " pathEditMode="relative" rAng="0" ptsTypes="AAAA">
                                      <p:cBhvr>
                                        <p:cTn id="59" dur="2000" fill="hold"/>
                                        <p:tgtEl>
                                          <p:spTgt spid="23"/>
                                        </p:tgtEl>
                                        <p:attrNameLst>
                                          <p:attrName>ppt_x</p:attrName>
                                          <p:attrName>ppt_y</p:attrName>
                                        </p:attrNameLst>
                                      </p:cBhvr>
                                      <p:rCtr x="-18906"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5" grpId="0"/>
      <p:bldP spid="2" grpId="0"/>
      <p:bldP spid="22" grpId="0" animBg="1"/>
      <p:bldP spid="22" grpId="1" animBg="1"/>
      <p:bldP spid="21" grpId="0" animBg="1"/>
      <p:bldP spid="21" grpId="1" animBg="1"/>
      <p:bldP spid="20" grpId="0" animBg="1"/>
      <p:bldP spid="20" grpId="1" animBg="1"/>
      <p:bldP spid="19" grpId="0" animBg="1"/>
      <p:bldP spid="19" grpId="1" animBg="1"/>
      <p:bldP spid="18" grpId="0" animBg="1"/>
      <p:bldP spid="18" grpId="1"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2362200" y="50260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no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93</a:t>
            </a:fld>
            <a:endParaRPr lang="en-US"/>
          </a:p>
        </p:txBody>
      </p:sp>
      <p:sp>
        <p:nvSpPr>
          <p:cNvPr id="24" name="Rectangle 23"/>
          <p:cNvSpPr/>
          <p:nvPr/>
        </p:nvSpPr>
        <p:spPr>
          <a:xfrm>
            <a:off x="7848599" y="2587626"/>
            <a:ext cx="838200" cy="2368548"/>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25" name="Rectangle 24"/>
          <p:cNvSpPr/>
          <p:nvPr/>
        </p:nvSpPr>
        <p:spPr>
          <a:xfrm>
            <a:off x="8762999" y="46069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5" name="TextBox 14"/>
          <p:cNvSpPr txBox="1"/>
          <p:nvPr/>
        </p:nvSpPr>
        <p:spPr>
          <a:xfrm>
            <a:off x="1981200" y="1066801"/>
            <a:ext cx="7924800" cy="584775"/>
          </a:xfrm>
          <a:prstGeom prst="rect">
            <a:avLst/>
          </a:prstGeom>
          <a:noFill/>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Sáu</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đầu</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tiên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đã</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có</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tự</a:t>
            </a:r>
            <a:endParaRPr lang="en-US" sz="3200" dirty="0">
              <a:solidFill>
                <a:srgbClr val="C0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1981200" y="1524001"/>
            <a:ext cx="8077200" cy="584775"/>
          </a:xfrm>
          <a:prstGeom prst="rect">
            <a:avLst/>
          </a:prstGeom>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Tìm</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vị</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trí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thích</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hợp</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để</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chèn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cho</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7</a:t>
            </a:r>
          </a:p>
        </p:txBody>
      </p:sp>
      <p:sp>
        <p:nvSpPr>
          <p:cNvPr id="23" name="Rectangle 22"/>
          <p:cNvSpPr/>
          <p:nvPr/>
        </p:nvSpPr>
        <p:spPr>
          <a:xfrm>
            <a:off x="2362200" y="4378326"/>
            <a:ext cx="838200" cy="577849"/>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2" name="Rectangle 21"/>
          <p:cNvSpPr/>
          <p:nvPr/>
        </p:nvSpPr>
        <p:spPr>
          <a:xfrm>
            <a:off x="6019800" y="3425826"/>
            <a:ext cx="838200" cy="15446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1" name="Rectangle 20"/>
          <p:cNvSpPr/>
          <p:nvPr/>
        </p:nvSpPr>
        <p:spPr>
          <a:xfrm>
            <a:off x="3276600" y="4257676"/>
            <a:ext cx="838200" cy="71278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0" name="Rectangle 19"/>
          <p:cNvSpPr/>
          <p:nvPr/>
        </p:nvSpPr>
        <p:spPr>
          <a:xfrm>
            <a:off x="5105400" y="3771901"/>
            <a:ext cx="838200" cy="11842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19" name="Rectangle 18"/>
          <p:cNvSpPr/>
          <p:nvPr/>
        </p:nvSpPr>
        <p:spPr>
          <a:xfrm>
            <a:off x="6934200" y="3197225"/>
            <a:ext cx="838200" cy="1758950"/>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4191000" y="4076700"/>
            <a:ext cx="838200" cy="8794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17" name="Title 1"/>
          <p:cNvSpPr txBox="1">
            <a:spLocks/>
          </p:cNvSpPr>
          <p:nvPr/>
        </p:nvSpPr>
        <p:spPr>
          <a:xfrm>
            <a:off x="442912" y="312740"/>
            <a:ext cx="8153400" cy="1020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4. Chèn trực tiếp – insertion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145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64" presetClass="path" presetSubtype="0" accel="50000" decel="50000" fill="hold" grpId="0" nodeType="clickEffect">
                                  <p:stCondLst>
                                    <p:cond delay="0"/>
                                  </p:stCondLst>
                                  <p:childTnLst>
                                    <p:animMotion origin="layout" path="M 0 0 L 0 -0.25 E" pathEditMode="relative" ptsTypes="">
                                      <p:cBhvr>
                                        <p:cTn id="15" dur="2000" fill="hold"/>
                                        <p:tgtEl>
                                          <p:spTgt spid="24"/>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64" presetClass="path" presetSubtype="0" accel="50000" decel="50000" fill="hold" grpId="0" nodeType="clickEffect">
                                  <p:stCondLst>
                                    <p:cond delay="0"/>
                                  </p:stCondLst>
                                  <p:childTnLst>
                                    <p:animMotion origin="layout" path="M 0 0 L 0 -0.25 E" pathEditMode="relative" ptsTypes="">
                                      <p:cBhvr>
                                        <p:cTn id="19" dur="2000" fill="hold"/>
                                        <p:tgtEl>
                                          <p:spTgt spid="19"/>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grpId="1" nodeType="clickEffect">
                                  <p:stCondLst>
                                    <p:cond delay="0"/>
                                  </p:stCondLst>
                                  <p:childTnLst>
                                    <p:animMotion origin="layout" path="M 0 -0.25 L 0 -4.44444E-6 " pathEditMode="relative" rAng="0" ptsTypes="AA">
                                      <p:cBhvr>
                                        <p:cTn id="23" dur="2000" fill="hold"/>
                                        <p:tgtEl>
                                          <p:spTgt spid="19"/>
                                        </p:tgtEl>
                                        <p:attrNameLst>
                                          <p:attrName>ppt_x</p:attrName>
                                          <p:attrName>ppt_y</p:attrName>
                                        </p:attrNameLst>
                                      </p:cBhvr>
                                      <p:rCtr x="0" y="12500"/>
                                    </p:animMotion>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grpId="1" nodeType="clickEffect">
                                  <p:stCondLst>
                                    <p:cond delay="0"/>
                                  </p:stCondLst>
                                  <p:childTnLst>
                                    <p:animMotion origin="layout" path="M 0 -0.25 L 0 0 " pathEditMode="relative" rAng="0" ptsTypes="AA">
                                      <p:cBhvr>
                                        <p:cTn id="27" dur="2000" fill="hold"/>
                                        <p:tgtEl>
                                          <p:spTgt spid="2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15" grpId="0"/>
      <p:bldP spid="2" grpId="0"/>
      <p:bldP spid="19" grpId="0" animBg="1"/>
      <p:bldP spid="19" grpId="1"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2362200" y="50260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no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94</a:t>
            </a:fld>
            <a:endParaRPr lang="en-US"/>
          </a:p>
        </p:txBody>
      </p:sp>
      <p:sp>
        <p:nvSpPr>
          <p:cNvPr id="24" name="Rectangle 23"/>
          <p:cNvSpPr/>
          <p:nvPr/>
        </p:nvSpPr>
        <p:spPr>
          <a:xfrm>
            <a:off x="7848599" y="2587626"/>
            <a:ext cx="838200" cy="2368548"/>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5" name="TextBox 14"/>
          <p:cNvSpPr txBox="1"/>
          <p:nvPr/>
        </p:nvSpPr>
        <p:spPr>
          <a:xfrm>
            <a:off x="1981200" y="1066801"/>
            <a:ext cx="7924800" cy="584775"/>
          </a:xfrm>
          <a:prstGeom prst="rect">
            <a:avLst/>
          </a:prstGeom>
          <a:noFill/>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Bảy</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đầu</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tiên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đã</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có</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tự</a:t>
            </a:r>
            <a:endParaRPr lang="en-US" sz="3200" dirty="0">
              <a:solidFill>
                <a:srgbClr val="C0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1981200" y="1524001"/>
            <a:ext cx="8077200" cy="584775"/>
          </a:xfrm>
          <a:prstGeom prst="rect">
            <a:avLst/>
          </a:prstGeom>
        </p:spPr>
        <p:txBody>
          <a:bodyPr wrap="square">
            <a:spAutoFit/>
          </a:bodyPr>
          <a:lstStyle/>
          <a:p>
            <a:pPr>
              <a:defRPr/>
            </a:pPr>
            <a:r>
              <a:rPr lang="en-US" sz="3200" dirty="0" err="1">
                <a:solidFill>
                  <a:srgbClr val="C00000"/>
                </a:solidFill>
                <a:latin typeface="Times New Roman" panose="02020603050405020304" pitchFamily="18" charset="0"/>
                <a:cs typeface="Times New Roman" panose="02020603050405020304" pitchFamily="18" charset="0"/>
              </a:rPr>
              <a:t>Tìm</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vị</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trí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thích</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hợp</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để</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chèn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cho</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phần</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tử</a:t>
            </a:r>
            <a:r>
              <a:rPr lang="en-US" sz="3200" dirty="0">
                <a:solidFill>
                  <a:srgbClr val="C00000"/>
                </a:solidFill>
                <a:latin typeface="Times New Roman" panose="02020603050405020304" pitchFamily="18" charset="0"/>
                <a:cs typeface="Times New Roman" panose="02020603050405020304" pitchFamily="18" charset="0"/>
              </a:rPr>
              <a:t> </a:t>
            </a:r>
            <a:r>
              <a:rPr lang="en-US" sz="3200" dirty="0" err="1">
                <a:solidFill>
                  <a:srgbClr val="C00000"/>
                </a:solidFill>
                <a:latin typeface="Times New Roman" panose="02020603050405020304" pitchFamily="18" charset="0"/>
                <a:cs typeface="Times New Roman" panose="02020603050405020304" pitchFamily="18" charset="0"/>
              </a:rPr>
              <a:t>thứ</a:t>
            </a:r>
            <a:r>
              <a:rPr lang="en-US" sz="3200" dirty="0">
                <a:solidFill>
                  <a:srgbClr val="C00000"/>
                </a:solidFill>
                <a:latin typeface="Times New Roman" panose="02020603050405020304" pitchFamily="18" charset="0"/>
                <a:cs typeface="Times New Roman" panose="02020603050405020304" pitchFamily="18" charset="0"/>
              </a:rPr>
              <a:t> 8</a:t>
            </a:r>
          </a:p>
        </p:txBody>
      </p:sp>
      <p:sp>
        <p:nvSpPr>
          <p:cNvPr id="23" name="Rectangle 22"/>
          <p:cNvSpPr/>
          <p:nvPr/>
        </p:nvSpPr>
        <p:spPr>
          <a:xfrm>
            <a:off x="2362200" y="4378326"/>
            <a:ext cx="838200" cy="577849"/>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2" name="Rectangle 21"/>
          <p:cNvSpPr/>
          <p:nvPr/>
        </p:nvSpPr>
        <p:spPr>
          <a:xfrm>
            <a:off x="6019800" y="3425826"/>
            <a:ext cx="838200" cy="15446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1" name="Rectangle 20"/>
          <p:cNvSpPr/>
          <p:nvPr/>
        </p:nvSpPr>
        <p:spPr>
          <a:xfrm>
            <a:off x="3276600" y="4257676"/>
            <a:ext cx="838200" cy="71278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0" name="Rectangle 19"/>
          <p:cNvSpPr/>
          <p:nvPr/>
        </p:nvSpPr>
        <p:spPr>
          <a:xfrm>
            <a:off x="5105400" y="3771901"/>
            <a:ext cx="838200" cy="11842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19" name="Rectangle 18"/>
          <p:cNvSpPr/>
          <p:nvPr/>
        </p:nvSpPr>
        <p:spPr>
          <a:xfrm>
            <a:off x="6934200" y="3197225"/>
            <a:ext cx="838200" cy="1758950"/>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4191000" y="4076700"/>
            <a:ext cx="838200" cy="8794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5" name="Rectangle 24"/>
          <p:cNvSpPr/>
          <p:nvPr/>
        </p:nvSpPr>
        <p:spPr>
          <a:xfrm>
            <a:off x="8762999" y="4606926"/>
            <a:ext cx="838200" cy="363537"/>
          </a:xfrm>
          <a:prstGeom prst="rect">
            <a:avLst/>
          </a:prstGeom>
          <a:solidFill>
            <a:schemeClr val="accent1">
              <a:lumMod val="75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7" name="Title 1"/>
          <p:cNvSpPr txBox="1">
            <a:spLocks/>
          </p:cNvSpPr>
          <p:nvPr/>
        </p:nvSpPr>
        <p:spPr>
          <a:xfrm>
            <a:off x="442912" y="312740"/>
            <a:ext cx="8153400" cy="1020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4. Chèn trực tiếp – insertion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749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64" presetClass="path" presetSubtype="0" accel="50000" decel="50000" fill="hold" grpId="0" nodeType="clickEffect">
                                  <p:stCondLst>
                                    <p:cond delay="0"/>
                                  </p:stCondLst>
                                  <p:childTnLst>
                                    <p:animMotion origin="layout" path="M 0 0 L 0 -0.25 E" pathEditMode="relative" ptsTypes="">
                                      <p:cBhvr>
                                        <p:cTn id="15" dur="2000" fill="hold"/>
                                        <p:tgtEl>
                                          <p:spTgt spid="25"/>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64" presetClass="path" presetSubtype="0" accel="50000" decel="50000" fill="hold" grpId="0" nodeType="clickEffect">
                                  <p:stCondLst>
                                    <p:cond delay="0"/>
                                  </p:stCondLst>
                                  <p:childTnLst>
                                    <p:animMotion origin="layout" path="M 0 0 L 0 -0.25 E" pathEditMode="relative" ptsTypes="">
                                      <p:cBhvr>
                                        <p:cTn id="19" dur="2000" fill="hold"/>
                                        <p:tgtEl>
                                          <p:spTgt spid="24"/>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50" presetClass="path" presetSubtype="0" accel="50000" decel="50000" fill="hold" grpId="1" nodeType="clickEffect">
                                  <p:stCondLst>
                                    <p:cond delay="0"/>
                                  </p:stCondLst>
                                  <p:childTnLst>
                                    <p:animMotion origin="layout" path="M 5E-6 -0.25 L 0.03594 -0.25 C 0.05196 -0.25 0.07188 -0.18102 0.07188 -0.125 L 0.07188 0 " pathEditMode="relative" rAng="0" ptsTypes="AAAA">
                                      <p:cBhvr>
                                        <p:cTn id="23" dur="2000" fill="hold"/>
                                        <p:tgtEl>
                                          <p:spTgt spid="24"/>
                                        </p:tgtEl>
                                        <p:attrNameLst>
                                          <p:attrName>ppt_x</p:attrName>
                                          <p:attrName>ppt_y</p:attrName>
                                        </p:attrNameLst>
                                      </p:cBhvr>
                                      <p:rCtr x="3594" y="12500"/>
                                    </p:animMotion>
                                  </p:childTnLst>
                                </p:cTn>
                              </p:par>
                            </p:childTnLst>
                          </p:cTn>
                        </p:par>
                      </p:childTnLst>
                    </p:cTn>
                  </p:par>
                  <p:par>
                    <p:cTn id="24" fill="hold">
                      <p:stCondLst>
                        <p:cond delay="indefinite"/>
                      </p:stCondLst>
                      <p:childTnLst>
                        <p:par>
                          <p:cTn id="25" fill="hold">
                            <p:stCondLst>
                              <p:cond delay="0"/>
                            </p:stCondLst>
                            <p:childTnLst>
                              <p:par>
                                <p:cTn id="26" presetID="64" presetClass="path" presetSubtype="0" accel="50000" decel="50000" fill="hold" grpId="0" nodeType="clickEffect">
                                  <p:stCondLst>
                                    <p:cond delay="0"/>
                                  </p:stCondLst>
                                  <p:childTnLst>
                                    <p:animMotion origin="layout" path="M 0 0 L 0 -0.25 E" pathEditMode="relative" ptsTypes="">
                                      <p:cBhvr>
                                        <p:cTn id="27" dur="2000" fill="hold"/>
                                        <p:tgtEl>
                                          <p:spTgt spid="19"/>
                                        </p:tgtEl>
                                        <p:attrNameLst>
                                          <p:attrName>ppt_x</p:attrName>
                                          <p:attrName>ppt_y</p:attrName>
                                        </p:attrNameLst>
                                      </p:cBhvr>
                                    </p:animMotion>
                                  </p:childTnLst>
                                </p:cTn>
                              </p:par>
                            </p:childTnLst>
                          </p:cTn>
                        </p:par>
                      </p:childTnLst>
                    </p:cTn>
                  </p:par>
                  <p:par>
                    <p:cTn id="28" fill="hold">
                      <p:stCondLst>
                        <p:cond delay="indefinite"/>
                      </p:stCondLst>
                      <p:childTnLst>
                        <p:par>
                          <p:cTn id="29" fill="hold">
                            <p:stCondLst>
                              <p:cond delay="0"/>
                            </p:stCondLst>
                            <p:childTnLst>
                              <p:par>
                                <p:cTn id="30" presetID="50" presetClass="path" presetSubtype="0" accel="50000" decel="50000" fill="hold" grpId="1" nodeType="clickEffect">
                                  <p:stCondLst>
                                    <p:cond delay="0"/>
                                  </p:stCondLst>
                                  <p:childTnLst>
                                    <p:animMotion origin="layout" path="M 5E-6 -0.25 L 0.03581 -0.25 C 0.05196 -0.25 0.07188 -0.18101 0.07188 -0.125 L 0.07188 -4.44444E-6 " pathEditMode="relative" rAng="0" ptsTypes="AAAA">
                                      <p:cBhvr>
                                        <p:cTn id="31" dur="2000" fill="hold"/>
                                        <p:tgtEl>
                                          <p:spTgt spid="19"/>
                                        </p:tgtEl>
                                        <p:attrNameLst>
                                          <p:attrName>ppt_x</p:attrName>
                                          <p:attrName>ppt_y</p:attrName>
                                        </p:attrNameLst>
                                      </p:cBhvr>
                                      <p:rCtr x="3594" y="12500"/>
                                    </p:animMotion>
                                  </p:childTnLst>
                                </p:cTn>
                              </p:par>
                            </p:childTnLst>
                          </p:cTn>
                        </p:par>
                      </p:childTnLst>
                    </p:cTn>
                  </p:par>
                  <p:par>
                    <p:cTn id="32" fill="hold">
                      <p:stCondLst>
                        <p:cond delay="indefinite"/>
                      </p:stCondLst>
                      <p:childTnLst>
                        <p:par>
                          <p:cTn id="33" fill="hold">
                            <p:stCondLst>
                              <p:cond delay="0"/>
                            </p:stCondLst>
                            <p:childTnLst>
                              <p:par>
                                <p:cTn id="34" presetID="64" presetClass="path" presetSubtype="0" accel="50000" decel="50000" fill="hold" grpId="0" nodeType="clickEffect">
                                  <p:stCondLst>
                                    <p:cond delay="0"/>
                                  </p:stCondLst>
                                  <p:childTnLst>
                                    <p:animMotion origin="layout" path="M 0 0 L 0 -0.25 E" pathEditMode="relative" ptsTypes="">
                                      <p:cBhvr>
                                        <p:cTn id="35" dur="2000" fill="hold"/>
                                        <p:tgtEl>
                                          <p:spTgt spid="22"/>
                                        </p:tgtEl>
                                        <p:attrNameLst>
                                          <p:attrName>ppt_x</p:attrName>
                                          <p:attrName>ppt_y</p:attrName>
                                        </p:attrNameLst>
                                      </p:cBhvr>
                                    </p:animMotion>
                                  </p:childTnLst>
                                </p:cTn>
                              </p:par>
                            </p:childTnLst>
                          </p:cTn>
                        </p:par>
                      </p:childTnLst>
                    </p:cTn>
                  </p:par>
                  <p:par>
                    <p:cTn id="36" fill="hold">
                      <p:stCondLst>
                        <p:cond delay="indefinite"/>
                      </p:stCondLst>
                      <p:childTnLst>
                        <p:par>
                          <p:cTn id="37" fill="hold">
                            <p:stCondLst>
                              <p:cond delay="0"/>
                            </p:stCondLst>
                            <p:childTnLst>
                              <p:par>
                                <p:cTn id="38" presetID="50" presetClass="path" presetSubtype="0" accel="50000" decel="50000" fill="hold" grpId="1" nodeType="clickEffect">
                                  <p:stCondLst>
                                    <p:cond delay="0"/>
                                  </p:stCondLst>
                                  <p:childTnLst>
                                    <p:animMotion origin="layout" path="M 5E-6 -0.25 L 0.03894 -0.25 C 0.05652 -0.25 0.07813 -0.18102 0.07813 -0.125 L 0.07813 2.96296E-6 " pathEditMode="relative" rAng="0" ptsTypes="AAAA">
                                      <p:cBhvr>
                                        <p:cTn id="39" dur="2000" fill="hold"/>
                                        <p:tgtEl>
                                          <p:spTgt spid="22"/>
                                        </p:tgtEl>
                                        <p:attrNameLst>
                                          <p:attrName>ppt_x</p:attrName>
                                          <p:attrName>ppt_y</p:attrName>
                                        </p:attrNameLst>
                                      </p:cBhvr>
                                      <p:rCtr x="3906" y="12500"/>
                                    </p:animMotion>
                                  </p:childTnLst>
                                </p:cTn>
                              </p:par>
                            </p:childTnLst>
                          </p:cTn>
                        </p:par>
                      </p:childTnLst>
                    </p:cTn>
                  </p:par>
                  <p:par>
                    <p:cTn id="40" fill="hold">
                      <p:stCondLst>
                        <p:cond delay="indefinite"/>
                      </p:stCondLst>
                      <p:childTnLst>
                        <p:par>
                          <p:cTn id="41" fill="hold">
                            <p:stCondLst>
                              <p:cond delay="0"/>
                            </p:stCondLst>
                            <p:childTnLst>
                              <p:par>
                                <p:cTn id="42" presetID="64" presetClass="path" presetSubtype="0" accel="50000" decel="50000" fill="hold" grpId="0" nodeType="clickEffect">
                                  <p:stCondLst>
                                    <p:cond delay="0"/>
                                  </p:stCondLst>
                                  <p:childTnLst>
                                    <p:animMotion origin="layout" path="M 0 0 L 0 -0.25 E" pathEditMode="relative" ptsTypes="">
                                      <p:cBhvr>
                                        <p:cTn id="43" dur="2000" fill="hold"/>
                                        <p:tgtEl>
                                          <p:spTgt spid="20"/>
                                        </p:tgtEl>
                                        <p:attrNameLst>
                                          <p:attrName>ppt_x</p:attrName>
                                          <p:attrName>ppt_y</p:attrName>
                                        </p:attrNameLst>
                                      </p:cBhvr>
                                    </p:animMotion>
                                  </p:childTnLst>
                                </p:cTn>
                              </p:par>
                            </p:childTnLst>
                          </p:cTn>
                        </p:par>
                      </p:childTnLst>
                    </p:cTn>
                  </p:par>
                  <p:par>
                    <p:cTn id="44" fill="hold">
                      <p:stCondLst>
                        <p:cond delay="indefinite"/>
                      </p:stCondLst>
                      <p:childTnLst>
                        <p:par>
                          <p:cTn id="45" fill="hold">
                            <p:stCondLst>
                              <p:cond delay="0"/>
                            </p:stCondLst>
                            <p:childTnLst>
                              <p:par>
                                <p:cTn id="46" presetID="50" presetClass="path" presetSubtype="0" accel="50000" decel="50000" fill="hold" grpId="1" nodeType="clickEffect">
                                  <p:stCondLst>
                                    <p:cond delay="0"/>
                                  </p:stCondLst>
                                  <p:childTnLst>
                                    <p:animMotion origin="layout" path="M 5E-6 -0.25 L 0.03894 -0.25 C 0.05652 -0.25 0.07813 -0.18102 0.07813 -0.125 L 0.07813 -2.59259E-6 " pathEditMode="relative" rAng="0" ptsTypes="AAAA">
                                      <p:cBhvr>
                                        <p:cTn id="47" dur="2000" fill="hold"/>
                                        <p:tgtEl>
                                          <p:spTgt spid="20"/>
                                        </p:tgtEl>
                                        <p:attrNameLst>
                                          <p:attrName>ppt_x</p:attrName>
                                          <p:attrName>ppt_y</p:attrName>
                                        </p:attrNameLst>
                                      </p:cBhvr>
                                      <p:rCtr x="3906" y="12500"/>
                                    </p:animMotion>
                                  </p:childTnLst>
                                </p:cTn>
                              </p:par>
                            </p:childTnLst>
                          </p:cTn>
                        </p:par>
                      </p:childTnLst>
                    </p:cTn>
                  </p:par>
                  <p:par>
                    <p:cTn id="48" fill="hold">
                      <p:stCondLst>
                        <p:cond delay="indefinite"/>
                      </p:stCondLst>
                      <p:childTnLst>
                        <p:par>
                          <p:cTn id="49" fill="hold">
                            <p:stCondLst>
                              <p:cond delay="0"/>
                            </p:stCondLst>
                            <p:childTnLst>
                              <p:par>
                                <p:cTn id="50" presetID="64" presetClass="path" presetSubtype="0" accel="50000" decel="50000" fill="hold" grpId="0" nodeType="clickEffect">
                                  <p:stCondLst>
                                    <p:cond delay="0"/>
                                  </p:stCondLst>
                                  <p:childTnLst>
                                    <p:animMotion origin="layout" path="M 0 0 L 0 -0.25 E" pathEditMode="relative" ptsTypes="">
                                      <p:cBhvr>
                                        <p:cTn id="51" dur="2000" fill="hold"/>
                                        <p:tgtEl>
                                          <p:spTgt spid="18"/>
                                        </p:tgtEl>
                                        <p:attrNameLst>
                                          <p:attrName>ppt_x</p:attrName>
                                          <p:attrName>ppt_y</p:attrName>
                                        </p:attrNameLst>
                                      </p:cBhvr>
                                    </p:animMotion>
                                  </p:childTnLst>
                                </p:cTn>
                              </p:par>
                            </p:childTnLst>
                          </p:cTn>
                        </p:par>
                      </p:childTnLst>
                    </p:cTn>
                  </p:par>
                  <p:par>
                    <p:cTn id="52" fill="hold">
                      <p:stCondLst>
                        <p:cond delay="indefinite"/>
                      </p:stCondLst>
                      <p:childTnLst>
                        <p:par>
                          <p:cTn id="53" fill="hold">
                            <p:stCondLst>
                              <p:cond delay="0"/>
                            </p:stCondLst>
                            <p:childTnLst>
                              <p:par>
                                <p:cTn id="54" presetID="50" presetClass="path" presetSubtype="0" accel="50000" decel="50000" fill="hold" grpId="1" nodeType="clickEffect">
                                  <p:stCondLst>
                                    <p:cond delay="0"/>
                                  </p:stCondLst>
                                  <p:childTnLst>
                                    <p:animMotion origin="layout" path="M 5E-6 -0.25 L 0.03894 -0.25 C 0.05652 -0.25 0.07813 -0.18101 0.07813 -0.125 L 0.07813 -4.81481E-6 " pathEditMode="relative" rAng="0" ptsTypes="AAAA">
                                      <p:cBhvr>
                                        <p:cTn id="55" dur="2000" fill="hold"/>
                                        <p:tgtEl>
                                          <p:spTgt spid="18"/>
                                        </p:tgtEl>
                                        <p:attrNameLst>
                                          <p:attrName>ppt_x</p:attrName>
                                          <p:attrName>ppt_y</p:attrName>
                                        </p:attrNameLst>
                                      </p:cBhvr>
                                      <p:rCtr x="3906" y="12500"/>
                                    </p:animMotion>
                                  </p:childTnLst>
                                </p:cTn>
                              </p:par>
                            </p:childTnLst>
                          </p:cTn>
                        </p:par>
                      </p:childTnLst>
                    </p:cTn>
                  </p:par>
                  <p:par>
                    <p:cTn id="56" fill="hold">
                      <p:stCondLst>
                        <p:cond delay="indefinite"/>
                      </p:stCondLst>
                      <p:childTnLst>
                        <p:par>
                          <p:cTn id="57" fill="hold">
                            <p:stCondLst>
                              <p:cond delay="0"/>
                            </p:stCondLst>
                            <p:childTnLst>
                              <p:par>
                                <p:cTn id="58" presetID="64" presetClass="path" presetSubtype="0" accel="50000" decel="50000" fill="hold" grpId="0" nodeType="clickEffect">
                                  <p:stCondLst>
                                    <p:cond delay="0"/>
                                  </p:stCondLst>
                                  <p:childTnLst>
                                    <p:animMotion origin="layout" path="M 0 0 L 0 -0.25 E" pathEditMode="relative" ptsTypes="">
                                      <p:cBhvr>
                                        <p:cTn id="59" dur="2000" fill="hold"/>
                                        <p:tgtEl>
                                          <p:spTgt spid="21"/>
                                        </p:tgtEl>
                                        <p:attrNameLst>
                                          <p:attrName>ppt_x</p:attrName>
                                          <p:attrName>ppt_y</p:attrName>
                                        </p:attrNameLst>
                                      </p:cBhvr>
                                    </p:animMotion>
                                  </p:childTnLst>
                                </p:cTn>
                              </p:par>
                            </p:childTnLst>
                          </p:cTn>
                        </p:par>
                      </p:childTnLst>
                    </p:cTn>
                  </p:par>
                  <p:par>
                    <p:cTn id="60" fill="hold">
                      <p:stCondLst>
                        <p:cond delay="indefinite"/>
                      </p:stCondLst>
                      <p:childTnLst>
                        <p:par>
                          <p:cTn id="61" fill="hold">
                            <p:stCondLst>
                              <p:cond delay="0"/>
                            </p:stCondLst>
                            <p:childTnLst>
                              <p:par>
                                <p:cTn id="62" presetID="50" presetClass="path" presetSubtype="0" accel="50000" decel="50000" fill="hold" grpId="1" nodeType="clickEffect">
                                  <p:stCondLst>
                                    <p:cond delay="0"/>
                                  </p:stCondLst>
                                  <p:childTnLst>
                                    <p:animMotion origin="layout" path="M 5E-6 -0.25 L 0.03581 -0.25 C 0.05196 -0.25 0.07188 -0.18102 0.07188 -0.125 L 0.07188 4.81481E-6 " pathEditMode="relative" rAng="0" ptsTypes="AAAA">
                                      <p:cBhvr>
                                        <p:cTn id="63" dur="2000" fill="hold"/>
                                        <p:tgtEl>
                                          <p:spTgt spid="21"/>
                                        </p:tgtEl>
                                        <p:attrNameLst>
                                          <p:attrName>ppt_x</p:attrName>
                                          <p:attrName>ppt_y</p:attrName>
                                        </p:attrNameLst>
                                      </p:cBhvr>
                                      <p:rCtr x="3594" y="12500"/>
                                    </p:animMotion>
                                  </p:childTnLst>
                                </p:cTn>
                              </p:par>
                            </p:childTnLst>
                          </p:cTn>
                        </p:par>
                      </p:childTnLst>
                    </p:cTn>
                  </p:par>
                  <p:par>
                    <p:cTn id="64" fill="hold">
                      <p:stCondLst>
                        <p:cond delay="indefinite"/>
                      </p:stCondLst>
                      <p:childTnLst>
                        <p:par>
                          <p:cTn id="65" fill="hold">
                            <p:stCondLst>
                              <p:cond delay="0"/>
                            </p:stCondLst>
                            <p:childTnLst>
                              <p:par>
                                <p:cTn id="66" presetID="64" presetClass="path" presetSubtype="0" accel="50000" decel="50000" fill="hold" grpId="0" nodeType="clickEffect">
                                  <p:stCondLst>
                                    <p:cond delay="0"/>
                                  </p:stCondLst>
                                  <p:childTnLst>
                                    <p:animMotion origin="layout" path="M 0 0 L 0 -0.25 E" pathEditMode="relative" ptsTypes="">
                                      <p:cBhvr>
                                        <p:cTn id="67" dur="2000" fill="hold"/>
                                        <p:tgtEl>
                                          <p:spTgt spid="23"/>
                                        </p:tgtEl>
                                        <p:attrNameLst>
                                          <p:attrName>ppt_x</p:attrName>
                                          <p:attrName>ppt_y</p:attrName>
                                        </p:attrNameLst>
                                      </p:cBhvr>
                                    </p:animMotion>
                                  </p:childTnLst>
                                </p:cTn>
                              </p:par>
                            </p:childTnLst>
                          </p:cTn>
                        </p:par>
                      </p:childTnLst>
                    </p:cTn>
                  </p:par>
                  <p:par>
                    <p:cTn id="68" fill="hold">
                      <p:stCondLst>
                        <p:cond delay="indefinite"/>
                      </p:stCondLst>
                      <p:childTnLst>
                        <p:par>
                          <p:cTn id="69" fill="hold">
                            <p:stCondLst>
                              <p:cond delay="0"/>
                            </p:stCondLst>
                            <p:childTnLst>
                              <p:par>
                                <p:cTn id="70" presetID="50" presetClass="path" presetSubtype="0" accel="50000" decel="50000" fill="hold" grpId="1" nodeType="clickEffect">
                                  <p:stCondLst>
                                    <p:cond delay="0"/>
                                  </p:stCondLst>
                                  <p:childTnLst>
                                    <p:animMotion origin="layout" path="M 5E-6 -0.25 L 0.03894 -0.25 C 0.05652 -0.25 0.07813 -0.18102 0.07813 -0.125 L 0.07813 4.44444E-6 " pathEditMode="relative" rAng="0" ptsTypes="AAAA">
                                      <p:cBhvr>
                                        <p:cTn id="71" dur="2000" fill="hold"/>
                                        <p:tgtEl>
                                          <p:spTgt spid="23"/>
                                        </p:tgtEl>
                                        <p:attrNameLst>
                                          <p:attrName>ppt_x</p:attrName>
                                          <p:attrName>ppt_y</p:attrName>
                                        </p:attrNameLst>
                                      </p:cBhvr>
                                      <p:rCtr x="3906" y="12500"/>
                                    </p:animMotion>
                                  </p:childTnLst>
                                </p:cTn>
                              </p:par>
                            </p:childTnLst>
                          </p:cTn>
                        </p:par>
                      </p:childTnLst>
                    </p:cTn>
                  </p:par>
                  <p:par>
                    <p:cTn id="72" fill="hold">
                      <p:stCondLst>
                        <p:cond delay="indefinite"/>
                      </p:stCondLst>
                      <p:childTnLst>
                        <p:par>
                          <p:cTn id="73" fill="hold">
                            <p:stCondLst>
                              <p:cond delay="0"/>
                            </p:stCondLst>
                            <p:childTnLst>
                              <p:par>
                                <p:cTn id="74" presetID="50" presetClass="path" presetSubtype="0" accel="50000" decel="50000" fill="hold" grpId="1" nodeType="clickEffect">
                                  <p:stCondLst>
                                    <p:cond delay="0"/>
                                  </p:stCondLst>
                                  <p:childTnLst>
                                    <p:animMotion origin="layout" path="M 5E-6 -0.25 L -0.26107 -0.25 C -0.37813 -0.25 -0.52188 -0.18102 -0.52188 -0.125 L -0.52188 1.85185E-6 " pathEditMode="relative" rAng="0" ptsTypes="AAAA">
                                      <p:cBhvr>
                                        <p:cTn id="75" dur="2000" fill="hold"/>
                                        <p:tgtEl>
                                          <p:spTgt spid="25"/>
                                        </p:tgtEl>
                                        <p:attrNameLst>
                                          <p:attrName>ppt_x</p:attrName>
                                          <p:attrName>ppt_y</p:attrName>
                                        </p:attrNameLst>
                                      </p:cBhvr>
                                      <p:rCtr x="-26094"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15" grpId="0"/>
      <p:bldP spid="2" grpId="0"/>
      <p:bldP spid="23" grpId="0" animBg="1"/>
      <p:bldP spid="23" grpId="1" animBg="1"/>
      <p:bldP spid="22" grpId="0" animBg="1"/>
      <p:bldP spid="22" grpId="1" animBg="1"/>
      <p:bldP spid="21" grpId="0" animBg="1"/>
      <p:bldP spid="21" grpId="1" animBg="1"/>
      <p:bldP spid="20" grpId="0" animBg="1"/>
      <p:bldP spid="20" grpId="1" animBg="1"/>
      <p:bldP spid="19" grpId="0" animBg="1"/>
      <p:bldP spid="19" grpId="1" animBg="1"/>
      <p:bldP spid="18" grpId="0" animBg="1"/>
      <p:bldP spid="18" grpId="1" animBg="1"/>
      <p:bldP spid="25" grpId="0" animBg="1"/>
      <p:bldP spid="25" grpId="1"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2362200" y="5026026"/>
          <a:ext cx="7239000" cy="688975"/>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904875">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tblGrid>
              <a:tr h="688975">
                <a:tc>
                  <a:txBody>
                    <a:bodyPr/>
                    <a:lstStyle/>
                    <a:p>
                      <a:pPr algn="ctr"/>
                      <a:r>
                        <a:rPr lang="en-US" sz="2800" b="1" smtClean="0">
                          <a:solidFill>
                            <a:srgbClr val="002060"/>
                          </a:solidFill>
                        </a:rPr>
                        <a:t>1</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2</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3</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4</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5</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6</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7</a:t>
                      </a:r>
                      <a:endParaRPr lang="en-US" sz="2800" b="1">
                        <a:solidFill>
                          <a:srgbClr val="002060"/>
                        </a:solidFill>
                      </a:endParaRPr>
                    </a:p>
                  </a:txBody>
                  <a:tcPr>
                    <a:solidFill>
                      <a:schemeClr val="accent5"/>
                    </a:solidFill>
                  </a:tcPr>
                </a:tc>
                <a:tc>
                  <a:txBody>
                    <a:bodyPr/>
                    <a:lstStyle/>
                    <a:p>
                      <a:pPr algn="ctr"/>
                      <a:r>
                        <a:rPr lang="en-US" sz="2800" b="1" smtClean="0">
                          <a:solidFill>
                            <a:srgbClr val="002060"/>
                          </a:solidFill>
                        </a:rPr>
                        <a:t>8</a:t>
                      </a:r>
                      <a:endParaRPr lang="en-US" sz="2800" b="1">
                        <a:solidFill>
                          <a:srgbClr val="002060"/>
                        </a:solidFill>
                      </a:endParaRPr>
                    </a:p>
                  </a:txBody>
                  <a:tcPr>
                    <a:solidFill>
                      <a:schemeClr val="accent5"/>
                    </a:solid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D2AE9DA-B062-4B27-8651-D66DE6F62C33}" type="slidenum">
              <a:rPr lang="en-US" smtClean="0"/>
              <a:pPr>
                <a:defRPr/>
              </a:pPr>
              <a:t>95</a:t>
            </a:fld>
            <a:endParaRPr lang="en-US"/>
          </a:p>
        </p:txBody>
      </p:sp>
      <p:sp>
        <p:nvSpPr>
          <p:cNvPr id="24" name="Rectangle 23"/>
          <p:cNvSpPr/>
          <p:nvPr/>
        </p:nvSpPr>
        <p:spPr>
          <a:xfrm>
            <a:off x="8763000" y="2587626"/>
            <a:ext cx="838200" cy="2368548"/>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15</a:t>
            </a:r>
          </a:p>
        </p:txBody>
      </p:sp>
      <p:sp>
        <p:nvSpPr>
          <p:cNvPr id="15" name="TextBox 14"/>
          <p:cNvSpPr txBox="1"/>
          <p:nvPr/>
        </p:nvSpPr>
        <p:spPr>
          <a:xfrm>
            <a:off x="2476501" y="1442751"/>
            <a:ext cx="7924800" cy="707886"/>
          </a:xfrm>
          <a:prstGeom prst="rect">
            <a:avLst/>
          </a:prstGeom>
          <a:noFill/>
        </p:spPr>
        <p:txBody>
          <a:bodyPr wrap="square">
            <a:spAutoFit/>
          </a:bodyPr>
          <a:lstStyle/>
          <a:p>
            <a:pPr>
              <a:defRPr/>
            </a:pPr>
            <a:r>
              <a:rPr lang="en-US" sz="4000" dirty="0" err="1">
                <a:solidFill>
                  <a:srgbClr val="C00000"/>
                </a:solidFill>
                <a:latin typeface="Times New Roman" panose="02020603050405020304" pitchFamily="18" charset="0"/>
                <a:cs typeface="Times New Roman" panose="02020603050405020304" pitchFamily="18" charset="0"/>
              </a:rPr>
              <a:t>Kết</a:t>
            </a:r>
            <a:r>
              <a:rPr lang="en-US" sz="4000" dirty="0">
                <a:solidFill>
                  <a:srgbClr val="C00000"/>
                </a:solidFill>
                <a:latin typeface="Times New Roman" panose="02020603050405020304" pitchFamily="18" charset="0"/>
                <a:cs typeface="Times New Roman" panose="02020603050405020304" pitchFamily="18" charset="0"/>
              </a:rPr>
              <a:t> </a:t>
            </a:r>
            <a:r>
              <a:rPr lang="en-US" sz="4000" dirty="0" err="1">
                <a:solidFill>
                  <a:srgbClr val="C00000"/>
                </a:solidFill>
                <a:latin typeface="Times New Roman" panose="02020603050405020304" pitchFamily="18" charset="0"/>
                <a:cs typeface="Times New Roman" panose="02020603050405020304" pitchFamily="18" charset="0"/>
              </a:rPr>
              <a:t>thúc</a:t>
            </a:r>
            <a:r>
              <a:rPr lang="en-US" sz="4000" dirty="0">
                <a:solidFill>
                  <a:srgbClr val="C00000"/>
                </a:solidFill>
                <a:latin typeface="Times New Roman" panose="02020603050405020304" pitchFamily="18" charset="0"/>
                <a:cs typeface="Times New Roman" panose="02020603050405020304" pitchFamily="18" charset="0"/>
              </a:rPr>
              <a:t> </a:t>
            </a:r>
            <a:r>
              <a:rPr lang="en-US" sz="4000" dirty="0" err="1">
                <a:solidFill>
                  <a:srgbClr val="C00000"/>
                </a:solidFill>
                <a:latin typeface="Times New Roman" panose="02020603050405020304" pitchFamily="18" charset="0"/>
                <a:cs typeface="Times New Roman" panose="02020603050405020304" pitchFamily="18" charset="0"/>
              </a:rPr>
              <a:t>giải</a:t>
            </a:r>
            <a:r>
              <a:rPr lang="en-US" sz="4000" dirty="0">
                <a:solidFill>
                  <a:srgbClr val="C00000"/>
                </a:solidFill>
                <a:latin typeface="Times New Roman" panose="02020603050405020304" pitchFamily="18" charset="0"/>
                <a:cs typeface="Times New Roman" panose="02020603050405020304" pitchFamily="18" charset="0"/>
              </a:rPr>
              <a:t> </a:t>
            </a:r>
            <a:r>
              <a:rPr lang="en-US" sz="4000" dirty="0" err="1">
                <a:solidFill>
                  <a:srgbClr val="C00000"/>
                </a:solidFill>
                <a:latin typeface="Times New Roman" panose="02020603050405020304" pitchFamily="18" charset="0"/>
                <a:cs typeface="Times New Roman" panose="02020603050405020304" pitchFamily="18" charset="0"/>
              </a:rPr>
              <a:t>thuật</a:t>
            </a:r>
            <a:r>
              <a:rPr lang="en-US" sz="4000" dirty="0">
                <a:solidFill>
                  <a:srgbClr val="C00000"/>
                </a:solidFill>
                <a:latin typeface="Times New Roman" panose="02020603050405020304" pitchFamily="18" charset="0"/>
                <a:cs typeface="Times New Roman" panose="02020603050405020304" pitchFamily="18" charset="0"/>
              </a:rPr>
              <a:t> </a:t>
            </a:r>
          </a:p>
        </p:txBody>
      </p:sp>
      <p:sp>
        <p:nvSpPr>
          <p:cNvPr id="23" name="Rectangle 22"/>
          <p:cNvSpPr/>
          <p:nvPr/>
        </p:nvSpPr>
        <p:spPr>
          <a:xfrm>
            <a:off x="3276601" y="4378326"/>
            <a:ext cx="838200" cy="577849"/>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2</a:t>
            </a:r>
          </a:p>
        </p:txBody>
      </p:sp>
      <p:sp>
        <p:nvSpPr>
          <p:cNvPr id="22" name="Rectangle 21"/>
          <p:cNvSpPr/>
          <p:nvPr/>
        </p:nvSpPr>
        <p:spPr>
          <a:xfrm>
            <a:off x="6934201" y="3425826"/>
            <a:ext cx="838200" cy="15446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9</a:t>
            </a:r>
          </a:p>
        </p:txBody>
      </p:sp>
      <p:sp>
        <p:nvSpPr>
          <p:cNvPr id="21" name="Rectangle 20"/>
          <p:cNvSpPr/>
          <p:nvPr/>
        </p:nvSpPr>
        <p:spPr>
          <a:xfrm>
            <a:off x="4191001" y="4257676"/>
            <a:ext cx="838200" cy="71278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3</a:t>
            </a:r>
          </a:p>
        </p:txBody>
      </p:sp>
      <p:sp>
        <p:nvSpPr>
          <p:cNvPr id="20" name="Rectangle 19"/>
          <p:cNvSpPr/>
          <p:nvPr/>
        </p:nvSpPr>
        <p:spPr>
          <a:xfrm>
            <a:off x="6019801" y="3771901"/>
            <a:ext cx="838200" cy="11842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7</a:t>
            </a:r>
          </a:p>
        </p:txBody>
      </p:sp>
      <p:sp>
        <p:nvSpPr>
          <p:cNvPr id="19" name="Rectangle 18"/>
          <p:cNvSpPr/>
          <p:nvPr/>
        </p:nvSpPr>
        <p:spPr>
          <a:xfrm>
            <a:off x="7848601" y="3197225"/>
            <a:ext cx="838200" cy="1758950"/>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10</a:t>
            </a:r>
          </a:p>
        </p:txBody>
      </p:sp>
      <p:sp>
        <p:nvSpPr>
          <p:cNvPr id="18" name="Rectangle 17"/>
          <p:cNvSpPr/>
          <p:nvPr/>
        </p:nvSpPr>
        <p:spPr>
          <a:xfrm>
            <a:off x="5105401" y="4076700"/>
            <a:ext cx="838200" cy="879475"/>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5</a:t>
            </a:r>
          </a:p>
        </p:txBody>
      </p:sp>
      <p:sp>
        <p:nvSpPr>
          <p:cNvPr id="25" name="Rectangle 24"/>
          <p:cNvSpPr/>
          <p:nvPr/>
        </p:nvSpPr>
        <p:spPr>
          <a:xfrm>
            <a:off x="2362200" y="4606926"/>
            <a:ext cx="838200" cy="363537"/>
          </a:xfrm>
          <a:prstGeom prst="rect">
            <a:avLst/>
          </a:prstGeom>
          <a:solidFill>
            <a:schemeClr val="accent4">
              <a:lumMod val="50000"/>
            </a:schemeClr>
          </a:solidFill>
          <a:ln>
            <a:noFill/>
          </a:ln>
          <a:effectLst>
            <a:outerShdw blurRad="190500" dist="228600" dir="2700000" algn="ctr">
              <a:srgbClr val="000000">
                <a:alpha val="30000"/>
              </a:srgbClr>
            </a:outerShdw>
            <a:reflection blurRad="6350" stA="50000" endA="300" endPos="38500" dist="50800" dir="5400000" sy="-100000" algn="bl" rotWithShape="0"/>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1</a:t>
            </a:r>
          </a:p>
        </p:txBody>
      </p:sp>
      <p:sp>
        <p:nvSpPr>
          <p:cNvPr id="17" name="Title 1"/>
          <p:cNvSpPr txBox="1">
            <a:spLocks/>
          </p:cNvSpPr>
          <p:nvPr/>
        </p:nvSpPr>
        <p:spPr>
          <a:xfrm>
            <a:off x="442912" y="312740"/>
            <a:ext cx="8153400" cy="1020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4. Chèn trực tiếp – insertion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700625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2"/>
          <p:cNvSpPr>
            <a:spLocks noGrp="1"/>
          </p:cNvSpPr>
          <p:nvPr>
            <p:ph idx="1"/>
          </p:nvPr>
        </p:nvSpPr>
        <p:spPr>
          <a:xfrm>
            <a:off x="3276600" y="533400"/>
            <a:ext cx="7086600" cy="6553200"/>
          </a:xfrm>
        </p:spPr>
        <p:txBody>
          <a:bodyPr>
            <a:normAutofit/>
          </a:bodyPr>
          <a:lstStyle/>
          <a:p>
            <a:pPr>
              <a:lnSpc>
                <a:spcPct val="100000"/>
              </a:lnSpc>
              <a:spcBef>
                <a:spcPts val="0"/>
              </a:spcBef>
              <a:buFont typeface="Wingdings" pitchFamily="2" charset="2"/>
              <a:buNone/>
            </a:pPr>
            <a:r>
              <a:rPr lang="en-US" sz="2600" b="1" dirty="0" smtClean="0">
                <a:solidFill>
                  <a:schemeClr val="bg1"/>
                </a:solidFill>
              </a:rPr>
              <a:t>void </a:t>
            </a:r>
            <a:r>
              <a:rPr lang="en-US" sz="2600" b="1" dirty="0" err="1" smtClean="0">
                <a:solidFill>
                  <a:schemeClr val="bg1"/>
                </a:solidFill>
              </a:rPr>
              <a:t>InsertionSort</a:t>
            </a:r>
            <a:r>
              <a:rPr lang="en-US" sz="2600" b="1" dirty="0" smtClean="0">
                <a:solidFill>
                  <a:schemeClr val="bg1"/>
                </a:solidFill>
              </a:rPr>
              <a:t>(</a:t>
            </a:r>
            <a:r>
              <a:rPr lang="en-US" sz="2600" b="1" dirty="0" err="1" smtClean="0">
                <a:solidFill>
                  <a:schemeClr val="bg1"/>
                </a:solidFill>
              </a:rPr>
              <a:t>int</a:t>
            </a:r>
            <a:r>
              <a:rPr lang="en-US" sz="2600" b="1" dirty="0" smtClean="0">
                <a:solidFill>
                  <a:schemeClr val="bg1"/>
                </a:solidFill>
              </a:rPr>
              <a:t> a[], </a:t>
            </a:r>
            <a:r>
              <a:rPr lang="en-US" sz="2600" b="1" dirty="0" err="1" smtClean="0">
                <a:solidFill>
                  <a:schemeClr val="bg1"/>
                </a:solidFill>
              </a:rPr>
              <a:t>int</a:t>
            </a:r>
            <a:r>
              <a:rPr lang="en-US" sz="2600" b="1" dirty="0" smtClean="0">
                <a:solidFill>
                  <a:schemeClr val="bg1"/>
                </a:solidFill>
              </a:rPr>
              <a:t> N )</a:t>
            </a:r>
          </a:p>
          <a:p>
            <a:pPr>
              <a:lnSpc>
                <a:spcPct val="100000"/>
              </a:lnSpc>
              <a:spcBef>
                <a:spcPts val="0"/>
              </a:spcBef>
              <a:buFont typeface="Wingdings" pitchFamily="2" charset="2"/>
              <a:buNone/>
            </a:pPr>
            <a:r>
              <a:rPr lang="en-US" sz="2600" b="1" dirty="0" smtClean="0">
                <a:solidFill>
                  <a:schemeClr val="bg1"/>
                </a:solidFill>
              </a:rPr>
              <a:t>{	</a:t>
            </a:r>
          </a:p>
          <a:p>
            <a:pPr marL="457200" indent="-457200">
              <a:lnSpc>
                <a:spcPct val="100000"/>
              </a:lnSpc>
              <a:spcBef>
                <a:spcPts val="0"/>
              </a:spcBef>
              <a:buNone/>
            </a:pPr>
            <a:r>
              <a:rPr lang="en-US" sz="2600" b="1" dirty="0" smtClean="0">
                <a:solidFill>
                  <a:schemeClr val="bg1"/>
                </a:solidFill>
              </a:rPr>
              <a:t>	</a:t>
            </a:r>
            <a:r>
              <a:rPr lang="en-US" sz="2600" b="1" dirty="0" err="1" smtClean="0">
                <a:solidFill>
                  <a:schemeClr val="bg1"/>
                </a:solidFill>
              </a:rPr>
              <a:t>int</a:t>
            </a:r>
            <a:r>
              <a:rPr lang="en-US" sz="2600" b="1" dirty="0" smtClean="0">
                <a:solidFill>
                  <a:schemeClr val="bg1"/>
                </a:solidFill>
              </a:rPr>
              <a:t> </a:t>
            </a:r>
            <a:r>
              <a:rPr lang="en-US" sz="2600" b="1" dirty="0" err="1" smtClean="0">
                <a:solidFill>
                  <a:schemeClr val="bg1"/>
                </a:solidFill>
              </a:rPr>
              <a:t>pos</a:t>
            </a:r>
            <a:r>
              <a:rPr lang="en-US" sz="2600" b="1" dirty="0" smtClean="0">
                <a:solidFill>
                  <a:schemeClr val="bg1"/>
                </a:solidFill>
              </a:rPr>
              <a:t>;</a:t>
            </a:r>
            <a:br>
              <a:rPr lang="en-US" sz="2600" b="1" dirty="0" smtClean="0">
                <a:solidFill>
                  <a:schemeClr val="bg1"/>
                </a:solidFill>
              </a:rPr>
            </a:br>
            <a:r>
              <a:rPr lang="en-US" sz="2600" b="1" dirty="0" err="1" smtClean="0">
                <a:solidFill>
                  <a:schemeClr val="bg1"/>
                </a:solidFill>
              </a:rPr>
              <a:t>int</a:t>
            </a:r>
            <a:r>
              <a:rPr lang="en-US" sz="2600" b="1" dirty="0" smtClean="0">
                <a:solidFill>
                  <a:schemeClr val="bg1"/>
                </a:solidFill>
              </a:rPr>
              <a:t> x; </a:t>
            </a:r>
            <a:br>
              <a:rPr lang="en-US" sz="2600" b="1" dirty="0" smtClean="0">
                <a:solidFill>
                  <a:schemeClr val="bg1"/>
                </a:solidFill>
              </a:rPr>
            </a:br>
            <a:r>
              <a:rPr lang="en-US" sz="2600" b="1" dirty="0" smtClean="0">
                <a:solidFill>
                  <a:schemeClr val="bg1"/>
                </a:solidFill>
              </a:rPr>
              <a:t>for(</a:t>
            </a:r>
            <a:r>
              <a:rPr lang="en-US" sz="2600" b="1" dirty="0" err="1" smtClean="0">
                <a:solidFill>
                  <a:schemeClr val="bg1"/>
                </a:solidFill>
              </a:rPr>
              <a:t>int</a:t>
            </a:r>
            <a:r>
              <a:rPr lang="en-US" sz="2600" b="1" dirty="0" smtClean="0">
                <a:solidFill>
                  <a:schemeClr val="bg1"/>
                </a:solidFill>
              </a:rPr>
              <a:t> </a:t>
            </a:r>
            <a:r>
              <a:rPr lang="en-US" sz="2600" b="1" dirty="0" err="1" smtClean="0">
                <a:solidFill>
                  <a:schemeClr val="bg1"/>
                </a:solidFill>
              </a:rPr>
              <a:t>i</a:t>
            </a:r>
            <a:r>
              <a:rPr lang="en-US" sz="2600" b="1" dirty="0" smtClean="0">
                <a:solidFill>
                  <a:schemeClr val="bg1"/>
                </a:solidFill>
              </a:rPr>
              <a:t>=1 ; </a:t>
            </a:r>
            <a:r>
              <a:rPr lang="en-US" sz="2600" b="1" dirty="0" err="1" smtClean="0">
                <a:solidFill>
                  <a:schemeClr val="bg1"/>
                </a:solidFill>
              </a:rPr>
              <a:t>i</a:t>
            </a:r>
            <a:r>
              <a:rPr lang="en-US" sz="2600" b="1" dirty="0" smtClean="0">
                <a:solidFill>
                  <a:schemeClr val="bg1"/>
                </a:solidFill>
              </a:rPr>
              <a:t>&lt;N ; </a:t>
            </a:r>
            <a:r>
              <a:rPr lang="en-US" sz="2600" b="1" dirty="0" err="1" smtClean="0">
                <a:solidFill>
                  <a:schemeClr val="bg1"/>
                </a:solidFill>
              </a:rPr>
              <a:t>i</a:t>
            </a:r>
            <a:r>
              <a:rPr lang="en-US" sz="2600" b="1" dirty="0" smtClean="0">
                <a:solidFill>
                  <a:schemeClr val="bg1"/>
                </a:solidFill>
              </a:rPr>
              <a:t>++) //</a:t>
            </a:r>
            <a:r>
              <a:rPr lang="en-US" sz="2600" b="1" dirty="0" err="1" smtClean="0">
                <a:solidFill>
                  <a:schemeClr val="bg1"/>
                </a:solidFill>
              </a:rPr>
              <a:t>đoạn</a:t>
            </a:r>
            <a:r>
              <a:rPr lang="en-US" sz="2600" b="1" dirty="0" smtClean="0">
                <a:solidFill>
                  <a:schemeClr val="bg1"/>
                </a:solidFill>
              </a:rPr>
              <a:t> a[0] </a:t>
            </a:r>
            <a:r>
              <a:rPr lang="en-US" sz="2600" b="1" dirty="0" err="1" smtClean="0">
                <a:solidFill>
                  <a:schemeClr val="bg1"/>
                </a:solidFill>
              </a:rPr>
              <a:t>đã</a:t>
            </a:r>
            <a:r>
              <a:rPr lang="en-US" sz="2600" b="1" dirty="0" smtClean="0">
                <a:solidFill>
                  <a:schemeClr val="bg1"/>
                </a:solidFill>
              </a:rPr>
              <a:t> </a:t>
            </a:r>
            <a:r>
              <a:rPr lang="en-US" sz="2600" b="1" dirty="0" err="1" smtClean="0">
                <a:solidFill>
                  <a:schemeClr val="bg1"/>
                </a:solidFill>
              </a:rPr>
              <a:t>sắp</a:t>
            </a:r>
            <a:r>
              <a:rPr lang="en-US" sz="2600" b="1" dirty="0" smtClean="0">
                <a:solidFill>
                  <a:schemeClr val="bg1"/>
                </a:solidFill>
              </a:rPr>
              <a:t/>
            </a:r>
            <a:br>
              <a:rPr lang="en-US" sz="2600" b="1" dirty="0" smtClean="0">
                <a:solidFill>
                  <a:schemeClr val="bg1"/>
                </a:solidFill>
              </a:rPr>
            </a:br>
            <a:r>
              <a:rPr lang="en-US" sz="2600" b="1" dirty="0" smtClean="0">
                <a:solidFill>
                  <a:schemeClr val="bg1"/>
                </a:solidFill>
              </a:rPr>
              <a:t>{</a:t>
            </a:r>
            <a:br>
              <a:rPr lang="en-US" sz="2600" b="1" dirty="0" smtClean="0">
                <a:solidFill>
                  <a:schemeClr val="bg1"/>
                </a:solidFill>
              </a:rPr>
            </a:br>
            <a:r>
              <a:rPr lang="en-US" sz="2600" b="1" dirty="0" smtClean="0">
                <a:solidFill>
                  <a:schemeClr val="bg1"/>
                </a:solidFill>
              </a:rPr>
              <a:t>	x = a[</a:t>
            </a:r>
            <a:r>
              <a:rPr lang="en-US" sz="2600" b="1" dirty="0" err="1" smtClean="0">
                <a:solidFill>
                  <a:schemeClr val="bg1"/>
                </a:solidFill>
              </a:rPr>
              <a:t>i</a:t>
            </a:r>
            <a:r>
              <a:rPr lang="en-US" sz="2600" b="1" dirty="0" smtClean="0">
                <a:solidFill>
                  <a:schemeClr val="bg1"/>
                </a:solidFill>
              </a:rPr>
              <a:t>]; </a:t>
            </a:r>
            <a:r>
              <a:rPr lang="en-US" sz="2600" b="1" dirty="0" err="1" smtClean="0">
                <a:solidFill>
                  <a:schemeClr val="bg1"/>
                </a:solidFill>
              </a:rPr>
              <a:t>pos</a:t>
            </a:r>
            <a:r>
              <a:rPr lang="en-US" sz="2600" b="1" dirty="0" smtClean="0">
                <a:solidFill>
                  <a:schemeClr val="bg1"/>
                </a:solidFill>
              </a:rPr>
              <a:t> = i-1;</a:t>
            </a:r>
            <a:br>
              <a:rPr lang="en-US" sz="2600" b="1" dirty="0" smtClean="0">
                <a:solidFill>
                  <a:schemeClr val="bg1"/>
                </a:solidFill>
              </a:rPr>
            </a:br>
            <a:r>
              <a:rPr lang="en-US" sz="2600" b="1" dirty="0" smtClean="0">
                <a:solidFill>
                  <a:schemeClr val="bg1"/>
                </a:solidFill>
              </a:rPr>
              <a:t>	while((</a:t>
            </a:r>
            <a:r>
              <a:rPr lang="en-US" sz="2600" b="1" dirty="0" err="1" smtClean="0">
                <a:solidFill>
                  <a:schemeClr val="bg1"/>
                </a:solidFill>
              </a:rPr>
              <a:t>pos</a:t>
            </a:r>
            <a:r>
              <a:rPr lang="en-US" sz="2600" b="1" dirty="0" smtClean="0">
                <a:solidFill>
                  <a:schemeClr val="bg1"/>
                </a:solidFill>
              </a:rPr>
              <a:t> &gt;= 0)&amp;&amp;(a[</a:t>
            </a:r>
            <a:r>
              <a:rPr lang="en-US" sz="2600" b="1" dirty="0" err="1" smtClean="0">
                <a:solidFill>
                  <a:schemeClr val="bg1"/>
                </a:solidFill>
              </a:rPr>
              <a:t>pos</a:t>
            </a:r>
            <a:r>
              <a:rPr lang="en-US" sz="2600" b="1" dirty="0" smtClean="0">
                <a:solidFill>
                  <a:schemeClr val="bg1"/>
                </a:solidFill>
              </a:rPr>
              <a:t>] &gt; x))</a:t>
            </a:r>
            <a:br>
              <a:rPr lang="en-US" sz="2600" b="1" dirty="0" smtClean="0">
                <a:solidFill>
                  <a:schemeClr val="bg1"/>
                </a:solidFill>
              </a:rPr>
            </a:br>
            <a:r>
              <a:rPr lang="en-US" sz="2600" b="1" dirty="0" smtClean="0">
                <a:solidFill>
                  <a:schemeClr val="bg1"/>
                </a:solidFill>
              </a:rPr>
              <a:t>	{</a:t>
            </a:r>
          </a:p>
          <a:p>
            <a:pPr marL="457200" indent="-457200">
              <a:lnSpc>
                <a:spcPct val="100000"/>
              </a:lnSpc>
              <a:spcBef>
                <a:spcPts val="0"/>
              </a:spcBef>
              <a:buNone/>
            </a:pPr>
            <a:r>
              <a:rPr lang="en-US" sz="2600" b="1" dirty="0" smtClean="0">
                <a:solidFill>
                  <a:schemeClr val="bg1"/>
                </a:solidFill>
              </a:rPr>
              <a:t>		  	a[pos+1] = a[</a:t>
            </a:r>
            <a:r>
              <a:rPr lang="en-US" sz="2600" b="1" dirty="0" err="1" smtClean="0">
                <a:solidFill>
                  <a:schemeClr val="bg1"/>
                </a:solidFill>
              </a:rPr>
              <a:t>pos</a:t>
            </a:r>
            <a:r>
              <a:rPr lang="en-US" sz="2600" b="1" dirty="0" smtClean="0">
                <a:solidFill>
                  <a:schemeClr val="bg1"/>
                </a:solidFill>
              </a:rPr>
              <a:t>];</a:t>
            </a:r>
            <a:br>
              <a:rPr lang="en-US" sz="2600" b="1" dirty="0" smtClean="0">
                <a:solidFill>
                  <a:schemeClr val="bg1"/>
                </a:solidFill>
              </a:rPr>
            </a:br>
            <a:r>
              <a:rPr lang="en-US" sz="2600" b="1" dirty="0" smtClean="0">
                <a:solidFill>
                  <a:schemeClr val="bg1"/>
                </a:solidFill>
              </a:rPr>
              <a:t>	  	</a:t>
            </a:r>
            <a:r>
              <a:rPr lang="en-US" sz="2600" b="1" dirty="0" err="1" smtClean="0">
                <a:solidFill>
                  <a:schemeClr val="bg1"/>
                </a:solidFill>
              </a:rPr>
              <a:t>pos</a:t>
            </a:r>
            <a:r>
              <a:rPr lang="en-US" sz="2600" b="1" dirty="0" smtClean="0">
                <a:solidFill>
                  <a:schemeClr val="bg1"/>
                </a:solidFill>
              </a:rPr>
              <a:t>--;</a:t>
            </a:r>
            <a:br>
              <a:rPr lang="en-US" sz="2600" b="1" dirty="0" smtClean="0">
                <a:solidFill>
                  <a:schemeClr val="bg1"/>
                </a:solidFill>
              </a:rPr>
            </a:br>
            <a:r>
              <a:rPr lang="en-US" sz="2600" b="1" dirty="0" smtClean="0">
                <a:solidFill>
                  <a:schemeClr val="bg1"/>
                </a:solidFill>
              </a:rPr>
              <a:t>	}</a:t>
            </a:r>
            <a:br>
              <a:rPr lang="en-US" sz="2600" b="1" dirty="0" smtClean="0">
                <a:solidFill>
                  <a:schemeClr val="bg1"/>
                </a:solidFill>
              </a:rPr>
            </a:br>
            <a:r>
              <a:rPr lang="en-US" sz="2600" b="1" dirty="0" smtClean="0">
                <a:solidFill>
                  <a:schemeClr val="bg1"/>
                </a:solidFill>
              </a:rPr>
              <a:t>	a[pos+1] = x;// </a:t>
            </a:r>
            <a:r>
              <a:rPr lang="en-US" sz="2600" b="1" dirty="0" err="1" smtClean="0">
                <a:solidFill>
                  <a:schemeClr val="bg1"/>
                </a:solidFill>
              </a:rPr>
              <a:t>chèn</a:t>
            </a:r>
            <a:r>
              <a:rPr lang="en-US" sz="2600" b="1" dirty="0" smtClean="0">
                <a:solidFill>
                  <a:schemeClr val="bg1"/>
                </a:solidFill>
              </a:rPr>
              <a:t> x </a:t>
            </a:r>
            <a:r>
              <a:rPr lang="en-US" sz="2600" b="1" dirty="0" err="1" smtClean="0">
                <a:solidFill>
                  <a:schemeClr val="bg1"/>
                </a:solidFill>
              </a:rPr>
              <a:t>vào</a:t>
            </a:r>
            <a:r>
              <a:rPr lang="en-US" sz="2600" b="1" dirty="0" smtClean="0">
                <a:solidFill>
                  <a:schemeClr val="bg1"/>
                </a:solidFill>
              </a:rPr>
              <a:t> </a:t>
            </a:r>
            <a:r>
              <a:rPr lang="en-US" sz="2600" b="1" dirty="0" err="1" smtClean="0">
                <a:solidFill>
                  <a:schemeClr val="bg1"/>
                </a:solidFill>
              </a:rPr>
              <a:t>dãy</a:t>
            </a:r>
            <a:r>
              <a:rPr lang="en-US" sz="2600" b="1" dirty="0" smtClean="0">
                <a:solidFill>
                  <a:schemeClr val="bg1"/>
                </a:solidFill>
              </a:rPr>
              <a:t/>
            </a:r>
            <a:br>
              <a:rPr lang="en-US" sz="2600" b="1" dirty="0" smtClean="0">
                <a:solidFill>
                  <a:schemeClr val="bg1"/>
                </a:solidFill>
              </a:rPr>
            </a:br>
            <a:r>
              <a:rPr lang="en-US" sz="2600" b="1" dirty="0" smtClean="0">
                <a:solidFill>
                  <a:schemeClr val="bg1"/>
                </a:solidFill>
              </a:rPr>
              <a:t>}</a:t>
            </a:r>
          </a:p>
          <a:p>
            <a:pPr>
              <a:lnSpc>
                <a:spcPct val="100000"/>
              </a:lnSpc>
              <a:spcBef>
                <a:spcPts val="0"/>
              </a:spcBef>
              <a:buFont typeface="Wingdings" pitchFamily="2" charset="2"/>
              <a:buNone/>
            </a:pPr>
            <a:r>
              <a:rPr lang="en-US" sz="2600" b="1" dirty="0" smtClean="0">
                <a:solidFill>
                  <a:schemeClr val="bg1"/>
                </a:solidFill>
              </a:rPr>
              <a:t>}</a:t>
            </a:r>
          </a:p>
          <a:p>
            <a:pPr>
              <a:lnSpc>
                <a:spcPct val="100000"/>
              </a:lnSpc>
              <a:spcBef>
                <a:spcPts val="0"/>
              </a:spcBef>
            </a:pPr>
            <a:endParaRPr lang="en-US" sz="2600" b="1" dirty="0" smtClean="0">
              <a:solidFill>
                <a:schemeClr val="bg1"/>
              </a:solidFill>
            </a:endParaRPr>
          </a:p>
        </p:txBody>
      </p:sp>
      <p:sp>
        <p:nvSpPr>
          <p:cNvPr id="4" name="Slide Number Placeholder 3"/>
          <p:cNvSpPr>
            <a:spLocks noGrp="1"/>
          </p:cNvSpPr>
          <p:nvPr>
            <p:ph type="sldNum" sz="quarter" idx="12"/>
          </p:nvPr>
        </p:nvSpPr>
        <p:spPr/>
        <p:txBody>
          <a:bodyPr/>
          <a:lstStyle/>
          <a:p>
            <a:pPr>
              <a:defRPr/>
            </a:pPr>
            <a:fld id="{346632B4-6558-49A6-8DE5-74FBB2D3E06E}" type="slidenum">
              <a:rPr lang="en-US" smtClean="0"/>
              <a:pPr>
                <a:defRPr/>
              </a:pPr>
              <a:t>96</a:t>
            </a:fld>
            <a:endParaRPr lang="en-US"/>
          </a:p>
        </p:txBody>
      </p:sp>
      <p:sp>
        <p:nvSpPr>
          <p:cNvPr id="6" name="Rectangle 5"/>
          <p:cNvSpPr/>
          <p:nvPr/>
        </p:nvSpPr>
        <p:spPr>
          <a:xfrm>
            <a:off x="457200" y="482025"/>
            <a:ext cx="1608133" cy="584775"/>
          </a:xfrm>
          <a:prstGeom prst="rect">
            <a:avLst/>
          </a:prstGeom>
        </p:spPr>
        <p:txBody>
          <a:bodyPr wrap="none">
            <a:spAutoFit/>
          </a:bodyPr>
          <a:lstStyle/>
          <a:p>
            <a:pPr>
              <a:lnSpc>
                <a:spcPct val="100000"/>
              </a:lnSpc>
              <a:spcBef>
                <a:spcPts val="0"/>
              </a:spcBef>
              <a:buFont typeface="Wingdings" pitchFamily="2" charset="2"/>
              <a:buNone/>
            </a:pPr>
            <a:r>
              <a:rPr lang="en-US" sz="3200" b="1">
                <a:solidFill>
                  <a:srgbClr val="0070C0"/>
                </a:solidFill>
                <a:latin typeface="Times New Roman" panose="02020603050405020304" pitchFamily="18" charset="0"/>
                <a:cs typeface="Times New Roman" panose="02020603050405020304" pitchFamily="18" charset="0"/>
              </a:rPr>
              <a:t>Cài đặt:</a:t>
            </a:r>
            <a:endParaRPr lang="en-US" sz="3200"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853174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err="1" smtClean="0">
                <a:solidFill>
                  <a:srgbClr val="0070C0"/>
                </a:solidFill>
                <a:latin typeface="Times New Roman" panose="02020603050405020304" pitchFamily="18" charset="0"/>
                <a:cs typeface="Times New Roman" panose="02020603050405020304" pitchFamily="18" charset="0"/>
              </a:rPr>
              <a:t>Bài</a:t>
            </a:r>
            <a:r>
              <a:rPr lang="en-US" sz="4800" b="1" dirty="0" smtClean="0">
                <a:solidFill>
                  <a:srgbClr val="0070C0"/>
                </a:solidFill>
                <a:latin typeface="Times New Roman" panose="02020603050405020304" pitchFamily="18" charset="0"/>
                <a:cs typeface="Times New Roman" panose="02020603050405020304" pitchFamily="18" charset="0"/>
              </a:rPr>
              <a:t> </a:t>
            </a:r>
            <a:r>
              <a:rPr lang="en-US" sz="4800" b="1" dirty="0" err="1" smtClean="0">
                <a:solidFill>
                  <a:srgbClr val="0070C0"/>
                </a:solidFill>
                <a:latin typeface="Times New Roman" panose="02020603050405020304" pitchFamily="18" charset="0"/>
                <a:cs typeface="Times New Roman" panose="02020603050405020304" pitchFamily="18" charset="0"/>
              </a:rPr>
              <a:t>tập</a:t>
            </a:r>
            <a:endParaRPr lang="en-US" sz="48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
            </a:pPr>
            <a:r>
              <a:rPr lang="en-US" sz="3200" dirty="0" smtClean="0">
                <a:solidFill>
                  <a:schemeClr val="bg1"/>
                </a:solidFill>
                <a:latin typeface="Times New Roman" panose="02020603050405020304" pitchFamily="18" charset="0"/>
                <a:cs typeface="Times New Roman" panose="02020603050405020304" pitchFamily="18" charset="0"/>
              </a:rPr>
              <a:t>Minh </a:t>
            </a:r>
            <a:r>
              <a:rPr lang="en-US" sz="3200" dirty="0" err="1" smtClean="0">
                <a:solidFill>
                  <a:schemeClr val="bg1"/>
                </a:solidFill>
                <a:latin typeface="Times New Roman" panose="02020603050405020304" pitchFamily="18" charset="0"/>
                <a:cs typeface="Times New Roman" panose="02020603050405020304" pitchFamily="18" charset="0"/>
              </a:rPr>
              <a:t>họa</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từng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bước</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thực</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hiện</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của</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giải</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thuật</a:t>
            </a:r>
            <a:r>
              <a:rPr lang="en-US" sz="3200" dirty="0" smtClean="0">
                <a:solidFill>
                  <a:schemeClr val="bg1"/>
                </a:solidFill>
                <a:latin typeface="Times New Roman" panose="02020603050405020304" pitchFamily="18" charset="0"/>
                <a:cs typeface="Times New Roman" panose="02020603050405020304" pitchFamily="18" charset="0"/>
              </a:rPr>
              <a:t> Insertion Sort </a:t>
            </a:r>
            <a:r>
              <a:rPr lang="en-US" sz="3200" dirty="0" err="1" smtClean="0">
                <a:solidFill>
                  <a:schemeClr val="bg1"/>
                </a:solidFill>
                <a:latin typeface="Times New Roman" panose="02020603050405020304" pitchFamily="18" charset="0"/>
                <a:cs typeface="Times New Roman" panose="02020603050405020304" pitchFamily="18" charset="0"/>
              </a:rPr>
              <a:t>khi</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sắp</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dãy</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số</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sau</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tăng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dần</a:t>
            </a:r>
            <a:r>
              <a:rPr lang="en-US" sz="3200" dirty="0" smtClean="0">
                <a:solidFill>
                  <a:schemeClr val="bg1"/>
                </a:solidFill>
                <a:latin typeface="Times New Roman" panose="02020603050405020304" pitchFamily="18" charset="0"/>
                <a:cs typeface="Times New Roman" panose="02020603050405020304" pitchFamily="18" charset="0"/>
              </a:rPr>
              <a:t>:</a:t>
            </a:r>
          </a:p>
          <a:p>
            <a:pPr marL="0" indent="0">
              <a:buNone/>
            </a:pPr>
            <a:endParaRPr lang="en-US" sz="3200" dirty="0">
              <a:solidFill>
                <a:schemeClr val="bg1"/>
              </a:solidFill>
              <a:latin typeface="Times New Roman" panose="02020603050405020304" pitchFamily="18" charset="0"/>
              <a:cs typeface="Times New Roman" panose="02020603050405020304" pitchFamily="18" charset="0"/>
            </a:endParaRPr>
          </a:p>
          <a:p>
            <a:pPr marL="0" indent="0">
              <a:buNone/>
            </a:pPr>
            <a:endParaRPr lang="en-US" sz="3200" dirty="0" smtClean="0">
              <a:solidFill>
                <a:schemeClr val="bg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3200" dirty="0" smtClean="0">
                <a:solidFill>
                  <a:schemeClr val="bg1"/>
                </a:solidFill>
                <a:latin typeface="Times New Roman" panose="02020603050405020304" pitchFamily="18" charset="0"/>
                <a:cs typeface="Times New Roman" panose="02020603050405020304" pitchFamily="18" charset="0"/>
              </a:rPr>
              <a:t>Cho </a:t>
            </a:r>
            <a:r>
              <a:rPr lang="en-US" sz="3200" dirty="0" err="1" smtClean="0">
                <a:solidFill>
                  <a:schemeClr val="bg1"/>
                </a:solidFill>
                <a:latin typeface="Times New Roman" panose="02020603050405020304" pitchFamily="18" charset="0"/>
                <a:cs typeface="Times New Roman" panose="02020603050405020304" pitchFamily="18" charset="0"/>
              </a:rPr>
              <a:t>biết</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tổng</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số</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gán</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và</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số</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phép</a:t>
            </a:r>
            <a:r>
              <a:rPr lang="en-US" sz="3200" dirty="0" smtClean="0">
                <a:solidFill>
                  <a:schemeClr val="bg1"/>
                </a:solidFill>
                <a:latin typeface="Times New Roman" panose="02020603050405020304" pitchFamily="18" charset="0"/>
                <a:cs typeface="Times New Roman" panose="02020603050405020304" pitchFamily="18" charset="0"/>
              </a:rPr>
              <a:t> so </a:t>
            </a:r>
            <a:r>
              <a:rPr lang="en-US" sz="3200" dirty="0" err="1" smtClean="0">
                <a:solidFill>
                  <a:schemeClr val="bg1"/>
                </a:solidFill>
                <a:latin typeface="Times New Roman" panose="02020603050405020304" pitchFamily="18" charset="0"/>
                <a:cs typeface="Times New Roman" panose="02020603050405020304" pitchFamily="18" charset="0"/>
              </a:rPr>
              <a:t>sánh</a:t>
            </a:r>
            <a:endParaRPr lang="en-US" sz="320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EDD57F7B-2019-4069-8198-EFE0C5B7313D}" type="slidenum">
              <a:rPr lang="en-US" smtClean="0"/>
              <a:pPr>
                <a:defRPr/>
              </a:pPr>
              <a:t>97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534695751"/>
              </p:ext>
            </p:extLst>
          </p:nvPr>
        </p:nvGraphicFramePr>
        <p:xfrm>
          <a:off x="2514600" y="2895600"/>
          <a:ext cx="6858000" cy="97536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475488">
                <a:tc>
                  <a:txBody>
                    <a:bodyPr/>
                    <a:lstStyle/>
                    <a:p>
                      <a:pPr algn="ctr"/>
                      <a:r>
                        <a:rPr lang="en-US" sz="2800" b="0" dirty="0" smtClean="0"/>
                        <a:t>15</a:t>
                      </a:r>
                      <a:endParaRPr lang="en-US" sz="2800" b="0" dirty="0"/>
                    </a:p>
                  </a:txBody>
                  <a:tcPr/>
                </a:tc>
                <a:tc>
                  <a:txBody>
                    <a:bodyPr/>
                    <a:lstStyle/>
                    <a:p>
                      <a:pPr algn="ctr"/>
                      <a:r>
                        <a:rPr lang="en-US" sz="2800" b="0" dirty="0" smtClean="0"/>
                        <a:t>7</a:t>
                      </a:r>
                      <a:endParaRPr lang="en-US" sz="2800" b="0" dirty="0"/>
                    </a:p>
                  </a:txBody>
                  <a:tcPr/>
                </a:tc>
                <a:tc>
                  <a:txBody>
                    <a:bodyPr/>
                    <a:lstStyle/>
                    <a:p>
                      <a:pPr algn="ctr"/>
                      <a:r>
                        <a:rPr lang="en-US" sz="2800" b="0" dirty="0" smtClean="0"/>
                        <a:t>9</a:t>
                      </a:r>
                      <a:endParaRPr lang="en-US" sz="2800" b="0" dirty="0"/>
                    </a:p>
                  </a:txBody>
                  <a:tcPr/>
                </a:tc>
                <a:tc>
                  <a:txBody>
                    <a:bodyPr/>
                    <a:lstStyle/>
                    <a:p>
                      <a:pPr algn="ctr"/>
                      <a:r>
                        <a:rPr lang="en-US" sz="2800" b="0" dirty="0" smtClean="0"/>
                        <a:t>10</a:t>
                      </a:r>
                      <a:endParaRPr lang="en-US" sz="2800" b="0" dirty="0"/>
                    </a:p>
                  </a:txBody>
                  <a:tcPr/>
                </a:tc>
                <a:tc>
                  <a:txBody>
                    <a:bodyPr/>
                    <a:lstStyle/>
                    <a:p>
                      <a:pPr algn="ctr"/>
                      <a:r>
                        <a:rPr lang="en-US" sz="2800" b="0" dirty="0" smtClean="0"/>
                        <a:t>6</a:t>
                      </a:r>
                      <a:endParaRPr lang="en-US" sz="2800" b="0" dirty="0"/>
                    </a:p>
                  </a:txBody>
                  <a:tcPr/>
                </a:tc>
                <a:tc>
                  <a:txBody>
                    <a:bodyPr/>
                    <a:lstStyle/>
                    <a:p>
                      <a:pPr algn="ctr"/>
                      <a:r>
                        <a:rPr lang="en-US" sz="2800" b="0" dirty="0" smtClean="0"/>
                        <a:t>20</a:t>
                      </a:r>
                      <a:endParaRPr lang="en-US" sz="2800" b="0" dirty="0"/>
                    </a:p>
                  </a:txBody>
                  <a:tcPr/>
                </a:tc>
                <a:extLst>
                  <a:ext uri="{0D108BD9-81ED-4DB2-BD59-A6C34878D82A}">
                    <a16:rowId xmlns:a16="http://schemas.microsoft.com/office/drawing/2014/main" val="10000"/>
                  </a:ext>
                </a:extLst>
              </a:tr>
              <a:tr h="438912">
                <a:tc>
                  <a:txBody>
                    <a:bodyPr/>
                    <a:lstStyle/>
                    <a:p>
                      <a:pPr algn="ctr"/>
                      <a:r>
                        <a:rPr lang="en-US" sz="2400" i="1" dirty="0" smtClean="0"/>
                        <a:t>1</a:t>
                      </a:r>
                      <a:endParaRPr lang="en-US" sz="2400" i="1" dirty="0"/>
                    </a:p>
                  </a:txBody>
                  <a:tcPr/>
                </a:tc>
                <a:tc>
                  <a:txBody>
                    <a:bodyPr/>
                    <a:lstStyle/>
                    <a:p>
                      <a:pPr algn="ctr"/>
                      <a:r>
                        <a:rPr lang="en-US" sz="2400" i="1" dirty="0" smtClean="0"/>
                        <a:t>2</a:t>
                      </a:r>
                      <a:endParaRPr lang="en-US" sz="2400" i="1" dirty="0"/>
                    </a:p>
                  </a:txBody>
                  <a:tcPr/>
                </a:tc>
                <a:tc>
                  <a:txBody>
                    <a:bodyPr/>
                    <a:lstStyle/>
                    <a:p>
                      <a:pPr algn="ctr"/>
                      <a:r>
                        <a:rPr lang="en-US" sz="2400" i="1" dirty="0" smtClean="0"/>
                        <a:t>3</a:t>
                      </a:r>
                      <a:endParaRPr lang="en-US" sz="2400" i="1" dirty="0"/>
                    </a:p>
                  </a:txBody>
                  <a:tcPr/>
                </a:tc>
                <a:tc>
                  <a:txBody>
                    <a:bodyPr/>
                    <a:lstStyle/>
                    <a:p>
                      <a:pPr algn="ctr"/>
                      <a:r>
                        <a:rPr lang="en-US" sz="2400" i="1" dirty="0" smtClean="0"/>
                        <a:t>4</a:t>
                      </a:r>
                      <a:endParaRPr lang="en-US" sz="2400" i="1" dirty="0"/>
                    </a:p>
                  </a:txBody>
                  <a:tcPr/>
                </a:tc>
                <a:tc>
                  <a:txBody>
                    <a:bodyPr/>
                    <a:lstStyle/>
                    <a:p>
                      <a:pPr algn="ctr"/>
                      <a:r>
                        <a:rPr lang="en-US" sz="2400" i="1" dirty="0" smtClean="0"/>
                        <a:t>5</a:t>
                      </a:r>
                      <a:endParaRPr lang="en-US" sz="2400" i="1" dirty="0"/>
                    </a:p>
                  </a:txBody>
                  <a:tcPr/>
                </a:tc>
                <a:tc>
                  <a:txBody>
                    <a:bodyPr/>
                    <a:lstStyle/>
                    <a:p>
                      <a:pPr algn="ctr"/>
                      <a:r>
                        <a:rPr lang="en-US" sz="2400" i="1" dirty="0" smtClean="0"/>
                        <a:t>6</a:t>
                      </a:r>
                      <a:endParaRPr lang="en-US" sz="2400" i="1"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5860785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p:cNvSpPr>
            <a:spLocks noGrp="1"/>
          </p:cNvSpPr>
          <p:nvPr>
            <p:ph idx="1"/>
          </p:nvPr>
        </p:nvSpPr>
        <p:spPr>
          <a:xfrm>
            <a:off x="381000" y="533400"/>
            <a:ext cx="11201400" cy="3886200"/>
          </a:xfrm>
        </p:spPr>
        <p:txBody>
          <a:bodyPr>
            <a:noAutofit/>
          </a:bodyPr>
          <a:lstStyle/>
          <a:p>
            <a:pPr marL="0" indent="0" algn="just">
              <a:buNone/>
            </a:pPr>
            <a:r>
              <a:rPr lang="en-US" sz="3600" b="1" dirty="0" err="1">
                <a:solidFill>
                  <a:srgbClr val="0070C0"/>
                </a:solidFill>
                <a:latin typeface="Times New Roman" panose="02020603050405020304" pitchFamily="18" charset="0"/>
                <a:cs typeface="Times New Roman" panose="02020603050405020304" pitchFamily="18" charset="0"/>
              </a:rPr>
              <a:t>Đánh</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dirty="0" err="1">
                <a:solidFill>
                  <a:srgbClr val="0070C0"/>
                </a:solidFill>
                <a:latin typeface="Times New Roman" panose="02020603050405020304" pitchFamily="18" charset="0"/>
                <a:cs typeface="Times New Roman" panose="02020603050405020304" pitchFamily="18" charset="0"/>
              </a:rPr>
              <a:t>giá</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err="1">
                <a:solidFill>
                  <a:srgbClr val="0070C0"/>
                </a:solidFill>
                <a:latin typeface="Times New Roman" panose="02020603050405020304" pitchFamily="18" charset="0"/>
                <a:cs typeface="Times New Roman" panose="02020603050405020304" pitchFamily="18" charset="0"/>
              </a:rPr>
              <a:t>giải</a:t>
            </a:r>
            <a:r>
              <a:rPr lang="en-US" sz="3600" b="1">
                <a:solidFill>
                  <a:srgbClr val="0070C0"/>
                </a:solidFill>
                <a:latin typeface="Times New Roman" panose="02020603050405020304" pitchFamily="18" charset="0"/>
                <a:cs typeface="Times New Roman" panose="02020603050405020304" pitchFamily="18" charset="0"/>
              </a:rPr>
              <a:t> </a:t>
            </a:r>
            <a:r>
              <a:rPr lang="en-US" sz="3600" b="1" smtClean="0">
                <a:solidFill>
                  <a:srgbClr val="0070C0"/>
                </a:solidFill>
                <a:latin typeface="Times New Roman" panose="02020603050405020304" pitchFamily="18" charset="0"/>
                <a:cs typeface="Times New Roman" panose="02020603050405020304" pitchFamily="18" charset="0"/>
              </a:rPr>
              <a:t>thuật: </a:t>
            </a:r>
            <a:endParaRPr lang="en-US" sz="3600" b="1" dirty="0">
              <a:solidFill>
                <a:srgbClr val="0070C0"/>
              </a:solidFill>
              <a:latin typeface="Times New Roman" panose="02020603050405020304" pitchFamily="18" charset="0"/>
              <a:cs typeface="Times New Roman" panose="02020603050405020304" pitchFamily="18" charset="0"/>
            </a:endParaRPr>
          </a:p>
          <a:p>
            <a:pPr algn="just">
              <a:buFont typeface="Wingdings" pitchFamily="2" charset="2"/>
              <a:buNone/>
            </a:pPr>
            <a:r>
              <a:rPr lang="en-US" sz="2800">
                <a:solidFill>
                  <a:schemeClr val="bg1"/>
                </a:solidFill>
                <a:latin typeface="Times New Roman" panose="02020603050405020304" pitchFamily="18" charset="0"/>
                <a:cs typeface="Times New Roman" panose="02020603050405020304" pitchFamily="18" charset="0"/>
              </a:rPr>
              <a:t>	</a:t>
            </a:r>
            <a:r>
              <a:rPr lang="en-US" sz="2800" smtClean="0">
                <a:solidFill>
                  <a:schemeClr val="bg1"/>
                </a:solidFill>
                <a:latin typeface="Times New Roman" panose="02020603050405020304" pitchFamily="18" charset="0"/>
                <a:cs typeface="Times New Roman" panose="02020603050405020304" pitchFamily="18" charset="0"/>
              </a:rPr>
              <a:t>	Các </a:t>
            </a:r>
            <a:r>
              <a:rPr lang="en-US" sz="2800" dirty="0" err="1">
                <a:solidFill>
                  <a:schemeClr val="bg1"/>
                </a:solidFill>
                <a:latin typeface="Times New Roman" panose="02020603050405020304" pitchFamily="18" charset="0"/>
                <a:cs typeface="Times New Roman" panose="02020603050405020304" pitchFamily="18" charset="0"/>
              </a:rPr>
              <a:t>phép</a:t>
            </a:r>
            <a:r>
              <a:rPr lang="en-US" sz="2800" dirty="0">
                <a:solidFill>
                  <a:schemeClr val="bg1"/>
                </a:solidFill>
                <a:latin typeface="Times New Roman" panose="02020603050405020304" pitchFamily="18" charset="0"/>
                <a:cs typeface="Times New Roman" panose="02020603050405020304" pitchFamily="18" charset="0"/>
              </a:rPr>
              <a:t> so </a:t>
            </a:r>
            <a:r>
              <a:rPr lang="en-US" sz="2800" dirty="0" err="1">
                <a:solidFill>
                  <a:schemeClr val="bg1"/>
                </a:solidFill>
                <a:latin typeface="Times New Roman" panose="02020603050405020304" pitchFamily="18" charset="0"/>
                <a:cs typeface="Times New Roman" panose="02020603050405020304" pitchFamily="18" charset="0"/>
              </a:rPr>
              <a:t>sánh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xảy</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ra</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trong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mỗi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vòng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lặp</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while</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tìm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vị</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trí</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thích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hợp</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err="1">
                <a:solidFill>
                  <a:schemeClr val="bg1"/>
                </a:solidFill>
                <a:latin typeface="Times New Roman" panose="02020603050405020304" pitchFamily="18" charset="0"/>
                <a:cs typeface="Times New Roman" panose="02020603050405020304" pitchFamily="18" charset="0"/>
              </a:rPr>
              <a:t>pos</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mỗi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lần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xác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định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vị</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trí</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đang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xét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không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thích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hợp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sẽ</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dời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chỗ</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phần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tử</a:t>
            </a:r>
            <a:r>
              <a:rPr lang="en-US" sz="2800" dirty="0">
                <a:solidFill>
                  <a:schemeClr val="bg1"/>
                </a:solidFill>
                <a:latin typeface="Times New Roman" panose="02020603050405020304" pitchFamily="18" charset="0"/>
                <a:cs typeface="Times New Roman" panose="02020603050405020304" pitchFamily="18" charset="0"/>
              </a:rPr>
              <a:t>  a[</a:t>
            </a:r>
            <a:r>
              <a:rPr lang="en-US" sz="2800" dirty="0" err="1">
                <a:solidFill>
                  <a:schemeClr val="bg1"/>
                </a:solidFill>
                <a:latin typeface="Times New Roman" panose="02020603050405020304" pitchFamily="18" charset="0"/>
                <a:cs typeface="Times New Roman" panose="02020603050405020304" pitchFamily="18" charset="0"/>
              </a:rPr>
              <a:t>pos</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tương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ứng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Giải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thuật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thực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hiện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tất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cả</a:t>
            </a:r>
            <a:r>
              <a:rPr lang="en-US" sz="2800" dirty="0">
                <a:solidFill>
                  <a:schemeClr val="bg1"/>
                </a:solidFill>
                <a:latin typeface="Times New Roman" panose="02020603050405020304" pitchFamily="18" charset="0"/>
                <a:cs typeface="Times New Roman" panose="02020603050405020304" pitchFamily="18" charset="0"/>
              </a:rPr>
              <a:t> N-1 </a:t>
            </a:r>
            <a:r>
              <a:rPr lang="en-US" sz="2800" dirty="0" err="1">
                <a:solidFill>
                  <a:schemeClr val="bg1"/>
                </a:solidFill>
                <a:latin typeface="Times New Roman" panose="02020603050405020304" pitchFamily="18" charset="0"/>
                <a:cs typeface="Times New Roman" panose="02020603050405020304" pitchFamily="18" charset="0"/>
              </a:rPr>
              <a:t>vòng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lặp</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while</a:t>
            </a:r>
            <a:r>
              <a:rPr lang="en-US" sz="2800" dirty="0">
                <a:solidFill>
                  <a:schemeClr val="bg1"/>
                </a:solidFill>
                <a:latin typeface="Times New Roman" panose="02020603050405020304" pitchFamily="18" charset="0"/>
                <a:cs typeface="Times New Roman" panose="02020603050405020304" pitchFamily="18" charset="0"/>
              </a:rPr>
              <a:t>, do </a:t>
            </a:r>
            <a:r>
              <a:rPr lang="en-US" sz="2800" dirty="0" err="1">
                <a:solidFill>
                  <a:schemeClr val="bg1"/>
                </a:solidFill>
                <a:latin typeface="Times New Roman" panose="02020603050405020304" pitchFamily="18" charset="0"/>
                <a:cs typeface="Times New Roman" panose="02020603050405020304" pitchFamily="18" charset="0"/>
              </a:rPr>
              <a:t>số</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lượng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phép</a:t>
            </a:r>
            <a:r>
              <a:rPr lang="en-US" sz="2800" dirty="0">
                <a:solidFill>
                  <a:schemeClr val="bg1"/>
                </a:solidFill>
                <a:latin typeface="Times New Roman" panose="02020603050405020304" pitchFamily="18" charset="0"/>
                <a:cs typeface="Times New Roman" panose="02020603050405020304" pitchFamily="18" charset="0"/>
              </a:rPr>
              <a:t> so </a:t>
            </a:r>
            <a:r>
              <a:rPr lang="en-US" sz="2800" dirty="0" err="1">
                <a:solidFill>
                  <a:schemeClr val="bg1"/>
                </a:solidFill>
                <a:latin typeface="Times New Roman" panose="02020603050405020304" pitchFamily="18" charset="0"/>
                <a:cs typeface="Times New Roman" panose="02020603050405020304" pitchFamily="18" charset="0"/>
              </a:rPr>
              <a:t>sánh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và</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dời</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chỗ</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này</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phụ</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thuộc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vào</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tình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trạng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của</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dãy</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số</a:t>
            </a:r>
            <a:r>
              <a:rPr lang="en-US" sz="2800" dirty="0">
                <a:solidFill>
                  <a:schemeClr val="bg1"/>
                </a:solidFill>
                <a:latin typeface="Times New Roman" panose="02020603050405020304" pitchFamily="18" charset="0"/>
                <a:cs typeface="Times New Roman" panose="02020603050405020304" pitchFamily="18" charset="0"/>
              </a:rPr>
              <a:t> ban </a:t>
            </a:r>
            <a:r>
              <a:rPr lang="en-US" sz="2800" dirty="0" err="1">
                <a:solidFill>
                  <a:schemeClr val="bg1"/>
                </a:solidFill>
                <a:latin typeface="Times New Roman" panose="02020603050405020304" pitchFamily="18" charset="0"/>
                <a:cs typeface="Times New Roman" panose="02020603050405020304" pitchFamily="18" charset="0"/>
              </a:rPr>
              <a:t>đầu</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nên</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chỉ</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có</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thể</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ước</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lượng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trong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từng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trường</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hợp</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như</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sau</a:t>
            </a:r>
            <a:r>
              <a:rPr lang="en-US" sz="2800" dirty="0">
                <a:solidFill>
                  <a:schemeClr val="bg1"/>
                </a:solidFill>
                <a:latin typeface="Times New Roman" panose="02020603050405020304" pitchFamily="18" charset="0"/>
                <a:cs typeface="Times New Roman" panose="02020603050405020304" pitchFamily="18" charset="0"/>
              </a:rPr>
              <a:t>: </a:t>
            </a:r>
          </a:p>
          <a:p>
            <a:pPr algn="just"/>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B136CBDA-F86E-48D3-A601-6C0FFF445340}" type="slidenum">
              <a:rPr lang="en-US" smtClean="0"/>
              <a:pPr>
                <a:defRPr/>
              </a:pPr>
              <a:t>98</a:t>
            </a:fld>
            <a:endParaRPr lang="en-US"/>
          </a:p>
        </p:txBody>
      </p:sp>
      <p:pic>
        <p:nvPicPr>
          <p:cNvPr id="4813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330574"/>
            <a:ext cx="10134600" cy="2979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349056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2"/>
          <p:cNvSpPr>
            <a:spLocks noGrp="1"/>
          </p:cNvSpPr>
          <p:nvPr>
            <p:ph idx="1"/>
          </p:nvPr>
        </p:nvSpPr>
        <p:spPr>
          <a:xfrm>
            <a:off x="1066800" y="533400"/>
            <a:ext cx="10439400" cy="5791200"/>
          </a:xfrm>
        </p:spPr>
        <p:txBody>
          <a:bodyPr>
            <a:normAutofit/>
          </a:bodyPr>
          <a:lstStyle/>
          <a:p>
            <a:pPr marL="0" indent="0" algn="just">
              <a:lnSpc>
                <a:spcPct val="100000"/>
              </a:lnSpc>
              <a:buNone/>
            </a:pPr>
            <a:r>
              <a:rPr lang="en-US" sz="4400" b="1" err="1" smtClean="0">
                <a:solidFill>
                  <a:srgbClr val="0070C0"/>
                </a:solidFill>
                <a:latin typeface="Times New Roman" panose="02020603050405020304" pitchFamily="18" charset="0"/>
                <a:cs typeface="Times New Roman" panose="02020603050405020304" pitchFamily="18" charset="0"/>
              </a:rPr>
              <a:t>Kết</a:t>
            </a:r>
            <a:r>
              <a:rPr lang="en-US" sz="4400" b="1" smtClean="0">
                <a:solidFill>
                  <a:srgbClr val="0070C0"/>
                </a:solidFill>
                <a:latin typeface="Times New Roman" panose="02020603050405020304" pitchFamily="18" charset="0"/>
                <a:cs typeface="Times New Roman" panose="02020603050405020304" pitchFamily="18" charset="0"/>
              </a:rPr>
              <a:t> luận:</a:t>
            </a:r>
            <a:endParaRPr lang="en-US" sz="4400" b="1" dirty="0" smtClean="0">
              <a:solidFill>
                <a:srgbClr val="0070C0"/>
              </a:solidFill>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
            </a:pPr>
            <a:r>
              <a:rPr lang="en-US" sz="3600" dirty="0" smtClean="0">
                <a:solidFill>
                  <a:schemeClr val="bg1"/>
                </a:solidFill>
                <a:latin typeface="Times New Roman" panose="02020603050405020304" pitchFamily="18" charset="0"/>
                <a:cs typeface="Times New Roman" panose="02020603050405020304" pitchFamily="18" charset="0"/>
              </a:rPr>
              <a:t>“</a:t>
            </a:r>
            <a:r>
              <a:rPr lang="en-US" sz="3600" dirty="0" err="1" smtClean="0">
                <a:solidFill>
                  <a:schemeClr val="bg1"/>
                </a:solidFill>
                <a:latin typeface="Times New Roman" panose="02020603050405020304" pitchFamily="18" charset="0"/>
                <a:cs typeface="Times New Roman" panose="02020603050405020304" pitchFamily="18" charset="0"/>
              </a:rPr>
              <a:t>Chèn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trực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tiếp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và</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Chọn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trực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tiếp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đều</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có</a:t>
            </a:r>
            <a:r>
              <a:rPr lang="en-US" sz="3600" dirty="0" smtClean="0">
                <a:solidFill>
                  <a:schemeClr val="bg1"/>
                </a:solidFill>
                <a:latin typeface="Times New Roman" panose="02020603050405020304" pitchFamily="18" charset="0"/>
                <a:cs typeface="Times New Roman" panose="02020603050405020304" pitchFamily="18" charset="0"/>
              </a:rPr>
              <a:t> chi </a:t>
            </a:r>
            <a:r>
              <a:rPr lang="en-US" sz="3600" dirty="0" err="1" smtClean="0">
                <a:solidFill>
                  <a:schemeClr val="bg1"/>
                </a:solidFill>
                <a:latin typeface="Times New Roman" panose="02020603050405020304" pitchFamily="18" charset="0"/>
                <a:cs typeface="Times New Roman" panose="02020603050405020304" pitchFamily="18" charset="0"/>
              </a:rPr>
              <a:t>phí</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cho</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trường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hợp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xấu</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nhất</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là</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O(n</a:t>
            </a:r>
            <a:r>
              <a:rPr lang="en-US" sz="3600" b="1" baseline="30000" dirty="0" smtClean="0">
                <a:solidFill>
                  <a:schemeClr val="bg1"/>
                </a:solidFill>
                <a:latin typeface="Times New Roman" panose="02020603050405020304" pitchFamily="18" charset="0"/>
                <a:cs typeface="Times New Roman" panose="02020603050405020304" pitchFamily="18" charset="0"/>
              </a:rPr>
              <a:t>2</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dirty="0">
                <a:solidFill>
                  <a:schemeClr val="bg1"/>
                </a:solidFill>
                <a:latin typeface="Times New Roman" panose="02020603050405020304" pitchFamily="18" charset="0"/>
                <a:cs typeface="Times New Roman" panose="02020603050405020304" pitchFamily="18" charset="0"/>
              </a:rPr>
              <a:t>do </a:t>
            </a:r>
            <a:r>
              <a:rPr lang="en-US" sz="3600" dirty="0" err="1" smtClean="0">
                <a:solidFill>
                  <a:schemeClr val="bg1"/>
                </a:solidFill>
                <a:latin typeface="Times New Roman" panose="02020603050405020304" pitchFamily="18" charset="0"/>
                <a:cs typeface="Times New Roman" panose="02020603050405020304" pitchFamily="18" charset="0"/>
              </a:rPr>
              <a:t>đó</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không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thích</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hợp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cho</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việc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sắp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xếp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các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mảng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lớn</a:t>
            </a:r>
            <a:endParaRPr lang="en-US" sz="3600" dirty="0" smtClean="0">
              <a:solidFill>
                <a:schemeClr val="bg1"/>
              </a:solidFill>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
            </a:pPr>
            <a:r>
              <a:rPr lang="en-US" sz="3600" dirty="0" err="1" smtClean="0">
                <a:solidFill>
                  <a:schemeClr val="bg1"/>
                </a:solidFill>
                <a:latin typeface="Times New Roman" panose="02020603050405020304" pitchFamily="18" charset="0"/>
                <a:cs typeface="Times New Roman" panose="02020603050405020304" pitchFamily="18" charset="0"/>
              </a:rPr>
              <a:t>Dễ</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cài</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đặt</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dễ</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kiểm</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lỗi</a:t>
            </a:r>
            <a:endParaRPr lang="en-US" sz="3600" dirty="0" smtClean="0">
              <a:solidFill>
                <a:schemeClr val="bg1"/>
              </a:solidFill>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
            </a:pPr>
            <a:r>
              <a:rPr lang="en-US" sz="3600" dirty="0" smtClean="0">
                <a:solidFill>
                  <a:schemeClr val="bg1"/>
                </a:solidFill>
                <a:latin typeface="Times New Roman" panose="02020603050405020304" pitchFamily="18" charset="0"/>
                <a:cs typeface="Times New Roman" panose="02020603050405020304" pitchFamily="18" charset="0"/>
              </a:rPr>
              <a:t>“</a:t>
            </a:r>
            <a:r>
              <a:rPr lang="en-US" sz="3600" dirty="0" err="1" smtClean="0">
                <a:solidFill>
                  <a:schemeClr val="bg1"/>
                </a:solidFill>
                <a:latin typeface="Times New Roman" panose="02020603050405020304" pitchFamily="18" charset="0"/>
                <a:cs typeface="Times New Roman" panose="02020603050405020304" pitchFamily="18" charset="0"/>
              </a:rPr>
              <a:t>Chèn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trực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tiếp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tốt</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hơn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Chọn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trực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tiếp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nhất</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là</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khi</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mảng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đã</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có</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thứ</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tự</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sẵn</a:t>
            </a:r>
            <a:endParaRPr lang="en-US" sz="3600" dirty="0" smtClean="0">
              <a:solidFill>
                <a:schemeClr val="bg1"/>
              </a:solidFill>
              <a:latin typeface="Times New Roman" panose="02020603050405020304" pitchFamily="18" charset="0"/>
              <a:cs typeface="Times New Roman" panose="02020603050405020304" pitchFamily="18" charset="0"/>
            </a:endParaRPr>
          </a:p>
          <a:p>
            <a:pPr marL="45720" indent="0" algn="just">
              <a:lnSpc>
                <a:spcPct val="100000"/>
              </a:lnSpc>
              <a:buNone/>
            </a:pPr>
            <a:r>
              <a:rPr lang="en-US" sz="3600" dirty="0" smtClean="0">
                <a:solidFill>
                  <a:schemeClr val="bg1"/>
                </a:solidFill>
                <a:latin typeface="Times New Roman" panose="02020603050405020304" pitchFamily="18" charset="0"/>
                <a:cs typeface="Times New Roman" panose="02020603050405020304" pitchFamily="18" charset="0"/>
                <a:sym typeface="Wingdings" pitchFamily="2" charset="2"/>
              </a:rPr>
              <a:t> </a:t>
            </a:r>
            <a:r>
              <a:rPr lang="en-US" sz="3600" dirty="0" err="1" smtClean="0">
                <a:solidFill>
                  <a:schemeClr val="bg1"/>
                </a:solidFill>
                <a:latin typeface="Times New Roman" panose="02020603050405020304" pitchFamily="18" charset="0"/>
                <a:cs typeface="Times New Roman" panose="02020603050405020304" pitchFamily="18" charset="0"/>
              </a:rPr>
              <a:t>Cần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có</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những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giải</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thuật</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hiệu</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quả</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hơn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cho</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việc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sắp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xếp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các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err="1" smtClean="0">
                <a:solidFill>
                  <a:schemeClr val="bg1"/>
                </a:solidFill>
                <a:latin typeface="Times New Roman" panose="02020603050405020304" pitchFamily="18" charset="0"/>
                <a:cs typeface="Times New Roman" panose="02020603050405020304" pitchFamily="18" charset="0"/>
              </a:rPr>
              <a:t>mảng</a:t>
            </a:r>
            <a:r>
              <a:rPr lang="en-US" sz="3600" smtClean="0">
                <a:solidFill>
                  <a:schemeClr val="bg1"/>
                </a:solidFill>
                <a:latin typeface="Times New Roman" panose="02020603050405020304" pitchFamily="18" charset="0"/>
                <a:cs typeface="Times New Roman" panose="02020603050405020304" pitchFamily="18" charset="0"/>
              </a:rPr>
              <a:t> lớn.</a:t>
            </a:r>
            <a:endParaRPr lang="en-US" sz="3600" dirty="0" smtClean="0">
              <a:solidFill>
                <a:schemeClr val="bg1"/>
              </a:solidFill>
              <a:latin typeface="Times New Roman" panose="02020603050405020304" pitchFamily="18" charset="0"/>
              <a:cs typeface="Times New Roman" panose="02020603050405020304" pitchFamily="18" charset="0"/>
            </a:endParaRPr>
          </a:p>
          <a:p>
            <a:pPr algn="just">
              <a:lnSpc>
                <a:spcPct val="100000"/>
              </a:lnSpc>
            </a:pPr>
            <a:endParaRPr lang="en-US" sz="360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DAC50BC4-7891-48C6-AD7F-1CDA8ADEACFE}" type="slidenum">
              <a:rPr lang="en-US" smtClean="0"/>
              <a:pPr>
                <a:defRPr/>
              </a:pPr>
              <a:t>99</a:t>
            </a:fld>
            <a:endParaRPr lang="en-US"/>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515600" cy="762000"/>
          </a:xfrm>
        </p:spPr>
        <p:txBody>
          <a:bodyPr/>
          <a:lstStyle/>
          <a:p>
            <a:pPr>
              <a:defRPr/>
            </a:pPr>
            <a:r>
              <a:rPr lang="en-US" b="1" smtClean="0">
                <a:solidFill>
                  <a:srgbClr val="0070C0"/>
                </a:solidFill>
                <a:latin typeface="Times New Roman" panose="02020603050405020304" pitchFamily="18" charset="0"/>
                <a:cs typeface="Times New Roman" panose="02020603050405020304" pitchFamily="18" charset="0"/>
              </a:rPr>
              <a:t>5. Quick </a:t>
            </a:r>
            <a:r>
              <a:rPr lang="en-US" b="1" dirty="0" smtClean="0">
                <a:solidFill>
                  <a:srgbClr val="0070C0"/>
                </a:solidFill>
                <a:latin typeface="Times New Roman" panose="02020603050405020304" pitchFamily="18" charset="0"/>
                <a:cs typeface="Times New Roman" panose="02020603050405020304" pitchFamily="18" charset="0"/>
              </a:rPr>
              <a:t>sort</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62467" name="Content Placeholder 2"/>
          <p:cNvSpPr>
            <a:spLocks noGrp="1"/>
          </p:cNvSpPr>
          <p:nvPr>
            <p:ph idx="1"/>
          </p:nvPr>
        </p:nvSpPr>
        <p:spPr>
          <a:xfrm>
            <a:off x="1219200" y="1152525"/>
            <a:ext cx="10287000" cy="4557078"/>
          </a:xfrm>
        </p:spPr>
        <p:txBody>
          <a:bodyPr>
            <a:noAutofit/>
          </a:bodyPr>
          <a:lstStyle/>
          <a:p>
            <a:pPr algn="just"/>
            <a:r>
              <a:rPr lang="en-US" sz="3600" dirty="0" smtClean="0">
                <a:solidFill>
                  <a:schemeClr val="bg1"/>
                </a:solidFill>
                <a:latin typeface="Times New Roman" panose="02020603050405020304" pitchFamily="18" charset="0"/>
                <a:cs typeface="Times New Roman" panose="02020603050405020304" pitchFamily="18" charset="0"/>
              </a:rPr>
              <a:t>Chia </a:t>
            </a:r>
            <a:r>
              <a:rPr lang="en-US" sz="3600" dirty="0" err="1" smtClean="0">
                <a:solidFill>
                  <a:schemeClr val="bg1"/>
                </a:solidFill>
                <a:latin typeface="Times New Roman" panose="02020603050405020304" pitchFamily="18" charset="0"/>
                <a:cs typeface="Times New Roman" panose="02020603050405020304" pitchFamily="18" charset="0"/>
              </a:rPr>
              <a:t>dãy</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cần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err="1" smtClean="0">
                <a:solidFill>
                  <a:schemeClr val="bg1"/>
                </a:solidFill>
                <a:latin typeface="Times New Roman" panose="02020603050405020304" pitchFamily="18" charset="0"/>
                <a:cs typeface="Times New Roman" panose="02020603050405020304" pitchFamily="18" charset="0"/>
              </a:rPr>
              <a:t>sắp</a:t>
            </a:r>
            <a:r>
              <a:rPr lang="en-US" sz="3600" smtClean="0">
                <a:solidFill>
                  <a:schemeClr val="bg1"/>
                </a:solidFill>
                <a:latin typeface="Times New Roman" panose="02020603050405020304" pitchFamily="18" charset="0"/>
                <a:cs typeface="Times New Roman" panose="02020603050405020304" pitchFamily="18" charset="0"/>
              </a:rPr>
              <a:t> xếp thành </a:t>
            </a:r>
            <a:r>
              <a:rPr lang="en-US" sz="3600" dirty="0" smtClean="0">
                <a:solidFill>
                  <a:schemeClr val="bg1"/>
                </a:solidFill>
                <a:latin typeface="Times New Roman" panose="02020603050405020304" pitchFamily="18" charset="0"/>
                <a:cs typeface="Times New Roman" panose="02020603050405020304" pitchFamily="18" charset="0"/>
              </a:rPr>
              <a:t>2 </a:t>
            </a:r>
            <a:r>
              <a:rPr lang="en-US" sz="3600" dirty="0" err="1" smtClean="0">
                <a:solidFill>
                  <a:schemeClr val="bg1"/>
                </a:solidFill>
                <a:latin typeface="Times New Roman" panose="02020603050405020304" pitchFamily="18" charset="0"/>
                <a:cs typeface="Times New Roman" panose="02020603050405020304" pitchFamily="18" charset="0"/>
              </a:rPr>
              <a:t>phần</a:t>
            </a:r>
            <a:endParaRPr lang="en-US" sz="3600" dirty="0" smtClean="0">
              <a:solidFill>
                <a:schemeClr val="bg1"/>
              </a:solidFill>
              <a:latin typeface="Times New Roman" panose="02020603050405020304" pitchFamily="18" charset="0"/>
              <a:cs typeface="Times New Roman" panose="02020603050405020304" pitchFamily="18" charset="0"/>
            </a:endParaRPr>
          </a:p>
          <a:p>
            <a:pPr algn="just"/>
            <a:r>
              <a:rPr lang="en-US" sz="3600" dirty="0" err="1" smtClean="0">
                <a:solidFill>
                  <a:schemeClr val="bg1"/>
                </a:solidFill>
                <a:latin typeface="Times New Roman" panose="02020603050405020304" pitchFamily="18" charset="0"/>
                <a:cs typeface="Times New Roman" panose="02020603050405020304" pitchFamily="18" charset="0"/>
              </a:rPr>
              <a:t>Cách</a:t>
            </a:r>
            <a:r>
              <a:rPr lang="en-US" sz="3600" dirty="0" smtClean="0">
                <a:solidFill>
                  <a:schemeClr val="bg1"/>
                </a:solidFill>
                <a:latin typeface="Times New Roman" panose="02020603050405020304" pitchFamily="18" charset="0"/>
                <a:cs typeface="Times New Roman" panose="02020603050405020304" pitchFamily="18" charset="0"/>
              </a:rPr>
              <a:t> “chia”: </a:t>
            </a:r>
            <a:r>
              <a:rPr lang="en-US" sz="4000" b="1" dirty="0" smtClean="0">
                <a:solidFill>
                  <a:schemeClr val="bg1"/>
                </a:solidFill>
                <a:latin typeface="Times New Roman" panose="02020603050405020304" pitchFamily="18" charset="0"/>
                <a:cs typeface="Times New Roman" panose="02020603050405020304" pitchFamily="18" charset="0"/>
              </a:rPr>
              <a:t>½</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dãy</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bên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trái</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chứa</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các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giá</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trị</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nhỏ</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hơn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4000" b="1" dirty="0" smtClean="0">
                <a:solidFill>
                  <a:schemeClr val="bg1"/>
                </a:solidFill>
                <a:latin typeface="Times New Roman" panose="02020603050405020304" pitchFamily="18" charset="0"/>
                <a:cs typeface="Times New Roman" panose="02020603050405020304" pitchFamily="18" charset="0"/>
              </a:rPr>
              <a:t>½</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dãy</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err="1" smtClean="0">
                <a:solidFill>
                  <a:schemeClr val="bg1"/>
                </a:solidFill>
                <a:latin typeface="Times New Roman" panose="02020603050405020304" pitchFamily="18" charset="0"/>
                <a:cs typeface="Times New Roman" panose="02020603050405020304" pitchFamily="18" charset="0"/>
              </a:rPr>
              <a:t>bên</a:t>
            </a:r>
            <a:r>
              <a:rPr lang="en-US" sz="3600" smtClean="0">
                <a:solidFill>
                  <a:schemeClr val="bg1"/>
                </a:solidFill>
                <a:latin typeface="Times New Roman" panose="02020603050405020304" pitchFamily="18" charset="0"/>
                <a:cs typeface="Times New Roman" panose="02020603050405020304" pitchFamily="18" charset="0"/>
              </a:rPr>
              <a:t> phải lớn hơn.</a:t>
            </a:r>
            <a:endParaRPr lang="en-US" sz="3600" dirty="0" smtClean="0">
              <a:solidFill>
                <a:schemeClr val="bg1"/>
              </a:solidFill>
              <a:latin typeface="Times New Roman" panose="02020603050405020304" pitchFamily="18" charset="0"/>
              <a:cs typeface="Times New Roman" panose="02020603050405020304" pitchFamily="18" charset="0"/>
            </a:endParaRPr>
          </a:p>
          <a:p>
            <a:pPr algn="just"/>
            <a:r>
              <a:rPr lang="en-US" sz="3600" dirty="0" err="1" smtClean="0">
                <a:solidFill>
                  <a:schemeClr val="bg1"/>
                </a:solidFill>
                <a:latin typeface="Times New Roman" panose="02020603050405020304" pitchFamily="18" charset="0"/>
                <a:cs typeface="Times New Roman" panose="02020603050405020304" pitchFamily="18" charset="0"/>
              </a:rPr>
              <a:t>Thực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hiện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việc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sắp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xếp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trên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từng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dãy</a:t>
            </a:r>
            <a:r>
              <a:rPr lang="en-US" sz="3600" dirty="0" smtClean="0">
                <a:solidFill>
                  <a:schemeClr val="bg1"/>
                </a:solidFill>
                <a:latin typeface="Times New Roman" panose="02020603050405020304" pitchFamily="18" charset="0"/>
                <a:cs typeface="Times New Roman" panose="02020603050405020304" pitchFamily="18" charset="0"/>
              </a:rPr>
              <a:t> con </a:t>
            </a:r>
            <a:r>
              <a:rPr lang="en-US" sz="3600" b="1" dirty="0" smtClean="0">
                <a:solidFill>
                  <a:schemeClr val="bg1"/>
                </a:solidFill>
                <a:latin typeface="Times New Roman" panose="02020603050405020304" pitchFamily="18" charset="0"/>
                <a:cs typeface="Times New Roman" panose="02020603050405020304" pitchFamily="18" charset="0"/>
              </a:rPr>
              <a:t>(</a:t>
            </a:r>
            <a:r>
              <a:rPr lang="en-US" sz="3600" b="1" dirty="0" err="1" smtClean="0">
                <a:solidFill>
                  <a:schemeClr val="bg1"/>
                </a:solidFill>
                <a:latin typeface="Times New Roman" panose="02020603050405020304" pitchFamily="18" charset="0"/>
                <a:cs typeface="Times New Roman" panose="02020603050405020304" pitchFamily="18" charset="0"/>
              </a:rPr>
              <a:t>đệ</a:t>
            </a:r>
            <a:r>
              <a:rPr lang="en-US" sz="3600" b="1" dirty="0" smtClean="0">
                <a:solidFill>
                  <a:schemeClr val="bg1"/>
                </a:solidFill>
                <a:latin typeface="Times New Roman" panose="02020603050405020304" pitchFamily="18" charset="0"/>
                <a:cs typeface="Times New Roman" panose="02020603050405020304" pitchFamily="18" charset="0"/>
              </a:rPr>
              <a:t> qui)</a:t>
            </a:r>
          </a:p>
          <a:p>
            <a:pPr algn="just"/>
            <a:endParaRPr lang="en-US" sz="3600" b="1" dirty="0" smtClean="0">
              <a:solidFill>
                <a:schemeClr val="bg1"/>
              </a:solidFill>
              <a:latin typeface="Times New Roman" panose="02020603050405020304" pitchFamily="18" charset="0"/>
              <a:cs typeface="Times New Roman" panose="02020603050405020304" pitchFamily="18" charset="0"/>
            </a:endParaRPr>
          </a:p>
          <a:p>
            <a:pPr algn="just"/>
            <a:endParaRPr lang="en-US" sz="3600" b="1" dirty="0" smtClean="0">
              <a:solidFill>
                <a:schemeClr val="bg1"/>
              </a:solidFill>
              <a:latin typeface="Times New Roman" panose="02020603050405020304" pitchFamily="18" charset="0"/>
              <a:cs typeface="Times New Roman" panose="02020603050405020304" pitchFamily="18" charset="0"/>
            </a:endParaRPr>
          </a:p>
          <a:p>
            <a:pPr algn="ctr">
              <a:buFont typeface="Wingdings" pitchFamily="2" charset="2"/>
              <a:buNone/>
            </a:pPr>
            <a:r>
              <a:rPr lang="en-US" sz="3600" b="1" dirty="0" smtClean="0">
                <a:solidFill>
                  <a:schemeClr val="bg1"/>
                </a:solidFill>
                <a:latin typeface="Times New Roman" panose="02020603050405020304" pitchFamily="18" charset="0"/>
                <a:cs typeface="Times New Roman" panose="02020603050405020304" pitchFamily="18" charset="0"/>
              </a:rPr>
              <a:t>(x </a:t>
            </a:r>
            <a:r>
              <a:rPr lang="en-US" sz="3600" b="1" dirty="0" err="1" smtClean="0">
                <a:solidFill>
                  <a:schemeClr val="bg1"/>
                </a:solidFill>
                <a:latin typeface="Times New Roman" panose="02020603050405020304" pitchFamily="18" charset="0"/>
                <a:cs typeface="Times New Roman" panose="02020603050405020304" pitchFamily="18" charset="0"/>
              </a:rPr>
              <a:t>là</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b="1" dirty="0" err="1" smtClean="0">
                <a:solidFill>
                  <a:schemeClr val="bg1"/>
                </a:solidFill>
                <a:latin typeface="Times New Roman" panose="02020603050405020304" pitchFamily="18" charset="0"/>
                <a:cs typeface="Times New Roman" panose="02020603050405020304" pitchFamily="18" charset="0"/>
              </a:rPr>
              <a:t>phần</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b="1" dirty="0" err="1" smtClean="0">
                <a:solidFill>
                  <a:schemeClr val="bg1"/>
                </a:solidFill>
                <a:latin typeface="Times New Roman" panose="02020603050405020304" pitchFamily="18" charset="0"/>
                <a:cs typeface="Times New Roman" panose="02020603050405020304" pitchFamily="18" charset="0"/>
              </a:rPr>
              <a:t>tử</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b="1" dirty="0" err="1" smtClean="0">
                <a:solidFill>
                  <a:schemeClr val="bg1"/>
                </a:solidFill>
                <a:latin typeface="Times New Roman" panose="02020603050405020304" pitchFamily="18" charset="0"/>
                <a:cs typeface="Times New Roman" panose="02020603050405020304" pitchFamily="18" charset="0"/>
              </a:rPr>
              <a:t>trong</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b="1" dirty="0" err="1" smtClean="0">
                <a:solidFill>
                  <a:schemeClr val="bg1"/>
                </a:solidFill>
                <a:latin typeface="Times New Roman" panose="02020603050405020304" pitchFamily="18" charset="0"/>
                <a:cs typeface="Times New Roman" panose="02020603050405020304" pitchFamily="18" charset="0"/>
              </a:rPr>
              <a:t>dãy</a:t>
            </a:r>
            <a:r>
              <a:rPr lang="en-US" sz="3600" b="1" dirty="0" smtClean="0">
                <a:solidFill>
                  <a:schemeClr val="bg1"/>
                </a:solidFill>
                <a:latin typeface="Times New Roman" panose="02020603050405020304" pitchFamily="18" charset="0"/>
                <a:cs typeface="Times New Roman" panose="02020603050405020304" pitchFamily="18" charset="0"/>
              </a:rPr>
              <a:t>)</a:t>
            </a:r>
          </a:p>
          <a:p>
            <a:pPr algn="just"/>
            <a:endParaRPr lang="en-US" sz="3600" b="1" dirty="0" smtClean="0">
              <a:solidFill>
                <a:schemeClr val="bg1"/>
              </a:solidFill>
              <a:latin typeface="Times New Roman" panose="02020603050405020304" pitchFamily="18" charset="0"/>
              <a:cs typeface="Times New Roman" panose="02020603050405020304" pitchFamily="18" charset="0"/>
            </a:endParaRPr>
          </a:p>
          <a:p>
            <a:pPr algn="just">
              <a:buFont typeface="Wingdings" pitchFamily="2" charset="2"/>
              <a:buNone/>
            </a:pPr>
            <a:endParaRPr lang="en-US" sz="3600" dirty="0" smtClean="0">
              <a:solidFill>
                <a:schemeClr val="bg1"/>
              </a:solidFill>
              <a:latin typeface="Times New Roman" panose="02020603050405020304" pitchFamily="18" charset="0"/>
              <a:cs typeface="Times New Roman" panose="02020603050405020304" pitchFamily="18" charset="0"/>
            </a:endParaRPr>
          </a:p>
          <a:p>
            <a:pPr algn="just"/>
            <a:endParaRPr lang="en-US" sz="44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C9EE60CF-CA00-424B-A568-4BBC32F335C2}" type="slidenum">
              <a:rPr lang="en-US" smtClean="0"/>
              <a:pPr>
                <a:defRPr/>
              </a:pPr>
              <a:t>100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966019356"/>
              </p:ext>
            </p:extLst>
          </p:nvPr>
        </p:nvGraphicFramePr>
        <p:xfrm>
          <a:off x="3352800" y="3657600"/>
          <a:ext cx="6172200" cy="10668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1066800">
                <a:tc>
                  <a:txBody>
                    <a:bodyPr/>
                    <a:lstStyle/>
                    <a:p>
                      <a:pPr algn="ctr"/>
                      <a:r>
                        <a:rPr lang="en-US" sz="4800" dirty="0" smtClean="0"/>
                        <a:t>&lt;x</a:t>
                      </a:r>
                      <a:endParaRPr lang="en-US" sz="4800" dirty="0"/>
                    </a:p>
                  </a:txBody>
                  <a:tcPr marT="45745" marB="45745" anchor="ctr">
                    <a:solidFill>
                      <a:srgbClr val="00B0F0"/>
                    </a:solidFill>
                  </a:tcPr>
                </a:tc>
                <a:tc>
                  <a:txBody>
                    <a:bodyPr/>
                    <a:lstStyle/>
                    <a:p>
                      <a:pPr algn="ctr"/>
                      <a:r>
                        <a:rPr lang="en-US" sz="4800" dirty="0" smtClean="0"/>
                        <a:t>x</a:t>
                      </a:r>
                      <a:endParaRPr lang="en-US" sz="4800" dirty="0"/>
                    </a:p>
                  </a:txBody>
                  <a:tcPr marT="45745" marB="45745" anchor="ctr">
                    <a:solidFill>
                      <a:schemeClr val="bg2">
                        <a:lumMod val="90000"/>
                      </a:schemeClr>
                    </a:solidFill>
                  </a:tcPr>
                </a:tc>
                <a:tc>
                  <a:txBody>
                    <a:bodyPr/>
                    <a:lstStyle/>
                    <a:p>
                      <a:pPr algn="ctr"/>
                      <a:r>
                        <a:rPr lang="en-US" sz="4800" dirty="0" smtClean="0"/>
                        <a:t>&gt;x</a:t>
                      </a:r>
                      <a:endParaRPr lang="en-US" sz="4800" dirty="0"/>
                    </a:p>
                  </a:txBody>
                  <a:tcPr marT="45745" marB="45745" anchor="ctr">
                    <a:solidFill>
                      <a:srgbClr val="FFC000"/>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2"/>
          <p:cNvSpPr>
            <a:spLocks noGrp="1"/>
          </p:cNvSpPr>
          <p:nvPr>
            <p:ph idx="1"/>
          </p:nvPr>
        </p:nvSpPr>
        <p:spPr>
          <a:xfrm>
            <a:off x="2286000" y="457200"/>
            <a:ext cx="7924800" cy="6019800"/>
          </a:xfrm>
        </p:spPr>
        <p:txBody>
          <a:bodyPr>
            <a:normAutofit/>
          </a:bodyPr>
          <a:lstStyle/>
          <a:p>
            <a:pPr>
              <a:buFont typeface="Wingdings" pitchFamily="2" charset="2"/>
              <a:buNone/>
            </a:pPr>
            <a:r>
              <a:rPr lang="en-US" sz="4000" b="1" err="1">
                <a:solidFill>
                  <a:srgbClr val="0070C0"/>
                </a:solidFill>
                <a:latin typeface="Times New Roman" panose="02020603050405020304" pitchFamily="18" charset="0"/>
                <a:cs typeface="Times New Roman" panose="02020603050405020304" pitchFamily="18" charset="0"/>
              </a:rPr>
              <a:t>Giải</a:t>
            </a:r>
            <a:r>
              <a:rPr lang="en-US" sz="4000" b="1">
                <a:solidFill>
                  <a:srgbClr val="0070C0"/>
                </a:solidFill>
                <a:latin typeface="Times New Roman" panose="02020603050405020304" pitchFamily="18" charset="0"/>
                <a:cs typeface="Times New Roman" panose="02020603050405020304" pitchFamily="18" charset="0"/>
              </a:rPr>
              <a:t> </a:t>
            </a:r>
            <a:r>
              <a:rPr lang="en-US" sz="4000" b="1" smtClean="0">
                <a:solidFill>
                  <a:srgbClr val="0070C0"/>
                </a:solidFill>
                <a:latin typeface="Times New Roman" panose="02020603050405020304" pitchFamily="18" charset="0"/>
                <a:cs typeface="Times New Roman" panose="02020603050405020304" pitchFamily="18" charset="0"/>
              </a:rPr>
              <a:t>thuật:</a:t>
            </a:r>
            <a:endParaRPr lang="en-US" sz="4000" b="1" dirty="0">
              <a:solidFill>
                <a:srgbClr val="0070C0"/>
              </a:solidFill>
              <a:latin typeface="Times New Roman" panose="02020603050405020304" pitchFamily="18" charset="0"/>
              <a:cs typeface="Times New Roman" panose="02020603050405020304" pitchFamily="18" charset="0"/>
            </a:endParaRPr>
          </a:p>
          <a:p>
            <a:pPr>
              <a:buFont typeface="Wingdings" pitchFamily="2" charset="2"/>
              <a:buNone/>
            </a:pPr>
            <a:r>
              <a:rPr lang="en-US" sz="3200" b="1" dirty="0" smtClean="0">
                <a:solidFill>
                  <a:schemeClr val="bg1"/>
                </a:solidFill>
                <a:latin typeface="Times New Roman" panose="02020603050405020304" pitchFamily="18" charset="0"/>
                <a:cs typeface="Times New Roman" panose="02020603050405020304" pitchFamily="18" charset="0"/>
              </a:rPr>
              <a:t>Cho </a:t>
            </a:r>
            <a:r>
              <a:rPr lang="en-US" sz="3200" b="1" dirty="0" err="1" smtClean="0">
                <a:solidFill>
                  <a:schemeClr val="bg1"/>
                </a:solidFill>
                <a:latin typeface="Times New Roman" panose="02020603050405020304" pitchFamily="18" charset="0"/>
                <a:cs typeface="Times New Roman" panose="02020603050405020304" pitchFamily="18" charset="0"/>
              </a:rPr>
              <a:t>dãy</a:t>
            </a:r>
            <a:r>
              <a:rPr lang="en-US" sz="3200" b="1" dirty="0" smtClean="0">
                <a:solidFill>
                  <a:schemeClr val="bg1"/>
                </a:solidFill>
                <a:latin typeface="Times New Roman" panose="02020603050405020304" pitchFamily="18" charset="0"/>
                <a:cs typeface="Times New Roman" panose="02020603050405020304" pitchFamily="18" charset="0"/>
              </a:rPr>
              <a:t> </a:t>
            </a:r>
            <a:r>
              <a:rPr lang="en-US" sz="3200" b="1" dirty="0" err="1" smtClean="0">
                <a:solidFill>
                  <a:schemeClr val="bg1"/>
                </a:solidFill>
                <a:latin typeface="Times New Roman" panose="02020603050405020304" pitchFamily="18" charset="0"/>
                <a:cs typeface="Times New Roman" panose="02020603050405020304" pitchFamily="18" charset="0"/>
              </a:rPr>
              <a:t>a</a:t>
            </a:r>
            <a:r>
              <a:rPr lang="en-US" sz="3200" b="1" baseline="-25000" dirty="0" err="1" smtClean="0">
                <a:solidFill>
                  <a:schemeClr val="bg1"/>
                </a:solidFill>
                <a:latin typeface="Times New Roman" panose="02020603050405020304" pitchFamily="18" charset="0"/>
                <a:cs typeface="Times New Roman" panose="02020603050405020304" pitchFamily="18" charset="0"/>
              </a:rPr>
              <a:t>L</a:t>
            </a:r>
            <a:r>
              <a:rPr lang="en-US" sz="3200" b="1" dirty="0" smtClean="0">
                <a:solidFill>
                  <a:schemeClr val="bg1"/>
                </a:solidFill>
                <a:latin typeface="Times New Roman" panose="02020603050405020304" pitchFamily="18" charset="0"/>
                <a:cs typeface="Times New Roman" panose="02020603050405020304" pitchFamily="18" charset="0"/>
              </a:rPr>
              <a:t>, a</a:t>
            </a:r>
            <a:r>
              <a:rPr lang="en-US" sz="3200" b="1" baseline="-25000" dirty="0" smtClean="0">
                <a:solidFill>
                  <a:schemeClr val="bg1"/>
                </a:solidFill>
                <a:latin typeface="Times New Roman" panose="02020603050405020304" pitchFamily="18" charset="0"/>
                <a:cs typeface="Times New Roman" panose="02020603050405020304" pitchFamily="18" charset="0"/>
              </a:rPr>
              <a:t>L+1</a:t>
            </a:r>
            <a:r>
              <a:rPr lang="en-US" sz="3200" b="1" dirty="0" smtClean="0">
                <a:solidFill>
                  <a:schemeClr val="bg1"/>
                </a:solidFill>
                <a:latin typeface="Times New Roman" panose="02020603050405020304" pitchFamily="18" charset="0"/>
                <a:cs typeface="Times New Roman" panose="02020603050405020304" pitchFamily="18" charset="0"/>
              </a:rPr>
              <a:t>, … </a:t>
            </a:r>
            <a:r>
              <a:rPr lang="en-US" sz="3200" b="1" dirty="0" err="1" smtClean="0">
                <a:solidFill>
                  <a:schemeClr val="bg1"/>
                </a:solidFill>
                <a:latin typeface="Times New Roman" panose="02020603050405020304" pitchFamily="18" charset="0"/>
                <a:cs typeface="Times New Roman" panose="02020603050405020304" pitchFamily="18" charset="0"/>
              </a:rPr>
              <a:t>a</a:t>
            </a:r>
            <a:r>
              <a:rPr lang="en-US" sz="3200" b="1" baseline="-25000" dirty="0" err="1" smtClean="0">
                <a:solidFill>
                  <a:schemeClr val="bg1"/>
                </a:solidFill>
                <a:latin typeface="Times New Roman" panose="02020603050405020304" pitchFamily="18" charset="0"/>
                <a:cs typeface="Times New Roman" panose="02020603050405020304" pitchFamily="18" charset="0"/>
              </a:rPr>
              <a:t>R</a:t>
            </a:r>
            <a:endParaRPr lang="en-US" sz="3200" b="1" baseline="-25000" dirty="0" smtClean="0">
              <a:solidFill>
                <a:schemeClr val="bg1"/>
              </a:solidFill>
              <a:latin typeface="Times New Roman" panose="02020603050405020304" pitchFamily="18" charset="0"/>
              <a:cs typeface="Times New Roman" panose="02020603050405020304" pitchFamily="18" charset="0"/>
            </a:endParaRPr>
          </a:p>
          <a:p>
            <a:pPr>
              <a:buFont typeface="Wingdings" pitchFamily="2" charset="2"/>
              <a:buNone/>
            </a:pPr>
            <a:r>
              <a:rPr lang="en-US" sz="3200" b="1" dirty="0" err="1" smtClean="0">
                <a:solidFill>
                  <a:schemeClr val="bg1"/>
                </a:solidFill>
                <a:latin typeface="Times New Roman" panose="02020603050405020304" pitchFamily="18" charset="0"/>
                <a:cs typeface="Times New Roman" panose="02020603050405020304" pitchFamily="18" charset="0"/>
              </a:rPr>
              <a:t>Bước</a:t>
            </a:r>
            <a:r>
              <a:rPr lang="en-US" sz="3200" b="1" dirty="0" smtClean="0">
                <a:solidFill>
                  <a:schemeClr val="bg1"/>
                </a:solidFill>
                <a:latin typeface="Times New Roman" panose="02020603050405020304" pitchFamily="18" charset="0"/>
                <a:cs typeface="Times New Roman" panose="02020603050405020304" pitchFamily="18" charset="0"/>
              </a:rPr>
              <a:t> 1: </a:t>
            </a:r>
          </a:p>
          <a:p>
            <a:pPr>
              <a:buFont typeface="Wingdings" pitchFamily="2" charset="2"/>
              <a:buNone/>
            </a:pPr>
            <a:r>
              <a:rPr lang="en-US" sz="3200" b="1"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Phân</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hoạch</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dãy</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a</a:t>
            </a:r>
            <a:r>
              <a:rPr lang="en-US" sz="3200" baseline="-25000" dirty="0" err="1" smtClean="0">
                <a:solidFill>
                  <a:schemeClr val="bg1"/>
                </a:solidFill>
                <a:latin typeface="Times New Roman" panose="02020603050405020304" pitchFamily="18" charset="0"/>
                <a:cs typeface="Times New Roman" panose="02020603050405020304" pitchFamily="18" charset="0"/>
              </a:rPr>
              <a:t>L</a:t>
            </a:r>
            <a:r>
              <a:rPr lang="en-US" sz="3200" dirty="0" smtClean="0">
                <a:solidFill>
                  <a:schemeClr val="bg1"/>
                </a:solidFill>
                <a:latin typeface="Times New Roman" panose="02020603050405020304" pitchFamily="18" charset="0"/>
                <a:cs typeface="Times New Roman" panose="02020603050405020304" pitchFamily="18" charset="0"/>
              </a:rPr>
              <a:t> … </a:t>
            </a:r>
            <a:r>
              <a:rPr lang="en-US" sz="3200" dirty="0" err="1" smtClean="0">
                <a:solidFill>
                  <a:schemeClr val="bg1"/>
                </a:solidFill>
                <a:latin typeface="Times New Roman" panose="02020603050405020304" pitchFamily="18" charset="0"/>
                <a:cs typeface="Times New Roman" panose="02020603050405020304" pitchFamily="18" charset="0"/>
              </a:rPr>
              <a:t>a</a:t>
            </a:r>
            <a:r>
              <a:rPr lang="en-US" sz="3200" baseline="-25000" dirty="0" err="1" smtClean="0">
                <a:solidFill>
                  <a:schemeClr val="bg1"/>
                </a:solidFill>
                <a:latin typeface="Times New Roman" panose="02020603050405020304" pitchFamily="18" charset="0"/>
                <a:cs typeface="Times New Roman" panose="02020603050405020304" pitchFamily="18" charset="0"/>
              </a:rPr>
              <a:t>R</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thành</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các</a:t>
            </a:r>
            <a:r>
              <a:rPr lang="en-US" sz="3200" dirty="0" smtClean="0">
                <a:solidFill>
                  <a:schemeClr val="bg1"/>
                </a:solidFill>
                <a:latin typeface="Times New Roman" panose="02020603050405020304" pitchFamily="18" charset="0"/>
                <a:cs typeface="Times New Roman" panose="02020603050405020304" pitchFamily="18" charset="0"/>
              </a:rPr>
              <a:t> </a:t>
            </a:r>
            <a:r>
              <a:rPr lang="en-US" sz="3200" dirty="0" err="1" smtClean="0">
                <a:solidFill>
                  <a:schemeClr val="bg1"/>
                </a:solidFill>
                <a:latin typeface="Times New Roman" panose="02020603050405020304" pitchFamily="18" charset="0"/>
                <a:cs typeface="Times New Roman" panose="02020603050405020304" pitchFamily="18" charset="0"/>
              </a:rPr>
              <a:t>dãy</a:t>
            </a:r>
            <a:r>
              <a:rPr lang="en-US" sz="3200" dirty="0" smtClean="0">
                <a:solidFill>
                  <a:schemeClr val="bg1"/>
                </a:solidFill>
                <a:latin typeface="Times New Roman" panose="02020603050405020304" pitchFamily="18" charset="0"/>
                <a:cs typeface="Times New Roman" panose="02020603050405020304" pitchFamily="18" charset="0"/>
              </a:rPr>
              <a:t> con:</a:t>
            </a:r>
          </a:p>
          <a:p>
            <a:pPr lvl="1"/>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con 1: </a:t>
            </a:r>
            <a:r>
              <a:rPr lang="en-US" sz="3600" dirty="0" err="1">
                <a:solidFill>
                  <a:schemeClr val="bg1"/>
                </a:solidFill>
                <a:latin typeface="Times New Roman" panose="02020603050405020304" pitchFamily="18" charset="0"/>
                <a:cs typeface="Times New Roman" panose="02020603050405020304" pitchFamily="18" charset="0"/>
              </a:rPr>
              <a:t>a</a:t>
            </a:r>
            <a:r>
              <a:rPr lang="en-US" sz="3600" baseline="-25000" dirty="0" err="1">
                <a:solidFill>
                  <a:schemeClr val="bg1"/>
                </a:solidFill>
                <a:latin typeface="Times New Roman" panose="02020603050405020304" pitchFamily="18" charset="0"/>
                <a:cs typeface="Times New Roman" panose="02020603050405020304" pitchFamily="18" charset="0"/>
              </a:rPr>
              <a:t>L</a:t>
            </a:r>
            <a:r>
              <a:rPr lang="en-US" sz="3600" baseline="-25000" dirty="0">
                <a:solidFill>
                  <a:schemeClr val="bg1"/>
                </a:solidFill>
                <a:latin typeface="Times New Roman" panose="02020603050405020304" pitchFamily="18" charset="0"/>
                <a:cs typeface="Times New Roman" panose="02020603050405020304" pitchFamily="18" charset="0"/>
              </a:rPr>
              <a:t> </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a</a:t>
            </a:r>
            <a:r>
              <a:rPr lang="en-US" sz="3600" baseline="-25000" dirty="0" err="1">
                <a:solidFill>
                  <a:schemeClr val="bg1"/>
                </a:solidFill>
                <a:latin typeface="Times New Roman" panose="02020603050405020304" pitchFamily="18" charset="0"/>
                <a:cs typeface="Times New Roman" panose="02020603050405020304" pitchFamily="18" charset="0"/>
              </a:rPr>
              <a:t>j</a:t>
            </a:r>
            <a:r>
              <a:rPr lang="en-US" sz="3600" dirty="0">
                <a:solidFill>
                  <a:schemeClr val="bg1"/>
                </a:solidFill>
                <a:latin typeface="Times New Roman" panose="02020603050405020304" pitchFamily="18" charset="0"/>
                <a:cs typeface="Times New Roman" panose="02020603050405020304" pitchFamily="18" charset="0"/>
              </a:rPr>
              <a:t> &lt; x</a:t>
            </a:r>
          </a:p>
          <a:p>
            <a:pPr lvl="1"/>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con 2: a</a:t>
            </a:r>
            <a:r>
              <a:rPr lang="en-US" sz="3600" baseline="-25000" dirty="0">
                <a:solidFill>
                  <a:schemeClr val="bg1"/>
                </a:solidFill>
                <a:latin typeface="Times New Roman" panose="02020603050405020304" pitchFamily="18" charset="0"/>
                <a:cs typeface="Times New Roman" panose="02020603050405020304" pitchFamily="18" charset="0"/>
              </a:rPr>
              <a:t>j+1</a:t>
            </a:r>
            <a:r>
              <a:rPr lang="en-US" sz="3600" dirty="0">
                <a:solidFill>
                  <a:schemeClr val="bg1"/>
                </a:solidFill>
                <a:latin typeface="Times New Roman" panose="02020603050405020304" pitchFamily="18" charset="0"/>
                <a:cs typeface="Times New Roman" panose="02020603050405020304" pitchFamily="18" charset="0"/>
              </a:rPr>
              <a:t> … a</a:t>
            </a:r>
            <a:r>
              <a:rPr lang="en-US" sz="3600" baseline="-25000" dirty="0">
                <a:solidFill>
                  <a:schemeClr val="bg1"/>
                </a:solidFill>
                <a:latin typeface="Times New Roman" panose="02020603050405020304" pitchFamily="18" charset="0"/>
                <a:cs typeface="Times New Roman" panose="02020603050405020304" pitchFamily="18" charset="0"/>
              </a:rPr>
              <a:t>i-1</a:t>
            </a:r>
            <a:r>
              <a:rPr lang="en-US" sz="3600" dirty="0">
                <a:solidFill>
                  <a:schemeClr val="bg1"/>
                </a:solidFill>
                <a:latin typeface="Times New Roman" panose="02020603050405020304" pitchFamily="18" charset="0"/>
                <a:cs typeface="Times New Roman" panose="02020603050405020304" pitchFamily="18" charset="0"/>
              </a:rPr>
              <a:t> =x</a:t>
            </a:r>
          </a:p>
          <a:p>
            <a:pPr lvl="1"/>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con 3: </a:t>
            </a:r>
            <a:r>
              <a:rPr lang="en-US" sz="3600" dirty="0" err="1">
                <a:solidFill>
                  <a:schemeClr val="bg1"/>
                </a:solidFill>
                <a:latin typeface="Times New Roman" panose="02020603050405020304" pitchFamily="18" charset="0"/>
                <a:cs typeface="Times New Roman" panose="02020603050405020304" pitchFamily="18" charset="0"/>
              </a:rPr>
              <a:t>a</a:t>
            </a:r>
            <a:r>
              <a:rPr lang="en-US" sz="3600" baseline="-250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 </a:t>
            </a:r>
            <a:r>
              <a:rPr lang="en-US" sz="3600" dirty="0" err="1">
                <a:solidFill>
                  <a:schemeClr val="bg1"/>
                </a:solidFill>
                <a:latin typeface="Times New Roman" panose="02020603050405020304" pitchFamily="18" charset="0"/>
                <a:cs typeface="Times New Roman" panose="02020603050405020304" pitchFamily="18" charset="0"/>
              </a:rPr>
              <a:t>a</a:t>
            </a:r>
            <a:r>
              <a:rPr lang="en-US" sz="3600" baseline="-25000" dirty="0" err="1">
                <a:solidFill>
                  <a:schemeClr val="bg1"/>
                </a:solidFill>
                <a:latin typeface="Times New Roman" panose="02020603050405020304" pitchFamily="18" charset="0"/>
                <a:cs typeface="Times New Roman" panose="02020603050405020304" pitchFamily="18" charset="0"/>
              </a:rPr>
              <a:t>R</a:t>
            </a:r>
            <a:r>
              <a:rPr lang="en-US" sz="3600" dirty="0">
                <a:solidFill>
                  <a:schemeClr val="bg1"/>
                </a:solidFill>
                <a:latin typeface="Times New Roman" panose="02020603050405020304" pitchFamily="18" charset="0"/>
                <a:cs typeface="Times New Roman" panose="02020603050405020304" pitchFamily="18" charset="0"/>
              </a:rPr>
              <a:t> &gt; x</a:t>
            </a:r>
          </a:p>
          <a:p>
            <a:pPr>
              <a:buFont typeface="Wingdings" pitchFamily="2" charset="2"/>
              <a:buNone/>
            </a:pPr>
            <a:r>
              <a:rPr lang="en-US" sz="3200" b="1" dirty="0" err="1" smtClean="0">
                <a:solidFill>
                  <a:schemeClr val="bg1"/>
                </a:solidFill>
                <a:latin typeface="Times New Roman" panose="02020603050405020304" pitchFamily="18" charset="0"/>
                <a:cs typeface="Times New Roman" panose="02020603050405020304" pitchFamily="18" charset="0"/>
              </a:rPr>
              <a:t>Bước</a:t>
            </a:r>
            <a:r>
              <a:rPr lang="en-US" sz="3200" b="1" dirty="0" smtClean="0">
                <a:solidFill>
                  <a:schemeClr val="bg1"/>
                </a:solidFill>
                <a:latin typeface="Times New Roman" panose="02020603050405020304" pitchFamily="18" charset="0"/>
                <a:cs typeface="Times New Roman" panose="02020603050405020304" pitchFamily="18" charset="0"/>
              </a:rPr>
              <a:t> 2:</a:t>
            </a:r>
          </a:p>
          <a:p>
            <a:pPr lvl="1"/>
            <a:r>
              <a:rPr lang="en-US" sz="3600" dirty="0" err="1">
                <a:solidFill>
                  <a:schemeClr val="bg1"/>
                </a:solidFill>
                <a:latin typeface="Times New Roman" panose="02020603050405020304" pitchFamily="18" charset="0"/>
                <a:cs typeface="Times New Roman" panose="02020603050405020304" pitchFamily="18" charset="0"/>
              </a:rPr>
              <a:t>Nếu</a:t>
            </a:r>
            <a:r>
              <a:rPr lang="en-US" sz="3600" dirty="0">
                <a:solidFill>
                  <a:schemeClr val="bg1"/>
                </a:solidFill>
                <a:latin typeface="Times New Roman" panose="02020603050405020304" pitchFamily="18" charset="0"/>
                <a:cs typeface="Times New Roman" panose="02020603050405020304" pitchFamily="18" charset="0"/>
              </a:rPr>
              <a:t> (L&lt;j) </a:t>
            </a:r>
            <a:r>
              <a:rPr lang="en-US" sz="3600" dirty="0" err="1">
                <a:solidFill>
                  <a:schemeClr val="bg1"/>
                </a:solidFill>
                <a:latin typeface="Times New Roman" panose="02020603050405020304" pitchFamily="18" charset="0"/>
                <a:cs typeface="Times New Roman" panose="02020603050405020304" pitchFamily="18" charset="0"/>
              </a:rPr>
              <a:t>Phân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hoạch</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a</a:t>
            </a:r>
            <a:r>
              <a:rPr lang="en-US" sz="3600" baseline="-25000" dirty="0" err="1">
                <a:solidFill>
                  <a:schemeClr val="bg1"/>
                </a:solidFill>
                <a:latin typeface="Times New Roman" panose="02020603050405020304" pitchFamily="18" charset="0"/>
                <a:cs typeface="Times New Roman" panose="02020603050405020304" pitchFamily="18" charset="0"/>
              </a:rPr>
              <a:t>L</a:t>
            </a:r>
            <a:r>
              <a:rPr lang="en-US" sz="3600" dirty="0">
                <a:solidFill>
                  <a:schemeClr val="bg1"/>
                </a:solidFill>
                <a:latin typeface="Times New Roman" panose="02020603050405020304" pitchFamily="18" charset="0"/>
                <a:cs typeface="Times New Roman" panose="02020603050405020304" pitchFamily="18" charset="0"/>
              </a:rPr>
              <a:t> … </a:t>
            </a:r>
            <a:r>
              <a:rPr lang="en-US" sz="3600" dirty="0" err="1">
                <a:solidFill>
                  <a:schemeClr val="bg1"/>
                </a:solidFill>
                <a:latin typeface="Times New Roman" panose="02020603050405020304" pitchFamily="18" charset="0"/>
                <a:cs typeface="Times New Roman" panose="02020603050405020304" pitchFamily="18" charset="0"/>
              </a:rPr>
              <a:t>a</a:t>
            </a:r>
            <a:r>
              <a:rPr lang="en-US" sz="3600" baseline="-25000" dirty="0" err="1">
                <a:solidFill>
                  <a:schemeClr val="bg1"/>
                </a:solidFill>
                <a:latin typeface="Times New Roman" panose="02020603050405020304" pitchFamily="18" charset="0"/>
                <a:cs typeface="Times New Roman" panose="02020603050405020304" pitchFamily="18" charset="0"/>
              </a:rPr>
              <a:t>j</a:t>
            </a:r>
            <a:endParaRPr lang="en-US" sz="3600" baseline="-25000" dirty="0">
              <a:solidFill>
                <a:schemeClr val="bg1"/>
              </a:solidFill>
              <a:latin typeface="Times New Roman" panose="02020603050405020304" pitchFamily="18" charset="0"/>
              <a:cs typeface="Times New Roman" panose="02020603050405020304" pitchFamily="18" charset="0"/>
            </a:endParaRPr>
          </a:p>
          <a:p>
            <a:pPr lvl="1"/>
            <a:r>
              <a:rPr lang="en-US" sz="3600" dirty="0" err="1">
                <a:solidFill>
                  <a:schemeClr val="bg1"/>
                </a:solidFill>
                <a:latin typeface="Times New Roman" panose="02020603050405020304" pitchFamily="18" charset="0"/>
                <a:cs typeface="Times New Roman" panose="02020603050405020304" pitchFamily="18" charset="0"/>
              </a:rPr>
              <a:t>Nếu</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&lt;R) </a:t>
            </a:r>
            <a:r>
              <a:rPr lang="en-US" sz="3600" dirty="0" err="1">
                <a:solidFill>
                  <a:schemeClr val="bg1"/>
                </a:solidFill>
                <a:latin typeface="Times New Roman" panose="02020603050405020304" pitchFamily="18" charset="0"/>
                <a:cs typeface="Times New Roman" panose="02020603050405020304" pitchFamily="18" charset="0"/>
              </a:rPr>
              <a:t>Phân</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hoạch</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dãy</a:t>
            </a:r>
            <a:r>
              <a:rPr lang="en-US" sz="3600" dirty="0">
                <a:solidFill>
                  <a:schemeClr val="bg1"/>
                </a:solidFill>
                <a:latin typeface="Times New Roman" panose="02020603050405020304" pitchFamily="18" charset="0"/>
                <a:cs typeface="Times New Roman" panose="02020603050405020304" pitchFamily="18" charset="0"/>
              </a:rPr>
              <a:t> </a:t>
            </a:r>
            <a:r>
              <a:rPr lang="en-US" sz="3600" dirty="0" err="1">
                <a:solidFill>
                  <a:schemeClr val="bg1"/>
                </a:solidFill>
                <a:latin typeface="Times New Roman" panose="02020603050405020304" pitchFamily="18" charset="0"/>
                <a:cs typeface="Times New Roman" panose="02020603050405020304" pitchFamily="18" charset="0"/>
              </a:rPr>
              <a:t>a</a:t>
            </a:r>
            <a:r>
              <a:rPr lang="en-US" sz="3600" baseline="-25000" dirty="0" err="1">
                <a:solidFill>
                  <a:schemeClr val="bg1"/>
                </a:solidFill>
                <a:latin typeface="Times New Roman" panose="02020603050405020304" pitchFamily="18" charset="0"/>
                <a:cs typeface="Times New Roman" panose="02020603050405020304" pitchFamily="18" charset="0"/>
              </a:rPr>
              <a:t>i</a:t>
            </a:r>
            <a:r>
              <a:rPr lang="en-US" sz="3600" dirty="0">
                <a:solidFill>
                  <a:schemeClr val="bg1"/>
                </a:solidFill>
                <a:latin typeface="Times New Roman" panose="02020603050405020304" pitchFamily="18" charset="0"/>
                <a:cs typeface="Times New Roman" panose="02020603050405020304" pitchFamily="18" charset="0"/>
              </a:rPr>
              <a:t> … </a:t>
            </a:r>
            <a:r>
              <a:rPr lang="en-US" sz="3600" dirty="0" err="1">
                <a:solidFill>
                  <a:schemeClr val="bg1"/>
                </a:solidFill>
                <a:latin typeface="Times New Roman" panose="02020603050405020304" pitchFamily="18" charset="0"/>
                <a:cs typeface="Times New Roman" panose="02020603050405020304" pitchFamily="18" charset="0"/>
              </a:rPr>
              <a:t>a</a:t>
            </a:r>
            <a:r>
              <a:rPr lang="en-US" sz="3600" baseline="-25000" dirty="0" err="1">
                <a:solidFill>
                  <a:schemeClr val="bg1"/>
                </a:solidFill>
                <a:latin typeface="Times New Roman" panose="02020603050405020304" pitchFamily="18" charset="0"/>
                <a:cs typeface="Times New Roman" panose="02020603050405020304" pitchFamily="18" charset="0"/>
              </a:rPr>
              <a:t>R</a:t>
            </a:r>
            <a:endParaRPr lang="en-US" sz="3600" baseline="-250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06E1ECB9-4C50-4306-9456-05D282273F55}" type="slidenum">
              <a:rPr lang="en-US" smtClean="0"/>
              <a:pPr>
                <a:defRPr/>
              </a:pPr>
              <a:t>101</a:t>
            </a:fld>
            <a:endParaRPr lang="en-US"/>
          </a:p>
        </p:txBody>
      </p:sp>
    </p:spTree>
    <p:extLst>
      <p:ext uri="{BB962C8B-B14F-4D97-AF65-F5344CB8AC3E}">
        <p14:creationId xmlns:p14="http://schemas.microsoft.com/office/powerpoint/2010/main" val="347390700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Content Placeholder 2"/>
          <p:cNvSpPr>
            <a:spLocks noGrp="1"/>
          </p:cNvSpPr>
          <p:nvPr>
            <p:ph idx="1"/>
          </p:nvPr>
        </p:nvSpPr>
        <p:spPr>
          <a:xfrm>
            <a:off x="1524000" y="517524"/>
            <a:ext cx="9144000" cy="6203951"/>
          </a:xfrm>
        </p:spPr>
        <p:txBody>
          <a:bodyPr>
            <a:normAutofit/>
          </a:bodyPr>
          <a:lstStyle/>
          <a:p>
            <a:pPr>
              <a:buFont typeface="Wingdings" pitchFamily="2" charset="2"/>
              <a:buNone/>
            </a:pPr>
            <a:r>
              <a:rPr lang="en-US" sz="2800" b="1" dirty="0">
                <a:solidFill>
                  <a:schemeClr val="bg1"/>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Giải</a:t>
            </a:r>
            <a:r>
              <a:rPr lang="en-US" sz="2800" b="1" dirty="0">
                <a:solidFill>
                  <a:srgbClr val="0070C0"/>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thuật</a:t>
            </a:r>
            <a:r>
              <a:rPr lang="en-US" sz="2800" b="1" dirty="0">
                <a:solidFill>
                  <a:srgbClr val="0070C0"/>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phân</a:t>
            </a:r>
            <a:r>
              <a:rPr lang="en-US" sz="2800" b="1" dirty="0">
                <a:solidFill>
                  <a:srgbClr val="0070C0"/>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hoạch</a:t>
            </a:r>
            <a:r>
              <a:rPr lang="en-US" sz="2800" b="1" dirty="0">
                <a:solidFill>
                  <a:srgbClr val="0070C0"/>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dãy</a:t>
            </a:r>
            <a:r>
              <a:rPr lang="en-US" sz="2800" b="1" dirty="0">
                <a:solidFill>
                  <a:srgbClr val="0070C0"/>
                </a:solidFill>
                <a:latin typeface="Times New Roman" panose="02020603050405020304" pitchFamily="18" charset="0"/>
                <a:cs typeface="Times New Roman" panose="02020603050405020304" pitchFamily="18" charset="0"/>
              </a:rPr>
              <a:t> </a:t>
            </a:r>
            <a:r>
              <a:rPr lang="en-US" b="1" dirty="0" err="1" smtClean="0">
                <a:solidFill>
                  <a:srgbClr val="0070C0"/>
                </a:solidFill>
                <a:latin typeface="Times New Roman" panose="02020603050405020304" pitchFamily="18" charset="0"/>
                <a:cs typeface="Times New Roman" panose="02020603050405020304" pitchFamily="18" charset="0"/>
              </a:rPr>
              <a:t>a</a:t>
            </a:r>
            <a:r>
              <a:rPr lang="en-US" b="1" baseline="-25000" dirty="0" err="1" smtClean="0">
                <a:solidFill>
                  <a:srgbClr val="0070C0"/>
                </a:solidFill>
                <a:latin typeface="Times New Roman" panose="02020603050405020304" pitchFamily="18" charset="0"/>
                <a:cs typeface="Times New Roman" panose="02020603050405020304" pitchFamily="18" charset="0"/>
              </a:rPr>
              <a:t>L</a:t>
            </a:r>
            <a:r>
              <a:rPr lang="en-US" b="1" dirty="0" smtClean="0">
                <a:solidFill>
                  <a:srgbClr val="0070C0"/>
                </a:solidFill>
                <a:latin typeface="Times New Roman" panose="02020603050405020304" pitchFamily="18" charset="0"/>
                <a:cs typeface="Times New Roman" panose="02020603050405020304" pitchFamily="18" charset="0"/>
              </a:rPr>
              <a:t>, a</a:t>
            </a:r>
            <a:r>
              <a:rPr lang="en-US" b="1" baseline="-25000" dirty="0" smtClean="0">
                <a:solidFill>
                  <a:srgbClr val="0070C0"/>
                </a:solidFill>
                <a:latin typeface="Times New Roman" panose="02020603050405020304" pitchFamily="18" charset="0"/>
                <a:cs typeface="Times New Roman" panose="02020603050405020304" pitchFamily="18" charset="0"/>
              </a:rPr>
              <a:t>L+1</a:t>
            </a:r>
            <a:r>
              <a:rPr lang="en-US" b="1" dirty="0" smtClean="0">
                <a:solidFill>
                  <a:srgbClr val="0070C0"/>
                </a:solidFill>
                <a:latin typeface="Times New Roman" panose="02020603050405020304" pitchFamily="18" charset="0"/>
                <a:cs typeface="Times New Roman" panose="02020603050405020304" pitchFamily="18" charset="0"/>
              </a:rPr>
              <a:t>, … </a:t>
            </a:r>
            <a:r>
              <a:rPr lang="en-US" b="1" dirty="0" err="1" smtClean="0">
                <a:solidFill>
                  <a:srgbClr val="0070C0"/>
                </a:solidFill>
                <a:latin typeface="Times New Roman" panose="02020603050405020304" pitchFamily="18" charset="0"/>
                <a:cs typeface="Times New Roman" panose="02020603050405020304" pitchFamily="18" charset="0"/>
              </a:rPr>
              <a:t>a</a:t>
            </a:r>
            <a:r>
              <a:rPr lang="en-US" b="1" baseline="-25000" dirty="0" err="1" smtClean="0">
                <a:solidFill>
                  <a:srgbClr val="0070C0"/>
                </a:solidFill>
                <a:latin typeface="Times New Roman" panose="02020603050405020304" pitchFamily="18" charset="0"/>
                <a:cs typeface="Times New Roman" panose="02020603050405020304" pitchFamily="18" charset="0"/>
              </a:rPr>
              <a:t>R</a:t>
            </a:r>
            <a:r>
              <a:rPr lang="en-US" b="1" baseline="-25000" dirty="0" smtClean="0">
                <a:solidFill>
                  <a:srgbClr val="0070C0"/>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thành</a:t>
            </a:r>
            <a:r>
              <a:rPr lang="en-US" sz="2800" b="1" dirty="0">
                <a:solidFill>
                  <a:srgbClr val="0070C0"/>
                </a:solidFill>
                <a:latin typeface="Times New Roman" panose="02020603050405020304" pitchFamily="18" charset="0"/>
                <a:cs typeface="Times New Roman" panose="02020603050405020304" pitchFamily="18" charset="0"/>
              </a:rPr>
              <a:t> 2 </a:t>
            </a:r>
            <a:r>
              <a:rPr lang="en-US" sz="2800" b="1" dirty="0" err="1">
                <a:solidFill>
                  <a:srgbClr val="0070C0"/>
                </a:solidFill>
                <a:latin typeface="Times New Roman" panose="02020603050405020304" pitchFamily="18" charset="0"/>
                <a:cs typeface="Times New Roman" panose="02020603050405020304" pitchFamily="18" charset="0"/>
              </a:rPr>
              <a:t>dãy</a:t>
            </a:r>
            <a:r>
              <a:rPr lang="en-US" sz="2800" b="1" dirty="0">
                <a:solidFill>
                  <a:srgbClr val="0070C0"/>
                </a:solidFill>
                <a:latin typeface="Times New Roman" panose="02020603050405020304" pitchFamily="18" charset="0"/>
                <a:cs typeface="Times New Roman" panose="02020603050405020304" pitchFamily="18" charset="0"/>
              </a:rPr>
              <a:t> con</a:t>
            </a:r>
            <a:endParaRPr lang="en-US" b="1" baseline="-25000" dirty="0" smtClean="0">
              <a:solidFill>
                <a:srgbClr val="0070C0"/>
              </a:solidFill>
              <a:latin typeface="Times New Roman" panose="02020603050405020304" pitchFamily="18" charset="0"/>
              <a:cs typeface="Times New Roman" panose="02020603050405020304" pitchFamily="18" charset="0"/>
            </a:endParaRPr>
          </a:p>
          <a:p>
            <a:pPr>
              <a:buFont typeface="Wingdings" pitchFamily="2" charset="2"/>
              <a:buNone/>
            </a:pPr>
            <a:r>
              <a:rPr lang="en-US" sz="2800" dirty="0">
                <a:solidFill>
                  <a:schemeClr val="bg1"/>
                </a:solidFill>
                <a:latin typeface="Times New Roman" panose="02020603050405020304" pitchFamily="18" charset="0"/>
                <a:cs typeface="Times New Roman" panose="02020603050405020304" pitchFamily="18" charset="0"/>
              </a:rPr>
              <a:t>  	</a:t>
            </a:r>
            <a:r>
              <a:rPr lang="en-US" b="1" u="sng" dirty="0" err="1" smtClean="0">
                <a:solidFill>
                  <a:schemeClr val="bg1"/>
                </a:solidFill>
                <a:latin typeface="Times New Roman" panose="02020603050405020304" pitchFamily="18" charset="0"/>
                <a:cs typeface="Times New Roman" panose="02020603050405020304" pitchFamily="18" charset="0"/>
              </a:rPr>
              <a:t>Bước</a:t>
            </a:r>
            <a:r>
              <a:rPr lang="en-US" b="1" u="sng" dirty="0" smtClean="0">
                <a:solidFill>
                  <a:schemeClr val="bg1"/>
                </a:solidFill>
                <a:latin typeface="Times New Roman" panose="02020603050405020304" pitchFamily="18" charset="0"/>
                <a:cs typeface="Times New Roman" panose="02020603050405020304" pitchFamily="18" charset="0"/>
              </a:rPr>
              <a:t> 1.1: </a:t>
            </a:r>
          </a:p>
          <a:p>
            <a:pPr>
              <a:buFont typeface="Wingdings" pitchFamily="2" charset="2"/>
              <a:buNone/>
            </a:pP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Chọn</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tùy</a:t>
            </a:r>
            <a:r>
              <a:rPr lang="en-US" dirty="0" smtClean="0">
                <a:solidFill>
                  <a:schemeClr val="bg1"/>
                </a:solidFill>
                <a:latin typeface="Times New Roman" panose="02020603050405020304" pitchFamily="18" charset="0"/>
                <a:cs typeface="Times New Roman" panose="02020603050405020304" pitchFamily="18" charset="0"/>
              </a:rPr>
              <a:t> ý </a:t>
            </a:r>
            <a:r>
              <a:rPr lang="en-US" dirty="0" err="1" smtClean="0">
                <a:solidFill>
                  <a:schemeClr val="bg1"/>
                </a:solidFill>
                <a:latin typeface="Times New Roman" panose="02020603050405020304" pitchFamily="18" charset="0"/>
                <a:cs typeface="Times New Roman" panose="02020603050405020304" pitchFamily="18" charset="0"/>
              </a:rPr>
              <a:t>một</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phần</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tử</a:t>
            </a:r>
            <a:r>
              <a:rPr lang="en-US" dirty="0" smtClean="0">
                <a:solidFill>
                  <a:schemeClr val="bg1"/>
                </a:solidFill>
                <a:latin typeface="Times New Roman" panose="02020603050405020304" pitchFamily="18" charset="0"/>
                <a:cs typeface="Times New Roman" panose="02020603050405020304" pitchFamily="18" charset="0"/>
              </a:rPr>
              <a:t> a[k] </a:t>
            </a:r>
            <a:r>
              <a:rPr lang="en-US" dirty="0" err="1" smtClean="0">
                <a:solidFill>
                  <a:schemeClr val="bg1"/>
                </a:solidFill>
                <a:latin typeface="Times New Roman" panose="02020603050405020304" pitchFamily="18" charset="0"/>
                <a:cs typeface="Times New Roman" panose="02020603050405020304" pitchFamily="18" charset="0"/>
              </a:rPr>
              <a:t>trong</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dãy</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L≤k≤R</a:t>
            </a:r>
            <a:endParaRPr lang="en-US" dirty="0" smtClean="0">
              <a:solidFill>
                <a:schemeClr val="bg1"/>
              </a:solidFill>
              <a:latin typeface="Times New Roman" panose="02020603050405020304" pitchFamily="18" charset="0"/>
              <a:cs typeface="Times New Roman" panose="02020603050405020304" pitchFamily="18" charset="0"/>
            </a:endParaRPr>
          </a:p>
          <a:p>
            <a:pPr>
              <a:buFont typeface="Wingdings" pitchFamily="2" charset="2"/>
              <a:buNone/>
            </a:pPr>
            <a:r>
              <a:rPr lang="en-US" dirty="0" smtClean="0">
                <a:solidFill>
                  <a:schemeClr val="bg1"/>
                </a:solidFill>
                <a:latin typeface="Times New Roman" panose="02020603050405020304" pitchFamily="18" charset="0"/>
                <a:cs typeface="Times New Roman" panose="02020603050405020304" pitchFamily="18" charset="0"/>
              </a:rPr>
              <a:t>		x=a[k], </a:t>
            </a:r>
            <a:r>
              <a:rPr lang="en-US" dirty="0" err="1" smtClean="0">
                <a:solidFill>
                  <a:schemeClr val="bg1"/>
                </a:solidFill>
                <a:latin typeface="Times New Roman" panose="02020603050405020304" pitchFamily="18" charset="0"/>
                <a:cs typeface="Times New Roman" panose="02020603050405020304" pitchFamily="18" charset="0"/>
              </a:rPr>
              <a:t>i</a:t>
            </a:r>
            <a:r>
              <a:rPr lang="en-US" dirty="0" smtClean="0">
                <a:solidFill>
                  <a:schemeClr val="bg1"/>
                </a:solidFill>
                <a:latin typeface="Times New Roman" panose="02020603050405020304" pitchFamily="18" charset="0"/>
                <a:cs typeface="Times New Roman" panose="02020603050405020304" pitchFamily="18" charset="0"/>
              </a:rPr>
              <a:t>=L, j=R</a:t>
            </a:r>
          </a:p>
          <a:p>
            <a:pPr>
              <a:buFont typeface="Wingdings" pitchFamily="2" charset="2"/>
              <a:buNone/>
            </a:pPr>
            <a:r>
              <a:rPr lang="en-US" dirty="0" smtClean="0">
                <a:solidFill>
                  <a:schemeClr val="bg1"/>
                </a:solidFill>
                <a:latin typeface="Times New Roman" panose="02020603050405020304" pitchFamily="18" charset="0"/>
                <a:cs typeface="Times New Roman" panose="02020603050405020304" pitchFamily="18" charset="0"/>
              </a:rPr>
              <a:t>	</a:t>
            </a:r>
            <a:r>
              <a:rPr lang="en-US" b="1" u="sng" dirty="0" err="1" smtClean="0">
                <a:solidFill>
                  <a:schemeClr val="bg1"/>
                </a:solidFill>
                <a:latin typeface="Times New Roman" panose="02020603050405020304" pitchFamily="18" charset="0"/>
                <a:cs typeface="Times New Roman" panose="02020603050405020304" pitchFamily="18" charset="0"/>
              </a:rPr>
              <a:t>Bước</a:t>
            </a:r>
            <a:r>
              <a:rPr lang="en-US" b="1" u="sng" dirty="0" smtClean="0">
                <a:solidFill>
                  <a:schemeClr val="bg1"/>
                </a:solidFill>
                <a:latin typeface="Times New Roman" panose="02020603050405020304" pitchFamily="18" charset="0"/>
                <a:cs typeface="Times New Roman" panose="02020603050405020304" pitchFamily="18" charset="0"/>
              </a:rPr>
              <a:t> 1.2: </a:t>
            </a:r>
          </a:p>
          <a:p>
            <a:pPr>
              <a:buFont typeface="Wingdings" pitchFamily="2" charset="2"/>
              <a:buNone/>
            </a:pP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Phát</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hiện</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và</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hiệu</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chỉnh</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cặp</a:t>
            </a:r>
            <a:r>
              <a:rPr lang="en-US" dirty="0" smtClean="0">
                <a:solidFill>
                  <a:schemeClr val="bg1"/>
                </a:solidFill>
                <a:latin typeface="Times New Roman" panose="02020603050405020304" pitchFamily="18" charset="0"/>
                <a:cs typeface="Times New Roman" panose="02020603050405020304" pitchFamily="18" charset="0"/>
              </a:rPr>
              <a:t> a[</a:t>
            </a:r>
            <a:r>
              <a:rPr lang="en-US" dirty="0" err="1" smtClean="0">
                <a:solidFill>
                  <a:schemeClr val="bg1"/>
                </a:solidFill>
                <a:latin typeface="Times New Roman" panose="02020603050405020304" pitchFamily="18" charset="0"/>
                <a:cs typeface="Times New Roman" panose="02020603050405020304" pitchFamily="18" charset="0"/>
              </a:rPr>
              <a:t>i</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và</a:t>
            </a:r>
            <a:r>
              <a:rPr lang="en-US" dirty="0" smtClean="0">
                <a:solidFill>
                  <a:schemeClr val="bg1"/>
                </a:solidFill>
                <a:latin typeface="Times New Roman" panose="02020603050405020304" pitchFamily="18" charset="0"/>
                <a:cs typeface="Times New Roman" panose="02020603050405020304" pitchFamily="18" charset="0"/>
              </a:rPr>
              <a:t> a[j] </a:t>
            </a:r>
            <a:r>
              <a:rPr lang="en-US" dirty="0" err="1" smtClean="0">
                <a:solidFill>
                  <a:schemeClr val="bg1"/>
                </a:solidFill>
                <a:latin typeface="Times New Roman" panose="02020603050405020304" pitchFamily="18" charset="0"/>
                <a:cs typeface="Times New Roman" panose="02020603050405020304" pitchFamily="18" charset="0"/>
              </a:rPr>
              <a:t>nằm</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sai</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chỗ</a:t>
            </a:r>
            <a:r>
              <a:rPr lang="en-US" dirty="0" smtClean="0">
                <a:solidFill>
                  <a:schemeClr val="bg1"/>
                </a:solidFill>
                <a:latin typeface="Times New Roman" panose="02020603050405020304" pitchFamily="18" charset="0"/>
                <a:cs typeface="Times New Roman" panose="02020603050405020304" pitchFamily="18" charset="0"/>
              </a:rPr>
              <a:t>:</a:t>
            </a:r>
          </a:p>
          <a:p>
            <a:pPr>
              <a:buFont typeface="Wingdings" pitchFamily="2" charset="2"/>
              <a:buNone/>
            </a:pP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Bước</a:t>
            </a:r>
            <a:r>
              <a:rPr lang="en-US" dirty="0" smtClean="0">
                <a:solidFill>
                  <a:schemeClr val="bg1"/>
                </a:solidFill>
                <a:latin typeface="Times New Roman" panose="02020603050405020304" pitchFamily="18" charset="0"/>
                <a:cs typeface="Times New Roman" panose="02020603050405020304" pitchFamily="18" charset="0"/>
              </a:rPr>
              <a:t> 1.2a: </a:t>
            </a:r>
            <a:r>
              <a:rPr lang="en-US" dirty="0" err="1" smtClean="0">
                <a:solidFill>
                  <a:schemeClr val="bg1"/>
                </a:solidFill>
                <a:latin typeface="Times New Roman" panose="02020603050405020304" pitchFamily="18" charset="0"/>
                <a:cs typeface="Times New Roman" panose="02020603050405020304" pitchFamily="18" charset="0"/>
              </a:rPr>
              <a:t>Trong</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khi</a:t>
            </a:r>
            <a:r>
              <a:rPr lang="en-US" dirty="0" smtClean="0">
                <a:solidFill>
                  <a:schemeClr val="bg1"/>
                </a:solidFill>
                <a:latin typeface="Times New Roman" panose="02020603050405020304" pitchFamily="18" charset="0"/>
                <a:cs typeface="Times New Roman" panose="02020603050405020304" pitchFamily="18" charset="0"/>
              </a:rPr>
              <a:t> (a[</a:t>
            </a:r>
            <a:r>
              <a:rPr lang="en-US" dirty="0" err="1" smtClean="0">
                <a:solidFill>
                  <a:schemeClr val="bg1"/>
                </a:solidFill>
                <a:latin typeface="Times New Roman" panose="02020603050405020304" pitchFamily="18" charset="0"/>
                <a:cs typeface="Times New Roman" panose="02020603050405020304" pitchFamily="18" charset="0"/>
              </a:rPr>
              <a:t>i</a:t>
            </a:r>
            <a:r>
              <a:rPr lang="en-US" dirty="0" smtClean="0">
                <a:solidFill>
                  <a:schemeClr val="bg1"/>
                </a:solidFill>
                <a:latin typeface="Times New Roman" panose="02020603050405020304" pitchFamily="18" charset="0"/>
                <a:cs typeface="Times New Roman" panose="02020603050405020304" pitchFamily="18" charset="0"/>
              </a:rPr>
              <a:t>]&lt;x) </a:t>
            </a:r>
            <a:r>
              <a:rPr lang="en-US" dirty="0" err="1" smtClean="0">
                <a:solidFill>
                  <a:schemeClr val="bg1"/>
                </a:solidFill>
                <a:latin typeface="Times New Roman" panose="02020603050405020304" pitchFamily="18" charset="0"/>
                <a:cs typeface="Times New Roman" panose="02020603050405020304" pitchFamily="18" charset="0"/>
              </a:rPr>
              <a:t>i</a:t>
            </a:r>
            <a:r>
              <a:rPr lang="en-US" dirty="0" smtClean="0">
                <a:solidFill>
                  <a:schemeClr val="bg1"/>
                </a:solidFill>
                <a:latin typeface="Times New Roman" panose="02020603050405020304" pitchFamily="18" charset="0"/>
                <a:cs typeface="Times New Roman" panose="02020603050405020304" pitchFamily="18" charset="0"/>
              </a:rPr>
              <a:t>++</a:t>
            </a:r>
          </a:p>
          <a:p>
            <a:pPr>
              <a:buFont typeface="Wingdings" pitchFamily="2" charset="2"/>
              <a:buNone/>
            </a:pP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Bước</a:t>
            </a:r>
            <a:r>
              <a:rPr lang="en-US" dirty="0" smtClean="0">
                <a:solidFill>
                  <a:schemeClr val="bg1"/>
                </a:solidFill>
                <a:latin typeface="Times New Roman" panose="02020603050405020304" pitchFamily="18" charset="0"/>
                <a:cs typeface="Times New Roman" panose="02020603050405020304" pitchFamily="18" charset="0"/>
              </a:rPr>
              <a:t> 1.2b: </a:t>
            </a:r>
            <a:r>
              <a:rPr lang="en-US" dirty="0" err="1" smtClean="0">
                <a:solidFill>
                  <a:schemeClr val="bg1"/>
                </a:solidFill>
                <a:latin typeface="Times New Roman" panose="02020603050405020304" pitchFamily="18" charset="0"/>
                <a:cs typeface="Times New Roman" panose="02020603050405020304" pitchFamily="18" charset="0"/>
              </a:rPr>
              <a:t>Trong</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khi</a:t>
            </a:r>
            <a:r>
              <a:rPr lang="en-US" dirty="0" smtClean="0">
                <a:solidFill>
                  <a:schemeClr val="bg1"/>
                </a:solidFill>
                <a:latin typeface="Times New Roman" panose="02020603050405020304" pitchFamily="18" charset="0"/>
                <a:cs typeface="Times New Roman" panose="02020603050405020304" pitchFamily="18" charset="0"/>
              </a:rPr>
              <a:t> (a[j]&gt;x) j--</a:t>
            </a:r>
          </a:p>
          <a:p>
            <a:pPr>
              <a:buFont typeface="Wingdings" pitchFamily="2" charset="2"/>
              <a:buNone/>
            </a:pP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Bước</a:t>
            </a:r>
            <a:r>
              <a:rPr lang="en-US" dirty="0" smtClean="0">
                <a:solidFill>
                  <a:schemeClr val="bg1"/>
                </a:solidFill>
                <a:latin typeface="Times New Roman" panose="02020603050405020304" pitchFamily="18" charset="0"/>
                <a:cs typeface="Times New Roman" panose="02020603050405020304" pitchFamily="18" charset="0"/>
              </a:rPr>
              <a:t> 1.2c: </a:t>
            </a:r>
            <a:r>
              <a:rPr lang="en-US" dirty="0" err="1" smtClean="0">
                <a:solidFill>
                  <a:schemeClr val="bg1"/>
                </a:solidFill>
                <a:latin typeface="Times New Roman" panose="02020603050405020304" pitchFamily="18" charset="0"/>
                <a:cs typeface="Times New Roman" panose="02020603050405020304" pitchFamily="18" charset="0"/>
              </a:rPr>
              <a:t>Nếu</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i≤j</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Hoán</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vị</a:t>
            </a:r>
            <a:r>
              <a:rPr lang="en-US" dirty="0" smtClean="0">
                <a:solidFill>
                  <a:schemeClr val="bg1"/>
                </a:solidFill>
                <a:latin typeface="Times New Roman" panose="02020603050405020304" pitchFamily="18" charset="0"/>
                <a:cs typeface="Times New Roman" panose="02020603050405020304" pitchFamily="18" charset="0"/>
              </a:rPr>
              <a:t> a[</a:t>
            </a:r>
            <a:r>
              <a:rPr lang="en-US" dirty="0" err="1" smtClean="0">
                <a:solidFill>
                  <a:schemeClr val="bg1"/>
                </a:solidFill>
                <a:latin typeface="Times New Roman" panose="02020603050405020304" pitchFamily="18" charset="0"/>
                <a:cs typeface="Times New Roman" panose="02020603050405020304" pitchFamily="18" charset="0"/>
              </a:rPr>
              <a:t>i</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và</a:t>
            </a:r>
            <a:r>
              <a:rPr lang="en-US" dirty="0" smtClean="0">
                <a:solidFill>
                  <a:schemeClr val="bg1"/>
                </a:solidFill>
                <a:latin typeface="Times New Roman" panose="02020603050405020304" pitchFamily="18" charset="0"/>
                <a:cs typeface="Times New Roman" panose="02020603050405020304" pitchFamily="18" charset="0"/>
              </a:rPr>
              <a:t> a[j]; </a:t>
            </a:r>
            <a:r>
              <a:rPr lang="en-US" dirty="0" err="1" smtClean="0">
                <a:solidFill>
                  <a:schemeClr val="bg1"/>
                </a:solidFill>
                <a:latin typeface="Times New Roman" panose="02020603050405020304" pitchFamily="18" charset="0"/>
                <a:cs typeface="Times New Roman" panose="02020603050405020304" pitchFamily="18" charset="0"/>
              </a:rPr>
              <a:t>i</a:t>
            </a:r>
            <a:r>
              <a:rPr lang="en-US" dirty="0" smtClean="0">
                <a:solidFill>
                  <a:schemeClr val="bg1"/>
                </a:solidFill>
                <a:latin typeface="Times New Roman" panose="02020603050405020304" pitchFamily="18" charset="0"/>
                <a:cs typeface="Times New Roman" panose="02020603050405020304" pitchFamily="18" charset="0"/>
              </a:rPr>
              <a:t>++, j--</a:t>
            </a:r>
          </a:p>
          <a:p>
            <a:pPr>
              <a:buFont typeface="Wingdings" pitchFamily="2" charset="2"/>
              <a:buNone/>
            </a:pPr>
            <a:r>
              <a:rPr lang="en-US" dirty="0" smtClean="0">
                <a:solidFill>
                  <a:schemeClr val="bg1"/>
                </a:solidFill>
                <a:latin typeface="Times New Roman" panose="02020603050405020304" pitchFamily="18" charset="0"/>
                <a:cs typeface="Times New Roman" panose="02020603050405020304" pitchFamily="18" charset="0"/>
              </a:rPr>
              <a:t>	</a:t>
            </a:r>
            <a:r>
              <a:rPr lang="en-US" b="1" u="sng" dirty="0" err="1" smtClean="0">
                <a:solidFill>
                  <a:schemeClr val="bg1"/>
                </a:solidFill>
                <a:latin typeface="Times New Roman" panose="02020603050405020304" pitchFamily="18" charset="0"/>
                <a:cs typeface="Times New Roman" panose="02020603050405020304" pitchFamily="18" charset="0"/>
              </a:rPr>
              <a:t>Bước</a:t>
            </a:r>
            <a:r>
              <a:rPr lang="en-US" b="1" u="sng" dirty="0" smtClean="0">
                <a:solidFill>
                  <a:schemeClr val="bg1"/>
                </a:solidFill>
                <a:latin typeface="Times New Roman" panose="02020603050405020304" pitchFamily="18" charset="0"/>
                <a:cs typeface="Times New Roman" panose="02020603050405020304" pitchFamily="18" charset="0"/>
              </a:rPr>
              <a:t> 1.3:</a:t>
            </a:r>
          </a:p>
          <a:p>
            <a:pPr>
              <a:buFont typeface="Wingdings" pitchFamily="2" charset="2"/>
              <a:buNone/>
            </a:pP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Nếu</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i</a:t>
            </a:r>
            <a:r>
              <a:rPr lang="en-US" dirty="0" smtClean="0">
                <a:solidFill>
                  <a:schemeClr val="bg1"/>
                </a:solidFill>
                <a:latin typeface="Times New Roman" panose="02020603050405020304" pitchFamily="18" charset="0"/>
                <a:cs typeface="Times New Roman" panose="02020603050405020304" pitchFamily="18" charset="0"/>
              </a:rPr>
              <a:t>&lt;j: </a:t>
            </a:r>
            <a:r>
              <a:rPr lang="en-US" dirty="0" err="1" smtClean="0">
                <a:solidFill>
                  <a:schemeClr val="bg1"/>
                </a:solidFill>
                <a:latin typeface="Times New Roman" panose="02020603050405020304" pitchFamily="18" charset="0"/>
                <a:cs typeface="Times New Roman" panose="02020603050405020304" pitchFamily="18" charset="0"/>
              </a:rPr>
              <a:t>Lặp</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lại</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bước</a:t>
            </a:r>
            <a:r>
              <a:rPr lang="en-US" dirty="0" smtClean="0">
                <a:solidFill>
                  <a:schemeClr val="bg1"/>
                </a:solidFill>
                <a:latin typeface="Times New Roman" panose="02020603050405020304" pitchFamily="18" charset="0"/>
                <a:cs typeface="Times New Roman" panose="02020603050405020304" pitchFamily="18" charset="0"/>
              </a:rPr>
              <a:t> 1.2</a:t>
            </a:r>
          </a:p>
          <a:p>
            <a:pPr>
              <a:buFont typeface="Wingdings" pitchFamily="2" charset="2"/>
              <a:buNone/>
            </a:pP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Ngược</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lại</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Dừng</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phân</a:t>
            </a:r>
            <a:r>
              <a:rPr lang="en-US" dirty="0" smtClean="0">
                <a:solidFill>
                  <a:schemeClr val="bg1"/>
                </a:solidFill>
                <a:latin typeface="Times New Roman" panose="02020603050405020304" pitchFamily="18" charset="0"/>
                <a:cs typeface="Times New Roman" panose="02020603050405020304" pitchFamily="18" charset="0"/>
              </a:rPr>
              <a:t> </a:t>
            </a:r>
            <a:r>
              <a:rPr lang="en-US" dirty="0" err="1" smtClean="0">
                <a:solidFill>
                  <a:schemeClr val="bg1"/>
                </a:solidFill>
                <a:latin typeface="Times New Roman" panose="02020603050405020304" pitchFamily="18" charset="0"/>
                <a:cs typeface="Times New Roman" panose="02020603050405020304" pitchFamily="18" charset="0"/>
              </a:rPr>
              <a:t>hoạch</a:t>
            </a:r>
            <a:endParaRPr lang="en-US"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67430ADA-71C4-4BA7-BC31-3A2761959A7C}" type="slidenum">
              <a:rPr lang="en-US" smtClean="0"/>
              <a:pPr>
                <a:defRPr/>
              </a:pPr>
              <a:t>102</a:t>
            </a:fld>
            <a:endParaRPr lang="en-US"/>
          </a:p>
        </p:txBody>
      </p:sp>
    </p:spTree>
    <p:extLst>
      <p:ext uri="{BB962C8B-B14F-4D97-AF65-F5344CB8AC3E}">
        <p14:creationId xmlns:p14="http://schemas.microsoft.com/office/powerpoint/2010/main" val="77217436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1295400"/>
            <a:ext cx="9677400" cy="3124200"/>
          </a:xfrm>
        </p:spPr>
        <p:txBody>
          <a:bodyPr>
            <a:normAutofit/>
          </a:bodyPr>
          <a:lstStyle/>
          <a:p>
            <a:pPr marL="0" indent="0" algn="just">
              <a:buNone/>
            </a:pPr>
            <a:r>
              <a:rPr lang="en-US" sz="4400" dirty="0" smtClean="0">
                <a:solidFill>
                  <a:schemeClr val="bg1"/>
                </a:solidFill>
                <a:latin typeface="Times New Roman" panose="02020603050405020304" pitchFamily="18" charset="0"/>
                <a:cs typeface="Times New Roman" panose="02020603050405020304" pitchFamily="18" charset="0"/>
              </a:rPr>
              <a:t>VD: 3; 5; 8; 10; 31; 4; 81; 7; 15; 17; 1</a:t>
            </a:r>
            <a:r>
              <a:rPr lang="en-US" sz="4400" smtClean="0">
                <a:solidFill>
                  <a:schemeClr val="bg1"/>
                </a:solidFill>
                <a:latin typeface="Times New Roman" panose="02020603050405020304" pitchFamily="18" charset="0"/>
                <a:cs typeface="Times New Roman" panose="02020603050405020304" pitchFamily="18" charset="0"/>
              </a:rPr>
              <a:t>. </a:t>
            </a:r>
          </a:p>
          <a:p>
            <a:pPr marL="0" indent="0" algn="just">
              <a:buNone/>
            </a:pPr>
            <a:r>
              <a:rPr lang="en-US" sz="4400" smtClean="0">
                <a:solidFill>
                  <a:schemeClr val="bg1"/>
                </a:solidFill>
                <a:latin typeface="Times New Roman" panose="02020603050405020304" pitchFamily="18" charset="0"/>
                <a:cs typeface="Times New Roman" panose="02020603050405020304" pitchFamily="18" charset="0"/>
              </a:rPr>
              <a:t>Giả sử </a:t>
            </a:r>
            <a:r>
              <a:rPr lang="en-US" sz="4400" dirty="0" smtClean="0">
                <a:solidFill>
                  <a:schemeClr val="bg1"/>
                </a:solidFill>
                <a:latin typeface="Times New Roman" panose="02020603050405020304" pitchFamily="18" charset="0"/>
                <a:cs typeface="Times New Roman" panose="02020603050405020304" pitchFamily="18" charset="0"/>
              </a:rPr>
              <a:t>x = 10 </a:t>
            </a:r>
            <a:r>
              <a:rPr lang="en-US" sz="4400" dirty="0" err="1" smtClean="0">
                <a:solidFill>
                  <a:schemeClr val="bg1"/>
                </a:solidFill>
                <a:latin typeface="Times New Roman" panose="02020603050405020304" pitchFamily="18" charset="0"/>
                <a:cs typeface="Times New Roman" panose="02020603050405020304" pitchFamily="18" charset="0"/>
              </a:rPr>
              <a:t>thì</a:t>
            </a:r>
            <a:r>
              <a:rPr lang="en-US" sz="4400" dirty="0" smtClean="0">
                <a:solidFill>
                  <a:schemeClr val="bg1"/>
                </a:solidFill>
                <a:latin typeface="Times New Roman" panose="02020603050405020304" pitchFamily="18" charset="0"/>
                <a:cs typeface="Times New Roman" panose="02020603050405020304" pitchFamily="18" charset="0"/>
              </a:rPr>
              <a:t> </a:t>
            </a:r>
            <a:r>
              <a:rPr lang="en-US" sz="4400" dirty="0" err="1" smtClean="0">
                <a:solidFill>
                  <a:schemeClr val="bg1"/>
                </a:solidFill>
                <a:latin typeface="Times New Roman" panose="02020603050405020304" pitchFamily="18" charset="0"/>
                <a:cs typeface="Times New Roman" panose="02020603050405020304" pitchFamily="18" charset="0"/>
              </a:rPr>
              <a:t>sẽ</a:t>
            </a:r>
            <a:r>
              <a:rPr lang="en-US" sz="4400" dirty="0" smtClean="0">
                <a:solidFill>
                  <a:schemeClr val="bg1"/>
                </a:solidFill>
                <a:latin typeface="Times New Roman" panose="02020603050405020304" pitchFamily="18" charset="0"/>
                <a:cs typeface="Times New Roman" panose="02020603050405020304" pitchFamily="18" charset="0"/>
              </a:rPr>
              <a:t> </a:t>
            </a:r>
            <a:r>
              <a:rPr lang="en-US" sz="4400" dirty="0" err="1" smtClean="0">
                <a:solidFill>
                  <a:schemeClr val="bg1"/>
                </a:solidFill>
                <a:latin typeface="Times New Roman" panose="02020603050405020304" pitchFamily="18" charset="0"/>
                <a:cs typeface="Times New Roman" panose="02020603050405020304" pitchFamily="18" charset="0"/>
              </a:rPr>
              <a:t>có</a:t>
            </a:r>
            <a:r>
              <a:rPr lang="en-US" sz="4400" dirty="0" smtClean="0">
                <a:solidFill>
                  <a:schemeClr val="bg1"/>
                </a:solidFill>
                <a:latin typeface="Times New Roman" panose="02020603050405020304" pitchFamily="18" charset="0"/>
                <a:cs typeface="Times New Roman" panose="02020603050405020304" pitchFamily="18" charset="0"/>
              </a:rPr>
              <a:t> 2 </a:t>
            </a:r>
            <a:r>
              <a:rPr lang="en-US" sz="4400" dirty="0" err="1" smtClean="0">
                <a:solidFill>
                  <a:schemeClr val="bg1"/>
                </a:solidFill>
                <a:latin typeface="Times New Roman" panose="02020603050405020304" pitchFamily="18" charset="0"/>
                <a:cs typeface="Times New Roman" panose="02020603050405020304" pitchFamily="18" charset="0"/>
              </a:rPr>
              <a:t>phần</a:t>
            </a:r>
            <a:r>
              <a:rPr lang="en-US" sz="4400" dirty="0" smtClean="0">
                <a:solidFill>
                  <a:schemeClr val="bg1"/>
                </a:solidFill>
                <a:latin typeface="Times New Roman" panose="02020603050405020304" pitchFamily="18" charset="0"/>
                <a:cs typeface="Times New Roman" panose="02020603050405020304" pitchFamily="18" charset="0"/>
              </a:rPr>
              <a:t> </a:t>
            </a:r>
            <a:r>
              <a:rPr lang="en-US" sz="4400" dirty="0" err="1" smtClean="0">
                <a:solidFill>
                  <a:schemeClr val="bg1"/>
                </a:solidFill>
                <a:latin typeface="Times New Roman" panose="02020603050405020304" pitchFamily="18" charset="0"/>
                <a:cs typeface="Times New Roman" panose="02020603050405020304" pitchFamily="18" charset="0"/>
              </a:rPr>
              <a:t>như</a:t>
            </a:r>
            <a:r>
              <a:rPr lang="en-US" sz="4400" dirty="0" smtClean="0">
                <a:solidFill>
                  <a:schemeClr val="bg1"/>
                </a:solidFill>
                <a:latin typeface="Times New Roman" panose="02020603050405020304" pitchFamily="18" charset="0"/>
                <a:cs typeface="Times New Roman" panose="02020603050405020304" pitchFamily="18" charset="0"/>
              </a:rPr>
              <a:t> </a:t>
            </a:r>
            <a:r>
              <a:rPr lang="en-US" sz="4400" dirty="0" err="1" smtClean="0">
                <a:solidFill>
                  <a:schemeClr val="bg1"/>
                </a:solidFill>
                <a:latin typeface="Times New Roman" panose="02020603050405020304" pitchFamily="18" charset="0"/>
                <a:cs typeface="Times New Roman" panose="02020603050405020304" pitchFamily="18" charset="0"/>
              </a:rPr>
              <a:t>sau</a:t>
            </a:r>
            <a:r>
              <a:rPr lang="en-US" sz="4400" dirty="0" smtClean="0">
                <a:solidFill>
                  <a:schemeClr val="bg1"/>
                </a:solidFill>
                <a:latin typeface="Times New Roman" panose="02020603050405020304" pitchFamily="18" charset="0"/>
                <a:cs typeface="Times New Roman" panose="02020603050405020304" pitchFamily="18" charset="0"/>
              </a:rPr>
              <a:t>:</a:t>
            </a:r>
          </a:p>
          <a:p>
            <a:pPr marL="341313" indent="-341313">
              <a:buFont typeface="Wingdings" panose="05000000000000000000" pitchFamily="2" charset="2"/>
              <a:buChar char="§"/>
            </a:pPr>
            <a:r>
              <a:rPr lang="en-US" sz="4400" dirty="0" err="1" smtClean="0">
                <a:solidFill>
                  <a:schemeClr val="bg1"/>
                </a:solidFill>
                <a:latin typeface="Times New Roman" panose="02020603050405020304" pitchFamily="18" charset="0"/>
                <a:cs typeface="Times New Roman" panose="02020603050405020304" pitchFamily="18" charset="0"/>
              </a:rPr>
              <a:t>Phần</a:t>
            </a:r>
            <a:r>
              <a:rPr lang="en-US" sz="4400" dirty="0" smtClean="0">
                <a:solidFill>
                  <a:schemeClr val="bg1"/>
                </a:solidFill>
                <a:latin typeface="Times New Roman" panose="02020603050405020304" pitchFamily="18" charset="0"/>
                <a:cs typeface="Times New Roman" panose="02020603050405020304" pitchFamily="18" charset="0"/>
              </a:rPr>
              <a:t> </a:t>
            </a:r>
            <a:r>
              <a:rPr lang="en-US" sz="4400" dirty="0" err="1" smtClean="0">
                <a:solidFill>
                  <a:schemeClr val="bg1"/>
                </a:solidFill>
                <a:latin typeface="Times New Roman" panose="02020603050405020304" pitchFamily="18" charset="0"/>
                <a:cs typeface="Times New Roman" panose="02020603050405020304" pitchFamily="18" charset="0"/>
              </a:rPr>
              <a:t>nhỏ</a:t>
            </a:r>
            <a:r>
              <a:rPr lang="en-US" sz="4400" dirty="0" smtClean="0">
                <a:solidFill>
                  <a:schemeClr val="bg1"/>
                </a:solidFill>
                <a:latin typeface="Times New Roman" panose="02020603050405020304" pitchFamily="18" charset="0"/>
                <a:cs typeface="Times New Roman" panose="02020603050405020304" pitchFamily="18" charset="0"/>
              </a:rPr>
              <a:t> </a:t>
            </a:r>
            <a:r>
              <a:rPr lang="en-US" sz="4400" dirty="0" err="1" smtClean="0">
                <a:solidFill>
                  <a:schemeClr val="bg1"/>
                </a:solidFill>
                <a:latin typeface="Times New Roman" panose="02020603050405020304" pitchFamily="18" charset="0"/>
                <a:cs typeface="Times New Roman" panose="02020603050405020304" pitchFamily="18" charset="0"/>
              </a:rPr>
              <a:t>hơn</a:t>
            </a:r>
            <a:r>
              <a:rPr lang="en-US" sz="4400" dirty="0" smtClean="0">
                <a:solidFill>
                  <a:schemeClr val="bg1"/>
                </a:solidFill>
                <a:latin typeface="Times New Roman" panose="02020603050405020304" pitchFamily="18" charset="0"/>
                <a:cs typeface="Times New Roman" panose="02020603050405020304" pitchFamily="18" charset="0"/>
              </a:rPr>
              <a:t> x: 3; 5; 8; 4; 7; 1</a:t>
            </a:r>
          </a:p>
          <a:p>
            <a:pPr marL="341313" indent="-341313">
              <a:buFont typeface="Wingdings" panose="05000000000000000000" pitchFamily="2" charset="2"/>
              <a:buChar char="§"/>
            </a:pPr>
            <a:r>
              <a:rPr lang="en-US" sz="4400" dirty="0" err="1" smtClean="0">
                <a:solidFill>
                  <a:schemeClr val="bg1"/>
                </a:solidFill>
                <a:latin typeface="Times New Roman" panose="02020603050405020304" pitchFamily="18" charset="0"/>
                <a:cs typeface="Times New Roman" panose="02020603050405020304" pitchFamily="18" charset="0"/>
              </a:rPr>
              <a:t>Phần</a:t>
            </a:r>
            <a:r>
              <a:rPr lang="en-US" sz="4400" dirty="0" smtClean="0">
                <a:solidFill>
                  <a:schemeClr val="bg1"/>
                </a:solidFill>
                <a:latin typeface="Times New Roman" panose="02020603050405020304" pitchFamily="18" charset="0"/>
                <a:cs typeface="Times New Roman" panose="02020603050405020304" pitchFamily="18" charset="0"/>
              </a:rPr>
              <a:t> </a:t>
            </a:r>
            <a:r>
              <a:rPr lang="en-US" sz="4400" dirty="0" err="1" smtClean="0">
                <a:solidFill>
                  <a:schemeClr val="bg1"/>
                </a:solidFill>
                <a:latin typeface="Times New Roman" panose="02020603050405020304" pitchFamily="18" charset="0"/>
                <a:cs typeface="Times New Roman" panose="02020603050405020304" pitchFamily="18" charset="0"/>
              </a:rPr>
              <a:t>lớn</a:t>
            </a:r>
            <a:r>
              <a:rPr lang="en-US" sz="4400" dirty="0" smtClean="0">
                <a:solidFill>
                  <a:schemeClr val="bg1"/>
                </a:solidFill>
                <a:latin typeface="Times New Roman" panose="02020603050405020304" pitchFamily="18" charset="0"/>
                <a:cs typeface="Times New Roman" panose="02020603050405020304" pitchFamily="18" charset="0"/>
              </a:rPr>
              <a:t> </a:t>
            </a:r>
            <a:r>
              <a:rPr lang="en-US" sz="4400" dirty="0" err="1" smtClean="0">
                <a:solidFill>
                  <a:schemeClr val="bg1"/>
                </a:solidFill>
                <a:latin typeface="Times New Roman" panose="02020603050405020304" pitchFamily="18" charset="0"/>
                <a:cs typeface="Times New Roman" panose="02020603050405020304" pitchFamily="18" charset="0"/>
              </a:rPr>
              <a:t>hơn</a:t>
            </a:r>
            <a:r>
              <a:rPr lang="en-US" sz="4400" dirty="0" smtClean="0">
                <a:solidFill>
                  <a:schemeClr val="bg1"/>
                </a:solidFill>
                <a:latin typeface="Times New Roman" panose="02020603050405020304" pitchFamily="18" charset="0"/>
                <a:cs typeface="Times New Roman" panose="02020603050405020304" pitchFamily="18" charset="0"/>
              </a:rPr>
              <a:t> x: 31; 81; 15; 17</a:t>
            </a:r>
            <a:endParaRPr lang="en-US" sz="44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EDD57F7B-2019-4069-8198-EFE0C5B7313D}" type="slidenum">
              <a:rPr lang="en-US" smtClean="0"/>
              <a:pPr>
                <a:defRPr/>
              </a:pPr>
              <a:t>103</a:t>
            </a:fld>
            <a:endParaRPr lang="en-US"/>
          </a:p>
        </p:txBody>
      </p:sp>
      <p:sp>
        <p:nvSpPr>
          <p:cNvPr id="6" name="Title 1"/>
          <p:cNvSpPr txBox="1">
            <a:spLocks/>
          </p:cNvSpPr>
          <p:nvPr/>
        </p:nvSpPr>
        <p:spPr>
          <a:xfrm>
            <a:off x="609600" y="457200"/>
            <a:ext cx="10515600"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5. Quick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467825"/>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4191000" y="2514600"/>
          <a:ext cx="5791200" cy="1219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tblGrid>
              <a:tr h="609600">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0"/>
                  </a:ext>
                </a:extLst>
              </a:tr>
              <a:tr h="609600">
                <a:tc>
                  <a:txBody>
                    <a:bodyPr/>
                    <a:lstStyle/>
                    <a:p>
                      <a:pPr algn="ctr"/>
                      <a:r>
                        <a:rPr lang="en-US" sz="1600" smtClean="0">
                          <a:solidFill>
                            <a:srgbClr val="002060"/>
                          </a:solidFill>
                        </a:rPr>
                        <a:t>1</a:t>
                      </a:r>
                      <a:endParaRPr lang="en-US" sz="1600">
                        <a:solidFill>
                          <a:srgbClr val="002060"/>
                        </a:solidFill>
                      </a:endParaRPr>
                    </a:p>
                  </a:txBody>
                  <a:tcPr>
                    <a:noFill/>
                  </a:tcPr>
                </a:tc>
                <a:tc>
                  <a:txBody>
                    <a:bodyPr/>
                    <a:lstStyle/>
                    <a:p>
                      <a:pPr algn="ctr"/>
                      <a:r>
                        <a:rPr lang="en-US" sz="1600" smtClean="0">
                          <a:solidFill>
                            <a:srgbClr val="002060"/>
                          </a:solidFill>
                        </a:rPr>
                        <a:t>2</a:t>
                      </a:r>
                      <a:endParaRPr lang="en-US" sz="1600">
                        <a:solidFill>
                          <a:srgbClr val="002060"/>
                        </a:solidFill>
                      </a:endParaRPr>
                    </a:p>
                  </a:txBody>
                  <a:tcPr>
                    <a:noFill/>
                  </a:tcPr>
                </a:tc>
                <a:tc>
                  <a:txBody>
                    <a:bodyPr/>
                    <a:lstStyle/>
                    <a:p>
                      <a:pPr algn="ctr"/>
                      <a:r>
                        <a:rPr lang="en-US" sz="1600" smtClean="0">
                          <a:solidFill>
                            <a:srgbClr val="002060"/>
                          </a:solidFill>
                        </a:rPr>
                        <a:t>3</a:t>
                      </a:r>
                      <a:endParaRPr lang="en-US" sz="1600">
                        <a:solidFill>
                          <a:srgbClr val="002060"/>
                        </a:solidFill>
                      </a:endParaRPr>
                    </a:p>
                  </a:txBody>
                  <a:tcPr>
                    <a:noFill/>
                  </a:tcPr>
                </a:tc>
                <a:tc>
                  <a:txBody>
                    <a:bodyPr/>
                    <a:lstStyle/>
                    <a:p>
                      <a:pPr algn="ctr"/>
                      <a:r>
                        <a:rPr lang="en-US" sz="1600" smtClean="0">
                          <a:solidFill>
                            <a:srgbClr val="002060"/>
                          </a:solidFill>
                        </a:rPr>
                        <a:t>4</a:t>
                      </a:r>
                      <a:endParaRPr lang="en-US" sz="1600">
                        <a:solidFill>
                          <a:srgbClr val="002060"/>
                        </a:solidFill>
                      </a:endParaRPr>
                    </a:p>
                  </a:txBody>
                  <a:tcPr>
                    <a:noFill/>
                  </a:tcPr>
                </a:tc>
                <a:tc>
                  <a:txBody>
                    <a:bodyPr/>
                    <a:lstStyle/>
                    <a:p>
                      <a:pPr algn="ctr"/>
                      <a:r>
                        <a:rPr lang="en-US" sz="1600" smtClean="0">
                          <a:solidFill>
                            <a:srgbClr val="002060"/>
                          </a:solidFill>
                        </a:rPr>
                        <a:t>5</a:t>
                      </a:r>
                      <a:endParaRPr lang="en-US" sz="1600">
                        <a:solidFill>
                          <a:srgbClr val="002060"/>
                        </a:solidFill>
                      </a:endParaRPr>
                    </a:p>
                  </a:txBody>
                  <a:tcPr>
                    <a:noFill/>
                  </a:tcPr>
                </a:tc>
                <a:tc>
                  <a:txBody>
                    <a:bodyPr/>
                    <a:lstStyle/>
                    <a:p>
                      <a:pPr algn="ctr"/>
                      <a:r>
                        <a:rPr lang="en-US" sz="1600" smtClean="0">
                          <a:solidFill>
                            <a:srgbClr val="002060"/>
                          </a:solidFill>
                        </a:rPr>
                        <a:t>6</a:t>
                      </a:r>
                      <a:endParaRPr lang="en-US" sz="1600">
                        <a:solidFill>
                          <a:srgbClr val="002060"/>
                        </a:solidFill>
                      </a:endParaRPr>
                    </a:p>
                  </a:txBody>
                  <a:tcPr>
                    <a:noFill/>
                  </a:tcPr>
                </a:tc>
                <a:tc>
                  <a:txBody>
                    <a:bodyPr/>
                    <a:lstStyle/>
                    <a:p>
                      <a:pPr algn="ctr"/>
                      <a:r>
                        <a:rPr lang="en-US" sz="1600" smtClean="0">
                          <a:solidFill>
                            <a:srgbClr val="002060"/>
                          </a:solidFill>
                        </a:rPr>
                        <a:t>7</a:t>
                      </a:r>
                      <a:endParaRPr lang="en-US" sz="1600">
                        <a:solidFill>
                          <a:srgbClr val="002060"/>
                        </a:solidFill>
                      </a:endParaRPr>
                    </a:p>
                  </a:txBody>
                  <a:tcPr>
                    <a:noFill/>
                  </a:tcPr>
                </a:tc>
                <a:tc>
                  <a:txBody>
                    <a:bodyPr/>
                    <a:lstStyle/>
                    <a:p>
                      <a:pPr algn="ctr"/>
                      <a:r>
                        <a:rPr lang="en-US" sz="1600" smtClean="0">
                          <a:solidFill>
                            <a:srgbClr val="002060"/>
                          </a:solidFill>
                        </a:rPr>
                        <a:t>8</a:t>
                      </a:r>
                      <a:endParaRPr lang="en-US" sz="1600">
                        <a:solidFill>
                          <a:srgbClr val="002060"/>
                        </a:solidFill>
                      </a:endParaRPr>
                    </a:p>
                  </a:txBody>
                  <a:tcPr>
                    <a:noFill/>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F22144A7-34F5-4F41-92D0-649C19F53D5A}" type="slidenum">
              <a:rPr lang="en-US" smtClean="0"/>
              <a:pPr>
                <a:defRPr/>
              </a:pPr>
              <a:t>104</a:t>
            </a:fld>
            <a:endParaRPr lang="en-US"/>
          </a:p>
        </p:txBody>
      </p:sp>
      <p:sp>
        <p:nvSpPr>
          <p:cNvPr id="18" name="Can 17"/>
          <p:cNvSpPr/>
          <p:nvPr/>
        </p:nvSpPr>
        <p:spPr>
          <a:xfrm>
            <a:off x="2133600" y="2286000"/>
            <a:ext cx="1219200" cy="3276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TextBox 18"/>
          <p:cNvSpPr txBox="1"/>
          <p:nvPr/>
        </p:nvSpPr>
        <p:spPr>
          <a:xfrm>
            <a:off x="1600200" y="5715000"/>
            <a:ext cx="2486578" cy="461665"/>
          </a:xfrm>
          <a:prstGeom prst="rect">
            <a:avLst/>
          </a:prstGeom>
          <a:noFill/>
        </p:spPr>
        <p:txBody>
          <a:bodyPr wrap="none">
            <a:spAutoFit/>
          </a:bodyPr>
          <a:lstStyle/>
          <a:p>
            <a:pPr>
              <a:defRPr/>
            </a:pPr>
            <a:r>
              <a:rPr lang="en-US" sz="2400" b="1">
                <a:solidFill>
                  <a:srgbClr val="FF0000"/>
                </a:solidFill>
                <a:latin typeface="Times New Roman" panose="02020603050405020304" pitchFamily="18" charset="0"/>
                <a:cs typeface="Times New Roman" panose="02020603050405020304" pitchFamily="18" charset="0"/>
              </a:rPr>
              <a:t>Đoạn cần sắp xếp</a:t>
            </a:r>
          </a:p>
        </p:txBody>
      </p:sp>
      <p:sp>
        <p:nvSpPr>
          <p:cNvPr id="20" name="Oval 19"/>
          <p:cNvSpPr/>
          <p:nvPr/>
        </p:nvSpPr>
        <p:spPr>
          <a:xfrm>
            <a:off x="2220914" y="48768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L=1</a:t>
            </a:r>
          </a:p>
          <a:p>
            <a:pPr algn="ctr">
              <a:defRPr/>
            </a:pPr>
            <a:r>
              <a:rPr lang="en-US" b="1">
                <a:solidFill>
                  <a:srgbClr val="FF0000"/>
                </a:solidFill>
              </a:rPr>
              <a:t>R=8</a:t>
            </a:r>
          </a:p>
        </p:txBody>
      </p:sp>
      <p:sp>
        <p:nvSpPr>
          <p:cNvPr id="21" name="Up Arrow Callout 20"/>
          <p:cNvSpPr/>
          <p:nvPr/>
        </p:nvSpPr>
        <p:spPr>
          <a:xfrm>
            <a:off x="42672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sp>
        <p:nvSpPr>
          <p:cNvPr id="22" name="Up Arrow Callout 21"/>
          <p:cNvSpPr/>
          <p:nvPr/>
        </p:nvSpPr>
        <p:spPr>
          <a:xfrm>
            <a:off x="93726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sp>
        <p:nvSpPr>
          <p:cNvPr id="24" name="Down Arrow Callout 23"/>
          <p:cNvSpPr/>
          <p:nvPr/>
        </p:nvSpPr>
        <p:spPr>
          <a:xfrm>
            <a:off x="6400800" y="1752600"/>
            <a:ext cx="609600" cy="68580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x</a:t>
            </a:r>
          </a:p>
        </p:txBody>
      </p:sp>
      <p:sp>
        <p:nvSpPr>
          <p:cNvPr id="23" name="Flowchart: Process 22"/>
          <p:cNvSpPr/>
          <p:nvPr/>
        </p:nvSpPr>
        <p:spPr>
          <a:xfrm>
            <a:off x="4191000" y="1143000"/>
            <a:ext cx="1600200" cy="381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i=1, j=8</a:t>
            </a:r>
          </a:p>
        </p:txBody>
      </p:sp>
      <p:sp>
        <p:nvSpPr>
          <p:cNvPr id="25" name="Oval 24"/>
          <p:cNvSpPr/>
          <p:nvPr/>
        </p:nvSpPr>
        <p:spPr>
          <a:xfrm>
            <a:off x="4835526" y="56388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L=1</a:t>
            </a:r>
          </a:p>
          <a:p>
            <a:pPr algn="ctr">
              <a:defRPr/>
            </a:pPr>
            <a:r>
              <a:rPr lang="en-US" b="1">
                <a:solidFill>
                  <a:srgbClr val="FF0000"/>
                </a:solidFill>
              </a:rPr>
              <a:t>R=3</a:t>
            </a:r>
          </a:p>
        </p:txBody>
      </p:sp>
      <p:sp>
        <p:nvSpPr>
          <p:cNvPr id="26" name="Oval 25"/>
          <p:cNvSpPr/>
          <p:nvPr/>
        </p:nvSpPr>
        <p:spPr>
          <a:xfrm>
            <a:off x="7807326" y="56388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L=4</a:t>
            </a:r>
          </a:p>
          <a:p>
            <a:pPr algn="ctr">
              <a:defRPr/>
            </a:pPr>
            <a:r>
              <a:rPr lang="en-US" b="1">
                <a:solidFill>
                  <a:srgbClr val="FF0000"/>
                </a:solidFill>
              </a:rPr>
              <a:t>R=8</a:t>
            </a:r>
          </a:p>
        </p:txBody>
      </p:sp>
      <p:grpSp>
        <p:nvGrpSpPr>
          <p:cNvPr id="2" name="Group 55"/>
          <p:cNvGrpSpPr>
            <a:grpSpLocks/>
          </p:cNvGrpSpPr>
          <p:nvPr/>
        </p:nvGrpSpPr>
        <p:grpSpPr bwMode="auto">
          <a:xfrm>
            <a:off x="4267200" y="3381376"/>
            <a:ext cx="2057400" cy="1889125"/>
            <a:chOff x="2743200" y="3153102"/>
            <a:chExt cx="2057400" cy="1889234"/>
          </a:xfrm>
        </p:grpSpPr>
        <p:grpSp>
          <p:nvGrpSpPr>
            <p:cNvPr id="63546" name="Group 37"/>
            <p:cNvGrpSpPr>
              <a:grpSpLocks/>
            </p:cNvGrpSpPr>
            <p:nvPr/>
          </p:nvGrpSpPr>
          <p:grpSpPr bwMode="auto">
            <a:xfrm>
              <a:off x="3048000" y="3153102"/>
              <a:ext cx="1447800" cy="1371600"/>
              <a:chOff x="3047206" y="4572000"/>
              <a:chExt cx="1524794" cy="230188"/>
            </a:xfrm>
          </p:grpSpPr>
          <p:cxnSp>
            <p:nvCxnSpPr>
              <p:cNvPr id="34" name="Straight Connector 33"/>
              <p:cNvCxnSpPr/>
              <p:nvPr/>
            </p:nvCxnSpPr>
            <p:spPr>
              <a:xfrm>
                <a:off x="3047206" y="4800603"/>
                <a:ext cx="1524794" cy="1599"/>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5400000" flipH="1" flipV="1">
                <a:off x="2933740" y="4686265"/>
                <a:ext cx="228603" cy="1672"/>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5400000" flipH="1" flipV="1">
                <a:off x="4456863" y="4685466"/>
                <a:ext cx="228603" cy="1671"/>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39" name="Rounded Rectangle 38"/>
            <p:cNvSpPr/>
            <p:nvPr/>
          </p:nvSpPr>
          <p:spPr>
            <a:xfrm>
              <a:off x="2743200" y="4661314"/>
              <a:ext cx="2057400" cy="381022"/>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Đoạn 1</a:t>
              </a:r>
            </a:p>
          </p:txBody>
        </p:sp>
      </p:grpSp>
      <p:grpSp>
        <p:nvGrpSpPr>
          <p:cNvPr id="14" name="Group 56"/>
          <p:cNvGrpSpPr>
            <a:grpSpLocks/>
          </p:cNvGrpSpPr>
          <p:nvPr/>
        </p:nvGrpSpPr>
        <p:grpSpPr bwMode="auto">
          <a:xfrm>
            <a:off x="6705600" y="3368676"/>
            <a:ext cx="2895600" cy="1889125"/>
            <a:chOff x="5181600" y="3139960"/>
            <a:chExt cx="2895600" cy="1889240"/>
          </a:xfrm>
        </p:grpSpPr>
        <p:sp>
          <p:nvSpPr>
            <p:cNvPr id="40" name="Rounded Rectangle 39"/>
            <p:cNvSpPr/>
            <p:nvPr/>
          </p:nvSpPr>
          <p:spPr>
            <a:xfrm>
              <a:off x="5638800" y="4648177"/>
              <a:ext cx="2057400" cy="381023"/>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Đoạn 2</a:t>
              </a:r>
            </a:p>
          </p:txBody>
        </p:sp>
        <p:grpSp>
          <p:nvGrpSpPr>
            <p:cNvPr id="63542" name="Group 51"/>
            <p:cNvGrpSpPr>
              <a:grpSpLocks/>
            </p:cNvGrpSpPr>
            <p:nvPr/>
          </p:nvGrpSpPr>
          <p:grpSpPr bwMode="auto">
            <a:xfrm>
              <a:off x="5181600" y="3139960"/>
              <a:ext cx="2895600" cy="1382641"/>
              <a:chOff x="4931547" y="3139960"/>
              <a:chExt cx="3471473" cy="1382641"/>
            </a:xfrm>
          </p:grpSpPr>
          <p:cxnSp>
            <p:nvCxnSpPr>
              <p:cNvPr id="42" name="Straight Connector 41"/>
              <p:cNvCxnSpPr/>
              <p:nvPr/>
            </p:nvCxnSpPr>
            <p:spPr>
              <a:xfrm>
                <a:off x="4931547" y="4502118"/>
                <a:ext cx="3471473" cy="9526"/>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5400000" flipH="1" flipV="1">
                <a:off x="4254275" y="3839775"/>
                <a:ext cx="1362158" cy="3806"/>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rot="5400000" flipH="1" flipV="1">
                <a:off x="7704812" y="3819136"/>
                <a:ext cx="1362158" cy="3806"/>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grpSp>
      </p:grpSp>
      <p:sp>
        <p:nvSpPr>
          <p:cNvPr id="54" name="Down Arrow 53"/>
          <p:cNvSpPr/>
          <p:nvPr/>
        </p:nvSpPr>
        <p:spPr>
          <a:xfrm>
            <a:off x="4267200" y="167640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a:t>
            </a:r>
          </a:p>
        </p:txBody>
      </p:sp>
      <p:sp>
        <p:nvSpPr>
          <p:cNvPr id="55" name="Down Arrow 54"/>
          <p:cNvSpPr/>
          <p:nvPr/>
        </p:nvSpPr>
        <p:spPr>
          <a:xfrm>
            <a:off x="9296400" y="170815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R</a:t>
            </a:r>
          </a:p>
        </p:txBody>
      </p:sp>
      <p:sp>
        <p:nvSpPr>
          <p:cNvPr id="8" name="Oval 7"/>
          <p:cNvSpPr/>
          <p:nvPr/>
        </p:nvSpPr>
        <p:spPr>
          <a:xfrm>
            <a:off x="5688013"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9" name="Oval 8"/>
          <p:cNvSpPr/>
          <p:nvPr/>
        </p:nvSpPr>
        <p:spPr>
          <a:xfrm>
            <a:off x="6415088"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10" name="Oval 9"/>
          <p:cNvSpPr/>
          <p:nvPr/>
        </p:nvSpPr>
        <p:spPr>
          <a:xfrm>
            <a:off x="71628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1" name="Oval 10"/>
          <p:cNvSpPr/>
          <p:nvPr/>
        </p:nvSpPr>
        <p:spPr>
          <a:xfrm>
            <a:off x="7848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12" name="Oval 11"/>
          <p:cNvSpPr/>
          <p:nvPr/>
        </p:nvSpPr>
        <p:spPr>
          <a:xfrm>
            <a:off x="8610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92964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6" name="Oval 5"/>
          <p:cNvSpPr/>
          <p:nvPr/>
        </p:nvSpPr>
        <p:spPr>
          <a:xfrm>
            <a:off x="4259263"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7" name="Oval 6"/>
          <p:cNvSpPr/>
          <p:nvPr/>
        </p:nvSpPr>
        <p:spPr>
          <a:xfrm>
            <a:off x="4965700"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sp>
        <p:nvSpPr>
          <p:cNvPr id="35" name="Title 1"/>
          <p:cNvSpPr txBox="1">
            <a:spLocks/>
          </p:cNvSpPr>
          <p:nvPr/>
        </p:nvSpPr>
        <p:spPr>
          <a:xfrm>
            <a:off x="609600" y="381000"/>
            <a:ext cx="10515600"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5. Quick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8.33333E-7 4.44444E-6 L 0.00052 -0.51112 " pathEditMode="relative" rAng="0" ptsTypes="AA">
                                      <p:cBhvr>
                                        <p:cTn id="6" dur="2000" fill="hold"/>
                                        <p:tgtEl>
                                          <p:spTgt spid="20"/>
                                        </p:tgtEl>
                                        <p:attrNameLst>
                                          <p:attrName>ppt_x</p:attrName>
                                          <p:attrName>ppt_y</p:attrName>
                                        </p:attrNameLst>
                                      </p:cBhvr>
                                      <p:rCtr x="26" y="-25556"/>
                                    </p:animMotion>
                                  </p:childTnLst>
                                </p:cTn>
                              </p:par>
                            </p:childTnLst>
                          </p:cTn>
                        </p:par>
                        <p:par>
                          <p:cTn id="7" fill="hold" nodeType="afterGroup">
                            <p:stCondLst>
                              <p:cond delay="2000"/>
                            </p:stCondLst>
                            <p:childTnLst>
                              <p:par>
                                <p:cTn id="8" presetID="3" presetClass="entr" presetSubtype="10"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childTnLst>
                          </p:cTn>
                        </p:par>
                        <p:par>
                          <p:cTn id="11" fill="hold" nodeType="afterGroup">
                            <p:stCondLst>
                              <p:cond delay="2500"/>
                            </p:stCondLst>
                            <p:childTnLst>
                              <p:par>
                                <p:cTn id="12" presetID="2" presetClass="entr" presetSubtype="1" fill="hold" grpId="0" nodeType="afterEffect">
                                  <p:stCondLst>
                                    <p:cond delay="0"/>
                                  </p:stCondLst>
                                  <p:childTnLst>
                                    <p:set>
                                      <p:cBhvr>
                                        <p:cTn id="13" dur="1" fill="hold">
                                          <p:stCondLst>
                                            <p:cond delay="0"/>
                                          </p:stCondLst>
                                        </p:cTn>
                                        <p:tgtEl>
                                          <p:spTgt spid="54"/>
                                        </p:tgtEl>
                                        <p:attrNameLst>
                                          <p:attrName>style.visibility</p:attrName>
                                        </p:attrNameLst>
                                      </p:cBhvr>
                                      <p:to>
                                        <p:strVal val="visible"/>
                                      </p:to>
                                    </p:set>
                                    <p:anim calcmode="lin" valueType="num">
                                      <p:cBhvr additive="base">
                                        <p:cTn id="14" dur="500" fill="hold"/>
                                        <p:tgtEl>
                                          <p:spTgt spid="54"/>
                                        </p:tgtEl>
                                        <p:attrNameLst>
                                          <p:attrName>ppt_x</p:attrName>
                                        </p:attrNameLst>
                                      </p:cBhvr>
                                      <p:tavLst>
                                        <p:tav tm="0">
                                          <p:val>
                                            <p:strVal val="#ppt_x"/>
                                          </p:val>
                                        </p:tav>
                                        <p:tav tm="100000">
                                          <p:val>
                                            <p:strVal val="#ppt_x"/>
                                          </p:val>
                                        </p:tav>
                                      </p:tavLst>
                                    </p:anim>
                                    <p:anim calcmode="lin" valueType="num">
                                      <p:cBhvr additive="base">
                                        <p:cTn id="15" dur="500" fill="hold"/>
                                        <p:tgtEl>
                                          <p:spTgt spid="54"/>
                                        </p:tgtEl>
                                        <p:attrNameLst>
                                          <p:attrName>ppt_y</p:attrName>
                                        </p:attrNameLst>
                                      </p:cBhvr>
                                      <p:tavLst>
                                        <p:tav tm="0">
                                          <p:val>
                                            <p:strVal val="0-#ppt_h/2"/>
                                          </p:val>
                                        </p:tav>
                                        <p:tav tm="100000">
                                          <p:val>
                                            <p:strVal val="#ppt_y"/>
                                          </p:val>
                                        </p:tav>
                                      </p:tavLst>
                                    </p:anim>
                                  </p:childTnLst>
                                </p:cTn>
                              </p:par>
                              <p:par>
                                <p:cTn id="16" presetID="2" presetClass="entr" presetSubtype="1" fill="hold" grpId="0" nodeType="withEffect">
                                  <p:stCondLst>
                                    <p:cond delay="0"/>
                                  </p:stCondLst>
                                  <p:childTnLst>
                                    <p:set>
                                      <p:cBhvr>
                                        <p:cTn id="17" dur="1" fill="hold">
                                          <p:stCondLst>
                                            <p:cond delay="0"/>
                                          </p:stCondLst>
                                        </p:cTn>
                                        <p:tgtEl>
                                          <p:spTgt spid="55"/>
                                        </p:tgtEl>
                                        <p:attrNameLst>
                                          <p:attrName>style.visibility</p:attrName>
                                        </p:attrNameLst>
                                      </p:cBhvr>
                                      <p:to>
                                        <p:strVal val="visible"/>
                                      </p:to>
                                    </p:set>
                                    <p:anim calcmode="lin" valueType="num">
                                      <p:cBhvr additive="base">
                                        <p:cTn id="18" dur="500" fill="hold"/>
                                        <p:tgtEl>
                                          <p:spTgt spid="55"/>
                                        </p:tgtEl>
                                        <p:attrNameLst>
                                          <p:attrName>ppt_x</p:attrName>
                                        </p:attrNameLst>
                                      </p:cBhvr>
                                      <p:tavLst>
                                        <p:tav tm="0">
                                          <p:val>
                                            <p:strVal val="#ppt_x"/>
                                          </p:val>
                                        </p:tav>
                                        <p:tav tm="100000">
                                          <p:val>
                                            <p:strVal val="#ppt_x"/>
                                          </p:val>
                                        </p:tav>
                                      </p:tavLst>
                                    </p:anim>
                                    <p:anim calcmode="lin" valueType="num">
                                      <p:cBhvr additive="base">
                                        <p:cTn id="19" dur="500" fill="hold"/>
                                        <p:tgtEl>
                                          <p:spTgt spid="55"/>
                                        </p:tgtEl>
                                        <p:attrNameLst>
                                          <p:attrName>ppt_y</p:attrName>
                                        </p:attrNameLst>
                                      </p:cBhvr>
                                      <p:tavLst>
                                        <p:tav tm="0">
                                          <p:val>
                                            <p:strVal val="0-#ppt_h/2"/>
                                          </p:val>
                                        </p:tav>
                                        <p:tav tm="100000">
                                          <p:val>
                                            <p:strVal val="#ppt_y"/>
                                          </p:val>
                                        </p:tav>
                                      </p:tavLst>
                                    </p:anim>
                                  </p:childTnLst>
                                </p:cTn>
                              </p:par>
                            </p:childTnLst>
                          </p:cTn>
                        </p:par>
                        <p:par>
                          <p:cTn id="20" fill="hold" nodeType="afterGroup">
                            <p:stCondLst>
                              <p:cond delay="3000"/>
                            </p:stCondLst>
                            <p:childTnLst>
                              <p:par>
                                <p:cTn id="21" presetID="2" presetClass="entr" presetSubtype="1"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0-#ppt_h/2"/>
                                          </p:val>
                                        </p:tav>
                                        <p:tav tm="100000">
                                          <p:val>
                                            <p:strVal val="#ppt_y"/>
                                          </p:val>
                                        </p:tav>
                                      </p:tavLst>
                                    </p:anim>
                                  </p:childTnLst>
                                </p:cTn>
                              </p:par>
                            </p:childTnLst>
                          </p:cTn>
                        </p:par>
                        <p:par>
                          <p:cTn id="25" fill="hold" nodeType="afterGroup">
                            <p:stCondLst>
                              <p:cond delay="3500"/>
                            </p:stCondLst>
                            <p:childTnLst>
                              <p:par>
                                <p:cTn id="26" presetID="2" presetClass="entr" presetSubtype="1" fill="hold" grpId="0" nodeType="afterEffect">
                                  <p:stCondLst>
                                    <p:cond delay="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500" fill="hold"/>
                                        <p:tgtEl>
                                          <p:spTgt spid="22"/>
                                        </p:tgtEl>
                                        <p:attrNameLst>
                                          <p:attrName>ppt_x</p:attrName>
                                        </p:attrNameLst>
                                      </p:cBhvr>
                                      <p:tavLst>
                                        <p:tav tm="0">
                                          <p:val>
                                            <p:strVal val="#ppt_x"/>
                                          </p:val>
                                        </p:tav>
                                        <p:tav tm="100000">
                                          <p:val>
                                            <p:strVal val="#ppt_x"/>
                                          </p:val>
                                        </p:tav>
                                      </p:tavLst>
                                    </p:anim>
                                    <p:anim calcmode="lin" valueType="num">
                                      <p:cBhvr additive="base">
                                        <p:cTn id="29" dur="500" fill="hold"/>
                                        <p:tgtEl>
                                          <p:spTgt spid="22"/>
                                        </p:tgtEl>
                                        <p:attrNameLst>
                                          <p:attrName>ppt_y</p:attrName>
                                        </p:attrNameLst>
                                      </p:cBhvr>
                                      <p:tavLst>
                                        <p:tav tm="0">
                                          <p:val>
                                            <p:strVal val="0-#ppt_h/2"/>
                                          </p:val>
                                        </p:tav>
                                        <p:tav tm="100000">
                                          <p:val>
                                            <p:strVal val="#ppt_y"/>
                                          </p:val>
                                        </p:tav>
                                      </p:tavLst>
                                    </p:anim>
                                  </p:childTnLst>
                                </p:cTn>
                              </p:par>
                            </p:childTnLst>
                          </p:cTn>
                        </p:par>
                        <p:par>
                          <p:cTn id="30" fill="hold" nodeType="afterGroup">
                            <p:stCondLst>
                              <p:cond delay="4000"/>
                            </p:stCondLst>
                            <p:childTnLst>
                              <p:par>
                                <p:cTn id="31" presetID="2" presetClass="entr" presetSubtype="1"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ppt_x"/>
                                          </p:val>
                                        </p:tav>
                                        <p:tav tm="100000">
                                          <p:val>
                                            <p:strVal val="#ppt_x"/>
                                          </p:val>
                                        </p:tav>
                                      </p:tavLst>
                                    </p:anim>
                                    <p:anim calcmode="lin" valueType="num">
                                      <p:cBhvr additive="base">
                                        <p:cTn id="34"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7" presetClass="path" presetSubtype="0" accel="50000" decel="50000" fill="hold" grpId="0" nodeType="clickEffect">
                                  <p:stCondLst>
                                    <p:cond delay="0"/>
                                  </p:stCondLst>
                                  <p:childTnLst>
                                    <p:animMotion origin="layout" path="M -0.00078 -1.11111E-6 L -0.00091 -0.1463 L 0.41497 -0.14282 L 0.4168 -0.00092 " pathEditMode="relative" rAng="0" ptsTypes="AAAA">
                                      <p:cBhvr>
                                        <p:cTn id="38" dur="2000" fill="hold"/>
                                        <p:tgtEl>
                                          <p:spTgt spid="6"/>
                                        </p:tgtEl>
                                        <p:attrNameLst>
                                          <p:attrName>ppt_x</p:attrName>
                                          <p:attrName>ppt_y</p:attrName>
                                        </p:attrNameLst>
                                      </p:cBhvr>
                                      <p:rCtr x="20872" y="-7315"/>
                                    </p:animMotion>
                                  </p:childTnLst>
                                </p:cTn>
                              </p:par>
                              <p:par>
                                <p:cTn id="39" presetID="7" presetClass="path" presetSubtype="0" accel="50000" decel="50000" fill="hold" grpId="0" nodeType="withEffect">
                                  <p:stCondLst>
                                    <p:cond delay="0"/>
                                  </p:stCondLst>
                                  <p:childTnLst>
                                    <p:animMotion origin="layout" path="M -0.00208 0.0007 L 0 0.11945 L -0.41458 0.11783 L -0.41393 -1.11111E-6 " pathEditMode="relative" rAng="0" ptsTypes="AAAA">
                                      <p:cBhvr>
                                        <p:cTn id="40" dur="2000" fill="hold"/>
                                        <p:tgtEl>
                                          <p:spTgt spid="13"/>
                                        </p:tgtEl>
                                        <p:attrNameLst>
                                          <p:attrName>ppt_x</p:attrName>
                                          <p:attrName>ppt_y</p:attrName>
                                        </p:attrNameLst>
                                      </p:cBhvr>
                                      <p:rCtr x="-20521" y="5903"/>
                                    </p:animMotion>
                                  </p:childTnLst>
                                </p:cTn>
                              </p:par>
                            </p:childTnLst>
                          </p:cTn>
                        </p:par>
                        <p:par>
                          <p:cTn id="41" fill="hold" nodeType="afterGroup">
                            <p:stCondLst>
                              <p:cond delay="2000"/>
                            </p:stCondLst>
                            <p:childTnLst>
                              <p:par>
                                <p:cTn id="42" presetID="63" presetClass="path" presetSubtype="0" accel="50000" decel="50000" fill="hold" grpId="1" nodeType="afterEffect">
                                  <p:stCondLst>
                                    <p:cond delay="0"/>
                                  </p:stCondLst>
                                  <p:childTnLst>
                                    <p:animMotion origin="layout" path="M 2.08333E-7 -4.07407E-6 L 0.06355 4.44444E-6 " pathEditMode="relative" rAng="0" ptsTypes="AA">
                                      <p:cBhvr>
                                        <p:cTn id="43" dur="2000" fill="hold"/>
                                        <p:tgtEl>
                                          <p:spTgt spid="21"/>
                                        </p:tgtEl>
                                        <p:attrNameLst>
                                          <p:attrName>ppt_x</p:attrName>
                                          <p:attrName>ppt_y</p:attrName>
                                        </p:attrNameLst>
                                      </p:cBhvr>
                                      <p:rCtr x="3021" y="0"/>
                                    </p:animMotion>
                                  </p:childTnLst>
                                </p:cTn>
                              </p:par>
                              <p:par>
                                <p:cTn id="44" presetID="35" presetClass="path" presetSubtype="0" accel="50000" decel="50000" fill="hold" grpId="1" nodeType="withEffect">
                                  <p:stCondLst>
                                    <p:cond delay="0"/>
                                  </p:stCondLst>
                                  <p:childTnLst>
                                    <p:animMotion origin="layout" path="M 3.125E-6 4.44444E-6 L -0.05833 4.44444E-6 " pathEditMode="relative" rAng="0" ptsTypes="AA">
                                      <p:cBhvr>
                                        <p:cTn id="45" dur="2000" fill="hold"/>
                                        <p:tgtEl>
                                          <p:spTgt spid="22"/>
                                        </p:tgtEl>
                                        <p:attrNameLst>
                                          <p:attrName>ppt_x</p:attrName>
                                          <p:attrName>ppt_y</p:attrName>
                                        </p:attrNameLst>
                                      </p:cBhvr>
                                      <p:rCtr x="-2982" y="0"/>
                                    </p:animMotion>
                                  </p:childTnLst>
                                </p:cTn>
                              </p:par>
                            </p:childTnLst>
                          </p:cTn>
                        </p:par>
                        <p:par>
                          <p:cTn id="46" fill="hold" nodeType="afterGroup">
                            <p:stCondLst>
                              <p:cond delay="4000"/>
                            </p:stCondLst>
                            <p:childTnLst>
                              <p:par>
                                <p:cTn id="47" presetID="35" presetClass="path" presetSubtype="0" accel="50000" decel="50000" fill="hold" grpId="2" nodeType="afterEffect">
                                  <p:stCondLst>
                                    <p:cond delay="0"/>
                                  </p:stCondLst>
                                  <p:childTnLst>
                                    <p:animMotion origin="layout" path="M -0.05833 4.44444E-6 L -0.11771 4.44444E-6 " pathEditMode="relative" rAng="0" ptsTypes="AA">
                                      <p:cBhvr>
                                        <p:cTn id="48" dur="2000" fill="hold"/>
                                        <p:tgtEl>
                                          <p:spTgt spid="22"/>
                                        </p:tgtEl>
                                        <p:attrNameLst>
                                          <p:attrName>ppt_x</p:attrName>
                                          <p:attrName>ppt_y</p:attrName>
                                        </p:attrNameLst>
                                      </p:cBhvr>
                                      <p:rCtr x="-2839" y="0"/>
                                    </p:animMotion>
                                  </p:childTnLst>
                                </p:cTn>
                              </p:par>
                            </p:childTnLst>
                          </p:cTn>
                        </p:par>
                      </p:childTnLst>
                    </p:cTn>
                  </p:par>
                  <p:par>
                    <p:cTn id="49" fill="hold" nodeType="clickPar">
                      <p:stCondLst>
                        <p:cond delay="indefinite"/>
                      </p:stCondLst>
                      <p:childTnLst>
                        <p:par>
                          <p:cTn id="50" fill="hold" nodeType="withGroup">
                            <p:stCondLst>
                              <p:cond delay="0"/>
                            </p:stCondLst>
                            <p:childTnLst>
                              <p:par>
                                <p:cTn id="51" presetID="7" presetClass="path" presetSubtype="0" accel="50000" decel="50000" fill="hold" grpId="0" nodeType="clickEffect">
                                  <p:stCondLst>
                                    <p:cond delay="0"/>
                                  </p:stCondLst>
                                  <p:childTnLst>
                                    <p:animMotion origin="layout" path="M -1.25E-6 -1.48148E-6 L -0.0013 -0.13125 L 0.23672 -0.12986 L 0.23568 0.00463 " pathEditMode="relative" rAng="0" ptsTypes="AAAA">
                                      <p:cBhvr>
                                        <p:cTn id="52" dur="2000" fill="hold"/>
                                        <p:tgtEl>
                                          <p:spTgt spid="7"/>
                                        </p:tgtEl>
                                        <p:attrNameLst>
                                          <p:attrName>ppt_x</p:attrName>
                                          <p:attrName>ppt_y</p:attrName>
                                        </p:attrNameLst>
                                      </p:cBhvr>
                                      <p:rCtr x="11771" y="-6343"/>
                                    </p:animMotion>
                                  </p:childTnLst>
                                </p:cTn>
                              </p:par>
                              <p:par>
                                <p:cTn id="53" presetID="7" presetClass="path" presetSubtype="0" accel="50000" decel="50000" fill="hold" grpId="0" nodeType="withEffect">
                                  <p:stCondLst>
                                    <p:cond delay="0"/>
                                  </p:stCondLst>
                                  <p:childTnLst>
                                    <p:animMotion origin="layout" path="M 1.45833E-6 -2.22222E-6 L 0.00091 0.11713 L -0.23555 0.11713 L -0.23659 0.00278 " pathEditMode="relative" rAng="0" ptsTypes="AAAA">
                                      <p:cBhvr>
                                        <p:cTn id="54" dur="2000" fill="hold"/>
                                        <p:tgtEl>
                                          <p:spTgt spid="11"/>
                                        </p:tgtEl>
                                        <p:attrNameLst>
                                          <p:attrName>ppt_x</p:attrName>
                                          <p:attrName>ppt_y</p:attrName>
                                        </p:attrNameLst>
                                      </p:cBhvr>
                                      <p:rCtr x="-11784" y="5856"/>
                                    </p:animMotion>
                                  </p:childTnLst>
                                </p:cTn>
                              </p:par>
                            </p:childTnLst>
                          </p:cTn>
                        </p:par>
                        <p:par>
                          <p:cTn id="55" fill="hold" nodeType="afterGroup">
                            <p:stCondLst>
                              <p:cond delay="2000"/>
                            </p:stCondLst>
                            <p:childTnLst>
                              <p:par>
                                <p:cTn id="56" presetID="35" presetClass="path" presetSubtype="0" accel="50000" decel="50000" fill="hold" grpId="3" nodeType="afterEffect">
                                  <p:stCondLst>
                                    <p:cond delay="0"/>
                                  </p:stCondLst>
                                  <p:childTnLst>
                                    <p:animMotion origin="layout" path="M -0.11771 2.59259E-6 L -0.2375 4.44444E-6 " pathEditMode="relative" rAng="0" ptsTypes="AA">
                                      <p:cBhvr>
                                        <p:cTn id="57" dur="2000" fill="hold"/>
                                        <p:tgtEl>
                                          <p:spTgt spid="22"/>
                                        </p:tgtEl>
                                        <p:attrNameLst>
                                          <p:attrName>ppt_x</p:attrName>
                                          <p:attrName>ppt_y</p:attrName>
                                        </p:attrNameLst>
                                      </p:cBhvr>
                                      <p:rCtr x="-5729" y="208"/>
                                    </p:animMotion>
                                  </p:childTnLst>
                                </p:cTn>
                              </p:par>
                              <p:par>
                                <p:cTn id="58" presetID="63" presetClass="path" presetSubtype="0" accel="50000" decel="50000" fill="hold" grpId="2" nodeType="withEffect">
                                  <p:stCondLst>
                                    <p:cond delay="0"/>
                                  </p:stCondLst>
                                  <p:childTnLst>
                                    <p:animMotion origin="layout" path="M 0.06563 4.44444E-6 L 0.18125 3.33333E-6 " pathEditMode="relative" rAng="0" ptsTypes="AA">
                                      <p:cBhvr>
                                        <p:cTn id="59" dur="2000" fill="hold"/>
                                        <p:tgtEl>
                                          <p:spTgt spid="21"/>
                                        </p:tgtEl>
                                        <p:attrNameLst>
                                          <p:attrName>ppt_x</p:attrName>
                                          <p:attrName>ppt_y</p:attrName>
                                        </p:attrNameLst>
                                      </p:cBhvr>
                                      <p:rCtr x="5573" y="-69"/>
                                    </p:animMotion>
                                  </p:childTnLst>
                                </p:cTn>
                              </p:par>
                            </p:childTnLst>
                          </p:cTn>
                        </p:par>
                        <p:par>
                          <p:cTn id="60" fill="hold" nodeType="afterGroup">
                            <p:stCondLst>
                              <p:cond delay="4000"/>
                            </p:stCondLst>
                            <p:childTnLst>
                              <p:par>
                                <p:cTn id="61" presetID="35" presetClass="path" presetSubtype="0" accel="50000" decel="50000" fill="hold" grpId="4" nodeType="afterEffect">
                                  <p:stCondLst>
                                    <p:cond delay="0"/>
                                  </p:stCondLst>
                                  <p:childTnLst>
                                    <p:animMotion origin="layout" path="M -0.23438 4.44444E-6 L -0.29584 4.44444E-6 " pathEditMode="relative" rAng="0" ptsTypes="AA">
                                      <p:cBhvr>
                                        <p:cTn id="62" dur="2000" fill="hold"/>
                                        <p:tgtEl>
                                          <p:spTgt spid="22"/>
                                        </p:tgtEl>
                                        <p:attrNameLst>
                                          <p:attrName>ppt_x</p:attrName>
                                          <p:attrName>ppt_y</p:attrName>
                                        </p:attrNameLst>
                                      </p:cBhvr>
                                      <p:rCtr x="-3073" y="0"/>
                                    </p:animMotion>
                                  </p:childTnLst>
                                </p:cTn>
                              </p:par>
                            </p:childTnLst>
                          </p:cTn>
                        </p:par>
                      </p:childTnLst>
                    </p:cTn>
                  </p:par>
                  <p:par>
                    <p:cTn id="63" fill="hold" nodeType="clickPar">
                      <p:stCondLst>
                        <p:cond delay="indefinite"/>
                      </p:stCondLst>
                      <p:childTnLst>
                        <p:par>
                          <p:cTn id="64" fill="hold" nodeType="withGroup">
                            <p:stCondLst>
                              <p:cond delay="0"/>
                            </p:stCondLst>
                            <p:childTnLst>
                              <p:par>
                                <p:cTn id="65" presetID="7" presetClass="path" presetSubtype="0" accel="50000" decel="50000" fill="hold" grpId="0" nodeType="clickEffect">
                                  <p:stCondLst>
                                    <p:cond delay="0"/>
                                  </p:stCondLst>
                                  <p:childTnLst>
                                    <p:animMotion origin="layout" path="M -0.00039 -0.0007 L -0.00118 -0.15347 L 0.05703 -0.15347 L 0.05846 0.00486 " pathEditMode="relative" rAng="0" ptsTypes="AAAA">
                                      <p:cBhvr>
                                        <p:cTn id="66" dur="2000" fill="hold"/>
                                        <p:tgtEl>
                                          <p:spTgt spid="8"/>
                                        </p:tgtEl>
                                        <p:attrNameLst>
                                          <p:attrName>ppt_x</p:attrName>
                                          <p:attrName>ppt_y</p:attrName>
                                        </p:attrNameLst>
                                      </p:cBhvr>
                                      <p:rCtr x="2904" y="-7361"/>
                                    </p:animMotion>
                                  </p:childTnLst>
                                </p:cTn>
                              </p:par>
                              <p:par>
                                <p:cTn id="67" presetID="7" presetClass="path" presetSubtype="0" accel="50000" decel="50000" fill="hold" grpId="0" nodeType="withEffect">
                                  <p:stCondLst>
                                    <p:cond delay="0"/>
                                  </p:stCondLst>
                                  <p:childTnLst>
                                    <p:animMotion origin="layout" path="M 4.16667E-6 -1.11111E-6 L 0.00052 0.11713 L -0.0573 0.11528 L -0.06029 0.0044 " pathEditMode="relative" rAng="0" ptsTypes="AAAA">
                                      <p:cBhvr>
                                        <p:cTn id="68" dur="2000" fill="hold"/>
                                        <p:tgtEl>
                                          <p:spTgt spid="9"/>
                                        </p:tgtEl>
                                        <p:attrNameLst>
                                          <p:attrName>ppt_x</p:attrName>
                                          <p:attrName>ppt_y</p:attrName>
                                        </p:attrNameLst>
                                      </p:cBhvr>
                                      <p:rCtr x="-2995" y="5856"/>
                                    </p:animMotion>
                                  </p:childTnLst>
                                </p:cTn>
                              </p:par>
                            </p:childTnLst>
                          </p:cTn>
                        </p:par>
                        <p:par>
                          <p:cTn id="69" fill="hold" nodeType="afterGroup">
                            <p:stCondLst>
                              <p:cond delay="2000"/>
                            </p:stCondLst>
                            <p:childTnLst>
                              <p:par>
                                <p:cTn id="70" presetID="63" presetClass="path" presetSubtype="0" accel="50000" decel="50000" fill="hold" grpId="3" nodeType="afterEffect">
                                  <p:stCondLst>
                                    <p:cond delay="0"/>
                                  </p:stCondLst>
                                  <p:childTnLst>
                                    <p:animMotion origin="layout" path="M 0.18125 2.59259E-6 L 0.2392 -0.0044 " pathEditMode="relative" rAng="0" ptsTypes="AA">
                                      <p:cBhvr>
                                        <p:cTn id="71" dur="2000" fill="hold"/>
                                        <p:tgtEl>
                                          <p:spTgt spid="21"/>
                                        </p:tgtEl>
                                        <p:attrNameLst>
                                          <p:attrName>ppt_x</p:attrName>
                                          <p:attrName>ppt_y</p:attrName>
                                        </p:attrNameLst>
                                      </p:cBhvr>
                                      <p:rCtr x="3047" y="0"/>
                                    </p:animMotion>
                                  </p:childTnLst>
                                </p:cTn>
                              </p:par>
                              <p:par>
                                <p:cTn id="72" presetID="35" presetClass="path" presetSubtype="0" accel="50000" decel="50000" fill="hold" grpId="5" nodeType="withEffect">
                                  <p:stCondLst>
                                    <p:cond delay="0"/>
                                  </p:stCondLst>
                                  <p:childTnLst>
                                    <p:animMotion origin="layout" path="M -0.35938 4.44444E-6 L -0.41875 -3.33333E-6 " pathEditMode="relative" rAng="0" ptsTypes="AA">
                                      <p:cBhvr>
                                        <p:cTn id="73" dur="2000" fill="hold"/>
                                        <p:tgtEl>
                                          <p:spTgt spid="22"/>
                                        </p:tgtEl>
                                        <p:attrNameLst>
                                          <p:attrName>ppt_x</p:attrName>
                                          <p:attrName>ppt_y</p:attrName>
                                        </p:attrNameLst>
                                      </p:cBhvr>
                                      <p:rCtr x="-2826" y="139"/>
                                    </p:animMotion>
                                  </p:childTnLst>
                                </p:cTn>
                              </p:par>
                            </p:childTnLst>
                          </p:cTn>
                        </p:par>
                        <p:par>
                          <p:cTn id="74" fill="hold" nodeType="afterGroup">
                            <p:stCondLst>
                              <p:cond delay="4000"/>
                            </p:stCondLst>
                            <p:childTnLst>
                              <p:par>
                                <p:cTn id="75" presetID="3" presetClass="entr" presetSubtype="10" fill="hold" nodeType="after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blinds(horizontal)">
                                      <p:cBhvr>
                                        <p:cTn id="77" dur="500"/>
                                        <p:tgtEl>
                                          <p:spTgt spid="2"/>
                                        </p:tgtEl>
                                      </p:cBhvr>
                                    </p:animEffect>
                                  </p:childTnLst>
                                </p:cTn>
                              </p:par>
                              <p:par>
                                <p:cTn id="78" presetID="3" presetClass="entr" presetSubtype="10" fill="hold" nodeType="with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blinds(horizontal)">
                                      <p:cBhvr>
                                        <p:cTn id="80" dur="500"/>
                                        <p:tgtEl>
                                          <p:spTgt spid="14"/>
                                        </p:tgtEl>
                                      </p:cBhvr>
                                    </p:animEffect>
                                  </p:childTnLst>
                                </p:cTn>
                              </p:par>
                            </p:childTnLst>
                          </p:cTn>
                        </p:par>
                        <p:par>
                          <p:cTn id="81" fill="hold" nodeType="afterGroup">
                            <p:stCondLst>
                              <p:cond delay="4500"/>
                            </p:stCondLst>
                            <p:childTnLst>
                              <p:par>
                                <p:cTn id="82" presetID="3" presetClass="entr" presetSubtype="10" fill="hold" grpId="0" nodeType="after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blinds(horizontal)">
                                      <p:cBhvr>
                                        <p:cTn id="84" dur="500"/>
                                        <p:tgtEl>
                                          <p:spTgt spid="25"/>
                                        </p:tgtEl>
                                      </p:cBhvr>
                                    </p:animEffect>
                                  </p:childTnLst>
                                </p:cTn>
                              </p:par>
                            </p:childTnLst>
                          </p:cTn>
                        </p:par>
                        <p:par>
                          <p:cTn id="85" fill="hold" nodeType="afterGroup">
                            <p:stCondLst>
                              <p:cond delay="5000"/>
                            </p:stCondLst>
                            <p:childTnLst>
                              <p:par>
                                <p:cTn id="86" presetID="3" presetClass="entr" presetSubtype="10" fill="hold" grpId="0" nodeType="after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blinds(horizontal)">
                                      <p:cBhvr>
                                        <p:cTn id="88" dur="500"/>
                                        <p:tgtEl>
                                          <p:spTgt spid="2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path" presetSubtype="0" accel="50000" decel="50000" fill="hold" grpId="1" nodeType="clickEffect">
                                  <p:stCondLst>
                                    <p:cond delay="0"/>
                                  </p:stCondLst>
                                  <p:childTnLst>
                                    <p:animMotion origin="layout" path="M 0.0039 0.0007 L -0.21446 -0.63055 L -0.21446 -0.11111 " pathEditMode="relative" rAng="0" ptsTypes="AAA">
                                      <p:cBhvr>
                                        <p:cTn id="92" dur="1000" fill="hold"/>
                                        <p:tgtEl>
                                          <p:spTgt spid="25"/>
                                        </p:tgtEl>
                                        <p:attrNameLst>
                                          <p:attrName>ppt_x</p:attrName>
                                          <p:attrName>ppt_y</p:attrName>
                                        </p:attrNameLst>
                                      </p:cBhvr>
                                      <p:rCtr x="-10924" y="-31574"/>
                                    </p:animMotion>
                                  </p:childTnLst>
                                </p:cTn>
                              </p:par>
                            </p:childTnLst>
                          </p:cTn>
                        </p:par>
                        <p:par>
                          <p:cTn id="93" fill="hold" nodeType="afterGroup">
                            <p:stCondLst>
                              <p:cond delay="1000"/>
                            </p:stCondLst>
                            <p:childTnLst>
                              <p:par>
                                <p:cTn id="94" presetID="2" presetClass="path" presetSubtype="0" accel="50000" decel="50000" fill="hold" grpId="1" nodeType="afterEffect">
                                  <p:stCondLst>
                                    <p:cond delay="0"/>
                                  </p:stCondLst>
                                  <p:childTnLst>
                                    <p:animMotion origin="layout" path="M -2.29167E-6 3.33333E-6 L -0.45768 -0.63125 L -0.45768 -0.20348 " pathEditMode="relative" rAng="0" ptsTypes="AAA">
                                      <p:cBhvr>
                                        <p:cTn id="95" dur="1000" fill="hold"/>
                                        <p:tgtEl>
                                          <p:spTgt spid="26"/>
                                        </p:tgtEl>
                                        <p:attrNameLst>
                                          <p:attrName>ppt_x</p:attrName>
                                          <p:attrName>ppt_y</p:attrName>
                                        </p:attrNameLst>
                                      </p:cBhvr>
                                      <p:rCtr x="-22891" y="-3157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1" grpId="1" animBg="1"/>
      <p:bldP spid="21" grpId="2" animBg="1"/>
      <p:bldP spid="21" grpId="3" animBg="1"/>
      <p:bldP spid="22" grpId="0" animBg="1"/>
      <p:bldP spid="22" grpId="1" animBg="1"/>
      <p:bldP spid="22" grpId="2" animBg="1"/>
      <p:bldP spid="22" grpId="3" animBg="1"/>
      <p:bldP spid="22" grpId="4" animBg="1"/>
      <p:bldP spid="22" grpId="5" animBg="1"/>
      <p:bldP spid="24" grpId="0" animBg="1"/>
      <p:bldP spid="23" grpId="0" animBg="1"/>
      <p:bldP spid="25" grpId="0" animBg="1"/>
      <p:bldP spid="25" grpId="1" animBg="1"/>
      <p:bldP spid="26" grpId="0" animBg="1"/>
      <p:bldP spid="26" grpId="1" animBg="1"/>
      <p:bldP spid="54" grpId="0" animBg="1"/>
      <p:bldP spid="55" grpId="0" animBg="1"/>
      <p:bldP spid="8" grpId="0" animBg="1"/>
      <p:bldP spid="9" grpId="0" animBg="1"/>
      <p:bldP spid="11" grpId="0" animBg="1"/>
      <p:bldP spid="13" grpId="0" animBg="1"/>
      <p:bldP spid="6" grpId="0" animBg="1"/>
      <p:bldP spid="7"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4191000" y="2514600"/>
          <a:ext cx="5791200" cy="1219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tblGrid>
              <a:tr h="609600">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0"/>
                  </a:ext>
                </a:extLst>
              </a:tr>
              <a:tr h="609600">
                <a:tc>
                  <a:txBody>
                    <a:bodyPr/>
                    <a:lstStyle/>
                    <a:p>
                      <a:pPr algn="ctr"/>
                      <a:r>
                        <a:rPr lang="en-US" sz="1600" smtClean="0">
                          <a:solidFill>
                            <a:srgbClr val="002060"/>
                          </a:solidFill>
                        </a:rPr>
                        <a:t>1</a:t>
                      </a:r>
                      <a:endParaRPr lang="en-US" sz="1600">
                        <a:solidFill>
                          <a:srgbClr val="002060"/>
                        </a:solidFill>
                      </a:endParaRPr>
                    </a:p>
                  </a:txBody>
                  <a:tcPr>
                    <a:noFill/>
                  </a:tcPr>
                </a:tc>
                <a:tc>
                  <a:txBody>
                    <a:bodyPr/>
                    <a:lstStyle/>
                    <a:p>
                      <a:pPr algn="ctr"/>
                      <a:r>
                        <a:rPr lang="en-US" sz="1600" smtClean="0">
                          <a:solidFill>
                            <a:srgbClr val="002060"/>
                          </a:solidFill>
                        </a:rPr>
                        <a:t>2</a:t>
                      </a:r>
                      <a:endParaRPr lang="en-US" sz="1600">
                        <a:solidFill>
                          <a:srgbClr val="002060"/>
                        </a:solidFill>
                      </a:endParaRPr>
                    </a:p>
                  </a:txBody>
                  <a:tcPr>
                    <a:noFill/>
                  </a:tcPr>
                </a:tc>
                <a:tc>
                  <a:txBody>
                    <a:bodyPr/>
                    <a:lstStyle/>
                    <a:p>
                      <a:pPr algn="ctr"/>
                      <a:r>
                        <a:rPr lang="en-US" sz="1600" smtClean="0">
                          <a:solidFill>
                            <a:srgbClr val="002060"/>
                          </a:solidFill>
                        </a:rPr>
                        <a:t>3</a:t>
                      </a:r>
                      <a:endParaRPr lang="en-US" sz="1600">
                        <a:solidFill>
                          <a:srgbClr val="002060"/>
                        </a:solidFill>
                      </a:endParaRPr>
                    </a:p>
                  </a:txBody>
                  <a:tcPr>
                    <a:noFill/>
                  </a:tcPr>
                </a:tc>
                <a:tc>
                  <a:txBody>
                    <a:bodyPr/>
                    <a:lstStyle/>
                    <a:p>
                      <a:pPr algn="ctr"/>
                      <a:r>
                        <a:rPr lang="en-US" sz="1600" smtClean="0">
                          <a:solidFill>
                            <a:srgbClr val="002060"/>
                          </a:solidFill>
                        </a:rPr>
                        <a:t>4</a:t>
                      </a:r>
                      <a:endParaRPr lang="en-US" sz="1600">
                        <a:solidFill>
                          <a:srgbClr val="002060"/>
                        </a:solidFill>
                      </a:endParaRPr>
                    </a:p>
                  </a:txBody>
                  <a:tcPr>
                    <a:noFill/>
                  </a:tcPr>
                </a:tc>
                <a:tc>
                  <a:txBody>
                    <a:bodyPr/>
                    <a:lstStyle/>
                    <a:p>
                      <a:pPr algn="ctr"/>
                      <a:r>
                        <a:rPr lang="en-US" sz="1600" smtClean="0">
                          <a:solidFill>
                            <a:srgbClr val="002060"/>
                          </a:solidFill>
                        </a:rPr>
                        <a:t>5</a:t>
                      </a:r>
                      <a:endParaRPr lang="en-US" sz="1600">
                        <a:solidFill>
                          <a:srgbClr val="002060"/>
                        </a:solidFill>
                      </a:endParaRPr>
                    </a:p>
                  </a:txBody>
                  <a:tcPr>
                    <a:noFill/>
                  </a:tcPr>
                </a:tc>
                <a:tc>
                  <a:txBody>
                    <a:bodyPr/>
                    <a:lstStyle/>
                    <a:p>
                      <a:pPr algn="ctr"/>
                      <a:r>
                        <a:rPr lang="en-US" sz="1600" smtClean="0">
                          <a:solidFill>
                            <a:srgbClr val="002060"/>
                          </a:solidFill>
                        </a:rPr>
                        <a:t>6</a:t>
                      </a:r>
                      <a:endParaRPr lang="en-US" sz="1600">
                        <a:solidFill>
                          <a:srgbClr val="002060"/>
                        </a:solidFill>
                      </a:endParaRPr>
                    </a:p>
                  </a:txBody>
                  <a:tcPr>
                    <a:noFill/>
                  </a:tcPr>
                </a:tc>
                <a:tc>
                  <a:txBody>
                    <a:bodyPr/>
                    <a:lstStyle/>
                    <a:p>
                      <a:pPr algn="ctr"/>
                      <a:r>
                        <a:rPr lang="en-US" sz="1600" smtClean="0">
                          <a:solidFill>
                            <a:srgbClr val="002060"/>
                          </a:solidFill>
                        </a:rPr>
                        <a:t>7</a:t>
                      </a:r>
                      <a:endParaRPr lang="en-US" sz="1600">
                        <a:solidFill>
                          <a:srgbClr val="002060"/>
                        </a:solidFill>
                      </a:endParaRPr>
                    </a:p>
                  </a:txBody>
                  <a:tcPr>
                    <a:noFill/>
                  </a:tcPr>
                </a:tc>
                <a:tc>
                  <a:txBody>
                    <a:bodyPr/>
                    <a:lstStyle/>
                    <a:p>
                      <a:pPr algn="ctr"/>
                      <a:r>
                        <a:rPr lang="en-US" sz="1600" smtClean="0">
                          <a:solidFill>
                            <a:srgbClr val="002060"/>
                          </a:solidFill>
                        </a:rPr>
                        <a:t>8</a:t>
                      </a:r>
                      <a:endParaRPr lang="en-US" sz="1600">
                        <a:solidFill>
                          <a:srgbClr val="002060"/>
                        </a:solidFill>
                      </a:endParaRPr>
                    </a:p>
                  </a:txBody>
                  <a:tcPr>
                    <a:noFill/>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BFB8BCE2-3229-4ADB-97C0-681F60590DCE}" type="slidenum">
              <a:rPr lang="en-US" smtClean="0"/>
              <a:pPr>
                <a:defRPr/>
              </a:pPr>
              <a:t>105</a:t>
            </a:fld>
            <a:endParaRPr lang="en-US"/>
          </a:p>
        </p:txBody>
      </p:sp>
      <p:sp>
        <p:nvSpPr>
          <p:cNvPr id="21" name="Up Arrow Callout 20"/>
          <p:cNvSpPr/>
          <p:nvPr/>
        </p:nvSpPr>
        <p:spPr>
          <a:xfrm>
            <a:off x="64770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sp>
        <p:nvSpPr>
          <p:cNvPr id="22" name="Up Arrow Callout 21"/>
          <p:cNvSpPr/>
          <p:nvPr/>
        </p:nvSpPr>
        <p:spPr>
          <a:xfrm>
            <a:off x="93726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sp>
        <p:nvSpPr>
          <p:cNvPr id="18" name="Can 17"/>
          <p:cNvSpPr/>
          <p:nvPr/>
        </p:nvSpPr>
        <p:spPr>
          <a:xfrm>
            <a:off x="2133600" y="2286000"/>
            <a:ext cx="1219200" cy="3276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Down Arrow Callout 23"/>
          <p:cNvSpPr/>
          <p:nvPr/>
        </p:nvSpPr>
        <p:spPr>
          <a:xfrm>
            <a:off x="7848600" y="1752600"/>
            <a:ext cx="609600" cy="68580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x</a:t>
            </a:r>
          </a:p>
        </p:txBody>
      </p:sp>
      <p:sp>
        <p:nvSpPr>
          <p:cNvPr id="19" name="TextBox 18"/>
          <p:cNvSpPr txBox="1"/>
          <p:nvPr/>
        </p:nvSpPr>
        <p:spPr>
          <a:xfrm>
            <a:off x="1600200" y="5715000"/>
            <a:ext cx="2486578" cy="461665"/>
          </a:xfrm>
          <a:prstGeom prst="rect">
            <a:avLst/>
          </a:prstGeom>
          <a:noFill/>
        </p:spPr>
        <p:txBody>
          <a:bodyPr wrap="none">
            <a:spAutoFit/>
          </a:bodyPr>
          <a:lstStyle/>
          <a:p>
            <a:pPr>
              <a:defRPr/>
            </a:pPr>
            <a:r>
              <a:rPr lang="en-US" sz="2400" b="1">
                <a:solidFill>
                  <a:srgbClr val="FF0000"/>
                </a:solidFill>
                <a:latin typeface="Times New Roman" panose="02020603050405020304" pitchFamily="18" charset="0"/>
                <a:cs typeface="Times New Roman" panose="02020603050405020304" pitchFamily="18" charset="0"/>
              </a:rPr>
              <a:t>Đoạn cần sắp xếp</a:t>
            </a:r>
          </a:p>
        </p:txBody>
      </p:sp>
      <p:sp>
        <p:nvSpPr>
          <p:cNvPr id="23" name="Flowchart: Process 22"/>
          <p:cNvSpPr/>
          <p:nvPr/>
        </p:nvSpPr>
        <p:spPr>
          <a:xfrm>
            <a:off x="4191000" y="1143000"/>
            <a:ext cx="1600200" cy="381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i=4, j=8</a:t>
            </a:r>
          </a:p>
        </p:txBody>
      </p:sp>
      <p:sp>
        <p:nvSpPr>
          <p:cNvPr id="25" name="Oval 24"/>
          <p:cNvSpPr/>
          <p:nvPr/>
        </p:nvSpPr>
        <p:spPr>
          <a:xfrm>
            <a:off x="2220914" y="48768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002060"/>
                </a:solidFill>
              </a:rPr>
              <a:t>L=1</a:t>
            </a:r>
          </a:p>
          <a:p>
            <a:pPr algn="ctr">
              <a:defRPr/>
            </a:pPr>
            <a:r>
              <a:rPr lang="en-US" b="1">
                <a:solidFill>
                  <a:srgbClr val="002060"/>
                </a:solidFill>
              </a:rPr>
              <a:t>R=3</a:t>
            </a:r>
          </a:p>
        </p:txBody>
      </p:sp>
      <p:sp>
        <p:nvSpPr>
          <p:cNvPr id="26" name="Oval 25"/>
          <p:cNvSpPr/>
          <p:nvPr/>
        </p:nvSpPr>
        <p:spPr>
          <a:xfrm>
            <a:off x="2233614" y="4278313"/>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L=4</a:t>
            </a:r>
          </a:p>
          <a:p>
            <a:pPr algn="ctr">
              <a:defRPr/>
            </a:pPr>
            <a:r>
              <a:rPr lang="en-US" b="1">
                <a:solidFill>
                  <a:srgbClr val="FF0000"/>
                </a:solidFill>
              </a:rPr>
              <a:t>R=8</a:t>
            </a:r>
          </a:p>
        </p:txBody>
      </p:sp>
      <p:sp>
        <p:nvSpPr>
          <p:cNvPr id="27" name="Oval 26"/>
          <p:cNvSpPr/>
          <p:nvPr/>
        </p:nvSpPr>
        <p:spPr>
          <a:xfrm>
            <a:off x="6553201" y="53340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L=4</a:t>
            </a:r>
          </a:p>
          <a:p>
            <a:pPr algn="ctr">
              <a:defRPr/>
            </a:pPr>
            <a:r>
              <a:rPr lang="en-US" b="1">
                <a:solidFill>
                  <a:srgbClr val="FF0000"/>
                </a:solidFill>
              </a:rPr>
              <a:t>R=5</a:t>
            </a:r>
          </a:p>
        </p:txBody>
      </p:sp>
      <p:sp>
        <p:nvSpPr>
          <p:cNvPr id="28" name="Oval 27"/>
          <p:cNvSpPr/>
          <p:nvPr/>
        </p:nvSpPr>
        <p:spPr>
          <a:xfrm>
            <a:off x="8001001" y="53340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L=5</a:t>
            </a:r>
          </a:p>
          <a:p>
            <a:pPr algn="ctr">
              <a:defRPr/>
            </a:pPr>
            <a:r>
              <a:rPr lang="en-US" b="1">
                <a:solidFill>
                  <a:srgbClr val="FF0000"/>
                </a:solidFill>
              </a:rPr>
              <a:t>R=8</a:t>
            </a:r>
          </a:p>
        </p:txBody>
      </p:sp>
      <p:sp>
        <p:nvSpPr>
          <p:cNvPr id="41" name="Down Arrow 40"/>
          <p:cNvSpPr/>
          <p:nvPr/>
        </p:nvSpPr>
        <p:spPr>
          <a:xfrm>
            <a:off x="6400800" y="167640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a:t>
            </a:r>
          </a:p>
        </p:txBody>
      </p:sp>
      <p:sp>
        <p:nvSpPr>
          <p:cNvPr id="42" name="Down Arrow 41"/>
          <p:cNvSpPr/>
          <p:nvPr/>
        </p:nvSpPr>
        <p:spPr>
          <a:xfrm>
            <a:off x="9296400" y="170815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R</a:t>
            </a:r>
          </a:p>
        </p:txBody>
      </p:sp>
      <p:grpSp>
        <p:nvGrpSpPr>
          <p:cNvPr id="2" name="Group 43"/>
          <p:cNvGrpSpPr>
            <a:grpSpLocks/>
          </p:cNvGrpSpPr>
          <p:nvPr/>
        </p:nvGrpSpPr>
        <p:grpSpPr bwMode="auto">
          <a:xfrm>
            <a:off x="6553200" y="3397250"/>
            <a:ext cx="1066800" cy="1784350"/>
            <a:chOff x="5029200" y="3168093"/>
            <a:chExt cx="1066800" cy="1784907"/>
          </a:xfrm>
        </p:grpSpPr>
        <p:grpSp>
          <p:nvGrpSpPr>
            <p:cNvPr id="64571" name="Group 37"/>
            <p:cNvGrpSpPr>
              <a:grpSpLocks/>
            </p:cNvGrpSpPr>
            <p:nvPr/>
          </p:nvGrpSpPr>
          <p:grpSpPr bwMode="auto">
            <a:xfrm>
              <a:off x="5181600" y="3168093"/>
              <a:ext cx="762000" cy="1371561"/>
              <a:chOff x="3047206" y="4572000"/>
              <a:chExt cx="1524794" cy="230188"/>
            </a:xfrm>
          </p:grpSpPr>
          <p:cxnSp>
            <p:nvCxnSpPr>
              <p:cNvPr id="32" name="Straight Connector 31"/>
              <p:cNvCxnSpPr/>
              <p:nvPr/>
            </p:nvCxnSpPr>
            <p:spPr>
              <a:xfrm>
                <a:off x="3047206" y="4800667"/>
                <a:ext cx="1524794" cy="1599"/>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2932871" y="4687133"/>
                <a:ext cx="228667" cy="0"/>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5400000" flipH="1" flipV="1">
                <a:off x="4457665" y="4686334"/>
                <a:ext cx="228667" cy="0"/>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31" name="Rounded Rectangle 30"/>
            <p:cNvSpPr/>
            <p:nvPr/>
          </p:nvSpPr>
          <p:spPr>
            <a:xfrm>
              <a:off x="5029200" y="4603641"/>
              <a:ext cx="1066800" cy="349359"/>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Đoạn 1</a:t>
              </a:r>
            </a:p>
          </p:txBody>
        </p:sp>
      </p:grpSp>
      <p:grpSp>
        <p:nvGrpSpPr>
          <p:cNvPr id="14" name="Group 44"/>
          <p:cNvGrpSpPr>
            <a:grpSpLocks/>
          </p:cNvGrpSpPr>
          <p:nvPr/>
        </p:nvGrpSpPr>
        <p:grpSpPr bwMode="auto">
          <a:xfrm>
            <a:off x="7543800" y="3386138"/>
            <a:ext cx="2057400" cy="1795462"/>
            <a:chOff x="6019800" y="3157827"/>
            <a:chExt cx="2057400" cy="1795173"/>
          </a:xfrm>
        </p:grpSpPr>
        <p:sp>
          <p:nvSpPr>
            <p:cNvPr id="36" name="Rounded Rectangle 35"/>
            <p:cNvSpPr/>
            <p:nvPr/>
          </p:nvSpPr>
          <p:spPr>
            <a:xfrm>
              <a:off x="6329363" y="4603806"/>
              <a:ext cx="1322387" cy="349194"/>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Đoạn 2</a:t>
              </a:r>
            </a:p>
          </p:txBody>
        </p:sp>
        <p:grpSp>
          <p:nvGrpSpPr>
            <p:cNvPr id="64567" name="Group 51"/>
            <p:cNvGrpSpPr>
              <a:grpSpLocks/>
            </p:cNvGrpSpPr>
            <p:nvPr/>
          </p:nvGrpSpPr>
          <p:grpSpPr bwMode="auto">
            <a:xfrm>
              <a:off x="6019800" y="3157827"/>
              <a:ext cx="2057400" cy="1382641"/>
              <a:chOff x="4931547" y="3139960"/>
              <a:chExt cx="3471473" cy="1382641"/>
            </a:xfrm>
          </p:grpSpPr>
          <p:cxnSp>
            <p:nvCxnSpPr>
              <p:cNvPr id="38" name="Straight Connector 37"/>
              <p:cNvCxnSpPr/>
              <p:nvPr/>
            </p:nvCxnSpPr>
            <p:spPr>
              <a:xfrm>
                <a:off x="4931547" y="4501815"/>
                <a:ext cx="3471473" cy="9523"/>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5400000" flipH="1" flipV="1">
                <a:off x="4254638" y="3840182"/>
                <a:ext cx="1361855" cy="2678"/>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7704682" y="3819549"/>
                <a:ext cx="1361855" cy="2678"/>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grpSp>
      </p:grpSp>
      <p:sp>
        <p:nvSpPr>
          <p:cNvPr id="8" name="Oval 7"/>
          <p:cNvSpPr/>
          <p:nvPr/>
        </p:nvSpPr>
        <p:spPr>
          <a:xfrm>
            <a:off x="5688013"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9" name="Oval 8"/>
          <p:cNvSpPr/>
          <p:nvPr/>
        </p:nvSpPr>
        <p:spPr>
          <a:xfrm>
            <a:off x="6415088"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10" name="Oval 9"/>
          <p:cNvSpPr/>
          <p:nvPr/>
        </p:nvSpPr>
        <p:spPr>
          <a:xfrm>
            <a:off x="71628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1" name="Oval 10"/>
          <p:cNvSpPr/>
          <p:nvPr/>
        </p:nvSpPr>
        <p:spPr>
          <a:xfrm>
            <a:off x="7848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sp>
        <p:nvSpPr>
          <p:cNvPr id="12" name="Oval 11"/>
          <p:cNvSpPr/>
          <p:nvPr/>
        </p:nvSpPr>
        <p:spPr>
          <a:xfrm>
            <a:off x="8610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92964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6" name="Oval 5"/>
          <p:cNvSpPr/>
          <p:nvPr/>
        </p:nvSpPr>
        <p:spPr>
          <a:xfrm>
            <a:off x="4259263"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7" name="Oval 6"/>
          <p:cNvSpPr/>
          <p:nvPr/>
        </p:nvSpPr>
        <p:spPr>
          <a:xfrm>
            <a:off x="4965700"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37" name="Title 1"/>
          <p:cNvSpPr txBox="1">
            <a:spLocks/>
          </p:cNvSpPr>
          <p:nvPr/>
        </p:nvSpPr>
        <p:spPr>
          <a:xfrm>
            <a:off x="609600" y="381000"/>
            <a:ext cx="10515600"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5. Quick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8.33333E-7 2.96296E-6 L 0.00768 -0.41922 " pathEditMode="relative" rAng="0" ptsTypes="AA">
                                      <p:cBhvr>
                                        <p:cTn id="6" dur="2000" fill="hold"/>
                                        <p:tgtEl>
                                          <p:spTgt spid="26"/>
                                        </p:tgtEl>
                                        <p:attrNameLst>
                                          <p:attrName>ppt_x</p:attrName>
                                          <p:attrName>ppt_y</p:attrName>
                                        </p:attrNameLst>
                                      </p:cBhvr>
                                      <p:rCtr x="378" y="-20972"/>
                                    </p:animMotion>
                                  </p:childTnLst>
                                </p:cTn>
                              </p:par>
                            </p:childTnLst>
                          </p:cTn>
                        </p:par>
                        <p:par>
                          <p:cTn id="7" fill="hold" nodeType="afterGroup">
                            <p:stCondLst>
                              <p:cond delay="2000"/>
                            </p:stCondLst>
                            <p:childTnLst>
                              <p:par>
                                <p:cTn id="8" presetID="3" presetClass="entr" presetSubtype="10"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childTnLst>
                          </p:cTn>
                        </p:par>
                        <p:par>
                          <p:cTn id="11" fill="hold" nodeType="afterGroup">
                            <p:stCondLst>
                              <p:cond delay="2500"/>
                            </p:stCondLst>
                            <p:childTnLst>
                              <p:par>
                                <p:cTn id="12" presetID="2" presetClass="entr" presetSubtype="1" fill="hold" grpId="0" nodeType="afterEffect">
                                  <p:stCondLst>
                                    <p:cond delay="0"/>
                                  </p:stCondLst>
                                  <p:childTnLst>
                                    <p:set>
                                      <p:cBhvr>
                                        <p:cTn id="13" dur="1" fill="hold">
                                          <p:stCondLst>
                                            <p:cond delay="0"/>
                                          </p:stCondLst>
                                        </p:cTn>
                                        <p:tgtEl>
                                          <p:spTgt spid="41"/>
                                        </p:tgtEl>
                                        <p:attrNameLst>
                                          <p:attrName>style.visibility</p:attrName>
                                        </p:attrNameLst>
                                      </p:cBhvr>
                                      <p:to>
                                        <p:strVal val="visible"/>
                                      </p:to>
                                    </p:set>
                                    <p:anim calcmode="lin" valueType="num">
                                      <p:cBhvr additive="base">
                                        <p:cTn id="14" dur="500" fill="hold"/>
                                        <p:tgtEl>
                                          <p:spTgt spid="41"/>
                                        </p:tgtEl>
                                        <p:attrNameLst>
                                          <p:attrName>ppt_x</p:attrName>
                                        </p:attrNameLst>
                                      </p:cBhvr>
                                      <p:tavLst>
                                        <p:tav tm="0">
                                          <p:val>
                                            <p:strVal val="#ppt_x"/>
                                          </p:val>
                                        </p:tav>
                                        <p:tav tm="100000">
                                          <p:val>
                                            <p:strVal val="#ppt_x"/>
                                          </p:val>
                                        </p:tav>
                                      </p:tavLst>
                                    </p:anim>
                                    <p:anim calcmode="lin" valueType="num">
                                      <p:cBhvr additive="base">
                                        <p:cTn id="15" dur="500" fill="hold"/>
                                        <p:tgtEl>
                                          <p:spTgt spid="41"/>
                                        </p:tgtEl>
                                        <p:attrNameLst>
                                          <p:attrName>ppt_y</p:attrName>
                                        </p:attrNameLst>
                                      </p:cBhvr>
                                      <p:tavLst>
                                        <p:tav tm="0">
                                          <p:val>
                                            <p:strVal val="0-#ppt_h/2"/>
                                          </p:val>
                                        </p:tav>
                                        <p:tav tm="100000">
                                          <p:val>
                                            <p:strVal val="#ppt_y"/>
                                          </p:val>
                                        </p:tav>
                                      </p:tavLst>
                                    </p:anim>
                                  </p:childTnLst>
                                </p:cTn>
                              </p:par>
                              <p:par>
                                <p:cTn id="16" presetID="2" presetClass="entr" presetSubtype="1" fill="hold" grpId="0" nodeType="withEffect">
                                  <p:stCondLst>
                                    <p:cond delay="0"/>
                                  </p:stCondLst>
                                  <p:childTnLst>
                                    <p:set>
                                      <p:cBhvr>
                                        <p:cTn id="17" dur="1" fill="hold">
                                          <p:stCondLst>
                                            <p:cond delay="0"/>
                                          </p:stCondLst>
                                        </p:cTn>
                                        <p:tgtEl>
                                          <p:spTgt spid="42"/>
                                        </p:tgtEl>
                                        <p:attrNameLst>
                                          <p:attrName>style.visibility</p:attrName>
                                        </p:attrNameLst>
                                      </p:cBhvr>
                                      <p:to>
                                        <p:strVal val="visible"/>
                                      </p:to>
                                    </p:set>
                                    <p:anim calcmode="lin" valueType="num">
                                      <p:cBhvr additive="base">
                                        <p:cTn id="18" dur="500" fill="hold"/>
                                        <p:tgtEl>
                                          <p:spTgt spid="42"/>
                                        </p:tgtEl>
                                        <p:attrNameLst>
                                          <p:attrName>ppt_x</p:attrName>
                                        </p:attrNameLst>
                                      </p:cBhvr>
                                      <p:tavLst>
                                        <p:tav tm="0">
                                          <p:val>
                                            <p:strVal val="#ppt_x"/>
                                          </p:val>
                                        </p:tav>
                                        <p:tav tm="100000">
                                          <p:val>
                                            <p:strVal val="#ppt_x"/>
                                          </p:val>
                                        </p:tav>
                                      </p:tavLst>
                                    </p:anim>
                                    <p:anim calcmode="lin" valueType="num">
                                      <p:cBhvr additive="base">
                                        <p:cTn id="19" dur="500" fill="hold"/>
                                        <p:tgtEl>
                                          <p:spTgt spid="42"/>
                                        </p:tgtEl>
                                        <p:attrNameLst>
                                          <p:attrName>ppt_y</p:attrName>
                                        </p:attrNameLst>
                                      </p:cBhvr>
                                      <p:tavLst>
                                        <p:tav tm="0">
                                          <p:val>
                                            <p:strVal val="0-#ppt_h/2"/>
                                          </p:val>
                                        </p:tav>
                                        <p:tav tm="100000">
                                          <p:val>
                                            <p:strVal val="#ppt_y"/>
                                          </p:val>
                                        </p:tav>
                                      </p:tavLst>
                                    </p:anim>
                                  </p:childTnLst>
                                </p:cTn>
                              </p:par>
                            </p:childTnLst>
                          </p:cTn>
                        </p:par>
                        <p:par>
                          <p:cTn id="20" fill="hold" nodeType="afterGroup">
                            <p:stCondLst>
                              <p:cond delay="3000"/>
                            </p:stCondLst>
                            <p:childTnLst>
                              <p:par>
                                <p:cTn id="21" presetID="2" presetClass="entr" presetSubtype="4"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3500"/>
                            </p:stCondLst>
                            <p:childTnLst>
                              <p:par>
                                <p:cTn id="30" presetID="2" presetClass="entr" presetSubtype="1"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500" fill="hold"/>
                                        <p:tgtEl>
                                          <p:spTgt spid="24"/>
                                        </p:tgtEl>
                                        <p:attrNameLst>
                                          <p:attrName>ppt_x</p:attrName>
                                        </p:attrNameLst>
                                      </p:cBhvr>
                                      <p:tavLst>
                                        <p:tav tm="0">
                                          <p:val>
                                            <p:strVal val="#ppt_x"/>
                                          </p:val>
                                        </p:tav>
                                        <p:tav tm="100000">
                                          <p:val>
                                            <p:strVal val="#ppt_x"/>
                                          </p:val>
                                        </p:tav>
                                      </p:tavLst>
                                    </p:anim>
                                    <p:anim calcmode="lin" valueType="num">
                                      <p:cBhvr additive="base">
                                        <p:cTn id="33"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35" presetClass="path" presetSubtype="0" accel="50000" decel="50000" fill="hold" grpId="1" nodeType="clickEffect">
                                  <p:stCondLst>
                                    <p:cond delay="0"/>
                                  </p:stCondLst>
                                  <p:childTnLst>
                                    <p:animMotion origin="layout" path="M 3.125E-6 4.44444E-6 L -0.0573 4.44444E-6 " pathEditMode="relative" rAng="0" ptsTypes="AA">
                                      <p:cBhvr>
                                        <p:cTn id="37" dur="2000" fill="hold"/>
                                        <p:tgtEl>
                                          <p:spTgt spid="22"/>
                                        </p:tgtEl>
                                        <p:attrNameLst>
                                          <p:attrName>ppt_x</p:attrName>
                                          <p:attrName>ppt_y</p:attrName>
                                        </p:attrNameLst>
                                      </p:cBhvr>
                                      <p:rCtr x="-2930" y="0"/>
                                    </p:animMotion>
                                  </p:childTnLst>
                                </p:cTn>
                              </p:par>
                            </p:childTnLst>
                          </p:cTn>
                        </p:par>
                        <p:par>
                          <p:cTn id="38" fill="hold" nodeType="afterGroup">
                            <p:stCondLst>
                              <p:cond delay="2000"/>
                            </p:stCondLst>
                            <p:childTnLst>
                              <p:par>
                                <p:cTn id="39" presetID="35" presetClass="path" presetSubtype="0" accel="50000" decel="50000" fill="hold" grpId="2" nodeType="afterEffect">
                                  <p:stCondLst>
                                    <p:cond delay="0"/>
                                  </p:stCondLst>
                                  <p:childTnLst>
                                    <p:animMotion origin="layout" path="M -0.05937 4.44444E-6 L -0.12188 0.00324 " pathEditMode="relative" rAng="0" ptsTypes="AA">
                                      <p:cBhvr>
                                        <p:cTn id="40" dur="2000" fill="hold"/>
                                        <p:tgtEl>
                                          <p:spTgt spid="22"/>
                                        </p:tgtEl>
                                        <p:attrNameLst>
                                          <p:attrName>ppt_x</p:attrName>
                                          <p:attrName>ppt_y</p:attrName>
                                        </p:attrNameLst>
                                      </p:cBhvr>
                                      <p:rCtr x="-3125" y="162"/>
                                    </p:animMotion>
                                  </p:childTnLst>
                                </p:cTn>
                              </p:par>
                            </p:childTnLst>
                          </p:cTn>
                        </p:par>
                      </p:childTnLst>
                    </p:cTn>
                  </p:par>
                  <p:par>
                    <p:cTn id="41" fill="hold" nodeType="clickPar">
                      <p:stCondLst>
                        <p:cond delay="indefinite"/>
                      </p:stCondLst>
                      <p:childTnLst>
                        <p:par>
                          <p:cTn id="42" fill="hold" nodeType="withGroup">
                            <p:stCondLst>
                              <p:cond delay="0"/>
                            </p:stCondLst>
                            <p:childTnLst>
                              <p:par>
                                <p:cTn id="43" presetID="7" presetClass="path" presetSubtype="0" accel="50000" decel="50000" fill="hold" grpId="0" nodeType="clickEffect">
                                  <p:stCondLst>
                                    <p:cond delay="0"/>
                                  </p:stCondLst>
                                  <p:childTnLst>
                                    <p:animMotion origin="layout" path="M -0.00039 -0.00278 L -0.00104 -0.12199 L 0.11758 -0.12199 L 0.11758 1.11111E-6 " pathEditMode="relative" rAng="0" ptsTypes="AAAA">
                                      <p:cBhvr>
                                        <p:cTn id="44" dur="1000" fill="hold"/>
                                        <p:tgtEl>
                                          <p:spTgt spid="9"/>
                                        </p:tgtEl>
                                        <p:attrNameLst>
                                          <p:attrName>ppt_x</p:attrName>
                                          <p:attrName>ppt_y</p:attrName>
                                        </p:attrNameLst>
                                      </p:cBhvr>
                                      <p:rCtr x="5859" y="-5833"/>
                                    </p:animMotion>
                                  </p:childTnLst>
                                </p:cTn>
                              </p:par>
                              <p:par>
                                <p:cTn id="45" presetID="7" presetClass="path" presetSubtype="0" accel="50000" decel="50000" fill="hold" grpId="0" nodeType="withEffect">
                                  <p:stCondLst>
                                    <p:cond delay="0"/>
                                  </p:stCondLst>
                                  <p:childTnLst>
                                    <p:animMotion origin="layout" path="M -8.33333E-7 -1.11111E-6 L 0.00208 0.12222 L -0.1181 0.11991 L -0.11927 -0.00185 " pathEditMode="relative" rAng="0" ptsTypes="AAAA">
                                      <p:cBhvr>
                                        <p:cTn id="46" dur="1000" fill="hold"/>
                                        <p:tgtEl>
                                          <p:spTgt spid="11"/>
                                        </p:tgtEl>
                                        <p:attrNameLst>
                                          <p:attrName>ppt_x</p:attrName>
                                          <p:attrName>ppt_y</p:attrName>
                                        </p:attrNameLst>
                                      </p:cBhvr>
                                      <p:rCtr x="-5859" y="6019"/>
                                    </p:animMotion>
                                  </p:childTnLst>
                                </p:cTn>
                              </p:par>
                            </p:childTnLst>
                          </p:cTn>
                        </p:par>
                        <p:par>
                          <p:cTn id="47" fill="hold" nodeType="afterGroup">
                            <p:stCondLst>
                              <p:cond delay="1000"/>
                            </p:stCondLst>
                            <p:childTnLst>
                              <p:par>
                                <p:cTn id="48" presetID="35" presetClass="path" presetSubtype="0" accel="50000" decel="50000" fill="hold" grpId="3" nodeType="afterEffect">
                                  <p:stCondLst>
                                    <p:cond delay="0"/>
                                  </p:stCondLst>
                                  <p:childTnLst>
                                    <p:animMotion origin="layout" path="M -0.17813 4.44444E-6 L -0.2375 3.33333E-6 " pathEditMode="relative" rAng="0" ptsTypes="AA">
                                      <p:cBhvr>
                                        <p:cTn id="49" dur="2000" fill="hold"/>
                                        <p:tgtEl>
                                          <p:spTgt spid="22"/>
                                        </p:tgtEl>
                                        <p:attrNameLst>
                                          <p:attrName>ppt_x</p:attrName>
                                          <p:attrName>ppt_y</p:attrName>
                                        </p:attrNameLst>
                                      </p:cBhvr>
                                      <p:rCtr x="-3125" y="-69"/>
                                    </p:animMotion>
                                  </p:childTnLst>
                                </p:cTn>
                              </p:par>
                              <p:par>
                                <p:cTn id="50" presetID="63" presetClass="path" presetSubtype="0" accel="50000" decel="50000" fill="hold" grpId="1" nodeType="withEffect">
                                  <p:stCondLst>
                                    <p:cond delay="0"/>
                                  </p:stCondLst>
                                  <p:childTnLst>
                                    <p:animMotion origin="layout" path="M 6.67869E-17 3.33333E-6 L 0.05938 4.44444E-6 " pathEditMode="relative" rAng="0" ptsTypes="AA">
                                      <p:cBhvr>
                                        <p:cTn id="51" dur="2000" fill="hold"/>
                                        <p:tgtEl>
                                          <p:spTgt spid="21"/>
                                        </p:tgtEl>
                                        <p:attrNameLst>
                                          <p:attrName>ppt_x</p:attrName>
                                          <p:attrName>ppt_y</p:attrName>
                                        </p:attrNameLst>
                                      </p:cBhvr>
                                      <p:rCtr x="3125" y="69"/>
                                    </p:animMotion>
                                  </p:childTnLst>
                                </p:cTn>
                              </p:par>
                            </p:childTnLst>
                          </p:cTn>
                        </p:par>
                        <p:par>
                          <p:cTn id="52" fill="hold" nodeType="afterGroup">
                            <p:stCondLst>
                              <p:cond delay="3000"/>
                            </p:stCondLst>
                            <p:childTnLst>
                              <p:par>
                                <p:cTn id="53" presetID="3" presetClass="entr" presetSubtype="10" fill="hold" nodeType="after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blinds(horizontal)">
                                      <p:cBhvr>
                                        <p:cTn id="55" dur="500"/>
                                        <p:tgtEl>
                                          <p:spTgt spid="2"/>
                                        </p:tgtEl>
                                      </p:cBhvr>
                                    </p:animEffect>
                                  </p:childTnLst>
                                </p:cTn>
                              </p:par>
                              <p:par>
                                <p:cTn id="56" presetID="3" presetClass="entr" presetSubtype="10" fill="hold"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blinds(horizontal)">
                                      <p:cBhvr>
                                        <p:cTn id="58" dur="500"/>
                                        <p:tgtEl>
                                          <p:spTgt spid="14"/>
                                        </p:tgtEl>
                                      </p:cBhvr>
                                    </p:animEffect>
                                  </p:childTnLst>
                                </p:cTn>
                              </p:par>
                            </p:childTnLst>
                          </p:cTn>
                        </p:par>
                        <p:par>
                          <p:cTn id="59" fill="hold" nodeType="afterGroup">
                            <p:stCondLst>
                              <p:cond delay="3500"/>
                            </p:stCondLst>
                            <p:childTnLst>
                              <p:par>
                                <p:cTn id="60" presetID="3" presetClass="entr" presetSubtype="10" fill="hold" grpId="0" nodeType="after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blinds(horizontal)">
                                      <p:cBhvr>
                                        <p:cTn id="62" dur="500"/>
                                        <p:tgtEl>
                                          <p:spTgt spid="27"/>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blinds(horizontal)">
                                      <p:cBhvr>
                                        <p:cTn id="65" dur="500"/>
                                        <p:tgtEl>
                                          <p:spTgt spid="28"/>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path" presetSubtype="0" accel="50000" decel="50000" fill="hold" grpId="1" nodeType="clickEffect">
                                  <p:stCondLst>
                                    <p:cond delay="0"/>
                                  </p:stCondLst>
                                  <p:childTnLst>
                                    <p:animMotion origin="layout" path="M -0.00052 0.00301 L -0.35534 -0.56875 L -0.3543 -0.15393 " pathEditMode="relative" rAng="0" ptsTypes="AAA">
                                      <p:cBhvr>
                                        <p:cTn id="69" dur="1000" fill="hold"/>
                                        <p:tgtEl>
                                          <p:spTgt spid="27"/>
                                        </p:tgtEl>
                                        <p:attrNameLst>
                                          <p:attrName>ppt_x</p:attrName>
                                          <p:attrName>ppt_y</p:attrName>
                                        </p:attrNameLst>
                                      </p:cBhvr>
                                      <p:rCtr x="-17747" y="-28588"/>
                                    </p:animMotion>
                                  </p:childTnLst>
                                </p:cTn>
                              </p:par>
                            </p:childTnLst>
                          </p:cTn>
                        </p:par>
                        <p:par>
                          <p:cTn id="70" fill="hold" nodeType="afterGroup">
                            <p:stCondLst>
                              <p:cond delay="1000"/>
                            </p:stCondLst>
                            <p:childTnLst>
                              <p:par>
                                <p:cTn id="71" presetID="2" presetClass="path" presetSubtype="0" accel="50000" decel="50000" fill="hold" grpId="1" nodeType="afterEffect">
                                  <p:stCondLst>
                                    <p:cond delay="0"/>
                                  </p:stCondLst>
                                  <p:childTnLst>
                                    <p:animMotion origin="layout" path="M 2.29167E-6 -2.22222E-6 L -0.47292 -0.56852 L -0.47357 -0.24352 " pathEditMode="relative" rAng="0" ptsTypes="AAA">
                                      <p:cBhvr>
                                        <p:cTn id="72" dur="1000" fill="hold"/>
                                        <p:tgtEl>
                                          <p:spTgt spid="28"/>
                                        </p:tgtEl>
                                        <p:attrNameLst>
                                          <p:attrName>ppt_x</p:attrName>
                                          <p:attrName>ppt_y</p:attrName>
                                        </p:attrNameLst>
                                      </p:cBhvr>
                                      <p:rCtr x="-23685" y="-284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2" grpId="0" animBg="1"/>
      <p:bldP spid="22" grpId="1" animBg="1"/>
      <p:bldP spid="22" grpId="2" animBg="1"/>
      <p:bldP spid="22" grpId="3" animBg="1"/>
      <p:bldP spid="24" grpId="0" animBg="1"/>
      <p:bldP spid="23" grpId="0" animBg="1"/>
      <p:bldP spid="26" grpId="0" animBg="1"/>
      <p:bldP spid="27" grpId="0" animBg="1"/>
      <p:bldP spid="27" grpId="1" animBg="1"/>
      <p:bldP spid="28" grpId="0" animBg="1"/>
      <p:bldP spid="28" grpId="1" animBg="1"/>
      <p:bldP spid="41" grpId="0" animBg="1"/>
      <p:bldP spid="42" grpId="0" animBg="1"/>
      <p:bldP spid="9" grpId="0" animBg="1"/>
      <p:bldP spid="11"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4191000" y="2514600"/>
          <a:ext cx="5791200" cy="1219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tblGrid>
              <a:tr h="609600">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0"/>
                  </a:ext>
                </a:extLst>
              </a:tr>
              <a:tr h="609600">
                <a:tc>
                  <a:txBody>
                    <a:bodyPr/>
                    <a:lstStyle/>
                    <a:p>
                      <a:pPr algn="ctr"/>
                      <a:r>
                        <a:rPr lang="en-US" sz="1600" smtClean="0">
                          <a:solidFill>
                            <a:srgbClr val="002060"/>
                          </a:solidFill>
                        </a:rPr>
                        <a:t>1</a:t>
                      </a:r>
                      <a:endParaRPr lang="en-US" sz="1600">
                        <a:solidFill>
                          <a:srgbClr val="002060"/>
                        </a:solidFill>
                      </a:endParaRPr>
                    </a:p>
                  </a:txBody>
                  <a:tcPr>
                    <a:noFill/>
                  </a:tcPr>
                </a:tc>
                <a:tc>
                  <a:txBody>
                    <a:bodyPr/>
                    <a:lstStyle/>
                    <a:p>
                      <a:pPr algn="ctr"/>
                      <a:r>
                        <a:rPr lang="en-US" sz="1600" smtClean="0">
                          <a:solidFill>
                            <a:srgbClr val="002060"/>
                          </a:solidFill>
                        </a:rPr>
                        <a:t>2</a:t>
                      </a:r>
                      <a:endParaRPr lang="en-US" sz="1600">
                        <a:solidFill>
                          <a:srgbClr val="002060"/>
                        </a:solidFill>
                      </a:endParaRPr>
                    </a:p>
                  </a:txBody>
                  <a:tcPr>
                    <a:noFill/>
                  </a:tcPr>
                </a:tc>
                <a:tc>
                  <a:txBody>
                    <a:bodyPr/>
                    <a:lstStyle/>
                    <a:p>
                      <a:pPr algn="ctr"/>
                      <a:r>
                        <a:rPr lang="en-US" sz="1600" smtClean="0">
                          <a:solidFill>
                            <a:srgbClr val="002060"/>
                          </a:solidFill>
                        </a:rPr>
                        <a:t>3</a:t>
                      </a:r>
                      <a:endParaRPr lang="en-US" sz="1600">
                        <a:solidFill>
                          <a:srgbClr val="002060"/>
                        </a:solidFill>
                      </a:endParaRPr>
                    </a:p>
                  </a:txBody>
                  <a:tcPr>
                    <a:noFill/>
                  </a:tcPr>
                </a:tc>
                <a:tc>
                  <a:txBody>
                    <a:bodyPr/>
                    <a:lstStyle/>
                    <a:p>
                      <a:pPr algn="ctr"/>
                      <a:r>
                        <a:rPr lang="en-US" sz="1600" smtClean="0">
                          <a:solidFill>
                            <a:srgbClr val="002060"/>
                          </a:solidFill>
                        </a:rPr>
                        <a:t>4</a:t>
                      </a:r>
                      <a:endParaRPr lang="en-US" sz="1600">
                        <a:solidFill>
                          <a:srgbClr val="002060"/>
                        </a:solidFill>
                      </a:endParaRPr>
                    </a:p>
                  </a:txBody>
                  <a:tcPr>
                    <a:noFill/>
                  </a:tcPr>
                </a:tc>
                <a:tc>
                  <a:txBody>
                    <a:bodyPr/>
                    <a:lstStyle/>
                    <a:p>
                      <a:pPr algn="ctr"/>
                      <a:r>
                        <a:rPr lang="en-US" sz="1600" smtClean="0">
                          <a:solidFill>
                            <a:srgbClr val="002060"/>
                          </a:solidFill>
                        </a:rPr>
                        <a:t>5</a:t>
                      </a:r>
                      <a:endParaRPr lang="en-US" sz="1600">
                        <a:solidFill>
                          <a:srgbClr val="002060"/>
                        </a:solidFill>
                      </a:endParaRPr>
                    </a:p>
                  </a:txBody>
                  <a:tcPr>
                    <a:noFill/>
                  </a:tcPr>
                </a:tc>
                <a:tc>
                  <a:txBody>
                    <a:bodyPr/>
                    <a:lstStyle/>
                    <a:p>
                      <a:pPr algn="ctr"/>
                      <a:r>
                        <a:rPr lang="en-US" sz="1600" smtClean="0">
                          <a:solidFill>
                            <a:srgbClr val="002060"/>
                          </a:solidFill>
                        </a:rPr>
                        <a:t>6</a:t>
                      </a:r>
                      <a:endParaRPr lang="en-US" sz="1600">
                        <a:solidFill>
                          <a:srgbClr val="002060"/>
                        </a:solidFill>
                      </a:endParaRPr>
                    </a:p>
                  </a:txBody>
                  <a:tcPr>
                    <a:noFill/>
                  </a:tcPr>
                </a:tc>
                <a:tc>
                  <a:txBody>
                    <a:bodyPr/>
                    <a:lstStyle/>
                    <a:p>
                      <a:pPr algn="ctr"/>
                      <a:r>
                        <a:rPr lang="en-US" sz="1600" smtClean="0">
                          <a:solidFill>
                            <a:srgbClr val="002060"/>
                          </a:solidFill>
                        </a:rPr>
                        <a:t>7</a:t>
                      </a:r>
                      <a:endParaRPr lang="en-US" sz="1600">
                        <a:solidFill>
                          <a:srgbClr val="002060"/>
                        </a:solidFill>
                      </a:endParaRPr>
                    </a:p>
                  </a:txBody>
                  <a:tcPr>
                    <a:noFill/>
                  </a:tcPr>
                </a:tc>
                <a:tc>
                  <a:txBody>
                    <a:bodyPr/>
                    <a:lstStyle/>
                    <a:p>
                      <a:pPr algn="ctr"/>
                      <a:r>
                        <a:rPr lang="en-US" sz="1600" smtClean="0">
                          <a:solidFill>
                            <a:srgbClr val="002060"/>
                          </a:solidFill>
                        </a:rPr>
                        <a:t>8</a:t>
                      </a:r>
                      <a:endParaRPr lang="en-US" sz="1600">
                        <a:solidFill>
                          <a:srgbClr val="002060"/>
                        </a:solidFill>
                      </a:endParaRPr>
                    </a:p>
                  </a:txBody>
                  <a:tcPr>
                    <a:noFill/>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3BF4A5E2-2488-4C6A-A81F-E36C55C7A546}" type="slidenum">
              <a:rPr lang="en-US" smtClean="0"/>
              <a:pPr>
                <a:defRPr/>
              </a:pPr>
              <a:t>106</a:t>
            </a:fld>
            <a:endParaRPr lang="en-US"/>
          </a:p>
        </p:txBody>
      </p:sp>
      <p:sp>
        <p:nvSpPr>
          <p:cNvPr id="18" name="Can 17"/>
          <p:cNvSpPr/>
          <p:nvPr/>
        </p:nvSpPr>
        <p:spPr>
          <a:xfrm>
            <a:off x="2133600" y="2286000"/>
            <a:ext cx="1219200" cy="3276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TextBox 18"/>
          <p:cNvSpPr txBox="1"/>
          <p:nvPr/>
        </p:nvSpPr>
        <p:spPr>
          <a:xfrm>
            <a:off x="1447800" y="5715000"/>
            <a:ext cx="2869696" cy="523220"/>
          </a:xfrm>
          <a:prstGeom prst="rect">
            <a:avLst/>
          </a:prstGeom>
          <a:noFill/>
        </p:spPr>
        <p:txBody>
          <a:bodyPr wrap="none">
            <a:spAutoFit/>
          </a:bodyPr>
          <a:lstStyle/>
          <a:p>
            <a:pPr>
              <a:defRPr/>
            </a:pPr>
            <a:r>
              <a:rPr lang="en-US" sz="2800" b="1">
                <a:solidFill>
                  <a:srgbClr val="FF0000"/>
                </a:solidFill>
                <a:latin typeface="Times New Roman" panose="02020603050405020304" pitchFamily="18" charset="0"/>
                <a:cs typeface="Times New Roman" panose="02020603050405020304" pitchFamily="18" charset="0"/>
              </a:rPr>
              <a:t>Đoạn cần sắp xếp</a:t>
            </a:r>
          </a:p>
        </p:txBody>
      </p:sp>
      <p:sp>
        <p:nvSpPr>
          <p:cNvPr id="21" name="Up Arrow Callout 20"/>
          <p:cNvSpPr/>
          <p:nvPr/>
        </p:nvSpPr>
        <p:spPr>
          <a:xfrm>
            <a:off x="71628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sp>
        <p:nvSpPr>
          <p:cNvPr id="22" name="Up Arrow Callout 21"/>
          <p:cNvSpPr/>
          <p:nvPr/>
        </p:nvSpPr>
        <p:spPr>
          <a:xfrm>
            <a:off x="93726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sp>
        <p:nvSpPr>
          <p:cNvPr id="23" name="Flowchart: Process 22"/>
          <p:cNvSpPr/>
          <p:nvPr/>
        </p:nvSpPr>
        <p:spPr>
          <a:xfrm>
            <a:off x="4191000" y="1143000"/>
            <a:ext cx="1600200" cy="381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i=5, j=8</a:t>
            </a:r>
          </a:p>
        </p:txBody>
      </p:sp>
      <p:sp>
        <p:nvSpPr>
          <p:cNvPr id="24" name="Down Arrow Callout 23"/>
          <p:cNvSpPr/>
          <p:nvPr/>
        </p:nvSpPr>
        <p:spPr>
          <a:xfrm>
            <a:off x="7848600" y="1752600"/>
            <a:ext cx="609600" cy="68580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x</a:t>
            </a:r>
          </a:p>
        </p:txBody>
      </p:sp>
      <p:sp>
        <p:nvSpPr>
          <p:cNvPr id="25" name="Oval 24"/>
          <p:cNvSpPr/>
          <p:nvPr/>
        </p:nvSpPr>
        <p:spPr>
          <a:xfrm>
            <a:off x="2220914" y="48768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L=1</a:t>
            </a:r>
          </a:p>
          <a:p>
            <a:pPr algn="ctr">
              <a:defRPr/>
            </a:pPr>
            <a:r>
              <a:rPr lang="en-US" b="1"/>
              <a:t>R=4</a:t>
            </a:r>
          </a:p>
        </p:txBody>
      </p:sp>
      <p:sp>
        <p:nvSpPr>
          <p:cNvPr id="27" name="Oval 26"/>
          <p:cNvSpPr/>
          <p:nvPr/>
        </p:nvSpPr>
        <p:spPr>
          <a:xfrm>
            <a:off x="2209801" y="42672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L=4</a:t>
            </a:r>
          </a:p>
          <a:p>
            <a:pPr algn="ctr">
              <a:defRPr/>
            </a:pPr>
            <a:r>
              <a:rPr lang="en-US" b="1"/>
              <a:t>R=5</a:t>
            </a:r>
          </a:p>
        </p:txBody>
      </p:sp>
      <p:sp>
        <p:nvSpPr>
          <p:cNvPr id="28" name="Oval 27"/>
          <p:cNvSpPr/>
          <p:nvPr/>
        </p:nvSpPr>
        <p:spPr>
          <a:xfrm>
            <a:off x="2209801" y="36576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L=5</a:t>
            </a:r>
          </a:p>
          <a:p>
            <a:pPr algn="ctr">
              <a:defRPr/>
            </a:pPr>
            <a:r>
              <a:rPr lang="en-US" b="1">
                <a:solidFill>
                  <a:srgbClr val="FF0000"/>
                </a:solidFill>
              </a:rPr>
              <a:t>R=8</a:t>
            </a:r>
          </a:p>
        </p:txBody>
      </p:sp>
      <p:sp>
        <p:nvSpPr>
          <p:cNvPr id="26" name="Down Arrow 25"/>
          <p:cNvSpPr/>
          <p:nvPr/>
        </p:nvSpPr>
        <p:spPr>
          <a:xfrm>
            <a:off x="7162800" y="167640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a:t>
            </a:r>
          </a:p>
        </p:txBody>
      </p:sp>
      <p:sp>
        <p:nvSpPr>
          <p:cNvPr id="29" name="Down Arrow 28"/>
          <p:cNvSpPr/>
          <p:nvPr/>
        </p:nvSpPr>
        <p:spPr>
          <a:xfrm>
            <a:off x="9296400" y="170815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R</a:t>
            </a:r>
          </a:p>
        </p:txBody>
      </p:sp>
      <p:grpSp>
        <p:nvGrpSpPr>
          <p:cNvPr id="2" name="Group 41"/>
          <p:cNvGrpSpPr>
            <a:grpSpLocks/>
          </p:cNvGrpSpPr>
          <p:nvPr/>
        </p:nvGrpSpPr>
        <p:grpSpPr bwMode="auto">
          <a:xfrm>
            <a:off x="8153400" y="3352800"/>
            <a:ext cx="1447800" cy="1797050"/>
            <a:chOff x="6629400" y="3124200"/>
            <a:chExt cx="1447800" cy="1797268"/>
          </a:xfrm>
        </p:grpSpPr>
        <p:sp>
          <p:nvSpPr>
            <p:cNvPr id="37" name="Rounded Rectangle 36"/>
            <p:cNvSpPr/>
            <p:nvPr/>
          </p:nvSpPr>
          <p:spPr>
            <a:xfrm>
              <a:off x="6678613" y="4572176"/>
              <a:ext cx="1322387" cy="349292"/>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Đoạn 2</a:t>
              </a:r>
            </a:p>
          </p:txBody>
        </p:sp>
        <p:grpSp>
          <p:nvGrpSpPr>
            <p:cNvPr id="65590" name="Group 51"/>
            <p:cNvGrpSpPr>
              <a:grpSpLocks/>
            </p:cNvGrpSpPr>
            <p:nvPr/>
          </p:nvGrpSpPr>
          <p:grpSpPr bwMode="auto">
            <a:xfrm>
              <a:off x="6629400" y="3124200"/>
              <a:ext cx="1447800" cy="1382641"/>
              <a:chOff x="4931547" y="3139960"/>
              <a:chExt cx="3471473" cy="1382641"/>
            </a:xfrm>
          </p:grpSpPr>
          <p:cxnSp>
            <p:nvCxnSpPr>
              <p:cNvPr id="39" name="Straight Connector 38"/>
              <p:cNvCxnSpPr/>
              <p:nvPr/>
            </p:nvCxnSpPr>
            <p:spPr>
              <a:xfrm>
                <a:off x="4931547" y="4502201"/>
                <a:ext cx="3471473" cy="9526"/>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4254233" y="3841721"/>
                <a:ext cx="1362241" cy="0"/>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flipH="1" flipV="1">
                <a:off x="7704771" y="3819178"/>
                <a:ext cx="1362241" cy="3805"/>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grpSp>
      </p:grpSp>
      <p:sp>
        <p:nvSpPr>
          <p:cNvPr id="43" name="Oval 42"/>
          <p:cNvSpPr/>
          <p:nvPr/>
        </p:nvSpPr>
        <p:spPr>
          <a:xfrm>
            <a:off x="8382001" y="52578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L=6</a:t>
            </a:r>
          </a:p>
          <a:p>
            <a:pPr algn="ctr">
              <a:defRPr/>
            </a:pPr>
            <a:r>
              <a:rPr lang="en-US" b="1"/>
              <a:t>R=8</a:t>
            </a:r>
          </a:p>
        </p:txBody>
      </p:sp>
      <p:sp>
        <p:nvSpPr>
          <p:cNvPr id="8" name="Oval 7"/>
          <p:cNvSpPr/>
          <p:nvPr/>
        </p:nvSpPr>
        <p:spPr>
          <a:xfrm>
            <a:off x="5688013"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9" name="Oval 8"/>
          <p:cNvSpPr/>
          <p:nvPr/>
        </p:nvSpPr>
        <p:spPr>
          <a:xfrm>
            <a:off x="6415088"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sp>
        <p:nvSpPr>
          <p:cNvPr id="10" name="Oval 9"/>
          <p:cNvSpPr/>
          <p:nvPr/>
        </p:nvSpPr>
        <p:spPr>
          <a:xfrm>
            <a:off x="71628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1" name="Oval 10"/>
          <p:cNvSpPr/>
          <p:nvPr/>
        </p:nvSpPr>
        <p:spPr>
          <a:xfrm>
            <a:off x="7848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12" name="Oval 11"/>
          <p:cNvSpPr/>
          <p:nvPr/>
        </p:nvSpPr>
        <p:spPr>
          <a:xfrm>
            <a:off x="8610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92964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6" name="Oval 5"/>
          <p:cNvSpPr/>
          <p:nvPr/>
        </p:nvSpPr>
        <p:spPr>
          <a:xfrm>
            <a:off x="4259263"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7" name="Oval 6"/>
          <p:cNvSpPr/>
          <p:nvPr/>
        </p:nvSpPr>
        <p:spPr>
          <a:xfrm>
            <a:off x="4965700"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30" name="Title 1"/>
          <p:cNvSpPr txBox="1">
            <a:spLocks/>
          </p:cNvSpPr>
          <p:nvPr/>
        </p:nvSpPr>
        <p:spPr>
          <a:xfrm>
            <a:off x="609600" y="381000"/>
            <a:ext cx="10515600"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5. Quick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3.61111E-6 -3.29325E-6 L 0.00191 -0.37743 " pathEditMode="relative" rAng="0" ptsTypes="AA">
                                      <p:cBhvr>
                                        <p:cTn id="6" dur="2000" fill="hold"/>
                                        <p:tgtEl>
                                          <p:spTgt spid="28"/>
                                        </p:tgtEl>
                                        <p:attrNameLst>
                                          <p:attrName>ppt_x</p:attrName>
                                          <p:attrName>ppt_y</p:attrName>
                                        </p:attrNameLst>
                                      </p:cBhvr>
                                      <p:rCtr x="87" y="-18871"/>
                                    </p:animMotion>
                                  </p:childTnLst>
                                </p:cTn>
                              </p:par>
                            </p:childTnLst>
                          </p:cTn>
                        </p:par>
                        <p:par>
                          <p:cTn id="7" fill="hold" nodeType="afterGroup">
                            <p:stCondLst>
                              <p:cond delay="2000"/>
                            </p:stCondLst>
                            <p:childTnLst>
                              <p:par>
                                <p:cTn id="8" presetID="3" presetClass="entr" presetSubtype="10"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childTnLst>
                          </p:cTn>
                        </p:par>
                        <p:par>
                          <p:cTn id="11" fill="hold" nodeType="afterGroup">
                            <p:stCondLst>
                              <p:cond delay="2500"/>
                            </p:stCondLst>
                            <p:childTnLst>
                              <p:par>
                                <p:cTn id="12" presetID="2" presetClass="entr" presetSubtype="1" fill="hold" grpId="0" nodeType="after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additive="base">
                                        <p:cTn id="14" dur="500" fill="hold"/>
                                        <p:tgtEl>
                                          <p:spTgt spid="26"/>
                                        </p:tgtEl>
                                        <p:attrNameLst>
                                          <p:attrName>ppt_x</p:attrName>
                                        </p:attrNameLst>
                                      </p:cBhvr>
                                      <p:tavLst>
                                        <p:tav tm="0">
                                          <p:val>
                                            <p:strVal val="#ppt_x"/>
                                          </p:val>
                                        </p:tav>
                                        <p:tav tm="100000">
                                          <p:val>
                                            <p:strVal val="#ppt_x"/>
                                          </p:val>
                                        </p:tav>
                                      </p:tavLst>
                                    </p:anim>
                                    <p:anim calcmode="lin" valueType="num">
                                      <p:cBhvr additive="base">
                                        <p:cTn id="15" dur="500" fill="hold"/>
                                        <p:tgtEl>
                                          <p:spTgt spid="26"/>
                                        </p:tgtEl>
                                        <p:attrNameLst>
                                          <p:attrName>ppt_y</p:attrName>
                                        </p:attrNameLst>
                                      </p:cBhvr>
                                      <p:tavLst>
                                        <p:tav tm="0">
                                          <p:val>
                                            <p:strVal val="0-#ppt_h/2"/>
                                          </p:val>
                                        </p:tav>
                                        <p:tav tm="100000">
                                          <p:val>
                                            <p:strVal val="#ppt_y"/>
                                          </p:val>
                                        </p:tav>
                                      </p:tavLst>
                                    </p:anim>
                                  </p:childTnLst>
                                </p:cTn>
                              </p:par>
                              <p:par>
                                <p:cTn id="16" presetID="2" presetClass="entr" presetSubtype="1"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ppt_x"/>
                                          </p:val>
                                        </p:tav>
                                        <p:tav tm="100000">
                                          <p:val>
                                            <p:strVal val="#ppt_x"/>
                                          </p:val>
                                        </p:tav>
                                      </p:tavLst>
                                    </p:anim>
                                    <p:anim calcmode="lin" valueType="num">
                                      <p:cBhvr additive="base">
                                        <p:cTn id="19" dur="500" fill="hold"/>
                                        <p:tgtEl>
                                          <p:spTgt spid="29"/>
                                        </p:tgtEl>
                                        <p:attrNameLst>
                                          <p:attrName>ppt_y</p:attrName>
                                        </p:attrNameLst>
                                      </p:cBhvr>
                                      <p:tavLst>
                                        <p:tav tm="0">
                                          <p:val>
                                            <p:strVal val="0-#ppt_h/2"/>
                                          </p:val>
                                        </p:tav>
                                        <p:tav tm="100000">
                                          <p:val>
                                            <p:strVal val="#ppt_y"/>
                                          </p:val>
                                        </p:tav>
                                      </p:tavLst>
                                    </p:anim>
                                  </p:childTnLst>
                                </p:cTn>
                              </p:par>
                            </p:childTnLst>
                          </p:cTn>
                        </p:par>
                        <p:par>
                          <p:cTn id="20" fill="hold" nodeType="afterGroup">
                            <p:stCondLst>
                              <p:cond delay="3000"/>
                            </p:stCondLst>
                            <p:childTnLst>
                              <p:par>
                                <p:cTn id="21" presetID="2" presetClass="entr" presetSubtype="4"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3500"/>
                            </p:stCondLst>
                            <p:childTnLst>
                              <p:par>
                                <p:cTn id="30" presetID="2" presetClass="entr" presetSubtype="1"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500" fill="hold"/>
                                        <p:tgtEl>
                                          <p:spTgt spid="24"/>
                                        </p:tgtEl>
                                        <p:attrNameLst>
                                          <p:attrName>ppt_x</p:attrName>
                                        </p:attrNameLst>
                                      </p:cBhvr>
                                      <p:tavLst>
                                        <p:tav tm="0">
                                          <p:val>
                                            <p:strVal val="#ppt_x"/>
                                          </p:val>
                                        </p:tav>
                                        <p:tav tm="100000">
                                          <p:val>
                                            <p:strVal val="#ppt_x"/>
                                          </p:val>
                                        </p:tav>
                                      </p:tavLst>
                                    </p:anim>
                                    <p:anim calcmode="lin" valueType="num">
                                      <p:cBhvr additive="base">
                                        <p:cTn id="33"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35" presetClass="path" presetSubtype="0" accel="50000" decel="50000" fill="hold" grpId="1" nodeType="clickEffect">
                                  <p:stCondLst>
                                    <p:cond delay="0"/>
                                  </p:stCondLst>
                                  <p:childTnLst>
                                    <p:animMotion origin="layout" path="M 3.125E-6 4.44444E-6 L -0.0573 4.44444E-6 " pathEditMode="relative" rAng="0" ptsTypes="AA">
                                      <p:cBhvr>
                                        <p:cTn id="37" dur="2000" fill="hold"/>
                                        <p:tgtEl>
                                          <p:spTgt spid="22"/>
                                        </p:tgtEl>
                                        <p:attrNameLst>
                                          <p:attrName>ppt_x</p:attrName>
                                          <p:attrName>ppt_y</p:attrName>
                                        </p:attrNameLst>
                                      </p:cBhvr>
                                      <p:rCtr x="-2930" y="0"/>
                                    </p:animMotion>
                                  </p:childTnLst>
                                </p:cTn>
                              </p:par>
                            </p:childTnLst>
                          </p:cTn>
                        </p:par>
                        <p:par>
                          <p:cTn id="38" fill="hold" nodeType="afterGroup">
                            <p:stCondLst>
                              <p:cond delay="2000"/>
                            </p:stCondLst>
                            <p:childTnLst>
                              <p:par>
                                <p:cTn id="39" presetID="35" presetClass="path" presetSubtype="0" accel="50000" decel="50000" fill="hold" grpId="2" nodeType="afterEffect">
                                  <p:stCondLst>
                                    <p:cond delay="0"/>
                                  </p:stCondLst>
                                  <p:childTnLst>
                                    <p:animMotion origin="layout" path="M -0.0573 0.00439 L -0.12188 4.44444E-6 " pathEditMode="relative" rAng="0" ptsTypes="AA">
                                      <p:cBhvr>
                                        <p:cTn id="40" dur="2000" fill="hold"/>
                                        <p:tgtEl>
                                          <p:spTgt spid="22"/>
                                        </p:tgtEl>
                                        <p:attrNameLst>
                                          <p:attrName>ppt_x</p:attrName>
                                          <p:attrName>ppt_y</p:attrName>
                                        </p:attrNameLst>
                                      </p:cBhvr>
                                      <p:rCtr x="-3229" y="-231"/>
                                    </p:animMotion>
                                  </p:childTnLst>
                                </p:cTn>
                              </p:par>
                            </p:childTnLst>
                          </p:cTn>
                        </p:par>
                      </p:childTnLst>
                    </p:cTn>
                  </p:par>
                  <p:par>
                    <p:cTn id="41" fill="hold" nodeType="clickPar">
                      <p:stCondLst>
                        <p:cond delay="indefinite"/>
                      </p:stCondLst>
                      <p:childTnLst>
                        <p:par>
                          <p:cTn id="42" fill="hold" nodeType="withGroup">
                            <p:stCondLst>
                              <p:cond delay="0"/>
                            </p:stCondLst>
                            <p:childTnLst>
                              <p:par>
                                <p:cTn id="43" presetID="7" presetClass="path" presetSubtype="0" accel="50000" decel="50000" fill="hold" grpId="0" nodeType="clickEffect">
                                  <p:stCondLst>
                                    <p:cond delay="0"/>
                                  </p:stCondLst>
                                  <p:childTnLst>
                                    <p:animMotion origin="layout" path="M -0.00286 -0.00185 L -0.00286 -0.12569 L 0.05287 -0.12569 L 0.0543 -0.0037 " pathEditMode="relative" rAng="0" ptsTypes="AAAA">
                                      <p:cBhvr>
                                        <p:cTn id="44" dur="1000" fill="hold"/>
                                        <p:tgtEl>
                                          <p:spTgt spid="10"/>
                                        </p:tgtEl>
                                        <p:attrNameLst>
                                          <p:attrName>ppt_x</p:attrName>
                                          <p:attrName>ppt_y</p:attrName>
                                        </p:attrNameLst>
                                      </p:cBhvr>
                                      <p:rCtr x="2852" y="-6204"/>
                                    </p:animMotion>
                                  </p:childTnLst>
                                </p:cTn>
                              </p:par>
                              <p:par>
                                <p:cTn id="45" presetID="7" presetClass="path" presetSubtype="0" accel="50000" decel="50000" fill="hold" grpId="0" nodeType="withEffect">
                                  <p:stCondLst>
                                    <p:cond delay="0"/>
                                  </p:stCondLst>
                                  <p:childTnLst>
                                    <p:animMotion origin="layout" path="M 0.00404 -1.11111E-6 L 0.00625 0.11528 L -0.05911 0.11528 L -0.05911 -0.00185 " pathEditMode="relative" rAng="0" ptsTypes="AAAA">
                                      <p:cBhvr>
                                        <p:cTn id="46" dur="1000" fill="hold"/>
                                        <p:tgtEl>
                                          <p:spTgt spid="11"/>
                                        </p:tgtEl>
                                        <p:attrNameLst>
                                          <p:attrName>ppt_x</p:attrName>
                                          <p:attrName>ppt_y</p:attrName>
                                        </p:attrNameLst>
                                      </p:cBhvr>
                                      <p:rCtr x="-3047" y="5671"/>
                                    </p:animMotion>
                                  </p:childTnLst>
                                </p:cTn>
                              </p:par>
                            </p:childTnLst>
                          </p:cTn>
                        </p:par>
                        <p:par>
                          <p:cTn id="47" fill="hold" nodeType="afterGroup">
                            <p:stCondLst>
                              <p:cond delay="1000"/>
                            </p:stCondLst>
                            <p:childTnLst>
                              <p:par>
                                <p:cTn id="48" presetID="63" presetClass="path" presetSubtype="0" accel="50000" decel="50000" fill="hold" grpId="1" nodeType="afterEffect">
                                  <p:stCondLst>
                                    <p:cond delay="0"/>
                                  </p:stCondLst>
                                  <p:childTnLst>
                                    <p:animMotion origin="layout" path="M -3.33333E-6 4.44444E-6 L 0.07917 4.44444E-6 " pathEditMode="relative" rAng="0" ptsTypes="AA">
                                      <p:cBhvr>
                                        <p:cTn id="49" dur="2000" fill="hold"/>
                                        <p:tgtEl>
                                          <p:spTgt spid="21"/>
                                        </p:tgtEl>
                                        <p:attrNameLst>
                                          <p:attrName>ppt_x</p:attrName>
                                          <p:attrName>ppt_y</p:attrName>
                                        </p:attrNameLst>
                                      </p:cBhvr>
                                      <p:rCtr x="3958" y="0"/>
                                    </p:animMotion>
                                  </p:childTnLst>
                                </p:cTn>
                              </p:par>
                              <p:par>
                                <p:cTn id="50" presetID="35" presetClass="path" presetSubtype="0" accel="50000" decel="50000" fill="hold" grpId="3" nodeType="withEffect">
                                  <p:stCondLst>
                                    <p:cond delay="0"/>
                                  </p:stCondLst>
                                  <p:childTnLst>
                                    <p:animMotion origin="layout" path="M -0.12188 -0.0044 L -0.18125 2.59259E-6 " pathEditMode="relative" rAng="0" ptsTypes="AA">
                                      <p:cBhvr>
                                        <p:cTn id="51" dur="2000" fill="hold"/>
                                        <p:tgtEl>
                                          <p:spTgt spid="22"/>
                                        </p:tgtEl>
                                        <p:attrNameLst>
                                          <p:attrName>ppt_x</p:attrName>
                                          <p:attrName>ppt_y</p:attrName>
                                        </p:attrNameLst>
                                      </p:cBhvr>
                                      <p:rCtr x="-2812" y="0"/>
                                    </p:animMotion>
                                  </p:childTnLst>
                                </p:cTn>
                              </p:par>
                            </p:childTnLst>
                          </p:cTn>
                        </p:par>
                        <p:par>
                          <p:cTn id="52" fill="hold" nodeType="afterGroup">
                            <p:stCondLst>
                              <p:cond delay="3000"/>
                            </p:stCondLst>
                            <p:childTnLst>
                              <p:par>
                                <p:cTn id="53" presetID="3" presetClass="entr" presetSubtype="10" fill="hold" nodeType="after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blinds(horizontal)">
                                      <p:cBhvr>
                                        <p:cTn id="55" dur="500"/>
                                        <p:tgtEl>
                                          <p:spTgt spid="2"/>
                                        </p:tgtEl>
                                      </p:cBhvr>
                                    </p:animEffect>
                                  </p:childTnLst>
                                </p:cTn>
                              </p:par>
                            </p:childTnLst>
                          </p:cTn>
                        </p:par>
                        <p:par>
                          <p:cTn id="56" fill="hold" nodeType="afterGroup">
                            <p:stCondLst>
                              <p:cond delay="3500"/>
                            </p:stCondLst>
                            <p:childTnLst>
                              <p:par>
                                <p:cTn id="57" presetID="3" presetClass="entr" presetSubtype="10" fill="hold" grpId="0" nodeType="after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blinds(horizontal)">
                                      <p:cBhvr>
                                        <p:cTn id="59" dur="500"/>
                                        <p:tgtEl>
                                          <p:spTgt spid="4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path" presetSubtype="0" accel="50000" decel="50000" fill="hold" grpId="1" nodeType="clickEffect">
                                  <p:stCondLst>
                                    <p:cond delay="0"/>
                                  </p:stCondLst>
                                  <p:childTnLst>
                                    <p:animMotion origin="layout" path="M -0.00143 0.00162 L -0.50521 -0.54051 L -0.50625 -0.23333 " pathEditMode="relative" rAng="0" ptsTypes="AAA">
                                      <p:cBhvr>
                                        <p:cTn id="63" dur="1000" fill="hold"/>
                                        <p:tgtEl>
                                          <p:spTgt spid="43"/>
                                        </p:tgtEl>
                                        <p:attrNameLst>
                                          <p:attrName>ppt_x</p:attrName>
                                          <p:attrName>ppt_y</p:attrName>
                                        </p:attrNameLst>
                                      </p:cBhvr>
                                      <p:rCtr x="-25247" y="-271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2" grpId="0" animBg="1"/>
      <p:bldP spid="22" grpId="1" animBg="1"/>
      <p:bldP spid="22" grpId="2" animBg="1"/>
      <p:bldP spid="22" grpId="3" animBg="1"/>
      <p:bldP spid="23" grpId="0" animBg="1"/>
      <p:bldP spid="24" grpId="0" animBg="1"/>
      <p:bldP spid="28" grpId="0" animBg="1"/>
      <p:bldP spid="26" grpId="0" animBg="1"/>
      <p:bldP spid="29" grpId="0" animBg="1"/>
      <p:bldP spid="43" grpId="0" animBg="1"/>
      <p:bldP spid="43" grpId="1" animBg="1"/>
      <p:bldP spid="10" grpId="0" animBg="1"/>
      <p:bldP spid="11"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4191000" y="2514600"/>
          <a:ext cx="5791200" cy="1219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tblGrid>
              <a:tr h="609600">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0"/>
                  </a:ext>
                </a:extLst>
              </a:tr>
              <a:tr h="609600">
                <a:tc>
                  <a:txBody>
                    <a:bodyPr/>
                    <a:lstStyle/>
                    <a:p>
                      <a:pPr algn="ctr"/>
                      <a:r>
                        <a:rPr lang="en-US" sz="1600" smtClean="0">
                          <a:solidFill>
                            <a:srgbClr val="002060"/>
                          </a:solidFill>
                        </a:rPr>
                        <a:t>1</a:t>
                      </a:r>
                      <a:endParaRPr lang="en-US" sz="1600">
                        <a:solidFill>
                          <a:srgbClr val="002060"/>
                        </a:solidFill>
                      </a:endParaRPr>
                    </a:p>
                  </a:txBody>
                  <a:tcPr>
                    <a:noFill/>
                  </a:tcPr>
                </a:tc>
                <a:tc>
                  <a:txBody>
                    <a:bodyPr/>
                    <a:lstStyle/>
                    <a:p>
                      <a:pPr algn="ctr"/>
                      <a:r>
                        <a:rPr lang="en-US" sz="1600" smtClean="0">
                          <a:solidFill>
                            <a:srgbClr val="002060"/>
                          </a:solidFill>
                        </a:rPr>
                        <a:t>2</a:t>
                      </a:r>
                      <a:endParaRPr lang="en-US" sz="1600">
                        <a:solidFill>
                          <a:srgbClr val="002060"/>
                        </a:solidFill>
                      </a:endParaRPr>
                    </a:p>
                  </a:txBody>
                  <a:tcPr>
                    <a:noFill/>
                  </a:tcPr>
                </a:tc>
                <a:tc>
                  <a:txBody>
                    <a:bodyPr/>
                    <a:lstStyle/>
                    <a:p>
                      <a:pPr algn="ctr"/>
                      <a:r>
                        <a:rPr lang="en-US" sz="1600" smtClean="0">
                          <a:solidFill>
                            <a:srgbClr val="002060"/>
                          </a:solidFill>
                        </a:rPr>
                        <a:t>3</a:t>
                      </a:r>
                      <a:endParaRPr lang="en-US" sz="1600">
                        <a:solidFill>
                          <a:srgbClr val="002060"/>
                        </a:solidFill>
                      </a:endParaRPr>
                    </a:p>
                  </a:txBody>
                  <a:tcPr>
                    <a:noFill/>
                  </a:tcPr>
                </a:tc>
                <a:tc>
                  <a:txBody>
                    <a:bodyPr/>
                    <a:lstStyle/>
                    <a:p>
                      <a:pPr algn="ctr"/>
                      <a:r>
                        <a:rPr lang="en-US" sz="1600" smtClean="0">
                          <a:solidFill>
                            <a:srgbClr val="002060"/>
                          </a:solidFill>
                        </a:rPr>
                        <a:t>4</a:t>
                      </a:r>
                      <a:endParaRPr lang="en-US" sz="1600">
                        <a:solidFill>
                          <a:srgbClr val="002060"/>
                        </a:solidFill>
                      </a:endParaRPr>
                    </a:p>
                  </a:txBody>
                  <a:tcPr>
                    <a:noFill/>
                  </a:tcPr>
                </a:tc>
                <a:tc>
                  <a:txBody>
                    <a:bodyPr/>
                    <a:lstStyle/>
                    <a:p>
                      <a:pPr algn="ctr"/>
                      <a:r>
                        <a:rPr lang="en-US" sz="1600" smtClean="0">
                          <a:solidFill>
                            <a:srgbClr val="002060"/>
                          </a:solidFill>
                        </a:rPr>
                        <a:t>5</a:t>
                      </a:r>
                      <a:endParaRPr lang="en-US" sz="1600">
                        <a:solidFill>
                          <a:srgbClr val="002060"/>
                        </a:solidFill>
                      </a:endParaRPr>
                    </a:p>
                  </a:txBody>
                  <a:tcPr>
                    <a:noFill/>
                  </a:tcPr>
                </a:tc>
                <a:tc>
                  <a:txBody>
                    <a:bodyPr/>
                    <a:lstStyle/>
                    <a:p>
                      <a:pPr algn="ctr"/>
                      <a:r>
                        <a:rPr lang="en-US" sz="1600" smtClean="0">
                          <a:solidFill>
                            <a:srgbClr val="002060"/>
                          </a:solidFill>
                        </a:rPr>
                        <a:t>6</a:t>
                      </a:r>
                      <a:endParaRPr lang="en-US" sz="1600">
                        <a:solidFill>
                          <a:srgbClr val="002060"/>
                        </a:solidFill>
                      </a:endParaRPr>
                    </a:p>
                  </a:txBody>
                  <a:tcPr>
                    <a:noFill/>
                  </a:tcPr>
                </a:tc>
                <a:tc>
                  <a:txBody>
                    <a:bodyPr/>
                    <a:lstStyle/>
                    <a:p>
                      <a:pPr algn="ctr"/>
                      <a:r>
                        <a:rPr lang="en-US" sz="1600" smtClean="0">
                          <a:solidFill>
                            <a:srgbClr val="002060"/>
                          </a:solidFill>
                        </a:rPr>
                        <a:t>7</a:t>
                      </a:r>
                      <a:endParaRPr lang="en-US" sz="1600">
                        <a:solidFill>
                          <a:srgbClr val="002060"/>
                        </a:solidFill>
                      </a:endParaRPr>
                    </a:p>
                  </a:txBody>
                  <a:tcPr>
                    <a:noFill/>
                  </a:tcPr>
                </a:tc>
                <a:tc>
                  <a:txBody>
                    <a:bodyPr/>
                    <a:lstStyle/>
                    <a:p>
                      <a:pPr algn="ctr"/>
                      <a:r>
                        <a:rPr lang="en-US" sz="1600" smtClean="0">
                          <a:solidFill>
                            <a:srgbClr val="002060"/>
                          </a:solidFill>
                        </a:rPr>
                        <a:t>8</a:t>
                      </a:r>
                      <a:endParaRPr lang="en-US" sz="1600">
                        <a:solidFill>
                          <a:srgbClr val="002060"/>
                        </a:solidFill>
                      </a:endParaRPr>
                    </a:p>
                  </a:txBody>
                  <a:tcPr>
                    <a:noFill/>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692A0C0F-66D4-4409-90EE-BDE39DD08711}" type="slidenum">
              <a:rPr lang="en-US" smtClean="0"/>
              <a:pPr>
                <a:defRPr/>
              </a:pPr>
              <a:t>107</a:t>
            </a:fld>
            <a:endParaRPr lang="en-US"/>
          </a:p>
        </p:txBody>
      </p:sp>
      <p:sp>
        <p:nvSpPr>
          <p:cNvPr id="18" name="Can 17"/>
          <p:cNvSpPr/>
          <p:nvPr/>
        </p:nvSpPr>
        <p:spPr>
          <a:xfrm>
            <a:off x="2133600" y="2286000"/>
            <a:ext cx="1219200" cy="3276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TextBox 18"/>
          <p:cNvSpPr txBox="1"/>
          <p:nvPr/>
        </p:nvSpPr>
        <p:spPr>
          <a:xfrm>
            <a:off x="1371600" y="5715000"/>
            <a:ext cx="2869696" cy="523220"/>
          </a:xfrm>
          <a:prstGeom prst="rect">
            <a:avLst/>
          </a:prstGeom>
          <a:noFill/>
        </p:spPr>
        <p:txBody>
          <a:bodyPr wrap="none">
            <a:spAutoFit/>
          </a:bodyPr>
          <a:lstStyle/>
          <a:p>
            <a:pPr>
              <a:defRPr/>
            </a:pPr>
            <a:r>
              <a:rPr lang="en-US" sz="2800" b="1">
                <a:solidFill>
                  <a:srgbClr val="FF0000"/>
                </a:solidFill>
                <a:latin typeface="Times New Roman" panose="02020603050405020304" pitchFamily="18" charset="0"/>
                <a:cs typeface="Times New Roman" panose="02020603050405020304" pitchFamily="18" charset="0"/>
              </a:rPr>
              <a:t>Đoạn cần sắp xếp</a:t>
            </a:r>
          </a:p>
        </p:txBody>
      </p:sp>
      <p:sp>
        <p:nvSpPr>
          <p:cNvPr id="21" name="Up Arrow Callout 20"/>
          <p:cNvSpPr/>
          <p:nvPr/>
        </p:nvSpPr>
        <p:spPr>
          <a:xfrm>
            <a:off x="79248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sp>
        <p:nvSpPr>
          <p:cNvPr id="22" name="Up Arrow Callout 21"/>
          <p:cNvSpPr/>
          <p:nvPr/>
        </p:nvSpPr>
        <p:spPr>
          <a:xfrm>
            <a:off x="93726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sp>
        <p:nvSpPr>
          <p:cNvPr id="23" name="Flowchart: Process 22"/>
          <p:cNvSpPr/>
          <p:nvPr/>
        </p:nvSpPr>
        <p:spPr>
          <a:xfrm>
            <a:off x="4191000" y="1143000"/>
            <a:ext cx="1600200" cy="381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i=6, j=8</a:t>
            </a:r>
          </a:p>
        </p:txBody>
      </p:sp>
      <p:sp>
        <p:nvSpPr>
          <p:cNvPr id="24" name="Down Arrow Callout 23"/>
          <p:cNvSpPr/>
          <p:nvPr/>
        </p:nvSpPr>
        <p:spPr>
          <a:xfrm>
            <a:off x="8610600" y="1752600"/>
            <a:ext cx="609600" cy="68580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x</a:t>
            </a:r>
          </a:p>
        </p:txBody>
      </p:sp>
      <p:sp>
        <p:nvSpPr>
          <p:cNvPr id="25" name="Oval 24"/>
          <p:cNvSpPr/>
          <p:nvPr/>
        </p:nvSpPr>
        <p:spPr>
          <a:xfrm>
            <a:off x="2220914" y="48768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L=1</a:t>
            </a:r>
          </a:p>
          <a:p>
            <a:pPr algn="ctr">
              <a:defRPr/>
            </a:pPr>
            <a:r>
              <a:rPr lang="en-US" b="1"/>
              <a:t>R=4</a:t>
            </a:r>
          </a:p>
        </p:txBody>
      </p:sp>
      <p:sp>
        <p:nvSpPr>
          <p:cNvPr id="27" name="Oval 26"/>
          <p:cNvSpPr/>
          <p:nvPr/>
        </p:nvSpPr>
        <p:spPr>
          <a:xfrm>
            <a:off x="2209801" y="42672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L=4</a:t>
            </a:r>
          </a:p>
          <a:p>
            <a:pPr algn="ctr">
              <a:defRPr/>
            </a:pPr>
            <a:r>
              <a:rPr lang="en-US" b="1"/>
              <a:t>R=5</a:t>
            </a:r>
          </a:p>
        </p:txBody>
      </p:sp>
      <p:sp>
        <p:nvSpPr>
          <p:cNvPr id="26" name="Down Arrow 25"/>
          <p:cNvSpPr/>
          <p:nvPr/>
        </p:nvSpPr>
        <p:spPr>
          <a:xfrm>
            <a:off x="7848600" y="167640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a:t>
            </a:r>
          </a:p>
        </p:txBody>
      </p:sp>
      <p:sp>
        <p:nvSpPr>
          <p:cNvPr id="29" name="Down Arrow 28"/>
          <p:cNvSpPr/>
          <p:nvPr/>
        </p:nvSpPr>
        <p:spPr>
          <a:xfrm>
            <a:off x="9296400" y="170815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R</a:t>
            </a:r>
          </a:p>
        </p:txBody>
      </p:sp>
      <p:grpSp>
        <p:nvGrpSpPr>
          <p:cNvPr id="2" name="Group 29"/>
          <p:cNvGrpSpPr>
            <a:grpSpLocks/>
          </p:cNvGrpSpPr>
          <p:nvPr/>
        </p:nvGrpSpPr>
        <p:grpSpPr bwMode="auto">
          <a:xfrm>
            <a:off x="7848600" y="3352800"/>
            <a:ext cx="1322388" cy="1797050"/>
            <a:chOff x="6324600" y="3352800"/>
            <a:chExt cx="1321672" cy="1797268"/>
          </a:xfrm>
        </p:grpSpPr>
        <p:sp>
          <p:nvSpPr>
            <p:cNvPr id="37" name="Rounded Rectangle 36"/>
            <p:cNvSpPr/>
            <p:nvPr/>
          </p:nvSpPr>
          <p:spPr>
            <a:xfrm>
              <a:off x="6324600" y="4800776"/>
              <a:ext cx="1321672" cy="349292"/>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latin typeface="Times New Roman" panose="02020603050405020304" pitchFamily="18" charset="0"/>
                  <a:cs typeface="Times New Roman" panose="02020603050405020304" pitchFamily="18" charset="0"/>
                </a:rPr>
                <a:t>Đoạn 1</a:t>
              </a:r>
            </a:p>
          </p:txBody>
        </p:sp>
        <p:grpSp>
          <p:nvGrpSpPr>
            <p:cNvPr id="66614" name="Group 51"/>
            <p:cNvGrpSpPr>
              <a:grpSpLocks/>
            </p:cNvGrpSpPr>
            <p:nvPr/>
          </p:nvGrpSpPr>
          <p:grpSpPr bwMode="auto">
            <a:xfrm>
              <a:off x="6629400" y="3352800"/>
              <a:ext cx="762000" cy="1382641"/>
              <a:chOff x="4931547" y="3139960"/>
              <a:chExt cx="3471473" cy="1382641"/>
            </a:xfrm>
          </p:grpSpPr>
          <p:cxnSp>
            <p:nvCxnSpPr>
              <p:cNvPr id="39" name="Straight Connector 38"/>
              <p:cNvCxnSpPr/>
              <p:nvPr/>
            </p:nvCxnSpPr>
            <p:spPr>
              <a:xfrm>
                <a:off x="4930796" y="4502201"/>
                <a:ext cx="3469592" cy="9526"/>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4253288" y="3838106"/>
                <a:ext cx="1362241" cy="7231"/>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flipH="1" flipV="1">
                <a:off x="7701198" y="3817467"/>
                <a:ext cx="1362241" cy="7226"/>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grpSp>
      </p:grpSp>
      <p:sp>
        <p:nvSpPr>
          <p:cNvPr id="43" name="Oval 42"/>
          <p:cNvSpPr/>
          <p:nvPr/>
        </p:nvSpPr>
        <p:spPr>
          <a:xfrm>
            <a:off x="2225676" y="36576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L=6</a:t>
            </a:r>
          </a:p>
          <a:p>
            <a:pPr algn="ctr">
              <a:defRPr/>
            </a:pPr>
            <a:r>
              <a:rPr lang="en-US" b="1">
                <a:solidFill>
                  <a:srgbClr val="FF0000"/>
                </a:solidFill>
              </a:rPr>
              <a:t>R=8</a:t>
            </a:r>
          </a:p>
        </p:txBody>
      </p:sp>
      <p:sp>
        <p:nvSpPr>
          <p:cNvPr id="31" name="Oval 30"/>
          <p:cNvSpPr/>
          <p:nvPr/>
        </p:nvSpPr>
        <p:spPr>
          <a:xfrm>
            <a:off x="8001001" y="51816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L=6</a:t>
            </a:r>
          </a:p>
          <a:p>
            <a:pPr algn="ctr">
              <a:defRPr/>
            </a:pPr>
            <a:r>
              <a:rPr lang="en-US" b="1">
                <a:solidFill>
                  <a:srgbClr val="FF0000"/>
                </a:solidFill>
              </a:rPr>
              <a:t>R=7</a:t>
            </a:r>
          </a:p>
        </p:txBody>
      </p:sp>
      <p:sp>
        <p:nvSpPr>
          <p:cNvPr id="8" name="Oval 7"/>
          <p:cNvSpPr/>
          <p:nvPr/>
        </p:nvSpPr>
        <p:spPr>
          <a:xfrm>
            <a:off x="5688013"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9" name="Oval 8"/>
          <p:cNvSpPr/>
          <p:nvPr/>
        </p:nvSpPr>
        <p:spPr>
          <a:xfrm>
            <a:off x="6415088"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sp>
        <p:nvSpPr>
          <p:cNvPr id="10" name="Oval 9"/>
          <p:cNvSpPr/>
          <p:nvPr/>
        </p:nvSpPr>
        <p:spPr>
          <a:xfrm>
            <a:off x="71628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11" name="Oval 10"/>
          <p:cNvSpPr/>
          <p:nvPr/>
        </p:nvSpPr>
        <p:spPr>
          <a:xfrm>
            <a:off x="7848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2" name="Oval 11"/>
          <p:cNvSpPr/>
          <p:nvPr/>
        </p:nvSpPr>
        <p:spPr>
          <a:xfrm>
            <a:off x="8610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13" name="Oval 12"/>
          <p:cNvSpPr/>
          <p:nvPr/>
        </p:nvSpPr>
        <p:spPr>
          <a:xfrm>
            <a:off x="92964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6" name="Oval 5"/>
          <p:cNvSpPr/>
          <p:nvPr/>
        </p:nvSpPr>
        <p:spPr>
          <a:xfrm>
            <a:off x="4259263"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7" name="Oval 6"/>
          <p:cNvSpPr/>
          <p:nvPr/>
        </p:nvSpPr>
        <p:spPr>
          <a:xfrm>
            <a:off x="4965700"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30" name="Title 1"/>
          <p:cNvSpPr txBox="1">
            <a:spLocks/>
          </p:cNvSpPr>
          <p:nvPr/>
        </p:nvSpPr>
        <p:spPr>
          <a:xfrm>
            <a:off x="609600" y="381000"/>
            <a:ext cx="10515600"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5. Quick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2.77778E-7 2.22222E-6 L 0.00017 -0.37778 " pathEditMode="relative" rAng="0" ptsTypes="AA">
                                      <p:cBhvr>
                                        <p:cTn id="6" dur="2000" fill="hold"/>
                                        <p:tgtEl>
                                          <p:spTgt spid="43"/>
                                        </p:tgtEl>
                                        <p:attrNameLst>
                                          <p:attrName>ppt_x</p:attrName>
                                          <p:attrName>ppt_y</p:attrName>
                                        </p:attrNameLst>
                                      </p:cBhvr>
                                      <p:rCtr x="0" y="-18889"/>
                                    </p:animMotion>
                                  </p:childTnLst>
                                </p:cTn>
                              </p:par>
                            </p:childTnLst>
                          </p:cTn>
                        </p:par>
                        <p:par>
                          <p:cTn id="7" fill="hold" nodeType="afterGroup">
                            <p:stCondLst>
                              <p:cond delay="2000"/>
                            </p:stCondLst>
                            <p:childTnLst>
                              <p:par>
                                <p:cTn id="8" presetID="3" presetClass="entr" presetSubtype="10"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childTnLst>
                          </p:cTn>
                        </p:par>
                        <p:par>
                          <p:cTn id="11" fill="hold" nodeType="afterGroup">
                            <p:stCondLst>
                              <p:cond delay="2500"/>
                            </p:stCondLst>
                            <p:childTnLst>
                              <p:par>
                                <p:cTn id="12" presetID="2" presetClass="entr" presetSubtype="1" fill="hold" grpId="0" nodeType="after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additive="base">
                                        <p:cTn id="14" dur="500" fill="hold"/>
                                        <p:tgtEl>
                                          <p:spTgt spid="26"/>
                                        </p:tgtEl>
                                        <p:attrNameLst>
                                          <p:attrName>ppt_x</p:attrName>
                                        </p:attrNameLst>
                                      </p:cBhvr>
                                      <p:tavLst>
                                        <p:tav tm="0">
                                          <p:val>
                                            <p:strVal val="#ppt_x"/>
                                          </p:val>
                                        </p:tav>
                                        <p:tav tm="100000">
                                          <p:val>
                                            <p:strVal val="#ppt_x"/>
                                          </p:val>
                                        </p:tav>
                                      </p:tavLst>
                                    </p:anim>
                                    <p:anim calcmode="lin" valueType="num">
                                      <p:cBhvr additive="base">
                                        <p:cTn id="15" dur="500" fill="hold"/>
                                        <p:tgtEl>
                                          <p:spTgt spid="26"/>
                                        </p:tgtEl>
                                        <p:attrNameLst>
                                          <p:attrName>ppt_y</p:attrName>
                                        </p:attrNameLst>
                                      </p:cBhvr>
                                      <p:tavLst>
                                        <p:tav tm="0">
                                          <p:val>
                                            <p:strVal val="0-#ppt_h/2"/>
                                          </p:val>
                                        </p:tav>
                                        <p:tav tm="100000">
                                          <p:val>
                                            <p:strVal val="#ppt_y"/>
                                          </p:val>
                                        </p:tav>
                                      </p:tavLst>
                                    </p:anim>
                                  </p:childTnLst>
                                </p:cTn>
                              </p:par>
                              <p:par>
                                <p:cTn id="16" presetID="2" presetClass="entr" presetSubtype="1"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ppt_x"/>
                                          </p:val>
                                        </p:tav>
                                        <p:tav tm="100000">
                                          <p:val>
                                            <p:strVal val="#ppt_x"/>
                                          </p:val>
                                        </p:tav>
                                      </p:tavLst>
                                    </p:anim>
                                    <p:anim calcmode="lin" valueType="num">
                                      <p:cBhvr additive="base">
                                        <p:cTn id="19" dur="500" fill="hold"/>
                                        <p:tgtEl>
                                          <p:spTgt spid="29"/>
                                        </p:tgtEl>
                                        <p:attrNameLst>
                                          <p:attrName>ppt_y</p:attrName>
                                        </p:attrNameLst>
                                      </p:cBhvr>
                                      <p:tavLst>
                                        <p:tav tm="0">
                                          <p:val>
                                            <p:strVal val="0-#ppt_h/2"/>
                                          </p:val>
                                        </p:tav>
                                        <p:tav tm="100000">
                                          <p:val>
                                            <p:strVal val="#ppt_y"/>
                                          </p:val>
                                        </p:tav>
                                      </p:tavLst>
                                    </p:anim>
                                  </p:childTnLst>
                                </p:cTn>
                              </p:par>
                            </p:childTnLst>
                          </p:cTn>
                        </p:par>
                        <p:par>
                          <p:cTn id="20" fill="hold" nodeType="afterGroup">
                            <p:stCondLst>
                              <p:cond delay="3000"/>
                            </p:stCondLst>
                            <p:childTnLst>
                              <p:par>
                                <p:cTn id="21" presetID="2" presetClass="entr" presetSubtype="4"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3500"/>
                            </p:stCondLst>
                            <p:childTnLst>
                              <p:par>
                                <p:cTn id="30" presetID="2" presetClass="entr" presetSubtype="1"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500" fill="hold"/>
                                        <p:tgtEl>
                                          <p:spTgt spid="24"/>
                                        </p:tgtEl>
                                        <p:attrNameLst>
                                          <p:attrName>ppt_x</p:attrName>
                                        </p:attrNameLst>
                                      </p:cBhvr>
                                      <p:tavLst>
                                        <p:tav tm="0">
                                          <p:val>
                                            <p:strVal val="#ppt_x"/>
                                          </p:val>
                                        </p:tav>
                                        <p:tav tm="100000">
                                          <p:val>
                                            <p:strVal val="#ppt_x"/>
                                          </p:val>
                                        </p:tav>
                                      </p:tavLst>
                                    </p:anim>
                                    <p:anim calcmode="lin" valueType="num">
                                      <p:cBhvr additive="base">
                                        <p:cTn id="33"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63" presetClass="path" presetSubtype="0" accel="50000" decel="50000" fill="hold" grpId="1" nodeType="clickEffect">
                                  <p:stCondLst>
                                    <p:cond delay="0"/>
                                  </p:stCondLst>
                                  <p:childTnLst>
                                    <p:animMotion origin="layout" path="M 4.16667E-7 3.33333E-6 L 0.0573 4.44444E-6 " pathEditMode="relative" rAng="0" ptsTypes="AA">
                                      <p:cBhvr>
                                        <p:cTn id="37" dur="2000" fill="hold"/>
                                        <p:tgtEl>
                                          <p:spTgt spid="21"/>
                                        </p:tgtEl>
                                        <p:attrNameLst>
                                          <p:attrName>ppt_x</p:attrName>
                                          <p:attrName>ppt_y</p:attrName>
                                        </p:attrNameLst>
                                      </p:cBhvr>
                                      <p:rCtr x="3034" y="69"/>
                                    </p:animMotion>
                                  </p:childTnLst>
                                </p:cTn>
                              </p:par>
                            </p:childTnLst>
                          </p:cTn>
                        </p:par>
                      </p:childTnLst>
                    </p:cTn>
                  </p:par>
                  <p:par>
                    <p:cTn id="38" fill="hold" nodeType="clickPar">
                      <p:stCondLst>
                        <p:cond delay="indefinite"/>
                      </p:stCondLst>
                      <p:childTnLst>
                        <p:par>
                          <p:cTn id="39" fill="hold" nodeType="withGroup">
                            <p:stCondLst>
                              <p:cond delay="0"/>
                            </p:stCondLst>
                            <p:childTnLst>
                              <p:par>
                                <p:cTn id="40" presetID="7" presetClass="path" presetSubtype="0" accel="50000" decel="50000" fill="hold" grpId="0" nodeType="clickEffect">
                                  <p:stCondLst>
                                    <p:cond delay="0"/>
                                  </p:stCondLst>
                                  <p:childTnLst>
                                    <p:animMotion origin="layout" path="M -0.00364 -0.00162 L -0.00598 -0.12083 L 0.05769 -0.1162 L 0.05521 0.00116 " pathEditMode="relative" rAng="0" ptsTypes="AAAA">
                                      <p:cBhvr>
                                        <p:cTn id="41" dur="1000" fill="hold"/>
                                        <p:tgtEl>
                                          <p:spTgt spid="12"/>
                                        </p:tgtEl>
                                        <p:attrNameLst>
                                          <p:attrName>ppt_x</p:attrName>
                                          <p:attrName>ppt_y</p:attrName>
                                        </p:attrNameLst>
                                      </p:cBhvr>
                                      <p:rCtr x="2943" y="-5833"/>
                                    </p:animMotion>
                                  </p:childTnLst>
                                </p:cTn>
                              </p:par>
                              <p:par>
                                <p:cTn id="42" presetID="7" presetClass="path" presetSubtype="0" accel="50000" decel="50000" fill="hold" grpId="0" nodeType="withEffect">
                                  <p:stCondLst>
                                    <p:cond delay="0"/>
                                  </p:stCondLst>
                                  <p:childTnLst>
                                    <p:animMotion origin="layout" path="M 4.79167E-6 -2.59259E-6 L 0.00104 0.10139 L -0.0599 0.10371 L -0.0599 -0.00162 " pathEditMode="relative" rAng="0" ptsTypes="AAAA">
                                      <p:cBhvr>
                                        <p:cTn id="43" dur="1000" fill="hold"/>
                                        <p:tgtEl>
                                          <p:spTgt spid="13"/>
                                        </p:tgtEl>
                                        <p:attrNameLst>
                                          <p:attrName>ppt_x</p:attrName>
                                          <p:attrName>ppt_y</p:attrName>
                                        </p:attrNameLst>
                                      </p:cBhvr>
                                      <p:rCtr x="-2943" y="5093"/>
                                    </p:animMotion>
                                  </p:childTnLst>
                                </p:cTn>
                              </p:par>
                            </p:childTnLst>
                          </p:cTn>
                        </p:par>
                        <p:par>
                          <p:cTn id="44" fill="hold" nodeType="afterGroup">
                            <p:stCondLst>
                              <p:cond delay="1000"/>
                            </p:stCondLst>
                            <p:childTnLst>
                              <p:par>
                                <p:cTn id="45" presetID="63" presetClass="path" presetSubtype="0" accel="50000" decel="50000" fill="hold" grpId="2" nodeType="afterEffect">
                                  <p:stCondLst>
                                    <p:cond delay="0"/>
                                  </p:stCondLst>
                                  <p:childTnLst>
                                    <p:animMotion origin="layout" path="M 0.05729 -4.44444E-6 L 0.11563 4.44444E-6 " pathEditMode="relative" rAng="0" ptsTypes="AA">
                                      <p:cBhvr>
                                        <p:cTn id="46" dur="2000" fill="hold"/>
                                        <p:tgtEl>
                                          <p:spTgt spid="21"/>
                                        </p:tgtEl>
                                        <p:attrNameLst>
                                          <p:attrName>ppt_x</p:attrName>
                                          <p:attrName>ppt_y</p:attrName>
                                        </p:attrNameLst>
                                      </p:cBhvr>
                                      <p:rCtr x="2812" y="556"/>
                                    </p:animMotion>
                                  </p:childTnLst>
                                </p:cTn>
                              </p:par>
                              <p:par>
                                <p:cTn id="47" presetID="35" presetClass="path" presetSubtype="0" accel="50000" decel="50000" fill="hold" grpId="1" nodeType="withEffect">
                                  <p:stCondLst>
                                    <p:cond delay="0"/>
                                  </p:stCondLst>
                                  <p:childTnLst>
                                    <p:animMotion origin="layout" path="M 3.125E-6 3.7037E-6 L -0.06145 4.44444E-6 " pathEditMode="relative" rAng="0" ptsTypes="AA">
                                      <p:cBhvr>
                                        <p:cTn id="48" dur="2000" fill="hold"/>
                                        <p:tgtEl>
                                          <p:spTgt spid="22"/>
                                        </p:tgtEl>
                                        <p:attrNameLst>
                                          <p:attrName>ppt_x</p:attrName>
                                          <p:attrName>ppt_y</p:attrName>
                                        </p:attrNameLst>
                                      </p:cBhvr>
                                      <p:rCtr x="-3138" y="-162"/>
                                    </p:animMotion>
                                  </p:childTnLst>
                                </p:cTn>
                              </p:par>
                            </p:childTnLst>
                          </p:cTn>
                        </p:par>
                        <p:par>
                          <p:cTn id="49" fill="hold" nodeType="afterGroup">
                            <p:stCondLst>
                              <p:cond delay="3000"/>
                            </p:stCondLst>
                            <p:childTnLst>
                              <p:par>
                                <p:cTn id="50" presetID="3" presetClass="entr" presetSubtype="10" fill="hold" nodeType="after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blinds(horizontal)">
                                      <p:cBhvr>
                                        <p:cTn id="52" dur="500"/>
                                        <p:tgtEl>
                                          <p:spTgt spid="2"/>
                                        </p:tgtEl>
                                      </p:cBhvr>
                                    </p:animEffect>
                                  </p:childTnLst>
                                </p:cTn>
                              </p:par>
                            </p:childTnLst>
                          </p:cTn>
                        </p:par>
                        <p:par>
                          <p:cTn id="53" fill="hold" nodeType="afterGroup">
                            <p:stCondLst>
                              <p:cond delay="3500"/>
                            </p:stCondLst>
                            <p:childTnLst>
                              <p:par>
                                <p:cTn id="54" presetID="3" presetClass="entr" presetSubtype="10"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blinds(horizontal)">
                                      <p:cBhvr>
                                        <p:cTn id="56" dur="500"/>
                                        <p:tgtEl>
                                          <p:spTgt spid="3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path" presetSubtype="0" accel="50000" decel="50000" fill="hold" grpId="1" nodeType="clickEffect">
                                  <p:stCondLst>
                                    <p:cond delay="0"/>
                                  </p:stCondLst>
                                  <p:childTnLst>
                                    <p:animMotion origin="layout" path="M -0.00234 0.00162 L -0.47591 -0.54861 L -0.4737 -0.22222 " pathEditMode="relative" rAng="0" ptsTypes="AAA">
                                      <p:cBhvr>
                                        <p:cTn id="60" dur="1000" fill="hold"/>
                                        <p:tgtEl>
                                          <p:spTgt spid="31"/>
                                        </p:tgtEl>
                                        <p:attrNameLst>
                                          <p:attrName>ppt_x</p:attrName>
                                          <p:attrName>ppt_y</p:attrName>
                                        </p:attrNameLst>
                                      </p:cBhvr>
                                      <p:rCtr x="-23685" y="-275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1" grpId="2" animBg="1"/>
      <p:bldP spid="22" grpId="0" animBg="1"/>
      <p:bldP spid="22" grpId="1" animBg="1"/>
      <p:bldP spid="23" grpId="0" animBg="1"/>
      <p:bldP spid="24" grpId="0" animBg="1"/>
      <p:bldP spid="26" grpId="0" animBg="1"/>
      <p:bldP spid="29" grpId="0" animBg="1"/>
      <p:bldP spid="43" grpId="0" animBg="1"/>
      <p:bldP spid="31" grpId="0" animBg="1"/>
      <p:bldP spid="31" grpId="1" animBg="1"/>
      <p:bldP spid="12" grpId="0" animBg="1"/>
      <p:bldP spid="13"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4191000" y="2514600"/>
          <a:ext cx="5791200" cy="1219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tblGrid>
              <a:tr h="609600">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0"/>
                  </a:ext>
                </a:extLst>
              </a:tr>
              <a:tr h="609600">
                <a:tc>
                  <a:txBody>
                    <a:bodyPr/>
                    <a:lstStyle/>
                    <a:p>
                      <a:pPr algn="ctr"/>
                      <a:r>
                        <a:rPr lang="en-US" sz="1600" smtClean="0">
                          <a:solidFill>
                            <a:srgbClr val="002060"/>
                          </a:solidFill>
                        </a:rPr>
                        <a:t>1</a:t>
                      </a:r>
                      <a:endParaRPr lang="en-US" sz="1600">
                        <a:solidFill>
                          <a:srgbClr val="002060"/>
                        </a:solidFill>
                      </a:endParaRPr>
                    </a:p>
                  </a:txBody>
                  <a:tcPr>
                    <a:noFill/>
                  </a:tcPr>
                </a:tc>
                <a:tc>
                  <a:txBody>
                    <a:bodyPr/>
                    <a:lstStyle/>
                    <a:p>
                      <a:pPr algn="ctr"/>
                      <a:r>
                        <a:rPr lang="en-US" sz="1600" smtClean="0">
                          <a:solidFill>
                            <a:srgbClr val="002060"/>
                          </a:solidFill>
                        </a:rPr>
                        <a:t>2</a:t>
                      </a:r>
                      <a:endParaRPr lang="en-US" sz="1600">
                        <a:solidFill>
                          <a:srgbClr val="002060"/>
                        </a:solidFill>
                      </a:endParaRPr>
                    </a:p>
                  </a:txBody>
                  <a:tcPr>
                    <a:noFill/>
                  </a:tcPr>
                </a:tc>
                <a:tc>
                  <a:txBody>
                    <a:bodyPr/>
                    <a:lstStyle/>
                    <a:p>
                      <a:pPr algn="ctr"/>
                      <a:r>
                        <a:rPr lang="en-US" sz="1600" smtClean="0">
                          <a:solidFill>
                            <a:srgbClr val="002060"/>
                          </a:solidFill>
                        </a:rPr>
                        <a:t>3</a:t>
                      </a:r>
                      <a:endParaRPr lang="en-US" sz="1600">
                        <a:solidFill>
                          <a:srgbClr val="002060"/>
                        </a:solidFill>
                      </a:endParaRPr>
                    </a:p>
                  </a:txBody>
                  <a:tcPr>
                    <a:noFill/>
                  </a:tcPr>
                </a:tc>
                <a:tc>
                  <a:txBody>
                    <a:bodyPr/>
                    <a:lstStyle/>
                    <a:p>
                      <a:pPr algn="ctr"/>
                      <a:r>
                        <a:rPr lang="en-US" sz="1600" smtClean="0">
                          <a:solidFill>
                            <a:srgbClr val="002060"/>
                          </a:solidFill>
                        </a:rPr>
                        <a:t>4</a:t>
                      </a:r>
                      <a:endParaRPr lang="en-US" sz="1600">
                        <a:solidFill>
                          <a:srgbClr val="002060"/>
                        </a:solidFill>
                      </a:endParaRPr>
                    </a:p>
                  </a:txBody>
                  <a:tcPr>
                    <a:noFill/>
                  </a:tcPr>
                </a:tc>
                <a:tc>
                  <a:txBody>
                    <a:bodyPr/>
                    <a:lstStyle/>
                    <a:p>
                      <a:pPr algn="ctr"/>
                      <a:r>
                        <a:rPr lang="en-US" sz="1600" smtClean="0">
                          <a:solidFill>
                            <a:srgbClr val="002060"/>
                          </a:solidFill>
                        </a:rPr>
                        <a:t>5</a:t>
                      </a:r>
                      <a:endParaRPr lang="en-US" sz="1600">
                        <a:solidFill>
                          <a:srgbClr val="002060"/>
                        </a:solidFill>
                      </a:endParaRPr>
                    </a:p>
                  </a:txBody>
                  <a:tcPr>
                    <a:noFill/>
                  </a:tcPr>
                </a:tc>
                <a:tc>
                  <a:txBody>
                    <a:bodyPr/>
                    <a:lstStyle/>
                    <a:p>
                      <a:pPr algn="ctr"/>
                      <a:r>
                        <a:rPr lang="en-US" sz="1600" smtClean="0">
                          <a:solidFill>
                            <a:srgbClr val="002060"/>
                          </a:solidFill>
                        </a:rPr>
                        <a:t>6</a:t>
                      </a:r>
                      <a:endParaRPr lang="en-US" sz="1600">
                        <a:solidFill>
                          <a:srgbClr val="002060"/>
                        </a:solidFill>
                      </a:endParaRPr>
                    </a:p>
                  </a:txBody>
                  <a:tcPr>
                    <a:noFill/>
                  </a:tcPr>
                </a:tc>
                <a:tc>
                  <a:txBody>
                    <a:bodyPr/>
                    <a:lstStyle/>
                    <a:p>
                      <a:pPr algn="ctr"/>
                      <a:r>
                        <a:rPr lang="en-US" sz="1600" smtClean="0">
                          <a:solidFill>
                            <a:srgbClr val="002060"/>
                          </a:solidFill>
                        </a:rPr>
                        <a:t>7</a:t>
                      </a:r>
                      <a:endParaRPr lang="en-US" sz="1600">
                        <a:solidFill>
                          <a:srgbClr val="002060"/>
                        </a:solidFill>
                      </a:endParaRPr>
                    </a:p>
                  </a:txBody>
                  <a:tcPr>
                    <a:noFill/>
                  </a:tcPr>
                </a:tc>
                <a:tc>
                  <a:txBody>
                    <a:bodyPr/>
                    <a:lstStyle/>
                    <a:p>
                      <a:pPr algn="ctr"/>
                      <a:r>
                        <a:rPr lang="en-US" sz="1600" smtClean="0">
                          <a:solidFill>
                            <a:srgbClr val="002060"/>
                          </a:solidFill>
                        </a:rPr>
                        <a:t>8</a:t>
                      </a:r>
                      <a:endParaRPr lang="en-US" sz="1600">
                        <a:solidFill>
                          <a:srgbClr val="002060"/>
                        </a:solidFill>
                      </a:endParaRPr>
                    </a:p>
                  </a:txBody>
                  <a:tcPr>
                    <a:noFill/>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23CCF1F5-9BC3-4B0D-A0E5-883F7EE2AD66}" type="slidenum">
              <a:rPr lang="en-US" smtClean="0"/>
              <a:pPr>
                <a:defRPr/>
              </a:pPr>
              <a:t>108</a:t>
            </a:fld>
            <a:endParaRPr lang="en-US"/>
          </a:p>
        </p:txBody>
      </p:sp>
      <p:sp>
        <p:nvSpPr>
          <p:cNvPr id="18" name="Can 17"/>
          <p:cNvSpPr/>
          <p:nvPr/>
        </p:nvSpPr>
        <p:spPr>
          <a:xfrm>
            <a:off x="2133600" y="2286000"/>
            <a:ext cx="1219200" cy="3276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TextBox 18"/>
          <p:cNvSpPr txBox="1"/>
          <p:nvPr/>
        </p:nvSpPr>
        <p:spPr>
          <a:xfrm>
            <a:off x="1371600" y="5715000"/>
            <a:ext cx="2869696" cy="523220"/>
          </a:xfrm>
          <a:prstGeom prst="rect">
            <a:avLst/>
          </a:prstGeom>
          <a:noFill/>
        </p:spPr>
        <p:txBody>
          <a:bodyPr wrap="none">
            <a:spAutoFit/>
          </a:bodyPr>
          <a:lstStyle/>
          <a:p>
            <a:pPr>
              <a:defRPr/>
            </a:pPr>
            <a:r>
              <a:rPr lang="en-US" sz="2800" b="1">
                <a:solidFill>
                  <a:srgbClr val="FF0000"/>
                </a:solidFill>
                <a:latin typeface="Times New Roman" panose="02020603050405020304" pitchFamily="18" charset="0"/>
                <a:cs typeface="Times New Roman" panose="02020603050405020304" pitchFamily="18" charset="0"/>
              </a:rPr>
              <a:t>Đoạn cần sắp xếp</a:t>
            </a:r>
          </a:p>
        </p:txBody>
      </p:sp>
      <p:sp>
        <p:nvSpPr>
          <p:cNvPr id="21" name="Up Arrow Callout 20"/>
          <p:cNvSpPr/>
          <p:nvPr/>
        </p:nvSpPr>
        <p:spPr>
          <a:xfrm>
            <a:off x="80010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sp>
        <p:nvSpPr>
          <p:cNvPr id="22" name="Up Arrow Callout 21"/>
          <p:cNvSpPr/>
          <p:nvPr/>
        </p:nvSpPr>
        <p:spPr>
          <a:xfrm>
            <a:off x="86106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sp>
        <p:nvSpPr>
          <p:cNvPr id="23" name="Flowchart: Process 22"/>
          <p:cNvSpPr/>
          <p:nvPr/>
        </p:nvSpPr>
        <p:spPr>
          <a:xfrm>
            <a:off x="4191000" y="1143000"/>
            <a:ext cx="1600200" cy="381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i=6, j=7</a:t>
            </a:r>
          </a:p>
        </p:txBody>
      </p:sp>
      <p:sp>
        <p:nvSpPr>
          <p:cNvPr id="24" name="Down Arrow Callout 23"/>
          <p:cNvSpPr/>
          <p:nvPr/>
        </p:nvSpPr>
        <p:spPr>
          <a:xfrm>
            <a:off x="7848600" y="990600"/>
            <a:ext cx="609600" cy="68580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x</a:t>
            </a:r>
          </a:p>
        </p:txBody>
      </p:sp>
      <p:sp>
        <p:nvSpPr>
          <p:cNvPr id="25" name="Oval 24"/>
          <p:cNvSpPr/>
          <p:nvPr/>
        </p:nvSpPr>
        <p:spPr>
          <a:xfrm>
            <a:off x="2220914" y="48768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L=1</a:t>
            </a:r>
          </a:p>
          <a:p>
            <a:pPr algn="ctr">
              <a:defRPr/>
            </a:pPr>
            <a:r>
              <a:rPr lang="en-US" b="1"/>
              <a:t>R=4</a:t>
            </a:r>
          </a:p>
        </p:txBody>
      </p:sp>
      <p:sp>
        <p:nvSpPr>
          <p:cNvPr id="27" name="Oval 26"/>
          <p:cNvSpPr/>
          <p:nvPr/>
        </p:nvSpPr>
        <p:spPr>
          <a:xfrm>
            <a:off x="2209801" y="42672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L=4</a:t>
            </a:r>
          </a:p>
          <a:p>
            <a:pPr algn="ctr">
              <a:defRPr/>
            </a:pPr>
            <a:r>
              <a:rPr lang="en-US" b="1"/>
              <a:t>R=5</a:t>
            </a:r>
          </a:p>
        </p:txBody>
      </p:sp>
      <p:sp>
        <p:nvSpPr>
          <p:cNvPr id="26" name="Down Arrow 25"/>
          <p:cNvSpPr/>
          <p:nvPr/>
        </p:nvSpPr>
        <p:spPr>
          <a:xfrm>
            <a:off x="7848600" y="167640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a:t>
            </a:r>
          </a:p>
        </p:txBody>
      </p:sp>
      <p:sp>
        <p:nvSpPr>
          <p:cNvPr id="29" name="Down Arrow 28"/>
          <p:cNvSpPr/>
          <p:nvPr/>
        </p:nvSpPr>
        <p:spPr>
          <a:xfrm>
            <a:off x="8610600" y="170815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R</a:t>
            </a:r>
          </a:p>
        </p:txBody>
      </p:sp>
      <p:sp>
        <p:nvSpPr>
          <p:cNvPr id="43" name="Oval 42"/>
          <p:cNvSpPr/>
          <p:nvPr/>
        </p:nvSpPr>
        <p:spPr>
          <a:xfrm>
            <a:off x="2225676" y="36576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L=6</a:t>
            </a:r>
          </a:p>
          <a:p>
            <a:pPr algn="ctr">
              <a:defRPr/>
            </a:pPr>
            <a:r>
              <a:rPr lang="en-US" b="1">
                <a:solidFill>
                  <a:srgbClr val="FF0000"/>
                </a:solidFill>
              </a:rPr>
              <a:t>R=7</a:t>
            </a:r>
          </a:p>
        </p:txBody>
      </p:sp>
      <p:sp>
        <p:nvSpPr>
          <p:cNvPr id="8" name="Oval 7"/>
          <p:cNvSpPr/>
          <p:nvPr/>
        </p:nvSpPr>
        <p:spPr>
          <a:xfrm>
            <a:off x="5688013"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9" name="Oval 8"/>
          <p:cNvSpPr/>
          <p:nvPr/>
        </p:nvSpPr>
        <p:spPr>
          <a:xfrm>
            <a:off x="6415088"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sp>
        <p:nvSpPr>
          <p:cNvPr id="10" name="Oval 9"/>
          <p:cNvSpPr/>
          <p:nvPr/>
        </p:nvSpPr>
        <p:spPr>
          <a:xfrm>
            <a:off x="71628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11" name="Oval 10"/>
          <p:cNvSpPr/>
          <p:nvPr/>
        </p:nvSpPr>
        <p:spPr>
          <a:xfrm>
            <a:off x="7848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2" name="Oval 11"/>
          <p:cNvSpPr/>
          <p:nvPr/>
        </p:nvSpPr>
        <p:spPr>
          <a:xfrm>
            <a:off x="8610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13" name="Oval 12"/>
          <p:cNvSpPr/>
          <p:nvPr/>
        </p:nvSpPr>
        <p:spPr>
          <a:xfrm>
            <a:off x="92964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6" name="Oval 5"/>
          <p:cNvSpPr/>
          <p:nvPr/>
        </p:nvSpPr>
        <p:spPr>
          <a:xfrm>
            <a:off x="4259263"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7" name="Oval 6"/>
          <p:cNvSpPr/>
          <p:nvPr/>
        </p:nvSpPr>
        <p:spPr>
          <a:xfrm>
            <a:off x="4965700"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28" name="Title 1"/>
          <p:cNvSpPr txBox="1">
            <a:spLocks/>
          </p:cNvSpPr>
          <p:nvPr/>
        </p:nvSpPr>
        <p:spPr>
          <a:xfrm>
            <a:off x="609600" y="381000"/>
            <a:ext cx="10515600"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5. Quick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2.77778E-7 2.22222E-6 L 0.00017 -0.37778 " pathEditMode="relative" rAng="0" ptsTypes="AA">
                                      <p:cBhvr>
                                        <p:cTn id="6" dur="2000" fill="hold"/>
                                        <p:tgtEl>
                                          <p:spTgt spid="43"/>
                                        </p:tgtEl>
                                        <p:attrNameLst>
                                          <p:attrName>ppt_x</p:attrName>
                                          <p:attrName>ppt_y</p:attrName>
                                        </p:attrNameLst>
                                      </p:cBhvr>
                                      <p:rCtr x="0" y="-18889"/>
                                    </p:animMotion>
                                  </p:childTnLst>
                                </p:cTn>
                              </p:par>
                            </p:childTnLst>
                          </p:cTn>
                        </p:par>
                        <p:par>
                          <p:cTn id="7" fill="hold" nodeType="afterGroup">
                            <p:stCondLst>
                              <p:cond delay="2000"/>
                            </p:stCondLst>
                            <p:childTnLst>
                              <p:par>
                                <p:cTn id="8" presetID="3" presetClass="entr" presetSubtype="10"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childTnLst>
                          </p:cTn>
                        </p:par>
                        <p:par>
                          <p:cTn id="11" fill="hold" nodeType="afterGroup">
                            <p:stCondLst>
                              <p:cond delay="2500"/>
                            </p:stCondLst>
                            <p:childTnLst>
                              <p:par>
                                <p:cTn id="12" presetID="2" presetClass="entr" presetSubtype="1" fill="hold" grpId="0" nodeType="after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additive="base">
                                        <p:cTn id="14" dur="500" fill="hold"/>
                                        <p:tgtEl>
                                          <p:spTgt spid="26"/>
                                        </p:tgtEl>
                                        <p:attrNameLst>
                                          <p:attrName>ppt_x</p:attrName>
                                        </p:attrNameLst>
                                      </p:cBhvr>
                                      <p:tavLst>
                                        <p:tav tm="0">
                                          <p:val>
                                            <p:strVal val="#ppt_x"/>
                                          </p:val>
                                        </p:tav>
                                        <p:tav tm="100000">
                                          <p:val>
                                            <p:strVal val="#ppt_x"/>
                                          </p:val>
                                        </p:tav>
                                      </p:tavLst>
                                    </p:anim>
                                    <p:anim calcmode="lin" valueType="num">
                                      <p:cBhvr additive="base">
                                        <p:cTn id="15" dur="500" fill="hold"/>
                                        <p:tgtEl>
                                          <p:spTgt spid="26"/>
                                        </p:tgtEl>
                                        <p:attrNameLst>
                                          <p:attrName>ppt_y</p:attrName>
                                        </p:attrNameLst>
                                      </p:cBhvr>
                                      <p:tavLst>
                                        <p:tav tm="0">
                                          <p:val>
                                            <p:strVal val="0-#ppt_h/2"/>
                                          </p:val>
                                        </p:tav>
                                        <p:tav tm="100000">
                                          <p:val>
                                            <p:strVal val="#ppt_y"/>
                                          </p:val>
                                        </p:tav>
                                      </p:tavLst>
                                    </p:anim>
                                  </p:childTnLst>
                                </p:cTn>
                              </p:par>
                              <p:par>
                                <p:cTn id="16" presetID="2" presetClass="entr" presetSubtype="1"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ppt_x"/>
                                          </p:val>
                                        </p:tav>
                                        <p:tav tm="100000">
                                          <p:val>
                                            <p:strVal val="#ppt_x"/>
                                          </p:val>
                                        </p:tav>
                                      </p:tavLst>
                                    </p:anim>
                                    <p:anim calcmode="lin" valueType="num">
                                      <p:cBhvr additive="base">
                                        <p:cTn id="19" dur="500" fill="hold"/>
                                        <p:tgtEl>
                                          <p:spTgt spid="29"/>
                                        </p:tgtEl>
                                        <p:attrNameLst>
                                          <p:attrName>ppt_y</p:attrName>
                                        </p:attrNameLst>
                                      </p:cBhvr>
                                      <p:tavLst>
                                        <p:tav tm="0">
                                          <p:val>
                                            <p:strVal val="0-#ppt_h/2"/>
                                          </p:val>
                                        </p:tav>
                                        <p:tav tm="100000">
                                          <p:val>
                                            <p:strVal val="#ppt_y"/>
                                          </p:val>
                                        </p:tav>
                                      </p:tavLst>
                                    </p:anim>
                                  </p:childTnLst>
                                </p:cTn>
                              </p:par>
                            </p:childTnLst>
                          </p:cTn>
                        </p:par>
                        <p:par>
                          <p:cTn id="20" fill="hold" nodeType="afterGroup">
                            <p:stCondLst>
                              <p:cond delay="3000"/>
                            </p:stCondLst>
                            <p:childTnLst>
                              <p:par>
                                <p:cTn id="21" presetID="2" presetClass="entr" presetSubtype="4"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3500"/>
                            </p:stCondLst>
                            <p:childTnLst>
                              <p:par>
                                <p:cTn id="30" presetID="2" presetClass="entr" presetSubtype="1"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500" fill="hold"/>
                                        <p:tgtEl>
                                          <p:spTgt spid="24"/>
                                        </p:tgtEl>
                                        <p:attrNameLst>
                                          <p:attrName>ppt_x</p:attrName>
                                        </p:attrNameLst>
                                      </p:cBhvr>
                                      <p:tavLst>
                                        <p:tav tm="0">
                                          <p:val>
                                            <p:strVal val="#ppt_x"/>
                                          </p:val>
                                        </p:tav>
                                        <p:tav tm="100000">
                                          <p:val>
                                            <p:strVal val="#ppt_x"/>
                                          </p:val>
                                        </p:tav>
                                      </p:tavLst>
                                    </p:anim>
                                    <p:anim calcmode="lin" valueType="num">
                                      <p:cBhvr additive="base">
                                        <p:cTn id="33"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35" presetClass="path" presetSubtype="0" accel="50000" decel="50000" fill="hold" grpId="1" nodeType="clickEffect">
                                  <p:stCondLst>
                                    <p:cond delay="0"/>
                                  </p:stCondLst>
                                  <p:childTnLst>
                                    <p:animMotion origin="layout" path="M 0.02813 4.44444E-6 L -0.05104 4.44444E-6 " pathEditMode="relative" rAng="0" ptsTypes="AA">
                                      <p:cBhvr>
                                        <p:cTn id="37" dur="2000" fill="hold"/>
                                        <p:tgtEl>
                                          <p:spTgt spid="22"/>
                                        </p:tgtEl>
                                        <p:attrNameLst>
                                          <p:attrName>ppt_x</p:attrName>
                                          <p:attrName>ppt_y</p:attrName>
                                        </p:attrNameLst>
                                      </p:cBhvr>
                                      <p:rCtr x="-3958" y="0"/>
                                    </p:animMotion>
                                  </p:childTnLst>
                                </p:cTn>
                              </p:par>
                            </p:childTnLst>
                          </p:cTn>
                        </p:par>
                        <p:par>
                          <p:cTn id="38" fill="hold" nodeType="afterGroup">
                            <p:stCondLst>
                              <p:cond delay="2000"/>
                            </p:stCondLst>
                            <p:childTnLst>
                              <p:par>
                                <p:cTn id="39" presetID="35" presetClass="path" presetSubtype="0" accel="50000" decel="50000" fill="hold" grpId="2" nodeType="afterEffect">
                                  <p:stCondLst>
                                    <p:cond delay="0"/>
                                  </p:stCondLst>
                                  <p:childTnLst>
                                    <p:animMotion origin="layout" path="M -0.05104 3.33333E-6 L -0.12188 4.44444E-6 " pathEditMode="relative" rAng="0" ptsTypes="AA">
                                      <p:cBhvr>
                                        <p:cTn id="40" dur="2000" fill="hold"/>
                                        <p:tgtEl>
                                          <p:spTgt spid="22"/>
                                        </p:tgtEl>
                                        <p:attrNameLst>
                                          <p:attrName>ppt_x</p:attrName>
                                          <p:attrName>ppt_y</p:attrName>
                                        </p:attrNameLst>
                                      </p:cBhvr>
                                      <p:rCtr x="-3438" y="-556"/>
                                    </p:animMotion>
                                  </p:childTnLst>
                                </p:cTn>
                              </p:par>
                              <p:par>
                                <p:cTn id="41" presetID="63" presetClass="path" presetSubtype="0" accel="50000" decel="50000" fill="hold" grpId="1" nodeType="withEffect">
                                  <p:stCondLst>
                                    <p:cond delay="0"/>
                                  </p:stCondLst>
                                  <p:childTnLst>
                                    <p:animMotion origin="layout" path="M -0.00416 4.44444E-6 L 0.05626 4.44444E-6 " pathEditMode="relative" rAng="0" ptsTypes="AA">
                                      <p:cBhvr>
                                        <p:cTn id="42" dur="2000" fill="hold"/>
                                        <p:tgtEl>
                                          <p:spTgt spid="21"/>
                                        </p:tgtEl>
                                        <p:attrNameLst>
                                          <p:attrName>ppt_x</p:attrName>
                                          <p:attrName>ppt_y</p:attrName>
                                        </p:attrNameLst>
                                      </p:cBhvr>
                                      <p:rCtr x="302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2" grpId="0" animBg="1"/>
      <p:bldP spid="22" grpId="1" animBg="1"/>
      <p:bldP spid="22" grpId="2" animBg="1"/>
      <p:bldP spid="23" grpId="0" animBg="1"/>
      <p:bldP spid="24" grpId="0" animBg="1"/>
      <p:bldP spid="26" grpId="0" animBg="1"/>
      <p:bldP spid="29" grpId="0" animBg="1"/>
      <p:bldP spid="43"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4191000" y="2514600"/>
          <a:ext cx="5791200" cy="1219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tblGrid>
              <a:tr h="609600">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0"/>
                  </a:ext>
                </a:extLst>
              </a:tr>
              <a:tr h="609600">
                <a:tc>
                  <a:txBody>
                    <a:bodyPr/>
                    <a:lstStyle/>
                    <a:p>
                      <a:pPr algn="ctr"/>
                      <a:r>
                        <a:rPr lang="en-US" sz="1600" smtClean="0">
                          <a:solidFill>
                            <a:srgbClr val="002060"/>
                          </a:solidFill>
                        </a:rPr>
                        <a:t>1</a:t>
                      </a:r>
                      <a:endParaRPr lang="en-US" sz="1600">
                        <a:solidFill>
                          <a:srgbClr val="002060"/>
                        </a:solidFill>
                      </a:endParaRPr>
                    </a:p>
                  </a:txBody>
                  <a:tcPr>
                    <a:noFill/>
                  </a:tcPr>
                </a:tc>
                <a:tc>
                  <a:txBody>
                    <a:bodyPr/>
                    <a:lstStyle/>
                    <a:p>
                      <a:pPr algn="ctr"/>
                      <a:r>
                        <a:rPr lang="en-US" sz="1600" smtClean="0">
                          <a:solidFill>
                            <a:srgbClr val="002060"/>
                          </a:solidFill>
                        </a:rPr>
                        <a:t>2</a:t>
                      </a:r>
                      <a:endParaRPr lang="en-US" sz="1600">
                        <a:solidFill>
                          <a:srgbClr val="002060"/>
                        </a:solidFill>
                      </a:endParaRPr>
                    </a:p>
                  </a:txBody>
                  <a:tcPr>
                    <a:noFill/>
                  </a:tcPr>
                </a:tc>
                <a:tc>
                  <a:txBody>
                    <a:bodyPr/>
                    <a:lstStyle/>
                    <a:p>
                      <a:pPr algn="ctr"/>
                      <a:r>
                        <a:rPr lang="en-US" sz="1600" smtClean="0">
                          <a:solidFill>
                            <a:srgbClr val="002060"/>
                          </a:solidFill>
                        </a:rPr>
                        <a:t>3</a:t>
                      </a:r>
                      <a:endParaRPr lang="en-US" sz="1600">
                        <a:solidFill>
                          <a:srgbClr val="002060"/>
                        </a:solidFill>
                      </a:endParaRPr>
                    </a:p>
                  </a:txBody>
                  <a:tcPr>
                    <a:noFill/>
                  </a:tcPr>
                </a:tc>
                <a:tc>
                  <a:txBody>
                    <a:bodyPr/>
                    <a:lstStyle/>
                    <a:p>
                      <a:pPr algn="ctr"/>
                      <a:r>
                        <a:rPr lang="en-US" sz="1600" smtClean="0">
                          <a:solidFill>
                            <a:srgbClr val="002060"/>
                          </a:solidFill>
                        </a:rPr>
                        <a:t>4</a:t>
                      </a:r>
                      <a:endParaRPr lang="en-US" sz="1600">
                        <a:solidFill>
                          <a:srgbClr val="002060"/>
                        </a:solidFill>
                      </a:endParaRPr>
                    </a:p>
                  </a:txBody>
                  <a:tcPr>
                    <a:noFill/>
                  </a:tcPr>
                </a:tc>
                <a:tc>
                  <a:txBody>
                    <a:bodyPr/>
                    <a:lstStyle/>
                    <a:p>
                      <a:pPr algn="ctr"/>
                      <a:r>
                        <a:rPr lang="en-US" sz="1600" smtClean="0">
                          <a:solidFill>
                            <a:srgbClr val="002060"/>
                          </a:solidFill>
                        </a:rPr>
                        <a:t>5</a:t>
                      </a:r>
                      <a:endParaRPr lang="en-US" sz="1600">
                        <a:solidFill>
                          <a:srgbClr val="002060"/>
                        </a:solidFill>
                      </a:endParaRPr>
                    </a:p>
                  </a:txBody>
                  <a:tcPr>
                    <a:noFill/>
                  </a:tcPr>
                </a:tc>
                <a:tc>
                  <a:txBody>
                    <a:bodyPr/>
                    <a:lstStyle/>
                    <a:p>
                      <a:pPr algn="ctr"/>
                      <a:r>
                        <a:rPr lang="en-US" sz="1600" smtClean="0">
                          <a:solidFill>
                            <a:srgbClr val="002060"/>
                          </a:solidFill>
                        </a:rPr>
                        <a:t>6</a:t>
                      </a:r>
                      <a:endParaRPr lang="en-US" sz="1600">
                        <a:solidFill>
                          <a:srgbClr val="002060"/>
                        </a:solidFill>
                      </a:endParaRPr>
                    </a:p>
                  </a:txBody>
                  <a:tcPr>
                    <a:noFill/>
                  </a:tcPr>
                </a:tc>
                <a:tc>
                  <a:txBody>
                    <a:bodyPr/>
                    <a:lstStyle/>
                    <a:p>
                      <a:pPr algn="ctr"/>
                      <a:r>
                        <a:rPr lang="en-US" sz="1600" smtClean="0">
                          <a:solidFill>
                            <a:srgbClr val="002060"/>
                          </a:solidFill>
                        </a:rPr>
                        <a:t>7</a:t>
                      </a:r>
                      <a:endParaRPr lang="en-US" sz="1600">
                        <a:solidFill>
                          <a:srgbClr val="002060"/>
                        </a:solidFill>
                      </a:endParaRPr>
                    </a:p>
                  </a:txBody>
                  <a:tcPr>
                    <a:noFill/>
                  </a:tcPr>
                </a:tc>
                <a:tc>
                  <a:txBody>
                    <a:bodyPr/>
                    <a:lstStyle/>
                    <a:p>
                      <a:pPr algn="ctr"/>
                      <a:r>
                        <a:rPr lang="en-US" sz="1600" smtClean="0">
                          <a:solidFill>
                            <a:srgbClr val="002060"/>
                          </a:solidFill>
                        </a:rPr>
                        <a:t>8</a:t>
                      </a:r>
                      <a:endParaRPr lang="en-US" sz="1600">
                        <a:solidFill>
                          <a:srgbClr val="002060"/>
                        </a:solidFill>
                      </a:endParaRPr>
                    </a:p>
                  </a:txBody>
                  <a:tcPr>
                    <a:noFill/>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476DD5AD-8DC4-41B1-85E4-A341BAF20A48}" type="slidenum">
              <a:rPr lang="en-US" smtClean="0"/>
              <a:pPr>
                <a:defRPr/>
              </a:pPr>
              <a:t>109</a:t>
            </a:fld>
            <a:endParaRPr lang="en-US"/>
          </a:p>
        </p:txBody>
      </p:sp>
      <p:sp>
        <p:nvSpPr>
          <p:cNvPr id="18" name="Can 17"/>
          <p:cNvSpPr/>
          <p:nvPr/>
        </p:nvSpPr>
        <p:spPr>
          <a:xfrm>
            <a:off x="2133600" y="2286000"/>
            <a:ext cx="1219200" cy="3276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TextBox 18"/>
          <p:cNvSpPr txBox="1"/>
          <p:nvPr/>
        </p:nvSpPr>
        <p:spPr>
          <a:xfrm>
            <a:off x="1447800" y="5715000"/>
            <a:ext cx="2869696" cy="523220"/>
          </a:xfrm>
          <a:prstGeom prst="rect">
            <a:avLst/>
          </a:prstGeom>
          <a:noFill/>
        </p:spPr>
        <p:txBody>
          <a:bodyPr wrap="none">
            <a:spAutoFit/>
          </a:bodyPr>
          <a:lstStyle/>
          <a:p>
            <a:pPr>
              <a:defRPr/>
            </a:pPr>
            <a:r>
              <a:rPr lang="en-US" sz="2800" b="1">
                <a:solidFill>
                  <a:srgbClr val="FF0000"/>
                </a:solidFill>
                <a:latin typeface="Times New Roman" panose="02020603050405020304" pitchFamily="18" charset="0"/>
                <a:cs typeface="Times New Roman" panose="02020603050405020304" pitchFamily="18" charset="0"/>
              </a:rPr>
              <a:t>Đoạn cần sắp xếp</a:t>
            </a:r>
          </a:p>
        </p:txBody>
      </p:sp>
      <p:sp>
        <p:nvSpPr>
          <p:cNvPr id="21" name="Up Arrow Callout 20"/>
          <p:cNvSpPr/>
          <p:nvPr/>
        </p:nvSpPr>
        <p:spPr>
          <a:xfrm>
            <a:off x="64770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sp>
        <p:nvSpPr>
          <p:cNvPr id="22" name="Up Arrow Callout 21"/>
          <p:cNvSpPr/>
          <p:nvPr/>
        </p:nvSpPr>
        <p:spPr>
          <a:xfrm>
            <a:off x="71628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sp>
        <p:nvSpPr>
          <p:cNvPr id="23" name="Flowchart: Process 22"/>
          <p:cNvSpPr/>
          <p:nvPr/>
        </p:nvSpPr>
        <p:spPr>
          <a:xfrm>
            <a:off x="4191000" y="1143000"/>
            <a:ext cx="1600200" cy="381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i=4, j=5</a:t>
            </a:r>
          </a:p>
        </p:txBody>
      </p:sp>
      <p:sp>
        <p:nvSpPr>
          <p:cNvPr id="24" name="Down Arrow Callout 23"/>
          <p:cNvSpPr/>
          <p:nvPr/>
        </p:nvSpPr>
        <p:spPr>
          <a:xfrm>
            <a:off x="6400800" y="990600"/>
            <a:ext cx="609600" cy="68580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x</a:t>
            </a:r>
          </a:p>
        </p:txBody>
      </p:sp>
      <p:sp>
        <p:nvSpPr>
          <p:cNvPr id="25" name="Oval 24"/>
          <p:cNvSpPr/>
          <p:nvPr/>
        </p:nvSpPr>
        <p:spPr>
          <a:xfrm>
            <a:off x="2220914" y="48768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L=1</a:t>
            </a:r>
          </a:p>
          <a:p>
            <a:pPr algn="ctr">
              <a:defRPr/>
            </a:pPr>
            <a:r>
              <a:rPr lang="en-US" b="1"/>
              <a:t>R=4</a:t>
            </a:r>
          </a:p>
        </p:txBody>
      </p:sp>
      <p:sp>
        <p:nvSpPr>
          <p:cNvPr id="27" name="Oval 26"/>
          <p:cNvSpPr/>
          <p:nvPr/>
        </p:nvSpPr>
        <p:spPr>
          <a:xfrm>
            <a:off x="2209801" y="42672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L=4</a:t>
            </a:r>
          </a:p>
          <a:p>
            <a:pPr algn="ctr">
              <a:defRPr/>
            </a:pPr>
            <a:r>
              <a:rPr lang="en-US" b="1">
                <a:solidFill>
                  <a:srgbClr val="FF0000"/>
                </a:solidFill>
              </a:rPr>
              <a:t>R=5</a:t>
            </a:r>
          </a:p>
        </p:txBody>
      </p:sp>
      <p:sp>
        <p:nvSpPr>
          <p:cNvPr id="26" name="Down Arrow 25"/>
          <p:cNvSpPr/>
          <p:nvPr/>
        </p:nvSpPr>
        <p:spPr>
          <a:xfrm>
            <a:off x="6400800" y="167640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a:t>
            </a:r>
          </a:p>
        </p:txBody>
      </p:sp>
      <p:sp>
        <p:nvSpPr>
          <p:cNvPr id="29" name="Down Arrow 28"/>
          <p:cNvSpPr/>
          <p:nvPr/>
        </p:nvSpPr>
        <p:spPr>
          <a:xfrm>
            <a:off x="7162800" y="170815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R</a:t>
            </a:r>
          </a:p>
        </p:txBody>
      </p:sp>
      <p:sp>
        <p:nvSpPr>
          <p:cNvPr id="8" name="Oval 7"/>
          <p:cNvSpPr/>
          <p:nvPr/>
        </p:nvSpPr>
        <p:spPr>
          <a:xfrm>
            <a:off x="5688013"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9" name="Oval 8"/>
          <p:cNvSpPr/>
          <p:nvPr/>
        </p:nvSpPr>
        <p:spPr>
          <a:xfrm>
            <a:off x="6415088"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sp>
        <p:nvSpPr>
          <p:cNvPr id="10" name="Oval 9"/>
          <p:cNvSpPr/>
          <p:nvPr/>
        </p:nvSpPr>
        <p:spPr>
          <a:xfrm>
            <a:off x="71628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11" name="Oval 10"/>
          <p:cNvSpPr/>
          <p:nvPr/>
        </p:nvSpPr>
        <p:spPr>
          <a:xfrm>
            <a:off x="7848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2" name="Oval 11"/>
          <p:cNvSpPr/>
          <p:nvPr/>
        </p:nvSpPr>
        <p:spPr>
          <a:xfrm>
            <a:off x="8610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13" name="Oval 12"/>
          <p:cNvSpPr/>
          <p:nvPr/>
        </p:nvSpPr>
        <p:spPr>
          <a:xfrm>
            <a:off x="92964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6" name="Oval 5"/>
          <p:cNvSpPr/>
          <p:nvPr/>
        </p:nvSpPr>
        <p:spPr>
          <a:xfrm>
            <a:off x="4259263"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7" name="Oval 6"/>
          <p:cNvSpPr/>
          <p:nvPr/>
        </p:nvSpPr>
        <p:spPr>
          <a:xfrm>
            <a:off x="4965700"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28" name="Title 1"/>
          <p:cNvSpPr txBox="1">
            <a:spLocks/>
          </p:cNvSpPr>
          <p:nvPr/>
        </p:nvSpPr>
        <p:spPr>
          <a:xfrm>
            <a:off x="609600" y="381000"/>
            <a:ext cx="10515600"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5. Quick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3.61111E-6 3.33333E-6 L 0.00191 -0.46667 " pathEditMode="relative" rAng="0" ptsTypes="AA">
                                      <p:cBhvr>
                                        <p:cTn id="6" dur="2000" fill="hold"/>
                                        <p:tgtEl>
                                          <p:spTgt spid="27"/>
                                        </p:tgtEl>
                                        <p:attrNameLst>
                                          <p:attrName>ppt_x</p:attrName>
                                          <p:attrName>ppt_y</p:attrName>
                                        </p:attrNameLst>
                                      </p:cBhvr>
                                      <p:rCtr x="87" y="-23333"/>
                                    </p:animMotion>
                                  </p:childTnLst>
                                </p:cTn>
                              </p:par>
                            </p:childTnLst>
                          </p:cTn>
                        </p:par>
                        <p:par>
                          <p:cTn id="7" fill="hold" nodeType="afterGroup">
                            <p:stCondLst>
                              <p:cond delay="2000"/>
                            </p:stCondLst>
                            <p:childTnLst>
                              <p:par>
                                <p:cTn id="8" presetID="3" presetClass="entr" presetSubtype="10"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childTnLst>
                          </p:cTn>
                        </p:par>
                        <p:par>
                          <p:cTn id="11" fill="hold" nodeType="afterGroup">
                            <p:stCondLst>
                              <p:cond delay="2500"/>
                            </p:stCondLst>
                            <p:childTnLst>
                              <p:par>
                                <p:cTn id="12" presetID="2" presetClass="entr" presetSubtype="1" fill="hold" grpId="0" nodeType="after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additive="base">
                                        <p:cTn id="14" dur="500" fill="hold"/>
                                        <p:tgtEl>
                                          <p:spTgt spid="26"/>
                                        </p:tgtEl>
                                        <p:attrNameLst>
                                          <p:attrName>ppt_x</p:attrName>
                                        </p:attrNameLst>
                                      </p:cBhvr>
                                      <p:tavLst>
                                        <p:tav tm="0">
                                          <p:val>
                                            <p:strVal val="#ppt_x"/>
                                          </p:val>
                                        </p:tav>
                                        <p:tav tm="100000">
                                          <p:val>
                                            <p:strVal val="#ppt_x"/>
                                          </p:val>
                                        </p:tav>
                                      </p:tavLst>
                                    </p:anim>
                                    <p:anim calcmode="lin" valueType="num">
                                      <p:cBhvr additive="base">
                                        <p:cTn id="15" dur="500" fill="hold"/>
                                        <p:tgtEl>
                                          <p:spTgt spid="26"/>
                                        </p:tgtEl>
                                        <p:attrNameLst>
                                          <p:attrName>ppt_y</p:attrName>
                                        </p:attrNameLst>
                                      </p:cBhvr>
                                      <p:tavLst>
                                        <p:tav tm="0">
                                          <p:val>
                                            <p:strVal val="0-#ppt_h/2"/>
                                          </p:val>
                                        </p:tav>
                                        <p:tav tm="100000">
                                          <p:val>
                                            <p:strVal val="#ppt_y"/>
                                          </p:val>
                                        </p:tav>
                                      </p:tavLst>
                                    </p:anim>
                                  </p:childTnLst>
                                </p:cTn>
                              </p:par>
                              <p:par>
                                <p:cTn id="16" presetID="2" presetClass="entr" presetSubtype="1"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ppt_x"/>
                                          </p:val>
                                        </p:tav>
                                        <p:tav tm="100000">
                                          <p:val>
                                            <p:strVal val="#ppt_x"/>
                                          </p:val>
                                        </p:tav>
                                      </p:tavLst>
                                    </p:anim>
                                    <p:anim calcmode="lin" valueType="num">
                                      <p:cBhvr additive="base">
                                        <p:cTn id="19" dur="500" fill="hold"/>
                                        <p:tgtEl>
                                          <p:spTgt spid="29"/>
                                        </p:tgtEl>
                                        <p:attrNameLst>
                                          <p:attrName>ppt_y</p:attrName>
                                        </p:attrNameLst>
                                      </p:cBhvr>
                                      <p:tavLst>
                                        <p:tav tm="0">
                                          <p:val>
                                            <p:strVal val="0-#ppt_h/2"/>
                                          </p:val>
                                        </p:tav>
                                        <p:tav tm="100000">
                                          <p:val>
                                            <p:strVal val="#ppt_y"/>
                                          </p:val>
                                        </p:tav>
                                      </p:tavLst>
                                    </p:anim>
                                  </p:childTnLst>
                                </p:cTn>
                              </p:par>
                            </p:childTnLst>
                          </p:cTn>
                        </p:par>
                        <p:par>
                          <p:cTn id="20" fill="hold" nodeType="afterGroup">
                            <p:stCondLst>
                              <p:cond delay="3000"/>
                            </p:stCondLst>
                            <p:childTnLst>
                              <p:par>
                                <p:cTn id="21" presetID="2" presetClass="entr" presetSubtype="4"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3500"/>
                            </p:stCondLst>
                            <p:childTnLst>
                              <p:par>
                                <p:cTn id="30" presetID="2" presetClass="entr" presetSubtype="1"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500" fill="hold"/>
                                        <p:tgtEl>
                                          <p:spTgt spid="24"/>
                                        </p:tgtEl>
                                        <p:attrNameLst>
                                          <p:attrName>ppt_x</p:attrName>
                                        </p:attrNameLst>
                                      </p:cBhvr>
                                      <p:tavLst>
                                        <p:tav tm="0">
                                          <p:val>
                                            <p:strVal val="#ppt_x"/>
                                          </p:val>
                                        </p:tav>
                                        <p:tav tm="100000">
                                          <p:val>
                                            <p:strVal val="#ppt_x"/>
                                          </p:val>
                                        </p:tav>
                                      </p:tavLst>
                                    </p:anim>
                                    <p:anim calcmode="lin" valueType="num">
                                      <p:cBhvr additive="base">
                                        <p:cTn id="33"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35" presetClass="path" presetSubtype="0" accel="50000" decel="50000" fill="hold" grpId="1" nodeType="clickEffect">
                                  <p:stCondLst>
                                    <p:cond delay="0"/>
                                  </p:stCondLst>
                                  <p:childTnLst>
                                    <p:animMotion origin="layout" path="M 5E-6 4.44444E-6 L -0.05625 3.33333E-6 " pathEditMode="relative" rAng="0" ptsTypes="AA">
                                      <p:cBhvr>
                                        <p:cTn id="37" dur="2000" fill="hold"/>
                                        <p:tgtEl>
                                          <p:spTgt spid="22"/>
                                        </p:tgtEl>
                                        <p:attrNameLst>
                                          <p:attrName>ppt_x</p:attrName>
                                          <p:attrName>ppt_y</p:attrName>
                                        </p:attrNameLst>
                                      </p:cBhvr>
                                      <p:rCtr x="-2656" y="556"/>
                                    </p:animMotion>
                                  </p:childTnLst>
                                </p:cTn>
                              </p:par>
                            </p:childTnLst>
                          </p:cTn>
                        </p:par>
                        <p:par>
                          <p:cTn id="38" fill="hold" nodeType="afterGroup">
                            <p:stCondLst>
                              <p:cond delay="2000"/>
                            </p:stCondLst>
                            <p:childTnLst>
                              <p:par>
                                <p:cTn id="39" presetID="63" presetClass="path" presetSubtype="0" accel="50000" decel="50000" fill="hold" grpId="1" nodeType="afterEffect">
                                  <p:stCondLst>
                                    <p:cond delay="0"/>
                                  </p:stCondLst>
                                  <p:childTnLst>
                                    <p:animMotion origin="layout" path="M 5E-6 4.44444E-6 L 0.05625 3.33333E-6 " pathEditMode="relative" rAng="0" ptsTypes="AA">
                                      <p:cBhvr>
                                        <p:cTn id="40" dur="2000" fill="hold"/>
                                        <p:tgtEl>
                                          <p:spTgt spid="21"/>
                                        </p:tgtEl>
                                        <p:attrNameLst>
                                          <p:attrName>ppt_x</p:attrName>
                                          <p:attrName>ppt_y</p:attrName>
                                        </p:attrNameLst>
                                      </p:cBhvr>
                                      <p:rCtr x="2969" y="556"/>
                                    </p:animMotion>
                                  </p:childTnLst>
                                </p:cTn>
                              </p:par>
                              <p:par>
                                <p:cTn id="41" presetID="35" presetClass="path" presetSubtype="0" accel="50000" decel="50000" fill="hold" grpId="2" nodeType="withEffect">
                                  <p:stCondLst>
                                    <p:cond delay="0"/>
                                  </p:stCondLst>
                                  <p:childTnLst>
                                    <p:animMotion origin="layout" path="M -0.02812 4.44444E-6 L -0.06458 0.00902 " pathEditMode="relative" rAng="0" ptsTypes="AA">
                                      <p:cBhvr>
                                        <p:cTn id="42" dur="2000" fill="hold"/>
                                        <p:tgtEl>
                                          <p:spTgt spid="22"/>
                                        </p:tgtEl>
                                        <p:attrNameLst>
                                          <p:attrName>ppt_x</p:attrName>
                                          <p:attrName>ppt_y</p:attrName>
                                        </p:attrNameLst>
                                      </p:cBhvr>
                                      <p:rCtr x="-1823" y="44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2" grpId="0" animBg="1"/>
      <p:bldP spid="22" grpId="1" animBg="1"/>
      <p:bldP spid="22" grpId="2" animBg="1"/>
      <p:bldP spid="23" grpId="0" animBg="1"/>
      <p:bldP spid="24" grpId="0" animBg="1"/>
      <p:bldP spid="27" grpId="0" animBg="1"/>
      <p:bldP spid="26" grpId="0" animBg="1"/>
      <p:bldP spid="29"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4191000" y="2514600"/>
          <a:ext cx="5791200" cy="1219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tblGrid>
              <a:tr h="609600">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0"/>
                  </a:ext>
                </a:extLst>
              </a:tr>
              <a:tr h="609600">
                <a:tc>
                  <a:txBody>
                    <a:bodyPr/>
                    <a:lstStyle/>
                    <a:p>
                      <a:pPr algn="ctr"/>
                      <a:r>
                        <a:rPr lang="en-US" sz="1600" smtClean="0">
                          <a:solidFill>
                            <a:srgbClr val="002060"/>
                          </a:solidFill>
                        </a:rPr>
                        <a:t>1</a:t>
                      </a:r>
                      <a:endParaRPr lang="en-US" sz="1600">
                        <a:solidFill>
                          <a:srgbClr val="002060"/>
                        </a:solidFill>
                      </a:endParaRPr>
                    </a:p>
                  </a:txBody>
                  <a:tcPr>
                    <a:noFill/>
                  </a:tcPr>
                </a:tc>
                <a:tc>
                  <a:txBody>
                    <a:bodyPr/>
                    <a:lstStyle/>
                    <a:p>
                      <a:pPr algn="ctr"/>
                      <a:r>
                        <a:rPr lang="en-US" sz="1600" smtClean="0">
                          <a:solidFill>
                            <a:srgbClr val="002060"/>
                          </a:solidFill>
                        </a:rPr>
                        <a:t>2</a:t>
                      </a:r>
                      <a:endParaRPr lang="en-US" sz="1600">
                        <a:solidFill>
                          <a:srgbClr val="002060"/>
                        </a:solidFill>
                      </a:endParaRPr>
                    </a:p>
                  </a:txBody>
                  <a:tcPr>
                    <a:noFill/>
                  </a:tcPr>
                </a:tc>
                <a:tc>
                  <a:txBody>
                    <a:bodyPr/>
                    <a:lstStyle/>
                    <a:p>
                      <a:pPr algn="ctr"/>
                      <a:r>
                        <a:rPr lang="en-US" sz="1600" smtClean="0">
                          <a:solidFill>
                            <a:srgbClr val="002060"/>
                          </a:solidFill>
                        </a:rPr>
                        <a:t>3</a:t>
                      </a:r>
                      <a:endParaRPr lang="en-US" sz="1600">
                        <a:solidFill>
                          <a:srgbClr val="002060"/>
                        </a:solidFill>
                      </a:endParaRPr>
                    </a:p>
                  </a:txBody>
                  <a:tcPr>
                    <a:noFill/>
                  </a:tcPr>
                </a:tc>
                <a:tc>
                  <a:txBody>
                    <a:bodyPr/>
                    <a:lstStyle/>
                    <a:p>
                      <a:pPr algn="ctr"/>
                      <a:r>
                        <a:rPr lang="en-US" sz="1600" smtClean="0">
                          <a:solidFill>
                            <a:srgbClr val="002060"/>
                          </a:solidFill>
                        </a:rPr>
                        <a:t>4</a:t>
                      </a:r>
                      <a:endParaRPr lang="en-US" sz="1600">
                        <a:solidFill>
                          <a:srgbClr val="002060"/>
                        </a:solidFill>
                      </a:endParaRPr>
                    </a:p>
                  </a:txBody>
                  <a:tcPr>
                    <a:noFill/>
                  </a:tcPr>
                </a:tc>
                <a:tc>
                  <a:txBody>
                    <a:bodyPr/>
                    <a:lstStyle/>
                    <a:p>
                      <a:pPr algn="ctr"/>
                      <a:r>
                        <a:rPr lang="en-US" sz="1600" smtClean="0">
                          <a:solidFill>
                            <a:srgbClr val="002060"/>
                          </a:solidFill>
                        </a:rPr>
                        <a:t>5</a:t>
                      </a:r>
                      <a:endParaRPr lang="en-US" sz="1600">
                        <a:solidFill>
                          <a:srgbClr val="002060"/>
                        </a:solidFill>
                      </a:endParaRPr>
                    </a:p>
                  </a:txBody>
                  <a:tcPr>
                    <a:noFill/>
                  </a:tcPr>
                </a:tc>
                <a:tc>
                  <a:txBody>
                    <a:bodyPr/>
                    <a:lstStyle/>
                    <a:p>
                      <a:pPr algn="ctr"/>
                      <a:r>
                        <a:rPr lang="en-US" sz="1600" smtClean="0">
                          <a:solidFill>
                            <a:srgbClr val="002060"/>
                          </a:solidFill>
                        </a:rPr>
                        <a:t>6</a:t>
                      </a:r>
                      <a:endParaRPr lang="en-US" sz="1600">
                        <a:solidFill>
                          <a:srgbClr val="002060"/>
                        </a:solidFill>
                      </a:endParaRPr>
                    </a:p>
                  </a:txBody>
                  <a:tcPr>
                    <a:noFill/>
                  </a:tcPr>
                </a:tc>
                <a:tc>
                  <a:txBody>
                    <a:bodyPr/>
                    <a:lstStyle/>
                    <a:p>
                      <a:pPr algn="ctr"/>
                      <a:r>
                        <a:rPr lang="en-US" sz="1600" smtClean="0">
                          <a:solidFill>
                            <a:srgbClr val="002060"/>
                          </a:solidFill>
                        </a:rPr>
                        <a:t>7</a:t>
                      </a:r>
                      <a:endParaRPr lang="en-US" sz="1600">
                        <a:solidFill>
                          <a:srgbClr val="002060"/>
                        </a:solidFill>
                      </a:endParaRPr>
                    </a:p>
                  </a:txBody>
                  <a:tcPr>
                    <a:noFill/>
                  </a:tcPr>
                </a:tc>
                <a:tc>
                  <a:txBody>
                    <a:bodyPr/>
                    <a:lstStyle/>
                    <a:p>
                      <a:pPr algn="ctr"/>
                      <a:r>
                        <a:rPr lang="en-US" sz="1600" smtClean="0">
                          <a:solidFill>
                            <a:srgbClr val="002060"/>
                          </a:solidFill>
                        </a:rPr>
                        <a:t>8</a:t>
                      </a:r>
                      <a:endParaRPr lang="en-US" sz="1600">
                        <a:solidFill>
                          <a:srgbClr val="002060"/>
                        </a:solidFill>
                      </a:endParaRPr>
                    </a:p>
                  </a:txBody>
                  <a:tcPr>
                    <a:noFill/>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B108A39-4EF8-433A-9AF9-465B4FE00A62}" type="slidenum">
              <a:rPr lang="en-US" smtClean="0"/>
              <a:pPr>
                <a:defRPr/>
              </a:pPr>
              <a:t>110</a:t>
            </a:fld>
            <a:endParaRPr lang="en-US"/>
          </a:p>
        </p:txBody>
      </p:sp>
      <p:sp>
        <p:nvSpPr>
          <p:cNvPr id="18" name="Can 17"/>
          <p:cNvSpPr/>
          <p:nvPr/>
        </p:nvSpPr>
        <p:spPr>
          <a:xfrm>
            <a:off x="2133600" y="2286000"/>
            <a:ext cx="1219200" cy="3276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TextBox 18"/>
          <p:cNvSpPr txBox="1"/>
          <p:nvPr/>
        </p:nvSpPr>
        <p:spPr>
          <a:xfrm>
            <a:off x="1371600" y="5715000"/>
            <a:ext cx="2869696" cy="523220"/>
          </a:xfrm>
          <a:prstGeom prst="rect">
            <a:avLst/>
          </a:prstGeom>
          <a:noFill/>
        </p:spPr>
        <p:txBody>
          <a:bodyPr wrap="none">
            <a:spAutoFit/>
          </a:bodyPr>
          <a:lstStyle/>
          <a:p>
            <a:pPr>
              <a:defRPr/>
            </a:pPr>
            <a:r>
              <a:rPr lang="en-US" sz="2800" b="1">
                <a:solidFill>
                  <a:srgbClr val="FF0000"/>
                </a:solidFill>
                <a:latin typeface="Times New Roman" panose="02020603050405020304" pitchFamily="18" charset="0"/>
                <a:cs typeface="Times New Roman" panose="02020603050405020304" pitchFamily="18" charset="0"/>
              </a:rPr>
              <a:t>Đoạn cần sắp xếp</a:t>
            </a:r>
          </a:p>
        </p:txBody>
      </p:sp>
      <p:sp>
        <p:nvSpPr>
          <p:cNvPr id="21" name="Up Arrow Callout 20"/>
          <p:cNvSpPr/>
          <p:nvPr/>
        </p:nvSpPr>
        <p:spPr>
          <a:xfrm>
            <a:off x="42672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sp>
        <p:nvSpPr>
          <p:cNvPr id="22" name="Up Arrow Callout 21"/>
          <p:cNvSpPr/>
          <p:nvPr/>
        </p:nvSpPr>
        <p:spPr>
          <a:xfrm>
            <a:off x="64770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sp>
        <p:nvSpPr>
          <p:cNvPr id="23" name="Flowchart: Process 22"/>
          <p:cNvSpPr/>
          <p:nvPr/>
        </p:nvSpPr>
        <p:spPr>
          <a:xfrm>
            <a:off x="4191000" y="1143000"/>
            <a:ext cx="1600200" cy="381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i=1, j=4</a:t>
            </a:r>
          </a:p>
        </p:txBody>
      </p:sp>
      <p:sp>
        <p:nvSpPr>
          <p:cNvPr id="24" name="Down Arrow Callout 23"/>
          <p:cNvSpPr/>
          <p:nvPr/>
        </p:nvSpPr>
        <p:spPr>
          <a:xfrm>
            <a:off x="4953000" y="1797050"/>
            <a:ext cx="609600" cy="68580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x</a:t>
            </a:r>
          </a:p>
        </p:txBody>
      </p:sp>
      <p:sp>
        <p:nvSpPr>
          <p:cNvPr id="25" name="Oval 24"/>
          <p:cNvSpPr/>
          <p:nvPr/>
        </p:nvSpPr>
        <p:spPr>
          <a:xfrm>
            <a:off x="2220914" y="48768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L=1</a:t>
            </a:r>
          </a:p>
          <a:p>
            <a:pPr algn="ctr">
              <a:defRPr/>
            </a:pPr>
            <a:r>
              <a:rPr lang="en-US" b="1">
                <a:solidFill>
                  <a:srgbClr val="FF0000"/>
                </a:solidFill>
              </a:rPr>
              <a:t>R=4</a:t>
            </a:r>
          </a:p>
        </p:txBody>
      </p:sp>
      <p:sp>
        <p:nvSpPr>
          <p:cNvPr id="26" name="Down Arrow 25"/>
          <p:cNvSpPr/>
          <p:nvPr/>
        </p:nvSpPr>
        <p:spPr>
          <a:xfrm>
            <a:off x="4267200" y="1692275"/>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a:t>
            </a:r>
          </a:p>
        </p:txBody>
      </p:sp>
      <p:sp>
        <p:nvSpPr>
          <p:cNvPr id="29" name="Down Arrow 28"/>
          <p:cNvSpPr/>
          <p:nvPr/>
        </p:nvSpPr>
        <p:spPr>
          <a:xfrm>
            <a:off x="6400800" y="170815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R</a:t>
            </a:r>
          </a:p>
        </p:txBody>
      </p:sp>
      <p:sp>
        <p:nvSpPr>
          <p:cNvPr id="8" name="Oval 7"/>
          <p:cNvSpPr/>
          <p:nvPr/>
        </p:nvSpPr>
        <p:spPr>
          <a:xfrm>
            <a:off x="5688013"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9" name="Oval 8"/>
          <p:cNvSpPr/>
          <p:nvPr/>
        </p:nvSpPr>
        <p:spPr>
          <a:xfrm>
            <a:off x="6415088"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sp>
        <p:nvSpPr>
          <p:cNvPr id="10" name="Oval 9"/>
          <p:cNvSpPr/>
          <p:nvPr/>
        </p:nvSpPr>
        <p:spPr>
          <a:xfrm>
            <a:off x="71628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11" name="Oval 10"/>
          <p:cNvSpPr/>
          <p:nvPr/>
        </p:nvSpPr>
        <p:spPr>
          <a:xfrm>
            <a:off x="7848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2" name="Oval 11"/>
          <p:cNvSpPr/>
          <p:nvPr/>
        </p:nvSpPr>
        <p:spPr>
          <a:xfrm>
            <a:off x="8610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13" name="Oval 12"/>
          <p:cNvSpPr/>
          <p:nvPr/>
        </p:nvSpPr>
        <p:spPr>
          <a:xfrm>
            <a:off x="92964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6" name="Oval 5"/>
          <p:cNvSpPr/>
          <p:nvPr/>
        </p:nvSpPr>
        <p:spPr>
          <a:xfrm>
            <a:off x="4259263"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7" name="Oval 6"/>
          <p:cNvSpPr/>
          <p:nvPr/>
        </p:nvSpPr>
        <p:spPr>
          <a:xfrm>
            <a:off x="4965700"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grpSp>
        <p:nvGrpSpPr>
          <p:cNvPr id="2" name="Group 29"/>
          <p:cNvGrpSpPr>
            <a:grpSpLocks/>
          </p:cNvGrpSpPr>
          <p:nvPr/>
        </p:nvGrpSpPr>
        <p:grpSpPr bwMode="auto">
          <a:xfrm>
            <a:off x="5688014" y="3352800"/>
            <a:ext cx="1322387" cy="1797050"/>
            <a:chOff x="6324600" y="3352800"/>
            <a:chExt cx="1321672" cy="1797268"/>
          </a:xfrm>
        </p:grpSpPr>
        <p:sp>
          <p:nvSpPr>
            <p:cNvPr id="28" name="Rounded Rectangle 27"/>
            <p:cNvSpPr/>
            <p:nvPr/>
          </p:nvSpPr>
          <p:spPr>
            <a:xfrm>
              <a:off x="6324600" y="4800776"/>
              <a:ext cx="1321672" cy="349292"/>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Đoạn 2</a:t>
              </a:r>
            </a:p>
          </p:txBody>
        </p:sp>
        <p:grpSp>
          <p:nvGrpSpPr>
            <p:cNvPr id="69684" name="Group 51"/>
            <p:cNvGrpSpPr>
              <a:grpSpLocks/>
            </p:cNvGrpSpPr>
            <p:nvPr/>
          </p:nvGrpSpPr>
          <p:grpSpPr bwMode="auto">
            <a:xfrm>
              <a:off x="6629235" y="3352799"/>
              <a:ext cx="761588" cy="1382883"/>
              <a:chOff x="4930793" y="3139959"/>
              <a:chExt cx="3469595" cy="1382883"/>
            </a:xfrm>
          </p:grpSpPr>
          <p:cxnSp>
            <p:nvCxnSpPr>
              <p:cNvPr id="31" name="Straight Connector 30"/>
              <p:cNvCxnSpPr/>
              <p:nvPr/>
            </p:nvCxnSpPr>
            <p:spPr>
              <a:xfrm>
                <a:off x="4930793" y="4502200"/>
                <a:ext cx="3469595" cy="9526"/>
              </a:xfrm>
              <a:prstGeom prst="line">
                <a:avLst/>
              </a:prstGeom>
              <a:ln w="254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5400000" flipH="1" flipV="1">
                <a:off x="4253286" y="3838108"/>
                <a:ext cx="1362240" cy="7226"/>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7701194" y="3817465"/>
                <a:ext cx="1362240" cy="7231"/>
              </a:xfrm>
              <a:prstGeom prst="straightConnector1">
                <a:avLst/>
              </a:prstGeom>
              <a:ln w="25400">
                <a:solidFill>
                  <a:schemeClr val="accent6">
                    <a:lumMod val="60000"/>
                    <a:lumOff val="40000"/>
                  </a:schemeClr>
                </a:solidFill>
                <a:tailEnd type="triangle" w="lg" len="lg"/>
              </a:ln>
            </p:spPr>
            <p:style>
              <a:lnRef idx="1">
                <a:schemeClr val="accent1"/>
              </a:lnRef>
              <a:fillRef idx="0">
                <a:schemeClr val="accent1"/>
              </a:fillRef>
              <a:effectRef idx="0">
                <a:schemeClr val="accent1"/>
              </a:effectRef>
              <a:fontRef idx="minor">
                <a:schemeClr val="tx1"/>
              </a:fontRef>
            </p:style>
          </p:cxnSp>
        </p:grpSp>
      </p:grpSp>
      <p:sp>
        <p:nvSpPr>
          <p:cNvPr id="34" name="Oval 33"/>
          <p:cNvSpPr/>
          <p:nvPr/>
        </p:nvSpPr>
        <p:spPr>
          <a:xfrm>
            <a:off x="5840414" y="51816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solidFill>
                  <a:srgbClr val="FF0000"/>
                </a:solidFill>
              </a:rPr>
              <a:t>L=3</a:t>
            </a:r>
          </a:p>
          <a:p>
            <a:pPr algn="ctr">
              <a:defRPr/>
            </a:pPr>
            <a:r>
              <a:rPr lang="en-US" b="1">
                <a:solidFill>
                  <a:srgbClr val="FF0000"/>
                </a:solidFill>
              </a:rPr>
              <a:t>R=4</a:t>
            </a:r>
          </a:p>
        </p:txBody>
      </p:sp>
      <p:sp>
        <p:nvSpPr>
          <p:cNvPr id="30" name="Title 1"/>
          <p:cNvSpPr txBox="1">
            <a:spLocks/>
          </p:cNvSpPr>
          <p:nvPr/>
        </p:nvSpPr>
        <p:spPr>
          <a:xfrm>
            <a:off x="609600" y="381000"/>
            <a:ext cx="10515600"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5. Quick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1.11111E-6 4.44444E-6 L 0.00069 -0.55556 " pathEditMode="relative" rAng="0" ptsTypes="AA">
                                      <p:cBhvr>
                                        <p:cTn id="6" dur="2000" fill="hold"/>
                                        <p:tgtEl>
                                          <p:spTgt spid="25"/>
                                        </p:tgtEl>
                                        <p:attrNameLst>
                                          <p:attrName>ppt_x</p:attrName>
                                          <p:attrName>ppt_y</p:attrName>
                                        </p:attrNameLst>
                                      </p:cBhvr>
                                      <p:rCtr x="35" y="-27778"/>
                                    </p:animMotion>
                                  </p:childTnLst>
                                </p:cTn>
                              </p:par>
                            </p:childTnLst>
                          </p:cTn>
                        </p:par>
                        <p:par>
                          <p:cTn id="7" fill="hold" nodeType="afterGroup">
                            <p:stCondLst>
                              <p:cond delay="2000"/>
                            </p:stCondLst>
                            <p:childTnLst>
                              <p:par>
                                <p:cTn id="8" presetID="3" presetClass="entr" presetSubtype="10"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childTnLst>
                          </p:cTn>
                        </p:par>
                        <p:par>
                          <p:cTn id="11" fill="hold" nodeType="afterGroup">
                            <p:stCondLst>
                              <p:cond delay="2500"/>
                            </p:stCondLst>
                            <p:childTnLst>
                              <p:par>
                                <p:cTn id="12" presetID="2" presetClass="entr" presetSubtype="1" fill="hold" grpId="0" nodeType="after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additive="base">
                                        <p:cTn id="14" dur="500" fill="hold"/>
                                        <p:tgtEl>
                                          <p:spTgt spid="26"/>
                                        </p:tgtEl>
                                        <p:attrNameLst>
                                          <p:attrName>ppt_x</p:attrName>
                                        </p:attrNameLst>
                                      </p:cBhvr>
                                      <p:tavLst>
                                        <p:tav tm="0">
                                          <p:val>
                                            <p:strVal val="#ppt_x"/>
                                          </p:val>
                                        </p:tav>
                                        <p:tav tm="100000">
                                          <p:val>
                                            <p:strVal val="#ppt_x"/>
                                          </p:val>
                                        </p:tav>
                                      </p:tavLst>
                                    </p:anim>
                                    <p:anim calcmode="lin" valueType="num">
                                      <p:cBhvr additive="base">
                                        <p:cTn id="15" dur="500" fill="hold"/>
                                        <p:tgtEl>
                                          <p:spTgt spid="26"/>
                                        </p:tgtEl>
                                        <p:attrNameLst>
                                          <p:attrName>ppt_y</p:attrName>
                                        </p:attrNameLst>
                                      </p:cBhvr>
                                      <p:tavLst>
                                        <p:tav tm="0">
                                          <p:val>
                                            <p:strVal val="0-#ppt_h/2"/>
                                          </p:val>
                                        </p:tav>
                                        <p:tav tm="100000">
                                          <p:val>
                                            <p:strVal val="#ppt_y"/>
                                          </p:val>
                                        </p:tav>
                                      </p:tavLst>
                                    </p:anim>
                                  </p:childTnLst>
                                </p:cTn>
                              </p:par>
                              <p:par>
                                <p:cTn id="16" presetID="2" presetClass="entr" presetSubtype="1"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ppt_x"/>
                                          </p:val>
                                        </p:tav>
                                        <p:tav tm="100000">
                                          <p:val>
                                            <p:strVal val="#ppt_x"/>
                                          </p:val>
                                        </p:tav>
                                      </p:tavLst>
                                    </p:anim>
                                    <p:anim calcmode="lin" valueType="num">
                                      <p:cBhvr additive="base">
                                        <p:cTn id="19" dur="500" fill="hold"/>
                                        <p:tgtEl>
                                          <p:spTgt spid="29"/>
                                        </p:tgtEl>
                                        <p:attrNameLst>
                                          <p:attrName>ppt_y</p:attrName>
                                        </p:attrNameLst>
                                      </p:cBhvr>
                                      <p:tavLst>
                                        <p:tav tm="0">
                                          <p:val>
                                            <p:strVal val="0-#ppt_h/2"/>
                                          </p:val>
                                        </p:tav>
                                        <p:tav tm="100000">
                                          <p:val>
                                            <p:strVal val="#ppt_y"/>
                                          </p:val>
                                        </p:tav>
                                      </p:tavLst>
                                    </p:anim>
                                  </p:childTnLst>
                                </p:cTn>
                              </p:par>
                            </p:childTnLst>
                          </p:cTn>
                        </p:par>
                        <p:par>
                          <p:cTn id="20" fill="hold" nodeType="afterGroup">
                            <p:stCondLst>
                              <p:cond delay="3000"/>
                            </p:stCondLst>
                            <p:childTnLst>
                              <p:par>
                                <p:cTn id="21" presetID="2" presetClass="entr" presetSubtype="4"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3500"/>
                            </p:stCondLst>
                            <p:childTnLst>
                              <p:par>
                                <p:cTn id="30" presetID="2" presetClass="entr" presetSubtype="1"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500" fill="hold"/>
                                        <p:tgtEl>
                                          <p:spTgt spid="24"/>
                                        </p:tgtEl>
                                        <p:attrNameLst>
                                          <p:attrName>ppt_x</p:attrName>
                                        </p:attrNameLst>
                                      </p:cBhvr>
                                      <p:tavLst>
                                        <p:tav tm="0">
                                          <p:val>
                                            <p:strVal val="#ppt_x"/>
                                          </p:val>
                                        </p:tav>
                                        <p:tav tm="100000">
                                          <p:val>
                                            <p:strVal val="#ppt_x"/>
                                          </p:val>
                                        </p:tav>
                                      </p:tavLst>
                                    </p:anim>
                                    <p:anim calcmode="lin" valueType="num">
                                      <p:cBhvr additive="base">
                                        <p:cTn id="33"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63" presetClass="path" presetSubtype="0" accel="50000" decel="50000" fill="hold" grpId="1" nodeType="clickEffect">
                                  <p:stCondLst>
                                    <p:cond delay="0"/>
                                  </p:stCondLst>
                                  <p:childTnLst>
                                    <p:animMotion origin="layout" path="M 4.42354E-17 4.44444E-6 L 0.0573 4.44444E-6 " pathEditMode="relative" rAng="0" ptsTypes="AA">
                                      <p:cBhvr>
                                        <p:cTn id="37" dur="2000" fill="hold"/>
                                        <p:tgtEl>
                                          <p:spTgt spid="21"/>
                                        </p:tgtEl>
                                        <p:attrNameLst>
                                          <p:attrName>ppt_x</p:attrName>
                                          <p:attrName>ppt_y</p:attrName>
                                        </p:attrNameLst>
                                      </p:cBhvr>
                                      <p:rCtr x="2708" y="0"/>
                                    </p:animMotion>
                                  </p:childTnLst>
                                </p:cTn>
                              </p:par>
                              <p:par>
                                <p:cTn id="38" presetID="35" presetClass="path" presetSubtype="0" accel="50000" decel="50000" fill="hold" grpId="1" nodeType="withEffect">
                                  <p:stCondLst>
                                    <p:cond delay="0"/>
                                  </p:stCondLst>
                                  <p:childTnLst>
                                    <p:animMotion origin="layout" path="M 5E-6 4.44444E-6 L -0.05937 4.44444E-6 " pathEditMode="relative" rAng="0" ptsTypes="AA">
                                      <p:cBhvr>
                                        <p:cTn id="39" dur="2000" fill="hold"/>
                                        <p:tgtEl>
                                          <p:spTgt spid="22"/>
                                        </p:tgtEl>
                                        <p:attrNameLst>
                                          <p:attrName>ppt_x</p:attrName>
                                          <p:attrName>ppt_y</p:attrName>
                                        </p:attrNameLst>
                                      </p:cBhvr>
                                      <p:rCtr x="-2969" y="0"/>
                                    </p:animMotion>
                                  </p:childTnLst>
                                </p:cTn>
                              </p:par>
                            </p:childTnLst>
                          </p:cTn>
                        </p:par>
                        <p:par>
                          <p:cTn id="40" fill="hold" nodeType="afterGroup">
                            <p:stCondLst>
                              <p:cond delay="2000"/>
                            </p:stCondLst>
                            <p:childTnLst>
                              <p:par>
                                <p:cTn id="41" presetID="35" presetClass="path" presetSubtype="0" accel="50000" decel="50000" fill="hold" grpId="2" nodeType="afterEffect">
                                  <p:stCondLst>
                                    <p:cond delay="0"/>
                                  </p:stCondLst>
                                  <p:childTnLst>
                                    <p:animMotion origin="layout" path="M -0.05937 0.00416 L -0.12188 4.44444E-6 " pathEditMode="relative" rAng="0" ptsTypes="AA">
                                      <p:cBhvr>
                                        <p:cTn id="42" dur="2000" fill="hold"/>
                                        <p:tgtEl>
                                          <p:spTgt spid="22"/>
                                        </p:tgtEl>
                                        <p:attrNameLst>
                                          <p:attrName>ppt_x</p:attrName>
                                          <p:attrName>ppt_y</p:attrName>
                                        </p:attrNameLst>
                                      </p:cBhvr>
                                      <p:rCtr x="-3125" y="-208"/>
                                    </p:animMotion>
                                  </p:childTnLst>
                                </p:cTn>
                              </p:par>
                            </p:childTnLst>
                          </p:cTn>
                        </p:par>
                      </p:childTnLst>
                    </p:cTn>
                  </p:par>
                  <p:par>
                    <p:cTn id="43" fill="hold" nodeType="clickPar">
                      <p:stCondLst>
                        <p:cond delay="indefinite"/>
                      </p:stCondLst>
                      <p:childTnLst>
                        <p:par>
                          <p:cTn id="44" fill="hold" nodeType="withGroup">
                            <p:stCondLst>
                              <p:cond delay="0"/>
                            </p:stCondLst>
                            <p:childTnLst>
                              <p:par>
                                <p:cTn id="45" presetID="63" presetClass="path" presetSubtype="0" accel="50000" decel="50000" fill="hold" grpId="2" nodeType="clickEffect">
                                  <p:stCondLst>
                                    <p:cond delay="0"/>
                                  </p:stCondLst>
                                  <p:childTnLst>
                                    <p:animMotion origin="layout" path="M 0.05938 4.44444E-6 L 0.18178 4.44444E-6 " pathEditMode="relative" rAng="0" ptsTypes="AA">
                                      <p:cBhvr>
                                        <p:cTn id="46" dur="2000" fill="hold"/>
                                        <p:tgtEl>
                                          <p:spTgt spid="21"/>
                                        </p:tgtEl>
                                        <p:attrNameLst>
                                          <p:attrName>ppt_x</p:attrName>
                                          <p:attrName>ppt_y</p:attrName>
                                        </p:attrNameLst>
                                      </p:cBhvr>
                                      <p:rCtr x="6120" y="0"/>
                                    </p:animMotion>
                                  </p:childTnLst>
                                </p:cTn>
                              </p:par>
                              <p:par>
                                <p:cTn id="47" presetID="35" presetClass="path" presetSubtype="0" accel="50000" decel="50000" fill="hold" grpId="3" nodeType="withEffect">
                                  <p:stCondLst>
                                    <p:cond delay="0"/>
                                  </p:stCondLst>
                                  <p:childTnLst>
                                    <p:animMotion origin="layout" path="M -0.12188 0.01111 L -0.18034 0.00416 " pathEditMode="relative" rAng="0" ptsTypes="AA">
                                      <p:cBhvr>
                                        <p:cTn id="48" dur="2000" fill="hold"/>
                                        <p:tgtEl>
                                          <p:spTgt spid="22"/>
                                        </p:tgtEl>
                                        <p:attrNameLst>
                                          <p:attrName>ppt_x</p:attrName>
                                          <p:attrName>ppt_y</p:attrName>
                                        </p:attrNameLst>
                                      </p:cBhvr>
                                      <p:rCtr x="-2930" y="-347"/>
                                    </p:animMotion>
                                  </p:childTnLst>
                                </p:cTn>
                              </p:par>
                            </p:childTnLst>
                          </p:cTn>
                        </p:par>
                        <p:par>
                          <p:cTn id="49" fill="hold" nodeType="afterGroup">
                            <p:stCondLst>
                              <p:cond delay="2000"/>
                            </p:stCondLst>
                            <p:childTnLst>
                              <p:par>
                                <p:cTn id="50" presetID="3" presetClass="entr" presetSubtype="10" fill="hold" nodeType="after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blinds(horizontal)">
                                      <p:cBhvr>
                                        <p:cTn id="52" dur="500"/>
                                        <p:tgtEl>
                                          <p:spTgt spid="2"/>
                                        </p:tgtEl>
                                      </p:cBhvr>
                                    </p:animEffect>
                                  </p:childTnLst>
                                </p:cTn>
                              </p:par>
                            </p:childTnLst>
                          </p:cTn>
                        </p:par>
                        <p:par>
                          <p:cTn id="53" fill="hold" nodeType="afterGroup">
                            <p:stCondLst>
                              <p:cond delay="2500"/>
                            </p:stCondLst>
                            <p:childTnLst>
                              <p:par>
                                <p:cTn id="54" presetID="3" presetClass="entr" presetSubtype="10" fill="hold" grpId="0" nodeType="after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blinds(horizontal)">
                                      <p:cBhvr>
                                        <p:cTn id="56" dur="500"/>
                                        <p:tgtEl>
                                          <p:spTgt spid="3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path" presetSubtype="0" accel="50000" decel="50000" fill="hold" grpId="1" nodeType="clickEffect">
                                  <p:stCondLst>
                                    <p:cond delay="0"/>
                                  </p:stCondLst>
                                  <p:childTnLst>
                                    <p:animMotion origin="layout" path="M -0.00053 0.00625 L -0.29688 -0.54306 L -0.29688 -0.04444 " pathEditMode="relative" rAng="0" ptsTypes="AAA">
                                      <p:cBhvr>
                                        <p:cTn id="60" dur="500" fill="hold"/>
                                        <p:tgtEl>
                                          <p:spTgt spid="34"/>
                                        </p:tgtEl>
                                        <p:attrNameLst>
                                          <p:attrName>ppt_x</p:attrName>
                                          <p:attrName>ppt_y</p:attrName>
                                        </p:attrNameLst>
                                      </p:cBhvr>
                                      <p:rCtr x="-14818" y="-2747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1" grpId="2" animBg="1"/>
      <p:bldP spid="22" grpId="0" animBg="1"/>
      <p:bldP spid="22" grpId="1" animBg="1"/>
      <p:bldP spid="22" grpId="2" animBg="1"/>
      <p:bldP spid="22" grpId="3" animBg="1"/>
      <p:bldP spid="23" grpId="0" animBg="1"/>
      <p:bldP spid="24" grpId="0" animBg="1"/>
      <p:bldP spid="25" grpId="0" animBg="1"/>
      <p:bldP spid="26" grpId="0" animBg="1"/>
      <p:bldP spid="29" grpId="0" animBg="1"/>
      <p:bldP spid="34" grpId="0" animBg="1"/>
      <p:bldP spid="34" grpId="1"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4191000" y="2514600"/>
          <a:ext cx="5791200" cy="1219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tblGrid>
              <a:tr h="609600">
                <a:tc>
                  <a:txBody>
                    <a:bodyPr/>
                    <a:lstStyle/>
                    <a:p>
                      <a:pPr algn="ctr"/>
                      <a:endParaRPr lang="en-US" dirty="0"/>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0"/>
                  </a:ext>
                </a:extLst>
              </a:tr>
              <a:tr h="609600">
                <a:tc>
                  <a:txBody>
                    <a:bodyPr/>
                    <a:lstStyle/>
                    <a:p>
                      <a:pPr algn="ctr"/>
                      <a:r>
                        <a:rPr lang="en-US" sz="1600" dirty="0" smtClean="0">
                          <a:solidFill>
                            <a:srgbClr val="002060"/>
                          </a:solidFill>
                        </a:rPr>
                        <a:t>1</a:t>
                      </a:r>
                      <a:endParaRPr lang="en-US" sz="1600" dirty="0">
                        <a:solidFill>
                          <a:srgbClr val="002060"/>
                        </a:solidFill>
                      </a:endParaRPr>
                    </a:p>
                  </a:txBody>
                  <a:tcPr>
                    <a:noFill/>
                  </a:tcPr>
                </a:tc>
                <a:tc>
                  <a:txBody>
                    <a:bodyPr/>
                    <a:lstStyle/>
                    <a:p>
                      <a:pPr algn="ctr"/>
                      <a:r>
                        <a:rPr lang="en-US" sz="1600" smtClean="0">
                          <a:solidFill>
                            <a:srgbClr val="002060"/>
                          </a:solidFill>
                        </a:rPr>
                        <a:t>2</a:t>
                      </a:r>
                      <a:endParaRPr lang="en-US" sz="1600">
                        <a:solidFill>
                          <a:srgbClr val="002060"/>
                        </a:solidFill>
                      </a:endParaRPr>
                    </a:p>
                  </a:txBody>
                  <a:tcPr>
                    <a:noFill/>
                  </a:tcPr>
                </a:tc>
                <a:tc>
                  <a:txBody>
                    <a:bodyPr/>
                    <a:lstStyle/>
                    <a:p>
                      <a:pPr algn="ctr"/>
                      <a:r>
                        <a:rPr lang="en-US" sz="1600" smtClean="0">
                          <a:solidFill>
                            <a:srgbClr val="002060"/>
                          </a:solidFill>
                        </a:rPr>
                        <a:t>3</a:t>
                      </a:r>
                      <a:endParaRPr lang="en-US" sz="1600">
                        <a:solidFill>
                          <a:srgbClr val="002060"/>
                        </a:solidFill>
                      </a:endParaRPr>
                    </a:p>
                  </a:txBody>
                  <a:tcPr>
                    <a:noFill/>
                  </a:tcPr>
                </a:tc>
                <a:tc>
                  <a:txBody>
                    <a:bodyPr/>
                    <a:lstStyle/>
                    <a:p>
                      <a:pPr algn="ctr"/>
                      <a:r>
                        <a:rPr lang="en-US" sz="1600" smtClean="0">
                          <a:solidFill>
                            <a:srgbClr val="002060"/>
                          </a:solidFill>
                        </a:rPr>
                        <a:t>4</a:t>
                      </a:r>
                      <a:endParaRPr lang="en-US" sz="1600">
                        <a:solidFill>
                          <a:srgbClr val="002060"/>
                        </a:solidFill>
                      </a:endParaRPr>
                    </a:p>
                  </a:txBody>
                  <a:tcPr>
                    <a:noFill/>
                  </a:tcPr>
                </a:tc>
                <a:tc>
                  <a:txBody>
                    <a:bodyPr/>
                    <a:lstStyle/>
                    <a:p>
                      <a:pPr algn="ctr"/>
                      <a:r>
                        <a:rPr lang="en-US" sz="1600" smtClean="0">
                          <a:solidFill>
                            <a:srgbClr val="002060"/>
                          </a:solidFill>
                        </a:rPr>
                        <a:t>5</a:t>
                      </a:r>
                      <a:endParaRPr lang="en-US" sz="1600">
                        <a:solidFill>
                          <a:srgbClr val="002060"/>
                        </a:solidFill>
                      </a:endParaRPr>
                    </a:p>
                  </a:txBody>
                  <a:tcPr>
                    <a:noFill/>
                  </a:tcPr>
                </a:tc>
                <a:tc>
                  <a:txBody>
                    <a:bodyPr/>
                    <a:lstStyle/>
                    <a:p>
                      <a:pPr algn="ctr"/>
                      <a:r>
                        <a:rPr lang="en-US" sz="1600" smtClean="0">
                          <a:solidFill>
                            <a:srgbClr val="002060"/>
                          </a:solidFill>
                        </a:rPr>
                        <a:t>6</a:t>
                      </a:r>
                      <a:endParaRPr lang="en-US" sz="1600">
                        <a:solidFill>
                          <a:srgbClr val="002060"/>
                        </a:solidFill>
                      </a:endParaRPr>
                    </a:p>
                  </a:txBody>
                  <a:tcPr>
                    <a:noFill/>
                  </a:tcPr>
                </a:tc>
                <a:tc>
                  <a:txBody>
                    <a:bodyPr/>
                    <a:lstStyle/>
                    <a:p>
                      <a:pPr algn="ctr"/>
                      <a:r>
                        <a:rPr lang="en-US" sz="1600" smtClean="0">
                          <a:solidFill>
                            <a:srgbClr val="002060"/>
                          </a:solidFill>
                        </a:rPr>
                        <a:t>7</a:t>
                      </a:r>
                      <a:endParaRPr lang="en-US" sz="1600">
                        <a:solidFill>
                          <a:srgbClr val="002060"/>
                        </a:solidFill>
                      </a:endParaRPr>
                    </a:p>
                  </a:txBody>
                  <a:tcPr>
                    <a:noFill/>
                  </a:tcPr>
                </a:tc>
                <a:tc>
                  <a:txBody>
                    <a:bodyPr/>
                    <a:lstStyle/>
                    <a:p>
                      <a:pPr algn="ctr"/>
                      <a:r>
                        <a:rPr lang="en-US" sz="1600" smtClean="0">
                          <a:solidFill>
                            <a:srgbClr val="002060"/>
                          </a:solidFill>
                        </a:rPr>
                        <a:t>8</a:t>
                      </a:r>
                      <a:endParaRPr lang="en-US" sz="1600">
                        <a:solidFill>
                          <a:srgbClr val="002060"/>
                        </a:solidFill>
                      </a:endParaRPr>
                    </a:p>
                  </a:txBody>
                  <a:tcPr>
                    <a:noFill/>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a:xfrm>
            <a:off x="9653588" y="5715000"/>
            <a:ext cx="609600" cy="520700"/>
          </a:xfrm>
        </p:spPr>
        <p:txBody>
          <a:bodyPr/>
          <a:lstStyle/>
          <a:p>
            <a:pPr>
              <a:defRPr/>
            </a:pPr>
            <a:fld id="{7B108A39-4EF8-433A-9AF9-465B4FE00A62}" type="slidenum">
              <a:rPr lang="en-US" smtClean="0"/>
              <a:pPr>
                <a:defRPr/>
              </a:pPr>
              <a:t>111</a:t>
            </a:fld>
            <a:endParaRPr lang="en-US"/>
          </a:p>
        </p:txBody>
      </p:sp>
      <p:sp>
        <p:nvSpPr>
          <p:cNvPr id="18" name="Can 17"/>
          <p:cNvSpPr/>
          <p:nvPr/>
        </p:nvSpPr>
        <p:spPr>
          <a:xfrm>
            <a:off x="2133600" y="2286000"/>
            <a:ext cx="1219200" cy="3276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TextBox 18"/>
          <p:cNvSpPr txBox="1"/>
          <p:nvPr/>
        </p:nvSpPr>
        <p:spPr>
          <a:xfrm>
            <a:off x="1447800" y="5715000"/>
            <a:ext cx="2869696" cy="523220"/>
          </a:xfrm>
          <a:prstGeom prst="rect">
            <a:avLst/>
          </a:prstGeom>
          <a:noFill/>
        </p:spPr>
        <p:txBody>
          <a:bodyPr wrap="none">
            <a:spAutoFit/>
          </a:bodyPr>
          <a:lstStyle/>
          <a:p>
            <a:pPr>
              <a:defRPr/>
            </a:pPr>
            <a:r>
              <a:rPr lang="en-US" sz="2800" b="1">
                <a:solidFill>
                  <a:srgbClr val="FF0000"/>
                </a:solidFill>
                <a:latin typeface="Times New Roman" panose="02020603050405020304" pitchFamily="18" charset="0"/>
                <a:cs typeface="Times New Roman" panose="02020603050405020304" pitchFamily="18" charset="0"/>
              </a:rPr>
              <a:t>Đoạn cần sắp xếp</a:t>
            </a:r>
          </a:p>
        </p:txBody>
      </p:sp>
      <p:sp>
        <p:nvSpPr>
          <p:cNvPr id="21" name="Up Arrow Callout 20"/>
          <p:cNvSpPr/>
          <p:nvPr/>
        </p:nvSpPr>
        <p:spPr>
          <a:xfrm>
            <a:off x="57150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i</a:t>
            </a:r>
          </a:p>
        </p:txBody>
      </p:sp>
      <p:sp>
        <p:nvSpPr>
          <p:cNvPr id="22" name="Up Arrow Callout 21"/>
          <p:cNvSpPr/>
          <p:nvPr/>
        </p:nvSpPr>
        <p:spPr>
          <a:xfrm>
            <a:off x="6477000" y="3505200"/>
            <a:ext cx="533400" cy="609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j</a:t>
            </a:r>
          </a:p>
        </p:txBody>
      </p:sp>
      <p:sp>
        <p:nvSpPr>
          <p:cNvPr id="23" name="Flowchart: Process 22"/>
          <p:cNvSpPr/>
          <p:nvPr/>
        </p:nvSpPr>
        <p:spPr>
          <a:xfrm>
            <a:off x="4191000" y="1143000"/>
            <a:ext cx="1600200" cy="3810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err="1" smtClean="0"/>
              <a:t>i</a:t>
            </a:r>
            <a:r>
              <a:rPr lang="en-US" b="1" dirty="0" smtClean="0"/>
              <a:t>=3, </a:t>
            </a:r>
            <a:r>
              <a:rPr lang="en-US" b="1" dirty="0"/>
              <a:t>j=4</a:t>
            </a:r>
          </a:p>
        </p:txBody>
      </p:sp>
      <p:sp>
        <p:nvSpPr>
          <p:cNvPr id="24" name="Down Arrow Callout 23"/>
          <p:cNvSpPr/>
          <p:nvPr/>
        </p:nvSpPr>
        <p:spPr>
          <a:xfrm>
            <a:off x="5715000" y="990600"/>
            <a:ext cx="609600" cy="68580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x</a:t>
            </a:r>
          </a:p>
        </p:txBody>
      </p:sp>
      <p:sp>
        <p:nvSpPr>
          <p:cNvPr id="25" name="Oval 24"/>
          <p:cNvSpPr/>
          <p:nvPr/>
        </p:nvSpPr>
        <p:spPr>
          <a:xfrm>
            <a:off x="2220914" y="4876800"/>
            <a:ext cx="1031875" cy="6096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smtClean="0">
                <a:solidFill>
                  <a:srgbClr val="FF0000"/>
                </a:solidFill>
              </a:rPr>
              <a:t>L=3</a:t>
            </a:r>
            <a:endParaRPr lang="en-US" b="1" dirty="0">
              <a:solidFill>
                <a:srgbClr val="FF0000"/>
              </a:solidFill>
            </a:endParaRPr>
          </a:p>
          <a:p>
            <a:pPr algn="ctr">
              <a:defRPr/>
            </a:pPr>
            <a:r>
              <a:rPr lang="en-US" b="1" dirty="0">
                <a:solidFill>
                  <a:srgbClr val="FF0000"/>
                </a:solidFill>
              </a:rPr>
              <a:t>R=4</a:t>
            </a:r>
          </a:p>
        </p:txBody>
      </p:sp>
      <p:sp>
        <p:nvSpPr>
          <p:cNvPr id="26" name="Down Arrow 25"/>
          <p:cNvSpPr/>
          <p:nvPr/>
        </p:nvSpPr>
        <p:spPr>
          <a:xfrm>
            <a:off x="5715000" y="1692275"/>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L</a:t>
            </a:r>
          </a:p>
        </p:txBody>
      </p:sp>
      <p:sp>
        <p:nvSpPr>
          <p:cNvPr id="29" name="Down Arrow 28"/>
          <p:cNvSpPr/>
          <p:nvPr/>
        </p:nvSpPr>
        <p:spPr>
          <a:xfrm>
            <a:off x="6400800" y="1708150"/>
            <a:ext cx="609600" cy="762000"/>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R</a:t>
            </a:r>
          </a:p>
        </p:txBody>
      </p:sp>
      <p:sp>
        <p:nvSpPr>
          <p:cNvPr id="8" name="Oval 7"/>
          <p:cNvSpPr/>
          <p:nvPr/>
        </p:nvSpPr>
        <p:spPr>
          <a:xfrm>
            <a:off x="5688013"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9" name="Oval 8"/>
          <p:cNvSpPr/>
          <p:nvPr/>
        </p:nvSpPr>
        <p:spPr>
          <a:xfrm>
            <a:off x="6415088"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sp>
        <p:nvSpPr>
          <p:cNvPr id="10" name="Oval 9"/>
          <p:cNvSpPr/>
          <p:nvPr/>
        </p:nvSpPr>
        <p:spPr>
          <a:xfrm>
            <a:off x="71628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11" name="Oval 10"/>
          <p:cNvSpPr/>
          <p:nvPr/>
        </p:nvSpPr>
        <p:spPr>
          <a:xfrm>
            <a:off x="7848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2" name="Oval 11"/>
          <p:cNvSpPr/>
          <p:nvPr/>
        </p:nvSpPr>
        <p:spPr>
          <a:xfrm>
            <a:off x="86106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13" name="Oval 12"/>
          <p:cNvSpPr/>
          <p:nvPr/>
        </p:nvSpPr>
        <p:spPr>
          <a:xfrm>
            <a:off x="9296400"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6" name="Oval 5"/>
          <p:cNvSpPr/>
          <p:nvPr/>
        </p:nvSpPr>
        <p:spPr>
          <a:xfrm>
            <a:off x="4259263" y="25908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7" name="Oval 6"/>
          <p:cNvSpPr/>
          <p:nvPr/>
        </p:nvSpPr>
        <p:spPr>
          <a:xfrm>
            <a:off x="4965700" y="25765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27" name="Title 1"/>
          <p:cNvSpPr txBox="1">
            <a:spLocks/>
          </p:cNvSpPr>
          <p:nvPr/>
        </p:nvSpPr>
        <p:spPr>
          <a:xfrm>
            <a:off x="609600" y="381000"/>
            <a:ext cx="10515600"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5. Quick sort</a:t>
            </a:r>
            <a:endParaRPr lang="en-US"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10096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1.11111E-6 4.44444E-6 L 0.00069 -0.55556 " pathEditMode="relative" rAng="0" ptsTypes="AA">
                                      <p:cBhvr>
                                        <p:cTn id="6" dur="2000" fill="hold"/>
                                        <p:tgtEl>
                                          <p:spTgt spid="25"/>
                                        </p:tgtEl>
                                        <p:attrNameLst>
                                          <p:attrName>ppt_x</p:attrName>
                                          <p:attrName>ppt_y</p:attrName>
                                        </p:attrNameLst>
                                      </p:cBhvr>
                                      <p:rCtr x="35" y="-27778"/>
                                    </p:animMotion>
                                  </p:childTnLst>
                                </p:cTn>
                              </p:par>
                            </p:childTnLst>
                          </p:cTn>
                        </p:par>
                        <p:par>
                          <p:cTn id="7" fill="hold" nodeType="afterGroup">
                            <p:stCondLst>
                              <p:cond delay="2000"/>
                            </p:stCondLst>
                            <p:childTnLst>
                              <p:par>
                                <p:cTn id="8" presetID="3" presetClass="entr" presetSubtype="10"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childTnLst>
                          </p:cTn>
                        </p:par>
                        <p:par>
                          <p:cTn id="11" fill="hold" nodeType="afterGroup">
                            <p:stCondLst>
                              <p:cond delay="2500"/>
                            </p:stCondLst>
                            <p:childTnLst>
                              <p:par>
                                <p:cTn id="12" presetID="2" presetClass="entr" presetSubtype="1" fill="hold" grpId="0" nodeType="after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additive="base">
                                        <p:cTn id="14" dur="500" fill="hold"/>
                                        <p:tgtEl>
                                          <p:spTgt spid="26"/>
                                        </p:tgtEl>
                                        <p:attrNameLst>
                                          <p:attrName>ppt_x</p:attrName>
                                        </p:attrNameLst>
                                      </p:cBhvr>
                                      <p:tavLst>
                                        <p:tav tm="0">
                                          <p:val>
                                            <p:strVal val="#ppt_x"/>
                                          </p:val>
                                        </p:tav>
                                        <p:tav tm="100000">
                                          <p:val>
                                            <p:strVal val="#ppt_x"/>
                                          </p:val>
                                        </p:tav>
                                      </p:tavLst>
                                    </p:anim>
                                    <p:anim calcmode="lin" valueType="num">
                                      <p:cBhvr additive="base">
                                        <p:cTn id="15" dur="500" fill="hold"/>
                                        <p:tgtEl>
                                          <p:spTgt spid="26"/>
                                        </p:tgtEl>
                                        <p:attrNameLst>
                                          <p:attrName>ppt_y</p:attrName>
                                        </p:attrNameLst>
                                      </p:cBhvr>
                                      <p:tavLst>
                                        <p:tav tm="0">
                                          <p:val>
                                            <p:strVal val="0-#ppt_h/2"/>
                                          </p:val>
                                        </p:tav>
                                        <p:tav tm="100000">
                                          <p:val>
                                            <p:strVal val="#ppt_y"/>
                                          </p:val>
                                        </p:tav>
                                      </p:tavLst>
                                    </p:anim>
                                  </p:childTnLst>
                                </p:cTn>
                              </p:par>
                              <p:par>
                                <p:cTn id="16" presetID="2" presetClass="entr" presetSubtype="1"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ppt_x"/>
                                          </p:val>
                                        </p:tav>
                                        <p:tav tm="100000">
                                          <p:val>
                                            <p:strVal val="#ppt_x"/>
                                          </p:val>
                                        </p:tav>
                                      </p:tavLst>
                                    </p:anim>
                                    <p:anim calcmode="lin" valueType="num">
                                      <p:cBhvr additive="base">
                                        <p:cTn id="19" dur="500" fill="hold"/>
                                        <p:tgtEl>
                                          <p:spTgt spid="29"/>
                                        </p:tgtEl>
                                        <p:attrNameLst>
                                          <p:attrName>ppt_y</p:attrName>
                                        </p:attrNameLst>
                                      </p:cBhvr>
                                      <p:tavLst>
                                        <p:tav tm="0">
                                          <p:val>
                                            <p:strVal val="0-#ppt_h/2"/>
                                          </p:val>
                                        </p:tav>
                                        <p:tav tm="100000">
                                          <p:val>
                                            <p:strVal val="#ppt_y"/>
                                          </p:val>
                                        </p:tav>
                                      </p:tavLst>
                                    </p:anim>
                                  </p:childTnLst>
                                </p:cTn>
                              </p:par>
                            </p:childTnLst>
                          </p:cTn>
                        </p:par>
                        <p:par>
                          <p:cTn id="20" fill="hold">
                            <p:stCondLst>
                              <p:cond delay="3000"/>
                            </p:stCondLst>
                            <p:childTnLst>
                              <p:par>
                                <p:cTn id="21" presetID="2" presetClass="entr" presetSubtype="4" fill="hold" grpId="0" nodeType="after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500" fill="hold"/>
                                        <p:tgtEl>
                                          <p:spTgt spid="22"/>
                                        </p:tgtEl>
                                        <p:attrNameLst>
                                          <p:attrName>ppt_x</p:attrName>
                                        </p:attrNameLst>
                                      </p:cBhvr>
                                      <p:tavLst>
                                        <p:tav tm="0">
                                          <p:val>
                                            <p:strVal val="#ppt_x"/>
                                          </p:val>
                                        </p:tav>
                                        <p:tav tm="100000">
                                          <p:val>
                                            <p:strVal val="#ppt_x"/>
                                          </p:val>
                                        </p:tav>
                                      </p:tavLst>
                                    </p:anim>
                                    <p:anim calcmode="lin" valueType="num">
                                      <p:cBhvr additive="base">
                                        <p:cTn id="24" dur="500" fill="hold"/>
                                        <p:tgtEl>
                                          <p:spTgt spid="2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3500"/>
                            </p:stCondLst>
                            <p:childTnLst>
                              <p:par>
                                <p:cTn id="30" presetID="2" presetClass="entr" presetSubtype="1"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500" fill="hold"/>
                                        <p:tgtEl>
                                          <p:spTgt spid="24"/>
                                        </p:tgtEl>
                                        <p:attrNameLst>
                                          <p:attrName>ppt_x</p:attrName>
                                        </p:attrNameLst>
                                      </p:cBhvr>
                                      <p:tavLst>
                                        <p:tav tm="0">
                                          <p:val>
                                            <p:strVal val="#ppt_x"/>
                                          </p:val>
                                        </p:tav>
                                        <p:tav tm="100000">
                                          <p:val>
                                            <p:strVal val="#ppt_x"/>
                                          </p:val>
                                        </p:tav>
                                      </p:tavLst>
                                    </p:anim>
                                    <p:anim calcmode="lin" valueType="num">
                                      <p:cBhvr additive="base">
                                        <p:cTn id="33"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4" fill="hold">
                      <p:stCondLst>
                        <p:cond delay="indefinite"/>
                      </p:stCondLst>
                      <p:childTnLst>
                        <p:par>
                          <p:cTn id="35" fill="hold" nodeType="withGroup">
                            <p:stCondLst>
                              <p:cond delay="0"/>
                            </p:stCondLst>
                            <p:childTnLst>
                              <p:par>
                                <p:cTn id="36" presetID="35" presetClass="path" presetSubtype="0" accel="50000" decel="50000" fill="hold" grpId="1" nodeType="clickEffect">
                                  <p:stCondLst>
                                    <p:cond delay="0"/>
                                  </p:stCondLst>
                                  <p:childTnLst>
                                    <p:animMotion origin="layout" path="M 0.00313 4.44444E-6 L -0.05729 4.44444E-6 " pathEditMode="relative" rAng="0" ptsTypes="AA">
                                      <p:cBhvr>
                                        <p:cTn id="37" dur="2000" fill="hold"/>
                                        <p:tgtEl>
                                          <p:spTgt spid="22"/>
                                        </p:tgtEl>
                                        <p:attrNameLst>
                                          <p:attrName>ppt_x</p:attrName>
                                          <p:attrName>ppt_y</p:attrName>
                                        </p:attrNameLst>
                                      </p:cBhvr>
                                      <p:rCtr x="-3021" y="0"/>
                                    </p:animMotion>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grpId="1" nodeType="clickEffect">
                                  <p:stCondLst>
                                    <p:cond delay="0"/>
                                  </p:stCondLst>
                                  <p:childTnLst>
                                    <p:animMotion origin="layout" path="M 5E-6 4.44444E-6 L 0.06563 -0.01112 " pathEditMode="relative" rAng="0" ptsTypes="AA">
                                      <p:cBhvr>
                                        <p:cTn id="41" dur="2000" fill="hold"/>
                                        <p:tgtEl>
                                          <p:spTgt spid="21"/>
                                        </p:tgtEl>
                                        <p:attrNameLst>
                                          <p:attrName>ppt_x</p:attrName>
                                          <p:attrName>ppt_y</p:attrName>
                                        </p:attrNameLst>
                                      </p:cBhvr>
                                      <p:rCtr x="3281" y="-556"/>
                                    </p:animMotion>
                                  </p:childTnLst>
                                </p:cTn>
                              </p:par>
                              <p:par>
                                <p:cTn id="42" presetID="35" presetClass="path" presetSubtype="0" accel="50000" decel="50000" fill="hold" grpId="2" nodeType="withEffect">
                                  <p:stCondLst>
                                    <p:cond delay="0"/>
                                  </p:stCondLst>
                                  <p:childTnLst>
                                    <p:animMotion origin="layout" path="M -0.05937 4.44444E-6 L -0.12188 0.00208 " pathEditMode="relative" rAng="0" ptsTypes="AA">
                                      <p:cBhvr>
                                        <p:cTn id="43" dur="2000" fill="hold"/>
                                        <p:tgtEl>
                                          <p:spTgt spid="22"/>
                                        </p:tgtEl>
                                        <p:attrNameLst>
                                          <p:attrName>ppt_x</p:attrName>
                                          <p:attrName>ppt_y</p:attrName>
                                        </p:attrNameLst>
                                      </p:cBhvr>
                                      <p:rCtr x="-3125"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2" grpId="0" animBg="1"/>
      <p:bldP spid="22" grpId="1" animBg="1"/>
      <p:bldP spid="22" grpId="2" animBg="1"/>
      <p:bldP spid="23" grpId="0" animBg="1"/>
      <p:bldP spid="24" grpId="0" animBg="1"/>
      <p:bldP spid="25" grpId="0" animBg="1"/>
      <p:bldP spid="26" grpId="0" animBg="1"/>
      <p:bldP spid="29"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03426976"/>
              </p:ext>
            </p:extLst>
          </p:nvPr>
        </p:nvGraphicFramePr>
        <p:xfrm>
          <a:off x="4191000" y="1905000"/>
          <a:ext cx="5791200" cy="1219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tblGrid>
              <a:tr h="609600">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0"/>
                  </a:ext>
                </a:extLst>
              </a:tr>
              <a:tr h="609600">
                <a:tc>
                  <a:txBody>
                    <a:bodyPr/>
                    <a:lstStyle/>
                    <a:p>
                      <a:pPr algn="ctr"/>
                      <a:r>
                        <a:rPr lang="en-US" sz="1600" smtClean="0">
                          <a:solidFill>
                            <a:srgbClr val="002060"/>
                          </a:solidFill>
                        </a:rPr>
                        <a:t>1</a:t>
                      </a:r>
                      <a:endParaRPr lang="en-US" sz="1600">
                        <a:solidFill>
                          <a:srgbClr val="002060"/>
                        </a:solidFill>
                      </a:endParaRPr>
                    </a:p>
                  </a:txBody>
                  <a:tcPr>
                    <a:noFill/>
                  </a:tcPr>
                </a:tc>
                <a:tc>
                  <a:txBody>
                    <a:bodyPr/>
                    <a:lstStyle/>
                    <a:p>
                      <a:pPr algn="ctr"/>
                      <a:r>
                        <a:rPr lang="en-US" sz="1600" smtClean="0">
                          <a:solidFill>
                            <a:srgbClr val="002060"/>
                          </a:solidFill>
                        </a:rPr>
                        <a:t>2</a:t>
                      </a:r>
                      <a:endParaRPr lang="en-US" sz="1600">
                        <a:solidFill>
                          <a:srgbClr val="002060"/>
                        </a:solidFill>
                      </a:endParaRPr>
                    </a:p>
                  </a:txBody>
                  <a:tcPr>
                    <a:noFill/>
                  </a:tcPr>
                </a:tc>
                <a:tc>
                  <a:txBody>
                    <a:bodyPr/>
                    <a:lstStyle/>
                    <a:p>
                      <a:pPr algn="ctr"/>
                      <a:r>
                        <a:rPr lang="en-US" sz="1600" smtClean="0">
                          <a:solidFill>
                            <a:srgbClr val="002060"/>
                          </a:solidFill>
                        </a:rPr>
                        <a:t>3</a:t>
                      </a:r>
                      <a:endParaRPr lang="en-US" sz="1600">
                        <a:solidFill>
                          <a:srgbClr val="002060"/>
                        </a:solidFill>
                      </a:endParaRPr>
                    </a:p>
                  </a:txBody>
                  <a:tcPr>
                    <a:noFill/>
                  </a:tcPr>
                </a:tc>
                <a:tc>
                  <a:txBody>
                    <a:bodyPr/>
                    <a:lstStyle/>
                    <a:p>
                      <a:pPr algn="ctr"/>
                      <a:r>
                        <a:rPr lang="en-US" sz="1600" smtClean="0">
                          <a:solidFill>
                            <a:srgbClr val="002060"/>
                          </a:solidFill>
                        </a:rPr>
                        <a:t>4</a:t>
                      </a:r>
                      <a:endParaRPr lang="en-US" sz="1600">
                        <a:solidFill>
                          <a:srgbClr val="002060"/>
                        </a:solidFill>
                      </a:endParaRPr>
                    </a:p>
                  </a:txBody>
                  <a:tcPr>
                    <a:noFill/>
                  </a:tcPr>
                </a:tc>
                <a:tc>
                  <a:txBody>
                    <a:bodyPr/>
                    <a:lstStyle/>
                    <a:p>
                      <a:pPr algn="ctr"/>
                      <a:r>
                        <a:rPr lang="en-US" sz="1600" smtClean="0">
                          <a:solidFill>
                            <a:srgbClr val="002060"/>
                          </a:solidFill>
                        </a:rPr>
                        <a:t>5</a:t>
                      </a:r>
                      <a:endParaRPr lang="en-US" sz="1600">
                        <a:solidFill>
                          <a:srgbClr val="002060"/>
                        </a:solidFill>
                      </a:endParaRPr>
                    </a:p>
                  </a:txBody>
                  <a:tcPr>
                    <a:noFill/>
                  </a:tcPr>
                </a:tc>
                <a:tc>
                  <a:txBody>
                    <a:bodyPr/>
                    <a:lstStyle/>
                    <a:p>
                      <a:pPr algn="ctr"/>
                      <a:r>
                        <a:rPr lang="en-US" sz="1600" smtClean="0">
                          <a:solidFill>
                            <a:srgbClr val="002060"/>
                          </a:solidFill>
                        </a:rPr>
                        <a:t>6</a:t>
                      </a:r>
                      <a:endParaRPr lang="en-US" sz="1600">
                        <a:solidFill>
                          <a:srgbClr val="002060"/>
                        </a:solidFill>
                      </a:endParaRPr>
                    </a:p>
                  </a:txBody>
                  <a:tcPr>
                    <a:noFill/>
                  </a:tcPr>
                </a:tc>
                <a:tc>
                  <a:txBody>
                    <a:bodyPr/>
                    <a:lstStyle/>
                    <a:p>
                      <a:pPr algn="ctr"/>
                      <a:r>
                        <a:rPr lang="en-US" sz="1600" smtClean="0">
                          <a:solidFill>
                            <a:srgbClr val="002060"/>
                          </a:solidFill>
                        </a:rPr>
                        <a:t>7</a:t>
                      </a:r>
                      <a:endParaRPr lang="en-US" sz="1600">
                        <a:solidFill>
                          <a:srgbClr val="002060"/>
                        </a:solidFill>
                      </a:endParaRPr>
                    </a:p>
                  </a:txBody>
                  <a:tcPr>
                    <a:noFill/>
                  </a:tcPr>
                </a:tc>
                <a:tc>
                  <a:txBody>
                    <a:bodyPr/>
                    <a:lstStyle/>
                    <a:p>
                      <a:pPr algn="ctr"/>
                      <a:r>
                        <a:rPr lang="en-US" sz="1600" smtClean="0">
                          <a:solidFill>
                            <a:srgbClr val="002060"/>
                          </a:solidFill>
                        </a:rPr>
                        <a:t>8</a:t>
                      </a:r>
                      <a:endParaRPr lang="en-US" sz="1600">
                        <a:solidFill>
                          <a:srgbClr val="002060"/>
                        </a:solidFill>
                      </a:endParaRPr>
                    </a:p>
                  </a:txBody>
                  <a:tcPr>
                    <a:noFill/>
                  </a:tcPr>
                </a:tc>
                <a:extLst>
                  <a:ext uri="{0D108BD9-81ED-4DB2-BD59-A6C34878D82A}">
                    <a16:rowId xmlns:a16="http://schemas.microsoft.com/office/drawing/2014/main" val="10001"/>
                  </a:ext>
                </a:extLst>
              </a:tr>
            </a:tbl>
          </a:graphicData>
        </a:graphic>
      </p:graphicFrame>
      <p:sp>
        <p:nvSpPr>
          <p:cNvPr id="8" name="Oval 7"/>
          <p:cNvSpPr/>
          <p:nvPr/>
        </p:nvSpPr>
        <p:spPr>
          <a:xfrm>
            <a:off x="5688013" y="19669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3</a:t>
            </a:r>
          </a:p>
        </p:txBody>
      </p:sp>
      <p:sp>
        <p:nvSpPr>
          <p:cNvPr id="9" name="Oval 8"/>
          <p:cNvSpPr/>
          <p:nvPr/>
        </p:nvSpPr>
        <p:spPr>
          <a:xfrm>
            <a:off x="6415088" y="1981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5</a:t>
            </a:r>
          </a:p>
        </p:txBody>
      </p:sp>
      <p:sp>
        <p:nvSpPr>
          <p:cNvPr id="10" name="Oval 9"/>
          <p:cNvSpPr/>
          <p:nvPr/>
        </p:nvSpPr>
        <p:spPr>
          <a:xfrm>
            <a:off x="7162800" y="1981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7</a:t>
            </a:r>
          </a:p>
        </p:txBody>
      </p:sp>
      <p:sp>
        <p:nvSpPr>
          <p:cNvPr id="11" name="Oval 10"/>
          <p:cNvSpPr/>
          <p:nvPr/>
        </p:nvSpPr>
        <p:spPr>
          <a:xfrm>
            <a:off x="7848600" y="1981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9</a:t>
            </a:r>
          </a:p>
        </p:txBody>
      </p:sp>
      <p:sp>
        <p:nvSpPr>
          <p:cNvPr id="12" name="Oval 11"/>
          <p:cNvSpPr/>
          <p:nvPr/>
        </p:nvSpPr>
        <p:spPr>
          <a:xfrm>
            <a:off x="8610600" y="1981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10</a:t>
            </a:r>
          </a:p>
        </p:txBody>
      </p:sp>
      <p:sp>
        <p:nvSpPr>
          <p:cNvPr id="13" name="Oval 12"/>
          <p:cNvSpPr/>
          <p:nvPr/>
        </p:nvSpPr>
        <p:spPr>
          <a:xfrm>
            <a:off x="9296400" y="1981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15</a:t>
            </a:r>
          </a:p>
        </p:txBody>
      </p:sp>
      <p:sp>
        <p:nvSpPr>
          <p:cNvPr id="6" name="Oval 5"/>
          <p:cNvSpPr/>
          <p:nvPr/>
        </p:nvSpPr>
        <p:spPr>
          <a:xfrm>
            <a:off x="4259263" y="1981200"/>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1</a:t>
            </a:r>
          </a:p>
        </p:txBody>
      </p:sp>
      <p:sp>
        <p:nvSpPr>
          <p:cNvPr id="7" name="Oval 6"/>
          <p:cNvSpPr/>
          <p:nvPr/>
        </p:nvSpPr>
        <p:spPr>
          <a:xfrm>
            <a:off x="4965700" y="1966913"/>
            <a:ext cx="609600" cy="457200"/>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2</a:t>
            </a:r>
          </a:p>
        </p:txBody>
      </p:sp>
      <p:sp>
        <p:nvSpPr>
          <p:cNvPr id="18" name="Can 17"/>
          <p:cNvSpPr/>
          <p:nvPr/>
        </p:nvSpPr>
        <p:spPr>
          <a:xfrm>
            <a:off x="2133600" y="1676400"/>
            <a:ext cx="1219200" cy="3276600"/>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TextBox 18"/>
          <p:cNvSpPr txBox="1"/>
          <p:nvPr/>
        </p:nvSpPr>
        <p:spPr>
          <a:xfrm>
            <a:off x="1219200" y="5105400"/>
            <a:ext cx="3251211" cy="584775"/>
          </a:xfrm>
          <a:prstGeom prst="rect">
            <a:avLst/>
          </a:prstGeom>
          <a:noFill/>
        </p:spPr>
        <p:txBody>
          <a:bodyPr wrap="none">
            <a:spAutoFit/>
          </a:bodyPr>
          <a:lstStyle/>
          <a:p>
            <a:pPr>
              <a:defRPr/>
            </a:pPr>
            <a:r>
              <a:rPr lang="en-US" sz="3200" b="1">
                <a:solidFill>
                  <a:srgbClr val="FF0000"/>
                </a:solidFill>
                <a:latin typeface="Times New Roman" panose="02020603050405020304" pitchFamily="18" charset="0"/>
                <a:cs typeface="Times New Roman" panose="02020603050405020304" pitchFamily="18" charset="0"/>
              </a:rPr>
              <a:t>Đoạn cần sắp xếp</a:t>
            </a:r>
          </a:p>
        </p:txBody>
      </p:sp>
      <p:sp>
        <p:nvSpPr>
          <p:cNvPr id="27" name="Cloud 26"/>
          <p:cNvSpPr/>
          <p:nvPr/>
        </p:nvSpPr>
        <p:spPr>
          <a:xfrm>
            <a:off x="4484698" y="3200400"/>
            <a:ext cx="4876800" cy="1905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a:t>Không còn đoạn nào cần sắp xếp!</a:t>
            </a:r>
          </a:p>
          <a:p>
            <a:pPr algn="ctr">
              <a:defRPr/>
            </a:pPr>
            <a:r>
              <a:rPr lang="en-US" sz="2800" b="1"/>
              <a:t>Kết thúc</a:t>
            </a:r>
          </a:p>
        </p:txBody>
      </p:sp>
      <p:sp>
        <p:nvSpPr>
          <p:cNvPr id="15" name="Title 1"/>
          <p:cNvSpPr txBox="1">
            <a:spLocks/>
          </p:cNvSpPr>
          <p:nvPr/>
        </p:nvSpPr>
        <p:spPr>
          <a:xfrm>
            <a:off x="609600" y="381000"/>
            <a:ext cx="10515600"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r>
              <a:rPr lang="en-US" b="1" smtClean="0">
                <a:solidFill>
                  <a:srgbClr val="0070C0"/>
                </a:solidFill>
                <a:latin typeface="Times New Roman" panose="02020603050405020304" pitchFamily="18" charset="0"/>
                <a:cs typeface="Times New Roman" panose="02020603050405020304" pitchFamily="18" charset="0"/>
              </a:rPr>
              <a:t>5. Quick sort</a:t>
            </a:r>
            <a:endParaRPr lang="en-US" b="1"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path" presetSubtype="0" accel="50000" decel="50000" fill="hold" grpId="0" nodeType="afterEffect">
                                  <p:stCondLst>
                                    <p:cond delay="0"/>
                                  </p:stCondLst>
                                  <p:childTnLst>
                                    <p:animMotion origin="layout" path="M 1.45833E-6 4.44444E-6 C 0.02995 -0.0507 0.075 -0.08264 0.125 -0.08264 C 0.175 -0.08264 0.22005 -0.0507 0.25 4.44444E-6 C 0.22005 0.05069 0.175 0.08263 0.125 0.08263 C 0.075 0.08263 0.02995 0.05069 1.45833E-6 4.44444E-6 Z " pathEditMode="relative" rAng="0" ptsTypes="AAAAA">
                                      <p:cBhvr>
                                        <p:cTn id="6" dur="2000" fill="hold"/>
                                        <p:tgtEl>
                                          <p:spTgt spid="27"/>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ntent Placeholder 2"/>
          <p:cNvSpPr>
            <a:spLocks noGrp="1"/>
          </p:cNvSpPr>
          <p:nvPr>
            <p:ph idx="1"/>
          </p:nvPr>
        </p:nvSpPr>
        <p:spPr>
          <a:xfrm>
            <a:off x="2209800" y="609600"/>
            <a:ext cx="7848600" cy="6096000"/>
          </a:xfrm>
        </p:spPr>
        <p:txBody>
          <a:bodyPr>
            <a:normAutofit fontScale="92500" lnSpcReduction="10000"/>
          </a:bodyPr>
          <a:lstStyle/>
          <a:p>
            <a:pPr>
              <a:buFont typeface="Wingdings" pitchFamily="2" charset="2"/>
              <a:buNone/>
            </a:pPr>
            <a:r>
              <a:rPr lang="en-US" sz="3200" b="1" err="1">
                <a:solidFill>
                  <a:srgbClr val="0070C0"/>
                </a:solidFill>
                <a:latin typeface="Times New Roman" panose="02020603050405020304" pitchFamily="18" charset="0"/>
                <a:cs typeface="Times New Roman" panose="02020603050405020304" pitchFamily="18" charset="0"/>
              </a:rPr>
              <a:t>Cài</a:t>
            </a:r>
            <a:r>
              <a:rPr lang="en-US" sz="3200" b="1">
                <a:solidFill>
                  <a:srgbClr val="0070C0"/>
                </a:solidFill>
                <a:latin typeface="Times New Roman" panose="02020603050405020304" pitchFamily="18" charset="0"/>
                <a:cs typeface="Times New Roman" panose="02020603050405020304" pitchFamily="18" charset="0"/>
              </a:rPr>
              <a:t> </a:t>
            </a:r>
            <a:r>
              <a:rPr lang="en-US" sz="3200" b="1" smtClean="0">
                <a:solidFill>
                  <a:srgbClr val="0070C0"/>
                </a:solidFill>
                <a:latin typeface="Times New Roman" panose="02020603050405020304" pitchFamily="18" charset="0"/>
                <a:cs typeface="Times New Roman" panose="02020603050405020304" pitchFamily="18" charset="0"/>
              </a:rPr>
              <a:t>đặt:</a:t>
            </a:r>
            <a:endParaRPr lang="en-US" sz="3200" b="1" dirty="0">
              <a:solidFill>
                <a:srgbClr val="0070C0"/>
              </a:solidFill>
              <a:latin typeface="Times New Roman" panose="02020603050405020304" pitchFamily="18" charset="0"/>
              <a:cs typeface="Times New Roman" panose="02020603050405020304" pitchFamily="18" charset="0"/>
            </a:endParaRP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void </a:t>
            </a:r>
            <a:r>
              <a:rPr lang="en-US" sz="2400" b="1" dirty="0" err="1">
                <a:solidFill>
                  <a:schemeClr val="bg1"/>
                </a:solidFill>
                <a:latin typeface="Times New Roman" panose="02020603050405020304" pitchFamily="18" charset="0"/>
                <a:cs typeface="Times New Roman" panose="02020603050405020304" pitchFamily="18" charset="0"/>
              </a:rPr>
              <a:t>QuickSort</a:t>
            </a:r>
            <a:r>
              <a:rPr lang="en-US" sz="2400" b="1" dirty="0">
                <a:solidFill>
                  <a:schemeClr val="bg1"/>
                </a:solidFill>
                <a:latin typeface="Times New Roman" panose="02020603050405020304" pitchFamily="18" charset="0"/>
                <a:cs typeface="Times New Roman" panose="02020603050405020304" pitchFamily="18" charset="0"/>
              </a:rPr>
              <a:t>(</a:t>
            </a:r>
            <a:r>
              <a:rPr lang="en-US" sz="2400" b="1" dirty="0" err="1">
                <a:solidFill>
                  <a:schemeClr val="bg1"/>
                </a:solidFill>
                <a:latin typeface="Times New Roman" panose="02020603050405020304" pitchFamily="18" charset="0"/>
                <a:cs typeface="Times New Roman" panose="02020603050405020304" pitchFamily="18" charset="0"/>
              </a:rPr>
              <a:t>int</a:t>
            </a:r>
            <a:r>
              <a:rPr lang="en-US" sz="2400" b="1" dirty="0">
                <a:solidFill>
                  <a:schemeClr val="bg1"/>
                </a:solidFill>
                <a:latin typeface="Times New Roman" panose="02020603050405020304" pitchFamily="18" charset="0"/>
                <a:cs typeface="Times New Roman" panose="02020603050405020304" pitchFamily="18" charset="0"/>
              </a:rPr>
              <a:t> a[], </a:t>
            </a:r>
            <a:r>
              <a:rPr lang="en-US" sz="2400" b="1" dirty="0" err="1">
                <a:solidFill>
                  <a:schemeClr val="bg1"/>
                </a:solidFill>
                <a:latin typeface="Times New Roman" panose="02020603050405020304" pitchFamily="18" charset="0"/>
                <a:cs typeface="Times New Roman" panose="02020603050405020304" pitchFamily="18" charset="0"/>
              </a:rPr>
              <a:t>int</a:t>
            </a:r>
            <a:r>
              <a:rPr lang="en-US" sz="2400" b="1" dirty="0">
                <a:solidFill>
                  <a:schemeClr val="bg1"/>
                </a:solidFill>
                <a:latin typeface="Times New Roman" panose="02020603050405020304" pitchFamily="18" charset="0"/>
                <a:cs typeface="Times New Roman" panose="02020603050405020304" pitchFamily="18" charset="0"/>
              </a:rPr>
              <a:t> left, </a:t>
            </a:r>
            <a:r>
              <a:rPr lang="en-US" sz="2400" b="1" dirty="0" err="1">
                <a:solidFill>
                  <a:schemeClr val="bg1"/>
                </a:solidFill>
                <a:latin typeface="Times New Roman" panose="02020603050405020304" pitchFamily="18" charset="0"/>
                <a:cs typeface="Times New Roman" panose="02020603050405020304" pitchFamily="18" charset="0"/>
              </a:rPr>
              <a:t>int</a:t>
            </a:r>
            <a:r>
              <a:rPr lang="en-US" sz="2400" b="1" dirty="0">
                <a:solidFill>
                  <a:schemeClr val="bg1"/>
                </a:solidFill>
                <a:latin typeface="Times New Roman" panose="02020603050405020304" pitchFamily="18" charset="0"/>
                <a:cs typeface="Times New Roman" panose="02020603050405020304" pitchFamily="18" charset="0"/>
              </a:rPr>
              <a:t> right)</a:t>
            </a: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a:t>
            </a:r>
            <a:r>
              <a:rPr lang="en-US" sz="2400" b="1">
                <a:solidFill>
                  <a:schemeClr val="bg1"/>
                </a:solidFill>
                <a:latin typeface="Times New Roman" panose="02020603050405020304" pitchFamily="18" charset="0"/>
                <a:cs typeface="Times New Roman" panose="02020603050405020304" pitchFamily="18" charset="0"/>
              </a:rPr>
              <a:t>	</a:t>
            </a:r>
            <a:endParaRPr lang="en-US" sz="2400" b="1" smtClean="0">
              <a:solidFill>
                <a:schemeClr val="bg1"/>
              </a:solidFill>
              <a:latin typeface="Times New Roman" panose="02020603050405020304" pitchFamily="18" charset="0"/>
              <a:cs typeface="Times New Roman" panose="02020603050405020304" pitchFamily="18" charset="0"/>
            </a:endParaRPr>
          </a:p>
          <a:p>
            <a:pPr>
              <a:buFont typeface="Wingdings" pitchFamily="2" charset="2"/>
              <a:buNone/>
            </a:pPr>
            <a:r>
              <a:rPr lang="en-US" sz="2400" b="1">
                <a:solidFill>
                  <a:schemeClr val="bg1"/>
                </a:solidFill>
                <a:latin typeface="Times New Roman" panose="02020603050405020304" pitchFamily="18" charset="0"/>
                <a:cs typeface="Times New Roman" panose="02020603050405020304" pitchFamily="18" charset="0"/>
              </a:rPr>
              <a:t>	</a:t>
            </a:r>
            <a:r>
              <a:rPr lang="en-US" sz="2400" b="1" smtClean="0">
                <a:solidFill>
                  <a:schemeClr val="bg1"/>
                </a:solidFill>
                <a:latin typeface="Times New Roman" panose="02020603050405020304" pitchFamily="18" charset="0"/>
                <a:cs typeface="Times New Roman" panose="02020603050405020304" pitchFamily="18" charset="0"/>
              </a:rPr>
              <a:t>int </a:t>
            </a:r>
            <a:r>
              <a:rPr lang="en-US" sz="2400" b="1" dirty="0" err="1">
                <a:solidFill>
                  <a:schemeClr val="bg1"/>
                </a:solidFill>
                <a:latin typeface="Times New Roman" panose="02020603050405020304" pitchFamily="18" charset="0"/>
                <a:cs typeface="Times New Roman" panose="02020603050405020304" pitchFamily="18" charset="0"/>
              </a:rPr>
              <a:t>i</a:t>
            </a:r>
            <a:r>
              <a:rPr lang="en-US" sz="2400" b="1" dirty="0">
                <a:solidFill>
                  <a:schemeClr val="bg1"/>
                </a:solidFill>
                <a:latin typeface="Times New Roman" panose="02020603050405020304" pitchFamily="18" charset="0"/>
                <a:cs typeface="Times New Roman" panose="02020603050405020304" pitchFamily="18" charset="0"/>
              </a:rPr>
              <a:t>, j, </a:t>
            </a:r>
            <a:r>
              <a:rPr lang="en-US" sz="2400" b="1">
                <a:solidFill>
                  <a:schemeClr val="bg1"/>
                </a:solidFill>
                <a:latin typeface="Times New Roman" panose="02020603050405020304" pitchFamily="18" charset="0"/>
                <a:cs typeface="Times New Roman" panose="02020603050405020304" pitchFamily="18" charset="0"/>
              </a:rPr>
              <a:t>x</a:t>
            </a:r>
            <a:r>
              <a:rPr lang="en-US" sz="2400" b="1" smtClean="0">
                <a:solidFill>
                  <a:schemeClr val="bg1"/>
                </a:solidFill>
                <a:latin typeface="Times New Roman" panose="02020603050405020304" pitchFamily="18" charset="0"/>
                <a:cs typeface="Times New Roman" panose="02020603050405020304" pitchFamily="18" charset="0"/>
              </a:rPr>
              <a:t>;  x=a</a:t>
            </a:r>
            <a:r>
              <a:rPr lang="en-US" sz="2400" b="1" dirty="0">
                <a:solidFill>
                  <a:schemeClr val="bg1"/>
                </a:solidFill>
                <a:latin typeface="Times New Roman" panose="02020603050405020304" pitchFamily="18" charset="0"/>
                <a:cs typeface="Times New Roman" panose="02020603050405020304" pitchFamily="18" charset="0"/>
              </a:rPr>
              <a:t>[(</a:t>
            </a:r>
            <a:r>
              <a:rPr lang="en-US" sz="2400" b="1" dirty="0" err="1">
                <a:solidFill>
                  <a:schemeClr val="bg1"/>
                </a:solidFill>
                <a:latin typeface="Times New Roman" panose="02020603050405020304" pitchFamily="18" charset="0"/>
                <a:cs typeface="Times New Roman" panose="02020603050405020304" pitchFamily="18" charset="0"/>
              </a:rPr>
              <a:t>left+right</a:t>
            </a:r>
            <a:r>
              <a:rPr lang="en-US" sz="2400" b="1" dirty="0">
                <a:solidFill>
                  <a:schemeClr val="bg1"/>
                </a:solidFill>
                <a:latin typeface="Times New Roman" panose="02020603050405020304" pitchFamily="18" charset="0"/>
                <a:cs typeface="Times New Roman" panose="02020603050405020304" pitchFamily="18" charset="0"/>
              </a:rPr>
              <a:t>)/</a:t>
            </a:r>
            <a:r>
              <a:rPr lang="en-US" sz="2400" b="1">
                <a:solidFill>
                  <a:schemeClr val="bg1"/>
                </a:solidFill>
                <a:latin typeface="Times New Roman" panose="02020603050405020304" pitchFamily="18" charset="0"/>
                <a:cs typeface="Times New Roman" panose="02020603050405020304" pitchFamily="18" charset="0"/>
              </a:rPr>
              <a:t>2</a:t>
            </a:r>
            <a:r>
              <a:rPr lang="en-US" sz="2400" b="1" smtClean="0">
                <a:solidFill>
                  <a:schemeClr val="bg1"/>
                </a:solidFill>
                <a:latin typeface="Times New Roman" panose="02020603050405020304" pitchFamily="18" charset="0"/>
                <a:cs typeface="Times New Roman" panose="02020603050405020304" pitchFamily="18" charset="0"/>
              </a:rPr>
              <a:t>]; i=left;  j=right</a:t>
            </a:r>
            <a:r>
              <a:rPr lang="en-US" sz="2400" b="1" dirty="0">
                <a:solidFill>
                  <a:schemeClr val="bg1"/>
                </a:solidFill>
                <a:latin typeface="Times New Roman" panose="02020603050405020304" pitchFamily="18" charset="0"/>
                <a:cs typeface="Times New Roman" panose="02020603050405020304" pitchFamily="18" charset="0"/>
              </a:rPr>
              <a:t>;</a:t>
            </a: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	do{</a:t>
            </a:r>
            <a:r>
              <a:rPr lang="en-US" sz="2400" b="1">
                <a:solidFill>
                  <a:schemeClr val="bg1"/>
                </a:solidFill>
                <a:latin typeface="Times New Roman" panose="02020603050405020304" pitchFamily="18" charset="0"/>
                <a:cs typeface="Times New Roman" panose="02020603050405020304" pitchFamily="18" charset="0"/>
              </a:rPr>
              <a:t>	</a:t>
            </a:r>
            <a:endParaRPr lang="en-US" sz="2400" b="1" smtClean="0">
              <a:solidFill>
                <a:schemeClr val="bg1"/>
              </a:solidFill>
              <a:latin typeface="Times New Roman" panose="02020603050405020304" pitchFamily="18" charset="0"/>
              <a:cs typeface="Times New Roman" panose="02020603050405020304" pitchFamily="18" charset="0"/>
            </a:endParaRPr>
          </a:p>
          <a:p>
            <a:pPr>
              <a:buFont typeface="Wingdings" pitchFamily="2" charset="2"/>
              <a:buNone/>
            </a:pPr>
            <a:r>
              <a:rPr lang="en-US" sz="2400" b="1">
                <a:solidFill>
                  <a:schemeClr val="bg1"/>
                </a:solidFill>
                <a:latin typeface="Times New Roman" panose="02020603050405020304" pitchFamily="18" charset="0"/>
                <a:cs typeface="Times New Roman" panose="02020603050405020304" pitchFamily="18" charset="0"/>
              </a:rPr>
              <a:t>	</a:t>
            </a:r>
            <a:r>
              <a:rPr lang="en-US" sz="2400" b="1" smtClean="0">
                <a:solidFill>
                  <a:schemeClr val="bg1"/>
                </a:solidFill>
                <a:latin typeface="Times New Roman" panose="02020603050405020304" pitchFamily="18" charset="0"/>
                <a:cs typeface="Times New Roman" panose="02020603050405020304" pitchFamily="18" charset="0"/>
              </a:rPr>
              <a:t>	while(a[i</a:t>
            </a:r>
            <a:r>
              <a:rPr lang="en-US" sz="2400" b="1" dirty="0">
                <a:solidFill>
                  <a:schemeClr val="bg1"/>
                </a:solidFill>
                <a:latin typeface="Times New Roman" panose="02020603050405020304" pitchFamily="18" charset="0"/>
                <a:cs typeface="Times New Roman" panose="02020603050405020304" pitchFamily="18" charset="0"/>
              </a:rPr>
              <a:t>]&lt;</a:t>
            </a:r>
            <a:r>
              <a:rPr lang="en-US" sz="2400" b="1">
                <a:solidFill>
                  <a:schemeClr val="bg1"/>
                </a:solidFill>
                <a:latin typeface="Times New Roman" panose="02020603050405020304" pitchFamily="18" charset="0"/>
                <a:cs typeface="Times New Roman" panose="02020603050405020304" pitchFamily="18" charset="0"/>
              </a:rPr>
              <a:t>x</a:t>
            </a:r>
            <a:r>
              <a:rPr lang="en-US" sz="2400" b="1" smtClean="0">
                <a:solidFill>
                  <a:schemeClr val="bg1"/>
                </a:solidFill>
                <a:latin typeface="Times New Roman" panose="02020603050405020304" pitchFamily="18" charset="0"/>
                <a:cs typeface="Times New Roman" panose="02020603050405020304" pitchFamily="18" charset="0"/>
              </a:rPr>
              <a:t>)  i</a:t>
            </a:r>
            <a:r>
              <a:rPr lang="en-US" sz="2400" b="1" dirty="0">
                <a:solidFill>
                  <a:schemeClr val="bg1"/>
                </a:solidFill>
                <a:latin typeface="Times New Roman" panose="02020603050405020304" pitchFamily="18" charset="0"/>
                <a:cs typeface="Times New Roman" panose="02020603050405020304" pitchFamily="18" charset="0"/>
              </a:rPr>
              <a:t>++;</a:t>
            </a: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	</a:t>
            </a:r>
            <a:r>
              <a:rPr lang="en-US" sz="2400" b="1">
                <a:solidFill>
                  <a:schemeClr val="bg1"/>
                </a:solidFill>
                <a:latin typeface="Times New Roman" panose="02020603050405020304" pitchFamily="18" charset="0"/>
                <a:cs typeface="Times New Roman" panose="02020603050405020304" pitchFamily="18" charset="0"/>
              </a:rPr>
              <a:t>	</a:t>
            </a:r>
            <a:r>
              <a:rPr lang="en-US" sz="2400" b="1" smtClean="0">
                <a:solidFill>
                  <a:schemeClr val="bg1"/>
                </a:solidFill>
                <a:latin typeface="Times New Roman" panose="02020603050405020304" pitchFamily="18" charset="0"/>
                <a:cs typeface="Times New Roman" panose="02020603050405020304" pitchFamily="18" charset="0"/>
              </a:rPr>
              <a:t>	while(a[j</a:t>
            </a:r>
            <a:r>
              <a:rPr lang="en-US" sz="2400" b="1" dirty="0">
                <a:solidFill>
                  <a:schemeClr val="bg1"/>
                </a:solidFill>
                <a:latin typeface="Times New Roman" panose="02020603050405020304" pitchFamily="18" charset="0"/>
                <a:cs typeface="Times New Roman" panose="02020603050405020304" pitchFamily="18" charset="0"/>
              </a:rPr>
              <a:t>]&gt;</a:t>
            </a:r>
            <a:r>
              <a:rPr lang="en-US" sz="2400" b="1">
                <a:solidFill>
                  <a:schemeClr val="bg1"/>
                </a:solidFill>
                <a:latin typeface="Times New Roman" panose="02020603050405020304" pitchFamily="18" charset="0"/>
                <a:cs typeface="Times New Roman" panose="02020603050405020304" pitchFamily="18" charset="0"/>
              </a:rPr>
              <a:t>x</a:t>
            </a:r>
            <a:r>
              <a:rPr lang="en-US" sz="2400" b="1" smtClean="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j--;</a:t>
            </a: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	</a:t>
            </a:r>
            <a:r>
              <a:rPr lang="en-US" sz="2400" b="1">
                <a:solidFill>
                  <a:schemeClr val="bg1"/>
                </a:solidFill>
                <a:latin typeface="Times New Roman" panose="02020603050405020304" pitchFamily="18" charset="0"/>
                <a:cs typeface="Times New Roman" panose="02020603050405020304" pitchFamily="18" charset="0"/>
              </a:rPr>
              <a:t>	</a:t>
            </a:r>
            <a:r>
              <a:rPr lang="en-US" sz="2400" b="1" smtClean="0">
                <a:solidFill>
                  <a:schemeClr val="bg1"/>
                </a:solidFill>
                <a:latin typeface="Times New Roman" panose="02020603050405020304" pitchFamily="18" charset="0"/>
                <a:cs typeface="Times New Roman" panose="02020603050405020304" pitchFamily="18" charset="0"/>
              </a:rPr>
              <a:t>		if(i</a:t>
            </a:r>
            <a:r>
              <a:rPr lang="en-US" sz="2400" b="1" dirty="0">
                <a:solidFill>
                  <a:schemeClr val="bg1"/>
                </a:solidFill>
                <a:latin typeface="Times New Roman" panose="02020603050405020304" pitchFamily="18" charset="0"/>
                <a:cs typeface="Times New Roman" panose="02020603050405020304" pitchFamily="18" charset="0"/>
              </a:rPr>
              <a:t>&lt;=j)	</a:t>
            </a: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	</a:t>
            </a:r>
            <a:r>
              <a:rPr lang="en-US" sz="2400" b="1">
                <a:solidFill>
                  <a:schemeClr val="bg1"/>
                </a:solidFill>
                <a:latin typeface="Times New Roman" panose="02020603050405020304" pitchFamily="18" charset="0"/>
                <a:cs typeface="Times New Roman" panose="02020603050405020304" pitchFamily="18" charset="0"/>
              </a:rPr>
              <a:t>	</a:t>
            </a:r>
            <a:r>
              <a:rPr lang="en-US" sz="2400" b="1" smtClean="0">
                <a:solidFill>
                  <a:schemeClr val="bg1"/>
                </a:solidFill>
                <a:latin typeface="Times New Roman" panose="02020603050405020304" pitchFamily="18" charset="0"/>
                <a:cs typeface="Times New Roman" panose="02020603050405020304" pitchFamily="18" charset="0"/>
              </a:rPr>
              <a:t>		{</a:t>
            </a:r>
            <a:endParaRPr lang="en-US" sz="2400" b="1" dirty="0">
              <a:solidFill>
                <a:schemeClr val="bg1"/>
              </a:solidFill>
              <a:latin typeface="Times New Roman" panose="02020603050405020304" pitchFamily="18" charset="0"/>
              <a:cs typeface="Times New Roman" panose="02020603050405020304" pitchFamily="18" charset="0"/>
            </a:endParaRP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	</a:t>
            </a:r>
            <a:r>
              <a:rPr lang="en-US" sz="2400" b="1">
                <a:solidFill>
                  <a:schemeClr val="bg1"/>
                </a:solidFill>
                <a:latin typeface="Times New Roman" panose="02020603050405020304" pitchFamily="18" charset="0"/>
                <a:cs typeface="Times New Roman" panose="02020603050405020304" pitchFamily="18" charset="0"/>
              </a:rPr>
              <a:t>	</a:t>
            </a:r>
            <a:r>
              <a:rPr lang="en-US" sz="2400" b="1" smtClean="0">
                <a:solidFill>
                  <a:schemeClr val="bg1"/>
                </a:solidFill>
                <a:latin typeface="Times New Roman" panose="02020603050405020304" pitchFamily="18" charset="0"/>
                <a:cs typeface="Times New Roman" panose="02020603050405020304" pitchFamily="18" charset="0"/>
              </a:rPr>
              <a:t>    		     HoanVi(a[i</a:t>
            </a:r>
            <a:r>
              <a:rPr lang="en-US" sz="2400" b="1" dirty="0">
                <a:solidFill>
                  <a:schemeClr val="bg1"/>
                </a:solidFill>
                <a:latin typeface="Times New Roman" panose="02020603050405020304" pitchFamily="18" charset="0"/>
                <a:cs typeface="Times New Roman" panose="02020603050405020304" pitchFamily="18" charset="0"/>
              </a:rPr>
              <a:t>], </a:t>
            </a:r>
            <a:r>
              <a:rPr lang="en-US" sz="2400" b="1">
                <a:solidFill>
                  <a:schemeClr val="bg1"/>
                </a:solidFill>
                <a:latin typeface="Times New Roman" panose="02020603050405020304" pitchFamily="18" charset="0"/>
                <a:cs typeface="Times New Roman" panose="02020603050405020304" pitchFamily="18" charset="0"/>
              </a:rPr>
              <a:t>a[j</a:t>
            </a:r>
            <a:r>
              <a:rPr lang="en-US" sz="2400" b="1" smtClean="0">
                <a:solidFill>
                  <a:schemeClr val="bg1"/>
                </a:solidFill>
                <a:latin typeface="Times New Roman" panose="02020603050405020304" pitchFamily="18" charset="0"/>
                <a:cs typeface="Times New Roman" panose="02020603050405020304" pitchFamily="18" charset="0"/>
              </a:rPr>
              <a:t>]);   i++;  j-</a:t>
            </a:r>
            <a:r>
              <a:rPr lang="en-US" sz="2400" b="1" dirty="0">
                <a:solidFill>
                  <a:schemeClr val="bg1"/>
                </a:solidFill>
                <a:latin typeface="Times New Roman" panose="02020603050405020304" pitchFamily="18" charset="0"/>
                <a:cs typeface="Times New Roman" panose="02020603050405020304" pitchFamily="18" charset="0"/>
              </a:rPr>
              <a:t>-;</a:t>
            </a: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	</a:t>
            </a:r>
            <a:r>
              <a:rPr lang="en-US" sz="2400" b="1">
                <a:solidFill>
                  <a:schemeClr val="bg1"/>
                </a:solidFill>
                <a:latin typeface="Times New Roman" panose="02020603050405020304" pitchFamily="18" charset="0"/>
                <a:cs typeface="Times New Roman" panose="02020603050405020304" pitchFamily="18" charset="0"/>
              </a:rPr>
              <a:t>	</a:t>
            </a:r>
            <a:r>
              <a:rPr lang="en-US" sz="2400" b="1" smtClean="0">
                <a:solidFill>
                  <a:schemeClr val="bg1"/>
                </a:solidFill>
                <a:latin typeface="Times New Roman" panose="02020603050405020304" pitchFamily="18" charset="0"/>
                <a:cs typeface="Times New Roman" panose="02020603050405020304" pitchFamily="18" charset="0"/>
              </a:rPr>
              <a:t>    		}</a:t>
            </a:r>
            <a:endParaRPr lang="en-US" sz="2400" b="1" dirty="0">
              <a:solidFill>
                <a:schemeClr val="bg1"/>
              </a:solidFill>
              <a:latin typeface="Times New Roman" panose="02020603050405020304" pitchFamily="18" charset="0"/>
              <a:cs typeface="Times New Roman" panose="02020603050405020304" pitchFamily="18" charset="0"/>
            </a:endParaRP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	} while(</a:t>
            </a:r>
            <a:r>
              <a:rPr lang="en-US" sz="2400" b="1" dirty="0" err="1">
                <a:solidFill>
                  <a:schemeClr val="bg1"/>
                </a:solidFill>
                <a:latin typeface="Times New Roman" panose="02020603050405020304" pitchFamily="18" charset="0"/>
                <a:cs typeface="Times New Roman" panose="02020603050405020304" pitchFamily="18" charset="0"/>
              </a:rPr>
              <a:t>i</a:t>
            </a:r>
            <a:r>
              <a:rPr lang="en-US" sz="2400" b="1" dirty="0">
                <a:solidFill>
                  <a:schemeClr val="bg1"/>
                </a:solidFill>
                <a:latin typeface="Times New Roman" panose="02020603050405020304" pitchFamily="18" charset="0"/>
                <a:cs typeface="Times New Roman" panose="02020603050405020304" pitchFamily="18" charset="0"/>
              </a:rPr>
              <a:t>&lt;j);</a:t>
            </a: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	if(left&lt;j)	</a:t>
            </a:r>
            <a:r>
              <a:rPr lang="en-US" sz="2400" b="1" dirty="0" err="1">
                <a:solidFill>
                  <a:schemeClr val="bg1"/>
                </a:solidFill>
                <a:latin typeface="Times New Roman" panose="02020603050405020304" pitchFamily="18" charset="0"/>
                <a:cs typeface="Times New Roman" panose="02020603050405020304" pitchFamily="18" charset="0"/>
              </a:rPr>
              <a:t>QuickSort</a:t>
            </a:r>
            <a:r>
              <a:rPr lang="en-US" sz="2400" b="1" dirty="0">
                <a:solidFill>
                  <a:schemeClr val="bg1"/>
                </a:solidFill>
                <a:latin typeface="Times New Roman" panose="02020603050405020304" pitchFamily="18" charset="0"/>
                <a:cs typeface="Times New Roman" panose="02020603050405020304" pitchFamily="18" charset="0"/>
              </a:rPr>
              <a:t>(a, left, j);</a:t>
            </a: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	if(</a:t>
            </a:r>
            <a:r>
              <a:rPr lang="en-US" sz="2400" b="1" dirty="0" err="1">
                <a:solidFill>
                  <a:schemeClr val="bg1"/>
                </a:solidFill>
                <a:latin typeface="Times New Roman" panose="02020603050405020304" pitchFamily="18" charset="0"/>
                <a:cs typeface="Times New Roman" panose="02020603050405020304" pitchFamily="18" charset="0"/>
              </a:rPr>
              <a:t>i</a:t>
            </a:r>
            <a:r>
              <a:rPr lang="en-US" sz="2400" b="1" dirty="0">
                <a:solidFill>
                  <a:schemeClr val="bg1"/>
                </a:solidFill>
                <a:latin typeface="Times New Roman" panose="02020603050405020304" pitchFamily="18" charset="0"/>
                <a:cs typeface="Times New Roman" panose="02020603050405020304" pitchFamily="18" charset="0"/>
              </a:rPr>
              <a:t>&lt;right)	</a:t>
            </a:r>
            <a:r>
              <a:rPr lang="en-US" sz="2400" b="1" dirty="0" err="1">
                <a:solidFill>
                  <a:schemeClr val="bg1"/>
                </a:solidFill>
                <a:latin typeface="Times New Roman" panose="02020603050405020304" pitchFamily="18" charset="0"/>
                <a:cs typeface="Times New Roman" panose="02020603050405020304" pitchFamily="18" charset="0"/>
              </a:rPr>
              <a:t>QuickSort</a:t>
            </a:r>
            <a:r>
              <a:rPr lang="en-US" sz="2400" b="1" dirty="0">
                <a:solidFill>
                  <a:schemeClr val="bg1"/>
                </a:solidFill>
                <a:latin typeface="Times New Roman" panose="02020603050405020304" pitchFamily="18" charset="0"/>
                <a:cs typeface="Times New Roman" panose="02020603050405020304" pitchFamily="18" charset="0"/>
              </a:rPr>
              <a:t>(a, </a:t>
            </a:r>
            <a:r>
              <a:rPr lang="en-US" sz="2400" b="1" dirty="0" err="1">
                <a:solidFill>
                  <a:schemeClr val="bg1"/>
                </a:solidFill>
                <a:latin typeface="Times New Roman" panose="02020603050405020304" pitchFamily="18" charset="0"/>
                <a:cs typeface="Times New Roman" panose="02020603050405020304" pitchFamily="18" charset="0"/>
              </a:rPr>
              <a:t>i</a:t>
            </a:r>
            <a:r>
              <a:rPr lang="en-US" sz="2400" b="1" dirty="0">
                <a:solidFill>
                  <a:schemeClr val="bg1"/>
                </a:solidFill>
                <a:latin typeface="Times New Roman" panose="02020603050405020304" pitchFamily="18" charset="0"/>
                <a:cs typeface="Times New Roman" panose="02020603050405020304" pitchFamily="18" charset="0"/>
              </a:rPr>
              <a:t>, right);	</a:t>
            </a:r>
          </a:p>
          <a:p>
            <a:pPr>
              <a:buFont typeface="Wingdings" pitchFamily="2" charset="2"/>
              <a:buNone/>
            </a:pPr>
            <a:r>
              <a:rPr lang="en-US" sz="2400" b="1" dirty="0">
                <a:solidFill>
                  <a:schemeClr val="bg1"/>
                </a:solidFill>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pPr>
              <a:defRPr/>
            </a:pPr>
            <a:fld id="{3D6BC4FA-7A5F-4816-A5EA-733241E0A3B5}" type="slidenum">
              <a:rPr lang="en-US" smtClean="0"/>
              <a:pPr>
                <a:defRPr/>
              </a:pPr>
              <a:t>113</a:t>
            </a:fld>
            <a:endParaRPr lang="en-US"/>
          </a:p>
        </p:txBody>
      </p:sp>
    </p:spTree>
    <p:extLst>
      <p:ext uri="{BB962C8B-B14F-4D97-AF65-F5344CB8AC3E}">
        <p14:creationId xmlns:p14="http://schemas.microsoft.com/office/powerpoint/2010/main" val="1752130577"/>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err="1" smtClean="0">
                <a:solidFill>
                  <a:srgbClr val="0070C0"/>
                </a:solidFill>
                <a:latin typeface="Times New Roman" panose="02020603050405020304" pitchFamily="18" charset="0"/>
                <a:cs typeface="Times New Roman" panose="02020603050405020304" pitchFamily="18" charset="0"/>
              </a:rPr>
              <a:t>Bài</a:t>
            </a:r>
            <a:r>
              <a:rPr lang="en-US" b="1" smtClean="0">
                <a:solidFill>
                  <a:srgbClr val="0070C0"/>
                </a:solidFill>
                <a:latin typeface="Times New Roman" panose="02020603050405020304" pitchFamily="18" charset="0"/>
                <a:cs typeface="Times New Roman" panose="02020603050405020304" pitchFamily="18" charset="0"/>
              </a:rPr>
              <a:t> tập</a:t>
            </a: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16062"/>
            <a:ext cx="10515600" cy="4351338"/>
          </a:xfrm>
        </p:spPr>
        <p:txBody>
          <a:bodyPr>
            <a:normAutofit/>
          </a:bodyPr>
          <a:lstStyle/>
          <a:p>
            <a:pPr marL="0" indent="0" algn="just">
              <a:buNone/>
            </a:pPr>
            <a:r>
              <a:rPr lang="en-US" sz="3600" smtClean="0">
                <a:solidFill>
                  <a:schemeClr val="bg1"/>
                </a:solidFill>
                <a:latin typeface="Times New Roman" panose="02020603050405020304" pitchFamily="18" charset="0"/>
                <a:cs typeface="Times New Roman" panose="02020603050405020304" pitchFamily="18" charset="0"/>
              </a:rPr>
              <a:t>	Minh </a:t>
            </a:r>
            <a:r>
              <a:rPr lang="en-US" sz="3600" dirty="0" err="1" smtClean="0">
                <a:solidFill>
                  <a:schemeClr val="bg1"/>
                </a:solidFill>
                <a:latin typeface="Times New Roman" panose="02020603050405020304" pitchFamily="18" charset="0"/>
                <a:cs typeface="Times New Roman" panose="02020603050405020304" pitchFamily="18" charset="0"/>
              </a:rPr>
              <a:t>họa</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từng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bước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thực</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hiện</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của</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giải</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thuật</a:t>
            </a:r>
            <a:r>
              <a:rPr lang="en-US" sz="3600" dirty="0" smtClean="0">
                <a:solidFill>
                  <a:schemeClr val="bg1"/>
                </a:solidFill>
                <a:latin typeface="Times New Roman" panose="02020603050405020304" pitchFamily="18" charset="0"/>
                <a:cs typeface="Times New Roman" panose="02020603050405020304" pitchFamily="18" charset="0"/>
              </a:rPr>
              <a:t> Quick Sort </a:t>
            </a:r>
            <a:r>
              <a:rPr lang="en-US" sz="3600" dirty="0" err="1" smtClean="0">
                <a:solidFill>
                  <a:schemeClr val="bg1"/>
                </a:solidFill>
                <a:latin typeface="Times New Roman" panose="02020603050405020304" pitchFamily="18" charset="0"/>
                <a:cs typeface="Times New Roman" panose="02020603050405020304" pitchFamily="18" charset="0"/>
              </a:rPr>
              <a:t>khi</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sắp</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dãy</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số</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sau</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tăng</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cs typeface="Times New Roman" panose="02020603050405020304" pitchFamily="18" charset="0"/>
              </a:rPr>
              <a:t>dần</a:t>
            </a:r>
            <a:r>
              <a:rPr lang="en-US" sz="3600" dirty="0" smtClean="0">
                <a:solidFill>
                  <a:schemeClr val="bg1"/>
                </a:solidFill>
                <a:latin typeface="Times New Roman" panose="02020603050405020304" pitchFamily="18" charset="0"/>
                <a:cs typeface="Times New Roman" panose="02020603050405020304" pitchFamily="18" charset="0"/>
              </a:rPr>
              <a:t>:</a:t>
            </a:r>
          </a:p>
          <a:p>
            <a:pPr marL="0" indent="0">
              <a:buNone/>
            </a:pPr>
            <a:endParaRPr lang="en-US" sz="3600" dirty="0">
              <a:solidFill>
                <a:schemeClr val="bg1"/>
              </a:solidFill>
              <a:latin typeface="Times New Roman" panose="02020603050405020304" pitchFamily="18" charset="0"/>
              <a:cs typeface="Times New Roman" panose="02020603050405020304" pitchFamily="18" charset="0"/>
            </a:endParaRPr>
          </a:p>
          <a:p>
            <a:pPr marL="0" indent="0">
              <a:buNone/>
            </a:pPr>
            <a:endParaRPr lang="en-US" sz="360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EDD57F7B-2019-4069-8198-EFE0C5B7313D}" type="slidenum">
              <a:rPr lang="en-US" smtClean="0"/>
              <a:pPr>
                <a:defRPr/>
              </a:pPr>
              <a:t>114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326145687"/>
              </p:ext>
            </p:extLst>
          </p:nvPr>
        </p:nvGraphicFramePr>
        <p:xfrm>
          <a:off x="2362200" y="2895600"/>
          <a:ext cx="8001000" cy="1295400"/>
        </p:xfrm>
        <a:graphic>
          <a:graphicData uri="http://schemas.openxmlformats.org/drawingml/2006/table">
            <a:tbl>
              <a:tblPr firstRow="1" bandRow="1">
                <a:tableStyleId>{5C22544A-7EE6-4342-B048-85BDC9FD1C3A}</a:tableStyleId>
              </a:tblPr>
              <a:tblGrid>
                <a:gridCol w="800100">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800100">
                  <a:extLst>
                    <a:ext uri="{9D8B030D-6E8A-4147-A177-3AD203B41FA5}">
                      <a16:colId xmlns:a16="http://schemas.microsoft.com/office/drawing/2014/main" val="20003"/>
                    </a:ext>
                  </a:extLst>
                </a:gridCol>
                <a:gridCol w="800100">
                  <a:extLst>
                    <a:ext uri="{9D8B030D-6E8A-4147-A177-3AD203B41FA5}">
                      <a16:colId xmlns:a16="http://schemas.microsoft.com/office/drawing/2014/main" val="20004"/>
                    </a:ext>
                  </a:extLst>
                </a:gridCol>
                <a:gridCol w="800100">
                  <a:extLst>
                    <a:ext uri="{9D8B030D-6E8A-4147-A177-3AD203B41FA5}">
                      <a16:colId xmlns:a16="http://schemas.microsoft.com/office/drawing/2014/main" val="20005"/>
                    </a:ext>
                  </a:extLst>
                </a:gridCol>
                <a:gridCol w="800100">
                  <a:extLst>
                    <a:ext uri="{9D8B030D-6E8A-4147-A177-3AD203B41FA5}">
                      <a16:colId xmlns:a16="http://schemas.microsoft.com/office/drawing/2014/main" val="20006"/>
                    </a:ext>
                  </a:extLst>
                </a:gridCol>
                <a:gridCol w="800100">
                  <a:extLst>
                    <a:ext uri="{9D8B030D-6E8A-4147-A177-3AD203B41FA5}">
                      <a16:colId xmlns:a16="http://schemas.microsoft.com/office/drawing/2014/main" val="20007"/>
                    </a:ext>
                  </a:extLst>
                </a:gridCol>
                <a:gridCol w="800100">
                  <a:extLst>
                    <a:ext uri="{9D8B030D-6E8A-4147-A177-3AD203B41FA5}">
                      <a16:colId xmlns:a16="http://schemas.microsoft.com/office/drawing/2014/main" val="20008"/>
                    </a:ext>
                  </a:extLst>
                </a:gridCol>
                <a:gridCol w="800100">
                  <a:extLst>
                    <a:ext uri="{9D8B030D-6E8A-4147-A177-3AD203B41FA5}">
                      <a16:colId xmlns:a16="http://schemas.microsoft.com/office/drawing/2014/main" val="20009"/>
                    </a:ext>
                  </a:extLst>
                </a:gridCol>
              </a:tblGrid>
              <a:tr h="688181">
                <a:tc>
                  <a:txBody>
                    <a:bodyPr/>
                    <a:lstStyle/>
                    <a:p>
                      <a:pPr algn="ctr"/>
                      <a:r>
                        <a:rPr lang="en-US" sz="2800" b="1" dirty="0" smtClean="0"/>
                        <a:t>15</a:t>
                      </a:r>
                      <a:endParaRPr lang="en-US" sz="2800" b="1" dirty="0"/>
                    </a:p>
                  </a:txBody>
                  <a:tcPr/>
                </a:tc>
                <a:tc>
                  <a:txBody>
                    <a:bodyPr/>
                    <a:lstStyle/>
                    <a:p>
                      <a:pPr algn="ctr"/>
                      <a:r>
                        <a:rPr lang="en-US" sz="2800" b="1" dirty="0" smtClean="0"/>
                        <a:t>7</a:t>
                      </a:r>
                      <a:endParaRPr lang="en-US" sz="2800" b="1" dirty="0"/>
                    </a:p>
                  </a:txBody>
                  <a:tcPr/>
                </a:tc>
                <a:tc>
                  <a:txBody>
                    <a:bodyPr/>
                    <a:lstStyle/>
                    <a:p>
                      <a:pPr algn="ctr"/>
                      <a:r>
                        <a:rPr lang="en-US" sz="2800" b="1" dirty="0" smtClean="0"/>
                        <a:t>9</a:t>
                      </a:r>
                      <a:endParaRPr lang="en-US" sz="2800" b="1" dirty="0"/>
                    </a:p>
                  </a:txBody>
                  <a:tcPr/>
                </a:tc>
                <a:tc>
                  <a:txBody>
                    <a:bodyPr/>
                    <a:lstStyle/>
                    <a:p>
                      <a:pPr algn="ctr"/>
                      <a:r>
                        <a:rPr lang="en-US" sz="2800" b="1" dirty="0" smtClean="0"/>
                        <a:t>10</a:t>
                      </a:r>
                      <a:endParaRPr lang="en-US" sz="2800" b="1" dirty="0"/>
                    </a:p>
                  </a:txBody>
                  <a:tcPr/>
                </a:tc>
                <a:tc>
                  <a:txBody>
                    <a:bodyPr/>
                    <a:lstStyle/>
                    <a:p>
                      <a:pPr algn="ctr"/>
                      <a:r>
                        <a:rPr lang="en-US" sz="2800" b="1" dirty="0" smtClean="0"/>
                        <a:t>6</a:t>
                      </a:r>
                      <a:endParaRPr lang="en-US" sz="2800" b="1" dirty="0"/>
                    </a:p>
                  </a:txBody>
                  <a:tcPr/>
                </a:tc>
                <a:tc>
                  <a:txBody>
                    <a:bodyPr/>
                    <a:lstStyle/>
                    <a:p>
                      <a:pPr algn="ctr"/>
                      <a:r>
                        <a:rPr lang="en-US" sz="2800" b="1" dirty="0" smtClean="0"/>
                        <a:t>20</a:t>
                      </a:r>
                      <a:endParaRPr lang="en-US" sz="2800" b="1" dirty="0"/>
                    </a:p>
                  </a:txBody>
                  <a:tcPr/>
                </a:tc>
                <a:tc>
                  <a:txBody>
                    <a:bodyPr/>
                    <a:lstStyle/>
                    <a:p>
                      <a:pPr algn="ctr"/>
                      <a:r>
                        <a:rPr lang="en-US" sz="2800" b="1" dirty="0" smtClean="0"/>
                        <a:t>6</a:t>
                      </a:r>
                      <a:endParaRPr lang="en-US" sz="2800" b="1" dirty="0"/>
                    </a:p>
                  </a:txBody>
                  <a:tcPr/>
                </a:tc>
                <a:tc>
                  <a:txBody>
                    <a:bodyPr/>
                    <a:lstStyle/>
                    <a:p>
                      <a:pPr algn="ctr"/>
                      <a:r>
                        <a:rPr lang="en-US" sz="2800" b="1" dirty="0" smtClean="0"/>
                        <a:t>9</a:t>
                      </a:r>
                      <a:endParaRPr lang="en-US" sz="2800" b="1" dirty="0"/>
                    </a:p>
                  </a:txBody>
                  <a:tcPr/>
                </a:tc>
                <a:tc>
                  <a:txBody>
                    <a:bodyPr/>
                    <a:lstStyle/>
                    <a:p>
                      <a:pPr algn="ctr"/>
                      <a:r>
                        <a:rPr lang="en-US" sz="2800" b="1" dirty="0" smtClean="0"/>
                        <a:t>12</a:t>
                      </a:r>
                      <a:endParaRPr lang="en-US" sz="2800" b="1" dirty="0"/>
                    </a:p>
                  </a:txBody>
                  <a:tcPr/>
                </a:tc>
                <a:tc>
                  <a:txBody>
                    <a:bodyPr/>
                    <a:lstStyle/>
                    <a:p>
                      <a:pPr algn="ctr"/>
                      <a:r>
                        <a:rPr lang="en-US" sz="2800" b="1" dirty="0" smtClean="0"/>
                        <a:t>30</a:t>
                      </a:r>
                      <a:endParaRPr lang="en-US" sz="2800" b="1" dirty="0"/>
                    </a:p>
                  </a:txBody>
                  <a:tcPr/>
                </a:tc>
                <a:extLst>
                  <a:ext uri="{0D108BD9-81ED-4DB2-BD59-A6C34878D82A}">
                    <a16:rowId xmlns:a16="http://schemas.microsoft.com/office/drawing/2014/main" val="10000"/>
                  </a:ext>
                </a:extLst>
              </a:tr>
              <a:tr h="607219">
                <a:tc>
                  <a:txBody>
                    <a:bodyPr/>
                    <a:lstStyle/>
                    <a:p>
                      <a:pPr algn="ctr"/>
                      <a:r>
                        <a:rPr lang="en-US" sz="2400" i="1" dirty="0" smtClean="0"/>
                        <a:t>1</a:t>
                      </a:r>
                      <a:endParaRPr lang="en-US" sz="2400" i="1" dirty="0"/>
                    </a:p>
                  </a:txBody>
                  <a:tcPr/>
                </a:tc>
                <a:tc>
                  <a:txBody>
                    <a:bodyPr/>
                    <a:lstStyle/>
                    <a:p>
                      <a:pPr algn="ctr"/>
                      <a:r>
                        <a:rPr lang="en-US" sz="2400" i="1" dirty="0" smtClean="0"/>
                        <a:t>2</a:t>
                      </a:r>
                      <a:endParaRPr lang="en-US" sz="2400" i="1" dirty="0"/>
                    </a:p>
                  </a:txBody>
                  <a:tcPr/>
                </a:tc>
                <a:tc>
                  <a:txBody>
                    <a:bodyPr/>
                    <a:lstStyle/>
                    <a:p>
                      <a:pPr algn="ctr"/>
                      <a:r>
                        <a:rPr lang="en-US" sz="2400" i="1" dirty="0" smtClean="0"/>
                        <a:t>3</a:t>
                      </a:r>
                      <a:endParaRPr lang="en-US" sz="2400" i="1" dirty="0"/>
                    </a:p>
                  </a:txBody>
                  <a:tcPr/>
                </a:tc>
                <a:tc>
                  <a:txBody>
                    <a:bodyPr/>
                    <a:lstStyle/>
                    <a:p>
                      <a:pPr algn="ctr"/>
                      <a:r>
                        <a:rPr lang="en-US" sz="2400" i="1" dirty="0" smtClean="0"/>
                        <a:t>4</a:t>
                      </a:r>
                      <a:endParaRPr lang="en-US" sz="2400" i="1" dirty="0"/>
                    </a:p>
                  </a:txBody>
                  <a:tcPr/>
                </a:tc>
                <a:tc>
                  <a:txBody>
                    <a:bodyPr/>
                    <a:lstStyle/>
                    <a:p>
                      <a:pPr algn="ctr"/>
                      <a:r>
                        <a:rPr lang="en-US" sz="2400" i="1" dirty="0" smtClean="0"/>
                        <a:t>5</a:t>
                      </a:r>
                      <a:endParaRPr lang="en-US" sz="2400" i="1" dirty="0"/>
                    </a:p>
                  </a:txBody>
                  <a:tcPr/>
                </a:tc>
                <a:tc>
                  <a:txBody>
                    <a:bodyPr/>
                    <a:lstStyle/>
                    <a:p>
                      <a:pPr algn="ctr"/>
                      <a:r>
                        <a:rPr lang="en-US" sz="2400" i="1" dirty="0" smtClean="0"/>
                        <a:t>6</a:t>
                      </a:r>
                      <a:endParaRPr lang="en-US" sz="2400" i="1" dirty="0"/>
                    </a:p>
                  </a:txBody>
                  <a:tcPr/>
                </a:tc>
                <a:tc>
                  <a:txBody>
                    <a:bodyPr/>
                    <a:lstStyle/>
                    <a:p>
                      <a:pPr algn="ctr"/>
                      <a:r>
                        <a:rPr lang="en-US" sz="2400" i="1" dirty="0" smtClean="0"/>
                        <a:t>7</a:t>
                      </a:r>
                      <a:endParaRPr lang="en-US" sz="2400" i="1" dirty="0"/>
                    </a:p>
                  </a:txBody>
                  <a:tcPr/>
                </a:tc>
                <a:tc>
                  <a:txBody>
                    <a:bodyPr/>
                    <a:lstStyle/>
                    <a:p>
                      <a:pPr algn="ctr"/>
                      <a:r>
                        <a:rPr lang="en-US" sz="2400" i="1" dirty="0" smtClean="0"/>
                        <a:t>8</a:t>
                      </a:r>
                      <a:endParaRPr lang="en-US" sz="2400" i="1" dirty="0"/>
                    </a:p>
                  </a:txBody>
                  <a:tcPr/>
                </a:tc>
                <a:tc>
                  <a:txBody>
                    <a:bodyPr/>
                    <a:lstStyle/>
                    <a:p>
                      <a:pPr algn="ctr"/>
                      <a:r>
                        <a:rPr lang="en-US" sz="2400" i="1" dirty="0" smtClean="0"/>
                        <a:t>9</a:t>
                      </a:r>
                      <a:endParaRPr lang="en-US" sz="2400" i="1" dirty="0"/>
                    </a:p>
                  </a:txBody>
                  <a:tcPr/>
                </a:tc>
                <a:tc>
                  <a:txBody>
                    <a:bodyPr/>
                    <a:lstStyle/>
                    <a:p>
                      <a:pPr algn="ctr"/>
                      <a:r>
                        <a:rPr lang="en-US" sz="2400" i="1" dirty="0" smtClean="0"/>
                        <a:t>10</a:t>
                      </a:r>
                      <a:endParaRPr lang="en-US" sz="2400" i="1"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00110942"/>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ntent Placeholder 2"/>
          <p:cNvSpPr>
            <a:spLocks noGrp="1"/>
          </p:cNvSpPr>
          <p:nvPr>
            <p:ph idx="1"/>
          </p:nvPr>
        </p:nvSpPr>
        <p:spPr>
          <a:xfrm>
            <a:off x="1828800" y="533401"/>
            <a:ext cx="9067800" cy="5940425"/>
          </a:xfrm>
        </p:spPr>
        <p:txBody>
          <a:bodyPr>
            <a:normAutofit/>
          </a:bodyPr>
          <a:lstStyle/>
          <a:p>
            <a:pPr>
              <a:buFont typeface="Wingdings" pitchFamily="2" charset="2"/>
              <a:buNone/>
              <a:defRPr/>
            </a:pPr>
            <a:r>
              <a:rPr lang="en-US" sz="4400" b="1" dirty="0" err="1">
                <a:solidFill>
                  <a:srgbClr val="0070C0"/>
                </a:solidFill>
                <a:latin typeface="Times New Roman" panose="02020603050405020304" pitchFamily="18" charset="0"/>
                <a:cs typeface="Times New Roman" panose="02020603050405020304" pitchFamily="18" charset="0"/>
              </a:rPr>
              <a:t>Đánh</a:t>
            </a:r>
            <a:r>
              <a:rPr lang="en-US" sz="4400" b="1" dirty="0">
                <a:solidFill>
                  <a:srgbClr val="0070C0"/>
                </a:solidFill>
                <a:latin typeface="Times New Roman" panose="02020603050405020304" pitchFamily="18" charset="0"/>
                <a:cs typeface="Times New Roman" panose="02020603050405020304" pitchFamily="18" charset="0"/>
              </a:rPr>
              <a:t> </a:t>
            </a:r>
            <a:r>
              <a:rPr lang="en-US" sz="4400" b="1" dirty="0" err="1">
                <a:solidFill>
                  <a:srgbClr val="0070C0"/>
                </a:solidFill>
                <a:latin typeface="Times New Roman" panose="02020603050405020304" pitchFamily="18" charset="0"/>
                <a:cs typeface="Times New Roman" panose="02020603050405020304" pitchFamily="18" charset="0"/>
              </a:rPr>
              <a:t>giá</a:t>
            </a:r>
            <a:r>
              <a:rPr lang="en-US" sz="4400" b="1" dirty="0">
                <a:solidFill>
                  <a:srgbClr val="0070C0"/>
                </a:solidFill>
                <a:latin typeface="Times New Roman" panose="02020603050405020304" pitchFamily="18" charset="0"/>
                <a:cs typeface="Times New Roman" panose="02020603050405020304" pitchFamily="18" charset="0"/>
              </a:rPr>
              <a:t> </a:t>
            </a:r>
            <a:r>
              <a:rPr lang="en-US" sz="4400" b="1" err="1">
                <a:solidFill>
                  <a:srgbClr val="0070C0"/>
                </a:solidFill>
                <a:latin typeface="Times New Roman" panose="02020603050405020304" pitchFamily="18" charset="0"/>
                <a:cs typeface="Times New Roman" panose="02020603050405020304" pitchFamily="18" charset="0"/>
              </a:rPr>
              <a:t>giải</a:t>
            </a:r>
            <a:r>
              <a:rPr lang="en-US" sz="4400" b="1">
                <a:solidFill>
                  <a:srgbClr val="0070C0"/>
                </a:solidFill>
                <a:latin typeface="Times New Roman" panose="02020603050405020304" pitchFamily="18" charset="0"/>
                <a:cs typeface="Times New Roman" panose="02020603050405020304" pitchFamily="18" charset="0"/>
              </a:rPr>
              <a:t> </a:t>
            </a:r>
            <a:r>
              <a:rPr lang="en-US" sz="4400" b="1" smtClean="0">
                <a:solidFill>
                  <a:srgbClr val="0070C0"/>
                </a:solidFill>
                <a:latin typeface="Times New Roman" panose="02020603050405020304" pitchFamily="18" charset="0"/>
                <a:cs typeface="Times New Roman" panose="02020603050405020304" pitchFamily="18" charset="0"/>
              </a:rPr>
              <a:t>thuật:</a:t>
            </a:r>
          </a:p>
          <a:p>
            <a:pPr>
              <a:buFont typeface="Wingdings" pitchFamily="2" charset="2"/>
              <a:buNone/>
              <a:defRPr/>
            </a:pPr>
            <a:endParaRPr lang="en-US" sz="4400" b="1" dirty="0">
              <a:solidFill>
                <a:srgbClr val="0070C0"/>
              </a:solidFill>
              <a:latin typeface="Times New Roman" panose="02020603050405020304" pitchFamily="18" charset="0"/>
              <a:cs typeface="Times New Roman" panose="02020603050405020304" pitchFamily="18" charset="0"/>
            </a:endParaRPr>
          </a:p>
          <a:p>
            <a:pPr marL="342900" indent="-342900" algn="just">
              <a:defRPr/>
            </a:pPr>
            <a:r>
              <a:rPr lang="en-US" smtClean="0">
                <a:solidFill>
                  <a:schemeClr val="bg1"/>
                </a:solidFill>
                <a:latin typeface="Times New Roman" panose="02020603050405020304" pitchFamily="18" charset="0"/>
                <a:cs typeface="Times New Roman" panose="02020603050405020304" pitchFamily="18" charset="0"/>
              </a:rPr>
              <a:t>Chi </a:t>
            </a:r>
            <a:r>
              <a:rPr lang="en-US" dirty="0" err="1">
                <a:solidFill>
                  <a:schemeClr val="bg1"/>
                </a:solidFill>
                <a:latin typeface="Times New Roman" panose="02020603050405020304" pitchFamily="18" charset="0"/>
                <a:cs typeface="Times New Roman" panose="02020603050405020304" pitchFamily="18" charset="0"/>
              </a:rPr>
              <a:t>phí</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trung</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bình</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O(n*log</a:t>
            </a:r>
            <a:r>
              <a:rPr lang="en-US" b="1" baseline="-25000" dirty="0">
                <a:solidFill>
                  <a:schemeClr val="bg1"/>
                </a:solidFill>
                <a:latin typeface="Times New Roman" panose="02020603050405020304" pitchFamily="18" charset="0"/>
                <a:cs typeface="Times New Roman" panose="02020603050405020304" pitchFamily="18" charset="0"/>
              </a:rPr>
              <a:t>2</a:t>
            </a:r>
            <a:r>
              <a:rPr lang="en-US" b="1" dirty="0">
                <a:solidFill>
                  <a:schemeClr val="bg1"/>
                </a:solidFill>
                <a:latin typeface="Times New Roman" panose="02020603050405020304" pitchFamily="18" charset="0"/>
                <a:cs typeface="Times New Roman" panose="02020603050405020304" pitchFamily="18" charset="0"/>
              </a:rPr>
              <a:t>n)</a:t>
            </a:r>
          </a:p>
          <a:p>
            <a:pPr marL="342900" indent="-342900" algn="just">
              <a:defRPr/>
            </a:pPr>
            <a:r>
              <a:rPr lang="en-US" dirty="0">
                <a:solidFill>
                  <a:schemeClr val="bg1"/>
                </a:solidFill>
                <a:latin typeface="Times New Roman" panose="02020603050405020304" pitchFamily="18" charset="0"/>
                <a:cs typeface="Times New Roman" panose="02020603050405020304" pitchFamily="18" charset="0"/>
              </a:rPr>
              <a:t>Chi </a:t>
            </a:r>
            <a:r>
              <a:rPr lang="en-US" dirty="0" err="1">
                <a:solidFill>
                  <a:schemeClr val="bg1"/>
                </a:solidFill>
                <a:latin typeface="Times New Roman" panose="02020603050405020304" pitchFamily="18" charset="0"/>
                <a:cs typeface="Times New Roman" panose="02020603050405020304" pitchFamily="18" charset="0"/>
              </a:rPr>
              <a:t>phí</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cho</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trường</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hợp</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xấu</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nhất</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O(n</a:t>
            </a:r>
            <a:r>
              <a:rPr lang="en-US" b="1" baseline="30000" dirty="0">
                <a:solidFill>
                  <a:schemeClr val="bg1"/>
                </a:solidFill>
                <a:latin typeface="Times New Roman" panose="02020603050405020304" pitchFamily="18" charset="0"/>
                <a:cs typeface="Times New Roman" panose="02020603050405020304" pitchFamily="18" charset="0"/>
              </a:rPr>
              <a:t>2</a:t>
            </a:r>
            <a:r>
              <a:rPr lang="en-US" b="1" dirty="0">
                <a:solidFill>
                  <a:schemeClr val="bg1"/>
                </a:solidFill>
                <a:latin typeface="Times New Roman" panose="02020603050405020304" pitchFamily="18" charset="0"/>
                <a:cs typeface="Times New Roman" panose="02020603050405020304" pitchFamily="18" charset="0"/>
              </a:rPr>
              <a:t>)</a:t>
            </a:r>
          </a:p>
          <a:p>
            <a:pPr marL="342900" indent="-342900" algn="just">
              <a:defRPr/>
            </a:pPr>
            <a:r>
              <a:rPr lang="en-US" dirty="0">
                <a:solidFill>
                  <a:schemeClr val="bg1"/>
                </a:solidFill>
                <a:latin typeface="Times New Roman" panose="02020603050405020304" pitchFamily="18" charset="0"/>
                <a:cs typeface="Times New Roman" panose="02020603050405020304" pitchFamily="18" charset="0"/>
              </a:rPr>
              <a:t>Chi </a:t>
            </a:r>
            <a:r>
              <a:rPr lang="en-US" dirty="0" err="1">
                <a:solidFill>
                  <a:schemeClr val="bg1"/>
                </a:solidFill>
                <a:latin typeface="Times New Roman" panose="02020603050405020304" pitchFamily="18" charset="0"/>
                <a:cs typeface="Times New Roman" panose="02020603050405020304" pitchFamily="18" charset="0"/>
              </a:rPr>
              <a:t>phí</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tùy</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thuộc</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vào</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cách</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chọn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phần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tử</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trục</a:t>
            </a:r>
            <a:r>
              <a:rPr lang="en-US" dirty="0">
                <a:solidFill>
                  <a:schemeClr val="bg1"/>
                </a:solidFill>
                <a:latin typeface="Times New Roman" panose="02020603050405020304" pitchFamily="18" charset="0"/>
                <a:cs typeface="Times New Roman" panose="02020603050405020304" pitchFamily="18" charset="0"/>
              </a:rPr>
              <a:t>”:</a:t>
            </a:r>
          </a:p>
          <a:p>
            <a:pPr lvl="1" algn="just">
              <a:defRPr/>
            </a:pPr>
            <a:r>
              <a:rPr lang="en-US" sz="3200" dirty="0" err="1">
                <a:solidFill>
                  <a:schemeClr val="bg1"/>
                </a:solidFill>
                <a:latin typeface="Times New Roman" panose="02020603050405020304" pitchFamily="18" charset="0"/>
                <a:cs typeface="Times New Roman" panose="02020603050405020304" pitchFamily="18" charset="0"/>
              </a:rPr>
              <a:t>Nếu</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chọn</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được</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phần</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tử</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có</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giá</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trị</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trung</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bình</a:t>
            </a:r>
            <a:r>
              <a:rPr lang="en-US" sz="3200" dirty="0">
                <a:solidFill>
                  <a:schemeClr val="bg1"/>
                </a:solidFill>
                <a:latin typeface="Times New Roman" panose="02020603050405020304" pitchFamily="18" charset="0"/>
                <a:cs typeface="Times New Roman" panose="02020603050405020304" pitchFamily="18" charset="0"/>
              </a:rPr>
              <a:t>, ta </a:t>
            </a:r>
            <a:r>
              <a:rPr lang="en-US" sz="3200" dirty="0" err="1">
                <a:solidFill>
                  <a:schemeClr val="bg1"/>
                </a:solidFill>
                <a:latin typeface="Times New Roman" panose="02020603050405020304" pitchFamily="18" charset="0"/>
                <a:cs typeface="Times New Roman" panose="02020603050405020304" pitchFamily="18" charset="0"/>
              </a:rPr>
              <a:t>sẽ</a:t>
            </a:r>
            <a:r>
              <a:rPr lang="en-US" sz="3200" dirty="0">
                <a:solidFill>
                  <a:schemeClr val="bg1"/>
                </a:solidFill>
                <a:latin typeface="Times New Roman" panose="02020603050405020304" pitchFamily="18" charset="0"/>
                <a:cs typeface="Times New Roman" panose="02020603050405020304" pitchFamily="18" charset="0"/>
              </a:rPr>
              <a:t> chia </a:t>
            </a:r>
            <a:r>
              <a:rPr lang="en-US" sz="3200" dirty="0" err="1">
                <a:solidFill>
                  <a:schemeClr val="bg1"/>
                </a:solidFill>
                <a:latin typeface="Times New Roman" panose="02020603050405020304" pitchFamily="18" charset="0"/>
                <a:cs typeface="Times New Roman" panose="02020603050405020304" pitchFamily="18" charset="0"/>
              </a:rPr>
              <a:t>thành</a:t>
            </a:r>
            <a:r>
              <a:rPr lang="en-US" sz="3200" dirty="0">
                <a:solidFill>
                  <a:schemeClr val="bg1"/>
                </a:solidFill>
                <a:latin typeface="Times New Roman" panose="02020603050405020304" pitchFamily="18" charset="0"/>
                <a:cs typeface="Times New Roman" panose="02020603050405020304" pitchFamily="18" charset="0"/>
              </a:rPr>
              <a:t> 2 </a:t>
            </a:r>
            <a:r>
              <a:rPr lang="en-US" sz="3200" dirty="0" err="1">
                <a:solidFill>
                  <a:schemeClr val="bg1"/>
                </a:solidFill>
                <a:latin typeface="Times New Roman" panose="02020603050405020304" pitchFamily="18" charset="0"/>
                <a:cs typeface="Times New Roman" panose="02020603050405020304" pitchFamily="18" charset="0"/>
              </a:rPr>
              <a:t>dãy</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bằng</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nhau</a:t>
            </a:r>
            <a:r>
              <a:rPr lang="en-US" sz="3200" dirty="0">
                <a:solidFill>
                  <a:schemeClr val="bg1"/>
                </a:solidFill>
                <a:latin typeface="Times New Roman" panose="02020603050405020304" pitchFamily="18" charset="0"/>
                <a:cs typeface="Times New Roman" panose="02020603050405020304" pitchFamily="18" charset="0"/>
              </a:rPr>
              <a:t>;</a:t>
            </a:r>
          </a:p>
          <a:p>
            <a:pPr lvl="1" algn="just">
              <a:defRPr/>
            </a:pPr>
            <a:r>
              <a:rPr lang="en-US" sz="3200" dirty="0" err="1">
                <a:solidFill>
                  <a:schemeClr val="bg1"/>
                </a:solidFill>
                <a:latin typeface="Times New Roman" panose="02020603050405020304" pitchFamily="18" charset="0"/>
                <a:cs typeface="Times New Roman" panose="02020603050405020304" pitchFamily="18" charset="0"/>
              </a:rPr>
              <a:t>Nếu</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chọn</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nhằm</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phần</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tử</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nhỏ</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nhất</a:t>
            </a:r>
            <a:r>
              <a:rPr lang="en-US" sz="3200" dirty="0">
                <a:solidFill>
                  <a:schemeClr val="bg1"/>
                </a:solidFill>
                <a:latin typeface="Times New Roman" panose="02020603050405020304" pitchFamily="18" charset="0"/>
                <a:cs typeface="Times New Roman" panose="02020603050405020304" pitchFamily="18" charset="0"/>
              </a:rPr>
              <a:t> (hay </a:t>
            </a:r>
            <a:r>
              <a:rPr lang="en-US" sz="3200" dirty="0" err="1">
                <a:solidFill>
                  <a:schemeClr val="bg1"/>
                </a:solidFill>
                <a:latin typeface="Times New Roman" panose="02020603050405020304" pitchFamily="18" charset="0"/>
                <a:cs typeface="Times New Roman" panose="02020603050405020304" pitchFamily="18" charset="0"/>
              </a:rPr>
              <a:t>lớn</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nhất</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a:solidFill>
                  <a:schemeClr val="bg1"/>
                </a:solidFill>
                <a:latin typeface="Times New Roman" panose="02020603050405020304" pitchFamily="18" charset="0"/>
                <a:cs typeface="Times New Roman" panose="02020603050405020304" pitchFamily="18" charset="0"/>
                <a:sym typeface="Wingdings" pitchFamily="2" charset="2"/>
              </a:rPr>
              <a:t> </a:t>
            </a:r>
            <a:r>
              <a:rPr lang="en-US" sz="3200" dirty="0">
                <a:solidFill>
                  <a:schemeClr val="bg1"/>
                </a:solidFill>
                <a:latin typeface="Times New Roman" panose="02020603050405020304" pitchFamily="18" charset="0"/>
                <a:cs typeface="Times New Roman" panose="02020603050405020304" pitchFamily="18" charset="0"/>
              </a:rPr>
              <a:t>O(n</a:t>
            </a:r>
            <a:r>
              <a:rPr lang="en-US" sz="3200" baseline="30000" dirty="0">
                <a:solidFill>
                  <a:schemeClr val="bg1"/>
                </a:solidFill>
                <a:latin typeface="Times New Roman" panose="02020603050405020304" pitchFamily="18" charset="0"/>
                <a:cs typeface="Times New Roman" panose="02020603050405020304" pitchFamily="18" charset="0"/>
              </a:rPr>
              <a:t>2</a:t>
            </a:r>
            <a:r>
              <a:rPr lang="en-US" sz="3200" dirty="0">
                <a:solidFill>
                  <a:schemeClr val="bg1"/>
                </a:solidFill>
                <a:latin typeface="Times New Roman" panose="02020603050405020304" pitchFamily="18" charset="0"/>
                <a:cs typeface="Times New Roman" panose="02020603050405020304" pitchFamily="18" charset="0"/>
              </a:rPr>
              <a:t>)</a:t>
            </a:r>
          </a:p>
          <a:p>
            <a:pPr>
              <a:defRPr/>
            </a:pP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6E0E0919-1C9E-4304-AE1B-AD73288114A4}" type="slidenum">
              <a:rPr lang="en-US" smtClean="0"/>
              <a:pPr>
                <a:defRPr/>
              </a:pPr>
              <a:t>115</a:t>
            </a:fld>
            <a:endParaRPr lang="en-US"/>
          </a:p>
        </p:txBody>
      </p:sp>
    </p:spTree>
    <p:extLst>
      <p:ext uri="{BB962C8B-B14F-4D97-AF65-F5344CB8AC3E}">
        <p14:creationId xmlns:p14="http://schemas.microsoft.com/office/powerpoint/2010/main" val="312958131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DD57F7B-2019-4069-8198-EFE0C5B7313D}" type="slidenum">
              <a:rPr lang="en-US" smtClean="0"/>
              <a:pPr>
                <a:defRPr/>
              </a:pPr>
              <a:t>116</a:t>
            </a:fld>
            <a:endParaRPr lang="en-US"/>
          </a:p>
        </p:txBody>
      </p:sp>
      <p:pic>
        <p:nvPicPr>
          <p:cNvPr id="5" name="Picture 4"/>
          <p:cNvPicPr>
            <a:picLocks noChangeAspect="1"/>
          </p:cNvPicPr>
          <p:nvPr/>
        </p:nvPicPr>
        <p:blipFill>
          <a:blip r:embed="rId2"/>
          <a:stretch>
            <a:fillRect/>
          </a:stretch>
        </p:blipFill>
        <p:spPr>
          <a:xfrm>
            <a:off x="3112935" y="948448"/>
            <a:ext cx="5131344" cy="4552258"/>
          </a:xfrm>
          <a:prstGeom prst="rect">
            <a:avLst/>
          </a:prstGeom>
        </p:spPr>
      </p:pic>
    </p:spTree>
    <p:extLst>
      <p:ext uri="{BB962C8B-B14F-4D97-AF65-F5344CB8AC3E}">
        <p14:creationId xmlns:p14="http://schemas.microsoft.com/office/powerpoint/2010/main" val="28109872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6206</TotalTime>
  <Words>4772</Words>
  <Application>Microsoft Office PowerPoint</Application>
  <PresentationFormat>Widescreen</PresentationFormat>
  <Paragraphs>2208</Paragraphs>
  <Slides>116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116</vt:i4>
      </vt:variant>
    </vt:vector>
  </HeadingPairs>
  <TitlesOfParts>
    <vt:vector size="123" baseType="lpstr">
      <vt:lpstr>Arial</vt:lpstr>
      <vt:lpstr>Calibri</vt:lpstr>
      <vt:lpstr>Calibri Light</vt:lpstr>
      <vt:lpstr>Times New Roman</vt:lpstr>
      <vt:lpstr>Wingdings</vt:lpstr>
      <vt:lpstr>Wingdings 2</vt:lpstr>
      <vt:lpstr>Office Theme</vt:lpstr>
      <vt:lpstr>PowerPoint Presentation</vt:lpstr>
      <vt:lpstr>Các khái niệm:</vt:lpstr>
      <vt:lpstr>Các giải thuật sắp xếp cơ bản</vt:lpstr>
      <vt:lpstr>1. Đổi chổ trực tiếp – interchange sort</vt:lpstr>
      <vt:lpstr>PowerPoint Presentation</vt:lpstr>
      <vt:lpstr>PowerPoint Presentation</vt:lpstr>
      <vt:lpstr>1. Đổi chổ trực tiếp – interchange sort</vt:lpstr>
      <vt:lpstr>PowerPoint Presentation</vt:lpstr>
      <vt:lpstr>1. Đổi chổ trực tiếp – interchange sort</vt:lpstr>
      <vt:lpstr>PowerPoint Presentation</vt:lpstr>
      <vt:lpstr>1. Đổi chổ trực tiếp – interchange sort</vt:lpstr>
      <vt:lpstr>PowerPoint Presentation</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PowerPoint Presentation</vt:lpstr>
      <vt:lpstr>PowerPoint Presentation</vt:lpstr>
      <vt:lpstr>PowerPoint Presentation</vt:lpstr>
      <vt:lpstr>PowerPoint Presentation</vt:lpstr>
      <vt:lpstr>1. Đổi chổ trực tiếp – interchange sort</vt:lpstr>
      <vt:lpstr>PowerPoint Presentation</vt:lpstr>
      <vt:lpstr>1. Đổi chổ trực tiếp – interchange sort</vt:lpstr>
      <vt:lpstr>PowerPoint Presentation</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1. Đổi chổ trực tiếp – interchange sort</vt:lpstr>
      <vt:lpstr>PowerPoint Presentation</vt:lpstr>
      <vt:lpstr>Bài tập</vt:lpstr>
      <vt:lpstr>PowerPoint Presentation</vt:lpstr>
      <vt:lpstr>2. Chọn trực tiếp – selection sort</vt:lpstr>
      <vt:lpstr>2. Chọn trực tiếp – selection sort</vt:lpstr>
      <vt:lpstr>PowerPoint Presentation</vt:lpstr>
      <vt:lpstr>2. Chọn trực tiếp – selection sort</vt:lpstr>
      <vt:lpstr>2. Chọn trực tiếp – selection sort</vt:lpstr>
      <vt:lpstr>2. Chọn trực tiếp – selection sort</vt:lpstr>
      <vt:lpstr>2. Chọn trực tiếp – selection sort</vt:lpstr>
      <vt:lpstr>PowerPoint Presentation</vt:lpstr>
      <vt:lpstr>PowerPoint Presentation</vt:lpstr>
      <vt:lpstr>PowerPoint Presentation</vt:lpstr>
      <vt:lpstr>2. Chọn trực tiếp – selection sort</vt:lpstr>
      <vt:lpstr>2. Chọn trực tiếp – selection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Bài tập</vt:lpstr>
      <vt:lpstr>PowerPoint Presentation</vt:lpstr>
      <vt:lpstr>3. Nổi bọt – bubble sort</vt:lpstr>
      <vt:lpstr>PowerPoint Presentation</vt:lpstr>
      <vt:lpstr>3. Nổi bọt – bubble sort</vt:lpstr>
      <vt:lpstr>3. Nổi bọt – bubble sort</vt:lpstr>
      <vt:lpstr>3. Nổi bọt – bubble sort</vt:lpstr>
      <vt:lpstr>3. Nổi bọt – bubble sort</vt:lpstr>
      <vt:lpstr>3. Nổi bọt – bubble sort</vt:lpstr>
      <vt:lpstr>3. Nổi bọt – bubble sort</vt:lpstr>
      <vt:lpstr>3. Nổi bọt – bubble sort</vt:lpstr>
      <vt:lpstr>3. Nổi bọt – bubble sort</vt:lpstr>
      <vt:lpstr>PowerPoint Presentation</vt:lpstr>
      <vt:lpstr>PowerPoint Presentation</vt:lpstr>
      <vt:lpstr>4. Chèn trực tiếp – insertion sort</vt:lpstr>
      <vt:lpstr>PowerPoint Presentation</vt:lpstr>
      <vt:lpstr>PowerPoint Presentation</vt:lpstr>
      <vt:lpstr>PowerPoint Presentation</vt:lpstr>
      <vt:lpstr>PowerPoint Presentation</vt:lpstr>
      <vt:lpstr>PowerPoint Presentation</vt:lpstr>
      <vt:lpstr>PowerPoint Presentation</vt:lpstr>
      <vt:lpstr>Chèn trực tiếp – insertion sort</vt:lpstr>
      <vt:lpstr>PowerPoint Presentation</vt:lpstr>
      <vt:lpstr>PowerPoint Presentation</vt:lpstr>
      <vt:lpstr>PowerPoint Presentation</vt:lpstr>
      <vt:lpstr>PowerPoint Presentation</vt:lpstr>
      <vt:lpstr>Bài tập</vt:lpstr>
      <vt:lpstr>PowerPoint Presentation</vt:lpstr>
      <vt:lpstr>PowerPoint Presentation</vt:lpstr>
      <vt:lpstr>5. Quick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Bài tập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Minh Thai</dc:creator>
  <cp:lastModifiedBy>Windows User</cp:lastModifiedBy>
  <cp:revision>342</cp:revision>
  <dcterms:created xsi:type="dcterms:W3CDTF">2007-08-28T06:01:43Z</dcterms:created>
  <dcterms:modified xsi:type="dcterms:W3CDTF">2024-09-23T03:31:04Z</dcterms:modified>
</cp:coreProperties>
</file>