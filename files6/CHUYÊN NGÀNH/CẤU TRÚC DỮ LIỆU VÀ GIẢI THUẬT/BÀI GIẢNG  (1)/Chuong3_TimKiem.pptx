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5" r:id="rId1"/>
  </p:sldMasterIdLst>
  <p:notesMasterIdLst>
    <p:notesMasterId r:id="rId29"/>
  </p:notesMasterIdLst>
  <p:handoutMasterIdLst>
    <p:handoutMasterId r:id="rId30"/>
  </p:handoutMasterIdLst>
  <p:sldIdLst>
    <p:sldId id="281" r:id="rId2"/>
    <p:sldId id="283" r:id="rId3"/>
    <p:sldId id="258" r:id="rId4"/>
    <p:sldId id="259" r:id="rId5"/>
    <p:sldId id="289" r:id="rId6"/>
    <p:sldId id="260" r:id="rId7"/>
    <p:sldId id="286" r:id="rId8"/>
    <p:sldId id="261" r:id="rId9"/>
    <p:sldId id="263" r:id="rId10"/>
    <p:sldId id="262" r:id="rId11"/>
    <p:sldId id="264" r:id="rId12"/>
    <p:sldId id="287" r:id="rId13"/>
    <p:sldId id="288" r:id="rId14"/>
    <p:sldId id="266" r:id="rId15"/>
    <p:sldId id="267" r:id="rId16"/>
    <p:sldId id="278" r:id="rId17"/>
    <p:sldId id="284" r:id="rId18"/>
    <p:sldId id="280" r:id="rId19"/>
    <p:sldId id="279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7" autoAdjust="0"/>
  </p:normalViewPr>
  <p:slideViewPr>
    <p:cSldViewPr>
      <p:cViewPr varScale="1">
        <p:scale>
          <a:sx n="60" d="100"/>
          <a:sy n="60" d="100"/>
        </p:scale>
        <p:origin x="816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D60F145-67B7-45DE-9BCB-C473C3BF630F}" type="datetimeFigureOut">
              <a:rPr lang="en-US"/>
              <a:pPr>
                <a:defRPr/>
              </a:pPr>
              <a:t>09/05/2024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ACFEF89-4FC4-4778-A685-CB6EE96445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453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F18EEA4-A50C-4E27-8CC5-C86A724164D8}" type="datetimeFigureOut">
              <a:rPr lang="en-US"/>
              <a:pPr>
                <a:defRPr/>
              </a:pPr>
              <a:t>09/05/2024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E6989F5-0928-4F14-9743-07BB8DCBF0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0688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5CF9BC4-C3B2-43AE-8D0A-73FD4E765C02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246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C9E34D-DBC6-4603-9FF3-88D425ED668D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437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DD8EF61-B1AA-463E-8C77-DE910DA9BCC5}" type="datetime1">
              <a:rPr lang="en-US" smtClean="0"/>
              <a:pPr>
                <a:defRPr/>
              </a:pPr>
              <a:t>09/05/2024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37FAC-A342-4278-9703-0CB90D51920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534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1C27E42-D2D4-4026-B45C-408CC7C82262}" type="datetime1">
              <a:rPr lang="en-US" smtClean="0"/>
              <a:pPr>
                <a:defRPr/>
              </a:pPr>
              <a:t>09/05/2024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AC803A-1B25-4D7C-8D52-15653B90719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46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57CC86-7D07-43DF-9DC2-A7C8092FC416}" type="datetime1">
              <a:rPr lang="en-US" smtClean="0"/>
              <a:pPr>
                <a:defRPr/>
              </a:pPr>
              <a:t>09/05/2024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9CABB7-BCC1-4316-9022-CC5382FD314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771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908877-5F8F-4D93-A25E-D1884BA4A47C}" type="datetime1">
              <a:rPr lang="en-US" smtClean="0"/>
              <a:pPr>
                <a:defRPr/>
              </a:pPr>
              <a:t>09/05/2024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AACCF1-02A4-4F4A-BE77-8923DD327B2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37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C35AE5-AA99-4C11-8EA7-B47DDFF93306}" type="datetime1">
              <a:rPr lang="en-US" smtClean="0"/>
              <a:pPr>
                <a:defRPr/>
              </a:pPr>
              <a:t>09/05/2024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3CEF60-1181-4889-A1F6-32EB69978AC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303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EE543D-EDA5-4A38-AF7A-6CF6D2BF99AA}" type="datetime1">
              <a:rPr lang="en-US" smtClean="0"/>
              <a:pPr>
                <a:defRPr/>
              </a:pPr>
              <a:t>09/05/2024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2AB19A-EB44-4090-B043-DF4E2D22230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43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075F24-7017-4B58-AC1B-3F65B0406BDA}" type="datetime1">
              <a:rPr lang="en-US" smtClean="0"/>
              <a:pPr>
                <a:defRPr/>
              </a:pPr>
              <a:t>09/05/2024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0E8FE1-2FBA-4DD8-9E09-0439CB59CB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37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FCF017-F43F-4724-9F2C-3BCDEFE366B6}" type="datetime1">
              <a:rPr lang="en-US" smtClean="0"/>
              <a:pPr>
                <a:defRPr/>
              </a:pPr>
              <a:t>09/05/2024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D3FFB7-C0EE-4475-BBA6-8ED833A1E17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474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5313BB6-CA5D-4C41-8FAC-BE72BA06488E}" type="datetime1">
              <a:rPr lang="en-US" smtClean="0"/>
              <a:pPr>
                <a:defRPr/>
              </a:pPr>
              <a:t>09/05/2024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6CA116-3641-4B07-9485-E3ACF43B136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62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C57D78C-5D76-49FF-B269-8E17E611CE74}" type="datetime1">
              <a:rPr lang="en-US" smtClean="0"/>
              <a:pPr>
                <a:defRPr/>
              </a:pPr>
              <a:t>09/05/2024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72F56D-23D5-46E3-967F-A3339CEC69C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490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CBCCBC4-E43A-42F6-9BBA-E7ABFBEE8D86}" type="datetime1">
              <a:rPr lang="en-US" smtClean="0"/>
              <a:pPr>
                <a:defRPr/>
              </a:pPr>
              <a:t>09/05/2024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210B88-58CA-42CC-AAC5-597A0697FC9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314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40890E0-AAA3-475A-887B-6B92911C566B}" type="datetime1">
              <a:rPr lang="en-US" smtClean="0"/>
              <a:pPr>
                <a:defRPr/>
              </a:pPr>
              <a:t>09/05/2024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924C8E1-244E-47B0-A9B3-60D8F1F05BA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173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6" r:id="rId1"/>
    <p:sldLayoutId id="2147484027" r:id="rId2"/>
    <p:sldLayoutId id="2147484028" r:id="rId3"/>
    <p:sldLayoutId id="2147484029" r:id="rId4"/>
    <p:sldLayoutId id="2147484030" r:id="rId5"/>
    <p:sldLayoutId id="2147484031" r:id="rId6"/>
    <p:sldLayoutId id="2147484032" r:id="rId7"/>
    <p:sldLayoutId id="2147484033" r:id="rId8"/>
    <p:sldLayoutId id="2147484034" r:id="rId9"/>
    <p:sldLayoutId id="2147484035" r:id="rId10"/>
    <p:sldLayoutId id="214748403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336" y="457200"/>
            <a:ext cx="12158663" cy="838200"/>
          </a:xfrm>
        </p:spPr>
        <p:txBody>
          <a:bodyPr>
            <a:normAutofit/>
          </a:bodyPr>
          <a:lstStyle/>
          <a:p>
            <a:pPr marL="182880">
              <a:buClr>
                <a:schemeClr val="accent6">
                  <a:lumMod val="75000"/>
                </a:schemeClr>
              </a:buClr>
              <a:defRPr/>
            </a:pPr>
            <a:r>
              <a:rPr lang="en-US" sz="4400" b="1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sz="4400" b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3. GIẢI THUẬT TÌM KIẾM</a:t>
            </a:r>
            <a:endParaRPr lang="en-US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B4A07C41-2634-4AA1-AC31-080EE886FF7D}" type="slidenum">
              <a:rPr lang="en-US"/>
              <a:pPr>
                <a:defRPr/>
              </a:pPr>
              <a:t>1</a:t>
            </a:fld>
            <a:endParaRPr lang="en-US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1371600"/>
            <a:ext cx="3886200" cy="79216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20040" indent="-320040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b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 tiêu</a:t>
            </a:r>
            <a:endParaRPr lang="en-US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62000" y="2135186"/>
            <a:ext cx="11201400" cy="4221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50000"/>
              </a:lnSpc>
              <a:spcAft>
                <a:spcPts val="0"/>
              </a:spcAft>
            </a:pP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Xác định được vai trò của tìm kiếm và sắp xếp trong hệ thống thông tin.</a:t>
            </a:r>
          </a:p>
          <a:p>
            <a:pPr algn="just" fontAlgn="auto">
              <a:lnSpc>
                <a:spcPct val="150000"/>
              </a:lnSpc>
              <a:spcAft>
                <a:spcPts val="0"/>
              </a:spcAft>
            </a:pP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Nắm vững và minh họa được giải thuật tìm kiếm tuyến tính và tìm kiếm nhị phân trên mảng một chiều</a:t>
            </a:r>
          </a:p>
          <a:p>
            <a:pPr algn="just" fontAlgn="auto">
              <a:lnSpc>
                <a:spcPct val="150000"/>
              </a:lnSpc>
              <a:spcAft>
                <a:spcPts val="0"/>
              </a:spcAft>
            </a:pP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Cài đặt được giải thuật tìm kiếm bằng ngôn ngữ C/C++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38150"/>
            <a:ext cx="8077200" cy="792162"/>
          </a:xfrm>
        </p:spPr>
        <p:txBody>
          <a:bodyPr/>
          <a:lstStyle/>
          <a:p>
            <a:pPr marL="320040" indent="-320040">
              <a:buClr>
                <a:schemeClr val="accent6">
                  <a:lumMod val="75000"/>
                </a:schemeClr>
              </a:buClr>
              <a:defRPr/>
            </a:pPr>
            <a:r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Suy nghĩ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874914-D85B-41BE-AB44-A82E474E24F8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61987" y="1242665"/>
            <a:ext cx="10820400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 Tại sao hầu hết phần mềm phải có chức năng tìm kiếm và sắp xếp, mối quan hệ giữa tìm kiếm </a:t>
            </a: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 sắp xếp?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09600" y="252941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20040" indent="-320040" defTabSz="914400" eaLnBrk="1" latinLnBrk="0" hangingPunct="1">
              <a:lnSpc>
                <a:spcPct val="90000"/>
              </a:lnSpc>
              <a:buClr>
                <a:schemeClr val="accent6">
                  <a:lumMod val="75000"/>
                </a:schemeClr>
              </a:buClr>
              <a:buNone/>
              <a:defRPr sz="4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/>
              <a:t>Nhu cầu tìm kiếm và sắp xếp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33400" y="3731687"/>
            <a:ext cx="11196638" cy="1588127"/>
          </a:xfr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hầu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hết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dữ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liệu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có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thứ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tự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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sắp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xếp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10515600" cy="701675"/>
          </a:xfrm>
        </p:spPr>
        <p:txBody>
          <a:bodyPr/>
          <a:lstStyle/>
          <a:p>
            <a:pPr marL="320040" indent="-320040">
              <a:buClr>
                <a:schemeClr val="accent6">
                  <a:lumMod val="75000"/>
                </a:schemeClr>
              </a:buClr>
              <a:defRPr/>
            </a:pPr>
            <a:r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 giải thuật tìm kiếm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10515600" cy="4351338"/>
          </a:xfrm>
        </p:spPr>
        <p:txBody>
          <a:bodyPr rtlCol="0">
            <a:normAutofit/>
          </a:bodyPr>
          <a:lstStyle/>
          <a:p>
            <a:pPr indent="-182880" algn="just">
              <a:buClr>
                <a:schemeClr val="accent6">
                  <a:lumMod val="75000"/>
                </a:schemeClr>
              </a:buClr>
              <a:defRPr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nhị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-182880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8640" lvl="1" indent="-182880">
              <a:buClr>
                <a:schemeClr val="accent6">
                  <a:lumMod val="75000"/>
                </a:schemeClr>
              </a:buClr>
              <a:defRPr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dãy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6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</a:t>
            </a:r>
            <a:r>
              <a:rPr lang="en-US" sz="36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 , a</a:t>
            </a:r>
            <a:r>
              <a:rPr lang="en-US" sz="3600" b="1" baseline="-25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48640" lvl="1" indent="-182880" algn="just">
              <a:buClr>
                <a:schemeClr val="accent6">
                  <a:lumMod val="75000"/>
                </a:schemeClr>
              </a:buClr>
              <a:defRPr/>
            </a:pP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a[N];</a:t>
            </a: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8640" lvl="1" indent="-182880">
              <a:buClr>
                <a:schemeClr val="accent6">
                  <a:lumMod val="75000"/>
                </a:schemeClr>
              </a:buClr>
              <a:defRPr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x;</a:t>
            </a:r>
          </a:p>
          <a:p>
            <a:pPr indent="-182880">
              <a:buClr>
                <a:schemeClr val="accent6">
                  <a:lumMod val="75000"/>
                </a:schemeClr>
              </a:buClr>
              <a:defRPr/>
            </a:pP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6781CEED-1CF2-4010-A5CC-3799D876D1A1}" type="slidenum">
              <a:rPr lang="en-US">
                <a:solidFill>
                  <a:schemeClr val="tx1"/>
                </a:solidFill>
              </a:rPr>
              <a:pPr>
                <a:defRPr/>
              </a:pPr>
              <a:t>3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085198"/>
              </p:ext>
            </p:extLst>
          </p:nvPr>
        </p:nvGraphicFramePr>
        <p:xfrm>
          <a:off x="2628900" y="2286000"/>
          <a:ext cx="7505700" cy="762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09756">
                <a:tc>
                  <a:txBody>
                    <a:bodyPr/>
                    <a:lstStyle/>
                    <a:p>
                      <a:r>
                        <a:rPr lang="en-US" sz="4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4400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44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r>
                        <a:rPr lang="en-US" sz="4400" b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4400" b="1" baseline="-250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4400" b="1" baseline="-25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r>
                        <a:rPr lang="en-US" sz="4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4400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44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r>
                        <a:rPr lang="en-US" sz="4400" b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4400" b="1" baseline="-250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4400" b="1" baseline="-25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r>
                        <a:rPr lang="en-US" sz="4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4400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44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400" b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en-US" sz="4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r>
                        <a:rPr lang="en-US" sz="4400" b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4400" b="1" baseline="-250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n-1</a:t>
                      </a:r>
                      <a:endParaRPr lang="en-US" sz="4400" b="1" baseline="-25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r>
                        <a:rPr lang="en-US" sz="4400" b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4400" b="1" baseline="-25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sz="4400" b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98" marB="457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10058400" cy="914400"/>
          </a:xfrm>
        </p:spPr>
        <p:txBody>
          <a:bodyPr>
            <a:noAutofit/>
          </a:bodyPr>
          <a:lstStyle/>
          <a:p>
            <a:pPr marL="320040" indent="-320040">
              <a:buClr>
                <a:schemeClr val="accent6">
                  <a:lumMod val="75000"/>
                </a:schemeClr>
              </a:buClr>
              <a:defRPr/>
            </a:pPr>
            <a:r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Tìm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(Linear Search)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762000" y="1295400"/>
            <a:ext cx="10744200" cy="2743200"/>
          </a:xfrm>
        </p:spPr>
        <p:txBody>
          <a:bodyPr rtlCol="0"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Ý tưởng: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2880" algn="just">
              <a:lnSpc>
                <a:spcPct val="150000"/>
              </a:lnSpc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lượt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...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gặp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hết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C6602F15-04F7-4F71-8D61-61855287BEAC}" type="slidenum">
              <a:rPr lang="en-US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9576"/>
            <a:ext cx="8382000" cy="914400"/>
          </a:xfrm>
        </p:spPr>
        <p:txBody>
          <a:bodyPr/>
          <a:lstStyle/>
          <a:p>
            <a:pPr marL="320040" indent="-320040">
              <a:buClr>
                <a:schemeClr val="accent6">
                  <a:lumMod val="75000"/>
                </a:schemeClr>
              </a:buClr>
              <a:defRPr/>
            </a:pPr>
            <a:r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Tìm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1981200" y="1449389"/>
            <a:ext cx="8382000" cy="4646611"/>
          </a:xfrm>
        </p:spPr>
        <p:txBody>
          <a:bodyPr rtlCol="0">
            <a:normAutofit/>
          </a:bodyPr>
          <a:lstStyle/>
          <a:p>
            <a:pPr indent="-182880">
              <a:buClr>
                <a:schemeClr val="accent6">
                  <a:lumMod val="75000"/>
                </a:schemeClr>
              </a:buClr>
              <a:defRPr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Minh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họa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 =10</a:t>
            </a:r>
          </a:p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endParaRPr lang="en-US" sz="3600" dirty="0" smtClean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endParaRPr lang="en-US" sz="36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endParaRPr lang="en-US" sz="3600" dirty="0" smtClean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2880">
              <a:buClr>
                <a:schemeClr val="accent6">
                  <a:lumMod val="75000"/>
                </a:schemeClr>
              </a:buClr>
              <a:defRPr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Minh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họa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 =25</a:t>
            </a:r>
          </a:p>
          <a:p>
            <a:pPr marL="548640" lvl="1" indent="-182880">
              <a:buClr>
                <a:schemeClr val="accent6">
                  <a:lumMod val="75000"/>
                </a:schemeClr>
              </a:buClr>
              <a:buNone/>
              <a:defRPr/>
            </a:pPr>
            <a:endParaRPr lang="en-US" sz="3200" dirty="0" smtClean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C6602F15-04F7-4F71-8D61-61855287BEAC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16" name="Cloud 15"/>
          <p:cNvSpPr/>
          <p:nvPr/>
        </p:nvSpPr>
        <p:spPr>
          <a:xfrm>
            <a:off x="10267949" y="3584178"/>
            <a:ext cx="1600200" cy="8382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Chưa hết mảng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065774"/>
              </p:ext>
            </p:extLst>
          </p:nvPr>
        </p:nvGraphicFramePr>
        <p:xfrm>
          <a:off x="1981200" y="2819400"/>
          <a:ext cx="8001000" cy="766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7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5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12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41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10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32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13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9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15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3</a:t>
                      </a:r>
                      <a:endParaRPr lang="en-US" sz="20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1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2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3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4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5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6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7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8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9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10</a:t>
                      </a:r>
                      <a:endParaRPr lang="en-US" sz="1600" dirty="0"/>
                    </a:p>
                  </a:txBody>
                  <a:tcPr marT="45700" marB="457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007962"/>
              </p:ext>
            </p:extLst>
          </p:nvPr>
        </p:nvGraphicFramePr>
        <p:xfrm>
          <a:off x="1962150" y="5029200"/>
          <a:ext cx="8020050" cy="766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5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1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9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55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55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55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595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595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612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7</a:t>
                      </a:r>
                      <a:endParaRPr lang="en-US" sz="20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5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12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41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10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32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13</a:t>
                      </a:r>
                      <a:endParaRPr lang="en-US" sz="20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9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15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3</a:t>
                      </a:r>
                      <a:endParaRPr lang="en-US" sz="20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1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2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3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4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5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6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7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8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9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10</a:t>
                      </a:r>
                      <a:endParaRPr lang="en-US" sz="1600" dirty="0"/>
                    </a:p>
                  </a:txBody>
                  <a:tcPr marT="45700" marB="457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1981200" y="2362201"/>
            <a:ext cx="762000" cy="838200"/>
            <a:chOff x="838200" y="3657600"/>
            <a:chExt cx="609600" cy="838200"/>
          </a:xfrm>
        </p:grpSpPr>
        <p:sp>
          <p:nvSpPr>
            <p:cNvPr id="6" name="Down Arrow Callout 5"/>
            <p:cNvSpPr/>
            <p:nvPr/>
          </p:nvSpPr>
          <p:spPr>
            <a:xfrm>
              <a:off x="838200" y="3657600"/>
              <a:ext cx="609600" cy="457200"/>
            </a:xfrm>
            <a:prstGeom prst="downArrow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b="1" dirty="0"/>
                <a:t>10</a:t>
              </a:r>
            </a:p>
          </p:txBody>
        </p:sp>
        <p:sp>
          <p:nvSpPr>
            <p:cNvPr id="9" name="Flowchart: Process 8"/>
            <p:cNvSpPr/>
            <p:nvPr/>
          </p:nvSpPr>
          <p:spPr>
            <a:xfrm>
              <a:off x="838200" y="4114800"/>
              <a:ext cx="609600" cy="381000"/>
            </a:xfrm>
            <a:prstGeom prst="flowChartProcess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b="1"/>
            </a:p>
          </p:txBody>
        </p:sp>
      </p:grpSp>
      <p:sp>
        <p:nvSpPr>
          <p:cNvPr id="11" name="Flowchart: Process 10"/>
          <p:cNvSpPr/>
          <p:nvPr/>
        </p:nvSpPr>
        <p:spPr>
          <a:xfrm>
            <a:off x="5181600" y="2819400"/>
            <a:ext cx="762000" cy="381000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10</a:t>
            </a:r>
          </a:p>
        </p:txBody>
      </p: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1981200" y="4572000"/>
            <a:ext cx="762000" cy="838200"/>
            <a:chOff x="838200" y="5384800"/>
            <a:chExt cx="609600" cy="787400"/>
          </a:xfrm>
        </p:grpSpPr>
        <p:sp>
          <p:nvSpPr>
            <p:cNvPr id="8" name="Down Arrow Callout 7"/>
            <p:cNvSpPr/>
            <p:nvPr/>
          </p:nvSpPr>
          <p:spPr>
            <a:xfrm>
              <a:off x="838200" y="5384800"/>
              <a:ext cx="609600" cy="457200"/>
            </a:xfrm>
            <a:prstGeom prst="downArrow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b="1"/>
                <a:t>25</a:t>
              </a:r>
            </a:p>
          </p:txBody>
        </p:sp>
        <p:sp>
          <p:nvSpPr>
            <p:cNvPr id="12" name="Flowchart: Process 11"/>
            <p:cNvSpPr/>
            <p:nvPr/>
          </p:nvSpPr>
          <p:spPr>
            <a:xfrm>
              <a:off x="838200" y="5867400"/>
              <a:ext cx="609600" cy="304800"/>
            </a:xfrm>
            <a:prstGeom prst="flowChartProcess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b="1"/>
            </a:p>
          </p:txBody>
        </p:sp>
      </p:grpSp>
      <p:sp>
        <p:nvSpPr>
          <p:cNvPr id="14" name="Cloud 13"/>
          <p:cNvSpPr/>
          <p:nvPr/>
        </p:nvSpPr>
        <p:spPr>
          <a:xfrm>
            <a:off x="10096500" y="1377155"/>
            <a:ext cx="1524000" cy="10668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Chưa hết mảng</a:t>
            </a:r>
          </a:p>
        </p:txBody>
      </p:sp>
      <p:sp>
        <p:nvSpPr>
          <p:cNvPr id="15" name="Cloud 14"/>
          <p:cNvSpPr/>
          <p:nvPr/>
        </p:nvSpPr>
        <p:spPr>
          <a:xfrm>
            <a:off x="9982200" y="1328736"/>
            <a:ext cx="1752600" cy="1163638"/>
          </a:xfrm>
          <a:prstGeom prst="cloud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/>
              <a:t>Đã tìm thấy tại vị trí 5</a:t>
            </a:r>
          </a:p>
        </p:txBody>
      </p:sp>
      <p:sp>
        <p:nvSpPr>
          <p:cNvPr id="17" name="Cloud 16"/>
          <p:cNvSpPr/>
          <p:nvPr/>
        </p:nvSpPr>
        <p:spPr>
          <a:xfrm>
            <a:off x="10177462" y="3469878"/>
            <a:ext cx="1752600" cy="1066800"/>
          </a:xfrm>
          <a:prstGeom prst="cloud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 err="1"/>
              <a:t>Đã</a:t>
            </a:r>
            <a:r>
              <a:rPr lang="en-US" sz="2000" dirty="0"/>
              <a:t> </a:t>
            </a:r>
            <a:r>
              <a:rPr lang="en-US" sz="2000" dirty="0" err="1"/>
              <a:t>hết</a:t>
            </a:r>
            <a:r>
              <a:rPr lang="en-US" sz="2000" dirty="0"/>
              <a:t> </a:t>
            </a:r>
            <a:r>
              <a:rPr lang="en-US" sz="2000" dirty="0" err="1"/>
              <a:t>mảng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9103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20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100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4.44444E-6 L 0.07083 -0.0018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2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083 -0.00186 L 0.1375 4.44444E-6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1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75 4.44444E-6 L 0.19857 4.44444E-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4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4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857 4.44444E-6 L 0.2681 -0.00186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77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27" presetID="3" presetClass="entr" presetSubtype="10" repeatCount="indefinite" fill="hold" grpId="0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20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100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2.22222E-6 L 0.0681 -0.00185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98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1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458 2.22222E-6 L 0.13125 2.22222E-6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4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477 0.00185 L 0.20143 2.22222E-6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67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75 2.22222E-6 L 0.2625 2.22222E-6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7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643 2.22222E-6 L 0.3431 2.22222E-6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73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3125 2.22222E-6 L 0.38958 2.22222E-6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76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0143 2.22222E-6 L 0.4681 2.22222E-6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79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681 2.22222E-6 L 0.53477 2.22222E-6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82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25 2.22222E-6 L 0.59167 -0.00185 " pathEditMode="relative" rAng="0" ptsTypes="AA">
                                      <p:cBhvr>
                                        <p:cTn id="8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8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0143 -0.00185 L 0.6681 -0.00185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8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1" grpId="0" animBg="1"/>
      <p:bldP spid="14" grpId="0" animBg="1"/>
      <p:bldP spid="14" grpId="1" animBg="1"/>
      <p:bldP spid="15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1076325" y="469899"/>
            <a:ext cx="10287000" cy="6092825"/>
          </a:xfrm>
        </p:spPr>
        <p:txBody>
          <a:bodyPr rtlCol="0">
            <a:noAutofit/>
          </a:bodyPr>
          <a:lstStyle/>
          <a:p>
            <a:pPr marL="0" indent="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05740" indent="-18288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5740" indent="-18288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	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1;         //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dãy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5740" indent="-18288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a[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x,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5740" indent="-182880">
              <a:buClr>
                <a:schemeClr val="accent6">
                  <a:lumMod val="75000"/>
                </a:schemeClr>
              </a:buClr>
              <a:defRPr/>
            </a:pP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x :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Dừng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5740" indent="-182880">
              <a:buClr>
                <a:schemeClr val="accent6">
                  <a:lumMod val="75000"/>
                </a:schemeClr>
              </a:buClr>
              <a:defRPr/>
            </a:pP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!= x :  Sang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5740" indent="-18288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600" b="1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5740" indent="-182880">
              <a:buClr>
                <a:schemeClr val="accent6">
                  <a:lumMod val="75000"/>
                </a:schemeClr>
              </a:buClr>
              <a:defRPr/>
            </a:pP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i+1;      //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5740" indent="-182880">
              <a:buClr>
                <a:schemeClr val="accent6">
                  <a:lumMod val="75000"/>
                </a:schemeClr>
              </a:buClr>
              <a:defRPr/>
            </a:pP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&gt;N: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Hết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Dừng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5740" indent="-18288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Ngược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Lặp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2880">
              <a:buClr>
                <a:schemeClr val="accent6">
                  <a:lumMod val="75000"/>
                </a:schemeClr>
              </a:buClr>
              <a:defRPr/>
            </a:pP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00E49961-A1D0-471A-96C2-95D0BF10C562}" type="slidenum">
              <a:rPr lang="en-US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10515600" cy="830263"/>
          </a:xfrm>
        </p:spPr>
        <p:txBody>
          <a:bodyPr/>
          <a:lstStyle/>
          <a:p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9225"/>
            <a:ext cx="11201400" cy="193357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Ngược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-1</a:t>
            </a: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AC803A-1B25-4D7C-8D52-15653B907192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728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638300" y="584200"/>
            <a:ext cx="8382000" cy="5743575"/>
          </a:xfrm>
        </p:spPr>
        <p:txBody>
          <a:bodyPr rtlCol="0">
            <a:noAutofit/>
          </a:bodyPr>
          <a:lstStyle/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7688" lvl="1" indent="-547688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LinearSearch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a[],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N,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x)</a:t>
            </a:r>
          </a:p>
          <a:p>
            <a:pPr marL="547688" lvl="1" indent="-547688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	</a:t>
            </a:r>
          </a:p>
          <a:p>
            <a:pPr marL="547688" lvl="1" indent="-547688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=0;</a:t>
            </a:r>
          </a:p>
          <a:p>
            <a:pPr marL="547688" lvl="1" indent="-547688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while ((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&lt;N) &amp;&amp; (a[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]!=x ))    </a:t>
            </a:r>
          </a:p>
          <a:p>
            <a:pPr marL="547688" lvl="1" indent="-547688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++;</a:t>
            </a:r>
          </a:p>
          <a:p>
            <a:pPr marL="547688" lvl="1" indent="-547688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if(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==N)	</a:t>
            </a:r>
          </a:p>
          <a:p>
            <a:pPr marL="547688" lvl="1" indent="-547688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	return -1; //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hết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7688" lvl="1" indent="-547688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else	</a:t>
            </a:r>
          </a:p>
          <a:p>
            <a:pPr marL="547688" lvl="1" indent="-547688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return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//a[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khoá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</a:p>
          <a:p>
            <a:pPr marL="547688" lvl="1" indent="-547688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35EFABA2-F8E9-4128-A2B0-996AD72D36B8}" type="slidenum">
              <a:rPr lang="en-US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42898"/>
            <a:ext cx="2667000" cy="1023938"/>
          </a:xfrm>
        </p:spPr>
        <p:txBody>
          <a:bodyPr>
            <a:normAutofit/>
          </a:bodyPr>
          <a:lstStyle/>
          <a:p>
            <a:pPr marL="320040" indent="-320040">
              <a:buClr>
                <a:schemeClr val="accent6">
                  <a:lumMod val="75000"/>
                </a:schemeClr>
              </a:buClr>
              <a:defRPr/>
            </a:pPr>
            <a:r>
              <a:rPr lang="en-US" sz="4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Cải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2152650" y="1595437"/>
            <a:ext cx="7886700" cy="4957763"/>
          </a:xfrm>
        </p:spPr>
        <p:txBody>
          <a:bodyPr rtlCol="0"/>
          <a:lstStyle/>
          <a:p>
            <a:pPr marL="11113" indent="-22225" algn="just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lính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bớt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2880" algn="just">
              <a:buClr>
                <a:schemeClr val="accent6">
                  <a:lumMod val="75000"/>
                </a:schemeClr>
              </a:buCl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Minh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họa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 =10</a:t>
            </a:r>
          </a:p>
          <a:p>
            <a:pPr indent="-182880" algn="just">
              <a:buClr>
                <a:schemeClr val="accent6">
                  <a:lumMod val="75000"/>
                </a:schemeClr>
              </a:buClr>
              <a:defRPr/>
            </a:pPr>
            <a:endParaRPr lang="en-US" dirty="0" smtClean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2880" algn="just">
              <a:buClr>
                <a:schemeClr val="accent6">
                  <a:lumMod val="75000"/>
                </a:schemeClr>
              </a:buClr>
              <a:defRPr/>
            </a:pPr>
            <a:endParaRPr lang="en-US" sz="20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2880" algn="just">
              <a:buClr>
                <a:schemeClr val="accent6">
                  <a:lumMod val="75000"/>
                </a:schemeClr>
              </a:buClr>
              <a:defRPr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2880" algn="just">
              <a:buClr>
                <a:schemeClr val="accent6">
                  <a:lumMod val="75000"/>
                </a:schemeClr>
              </a:buClr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Minh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họa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 = 25</a:t>
            </a:r>
          </a:p>
          <a:p>
            <a:pPr indent="-182880" algn="just">
              <a:buClr>
                <a:schemeClr val="accent6">
                  <a:lumMod val="75000"/>
                </a:schemeClr>
              </a:buClr>
              <a:buNone/>
              <a:defRPr/>
            </a:pPr>
            <a:endParaRPr lang="en-US" dirty="0" smtClean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2880" algn="just">
              <a:buClr>
                <a:schemeClr val="accent6">
                  <a:lumMod val="75000"/>
                </a:schemeClr>
              </a:buClr>
              <a:buNone/>
              <a:defRPr/>
            </a:pPr>
            <a:endParaRPr lang="en-US" dirty="0" smtClean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2880">
              <a:buClr>
                <a:schemeClr val="accent6">
                  <a:lumMod val="75000"/>
                </a:schemeClr>
              </a:buClr>
              <a:defRPr/>
            </a:pPr>
            <a:endParaRPr lang="en-US" dirty="0" smtClean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FDCB422E-C657-41C3-8A2F-E990B530A842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043754"/>
              </p:ext>
            </p:extLst>
          </p:nvPr>
        </p:nvGraphicFramePr>
        <p:xfrm>
          <a:off x="2489202" y="3124200"/>
          <a:ext cx="7886700" cy="766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7</a:t>
                      </a:r>
                      <a:endParaRPr lang="en-US" sz="20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5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12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41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10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32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13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9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15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3</a:t>
                      </a:r>
                      <a:endParaRPr lang="en-US" sz="20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1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2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3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4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5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6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7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8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9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10</a:t>
                      </a:r>
                      <a:endParaRPr lang="en-US" sz="1600" dirty="0"/>
                    </a:p>
                  </a:txBody>
                  <a:tcPr marT="45700" marB="457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2489200" y="2667000"/>
            <a:ext cx="609600" cy="838200"/>
            <a:chOff x="838200" y="3657600"/>
            <a:chExt cx="609600" cy="838200"/>
          </a:xfrm>
        </p:grpSpPr>
        <p:sp>
          <p:nvSpPr>
            <p:cNvPr id="14" name="Down Arrow Callout 13"/>
            <p:cNvSpPr/>
            <p:nvPr/>
          </p:nvSpPr>
          <p:spPr>
            <a:xfrm>
              <a:off x="838200" y="3657600"/>
              <a:ext cx="609600" cy="457200"/>
            </a:xfrm>
            <a:prstGeom prst="downArrow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b="1" dirty="0"/>
                <a:t>10</a:t>
              </a:r>
            </a:p>
          </p:txBody>
        </p:sp>
        <p:sp>
          <p:nvSpPr>
            <p:cNvPr id="15" name="Flowchart: Process 14"/>
            <p:cNvSpPr/>
            <p:nvPr/>
          </p:nvSpPr>
          <p:spPr>
            <a:xfrm>
              <a:off x="838200" y="4114800"/>
              <a:ext cx="609600" cy="381000"/>
            </a:xfrm>
            <a:prstGeom prst="flowChartProcess">
              <a:avLst/>
            </a:prstGeom>
            <a:noFill/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6" name="Flowchart: Process 15"/>
          <p:cNvSpPr/>
          <p:nvPr/>
        </p:nvSpPr>
        <p:spPr>
          <a:xfrm>
            <a:off x="5791200" y="3124200"/>
            <a:ext cx="609600" cy="381000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10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565898"/>
              </p:ext>
            </p:extLst>
          </p:nvPr>
        </p:nvGraphicFramePr>
        <p:xfrm>
          <a:off x="2489200" y="5334000"/>
          <a:ext cx="8089900" cy="766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8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89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89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89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89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89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899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7</a:t>
                      </a:r>
                      <a:endParaRPr lang="en-US" sz="20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5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12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41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10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32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13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9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/>
                        <a:t>15</a:t>
                      </a:r>
                      <a:endParaRPr lang="en-US" sz="20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3</a:t>
                      </a:r>
                      <a:endParaRPr lang="en-US" sz="20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1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2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3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4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5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6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7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8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9</a:t>
                      </a:r>
                      <a:endParaRPr lang="en-US" sz="160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10</a:t>
                      </a:r>
                      <a:endParaRPr lang="en-US" sz="1600" dirty="0"/>
                    </a:p>
                  </a:txBody>
                  <a:tcPr marT="45700" marB="457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10591800" y="5334000"/>
            <a:ext cx="762000" cy="761999"/>
            <a:chOff x="6718300" y="4744720"/>
            <a:chExt cx="762000" cy="762369"/>
          </a:xfrm>
        </p:grpSpPr>
        <p:sp>
          <p:nvSpPr>
            <p:cNvPr id="10" name="Flowchart: Process 9"/>
            <p:cNvSpPr/>
            <p:nvPr/>
          </p:nvSpPr>
          <p:spPr>
            <a:xfrm>
              <a:off x="6731000" y="4744720"/>
              <a:ext cx="533400" cy="320831"/>
            </a:xfrm>
            <a:prstGeom prst="flowChartProcess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25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718300" y="5092551"/>
              <a:ext cx="762000" cy="4145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11</a:t>
              </a:r>
            </a:p>
          </p:txBody>
        </p:sp>
      </p:grp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2489200" y="4876800"/>
            <a:ext cx="609600" cy="787400"/>
            <a:chOff x="838200" y="5384800"/>
            <a:chExt cx="609600" cy="787400"/>
          </a:xfrm>
        </p:grpSpPr>
        <p:sp>
          <p:nvSpPr>
            <p:cNvPr id="19" name="Down Arrow Callout 18"/>
            <p:cNvSpPr/>
            <p:nvPr/>
          </p:nvSpPr>
          <p:spPr>
            <a:xfrm>
              <a:off x="838200" y="5384800"/>
              <a:ext cx="609600" cy="457200"/>
            </a:xfrm>
            <a:prstGeom prst="downArrow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b="1" dirty="0"/>
                <a:t>25</a:t>
              </a:r>
            </a:p>
          </p:txBody>
        </p:sp>
        <p:sp>
          <p:nvSpPr>
            <p:cNvPr id="20" name="Flowchart: Process 19"/>
            <p:cNvSpPr/>
            <p:nvPr/>
          </p:nvSpPr>
          <p:spPr>
            <a:xfrm>
              <a:off x="838200" y="5867400"/>
              <a:ext cx="609600" cy="304800"/>
            </a:xfrm>
            <a:prstGeom prst="flowChartProcess">
              <a:avLst/>
            </a:prstGeom>
            <a:noFill/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1" name="Rectangle 30"/>
          <p:cNvSpPr/>
          <p:nvPr/>
        </p:nvSpPr>
        <p:spPr>
          <a:xfrm>
            <a:off x="10591800" y="5314951"/>
            <a:ext cx="762000" cy="398462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/>
              <a:t>25</a:t>
            </a:r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10375900" y="3124200"/>
            <a:ext cx="762000" cy="728662"/>
            <a:chOff x="6705600" y="3429000"/>
            <a:chExt cx="558800" cy="728662"/>
          </a:xfrm>
        </p:grpSpPr>
        <p:sp>
          <p:nvSpPr>
            <p:cNvPr id="7" name="Flowchart: Process 6"/>
            <p:cNvSpPr/>
            <p:nvPr/>
          </p:nvSpPr>
          <p:spPr>
            <a:xfrm>
              <a:off x="6731000" y="3429000"/>
              <a:ext cx="533400" cy="381000"/>
            </a:xfrm>
            <a:prstGeom prst="flowChartProcess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b="1" dirty="0">
                  <a:solidFill>
                    <a:schemeClr val="bg1"/>
                  </a:solidFill>
                </a:rPr>
                <a:t>10</a:t>
              </a:r>
            </a:p>
          </p:txBody>
        </p:sp>
        <p:sp>
          <p:nvSpPr>
            <p:cNvPr id="22" name="Rectangle 21"/>
            <p:cNvSpPr/>
            <p:nvPr/>
          </p:nvSpPr>
          <p:spPr bwMode="auto">
            <a:xfrm>
              <a:off x="6705600" y="3809999"/>
              <a:ext cx="533400" cy="3476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44444E-6 L 0.07083 -0.00185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2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083 -0.00185 L 0.1375 -4.44444E-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9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75 -4.44444E-6 L 0.19861 -4.44444E-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5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2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861 -2.59259E-6 L 0.27361 -2.59259E-6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5" presetID="3" presetClass="entr" presetSubtype="10" repeatCount="indefinite" fill="hold" grpId="0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59259E-6 L 0.06806 -0.00185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03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806 -2.59259E-6 L 0.13472 -2.59259E-6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3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472 0.00185 L 0.20139 -2.59259E-6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6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139 -2.59259E-6 L 0.27639 -2.59259E-6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49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639 -2.59259E-6 L 0.34306 -2.59259E-6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52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306 -2.59259E-6 L 0.40139 -2.59259E-6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5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0139 -2.59259E-6 L 0.46806 -2.59259E-6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5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6806 -2.59259E-6 L 0.53472 -2.59259E-6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61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3472 -2.59259E-6 L 0.60139 -0.00185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64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0208 -0.00185 L 0.66875 -0.00185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67" presetID="3" presetClass="entr" presetSubtype="10" repeatCount="indefinite" fill="hold" grpId="0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533400"/>
            <a:ext cx="9601200" cy="5029200"/>
          </a:xfrm>
        </p:spPr>
        <p:txBody>
          <a:bodyPr rtlCol="0">
            <a:noAutofit/>
          </a:bodyPr>
          <a:lstStyle/>
          <a:p>
            <a:pPr marL="274320" indent="-274320" algn="just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63550" indent="-463550" algn="just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LinearSearch2(</a:t>
            </a:r>
            <a:r>
              <a:rPr lang="en-US" sz="3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a[],</a:t>
            </a:r>
            <a:r>
              <a:rPr lang="en-US" sz="3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N,int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x)</a:t>
            </a:r>
          </a:p>
          <a:p>
            <a:pPr marL="463550" lvl="1" indent="-46355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8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463550" lvl="1" indent="-46355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=0;	</a:t>
            </a:r>
          </a:p>
          <a:p>
            <a:pPr marL="463550" lvl="1" indent="-46355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a[N] = x; // 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63550" lvl="1" indent="-46355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800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while 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(a[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]!=x )	</a:t>
            </a:r>
          </a:p>
          <a:p>
            <a:pPr marL="463550" lvl="1" indent="-46355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++; </a:t>
            </a:r>
          </a:p>
          <a:p>
            <a:pPr marL="463550" lvl="1" indent="-46355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if (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==N)</a:t>
            </a:r>
          </a:p>
          <a:p>
            <a:pPr marL="463550" lvl="1" indent="-46355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 	return -1; // 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hết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63550" lvl="1" indent="-46355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else </a:t>
            </a:r>
          </a:p>
          <a:p>
            <a:pPr marL="463550" lvl="1" indent="-46355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return 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	// 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63550" lvl="1" indent="-46355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pPr marL="274320" indent="-27432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Độ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phức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n: T(n)=O(n)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1C81887D-60E3-4716-9545-21DD93B55691}" type="slidenum">
              <a:rPr lang="en-US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10515600" cy="701675"/>
          </a:xfrm>
        </p:spPr>
        <p:txBody>
          <a:bodyPr>
            <a:normAutofit/>
          </a:bodyPr>
          <a:lstStyle/>
          <a:p>
            <a:pPr marL="320040" indent="-320040">
              <a:buClr>
                <a:schemeClr val="accent6">
                  <a:lumMod val="75000"/>
                </a:schemeClr>
              </a:buClr>
              <a:defRPr/>
            </a:pPr>
            <a:r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Tìm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nhị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(Binary Search)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219200" y="1235075"/>
            <a:ext cx="10363200" cy="4651375"/>
          </a:xfrm>
        </p:spPr>
        <p:txBody>
          <a:bodyPr rtlCol="0">
            <a:normAutofit/>
          </a:bodyPr>
          <a:lstStyle/>
          <a:p>
            <a:pPr indent="-182880">
              <a:lnSpc>
                <a:spcPct val="150000"/>
              </a:lnSpc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Ý </a:t>
            </a:r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-182880">
              <a:lnSpc>
                <a:spcPct val="150000"/>
              </a:lnSpc>
              <a:buClr>
                <a:schemeClr val="accent6">
                  <a:lumMod val="75000"/>
                </a:schemeClr>
              </a:buClr>
              <a:defRPr/>
            </a:pP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dãy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sz="3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2880" algn="just">
              <a:lnSpc>
                <a:spcPct val="150000"/>
              </a:lnSpc>
              <a:buClr>
                <a:schemeClr val="accent6">
                  <a:lumMod val="75000"/>
                </a:schemeClr>
              </a:buClr>
              <a:defRPr/>
            </a:pP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dãy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223D7235-1B67-4358-B43B-B124376F82FB}" type="slidenum">
              <a:rPr lang="en-US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2152650" y="1600201"/>
            <a:ext cx="7886700" cy="4576763"/>
          </a:xfrm>
        </p:spPr>
        <p:txBody>
          <a:bodyPr rtlCol="0"/>
          <a:lstStyle/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Minh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họa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 = 41</a:t>
            </a:r>
          </a:p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endParaRPr lang="en-US" dirty="0" smtClean="0"/>
          </a:p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endParaRPr lang="en-US" dirty="0" smtClean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56B6729B-5AEE-49CE-8922-B65D9483D64D}" type="slidenum">
              <a:rPr lang="en-US"/>
              <a:pPr>
                <a:defRPr/>
              </a:pPr>
              <a:t>12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2667000" y="3124200"/>
          <a:ext cx="6096000" cy="741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14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16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19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22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41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46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51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63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71</a:t>
                      </a:r>
                      <a:endParaRPr lang="en-US" sz="180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Down Arrow Callout 5"/>
          <p:cNvSpPr/>
          <p:nvPr/>
        </p:nvSpPr>
        <p:spPr>
          <a:xfrm>
            <a:off x="5105400" y="2667000"/>
            <a:ext cx="609600" cy="4572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/>
              <a:t>x</a:t>
            </a:r>
          </a:p>
        </p:txBody>
      </p:sp>
      <p:sp>
        <p:nvSpPr>
          <p:cNvPr id="13" name="Up Arrow 12"/>
          <p:cNvSpPr/>
          <p:nvPr/>
        </p:nvSpPr>
        <p:spPr>
          <a:xfrm>
            <a:off x="5105400" y="3886200"/>
            <a:ext cx="609600" cy="914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2667000" y="3124200"/>
          <a:ext cx="6096000" cy="741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14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16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19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22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41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46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51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63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71</a:t>
                      </a:r>
                      <a:endParaRPr lang="en-US" sz="180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Up Arrow 10"/>
          <p:cNvSpPr/>
          <p:nvPr/>
        </p:nvSpPr>
        <p:spPr>
          <a:xfrm>
            <a:off x="2667000" y="3886200"/>
            <a:ext cx="609600" cy="914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l</a:t>
            </a:r>
          </a:p>
        </p:txBody>
      </p:sp>
      <p:sp>
        <p:nvSpPr>
          <p:cNvPr id="15" name="Up Arrow 14"/>
          <p:cNvSpPr/>
          <p:nvPr/>
        </p:nvSpPr>
        <p:spPr>
          <a:xfrm>
            <a:off x="6910387" y="3886200"/>
            <a:ext cx="609600" cy="914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m</a:t>
            </a:r>
          </a:p>
        </p:txBody>
      </p:sp>
      <p:sp>
        <p:nvSpPr>
          <p:cNvPr id="16" name="Down Arrow Callout 15"/>
          <p:cNvSpPr/>
          <p:nvPr/>
        </p:nvSpPr>
        <p:spPr>
          <a:xfrm>
            <a:off x="6934200" y="2667000"/>
            <a:ext cx="609600" cy="4572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/>
              <a:t>x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/>
          </p:nvPr>
        </p:nvGraphicFramePr>
        <p:xfrm>
          <a:off x="2667000" y="3124200"/>
          <a:ext cx="6096000" cy="741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14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16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19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22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41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46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51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63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71</a:t>
                      </a:r>
                      <a:endParaRPr lang="en-US" sz="1800" dirty="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Up Arrow 11"/>
          <p:cNvSpPr/>
          <p:nvPr/>
        </p:nvSpPr>
        <p:spPr>
          <a:xfrm>
            <a:off x="8153400" y="3886200"/>
            <a:ext cx="609600" cy="914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r</a:t>
            </a:r>
          </a:p>
        </p:txBody>
      </p:sp>
      <p:sp>
        <p:nvSpPr>
          <p:cNvPr id="18" name="Up Arrow 17"/>
          <p:cNvSpPr/>
          <p:nvPr/>
        </p:nvSpPr>
        <p:spPr>
          <a:xfrm>
            <a:off x="5715000" y="4953000"/>
            <a:ext cx="609600" cy="914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m</a:t>
            </a:r>
          </a:p>
        </p:txBody>
      </p:sp>
      <p:sp>
        <p:nvSpPr>
          <p:cNvPr id="19" name="Down Arrow Callout 18"/>
          <p:cNvSpPr/>
          <p:nvPr/>
        </p:nvSpPr>
        <p:spPr>
          <a:xfrm>
            <a:off x="5715000" y="2667000"/>
            <a:ext cx="609600" cy="4572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/>
              <a:t>x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2667000" y="3124200"/>
          <a:ext cx="6096000" cy="741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14</a:t>
                      </a:r>
                      <a:endParaRPr lang="en-US" sz="1800" dirty="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16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19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22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41</a:t>
                      </a:r>
                      <a:endParaRPr lang="en-US" sz="1800"/>
                    </a:p>
                  </a:txBody>
                  <a:tcPr marT="45700" marB="457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46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51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63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71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Cloud 20"/>
          <p:cNvSpPr/>
          <p:nvPr/>
        </p:nvSpPr>
        <p:spPr>
          <a:xfrm>
            <a:off x="9429750" y="2324100"/>
            <a:ext cx="2438400" cy="11430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Tìm thấy x tại vị trí 6</a:t>
            </a:r>
          </a:p>
        </p:txBody>
      </p:sp>
    </p:spTree>
    <p:extLst>
      <p:ext uri="{BB962C8B-B14F-4D97-AF65-F5344CB8AC3E}">
        <p14:creationId xmlns:p14="http://schemas.microsoft.com/office/powerpoint/2010/main" val="1471370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1.11111E-6 L 0.25208 -3.33333E-6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04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045E-16 -3.33333E-6 L -0.15 -3.33333E-6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13" grpId="0" animBg="1"/>
      <p:bldP spid="13" grpId="1" animBg="1"/>
      <p:bldP spid="11" grpId="0" animBg="1"/>
      <p:bldP spid="11" grpId="1" animBg="1"/>
      <p:bldP spid="15" grpId="0" animBg="1"/>
      <p:bldP spid="15" grpId="1" animBg="1"/>
      <p:bldP spid="16" grpId="0" animBg="1"/>
      <p:bldP spid="16" grpId="1" animBg="1"/>
      <p:bldP spid="12" grpId="0" animBg="1"/>
      <p:bldP spid="12" grpId="1" animBg="1"/>
      <p:bldP spid="18" grpId="0" animBg="1"/>
      <p:bldP spid="19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2095500" y="1154112"/>
            <a:ext cx="7886700" cy="4576763"/>
          </a:xfrm>
        </p:spPr>
        <p:txBody>
          <a:bodyPr rtlCol="0">
            <a:normAutofit/>
          </a:bodyPr>
          <a:lstStyle/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Minh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họa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 = 45</a:t>
            </a:r>
          </a:p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F377658C-3F33-4C68-B1B5-EF2D1D11E448}" type="slidenum">
              <a:rPr lang="en-US"/>
              <a:pPr>
                <a:defRPr/>
              </a:pPr>
              <a:t>13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2590800" y="2819400"/>
          <a:ext cx="6096000" cy="741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14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16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19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22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41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46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51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63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71</a:t>
                      </a:r>
                      <a:endParaRPr lang="en-US" sz="180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Down Arrow Callout 5"/>
          <p:cNvSpPr/>
          <p:nvPr/>
        </p:nvSpPr>
        <p:spPr>
          <a:xfrm>
            <a:off x="5029200" y="2362200"/>
            <a:ext cx="609600" cy="4572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/>
              <a:t>x</a:t>
            </a:r>
          </a:p>
        </p:txBody>
      </p:sp>
      <p:sp>
        <p:nvSpPr>
          <p:cNvPr id="13" name="Up Arrow 12"/>
          <p:cNvSpPr/>
          <p:nvPr/>
        </p:nvSpPr>
        <p:spPr>
          <a:xfrm>
            <a:off x="5029200" y="3581400"/>
            <a:ext cx="609600" cy="914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2590800" y="2819400"/>
          <a:ext cx="6096000" cy="741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14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16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19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22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41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46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51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63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71</a:t>
                      </a:r>
                      <a:endParaRPr lang="en-US" sz="180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Up Arrow 14"/>
          <p:cNvSpPr/>
          <p:nvPr/>
        </p:nvSpPr>
        <p:spPr>
          <a:xfrm>
            <a:off x="6858000" y="3581400"/>
            <a:ext cx="609600" cy="914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m</a:t>
            </a:r>
          </a:p>
        </p:txBody>
      </p:sp>
      <p:sp>
        <p:nvSpPr>
          <p:cNvPr id="16" name="Down Arrow Callout 15"/>
          <p:cNvSpPr/>
          <p:nvPr/>
        </p:nvSpPr>
        <p:spPr>
          <a:xfrm>
            <a:off x="6858000" y="2362200"/>
            <a:ext cx="609600" cy="4572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/>
              <a:t>x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/>
          </p:nvPr>
        </p:nvGraphicFramePr>
        <p:xfrm>
          <a:off x="2590800" y="2819400"/>
          <a:ext cx="6096000" cy="741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14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16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19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22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41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46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51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63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71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Up Arrow 11"/>
          <p:cNvSpPr/>
          <p:nvPr/>
        </p:nvSpPr>
        <p:spPr>
          <a:xfrm>
            <a:off x="8077200" y="3581400"/>
            <a:ext cx="609600" cy="914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r</a:t>
            </a:r>
          </a:p>
        </p:txBody>
      </p:sp>
      <p:sp>
        <p:nvSpPr>
          <p:cNvPr id="18" name="Up Arrow 17"/>
          <p:cNvSpPr/>
          <p:nvPr/>
        </p:nvSpPr>
        <p:spPr>
          <a:xfrm>
            <a:off x="5638800" y="4495800"/>
            <a:ext cx="609600" cy="914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m</a:t>
            </a:r>
          </a:p>
        </p:txBody>
      </p:sp>
      <p:sp>
        <p:nvSpPr>
          <p:cNvPr id="19" name="Down Arrow Callout 18"/>
          <p:cNvSpPr/>
          <p:nvPr/>
        </p:nvSpPr>
        <p:spPr>
          <a:xfrm>
            <a:off x="5638800" y="2362200"/>
            <a:ext cx="609600" cy="4572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/>
              <a:t>x</a:t>
            </a:r>
          </a:p>
        </p:txBody>
      </p:sp>
      <p:sp>
        <p:nvSpPr>
          <p:cNvPr id="11" name="Up Arrow 10"/>
          <p:cNvSpPr/>
          <p:nvPr/>
        </p:nvSpPr>
        <p:spPr>
          <a:xfrm>
            <a:off x="2590800" y="3581400"/>
            <a:ext cx="609600" cy="914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l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/>
          </p:nvPr>
        </p:nvGraphicFramePr>
        <p:xfrm>
          <a:off x="2590800" y="2827338"/>
          <a:ext cx="6096000" cy="741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14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16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19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22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41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46</a:t>
                      </a:r>
                      <a:endParaRPr lang="en-US" sz="18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51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63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71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Up Arrow 21"/>
          <p:cNvSpPr/>
          <p:nvPr/>
        </p:nvSpPr>
        <p:spPr>
          <a:xfrm>
            <a:off x="6248400" y="5410200"/>
            <a:ext cx="609600" cy="9144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m</a:t>
            </a:r>
          </a:p>
        </p:txBody>
      </p:sp>
      <p:sp>
        <p:nvSpPr>
          <p:cNvPr id="23" name="Down Arrow Callout 22"/>
          <p:cNvSpPr/>
          <p:nvPr/>
        </p:nvSpPr>
        <p:spPr>
          <a:xfrm>
            <a:off x="6248400" y="2362200"/>
            <a:ext cx="609600" cy="457200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/>
              <a:t>x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/>
          </p:nvPr>
        </p:nvGraphicFramePr>
        <p:xfrm>
          <a:off x="2590800" y="2827338"/>
          <a:ext cx="6096000" cy="741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3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14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16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19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22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41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46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51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63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71</a:t>
                      </a:r>
                      <a:endParaRPr lang="en-US" sz="1800"/>
                    </a:p>
                  </a:txBody>
                  <a:tcPr marT="45700" marB="4570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Cloud 24"/>
          <p:cNvSpPr/>
          <p:nvPr/>
        </p:nvSpPr>
        <p:spPr>
          <a:xfrm>
            <a:off x="9067800" y="1928812"/>
            <a:ext cx="3124200" cy="1119188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/>
              <a:t>l &gt; r: Kết thúc: Không tìm thấy</a:t>
            </a:r>
          </a:p>
        </p:txBody>
      </p:sp>
    </p:spTree>
    <p:extLst>
      <p:ext uri="{BB962C8B-B14F-4D97-AF65-F5344CB8AC3E}">
        <p14:creationId xmlns:p14="http://schemas.microsoft.com/office/powerpoint/2010/main" val="31332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1.11111E-6 L 0.25208 1.11111E-6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1.48148E-6 L -0.15 1.11111E-6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00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63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3125 1.11111E-6 L 0.39792 0.13333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33" y="6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35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792 1.11111E-6 L -0.25 -0.00162 " pathEditMode="relative" rAng="0" ptsTypes="AA">
                                      <p:cBhvr>
                                        <p:cTn id="11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04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13" grpId="0" animBg="1"/>
      <p:bldP spid="13" grpId="1" animBg="1"/>
      <p:bldP spid="15" grpId="0" animBg="1"/>
      <p:bldP spid="15" grpId="1" animBg="1"/>
      <p:bldP spid="16" grpId="0" animBg="1"/>
      <p:bldP spid="16" grpId="1" animBg="1"/>
      <p:bldP spid="12" grpId="0" animBg="1"/>
      <p:bldP spid="12" grpId="1" animBg="1"/>
      <p:bldP spid="12" grpId="2" animBg="1"/>
      <p:bldP spid="18" grpId="0" animBg="1"/>
      <p:bldP spid="18" grpId="1" animBg="1"/>
      <p:bldP spid="19" grpId="0" animBg="1"/>
      <p:bldP spid="19" grpId="1" animBg="1"/>
      <p:bldP spid="11" grpId="0" animBg="1"/>
      <p:bldP spid="11" grpId="1" animBg="1"/>
      <p:bldP spid="11" grpId="2" animBg="1"/>
      <p:bldP spid="22" grpId="0" animBg="1"/>
      <p:bldP spid="22" grpId="1" animBg="1"/>
      <p:bldP spid="23" grpId="0" animBg="1"/>
      <p:bldP spid="23" grpId="1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565150"/>
            <a:ext cx="9753600" cy="5791200"/>
          </a:xfrm>
        </p:spPr>
        <p:txBody>
          <a:bodyPr rtlCol="0">
            <a:noAutofit/>
          </a:bodyPr>
          <a:lstStyle/>
          <a:p>
            <a:pPr marL="274320" indent="-27432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lvl="1" indent="-46355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u="sng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u="sng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	left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1; right = N; //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63550" lvl="1" indent="-46355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2: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63550" lvl="2" indent="-463550">
              <a:buClr>
                <a:schemeClr val="accent1">
                  <a:shade val="75000"/>
                </a:schemeClr>
              </a:buClr>
              <a:buNone/>
              <a:defRPr/>
            </a:pP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mid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left+right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)/2; //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mốc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63550" lvl="2" indent="-463550">
              <a:buClr>
                <a:schemeClr val="accent1">
                  <a:shade val="75000"/>
                </a:schemeClr>
              </a:buClr>
              <a:buNone/>
              <a:defRPr/>
            </a:pP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So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a[mid]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3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 marL="342900" lvl="2" indent="-342900">
              <a:buClr>
                <a:schemeClr val="accent1">
                  <a:shade val="75000"/>
                </a:schemeClr>
              </a:buClr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a[mid] = x: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Dừng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2" indent="-342900">
              <a:buClr>
                <a:schemeClr val="accent1">
                  <a:shade val="75000"/>
                </a:schemeClr>
              </a:buClr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a[mid] &gt; x: 	//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dãy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 a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 -1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indent="0">
              <a:buClr>
                <a:schemeClr val="accent1">
                  <a:shade val="75000"/>
                </a:schemeClr>
              </a:buClr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right =mid - 1;</a:t>
            </a:r>
          </a:p>
          <a:p>
            <a:pPr marL="342900" lvl="2" indent="-342900">
              <a:buClr>
                <a:schemeClr val="accent1">
                  <a:shade val="75000"/>
                </a:schemeClr>
              </a:buClr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a[mid] &lt; x: 	//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dãy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a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 +1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.. a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2" indent="0">
              <a:buClr>
                <a:schemeClr val="accent1">
                  <a:shade val="75000"/>
                </a:schemeClr>
              </a:buClr>
              <a:buNone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left = mid + 1; </a:t>
            </a:r>
          </a:p>
          <a:p>
            <a:pPr marL="463550" lvl="1" indent="-46355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3: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63550" lvl="1" indent="-46355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left &lt;= right //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63550" lvl="1" indent="-46355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Lặp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2.</a:t>
            </a:r>
          </a:p>
          <a:p>
            <a:pPr marL="463550" lvl="1" indent="-46355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Ngược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Dừng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//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Ðã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hết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43D92E20-66BE-4A6C-90A4-95FC9F128508}" type="slidenum">
              <a:rPr lang="en-US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609600"/>
            <a:ext cx="8058150" cy="6019800"/>
          </a:xfrm>
        </p:spPr>
        <p:txBody>
          <a:bodyPr rtlCol="0">
            <a:noAutofit/>
          </a:bodyPr>
          <a:lstStyle/>
          <a:p>
            <a:pPr marL="274320" indent="-27432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BinarySearch</a:t>
            </a: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a[],</a:t>
            </a:r>
            <a:r>
              <a:rPr lang="en-US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N,int</a:t>
            </a: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 )</a:t>
            </a:r>
          </a:p>
          <a:p>
            <a:pPr marL="274320" indent="-27432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		</a:t>
            </a:r>
            <a:r>
              <a:rPr lang="en-US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left =0; right </a:t>
            </a:r>
            <a:r>
              <a:rPr lang="en-US" sz="2000" b="1" i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N;</a:t>
            </a: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mid;</a:t>
            </a:r>
            <a:b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(left &lt;= right</a:t>
            </a: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{	</a:t>
            </a:r>
          </a:p>
          <a:p>
            <a:pPr marL="274320" indent="-27432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mid = (left + right)/2;</a:t>
            </a:r>
            <a:b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if (x == a[mid])	</a:t>
            </a:r>
          </a:p>
          <a:p>
            <a:pPr marL="274320" indent="-27432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return mid;//</a:t>
            </a:r>
            <a:r>
              <a:rPr lang="en-US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en-US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mid </a:t>
            </a:r>
          </a:p>
          <a:p>
            <a:pPr marL="274320" indent="-27432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if (x &lt; a[mid]) </a:t>
            </a:r>
          </a:p>
          <a:p>
            <a:pPr marL="274320" indent="-27432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right = mid -1;</a:t>
            </a:r>
          </a:p>
          <a:p>
            <a:pPr marL="274320" indent="-27432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else</a:t>
            </a:r>
            <a:b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left = mid +1;</a:t>
            </a:r>
          </a:p>
          <a:p>
            <a:pPr marL="274320" indent="-27432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274320" indent="-27432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	return -1; // </a:t>
            </a:r>
            <a:r>
              <a:rPr lang="en-US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hết</a:t>
            </a: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dãy</a:t>
            </a: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</a:p>
          <a:p>
            <a:pPr marL="274320" indent="-27432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 </a:t>
            </a:r>
          </a:p>
          <a:p>
            <a:pPr marL="274320" indent="-27432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phức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n: T(n)=O(log</a:t>
            </a:r>
            <a:r>
              <a:rPr lang="en-US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n)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7F667DF-F526-4243-A889-036DED70F949}" type="slidenum">
              <a:rPr lang="en-US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162800" cy="1050924"/>
          </a:xfrm>
        </p:spPr>
        <p:txBody>
          <a:bodyPr>
            <a:normAutofit/>
          </a:bodyPr>
          <a:lstStyle/>
          <a:p>
            <a:pPr marL="320040" indent="-320040">
              <a:buClr>
                <a:schemeClr val="accent6">
                  <a:lumMod val="75000"/>
                </a:schemeClr>
              </a:buClr>
              <a:defRPr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 minh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họa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2138362" y="1384299"/>
            <a:ext cx="7848600" cy="3706814"/>
          </a:xfrm>
        </p:spPr>
        <p:txBody>
          <a:bodyPr rtlCol="0">
            <a:normAutofit/>
          </a:bodyPr>
          <a:lstStyle/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 smtClean="0"/>
              <a:t>#include &lt;</a:t>
            </a:r>
            <a:r>
              <a:rPr lang="en-US" dirty="0" err="1" smtClean="0"/>
              <a:t>iostream.h</a:t>
            </a:r>
            <a:r>
              <a:rPr lang="en-US" dirty="0" smtClean="0"/>
              <a:t>&gt;   </a:t>
            </a:r>
          </a:p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 smtClean="0"/>
              <a:t>#include&lt;</a:t>
            </a:r>
            <a:r>
              <a:rPr lang="en-US" dirty="0" err="1" smtClean="0"/>
              <a:t>stdlib.h</a:t>
            </a:r>
            <a:r>
              <a:rPr lang="en-US" dirty="0" smtClean="0"/>
              <a:t>&gt;    </a:t>
            </a:r>
          </a:p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 smtClean="0"/>
              <a:t>#include&lt;</a:t>
            </a:r>
            <a:r>
              <a:rPr lang="en-US" dirty="0" err="1" smtClean="0"/>
              <a:t>time.h</a:t>
            </a:r>
            <a:r>
              <a:rPr lang="en-US" dirty="0" smtClean="0"/>
              <a:t>&gt;</a:t>
            </a:r>
          </a:p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 smtClean="0"/>
              <a:t>#define MAX 1000</a:t>
            </a:r>
          </a:p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 smtClean="0"/>
              <a:t>void </a:t>
            </a:r>
            <a:r>
              <a:rPr lang="en-US" dirty="0" err="1" smtClean="0"/>
              <a:t>TaoMang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a[], </a:t>
            </a:r>
            <a:r>
              <a:rPr lang="en-US" dirty="0" err="1" smtClean="0"/>
              <a:t>int</a:t>
            </a:r>
            <a:r>
              <a:rPr lang="en-US" dirty="0" smtClean="0"/>
              <a:t> N);</a:t>
            </a:r>
          </a:p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 smtClean="0"/>
              <a:t>void </a:t>
            </a:r>
            <a:r>
              <a:rPr lang="en-US" dirty="0" err="1" smtClean="0"/>
              <a:t>XuatMang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a[], </a:t>
            </a:r>
            <a:r>
              <a:rPr lang="en-US" dirty="0" err="1" smtClean="0"/>
              <a:t>int</a:t>
            </a:r>
            <a:r>
              <a:rPr lang="en-US" dirty="0" smtClean="0"/>
              <a:t> N);</a:t>
            </a:r>
          </a:p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LinearSearch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a[], </a:t>
            </a:r>
            <a:r>
              <a:rPr lang="en-US" dirty="0" err="1" smtClean="0"/>
              <a:t>int</a:t>
            </a:r>
            <a:r>
              <a:rPr lang="en-US" dirty="0" smtClean="0"/>
              <a:t> N, </a:t>
            </a:r>
            <a:r>
              <a:rPr lang="en-US" dirty="0" err="1" smtClean="0"/>
              <a:t>int</a:t>
            </a:r>
            <a:r>
              <a:rPr lang="en-US" smtClean="0"/>
              <a:t> x);</a:t>
            </a:r>
            <a:endParaRPr lang="en-US" dirty="0" smtClean="0"/>
          </a:p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endParaRPr lang="en-US" dirty="0" smtClean="0"/>
          </a:p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endParaRPr lang="en-US" dirty="0" smtClean="0"/>
          </a:p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FA8BD2-CB51-4F03-8480-41B4789C2D17}" type="slidenum">
              <a:rPr lang="en-US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1905000" y="457200"/>
            <a:ext cx="8229600" cy="6781800"/>
          </a:xfrm>
        </p:spPr>
        <p:txBody>
          <a:bodyPr rtlCol="0">
            <a:normAutofit/>
          </a:bodyPr>
          <a:lstStyle/>
          <a:p>
            <a:pPr marL="474663" indent="-485775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400" b="1" dirty="0" smtClean="0"/>
              <a:t>void main()</a:t>
            </a:r>
          </a:p>
          <a:p>
            <a:pPr marL="474663" indent="-485775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400" b="1" dirty="0" smtClean="0"/>
              <a:t>{	</a:t>
            </a:r>
          </a:p>
          <a:p>
            <a:pPr marL="474663" indent="-485775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400" b="1" dirty="0"/>
              <a:t>	</a:t>
            </a:r>
            <a:r>
              <a:rPr lang="en-US" sz="2400" b="1" dirty="0" err="1" smtClean="0"/>
              <a:t>srand</a:t>
            </a:r>
            <a:r>
              <a:rPr lang="en-US" sz="2400" b="1" dirty="0" smtClean="0"/>
              <a:t>((</a:t>
            </a:r>
            <a:r>
              <a:rPr lang="en-US" sz="2400" b="1" dirty="0" err="1" smtClean="0"/>
              <a:t>usigned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int</a:t>
            </a:r>
            <a:r>
              <a:rPr lang="en-US" sz="2400" b="1" dirty="0" smtClean="0"/>
              <a:t>) time (NULL));</a:t>
            </a:r>
          </a:p>
          <a:p>
            <a:pPr marL="474663" indent="-485775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400" b="1" dirty="0" smtClean="0"/>
              <a:t>	</a:t>
            </a:r>
            <a:r>
              <a:rPr lang="en-US" sz="2400" b="1" dirty="0" err="1" smtClean="0"/>
              <a:t>int</a:t>
            </a:r>
            <a:r>
              <a:rPr lang="en-US" sz="2400" b="1" dirty="0" smtClean="0"/>
              <a:t> a[MAX], N = 20, x, </a:t>
            </a:r>
            <a:r>
              <a:rPr lang="en-US" sz="2400" b="1" dirty="0" err="1" smtClean="0"/>
              <a:t>kq</a:t>
            </a:r>
            <a:r>
              <a:rPr lang="en-US" sz="2400" b="1" dirty="0" smtClean="0"/>
              <a:t>;</a:t>
            </a:r>
          </a:p>
          <a:p>
            <a:pPr marL="474663" indent="-485775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400" b="1" dirty="0" smtClean="0"/>
              <a:t>	</a:t>
            </a:r>
            <a:r>
              <a:rPr lang="en-US" sz="2400" b="1" dirty="0" err="1" smtClean="0"/>
              <a:t>TaoMang</a:t>
            </a:r>
            <a:r>
              <a:rPr lang="en-US" sz="2400" b="1" dirty="0" smtClean="0"/>
              <a:t>(a, N);			</a:t>
            </a:r>
          </a:p>
          <a:p>
            <a:pPr marL="474663" indent="-485775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400" b="1" dirty="0"/>
              <a:t>	</a:t>
            </a:r>
            <a:r>
              <a:rPr lang="en-US" sz="2400" b="1" dirty="0" err="1" smtClean="0"/>
              <a:t>XuatMang</a:t>
            </a:r>
            <a:r>
              <a:rPr lang="en-US" sz="2400" b="1" dirty="0" smtClean="0"/>
              <a:t>(a, N);</a:t>
            </a:r>
          </a:p>
          <a:p>
            <a:pPr marL="474663" indent="-485775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400" b="1" dirty="0" smtClean="0"/>
              <a:t>	</a:t>
            </a:r>
            <a:r>
              <a:rPr lang="en-US" sz="2400" b="1" dirty="0" err="1" smtClean="0"/>
              <a:t>cout</a:t>
            </a:r>
            <a:r>
              <a:rPr lang="en-US" sz="2400" b="1" dirty="0" smtClean="0"/>
              <a:t>&lt;&lt;“</a:t>
            </a:r>
            <a:r>
              <a:rPr lang="en-US" sz="2400" b="1" dirty="0" err="1" smtClean="0"/>
              <a:t>Nhap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gia</a:t>
            </a:r>
            <a:r>
              <a:rPr lang="en-US" sz="2400" b="1" dirty="0" smtClean="0"/>
              <a:t> tri can </a:t>
            </a:r>
            <a:r>
              <a:rPr lang="en-US" sz="2400" b="1" dirty="0" err="1" smtClean="0"/>
              <a:t>tim</a:t>
            </a:r>
            <a:r>
              <a:rPr lang="en-US" sz="2400" b="1" dirty="0" smtClean="0"/>
              <a:t>: “;	</a:t>
            </a:r>
          </a:p>
          <a:p>
            <a:pPr marL="474663" indent="-485775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400" b="1" dirty="0"/>
              <a:t>	</a:t>
            </a:r>
            <a:r>
              <a:rPr lang="en-US" sz="2400" b="1" dirty="0" err="1" smtClean="0"/>
              <a:t>cin</a:t>
            </a:r>
            <a:r>
              <a:rPr lang="en-US" sz="2400" b="1" dirty="0" smtClean="0"/>
              <a:t>&gt;&gt;x;</a:t>
            </a:r>
          </a:p>
          <a:p>
            <a:pPr marL="474663" indent="-485775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400" b="1" dirty="0" smtClean="0"/>
              <a:t>	</a:t>
            </a:r>
            <a:r>
              <a:rPr lang="en-US" sz="2400" b="1" dirty="0" err="1" smtClean="0"/>
              <a:t>kq</a:t>
            </a:r>
            <a:r>
              <a:rPr lang="en-US" sz="2400" b="1" dirty="0" smtClean="0"/>
              <a:t>=</a:t>
            </a:r>
            <a:r>
              <a:rPr lang="en-US" sz="2400" b="1" dirty="0" err="1" smtClean="0"/>
              <a:t>LinearSearch</a:t>
            </a:r>
            <a:r>
              <a:rPr lang="en-US" sz="2400" b="1" dirty="0" smtClean="0"/>
              <a:t>(a, N, x);</a:t>
            </a:r>
          </a:p>
          <a:p>
            <a:pPr marL="474663" indent="-485775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400" b="1" dirty="0" smtClean="0"/>
              <a:t>	if(</a:t>
            </a:r>
            <a:r>
              <a:rPr lang="en-US" sz="2400" b="1" dirty="0" err="1" smtClean="0"/>
              <a:t>kq</a:t>
            </a:r>
            <a:r>
              <a:rPr lang="en-US" sz="2400" b="1" dirty="0" smtClean="0"/>
              <a:t>==-1)	</a:t>
            </a:r>
          </a:p>
          <a:p>
            <a:pPr marL="474663" indent="-485775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400" b="1" dirty="0"/>
              <a:t>	</a:t>
            </a:r>
            <a:r>
              <a:rPr lang="en-US" sz="2400" b="1" dirty="0" smtClean="0"/>
              <a:t>		</a:t>
            </a:r>
            <a:r>
              <a:rPr lang="en-US" sz="2400" b="1" dirty="0" err="1" smtClean="0"/>
              <a:t>cout</a:t>
            </a:r>
            <a:r>
              <a:rPr lang="en-US" sz="2400" b="1" dirty="0" smtClean="0"/>
              <a:t>&lt;&lt;“</a:t>
            </a:r>
            <a:r>
              <a:rPr lang="en-US" sz="2400" b="1" dirty="0" err="1" smtClean="0"/>
              <a:t>Khong</a:t>
            </a:r>
            <a:r>
              <a:rPr lang="en-US" sz="2400" b="1" dirty="0" smtClean="0"/>
              <a:t> co </a:t>
            </a:r>
            <a:r>
              <a:rPr lang="en-US" sz="2400" b="1" dirty="0" err="1" smtClean="0"/>
              <a:t>phan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tu</a:t>
            </a:r>
            <a:r>
              <a:rPr lang="en-US" sz="2400" b="1" dirty="0" smtClean="0"/>
              <a:t> can </a:t>
            </a:r>
            <a:r>
              <a:rPr lang="en-US" sz="2400" b="1" dirty="0" err="1" smtClean="0"/>
              <a:t>tim</a:t>
            </a:r>
            <a:r>
              <a:rPr lang="en-US" sz="2400" b="1" dirty="0" smtClean="0"/>
              <a:t>”;</a:t>
            </a:r>
          </a:p>
          <a:p>
            <a:pPr marL="474663" indent="-485775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400" b="1" dirty="0" smtClean="0"/>
              <a:t>	else 		</a:t>
            </a:r>
          </a:p>
          <a:p>
            <a:pPr marL="474663" indent="-485775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400" b="1" dirty="0"/>
              <a:t>	</a:t>
            </a:r>
            <a:r>
              <a:rPr lang="en-US" sz="2400" b="1" dirty="0" smtClean="0"/>
              <a:t>		</a:t>
            </a:r>
            <a:r>
              <a:rPr lang="en-US" sz="2400" b="1" dirty="0" err="1" smtClean="0"/>
              <a:t>cout</a:t>
            </a:r>
            <a:r>
              <a:rPr lang="en-US" sz="2400" b="1" dirty="0" smtClean="0"/>
              <a:t>&lt;&lt;“</a:t>
            </a:r>
            <a:r>
              <a:rPr lang="en-US" sz="2400" b="1" dirty="0" err="1" smtClean="0"/>
              <a:t>Phan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tu</a:t>
            </a:r>
            <a:r>
              <a:rPr lang="en-US" sz="2400" b="1" dirty="0" smtClean="0"/>
              <a:t> can </a:t>
            </a:r>
            <a:r>
              <a:rPr lang="en-US" sz="2400" b="1" dirty="0" err="1" smtClean="0"/>
              <a:t>tim</a:t>
            </a:r>
            <a:r>
              <a:rPr lang="en-US" sz="2400" b="1" dirty="0" smtClean="0"/>
              <a:t> tai vi tri: ”&lt;&lt;</a:t>
            </a:r>
            <a:r>
              <a:rPr lang="en-US" sz="2400" b="1" dirty="0" err="1" smtClean="0"/>
              <a:t>kq</a:t>
            </a:r>
            <a:r>
              <a:rPr lang="en-US" sz="2400" b="1" dirty="0" smtClean="0"/>
              <a:t>;</a:t>
            </a:r>
          </a:p>
          <a:p>
            <a:pPr marL="474663" indent="-485775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sz="2400" b="1" dirty="0" smtClean="0"/>
              <a:t>}</a:t>
            </a:r>
          </a:p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endParaRPr lang="en-US" sz="2400" b="1" dirty="0" smtClean="0"/>
          </a:p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endParaRPr lang="en-US" sz="2400" b="1" dirty="0" smtClean="0"/>
          </a:p>
          <a:p>
            <a:pPr indent="-182880">
              <a:buClr>
                <a:schemeClr val="accent6">
                  <a:lumMod val="75000"/>
                </a:schemeClr>
              </a:buClr>
              <a:buNone/>
              <a:defRPr/>
            </a:pPr>
            <a:endParaRPr lang="en-US" sz="2400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FA8BD2-CB51-4F03-8480-41B4789C2D17}" type="slidenum">
              <a:rPr lang="en-US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55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2"/>
          <p:cNvSpPr>
            <a:spLocks noGrp="1"/>
          </p:cNvSpPr>
          <p:nvPr>
            <p:ph idx="1"/>
          </p:nvPr>
        </p:nvSpPr>
        <p:spPr>
          <a:xfrm>
            <a:off x="2286000" y="609601"/>
            <a:ext cx="7753350" cy="5864225"/>
          </a:xfrm>
        </p:spPr>
        <p:txBody>
          <a:bodyPr rtlCol="0">
            <a:noAutofit/>
          </a:bodyPr>
          <a:lstStyle/>
          <a:p>
            <a:pPr marL="474663" indent="-485775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 smtClean="0"/>
              <a:t>void </a:t>
            </a:r>
            <a:r>
              <a:rPr lang="en-US" dirty="0" err="1" smtClean="0"/>
              <a:t>TaoMang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a[], </a:t>
            </a:r>
            <a:r>
              <a:rPr lang="en-US" dirty="0" err="1" smtClean="0"/>
              <a:t>int</a:t>
            </a:r>
            <a:r>
              <a:rPr lang="en-US" dirty="0" smtClean="0"/>
              <a:t> N)</a:t>
            </a:r>
          </a:p>
          <a:p>
            <a:pPr marL="474663" indent="-485775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 smtClean="0"/>
              <a:t>{</a:t>
            </a:r>
          </a:p>
          <a:p>
            <a:pPr marL="474663" indent="-485775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 smtClean="0"/>
              <a:t>	for(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=0; </a:t>
            </a:r>
            <a:r>
              <a:rPr lang="en-US" dirty="0" err="1" smtClean="0"/>
              <a:t>i</a:t>
            </a:r>
            <a:r>
              <a:rPr lang="en-US" dirty="0" smtClean="0"/>
              <a:t>&lt;N; </a:t>
            </a:r>
            <a:r>
              <a:rPr lang="en-US" dirty="0" err="1" smtClean="0"/>
              <a:t>i</a:t>
            </a:r>
            <a:r>
              <a:rPr lang="en-US" dirty="0" smtClean="0"/>
              <a:t>++)</a:t>
            </a:r>
          </a:p>
          <a:p>
            <a:pPr marL="474663" indent="-485775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 smtClean="0"/>
              <a:t>			a[</a:t>
            </a:r>
            <a:r>
              <a:rPr lang="en-US" dirty="0" err="1" smtClean="0"/>
              <a:t>i</a:t>
            </a:r>
            <a:r>
              <a:rPr lang="en-US" dirty="0" smtClean="0"/>
              <a:t>]=rand()%N;</a:t>
            </a:r>
          </a:p>
          <a:p>
            <a:pPr marL="474663" indent="-485775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 smtClean="0"/>
              <a:t>}</a:t>
            </a:r>
          </a:p>
          <a:p>
            <a:pPr marL="474663" indent="-485775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 smtClean="0"/>
              <a:t>void </a:t>
            </a:r>
            <a:r>
              <a:rPr lang="en-US" dirty="0" err="1" smtClean="0"/>
              <a:t>XuatMang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a[], </a:t>
            </a:r>
            <a:r>
              <a:rPr lang="en-US" dirty="0" err="1" smtClean="0"/>
              <a:t>int</a:t>
            </a:r>
            <a:r>
              <a:rPr lang="en-US" dirty="0" smtClean="0"/>
              <a:t> N)</a:t>
            </a:r>
          </a:p>
          <a:p>
            <a:pPr marL="474663" indent="-485775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 smtClean="0"/>
              <a:t>{</a:t>
            </a:r>
          </a:p>
          <a:p>
            <a:pPr marL="474663" indent="-485775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 smtClean="0"/>
              <a:t>	for(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=0; </a:t>
            </a:r>
            <a:r>
              <a:rPr lang="en-US" dirty="0" err="1" smtClean="0"/>
              <a:t>i</a:t>
            </a:r>
            <a:r>
              <a:rPr lang="en-US" dirty="0" smtClean="0"/>
              <a:t>&lt;N; </a:t>
            </a:r>
            <a:r>
              <a:rPr lang="en-US" dirty="0" err="1" smtClean="0"/>
              <a:t>i</a:t>
            </a:r>
            <a:r>
              <a:rPr lang="en-US" dirty="0" smtClean="0"/>
              <a:t>++)</a:t>
            </a:r>
          </a:p>
          <a:p>
            <a:pPr marL="474663" indent="-485775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 smtClean="0"/>
              <a:t>			</a:t>
            </a:r>
            <a:r>
              <a:rPr lang="en-US" dirty="0" err="1" smtClean="0"/>
              <a:t>cout</a:t>
            </a:r>
            <a:r>
              <a:rPr lang="en-US" dirty="0" smtClean="0"/>
              <a:t>&lt;&lt;a[</a:t>
            </a:r>
            <a:r>
              <a:rPr lang="en-US" dirty="0" err="1" smtClean="0"/>
              <a:t>i</a:t>
            </a:r>
            <a:r>
              <a:rPr lang="en-US" dirty="0" smtClean="0"/>
              <a:t>]&lt;&lt;“ “;</a:t>
            </a:r>
          </a:p>
          <a:p>
            <a:pPr marL="474663" indent="-485775">
              <a:buClr>
                <a:schemeClr val="accent6">
                  <a:lumMod val="75000"/>
                </a:schemeClr>
              </a:buClr>
              <a:buNone/>
              <a:defRPr/>
            </a:pPr>
            <a:r>
              <a:rPr lang="en-US" dirty="0" smtClean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AD0B37-4765-42FC-A29A-7946B4A82CDD}" type="slidenum">
              <a:rPr lang="en-US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1981200" y="533401"/>
            <a:ext cx="8058150" cy="5940425"/>
          </a:xfrm>
        </p:spPr>
        <p:txBody>
          <a:bodyPr>
            <a:noAutofit/>
          </a:bodyPr>
          <a:lstStyle/>
          <a:p>
            <a:pPr marL="463550" lvl="1" indent="-463550">
              <a:buNone/>
            </a:pPr>
            <a:r>
              <a:rPr lang="en-US" sz="3200" dirty="0" err="1"/>
              <a:t>int</a:t>
            </a:r>
            <a:r>
              <a:rPr lang="en-US" sz="3200" dirty="0"/>
              <a:t> </a:t>
            </a:r>
            <a:r>
              <a:rPr lang="en-US" sz="3200" dirty="0" err="1"/>
              <a:t>LinearSearch</a:t>
            </a:r>
            <a:r>
              <a:rPr lang="en-US" sz="3200" dirty="0"/>
              <a:t>(</a:t>
            </a:r>
            <a:r>
              <a:rPr lang="en-US" sz="3200" dirty="0" err="1"/>
              <a:t>int</a:t>
            </a:r>
            <a:r>
              <a:rPr lang="en-US" sz="3200" dirty="0"/>
              <a:t> a[], </a:t>
            </a:r>
            <a:r>
              <a:rPr lang="en-US" sz="3200" dirty="0" err="1"/>
              <a:t>int</a:t>
            </a:r>
            <a:r>
              <a:rPr lang="en-US" sz="3200" dirty="0"/>
              <a:t> N, </a:t>
            </a:r>
            <a:r>
              <a:rPr lang="en-US" sz="3200" dirty="0" err="1"/>
              <a:t>int</a:t>
            </a:r>
            <a:r>
              <a:rPr lang="en-US" sz="3200" dirty="0"/>
              <a:t> x)</a:t>
            </a:r>
          </a:p>
          <a:p>
            <a:pPr marL="463550" lvl="1" indent="-463550">
              <a:buNone/>
            </a:pPr>
            <a:r>
              <a:rPr lang="en-US" sz="3200" dirty="0"/>
              <a:t>{	</a:t>
            </a:r>
          </a:p>
          <a:p>
            <a:pPr marL="463550" lvl="1" indent="-463550">
              <a:buNone/>
            </a:pPr>
            <a:r>
              <a:rPr lang="en-US" sz="3200" dirty="0"/>
              <a:t>	</a:t>
            </a:r>
            <a:r>
              <a:rPr lang="en-US" sz="3200" dirty="0" err="1"/>
              <a:t>int</a:t>
            </a:r>
            <a:r>
              <a:rPr lang="en-US" sz="3200" dirty="0"/>
              <a:t> </a:t>
            </a:r>
            <a:r>
              <a:rPr lang="en-US" sz="3200" dirty="0" err="1"/>
              <a:t>i</a:t>
            </a:r>
            <a:r>
              <a:rPr lang="en-US" sz="3200" dirty="0"/>
              <a:t>=0;</a:t>
            </a:r>
          </a:p>
          <a:p>
            <a:pPr marL="463550" lvl="1" indent="-463550">
              <a:buNone/>
            </a:pPr>
            <a:r>
              <a:rPr lang="en-US" sz="3200" dirty="0"/>
              <a:t>	while ((</a:t>
            </a:r>
            <a:r>
              <a:rPr lang="en-US" sz="3200" dirty="0" err="1"/>
              <a:t>i</a:t>
            </a:r>
            <a:r>
              <a:rPr lang="en-US" sz="3200" dirty="0"/>
              <a:t>&lt;N) &amp;&amp; (a[</a:t>
            </a:r>
            <a:r>
              <a:rPr lang="en-US" sz="3200" dirty="0" err="1"/>
              <a:t>i</a:t>
            </a:r>
            <a:r>
              <a:rPr lang="en-US" sz="3200" dirty="0"/>
              <a:t>]!=x ))    </a:t>
            </a:r>
          </a:p>
          <a:p>
            <a:pPr marL="463550" lvl="1" indent="-463550">
              <a:buNone/>
            </a:pPr>
            <a:r>
              <a:rPr lang="en-US" sz="3200" dirty="0"/>
              <a:t>			</a:t>
            </a:r>
            <a:r>
              <a:rPr lang="en-US" sz="3200" dirty="0" err="1"/>
              <a:t>i</a:t>
            </a:r>
            <a:r>
              <a:rPr lang="en-US" sz="3200" dirty="0"/>
              <a:t>++;</a:t>
            </a:r>
          </a:p>
          <a:p>
            <a:pPr marL="463550" lvl="1" indent="-463550">
              <a:buNone/>
            </a:pPr>
            <a:r>
              <a:rPr lang="en-US" sz="3200" dirty="0"/>
              <a:t>	if(</a:t>
            </a:r>
            <a:r>
              <a:rPr lang="en-US" sz="3200" dirty="0" err="1"/>
              <a:t>i</a:t>
            </a:r>
            <a:r>
              <a:rPr lang="en-US" sz="3200" dirty="0"/>
              <a:t>==N)	</a:t>
            </a:r>
          </a:p>
          <a:p>
            <a:pPr marL="463550" lvl="1" indent="-463550">
              <a:buNone/>
            </a:pPr>
            <a:r>
              <a:rPr lang="en-US" sz="3200" dirty="0"/>
              <a:t>			return -1;</a:t>
            </a:r>
          </a:p>
          <a:p>
            <a:pPr marL="463550" lvl="1" indent="-463550">
              <a:buNone/>
            </a:pPr>
            <a:r>
              <a:rPr lang="en-US" sz="3200" dirty="0"/>
              <a:t>	else	</a:t>
            </a:r>
          </a:p>
          <a:p>
            <a:pPr marL="463550" lvl="1" indent="-463550">
              <a:buNone/>
            </a:pPr>
            <a:r>
              <a:rPr lang="en-US" sz="3200" dirty="0"/>
              <a:t>			return </a:t>
            </a:r>
            <a:r>
              <a:rPr lang="en-US" sz="3200" dirty="0" err="1"/>
              <a:t>i</a:t>
            </a:r>
            <a:r>
              <a:rPr lang="en-US" sz="3200" dirty="0"/>
              <a:t>;</a:t>
            </a:r>
          </a:p>
          <a:p>
            <a:pPr marL="463550" lvl="1" indent="-463550">
              <a:buNone/>
            </a:pPr>
            <a:r>
              <a:rPr lang="en-US" sz="3200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C4E195-76E6-4D45-AEC5-02317AEE8FDF}" type="slidenum">
              <a:rPr lang="en-US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04800"/>
            <a:ext cx="7467600" cy="1143000"/>
          </a:xfrm>
        </p:spPr>
        <p:txBody>
          <a:bodyPr>
            <a:normAutofit/>
          </a:bodyPr>
          <a:lstStyle/>
          <a:p>
            <a:pPr marL="320040" indent="-320040">
              <a:buClr>
                <a:schemeClr val="accent6">
                  <a:lumMod val="75000"/>
                </a:schemeClr>
              </a:buClr>
              <a:defRPr/>
            </a:pP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dụng VN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80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11811000" cy="487362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ngẫu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x; in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nhị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B38ACA-AC22-4D21-8FDD-1684906EE2FF}" type="slidenum">
              <a:rPr lang="en-US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358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04800"/>
            <a:ext cx="7467600" cy="1143000"/>
          </a:xfrm>
        </p:spPr>
        <p:txBody>
          <a:bodyPr/>
          <a:lstStyle/>
          <a:p>
            <a:pPr marL="320040" indent="-320040">
              <a:buClr>
                <a:schemeClr val="accent6">
                  <a:lumMod val="75000"/>
                </a:schemeClr>
              </a:buClr>
              <a:defRPr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80" name="Content Placeholder 2"/>
          <p:cNvSpPr>
            <a:spLocks noGrp="1"/>
          </p:cNvSpPr>
          <p:nvPr>
            <p:ph idx="1"/>
          </p:nvPr>
        </p:nvSpPr>
        <p:spPr>
          <a:xfrm>
            <a:off x="1981200" y="1524001"/>
            <a:ext cx="8001000" cy="4873625"/>
          </a:xfrm>
        </p:spPr>
        <p:txBody>
          <a:bodyPr>
            <a:normAutofit/>
          </a:bodyPr>
          <a:lstStyle/>
          <a:p>
            <a:pPr eaLnBrk="1" hangingPunct="1"/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LT1_1: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Cho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dãy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eaLnBrk="1" hangingPunct="1"/>
            <a:endParaRPr 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Wingdings" pitchFamily="2" charset="2"/>
              <a:buNone/>
            </a:pPr>
            <a:endParaRPr 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Wingdings" pitchFamily="2" charset="2"/>
              <a:buNone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 = 6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nhị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 eaLnBrk="1" hangingPunct="1"/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LT1_2: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dãy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B38ACA-AC22-4D21-8FDD-1684906EE2FF}" type="slidenum">
              <a:rPr lang="en-US"/>
              <a:pPr>
                <a:defRPr/>
              </a:pPr>
              <a:t>21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824460"/>
              </p:ext>
            </p:extLst>
          </p:nvPr>
        </p:nvGraphicFramePr>
        <p:xfrm>
          <a:off x="2362200" y="2209800"/>
          <a:ext cx="7467600" cy="85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</a:t>
                      </a:r>
                      <a:endParaRPr lang="en-US" sz="24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</a:t>
                      </a:r>
                      <a:endParaRPr lang="en-US" sz="24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/>
                        <a:t>6</a:t>
                      </a:r>
                      <a:endParaRPr lang="en-US" sz="24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/>
                        <a:t>6</a:t>
                      </a:r>
                      <a:endParaRPr lang="en-US" sz="24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12</a:t>
                      </a:r>
                      <a:endParaRPr lang="en-US" sz="24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/>
                        <a:t>16</a:t>
                      </a:r>
                      <a:endParaRPr lang="en-US" sz="24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/>
                        <a:t>21</a:t>
                      </a:r>
                      <a:endParaRPr lang="en-US" sz="24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/>
                        <a:t>34</a:t>
                      </a:r>
                      <a:endParaRPr lang="en-US" sz="24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/>
                        <a:t>41</a:t>
                      </a:r>
                      <a:endParaRPr lang="en-US" sz="24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/>
                        <a:t>80</a:t>
                      </a:r>
                      <a:endParaRPr lang="en-US" sz="240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2377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04800"/>
            <a:ext cx="7467600" cy="1143000"/>
          </a:xfrm>
        </p:spPr>
        <p:txBody>
          <a:bodyPr/>
          <a:lstStyle/>
          <a:p>
            <a:pPr marL="320040" indent="-320040">
              <a:buClr>
                <a:schemeClr val="accent6">
                  <a:lumMod val="75000"/>
                </a:schemeClr>
              </a:buClr>
              <a:defRPr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80" name="Content Placeholder 2"/>
          <p:cNvSpPr>
            <a:spLocks noGrp="1"/>
          </p:cNvSpPr>
          <p:nvPr>
            <p:ph idx="1"/>
          </p:nvPr>
        </p:nvSpPr>
        <p:spPr>
          <a:xfrm>
            <a:off x="1981200" y="1524001"/>
            <a:ext cx="8001000" cy="5334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 smtClean="0"/>
              <a:t>LT1_1: </a:t>
            </a:r>
            <a:r>
              <a:rPr lang="en-US" dirty="0" err="1" smtClean="0"/>
              <a:t>Tìm</a:t>
            </a:r>
            <a:r>
              <a:rPr lang="en-US" dirty="0" smtClean="0"/>
              <a:t> x = 6</a:t>
            </a:r>
            <a:endParaRPr lang="en-US" dirty="0" smtClean="0">
              <a:solidFill>
                <a:srgbClr val="002060"/>
              </a:solidFill>
            </a:endParaRPr>
          </a:p>
          <a:p>
            <a:pPr algn="just" eaLnBrk="1" hangingPunct="1">
              <a:buFont typeface="Wingdings" pitchFamily="2" charset="2"/>
              <a:buNone/>
            </a:pPr>
            <a:endParaRPr lang="en-US" dirty="0" smtClean="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B38ACA-AC22-4D21-8FDD-1684906EE2FF}" type="slidenum">
              <a:rPr lang="en-US"/>
              <a:pPr>
                <a:defRPr/>
              </a:pPr>
              <a:t>22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6881"/>
              </p:ext>
            </p:extLst>
          </p:nvPr>
        </p:nvGraphicFramePr>
        <p:xfrm>
          <a:off x="2362200" y="2209800"/>
          <a:ext cx="7467600" cy="85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</a:t>
                      </a:r>
                      <a:endParaRPr lang="en-US" sz="24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</a:t>
                      </a:r>
                      <a:endParaRPr lang="en-US" sz="24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/>
                        <a:t>6</a:t>
                      </a:r>
                      <a:endParaRPr lang="en-US" sz="24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/>
                        <a:t>6</a:t>
                      </a:r>
                      <a:endParaRPr lang="en-US" sz="24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12</a:t>
                      </a:r>
                      <a:endParaRPr lang="en-US" sz="24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/>
                        <a:t>16</a:t>
                      </a:r>
                      <a:endParaRPr lang="en-US" sz="24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/>
                        <a:t>21</a:t>
                      </a:r>
                      <a:endParaRPr lang="en-US" sz="24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/>
                        <a:t>34</a:t>
                      </a:r>
                      <a:endParaRPr lang="en-US" sz="24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/>
                        <a:t>41</a:t>
                      </a:r>
                      <a:endParaRPr lang="en-US" sz="24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/>
                        <a:t>80</a:t>
                      </a:r>
                      <a:endParaRPr lang="en-US" sz="240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624675"/>
              </p:ext>
            </p:extLst>
          </p:nvPr>
        </p:nvGraphicFramePr>
        <p:xfrm>
          <a:off x="2362200" y="4023360"/>
          <a:ext cx="7391400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5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3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Vị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trí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So </a:t>
                      </a:r>
                      <a:r>
                        <a:rPr lang="en-US" sz="2800" dirty="0" err="1" smtClean="0"/>
                        <a:t>sánh</a:t>
                      </a:r>
                      <a:r>
                        <a:rPr lang="en-US" sz="2800" dirty="0" smtClean="0"/>
                        <a:t> </a:t>
                      </a:r>
                      <a:r>
                        <a:rPr lang="en-US" sz="2800" dirty="0" err="1" smtClean="0"/>
                        <a:t>với</a:t>
                      </a:r>
                      <a:r>
                        <a:rPr lang="en-US" sz="2800" baseline="0" dirty="0" smtClean="0"/>
                        <a:t> x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Kết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quả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i</a:t>
                      </a:r>
                      <a:r>
                        <a:rPr lang="en-US" sz="2800" dirty="0" smtClean="0"/>
                        <a:t>=1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(a[</a:t>
                      </a:r>
                      <a:r>
                        <a:rPr lang="en-US" sz="2800" dirty="0" err="1" smtClean="0"/>
                        <a:t>i</a:t>
                      </a:r>
                      <a:r>
                        <a:rPr lang="en-US" sz="2800" dirty="0" smtClean="0"/>
                        <a:t>]=3) </a:t>
                      </a:r>
                      <a:r>
                        <a:rPr lang="en-US" sz="2800" dirty="0" smtClean="0">
                          <a:sym typeface="Symbol" panose="05050102010706020507" pitchFamily="18" charset="2"/>
                        </a:rPr>
                        <a:t> x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Tăng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vị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trí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i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 smtClean="0"/>
                        <a:t>i</a:t>
                      </a:r>
                      <a:r>
                        <a:rPr lang="en-US" sz="2800" dirty="0" smtClean="0"/>
                        <a:t>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/>
                        <a:t>(a[</a:t>
                      </a:r>
                      <a:r>
                        <a:rPr lang="en-US" sz="2800" dirty="0" err="1" smtClean="0"/>
                        <a:t>i</a:t>
                      </a:r>
                      <a:r>
                        <a:rPr lang="en-US" sz="2800" dirty="0" smtClean="0"/>
                        <a:t>]=4) </a:t>
                      </a:r>
                      <a:r>
                        <a:rPr lang="en-US" sz="2800" dirty="0" smtClean="0">
                          <a:sym typeface="Symbol" panose="05050102010706020507" pitchFamily="18" charset="2"/>
                        </a:rPr>
                        <a:t> x</a:t>
                      </a:r>
                      <a:endParaRPr lang="en-US" sz="2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 smtClean="0"/>
                        <a:t>Tăng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vị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trí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i</a:t>
                      </a:r>
                      <a:endParaRPr lang="en-US" sz="28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/>
                        <a:t>i</a:t>
                      </a:r>
                      <a:r>
                        <a:rPr lang="en-US" sz="2800" dirty="0" smtClean="0"/>
                        <a:t>=3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/>
                        <a:t>(a[</a:t>
                      </a:r>
                      <a:r>
                        <a:rPr lang="en-US" sz="2800" dirty="0" err="1" smtClean="0"/>
                        <a:t>i</a:t>
                      </a:r>
                      <a:r>
                        <a:rPr lang="en-US" sz="2800" dirty="0" smtClean="0"/>
                        <a:t>]=6) =</a:t>
                      </a:r>
                      <a:r>
                        <a:rPr lang="en-US" sz="2800" dirty="0" smtClean="0">
                          <a:sym typeface="Symbol" panose="05050102010706020507" pitchFamily="18" charset="2"/>
                        </a:rPr>
                        <a:t> x</a:t>
                      </a:r>
                      <a:endParaRPr lang="en-US" sz="2800" dirty="0" smtClean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Dừng</a:t>
                      </a:r>
                      <a:r>
                        <a:rPr lang="en-US" sz="2800" baseline="0" dirty="0" smtClean="0"/>
                        <a:t>, </a:t>
                      </a:r>
                      <a:r>
                        <a:rPr lang="en-US" sz="2800" baseline="0" dirty="0" err="1" smtClean="0"/>
                        <a:t>trả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về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vị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trí</a:t>
                      </a:r>
                      <a:r>
                        <a:rPr lang="en-US" sz="2800" baseline="0" dirty="0" smtClean="0"/>
                        <a:t> </a:t>
                      </a:r>
                      <a:r>
                        <a:rPr lang="en-US" sz="2800" baseline="0" dirty="0" err="1" smtClean="0"/>
                        <a:t>i</a:t>
                      </a:r>
                      <a:r>
                        <a:rPr lang="en-US" sz="2800" baseline="0" dirty="0" smtClean="0"/>
                        <a:t> (3)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981200" y="3429000"/>
            <a:ext cx="58384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/>
              <a:t>Tìm</a:t>
            </a:r>
            <a:r>
              <a:rPr lang="en-US" sz="2800" dirty="0"/>
              <a:t> x </a:t>
            </a:r>
            <a:r>
              <a:rPr lang="en-US" sz="2800" dirty="0" err="1"/>
              <a:t>theo</a:t>
            </a:r>
            <a:r>
              <a:rPr lang="en-US" sz="2800" dirty="0"/>
              <a:t> </a:t>
            </a:r>
            <a:r>
              <a:rPr lang="en-US" sz="2800" dirty="0" err="1"/>
              <a:t>phương</a:t>
            </a:r>
            <a:r>
              <a:rPr lang="en-US" sz="2800" dirty="0"/>
              <a:t> </a:t>
            </a:r>
            <a:r>
              <a:rPr lang="en-US" sz="2800" dirty="0" err="1"/>
              <a:t>pháp</a:t>
            </a:r>
            <a:r>
              <a:rPr lang="en-US" sz="2800" dirty="0"/>
              <a:t> </a:t>
            </a:r>
            <a:r>
              <a:rPr lang="en-US" sz="2800" dirty="0" err="1"/>
              <a:t>tuyến</a:t>
            </a:r>
            <a:r>
              <a:rPr lang="en-US" sz="2800" dirty="0"/>
              <a:t> </a:t>
            </a:r>
            <a:r>
              <a:rPr lang="en-US" sz="2800" dirty="0" err="1"/>
              <a:t>tính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68746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04800"/>
            <a:ext cx="7467600" cy="1143000"/>
          </a:xfrm>
        </p:spPr>
        <p:txBody>
          <a:bodyPr/>
          <a:lstStyle/>
          <a:p>
            <a:pPr marL="320040" indent="-320040">
              <a:buClr>
                <a:schemeClr val="accent6">
                  <a:lumMod val="75000"/>
                </a:schemeClr>
              </a:buClr>
              <a:defRPr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80" name="Content Placeholder 2"/>
          <p:cNvSpPr>
            <a:spLocks noGrp="1"/>
          </p:cNvSpPr>
          <p:nvPr>
            <p:ph idx="1"/>
          </p:nvPr>
        </p:nvSpPr>
        <p:spPr>
          <a:xfrm>
            <a:off x="1981200" y="1371600"/>
            <a:ext cx="8001000" cy="5334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 smtClean="0"/>
              <a:t>LT1_1: </a:t>
            </a:r>
            <a:r>
              <a:rPr lang="en-US" dirty="0" err="1" smtClean="0"/>
              <a:t>Tìm</a:t>
            </a:r>
            <a:r>
              <a:rPr lang="en-US" dirty="0" smtClean="0"/>
              <a:t> x = 6</a:t>
            </a:r>
            <a:endParaRPr lang="en-US" dirty="0" smtClean="0">
              <a:solidFill>
                <a:srgbClr val="002060"/>
              </a:solidFill>
            </a:endParaRPr>
          </a:p>
          <a:p>
            <a:pPr algn="just" eaLnBrk="1" hangingPunct="1">
              <a:buFont typeface="Wingdings" pitchFamily="2" charset="2"/>
              <a:buNone/>
            </a:pPr>
            <a:endParaRPr lang="en-US" dirty="0" smtClean="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B38ACA-AC22-4D21-8FDD-1684906EE2FF}" type="slidenum">
              <a:rPr lang="en-US"/>
              <a:pPr>
                <a:defRPr/>
              </a:pPr>
              <a:t>23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534649"/>
              </p:ext>
            </p:extLst>
          </p:nvPr>
        </p:nvGraphicFramePr>
        <p:xfrm>
          <a:off x="2362200" y="1905000"/>
          <a:ext cx="7467600" cy="85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</a:t>
                      </a:r>
                      <a:endParaRPr lang="en-US" sz="24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</a:t>
                      </a:r>
                      <a:endParaRPr lang="en-US" sz="24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</a:t>
                      </a:r>
                      <a:endParaRPr lang="en-US" sz="24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/>
                        <a:t>6</a:t>
                      </a:r>
                      <a:endParaRPr lang="en-US" sz="24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12</a:t>
                      </a:r>
                      <a:endParaRPr lang="en-US" sz="24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/>
                        <a:t>16</a:t>
                      </a:r>
                      <a:endParaRPr lang="en-US" sz="24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/>
                        <a:t>21</a:t>
                      </a:r>
                      <a:endParaRPr lang="en-US" sz="24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/>
                        <a:t>34</a:t>
                      </a:r>
                      <a:endParaRPr lang="en-US" sz="24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/>
                        <a:t>41</a:t>
                      </a:r>
                      <a:endParaRPr lang="en-US" sz="240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/>
                        <a:t>80</a:t>
                      </a:r>
                      <a:endParaRPr lang="en-US" sz="240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622784"/>
              </p:ext>
            </p:extLst>
          </p:nvPr>
        </p:nvGraphicFramePr>
        <p:xfrm>
          <a:off x="1905000" y="3429000"/>
          <a:ext cx="8399146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7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7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46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9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Xét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đoạn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Vị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trí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giữa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đoạn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 </a:t>
                      </a: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sánh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với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x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quả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l=1, r=10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m=(</a:t>
                      </a: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l+r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)/2=5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(a[m]=12)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 x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Cập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nhật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r=m-1=4</a:t>
                      </a:r>
                    </a:p>
                    <a:p>
                      <a:r>
                        <a:rPr lang="en-US" sz="2400" i="1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(a[m]&gt;x </a:t>
                      </a:r>
                      <a:r>
                        <a:rPr lang="en-US" sz="2400" i="1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2400" i="1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xét</a:t>
                      </a:r>
                      <a:r>
                        <a:rPr lang="en-US" sz="2400" i="1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i="1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trái</a:t>
                      </a:r>
                      <a:r>
                        <a:rPr lang="en-US" sz="2400" i="1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4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l=1, </a:t>
                      </a:r>
                      <a:r>
                        <a:rPr lang="en-US" sz="2400" baseline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r=4</a:t>
                      </a:r>
                      <a:endParaRPr lang="en-US" sz="2400" dirty="0" smtClean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m=(</a:t>
                      </a: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l+r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)/2=2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(a[m]=4) 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 x</a:t>
                      </a:r>
                      <a:endParaRPr lang="en-US" sz="24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Cập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nhật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l=m+1=3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(a[m]&lt;x </a:t>
                      </a:r>
                      <a:r>
                        <a:rPr lang="en-US" sz="2400" i="1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2400" i="1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xét</a:t>
                      </a:r>
                      <a:r>
                        <a:rPr lang="en-US" sz="2400" i="1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i="1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phải</a:t>
                      </a:r>
                      <a:r>
                        <a:rPr lang="en-US" sz="2400" i="1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400" i="1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l=3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r=4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m=(</a:t>
                      </a: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l+r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)/2=3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(a[m]=6) =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x</a:t>
                      </a:r>
                      <a:endParaRPr lang="en-US" sz="24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Dừng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trả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về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vị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trí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 (3)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981200" y="2895600"/>
            <a:ext cx="58416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/>
              <a:t>Tìm</a:t>
            </a:r>
            <a:r>
              <a:rPr lang="en-US" sz="2800" dirty="0"/>
              <a:t> x </a:t>
            </a:r>
            <a:r>
              <a:rPr lang="en-US" sz="2800" dirty="0" err="1"/>
              <a:t>theo</a:t>
            </a:r>
            <a:r>
              <a:rPr lang="en-US" sz="2800" dirty="0"/>
              <a:t> </a:t>
            </a:r>
            <a:r>
              <a:rPr lang="en-US" sz="2800" dirty="0" err="1"/>
              <a:t>phương</a:t>
            </a:r>
            <a:r>
              <a:rPr lang="en-US" sz="2800" dirty="0"/>
              <a:t> </a:t>
            </a:r>
            <a:r>
              <a:rPr lang="en-US" sz="2800" dirty="0" err="1"/>
              <a:t>pháp</a:t>
            </a:r>
            <a:r>
              <a:rPr lang="en-US" sz="2800" dirty="0"/>
              <a:t> </a:t>
            </a:r>
            <a:r>
              <a:rPr lang="en-US" sz="2800" dirty="0" err="1"/>
              <a:t>nhị</a:t>
            </a:r>
            <a:r>
              <a:rPr lang="en-US" sz="2800" dirty="0"/>
              <a:t> </a:t>
            </a:r>
            <a:r>
              <a:rPr lang="en-US" sz="2800" dirty="0" err="1"/>
              <a:t>phân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45922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8001000" cy="1066800"/>
          </a:xfrm>
        </p:spPr>
        <p:txBody>
          <a:bodyPr>
            <a:normAutofit fontScale="90000"/>
          </a:bodyPr>
          <a:lstStyle/>
          <a:p>
            <a:pPr marL="320040" indent="-320040">
              <a:buClr>
                <a:schemeClr val="accent6">
                  <a:lumMod val="75000"/>
                </a:schemeClr>
              </a:buClr>
              <a:defRPr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LT1_2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80" name="Content Placeholder 2"/>
          <p:cNvSpPr>
            <a:spLocks noGrp="1"/>
          </p:cNvSpPr>
          <p:nvPr>
            <p:ph idx="1"/>
          </p:nvPr>
        </p:nvSpPr>
        <p:spPr>
          <a:xfrm>
            <a:off x="1981200" y="1066800"/>
            <a:ext cx="8001000" cy="5502276"/>
          </a:xfrm>
        </p:spPr>
        <p:txBody>
          <a:bodyPr>
            <a:noAutofit/>
          </a:bodyPr>
          <a:lstStyle/>
          <a:p>
            <a:pPr algn="just" eaLnBrk="1" hangingPunct="1"/>
            <a:r>
              <a:rPr lang="en-US" sz="2800" b="1" dirty="0"/>
              <a:t>Input</a:t>
            </a:r>
            <a:r>
              <a:rPr lang="en-US" sz="2800" dirty="0"/>
              <a:t>: </a:t>
            </a:r>
            <a:r>
              <a:rPr lang="en-US" sz="2800" dirty="0" err="1"/>
              <a:t>Mảng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dirty="0" err="1"/>
              <a:t>nguyên</a:t>
            </a:r>
            <a:r>
              <a:rPr lang="en-US" sz="2800" dirty="0"/>
              <a:t> a, </a:t>
            </a:r>
            <a:r>
              <a:rPr lang="en-US" sz="2800" dirty="0" err="1"/>
              <a:t>kích</a:t>
            </a:r>
            <a:r>
              <a:rPr lang="en-US" sz="2800" dirty="0"/>
              <a:t> </a:t>
            </a:r>
            <a:r>
              <a:rPr lang="en-US" sz="2800" dirty="0" err="1"/>
              <a:t>thước</a:t>
            </a:r>
            <a:r>
              <a:rPr lang="en-US" sz="2800" dirty="0"/>
              <a:t> n</a:t>
            </a:r>
          </a:p>
          <a:p>
            <a:pPr algn="just" eaLnBrk="1" hangingPunct="1"/>
            <a:r>
              <a:rPr lang="en-US" sz="2800" b="1" dirty="0"/>
              <a:t>Output</a:t>
            </a:r>
            <a:r>
              <a:rPr lang="en-US" sz="2800" dirty="0"/>
              <a:t>: </a:t>
            </a:r>
            <a:r>
              <a:rPr lang="en-US" sz="2800" dirty="0" err="1"/>
              <a:t>vt</a:t>
            </a:r>
            <a:r>
              <a:rPr lang="en-US" sz="2800" dirty="0"/>
              <a:t>: </a:t>
            </a:r>
            <a:r>
              <a:rPr lang="en-US" sz="2800" dirty="0" err="1"/>
              <a:t>vị</a:t>
            </a:r>
            <a:r>
              <a:rPr lang="en-US" sz="2800" dirty="0"/>
              <a:t> </a:t>
            </a:r>
            <a:r>
              <a:rPr lang="en-US" sz="2800" dirty="0" err="1"/>
              <a:t>trí</a:t>
            </a:r>
            <a:r>
              <a:rPr lang="en-US" sz="2800" dirty="0"/>
              <a:t> </a:t>
            </a:r>
            <a:r>
              <a:rPr lang="en-US" sz="2800" dirty="0" err="1"/>
              <a:t>phần</a:t>
            </a:r>
            <a:r>
              <a:rPr lang="en-US" sz="2800" dirty="0"/>
              <a:t> </a:t>
            </a:r>
            <a:r>
              <a:rPr lang="en-US" sz="2800" dirty="0" err="1"/>
              <a:t>tử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r>
              <a:rPr lang="en-US" sz="2800" dirty="0"/>
              <a:t> </a:t>
            </a:r>
            <a:r>
              <a:rPr lang="en-US" sz="2800" dirty="0" err="1"/>
              <a:t>trị</a:t>
            </a:r>
            <a:r>
              <a:rPr lang="en-US" sz="2800" dirty="0"/>
              <a:t> </a:t>
            </a:r>
            <a:r>
              <a:rPr lang="en-US" sz="2800" dirty="0" err="1"/>
              <a:t>nhỏ</a:t>
            </a:r>
            <a:r>
              <a:rPr lang="en-US" sz="2800" dirty="0"/>
              <a:t> </a:t>
            </a:r>
            <a:r>
              <a:rPr lang="en-US" sz="2800" dirty="0" err="1"/>
              <a:t>nhất</a:t>
            </a:r>
            <a:endParaRPr lang="en-US" sz="2800" dirty="0"/>
          </a:p>
          <a:p>
            <a:pPr algn="just" eaLnBrk="1" hangingPunct="1"/>
            <a:r>
              <a:rPr lang="en-US" sz="2800" b="1" dirty="0" err="1"/>
              <a:t>Mã</a:t>
            </a:r>
            <a:r>
              <a:rPr lang="en-US" sz="2800" b="1" dirty="0"/>
              <a:t> </a:t>
            </a:r>
            <a:r>
              <a:rPr lang="en-US" sz="2800" b="1" dirty="0" err="1"/>
              <a:t>tự</a:t>
            </a:r>
            <a:r>
              <a:rPr lang="en-US" sz="2800" b="1" dirty="0"/>
              <a:t> </a:t>
            </a:r>
            <a:r>
              <a:rPr lang="en-US" sz="2800" b="1" dirty="0" err="1"/>
              <a:t>nhiên</a:t>
            </a:r>
            <a:r>
              <a:rPr lang="en-US" sz="2800" dirty="0"/>
              <a:t>:</a:t>
            </a:r>
          </a:p>
          <a:p>
            <a:pPr marL="0" indent="0" algn="just">
              <a:buNone/>
            </a:pPr>
            <a:r>
              <a:rPr lang="en-US" sz="2800" i="1" dirty="0"/>
              <a:t> </a:t>
            </a:r>
            <a:r>
              <a:rPr lang="en-US" sz="2800" i="1" dirty="0" err="1"/>
              <a:t>Bước</a:t>
            </a:r>
            <a:r>
              <a:rPr lang="en-US" sz="2800" i="1" dirty="0"/>
              <a:t> 1:</a:t>
            </a:r>
          </a:p>
          <a:p>
            <a:pPr marL="0" indent="0" algn="just">
              <a:buNone/>
            </a:pPr>
            <a:r>
              <a:rPr lang="en-US" sz="2800" i="1" dirty="0"/>
              <a:t>	</a:t>
            </a:r>
            <a:r>
              <a:rPr lang="en-US" sz="2800" i="1" dirty="0" err="1"/>
              <a:t>i</a:t>
            </a:r>
            <a:r>
              <a:rPr lang="en-US" sz="2800" i="1" dirty="0"/>
              <a:t>=2, </a:t>
            </a:r>
            <a:r>
              <a:rPr lang="en-US" sz="2800" i="1" dirty="0" err="1"/>
              <a:t>vt</a:t>
            </a:r>
            <a:r>
              <a:rPr lang="en-US" sz="2800" i="1" dirty="0"/>
              <a:t>=1;</a:t>
            </a:r>
          </a:p>
          <a:p>
            <a:pPr marL="0" indent="0" algn="just">
              <a:buNone/>
            </a:pPr>
            <a:r>
              <a:rPr lang="en-US" sz="2800" i="1" dirty="0"/>
              <a:t> </a:t>
            </a:r>
            <a:r>
              <a:rPr lang="en-US" sz="2800" i="1" dirty="0" err="1"/>
              <a:t>Bước</a:t>
            </a:r>
            <a:r>
              <a:rPr lang="en-US" sz="2800" i="1" dirty="0"/>
              <a:t> 2:</a:t>
            </a:r>
          </a:p>
          <a:p>
            <a:pPr marL="0" indent="0" algn="just">
              <a:buNone/>
            </a:pPr>
            <a:r>
              <a:rPr lang="en-US" sz="2800" i="1" dirty="0"/>
              <a:t>	</a:t>
            </a:r>
            <a:r>
              <a:rPr lang="en-US" sz="2800" i="1" dirty="0" err="1"/>
              <a:t>Nếu</a:t>
            </a:r>
            <a:r>
              <a:rPr lang="en-US" sz="2800" i="1" dirty="0"/>
              <a:t> </a:t>
            </a:r>
            <a:r>
              <a:rPr lang="en-US" sz="2800" i="1" dirty="0" err="1"/>
              <a:t>i</a:t>
            </a:r>
            <a:r>
              <a:rPr lang="en-US" sz="2800" i="1" dirty="0"/>
              <a:t>&gt;N </a:t>
            </a:r>
            <a:r>
              <a:rPr lang="en-US" sz="2800" i="1" dirty="0" err="1"/>
              <a:t>thì</a:t>
            </a:r>
            <a:r>
              <a:rPr lang="en-US" sz="2800" i="1" dirty="0"/>
              <a:t> </a:t>
            </a:r>
            <a:r>
              <a:rPr lang="en-US" sz="2800" i="1" dirty="0" err="1"/>
              <a:t>trả</a:t>
            </a:r>
            <a:r>
              <a:rPr lang="en-US" sz="2800" i="1" dirty="0"/>
              <a:t> </a:t>
            </a:r>
            <a:r>
              <a:rPr lang="en-US" sz="2800" i="1" dirty="0" err="1"/>
              <a:t>về</a:t>
            </a:r>
            <a:r>
              <a:rPr lang="en-US" sz="2800" i="1" dirty="0"/>
              <a:t> </a:t>
            </a:r>
            <a:r>
              <a:rPr lang="en-US" sz="2800" i="1" dirty="0" err="1"/>
              <a:t>giá</a:t>
            </a:r>
            <a:r>
              <a:rPr lang="en-US" sz="2800" i="1" dirty="0"/>
              <a:t> </a:t>
            </a:r>
            <a:r>
              <a:rPr lang="en-US" sz="2800" i="1" dirty="0" err="1"/>
              <a:t>trị</a:t>
            </a:r>
            <a:r>
              <a:rPr lang="en-US" sz="2800" i="1" dirty="0"/>
              <a:t> </a:t>
            </a:r>
            <a:r>
              <a:rPr lang="en-US" sz="2800" b="1" i="1" dirty="0" err="1"/>
              <a:t>vt</a:t>
            </a:r>
            <a:r>
              <a:rPr lang="en-US" sz="2800" i="1" dirty="0"/>
              <a:t>, </a:t>
            </a:r>
            <a:r>
              <a:rPr lang="en-US" sz="2800" i="1" dirty="0" err="1"/>
              <a:t>kết</a:t>
            </a:r>
            <a:r>
              <a:rPr lang="en-US" sz="2800" i="1" dirty="0"/>
              <a:t> </a:t>
            </a:r>
            <a:r>
              <a:rPr lang="en-US" sz="2800" i="1" dirty="0" err="1"/>
              <a:t>thúc</a:t>
            </a:r>
            <a:r>
              <a:rPr lang="en-US" sz="2800" i="1" dirty="0"/>
              <a:t>;</a:t>
            </a:r>
          </a:p>
          <a:p>
            <a:pPr marL="0" indent="0" algn="just">
              <a:buNone/>
            </a:pPr>
            <a:r>
              <a:rPr lang="en-US" sz="2800" i="1" dirty="0"/>
              <a:t> </a:t>
            </a:r>
            <a:r>
              <a:rPr lang="en-US" sz="2800" i="1" dirty="0" err="1"/>
              <a:t>Bước</a:t>
            </a:r>
            <a:r>
              <a:rPr lang="en-US" sz="2800" i="1" dirty="0"/>
              <a:t> 3:</a:t>
            </a:r>
          </a:p>
          <a:p>
            <a:pPr marL="0" indent="0" algn="just">
              <a:buNone/>
            </a:pPr>
            <a:r>
              <a:rPr lang="en-US" sz="2800" i="1" dirty="0"/>
              <a:t>	</a:t>
            </a:r>
            <a:r>
              <a:rPr lang="en-US" sz="2800" i="1" dirty="0" err="1"/>
              <a:t>Nếu</a:t>
            </a:r>
            <a:r>
              <a:rPr lang="en-US" sz="2800" i="1" dirty="0"/>
              <a:t> a[</a:t>
            </a:r>
            <a:r>
              <a:rPr lang="en-US" sz="2800" i="1" dirty="0" err="1"/>
              <a:t>i</a:t>
            </a:r>
            <a:r>
              <a:rPr lang="en-US" sz="2800" i="1" dirty="0"/>
              <a:t>]&lt;a[</a:t>
            </a:r>
            <a:r>
              <a:rPr lang="en-US" sz="2800" i="1" dirty="0" err="1"/>
              <a:t>vt</a:t>
            </a:r>
            <a:r>
              <a:rPr lang="en-US" sz="2800" i="1" dirty="0"/>
              <a:t>] </a:t>
            </a:r>
            <a:r>
              <a:rPr lang="en-US" sz="2800" i="1" dirty="0" err="1"/>
              <a:t>thì</a:t>
            </a:r>
            <a:r>
              <a:rPr lang="en-US" sz="2800" i="1" dirty="0"/>
              <a:t> </a:t>
            </a:r>
            <a:r>
              <a:rPr lang="en-US" sz="2800" i="1" dirty="0" err="1"/>
              <a:t>vt</a:t>
            </a:r>
            <a:r>
              <a:rPr lang="en-US" sz="2800" i="1" dirty="0"/>
              <a:t>=</a:t>
            </a:r>
            <a:r>
              <a:rPr lang="en-US" sz="2800" i="1" dirty="0" err="1"/>
              <a:t>i</a:t>
            </a:r>
            <a:r>
              <a:rPr lang="en-US" sz="2800" i="1" dirty="0"/>
              <a:t>;</a:t>
            </a:r>
          </a:p>
          <a:p>
            <a:pPr marL="0" indent="0" algn="just">
              <a:buNone/>
            </a:pPr>
            <a:r>
              <a:rPr lang="en-US" sz="2800" i="1" dirty="0"/>
              <a:t>	</a:t>
            </a:r>
            <a:r>
              <a:rPr lang="en-US" sz="2800" i="1" dirty="0" err="1"/>
              <a:t>i</a:t>
            </a:r>
            <a:r>
              <a:rPr lang="en-US" sz="2800" i="1" dirty="0"/>
              <a:t>=i+1;</a:t>
            </a:r>
          </a:p>
          <a:p>
            <a:pPr marL="0" indent="0" algn="just">
              <a:buNone/>
            </a:pPr>
            <a:r>
              <a:rPr lang="en-US" sz="2800" i="1" dirty="0"/>
              <a:t>	</a:t>
            </a:r>
            <a:r>
              <a:rPr lang="en-US" sz="2800" i="1" dirty="0" err="1"/>
              <a:t>Lặp</a:t>
            </a:r>
            <a:r>
              <a:rPr lang="en-US" sz="2800" i="1" dirty="0"/>
              <a:t> </a:t>
            </a:r>
            <a:r>
              <a:rPr lang="en-US" sz="2800" i="1" dirty="0" err="1"/>
              <a:t>lại</a:t>
            </a:r>
            <a:r>
              <a:rPr lang="en-US" sz="2800" i="1" dirty="0"/>
              <a:t> </a:t>
            </a:r>
            <a:r>
              <a:rPr lang="en-US" sz="2800" i="1" dirty="0" err="1"/>
              <a:t>Bước</a:t>
            </a:r>
            <a:r>
              <a:rPr lang="en-US" sz="2800" i="1" dirty="0"/>
              <a:t> 2;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B38ACA-AC22-4D21-8FDD-1684906EE2FF}" type="slidenum">
              <a:rPr lang="en-US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459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4800"/>
            <a:ext cx="8001000" cy="1066800"/>
          </a:xfrm>
        </p:spPr>
        <p:txBody>
          <a:bodyPr>
            <a:normAutofit fontScale="90000"/>
          </a:bodyPr>
          <a:lstStyle/>
          <a:p>
            <a:pPr marL="320040" indent="-320040">
              <a:buClr>
                <a:schemeClr val="accent6">
                  <a:lumMod val="75000"/>
                </a:schemeClr>
              </a:buClr>
              <a:defRPr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LT1_2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80" name="Content Placeholder 2"/>
          <p:cNvSpPr>
            <a:spLocks noGrp="1"/>
          </p:cNvSpPr>
          <p:nvPr>
            <p:ph idx="1"/>
          </p:nvPr>
        </p:nvSpPr>
        <p:spPr>
          <a:xfrm>
            <a:off x="1981200" y="1203324"/>
            <a:ext cx="8001000" cy="5502276"/>
          </a:xfrm>
        </p:spPr>
        <p:txBody>
          <a:bodyPr>
            <a:noAutofit/>
          </a:bodyPr>
          <a:lstStyle/>
          <a:p>
            <a:pPr algn="just" eaLnBrk="1" hangingPunct="1"/>
            <a:r>
              <a:rPr lang="en-US" sz="2800" b="1" dirty="0"/>
              <a:t>Input</a:t>
            </a:r>
            <a:r>
              <a:rPr lang="en-US" sz="2800" dirty="0"/>
              <a:t>: </a:t>
            </a:r>
            <a:r>
              <a:rPr lang="en-US" sz="2800" dirty="0" err="1"/>
              <a:t>Mảng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dirty="0" err="1"/>
              <a:t>nguyên</a:t>
            </a:r>
            <a:r>
              <a:rPr lang="en-US" sz="2800" dirty="0"/>
              <a:t> a, </a:t>
            </a:r>
            <a:r>
              <a:rPr lang="en-US" sz="2800" dirty="0" err="1"/>
              <a:t>kích</a:t>
            </a:r>
            <a:r>
              <a:rPr lang="en-US" sz="2800" dirty="0"/>
              <a:t> </a:t>
            </a:r>
            <a:r>
              <a:rPr lang="en-US" sz="2800" dirty="0" err="1"/>
              <a:t>thước</a:t>
            </a:r>
            <a:r>
              <a:rPr lang="en-US" sz="2800" dirty="0"/>
              <a:t> n</a:t>
            </a:r>
          </a:p>
          <a:p>
            <a:pPr algn="just" eaLnBrk="1" hangingPunct="1"/>
            <a:r>
              <a:rPr lang="en-US" sz="2800" b="1" dirty="0"/>
              <a:t>Output</a:t>
            </a:r>
            <a:r>
              <a:rPr lang="en-US" sz="2800" dirty="0"/>
              <a:t>: </a:t>
            </a:r>
            <a:r>
              <a:rPr lang="en-US" sz="2800" dirty="0" err="1"/>
              <a:t>vt</a:t>
            </a:r>
            <a:r>
              <a:rPr lang="en-US" sz="2800" dirty="0"/>
              <a:t>: </a:t>
            </a:r>
            <a:r>
              <a:rPr lang="en-US" sz="2800" dirty="0" err="1"/>
              <a:t>vị</a:t>
            </a:r>
            <a:r>
              <a:rPr lang="en-US" sz="2800" dirty="0"/>
              <a:t> </a:t>
            </a:r>
            <a:r>
              <a:rPr lang="en-US" sz="2800" dirty="0" err="1"/>
              <a:t>trí</a:t>
            </a:r>
            <a:r>
              <a:rPr lang="en-US" sz="2800" dirty="0"/>
              <a:t> </a:t>
            </a:r>
            <a:r>
              <a:rPr lang="en-US" sz="2800" dirty="0" err="1"/>
              <a:t>phần</a:t>
            </a:r>
            <a:r>
              <a:rPr lang="en-US" sz="2800" dirty="0"/>
              <a:t> </a:t>
            </a:r>
            <a:r>
              <a:rPr lang="en-US" sz="2800" dirty="0" err="1"/>
              <a:t>tử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r>
              <a:rPr lang="en-US" sz="2800" dirty="0"/>
              <a:t> </a:t>
            </a:r>
            <a:r>
              <a:rPr lang="en-US" sz="2800" dirty="0" err="1"/>
              <a:t>trị</a:t>
            </a:r>
            <a:r>
              <a:rPr lang="en-US" sz="2800" dirty="0"/>
              <a:t> </a:t>
            </a:r>
            <a:r>
              <a:rPr lang="en-US" sz="2800" dirty="0" err="1"/>
              <a:t>nhỏ</a:t>
            </a:r>
            <a:r>
              <a:rPr lang="en-US" sz="2800" dirty="0"/>
              <a:t> </a:t>
            </a:r>
            <a:r>
              <a:rPr lang="en-US" sz="2800" dirty="0" err="1"/>
              <a:t>nhất</a:t>
            </a:r>
            <a:endParaRPr lang="en-US" sz="2800" dirty="0"/>
          </a:p>
          <a:p>
            <a:pPr algn="just" eaLnBrk="1" hangingPunct="1"/>
            <a:r>
              <a:rPr lang="en-US" sz="2800" b="1" dirty="0" err="1"/>
              <a:t>Pseudocode</a:t>
            </a:r>
            <a:r>
              <a:rPr lang="en-US" sz="2800" b="1" dirty="0"/>
              <a:t>:</a:t>
            </a:r>
            <a:endParaRPr lang="en-US" sz="2800" dirty="0"/>
          </a:p>
          <a:p>
            <a:pPr marL="0" indent="0" algn="just">
              <a:buNone/>
            </a:pPr>
            <a:r>
              <a:rPr lang="en-US" sz="2800" i="1" dirty="0"/>
              <a:t>	</a:t>
            </a:r>
            <a:r>
              <a:rPr lang="en-US" sz="2800" i="1" dirty="0" err="1"/>
              <a:t>i</a:t>
            </a:r>
            <a:r>
              <a:rPr lang="en-US" sz="2800" i="1" dirty="0"/>
              <a:t>=2, </a:t>
            </a:r>
            <a:r>
              <a:rPr lang="en-US" sz="2800" i="1" dirty="0" err="1"/>
              <a:t>vt</a:t>
            </a:r>
            <a:r>
              <a:rPr lang="en-US" sz="2800" i="1" dirty="0"/>
              <a:t>=1;</a:t>
            </a:r>
          </a:p>
          <a:p>
            <a:pPr marL="0" indent="0" algn="just">
              <a:buNone/>
            </a:pPr>
            <a:r>
              <a:rPr lang="en-US" sz="2800" i="1" dirty="0"/>
              <a:t>	</a:t>
            </a:r>
            <a:r>
              <a:rPr lang="en-US" sz="2800" b="1" i="1" dirty="0"/>
              <a:t>WHILE</a:t>
            </a:r>
            <a:r>
              <a:rPr lang="en-US" sz="2800" i="1" dirty="0"/>
              <a:t> </a:t>
            </a:r>
            <a:r>
              <a:rPr lang="en-US" sz="2800" i="1" dirty="0" err="1"/>
              <a:t>i</a:t>
            </a:r>
            <a:r>
              <a:rPr lang="en-US" sz="2800" i="1" dirty="0"/>
              <a:t> ≤ N </a:t>
            </a:r>
            <a:r>
              <a:rPr lang="en-US" sz="2800" b="1" i="1" dirty="0"/>
              <a:t>DO</a:t>
            </a:r>
          </a:p>
          <a:p>
            <a:pPr marL="0" indent="0" algn="just">
              <a:buNone/>
            </a:pPr>
            <a:r>
              <a:rPr lang="en-US" sz="2800" i="1" dirty="0"/>
              <a:t>		</a:t>
            </a:r>
            <a:r>
              <a:rPr lang="en-US" sz="2800" b="1" i="1" dirty="0"/>
              <a:t>IF</a:t>
            </a:r>
            <a:r>
              <a:rPr lang="en-US" sz="2800" i="1" dirty="0"/>
              <a:t> a[</a:t>
            </a:r>
            <a:r>
              <a:rPr lang="en-US" sz="2800" i="1" dirty="0" err="1"/>
              <a:t>i</a:t>
            </a:r>
            <a:r>
              <a:rPr lang="en-US" sz="2800" i="1" dirty="0"/>
              <a:t>]&lt;a[</a:t>
            </a:r>
            <a:r>
              <a:rPr lang="en-US" sz="2800" i="1" dirty="0" err="1"/>
              <a:t>vt</a:t>
            </a:r>
            <a:r>
              <a:rPr lang="en-US" sz="2800" i="1" dirty="0"/>
              <a:t>] </a:t>
            </a:r>
            <a:r>
              <a:rPr lang="en-US" sz="2800" b="1" i="1" dirty="0"/>
              <a:t>THEN</a:t>
            </a:r>
          </a:p>
          <a:p>
            <a:pPr marL="0" indent="0" algn="just">
              <a:buNone/>
            </a:pPr>
            <a:r>
              <a:rPr lang="en-US" sz="2800" i="1" dirty="0"/>
              <a:t>			</a:t>
            </a:r>
            <a:r>
              <a:rPr lang="en-US" sz="2800" i="1" dirty="0" err="1"/>
              <a:t>vt</a:t>
            </a:r>
            <a:r>
              <a:rPr lang="en-US" sz="2800" i="1" dirty="0"/>
              <a:t>=</a:t>
            </a:r>
            <a:r>
              <a:rPr lang="en-US" sz="2800" i="1" dirty="0" err="1"/>
              <a:t>i</a:t>
            </a:r>
            <a:r>
              <a:rPr lang="en-US" sz="2800" i="1" dirty="0"/>
              <a:t>;</a:t>
            </a:r>
          </a:p>
          <a:p>
            <a:pPr marL="0" indent="0" algn="just">
              <a:buNone/>
            </a:pPr>
            <a:r>
              <a:rPr lang="en-US" sz="2800" i="1" dirty="0"/>
              <a:t>		</a:t>
            </a:r>
            <a:r>
              <a:rPr lang="en-US" sz="2800" i="1" dirty="0" err="1"/>
              <a:t>i</a:t>
            </a:r>
            <a:r>
              <a:rPr lang="en-US" sz="2800" i="1" dirty="0"/>
              <a:t>=i+1;</a:t>
            </a:r>
          </a:p>
          <a:p>
            <a:pPr marL="0" indent="0" algn="just">
              <a:buNone/>
            </a:pPr>
            <a:r>
              <a:rPr lang="en-US" sz="2800" i="1" dirty="0"/>
              <a:t>	</a:t>
            </a:r>
            <a:r>
              <a:rPr lang="en-US" sz="2800" b="1" i="1" dirty="0"/>
              <a:t>END</a:t>
            </a:r>
            <a:r>
              <a:rPr lang="en-US" sz="2800" i="1" dirty="0"/>
              <a:t> </a:t>
            </a:r>
            <a:r>
              <a:rPr lang="en-US" sz="2800" b="1" i="1" dirty="0"/>
              <a:t>WHILE</a:t>
            </a:r>
          </a:p>
          <a:p>
            <a:pPr marL="0" indent="0" algn="just">
              <a:buNone/>
            </a:pPr>
            <a:r>
              <a:rPr lang="en-US" sz="2800" i="1" dirty="0"/>
              <a:t>	</a:t>
            </a:r>
            <a:r>
              <a:rPr lang="en-US" sz="2800" b="1" i="1" dirty="0"/>
              <a:t>RETURN</a:t>
            </a:r>
            <a:r>
              <a:rPr lang="en-US" sz="2800" i="1" dirty="0"/>
              <a:t> </a:t>
            </a:r>
            <a:r>
              <a:rPr lang="en-US" sz="2800" i="1" dirty="0" err="1"/>
              <a:t>vt</a:t>
            </a:r>
            <a:r>
              <a:rPr lang="en-US" sz="2800" i="1" dirty="0"/>
              <a:t>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B38ACA-AC22-4D21-8FDD-1684906EE2FF}" type="slidenum">
              <a:rPr lang="en-US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68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8001000" cy="1066800"/>
          </a:xfrm>
        </p:spPr>
        <p:txBody>
          <a:bodyPr>
            <a:normAutofit fontScale="90000"/>
          </a:bodyPr>
          <a:lstStyle/>
          <a:p>
            <a:pPr marL="320040" indent="-320040">
              <a:buClr>
                <a:schemeClr val="accent6">
                  <a:lumMod val="75000"/>
                </a:schemeClr>
              </a:buClr>
              <a:defRPr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LT1_2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80" name="Content Placeholder 2"/>
          <p:cNvSpPr>
            <a:spLocks noGrp="1"/>
          </p:cNvSpPr>
          <p:nvPr>
            <p:ph idx="1"/>
          </p:nvPr>
        </p:nvSpPr>
        <p:spPr>
          <a:xfrm>
            <a:off x="1981200" y="1050924"/>
            <a:ext cx="8001000" cy="5502276"/>
          </a:xfrm>
        </p:spPr>
        <p:txBody>
          <a:bodyPr>
            <a:noAutofit/>
          </a:bodyPr>
          <a:lstStyle/>
          <a:p>
            <a:pPr algn="just" eaLnBrk="1" hangingPunct="1"/>
            <a:r>
              <a:rPr lang="en-US" sz="2800" b="1" dirty="0"/>
              <a:t>Flow Chart:</a:t>
            </a:r>
            <a:r>
              <a:rPr lang="en-US" sz="2800" i="1" dirty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B38ACA-AC22-4D21-8FDD-1684906EE2FF}" type="slidenum">
              <a:rPr lang="en-US"/>
              <a:pPr>
                <a:defRPr/>
              </a:pPr>
              <a:t>26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51" y="1457448"/>
            <a:ext cx="7829550" cy="5091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46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AC803A-1B25-4D7C-8D52-15653B907192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328" y="1152871"/>
            <a:ext cx="5131344" cy="455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204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1315</TotalTime>
  <Words>1133</Words>
  <Application>Microsoft Office PowerPoint</Application>
  <PresentationFormat>Widescreen</PresentationFormat>
  <Paragraphs>609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Chương 3. GIẢI THUẬT TÌM KIẾM</vt:lpstr>
      <vt:lpstr>Suy nghĩ</vt:lpstr>
      <vt:lpstr>Các giải thuật tìm kiếm</vt:lpstr>
      <vt:lpstr>1. Tìm kiếm tuyến tính (Linear Search)</vt:lpstr>
      <vt:lpstr>1. Tìm kiếm tuyến tính</vt:lpstr>
      <vt:lpstr>PowerPoint Presentation</vt:lpstr>
      <vt:lpstr>Nguyên tắc cài đặt hàm tìm kiếm</vt:lpstr>
      <vt:lpstr>PowerPoint Presentation</vt:lpstr>
      <vt:lpstr>Cải tiến</vt:lpstr>
      <vt:lpstr>PowerPoint Presentation</vt:lpstr>
      <vt:lpstr>2. Tìm kiếm nhị phân (Binary Search)</vt:lpstr>
      <vt:lpstr>PowerPoint Presentation</vt:lpstr>
      <vt:lpstr>PowerPoint Presentation</vt:lpstr>
      <vt:lpstr>PowerPoint Presentation</vt:lpstr>
      <vt:lpstr>PowerPoint Presentation</vt:lpstr>
      <vt:lpstr>Code minh họa</vt:lpstr>
      <vt:lpstr>PowerPoint Presentation</vt:lpstr>
      <vt:lpstr>PowerPoint Presentation</vt:lpstr>
      <vt:lpstr>PowerPoint Presentation</vt:lpstr>
      <vt:lpstr>Bài tập áp dụng VN</vt:lpstr>
      <vt:lpstr>Bài tập lý thuyết</vt:lpstr>
      <vt:lpstr>Bài tập lý thuyết – Hướng dẫn</vt:lpstr>
      <vt:lpstr>Bài tập lý thuyết – Hướng dẫn</vt:lpstr>
      <vt:lpstr>Bài tập lý thuyết – Hướng dẫn LT1_2</vt:lpstr>
      <vt:lpstr>Bài tập lý thuyết – Hướng dẫn LT1_2</vt:lpstr>
      <vt:lpstr>Bài tập lý thuyết – Hướng dẫn LT1_2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Minh Thai</dc:creator>
  <cp:lastModifiedBy>Windows User</cp:lastModifiedBy>
  <cp:revision>144</cp:revision>
  <dcterms:created xsi:type="dcterms:W3CDTF">2007-08-28T06:01:43Z</dcterms:created>
  <dcterms:modified xsi:type="dcterms:W3CDTF">2024-05-09T03:50:04Z</dcterms:modified>
</cp:coreProperties>
</file>