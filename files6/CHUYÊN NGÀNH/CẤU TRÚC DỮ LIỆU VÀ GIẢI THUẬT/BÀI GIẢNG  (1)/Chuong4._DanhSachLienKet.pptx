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</p:sldMasterIdLst>
  <p:notesMasterIdLst>
    <p:notesMasterId r:id="rId37"/>
  </p:notesMasterIdLst>
  <p:handoutMasterIdLst>
    <p:handoutMasterId r:id="rId38"/>
  </p:handoutMasterIdLst>
  <p:sldIdLst>
    <p:sldId id="294" r:id="rId5"/>
    <p:sldId id="260" r:id="rId6"/>
    <p:sldId id="261" r:id="rId7"/>
    <p:sldId id="263" r:id="rId8"/>
    <p:sldId id="265" r:id="rId9"/>
    <p:sldId id="267" r:id="rId10"/>
    <p:sldId id="269" r:id="rId11"/>
    <p:sldId id="270" r:id="rId12"/>
    <p:sldId id="272" r:id="rId13"/>
    <p:sldId id="273" r:id="rId14"/>
    <p:sldId id="271" r:id="rId15"/>
    <p:sldId id="274" r:id="rId16"/>
    <p:sldId id="275" r:id="rId17"/>
    <p:sldId id="276" r:id="rId18"/>
    <p:sldId id="266" r:id="rId19"/>
    <p:sldId id="277" r:id="rId20"/>
    <p:sldId id="278" r:id="rId21"/>
    <p:sldId id="290" r:id="rId22"/>
    <p:sldId id="279" r:id="rId23"/>
    <p:sldId id="280" r:id="rId24"/>
    <p:sldId id="281" r:id="rId25"/>
    <p:sldId id="282" r:id="rId26"/>
    <p:sldId id="283" r:id="rId27"/>
    <p:sldId id="285" r:id="rId28"/>
    <p:sldId id="284" r:id="rId29"/>
    <p:sldId id="286" r:id="rId30"/>
    <p:sldId id="287" r:id="rId31"/>
    <p:sldId id="288" r:id="rId32"/>
    <p:sldId id="289" r:id="rId33"/>
    <p:sldId id="292" r:id="rId34"/>
    <p:sldId id="293" r:id="rId35"/>
    <p:sldId id="25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870F7F-DF72-44BF-90ED-7B2752AB4779}">
          <p14:sldIdLst>
            <p14:sldId id="294"/>
            <p14:sldId id="260"/>
            <p14:sldId id="261"/>
            <p14:sldId id="263"/>
            <p14:sldId id="265"/>
            <p14:sldId id="267"/>
            <p14:sldId id="269"/>
            <p14:sldId id="270"/>
            <p14:sldId id="272"/>
            <p14:sldId id="273"/>
            <p14:sldId id="271"/>
            <p14:sldId id="274"/>
            <p14:sldId id="275"/>
            <p14:sldId id="276"/>
            <p14:sldId id="266"/>
            <p14:sldId id="277"/>
            <p14:sldId id="278"/>
            <p14:sldId id="290"/>
            <p14:sldId id="279"/>
            <p14:sldId id="280"/>
            <p14:sldId id="281"/>
            <p14:sldId id="282"/>
            <p14:sldId id="283"/>
            <p14:sldId id="285"/>
            <p14:sldId id="284"/>
            <p14:sldId id="286"/>
            <p14:sldId id="287"/>
            <p14:sldId id="288"/>
            <p14:sldId id="289"/>
            <p14:sldId id="292"/>
            <p14:sldId id="293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chNgan" initials="B" lastIdx="4" clrIdx="0">
    <p:extLst>
      <p:ext uri="{19B8F6BF-5375-455C-9EA6-DF929625EA0E}">
        <p15:presenceInfo xmlns:p15="http://schemas.microsoft.com/office/powerpoint/2012/main" userId="BichNg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B4E6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26" autoAdjust="0"/>
    <p:restoredTop sz="94364" autoAdjust="0"/>
  </p:normalViewPr>
  <p:slideViewPr>
    <p:cSldViewPr snapToGrid="0">
      <p:cViewPr varScale="1">
        <p:scale>
          <a:sx n="64" d="100"/>
          <a:sy n="64" d="100"/>
        </p:scale>
        <p:origin x="5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10B176-BD9D-470D-A4F1-2E38FD3F30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DEFC32-7568-48EB-B151-DAD6CF398D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3F125-BB2F-467E-B095-52B8E5237CC4}" type="datetimeFigureOut">
              <a:rPr lang="en-US" smtClean="0"/>
              <a:t>07/10/2024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82BDE-61AA-4C27-BDD3-1A24DA282D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0C71C-A4FD-406C-90A1-AEC3B38498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872D2-0EDB-45B6-8902-676EE300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23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D2033-2E99-42E8-A74A-F7FD5F477543}" type="datetimeFigureOut">
              <a:rPr lang="en-US" smtClean="0"/>
              <a:t>07/10/2024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FC665-C52C-431E-822D-B0208836A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8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30EF23-ECF1-414A-B591-B64715482EFD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90115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748DCAA2-261F-490F-A273-6BC920BF525A}" type="slidenum">
              <a:rPr lang="en-US" sz="1200">
                <a:latin typeface="Times" pitchFamily="18" charset="0"/>
              </a:rPr>
              <a:pPr algn="r" eaLnBrk="0" hangingPunct="0"/>
              <a:t>9</a:t>
            </a:fld>
            <a:endParaRPr lang="en-US" sz="1200">
              <a:latin typeface="Times" pitchFamily="18" charset="0"/>
            </a:endParaRPr>
          </a:p>
        </p:txBody>
      </p:sp>
      <p:sp>
        <p:nvSpPr>
          <p:cNvPr id="901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What happens if you have written a program with an array of size 100  to store inventory items when the store you are working for add item # 101?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751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472224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86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16036"/>
            <a:ext cx="10058400" cy="4905859"/>
          </a:xfrm>
        </p:spPr>
        <p:txBody>
          <a:bodyPr/>
          <a:lstStyle>
            <a:lvl1pPr marL="91440" indent="-91440" algn="just">
              <a:buFont typeface="Wingdings" panose="05000000000000000000" pitchFamily="2" charset="2"/>
              <a:buChar char="v"/>
              <a:defRPr/>
            </a:lvl1pPr>
            <a:lvl2pPr marL="384048" indent="-182880" algn="just">
              <a:buFont typeface="Wingdings" panose="05000000000000000000" pitchFamily="2" charset="2"/>
              <a:buChar char="v"/>
              <a:defRPr/>
            </a:lvl2pPr>
            <a:lvl3pPr marL="566928" indent="-182880" algn="just">
              <a:buFont typeface="Wingdings" panose="05000000000000000000" pitchFamily="2" charset="2"/>
              <a:buChar char="v"/>
              <a:defRPr/>
            </a:lvl3pPr>
            <a:lvl4pPr marL="749808" indent="-182880" algn="just">
              <a:buFont typeface="Wingdings" panose="05000000000000000000" pitchFamily="2" charset="2"/>
              <a:buChar char="v"/>
              <a:defRPr/>
            </a:lvl4pPr>
            <a:lvl5pPr marL="932688" indent="-182880" algn="just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3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34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16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98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l"/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22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4627E5-2E3F-4AE1-995E-77E2B7EB78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2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0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9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Bộ môn Công nghệ phần mềm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96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0" y="57151"/>
            <a:ext cx="1219200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6069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0" y="57151"/>
            <a:ext cx="1219200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9613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0" y="57151"/>
            <a:ext cx="1219200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501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598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16037"/>
            <a:ext cx="10058400" cy="455305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459785"/>
            <a:ext cx="40313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mtClean="0"/>
              <a:t>Bộ môn Công nghệ phần mềm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4627E5-2E3F-4AE1-995E-77E2B7EB78DF}" type="slidenum">
              <a:rPr lang="en-US" smtClean="0"/>
              <a:pPr/>
              <a:t>‹#›</a:t>
            </a:fld>
            <a:endParaRPr lang="en-US" sz="120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63715" y="1181255"/>
            <a:ext cx="996696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82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1336675"/>
            <a:ext cx="2590800" cy="728662"/>
          </a:xfrm>
        </p:spPr>
        <p:txBody>
          <a:bodyPr>
            <a:noAutofit/>
          </a:bodyPr>
          <a:lstStyle/>
          <a:p>
            <a:r>
              <a:rPr lang="en-US" sz="4000" b="1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0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tiêu</a:t>
            </a:r>
            <a:endParaRPr lang="en-US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483" y="1981198"/>
            <a:ext cx="10287000" cy="4375150"/>
          </a:xfrm>
        </p:spPr>
        <p:txBody>
          <a:bodyPr>
            <a:noAutofit/>
          </a:bodyPr>
          <a:lstStyle/>
          <a:p>
            <a:pPr marL="347663" indent="-301625" algn="just">
              <a:lnSpc>
                <a:spcPct val="100000"/>
              </a:lnSpc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663" indent="-301625" algn="just">
              <a:lnSpc>
                <a:spcPct val="100000"/>
              </a:lnSpc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663" indent="-301625" algn="just">
              <a:lnSpc>
                <a:spcPct val="100000"/>
              </a:lnSpc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C/ C++</a:t>
            </a:r>
          </a:p>
          <a:p>
            <a:pPr marL="347663" indent="-301625" algn="just">
              <a:lnSpc>
                <a:spcPct val="100000"/>
              </a:lnSpc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498475"/>
            <a:ext cx="113538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en-US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4. DANH SÁCH LIÊN KẾT ĐƠN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0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182" y="450229"/>
            <a:ext cx="10042497" cy="841858"/>
          </a:xfrm>
        </p:spPr>
        <p:txBody>
          <a:bodyPr/>
          <a:lstStyle/>
          <a:p>
            <a:r>
              <a:rPr lang="en-US" sz="4400" dirty="0" smtClean="0">
                <a:solidFill>
                  <a:srgbClr val="0070C0"/>
                </a:solidFill>
                <a:latin typeface="+mn-lt"/>
              </a:rPr>
              <a:t>NỘI DUNG</a:t>
            </a:r>
            <a:endParaRPr lang="en-US" sz="44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280" y="1349247"/>
            <a:ext cx="6071972" cy="4905859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2400" b="1" smtClean="0">
                <a:solidFill>
                  <a:srgbClr val="0070C0"/>
                </a:solidFill>
                <a:latin typeface="+mn-lt"/>
              </a:rPr>
              <a:t> ĐẶT VẤN ĐỀ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XÉT VÍ DỤ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BIẾN TĨNH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BIẾN ĐỘNG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CON TRỎ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TÍNH CHẤT MẢNG MỘT CHIỀU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TÍCH CHẤT DANH SÁCH LIÊN KẾT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b="1" smtClean="0">
                <a:solidFill>
                  <a:srgbClr val="0070C0"/>
                </a:solidFill>
                <a:latin typeface="+mn-lt"/>
              </a:rPr>
              <a:t>DANH SÁCH LIÊN KẾT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ĐỊNH NGHĨA DSLK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CÁC LOẠI DSLK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DANH SÁCH LIÊN KẾT ĐƠN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KHAI BÁO DSLK ĐƠN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 sz="2000" b="1" smtClean="0">
                <a:solidFill>
                  <a:srgbClr val="0070C0"/>
                </a:solidFill>
                <a:latin typeface="+mn-lt"/>
              </a:rPr>
              <a:t>CÁC THAO TÁC CƠ BẢN TRÊN DSLK</a:t>
            </a:r>
          </a:p>
          <a:p>
            <a:pPr marL="806958" lvl="1" indent="-514350">
              <a:buFont typeface="+mj-lt"/>
              <a:buAutoNum type="arabicPeriod"/>
            </a:pPr>
            <a:endParaRPr lang="en-US" sz="2000" b="1" dirty="0" smtClean="0">
              <a:solidFill>
                <a:srgbClr val="0070C0"/>
              </a:solidFill>
              <a:latin typeface="+mn-lt"/>
            </a:endParaRPr>
          </a:p>
          <a:p>
            <a:pPr marL="806958" lvl="1" indent="-514350">
              <a:buFont typeface="+mj-lt"/>
              <a:buAutoNum type="arabicPeriod"/>
            </a:pPr>
            <a:endParaRPr lang="en-US" sz="2000" b="1" dirty="0" smtClean="0">
              <a:solidFill>
                <a:srgbClr val="0070C0"/>
              </a:solidFill>
              <a:latin typeface="+mn-lt"/>
            </a:endParaRPr>
          </a:p>
          <a:p>
            <a:pPr marL="806958" lvl="1" indent="-514350">
              <a:buFont typeface="+mj-lt"/>
              <a:buAutoNum type="arabicPeriod"/>
            </a:pPr>
            <a:endParaRPr lang="en-US" sz="2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8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52" y="1202196"/>
            <a:ext cx="10058400" cy="759871"/>
          </a:xfrm>
        </p:spPr>
        <p:txBody>
          <a:bodyPr/>
          <a:lstStyle/>
          <a:p>
            <a:r>
              <a:rPr lang="en-US" smtClean="0">
                <a:solidFill>
                  <a:srgbClr val="0070C0"/>
                </a:solidFill>
              </a:rPr>
              <a:t>1. Xét ví dụ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52" y="2010830"/>
            <a:ext cx="10058400" cy="4228246"/>
          </a:xfrm>
        </p:spPr>
        <p:txBody>
          <a:bodyPr>
            <a:normAutofit/>
          </a:bodyPr>
          <a:lstStyle/>
          <a:p>
            <a:r>
              <a:rPr lang="en-US" sz="2400" smtClean="0"/>
              <a:t> Cho mảng một chiều (cấu trúc dữ liệu tĩnh).</a:t>
            </a:r>
          </a:p>
          <a:p>
            <a:endParaRPr lang="en-US" sz="2400" smtClean="0"/>
          </a:p>
          <a:p>
            <a:r>
              <a:rPr lang="en-US" sz="2400" smtClean="0"/>
              <a:t> Chèn x=4 vào vị trí 3?</a:t>
            </a:r>
          </a:p>
          <a:p>
            <a:endParaRPr lang="en-US" sz="2400" smtClean="0"/>
          </a:p>
          <a:p>
            <a:endParaRPr lang="en-US" sz="2400" smtClean="0"/>
          </a:p>
          <a:p>
            <a:r>
              <a:rPr lang="en-US" sz="2400" smtClean="0"/>
              <a:t> Xoá phần tử có giá trị x = 7</a:t>
            </a:r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E9BAE9D3-72F4-4BD7-B7C9-E2914A016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013392"/>
              </p:ext>
            </p:extLst>
          </p:nvPr>
        </p:nvGraphicFramePr>
        <p:xfrm>
          <a:off x="6519641" y="1582540"/>
          <a:ext cx="5181603" cy="99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494187927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4253142520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76117385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82820722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028274456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279930684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155775804"/>
                    </a:ext>
                  </a:extLst>
                </a:gridCol>
              </a:tblGrid>
              <a:tr h="286021"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0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1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2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3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4</a:t>
                      </a:r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5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6</a:t>
                      </a:r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27739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53711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BD0623-756B-4831-84F1-B26C91258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124615"/>
              </p:ext>
            </p:extLst>
          </p:nvPr>
        </p:nvGraphicFramePr>
        <p:xfrm>
          <a:off x="3626256" y="2645997"/>
          <a:ext cx="5181603" cy="99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494187927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4253142520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76117385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82820722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028274456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279930684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155775804"/>
                    </a:ext>
                  </a:extLst>
                </a:gridCol>
              </a:tblGrid>
              <a:tr h="146902"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0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1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2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3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4</a:t>
                      </a:r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5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6</a:t>
                      </a:r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73243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53711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BD0623-756B-4831-84F1-B26C91258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126537"/>
              </p:ext>
            </p:extLst>
          </p:nvPr>
        </p:nvGraphicFramePr>
        <p:xfrm>
          <a:off x="4639343" y="4160311"/>
          <a:ext cx="5181603" cy="99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494187927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4253142520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76117385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828207223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028274456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3279930684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155775804"/>
                    </a:ext>
                  </a:extLst>
                </a:gridCol>
              </a:tblGrid>
              <a:tr h="262607"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0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1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2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3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4</a:t>
                      </a:r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5</a:t>
                      </a:r>
                      <a:endParaRPr lang="en-US" sz="1400" b="1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mtClean="0"/>
                        <a:t>6</a:t>
                      </a:r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7976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537113"/>
                  </a:ext>
                </a:extLst>
              </a:tr>
            </a:tbl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6126480" y="3867860"/>
            <a:ext cx="3549234" cy="1198720"/>
            <a:chOff x="6255687" y="3301332"/>
            <a:chExt cx="3549234" cy="119872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6255687" y="3882014"/>
              <a:ext cx="738344" cy="61803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6255687" y="3882014"/>
              <a:ext cx="738344" cy="61803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Left Brace 15"/>
            <p:cNvSpPr/>
            <p:nvPr/>
          </p:nvSpPr>
          <p:spPr>
            <a:xfrm rot="5400000">
              <a:off x="8240569" y="2307723"/>
              <a:ext cx="570742" cy="2557962"/>
            </a:xfrm>
            <a:prstGeom prst="leftBrace">
              <a:avLst>
                <a:gd name="adj1" fmla="val 8333"/>
                <a:gd name="adj2" fmla="val 53201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Curved Connector 17"/>
            <p:cNvCxnSpPr/>
            <p:nvPr/>
          </p:nvCxnSpPr>
          <p:spPr>
            <a:xfrm rot="10800000" flipV="1">
              <a:off x="6469946" y="3301332"/>
              <a:ext cx="1650472" cy="369915"/>
            </a:xfrm>
            <a:prstGeom prst="curvedConnector3">
              <a:avLst>
                <a:gd name="adj1" fmla="val 99614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Arrow: Right 5">
            <a:extLst>
              <a:ext uri="{FF2B5EF4-FFF2-40B4-BE49-F238E27FC236}">
                <a16:creationId xmlns:a16="http://schemas.microsoft.com/office/drawing/2014/main" id="{7AC0FAD9-7A15-4851-A3FD-411A6837644C}"/>
              </a:ext>
            </a:extLst>
          </p:cNvPr>
          <p:cNvSpPr/>
          <p:nvPr/>
        </p:nvSpPr>
        <p:spPr bwMode="auto">
          <a:xfrm>
            <a:off x="1155440" y="5514108"/>
            <a:ext cx="762000" cy="457200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63EACC-DF0F-4289-A3F6-323687DB2D26}"/>
              </a:ext>
            </a:extLst>
          </p:cNvPr>
          <p:cNvSpPr txBox="1"/>
          <p:nvPr/>
        </p:nvSpPr>
        <p:spPr>
          <a:xfrm>
            <a:off x="1917440" y="5521938"/>
            <a:ext cx="7794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Độ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phức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tạp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err="1">
                <a:solidFill>
                  <a:srgbClr val="FF0000"/>
                </a:solidFill>
              </a:rPr>
              <a:t>của</a:t>
            </a:r>
            <a:r>
              <a:rPr lang="en-US" sz="2400" b="1">
                <a:solidFill>
                  <a:srgbClr val="FF0000"/>
                </a:solidFill>
              </a:rPr>
              <a:t> </a:t>
            </a:r>
            <a:r>
              <a:rPr lang="en-US" sz="2400" b="1" smtClean="0">
                <a:solidFill>
                  <a:srgbClr val="FF0000"/>
                </a:solidFill>
              </a:rPr>
              <a:t>việc chèn/xóa </a:t>
            </a:r>
            <a:r>
              <a:rPr lang="en-US" sz="2400" b="1" dirty="0" err="1">
                <a:solidFill>
                  <a:srgbClr val="FF0000"/>
                </a:solidFill>
              </a:rPr>
              <a:t>trên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mảng</a:t>
            </a:r>
            <a:r>
              <a:rPr lang="en-US" sz="2400" b="1" dirty="0">
                <a:solidFill>
                  <a:srgbClr val="FF0000"/>
                </a:solidFill>
              </a:rPr>
              <a:t> 1 </a:t>
            </a:r>
            <a:r>
              <a:rPr lang="en-US" sz="2400" b="1" dirty="0" err="1">
                <a:solidFill>
                  <a:srgbClr val="FF0000"/>
                </a:solidFill>
              </a:rPr>
              <a:t>chiều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là</a:t>
            </a:r>
            <a:r>
              <a:rPr lang="en-US" sz="2400" b="1" dirty="0">
                <a:solidFill>
                  <a:srgbClr val="FF0000"/>
                </a:solidFill>
              </a:rPr>
              <a:t> O(n)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215369" y="536275"/>
            <a:ext cx="10058400" cy="7806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 smtClean="0">
                <a:solidFill>
                  <a:srgbClr val="002060"/>
                </a:solidFill>
                <a:latin typeface="+mn-lt"/>
              </a:rPr>
              <a:t>I. ĐẶT VẤN ĐỀ</a:t>
            </a:r>
            <a:endParaRPr lang="en-US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14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79104"/>
            <a:ext cx="10058400" cy="759871"/>
          </a:xfrm>
        </p:spPr>
        <p:txBody>
          <a:bodyPr/>
          <a:lstStyle/>
          <a:p>
            <a:r>
              <a:rPr lang="en-US" smtClean="0">
                <a:solidFill>
                  <a:srgbClr val="0070C0"/>
                </a:solidFill>
              </a:rPr>
              <a:t>Các vấn </a:t>
            </a:r>
            <a:r>
              <a:rPr lang="en-US" err="1">
                <a:solidFill>
                  <a:srgbClr val="0070C0"/>
                </a:solidFill>
              </a:rPr>
              <a:t>đề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 smtClean="0">
                <a:solidFill>
                  <a:srgbClr val="0070C0"/>
                </a:solidFill>
              </a:rPr>
              <a:t>hạn chế cấu </a:t>
            </a:r>
            <a:r>
              <a:rPr lang="en-US" dirty="0" err="1" smtClean="0">
                <a:solidFill>
                  <a:srgbClr val="0070C0"/>
                </a:solidFill>
              </a:rPr>
              <a:t>trúc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dữ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err="1">
                <a:solidFill>
                  <a:srgbClr val="0070C0"/>
                </a:solidFill>
              </a:rPr>
              <a:t>liệu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 smtClean="0">
                <a:solidFill>
                  <a:srgbClr val="0070C0"/>
                </a:solidFill>
              </a:rPr>
              <a:t>tĩnh 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3000" dirty="0"/>
              <a:t>Vấn đề phức tạp khi chèn/ xóa?</a:t>
            </a:r>
          </a:p>
          <a:p>
            <a:r>
              <a:rPr lang="vi-VN" sz="3000" dirty="0"/>
              <a:t>Vấn đề giới hạn kích thước vùng nhớ tối đa?</a:t>
            </a:r>
          </a:p>
          <a:p>
            <a:r>
              <a:rPr lang="vi-VN" sz="3000" dirty="0"/>
              <a:t>Vấn đề giải phóng vùng nhớ khi không cần dùng đến?</a:t>
            </a:r>
          </a:p>
          <a:p>
            <a:r>
              <a:rPr lang="vi-VN" sz="3000" dirty="0"/>
              <a:t>Vấn đề </a:t>
            </a:r>
            <a:r>
              <a:rPr lang="vi-VN" sz="3000"/>
              <a:t>vùng </a:t>
            </a:r>
            <a:r>
              <a:rPr lang="vi-VN" sz="3000" smtClean="0"/>
              <a:t>nhớ </a:t>
            </a:r>
            <a:r>
              <a:rPr lang="vi-VN" sz="3000" dirty="0"/>
              <a:t>liên tục?</a:t>
            </a:r>
          </a:p>
          <a:p>
            <a:endParaRPr lang="en-US" sz="3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4</a:t>
            </a:fld>
            <a:endParaRPr lang="en-US"/>
          </a:p>
        </p:txBody>
      </p:sp>
      <p:sp>
        <p:nvSpPr>
          <p:cNvPr id="6" name="Down Arrow 1">
            <a:extLst>
              <a:ext uri="{FF2B5EF4-FFF2-40B4-BE49-F238E27FC236}">
                <a16:creationId xmlns:a16="http://schemas.microsoft.com/office/drawing/2014/main" id="{C984733E-87BE-4D9B-8804-DF2CF1AA1912}"/>
              </a:ext>
            </a:extLst>
          </p:cNvPr>
          <p:cNvSpPr/>
          <p:nvPr/>
        </p:nvSpPr>
        <p:spPr>
          <a:xfrm rot="16200000">
            <a:off x="1097280" y="3965054"/>
            <a:ext cx="914400" cy="9144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BE45981-AD95-4728-B151-8BB6AAC4D0B2}"/>
              </a:ext>
            </a:extLst>
          </p:cNvPr>
          <p:cNvSpPr txBox="1">
            <a:spLocks noChangeArrowheads="1"/>
          </p:cNvSpPr>
          <p:nvPr/>
        </p:nvSpPr>
        <p:spPr>
          <a:xfrm>
            <a:off x="2240280" y="3965053"/>
            <a:ext cx="7315200" cy="1139209"/>
          </a:xfrm>
          <a:prstGeom prst="rect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8" indent="0" algn="ctr">
              <a:buNone/>
            </a:pPr>
            <a:endParaRPr lang="en-US" sz="1050" b="1" dirty="0">
              <a:solidFill>
                <a:srgbClr val="0070C0"/>
              </a:solidFill>
            </a:endParaRPr>
          </a:p>
          <a:p>
            <a:pPr marL="46038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DÙNG CẤU TRÚC DỮ LIỆU ĐỘNG</a:t>
            </a:r>
          </a:p>
        </p:txBody>
      </p:sp>
    </p:spTree>
    <p:extLst>
      <p:ext uri="{BB962C8B-B14F-4D97-AF65-F5344CB8AC3E}">
        <p14:creationId xmlns:p14="http://schemas.microsoft.com/office/powerpoint/2010/main" val="299466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729F-733E-4558-AEB0-32E90929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50229"/>
            <a:ext cx="10058400" cy="759871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2. </a:t>
            </a:r>
            <a:r>
              <a:rPr lang="en-US" dirty="0" err="1" smtClean="0">
                <a:solidFill>
                  <a:srgbClr val="0070C0"/>
                </a:solidFill>
              </a:rPr>
              <a:t>Biến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tĩnh</a:t>
            </a:r>
            <a:r>
              <a:rPr lang="en-US" dirty="0" smtClean="0">
                <a:solidFill>
                  <a:srgbClr val="0070C0"/>
                </a:solidFill>
              </a:rPr>
              <a:t> (</a:t>
            </a:r>
            <a:r>
              <a:rPr lang="en-US" smtClean="0">
                <a:solidFill>
                  <a:srgbClr val="0070C0"/>
                </a:solidFill>
              </a:rPr>
              <a:t>static)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2008-587A-4AA6-A228-7C35A2C91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585" y="1202106"/>
            <a:ext cx="10058400" cy="4905859"/>
          </a:xfrm>
        </p:spPr>
        <p:txBody>
          <a:bodyPr>
            <a:noAutofit/>
          </a:bodyPr>
          <a:lstStyle/>
          <a:p>
            <a:pPr marL="347663" indent="-301625"/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báo</a:t>
            </a:r>
            <a:r>
              <a:rPr lang="en-US" sz="2400" b="1" dirty="0"/>
              <a:t>:</a:t>
            </a:r>
          </a:p>
          <a:p>
            <a:pPr marL="46038" indent="0">
              <a:buNone/>
            </a:pPr>
            <a:r>
              <a:rPr lang="en-US" sz="2400" dirty="0"/>
              <a:t>   	&lt;</a:t>
            </a:r>
            <a:r>
              <a:rPr lang="en-US" sz="2400" dirty="0" err="1">
                <a:solidFill>
                  <a:srgbClr val="384AFF"/>
                </a:solidFill>
              </a:rPr>
              <a:t>kiểu</a:t>
            </a:r>
            <a:r>
              <a:rPr lang="en-US" sz="2400" dirty="0">
                <a:solidFill>
                  <a:srgbClr val="384AFF"/>
                </a:solidFill>
              </a:rPr>
              <a:t> </a:t>
            </a:r>
            <a:r>
              <a:rPr lang="en-US" sz="2400" dirty="0" err="1">
                <a:solidFill>
                  <a:srgbClr val="384AFF"/>
                </a:solidFill>
              </a:rPr>
              <a:t>dữ</a:t>
            </a:r>
            <a:r>
              <a:rPr lang="en-US" sz="2400" dirty="0">
                <a:solidFill>
                  <a:srgbClr val="384AFF"/>
                </a:solidFill>
              </a:rPr>
              <a:t> </a:t>
            </a:r>
            <a:r>
              <a:rPr lang="en-US" sz="2400" dirty="0" err="1">
                <a:solidFill>
                  <a:srgbClr val="384AFF"/>
                </a:solidFill>
              </a:rPr>
              <a:t>liệu</a:t>
            </a:r>
            <a:r>
              <a:rPr lang="en-US" sz="2400" dirty="0"/>
              <a:t>&gt; </a:t>
            </a:r>
            <a:r>
              <a:rPr lang="en-US" sz="2400" dirty="0" err="1">
                <a:solidFill>
                  <a:srgbClr val="C00000"/>
                </a:solidFill>
              </a:rPr>
              <a:t>tên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biến</a:t>
            </a:r>
            <a:r>
              <a:rPr lang="en-US" sz="2400" dirty="0"/>
              <a:t>;</a:t>
            </a:r>
          </a:p>
          <a:p>
            <a:pPr marL="46038" indent="0">
              <a:buNone/>
            </a:pPr>
            <a:r>
              <a:rPr lang="en-US" sz="2400" dirty="0"/>
              <a:t>   </a:t>
            </a:r>
          </a:p>
          <a:p>
            <a:pPr marL="503238" indent="-457200"/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: </a:t>
            </a:r>
            <a:r>
              <a:rPr lang="en-US" sz="2400" dirty="0" err="1">
                <a:solidFill>
                  <a:srgbClr val="1337E6"/>
                </a:solidFill>
              </a:rPr>
              <a:t>int</a:t>
            </a:r>
            <a:r>
              <a:rPr lang="en-US" sz="2400" dirty="0"/>
              <a:t> a; </a:t>
            </a:r>
            <a:r>
              <a:rPr lang="en-US" sz="2400" dirty="0">
                <a:solidFill>
                  <a:srgbClr val="1337E6"/>
                </a:solidFill>
              </a:rPr>
              <a:t>float</a:t>
            </a:r>
            <a:r>
              <a:rPr lang="en-US" sz="2400" dirty="0"/>
              <a:t> y; </a:t>
            </a:r>
            <a:r>
              <a:rPr lang="en-US" sz="2400" dirty="0">
                <a:solidFill>
                  <a:srgbClr val="1337E6"/>
                </a:solidFill>
              </a:rPr>
              <a:t>char</a:t>
            </a:r>
            <a:r>
              <a:rPr lang="en-US" sz="2400" dirty="0"/>
              <a:t> s[20];</a:t>
            </a:r>
          </a:p>
          <a:p>
            <a:pPr marL="46038" indent="0">
              <a:buNone/>
            </a:pPr>
            <a:r>
              <a:rPr lang="en-US" sz="2800" dirty="0"/>
              <a:t>	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= 10; //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gán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giá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trị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</a:t>
            </a:r>
            <a:endParaRPr lang="en-US" sz="2400" dirty="0"/>
          </a:p>
          <a:p>
            <a:pPr marL="503238" indent="-457200"/>
            <a:endParaRPr lang="en-US" sz="2400" dirty="0"/>
          </a:p>
          <a:p>
            <a:pPr marL="503238" indent="-457200">
              <a:lnSpc>
                <a:spcPct val="100000"/>
              </a:lnSpc>
            </a:pPr>
            <a:r>
              <a:rPr lang="en-US" sz="2800" b="1" dirty="0" err="1"/>
              <a:t>Đặc</a:t>
            </a:r>
            <a:r>
              <a:rPr lang="en-US" sz="2800" b="1" dirty="0"/>
              <a:t> </a:t>
            </a:r>
            <a:r>
              <a:rPr lang="en-US" sz="2800" b="1" dirty="0" err="1"/>
              <a:t>điểm</a:t>
            </a:r>
            <a:r>
              <a:rPr lang="en-US" sz="2800" b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sz="2400" dirty="0"/>
              <a:t>Tồn tại trong phạm vi khai báo</a:t>
            </a:r>
            <a:r>
              <a:rPr lang="en-US" sz="2400" dirty="0"/>
              <a:t> (</a:t>
            </a:r>
            <a:r>
              <a:rPr lang="en-US" sz="2400" dirty="0" err="1"/>
              <a:t>tầm</a:t>
            </a:r>
            <a:r>
              <a:rPr lang="en-US" sz="2400" dirty="0"/>
              <a:t> </a:t>
            </a:r>
            <a:r>
              <a:rPr lang="en-US" sz="2400" dirty="0" err="1"/>
              <a:t>vực</a:t>
            </a:r>
            <a:r>
              <a:rPr lang="en-US" sz="2400" dirty="0"/>
              <a:t>).</a:t>
            </a:r>
            <a:endParaRPr lang="vi-VN" sz="2400" dirty="0"/>
          </a:p>
          <a:p>
            <a:pPr lvl="1">
              <a:lnSpc>
                <a:spcPct val="100000"/>
              </a:lnSpc>
            </a:pPr>
            <a:r>
              <a:rPr lang="vi-VN" sz="2400" dirty="0"/>
              <a:t>Được cấp phát vùng nhớ trong vùng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vi-VN" sz="2400" dirty="0"/>
              <a:t>dữ liệu</a:t>
            </a:r>
            <a:r>
              <a:rPr lang="en-US" sz="2400" dirty="0"/>
              <a:t>.</a:t>
            </a:r>
            <a:endParaRPr lang="vi-VN" sz="2400" dirty="0"/>
          </a:p>
          <a:p>
            <a:pPr lvl="1">
              <a:lnSpc>
                <a:spcPct val="100000"/>
              </a:lnSpc>
            </a:pPr>
            <a:r>
              <a:rPr lang="vi-VN" sz="2400" dirty="0"/>
              <a:t>Kích thước cố định</a:t>
            </a:r>
            <a:r>
              <a:rPr lang="en-US" sz="2400" dirty="0"/>
              <a:t>.</a:t>
            </a:r>
            <a:endParaRPr lang="vi-VN" sz="2400" dirty="0"/>
          </a:p>
          <a:p>
            <a:endParaRPr lang="en-US" sz="2400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5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6455391" y="1516568"/>
            <a:ext cx="5281684" cy="2395440"/>
            <a:chOff x="7391400" y="2062480"/>
            <a:chExt cx="3048000" cy="104029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539291-14E6-45EF-AA23-614A0DA2F877}"/>
                </a:ext>
              </a:extLst>
            </p:cNvPr>
            <p:cNvSpPr txBox="1"/>
            <p:nvPr/>
          </p:nvSpPr>
          <p:spPr>
            <a:xfrm>
              <a:off x="8686800" y="2895600"/>
              <a:ext cx="457200" cy="207176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500"/>
                <a:t>10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17FD88-C764-4A76-B374-0AD7B21D9102}"/>
                </a:ext>
              </a:extLst>
            </p:cNvPr>
            <p:cNvSpPr txBox="1"/>
            <p:nvPr/>
          </p:nvSpPr>
          <p:spPr>
            <a:xfrm>
              <a:off x="8229600" y="2895600"/>
              <a:ext cx="457200" cy="207176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50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43CB4F-C107-4DFE-A273-CACDC574DB88}"/>
                </a:ext>
              </a:extLst>
            </p:cNvPr>
            <p:cNvSpPr txBox="1"/>
            <p:nvPr/>
          </p:nvSpPr>
          <p:spPr>
            <a:xfrm>
              <a:off x="7391400" y="2082800"/>
              <a:ext cx="1219200" cy="207176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500" dirty="0" err="1"/>
                <a:t>Tên</a:t>
              </a:r>
              <a:r>
                <a:rPr lang="en-US" sz="2500" dirty="0"/>
                <a:t> </a:t>
              </a:r>
              <a:r>
                <a:rPr lang="en-US" sz="2500" dirty="0" err="1"/>
                <a:t>biến</a:t>
              </a:r>
              <a:endParaRPr lang="en-US" sz="25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B9AA41-781F-4726-8B90-92E6BB2329FF}"/>
                </a:ext>
              </a:extLst>
            </p:cNvPr>
            <p:cNvSpPr txBox="1"/>
            <p:nvPr/>
          </p:nvSpPr>
          <p:spPr>
            <a:xfrm>
              <a:off x="8986520" y="2062480"/>
              <a:ext cx="1452880" cy="207176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500"/>
                <a:t>Vùng giá trị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24AAEF9E-4974-4FF7-A3C5-7EFDD5F5D6D8}"/>
                </a:ext>
              </a:extLst>
            </p:cNvPr>
            <p:cNvCxnSpPr>
              <a:stCxn id="10" idx="2"/>
              <a:endCxn id="4" idx="0"/>
            </p:cNvCxnSpPr>
            <p:nvPr/>
          </p:nvCxnSpPr>
          <p:spPr bwMode="auto">
            <a:xfrm rot="5400000">
              <a:off x="9001208" y="2183848"/>
              <a:ext cx="625944" cy="797560"/>
            </a:xfrm>
            <a:prstGeom prst="curvedConnector3">
              <a:avLst>
                <a:gd name="adj1" fmla="val 50000"/>
              </a:avLst>
            </a:prstGeom>
            <a:ln w="38100">
              <a:headEnd type="none" w="med" len="med"/>
              <a:tailEnd type="triangle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064AD317-FF09-4DF6-BC98-C4CEA9CC2639}"/>
                </a:ext>
              </a:extLst>
            </p:cNvPr>
            <p:cNvCxnSpPr>
              <a:cxnSpLocks/>
              <a:endCxn id="5" idx="0"/>
            </p:cNvCxnSpPr>
            <p:nvPr/>
          </p:nvCxnSpPr>
          <p:spPr bwMode="auto">
            <a:xfrm rot="16200000" flipH="1">
              <a:off x="7926788" y="2364188"/>
              <a:ext cx="605624" cy="457200"/>
            </a:xfrm>
            <a:prstGeom prst="curvedConnector3">
              <a:avLst/>
            </a:prstGeom>
            <a:ln w="38100">
              <a:headEnd type="none" w="med" len="med"/>
              <a:tailEnd type="triangle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87433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4D7B-F20A-4AC4-9DC8-C06EBA87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40604"/>
            <a:ext cx="10058400" cy="759871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3. </a:t>
            </a:r>
            <a:r>
              <a:rPr lang="en-US" dirty="0" err="1" smtClean="0">
                <a:solidFill>
                  <a:srgbClr val="0070C0"/>
                </a:solidFill>
              </a:rPr>
              <a:t>Biến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động</a:t>
            </a:r>
            <a:r>
              <a:rPr lang="en-US" dirty="0" smtClean="0">
                <a:solidFill>
                  <a:srgbClr val="0070C0"/>
                </a:solidFill>
              </a:rPr>
              <a:t> (dynamic)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8E2B-5537-443F-B488-BF6B97490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báo</a:t>
            </a:r>
            <a:r>
              <a:rPr lang="en-US" sz="2400" b="1" dirty="0"/>
              <a:t>:</a:t>
            </a:r>
            <a:endParaRPr lang="vi-VN" sz="2400" b="1" dirty="0"/>
          </a:p>
          <a:p>
            <a:pPr marL="0" indent="0">
              <a:buNone/>
            </a:pPr>
            <a:r>
              <a:rPr lang="vi-VN" sz="2400" dirty="0"/>
              <a:t> </a:t>
            </a:r>
            <a:r>
              <a:rPr lang="en-US" sz="2400" dirty="0"/>
              <a:t>	</a:t>
            </a:r>
            <a:r>
              <a:rPr lang="vi-VN" sz="2400" dirty="0"/>
              <a:t>  &lt;</a:t>
            </a:r>
            <a:r>
              <a:rPr lang="vi-VN" sz="2400" dirty="0">
                <a:solidFill>
                  <a:srgbClr val="1337E6"/>
                </a:solidFill>
              </a:rPr>
              <a:t>kiểu dữ liệu</a:t>
            </a:r>
            <a:r>
              <a:rPr lang="vi-VN" sz="2400" dirty="0"/>
              <a:t>&gt; *</a:t>
            </a:r>
            <a:r>
              <a:rPr lang="vi-VN" sz="2400" dirty="0">
                <a:solidFill>
                  <a:srgbClr val="C00000"/>
                </a:solidFill>
              </a:rPr>
              <a:t>tên biến</a:t>
            </a:r>
            <a:r>
              <a:rPr lang="vi-VN" sz="2400" dirty="0"/>
              <a:t>;</a:t>
            </a:r>
          </a:p>
          <a:p>
            <a:pPr marL="0" indent="0">
              <a:buNone/>
            </a:pPr>
            <a:endParaRPr lang="vi-VN" sz="2400" dirty="0"/>
          </a:p>
          <a:p>
            <a:r>
              <a:rPr lang="vi-VN" sz="2400" dirty="0"/>
              <a:t>V</a:t>
            </a:r>
            <a:r>
              <a:rPr lang="en-US" sz="2400" dirty="0"/>
              <a:t>í </a:t>
            </a:r>
            <a:r>
              <a:rPr lang="vi-VN" sz="2400" dirty="0"/>
              <a:t>d</a:t>
            </a:r>
            <a:r>
              <a:rPr lang="en-US" sz="2400" dirty="0"/>
              <a:t>ụ</a:t>
            </a:r>
            <a:r>
              <a:rPr lang="vi-VN" sz="2400" dirty="0"/>
              <a:t>: </a:t>
            </a:r>
            <a:r>
              <a:rPr lang="vi-VN" sz="2400" dirty="0">
                <a:solidFill>
                  <a:srgbClr val="1337E6"/>
                </a:solidFill>
              </a:rPr>
              <a:t>int</a:t>
            </a:r>
            <a:r>
              <a:rPr lang="vi-VN" sz="2400" dirty="0"/>
              <a:t> *a; </a:t>
            </a:r>
            <a:r>
              <a:rPr lang="vi-VN" sz="2400" dirty="0">
                <a:solidFill>
                  <a:srgbClr val="1337E6"/>
                </a:solidFill>
              </a:rPr>
              <a:t>float</a:t>
            </a:r>
            <a:r>
              <a:rPr lang="vi-VN" sz="2400" dirty="0"/>
              <a:t> *y;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Đặc</a:t>
            </a:r>
            <a:r>
              <a:rPr lang="en-US" sz="2400" b="1" dirty="0"/>
              <a:t> </a:t>
            </a:r>
            <a:r>
              <a:rPr lang="en-US" sz="2400" b="1" dirty="0" err="1"/>
              <a:t>điểm</a:t>
            </a:r>
            <a:r>
              <a:rPr lang="en-US" sz="2400" b="1" dirty="0"/>
              <a:t>:</a:t>
            </a:r>
            <a:endParaRPr lang="vi-VN" sz="2400" b="1" dirty="0"/>
          </a:p>
          <a:p>
            <a:pPr lvl="1"/>
            <a:r>
              <a:rPr lang="vi-VN" sz="2400" dirty="0"/>
              <a:t>Chứa địa chỉ của một đối tượng dữ liệu</a:t>
            </a:r>
          </a:p>
          <a:p>
            <a:pPr lvl="1"/>
            <a:r>
              <a:rPr lang="vi-VN" sz="2400" dirty="0"/>
              <a:t>Được cấp phát hoặc giải phóng bộ nhớ tùy thuộc vào người lập trình</a:t>
            </a:r>
          </a:p>
          <a:p>
            <a:pPr lvl="1"/>
            <a:r>
              <a:rPr lang="vi-VN" sz="2400" dirty="0"/>
              <a:t>Kích thước có thể thay đổi</a:t>
            </a:r>
          </a:p>
          <a:p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6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391399" y="1705971"/>
            <a:ext cx="3990834" cy="2315013"/>
            <a:chOff x="7391400" y="2062480"/>
            <a:chExt cx="2743200" cy="104064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236C05-2577-46FF-B81B-F99B669636D2}"/>
                </a:ext>
              </a:extLst>
            </p:cNvPr>
            <p:cNvSpPr txBox="1"/>
            <p:nvPr/>
          </p:nvSpPr>
          <p:spPr>
            <a:xfrm>
              <a:off x="8686800" y="2895600"/>
              <a:ext cx="457200" cy="20752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AD5ABA-9E7E-4802-B02F-9131C5BBFA0E}"/>
                </a:ext>
              </a:extLst>
            </p:cNvPr>
            <p:cNvSpPr txBox="1"/>
            <p:nvPr/>
          </p:nvSpPr>
          <p:spPr>
            <a:xfrm>
              <a:off x="8229600" y="2895600"/>
              <a:ext cx="457200" cy="20752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C95498C-1F34-4C39-9DCE-4FE705583C08}"/>
                </a:ext>
              </a:extLst>
            </p:cNvPr>
            <p:cNvSpPr txBox="1"/>
            <p:nvPr/>
          </p:nvSpPr>
          <p:spPr>
            <a:xfrm>
              <a:off x="7391400" y="2082800"/>
              <a:ext cx="1219200" cy="20752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/>
                <a:t>Tên</a:t>
              </a:r>
              <a:r>
                <a:rPr lang="en-US" sz="2400" dirty="0"/>
                <a:t> </a:t>
              </a:r>
              <a:r>
                <a:rPr lang="en-US" sz="2400" dirty="0" err="1"/>
                <a:t>biến</a:t>
              </a:r>
              <a:endParaRPr lang="en-US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96FCA8-882A-4D45-87C7-493212D95593}"/>
                </a:ext>
              </a:extLst>
            </p:cNvPr>
            <p:cNvSpPr txBox="1"/>
            <p:nvPr/>
          </p:nvSpPr>
          <p:spPr>
            <a:xfrm>
              <a:off x="8986520" y="2062480"/>
              <a:ext cx="1148080" cy="20752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Địa chỉ</a:t>
              </a:r>
            </a:p>
          </p:txBody>
        </p: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57B4C798-68C5-4508-917A-9B501213A910}"/>
                </a:ext>
              </a:extLst>
            </p:cNvPr>
            <p:cNvCxnSpPr>
              <a:cxnSpLocks/>
              <a:endCxn id="12" idx="0"/>
            </p:cNvCxnSpPr>
            <p:nvPr/>
          </p:nvCxnSpPr>
          <p:spPr bwMode="auto">
            <a:xfrm rot="5400000">
              <a:off x="8822532" y="2345532"/>
              <a:ext cx="642937" cy="457199"/>
            </a:xfrm>
            <a:prstGeom prst="curvedConnector3">
              <a:avLst>
                <a:gd name="adj1" fmla="val 50000"/>
              </a:avLst>
            </a:prstGeom>
            <a:ln w="38100">
              <a:headEnd type="none" w="med" len="med"/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3B17BE69-F97F-420F-B7B7-FBCAD638AEC8}"/>
                </a:ext>
              </a:extLst>
            </p:cNvPr>
            <p:cNvCxnSpPr>
              <a:cxnSpLocks/>
              <a:endCxn id="13" idx="0"/>
            </p:cNvCxnSpPr>
            <p:nvPr/>
          </p:nvCxnSpPr>
          <p:spPr bwMode="auto">
            <a:xfrm rot="16200000" flipH="1">
              <a:off x="7926966" y="2364365"/>
              <a:ext cx="605271" cy="457199"/>
            </a:xfrm>
            <a:prstGeom prst="curvedConnector3">
              <a:avLst/>
            </a:prstGeom>
            <a:ln w="38100">
              <a:headEnd type="none" w="med" len="med"/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01976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21030D-E7B1-40B7-A8D6-D28360B0964B}"/>
              </a:ext>
            </a:extLst>
          </p:cNvPr>
          <p:cNvSpPr/>
          <p:nvPr/>
        </p:nvSpPr>
        <p:spPr>
          <a:xfrm>
            <a:off x="1097280" y="5526509"/>
            <a:ext cx="8153400" cy="517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B1D518-8F3F-423C-91E5-AFFDCDE33B6C}"/>
              </a:ext>
            </a:extLst>
          </p:cNvPr>
          <p:cNvSpPr/>
          <p:nvPr/>
        </p:nvSpPr>
        <p:spPr>
          <a:xfrm>
            <a:off x="1097280" y="4294187"/>
            <a:ext cx="81534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34D7B-F20A-4AC4-9DC8-C06EBA87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40604"/>
            <a:ext cx="10058400" cy="759871"/>
          </a:xfrm>
        </p:spPr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Biến </a:t>
            </a:r>
            <a:r>
              <a:rPr lang="en-US" smtClean="0">
                <a:solidFill>
                  <a:srgbClr val="0070C0"/>
                </a:solidFill>
              </a:rPr>
              <a:t>động 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8E2B-5537-443F-B488-BF6B97490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267911"/>
            <a:ext cx="10058400" cy="4905859"/>
          </a:xfrm>
        </p:spPr>
        <p:txBody>
          <a:bodyPr>
            <a:noAutofit/>
          </a:bodyPr>
          <a:lstStyle/>
          <a:p>
            <a:r>
              <a:rPr lang="en-US" sz="2400" b="1"/>
              <a:t>Thao tác:</a:t>
            </a:r>
            <a:endParaRPr lang="vi-VN" sz="2400" b="1"/>
          </a:p>
          <a:p>
            <a:pPr lvl="1"/>
            <a:r>
              <a:rPr lang="en-US" sz="2800" b="1"/>
              <a:t>Cấp phát bộ nhớ: </a:t>
            </a:r>
            <a:r>
              <a:rPr lang="en-US" sz="2800" b="1">
                <a:solidFill>
                  <a:srgbClr val="1337E6"/>
                </a:solidFill>
              </a:rPr>
              <a:t>new</a:t>
            </a:r>
          </a:p>
          <a:p>
            <a:pPr lvl="1"/>
            <a:r>
              <a:rPr lang="en-US" sz="2800" b="1"/>
              <a:t>Giải phóng bộ nhớ: </a:t>
            </a:r>
            <a:r>
              <a:rPr lang="en-US" sz="2800" b="1">
                <a:solidFill>
                  <a:srgbClr val="1337E6"/>
                </a:solidFill>
              </a:rPr>
              <a:t>delete</a:t>
            </a:r>
          </a:p>
          <a:p>
            <a:endParaRPr lang="en-US" sz="2800"/>
          </a:p>
          <a:p>
            <a:r>
              <a:rPr lang="en-US" sz="2400"/>
              <a:t>Ví dụ:</a:t>
            </a:r>
          </a:p>
          <a:p>
            <a:pPr marL="0" indent="0">
              <a:buNone/>
            </a:pPr>
            <a:r>
              <a:rPr lang="en-US" sz="2800"/>
              <a:t>   </a:t>
            </a:r>
            <a:r>
              <a:rPr lang="en-US" sz="2800">
                <a:solidFill>
                  <a:srgbClr val="272777"/>
                </a:solidFill>
              </a:rPr>
              <a:t>int</a:t>
            </a:r>
            <a:r>
              <a:rPr lang="en-US" sz="2800"/>
              <a:t> *a;  		//Khai báo</a:t>
            </a:r>
          </a:p>
          <a:p>
            <a:pPr marL="366078" lvl="1" indent="0">
              <a:buNone/>
            </a:pPr>
            <a:endParaRPr lang="en-US" sz="2800"/>
          </a:p>
          <a:p>
            <a:pPr marL="366078" lvl="1" indent="0">
              <a:buNone/>
            </a:pPr>
            <a:r>
              <a:rPr lang="en-US" sz="2800"/>
              <a:t>a = </a:t>
            </a:r>
            <a:r>
              <a:rPr lang="en-US" sz="2800">
                <a:solidFill>
                  <a:srgbClr val="1337E6"/>
                </a:solidFill>
              </a:rPr>
              <a:t>new</a:t>
            </a:r>
            <a:r>
              <a:rPr lang="en-US" sz="2800"/>
              <a:t> </a:t>
            </a:r>
            <a:r>
              <a:rPr lang="en-US" sz="2800">
                <a:solidFill>
                  <a:srgbClr val="272777"/>
                </a:solidFill>
              </a:rPr>
              <a:t>int</a:t>
            </a:r>
            <a:r>
              <a:rPr lang="en-US" sz="2800"/>
              <a:t>;	// Cấp phát </a:t>
            </a:r>
          </a:p>
          <a:p>
            <a:pPr marL="366078" lvl="1" indent="0">
              <a:buNone/>
            </a:pPr>
            <a:endParaRPr lang="en-US" sz="2800"/>
          </a:p>
          <a:p>
            <a:pPr marL="366078" lvl="1" indent="0">
              <a:buNone/>
            </a:pP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</a:rPr>
              <a:t>*a = 10; // … Các thao tác (…)</a:t>
            </a:r>
          </a:p>
          <a:p>
            <a:pPr marL="366078" lvl="1" indent="0">
              <a:buNone/>
            </a:pPr>
            <a:r>
              <a:rPr lang="en-US" sz="2800">
                <a:solidFill>
                  <a:srgbClr val="1337E6"/>
                </a:solidFill>
              </a:rPr>
              <a:t>delete</a:t>
            </a:r>
            <a:r>
              <a:rPr lang="en-US" sz="2800"/>
              <a:t> a; 		// Giải phóng</a:t>
            </a:r>
          </a:p>
          <a:p>
            <a:endParaRPr lang="en-US" sz="240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7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543800" y="1856098"/>
            <a:ext cx="2438400" cy="1508876"/>
            <a:chOff x="7543800" y="2819400"/>
            <a:chExt cx="2438400" cy="72277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5EE1C7-F846-41DE-9B26-7855BF4BE536}"/>
                </a:ext>
              </a:extLst>
            </p:cNvPr>
            <p:cNvSpPr txBox="1"/>
            <p:nvPr/>
          </p:nvSpPr>
          <p:spPr>
            <a:xfrm>
              <a:off x="8001000" y="3335774"/>
              <a:ext cx="457200" cy="206402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22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185D55-E9E0-441D-9E35-C8832C84C5BC}"/>
                </a:ext>
              </a:extLst>
            </p:cNvPr>
            <p:cNvSpPr txBox="1"/>
            <p:nvPr/>
          </p:nvSpPr>
          <p:spPr>
            <a:xfrm>
              <a:off x="7543800" y="3335774"/>
              <a:ext cx="457200" cy="206402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20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A3D5F5-AC88-452C-B37A-A5A8CD3125BF}"/>
                </a:ext>
              </a:extLst>
            </p:cNvPr>
            <p:cNvSpPr txBox="1"/>
            <p:nvPr/>
          </p:nvSpPr>
          <p:spPr>
            <a:xfrm>
              <a:off x="9220200" y="2819400"/>
              <a:ext cx="762000" cy="206402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200"/>
                <a:t>10</a:t>
              </a:r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20C8BE6E-68E6-4D0B-92C4-71E81B7B06E1}"/>
                </a:ext>
              </a:extLst>
            </p:cNvPr>
            <p:cNvCxnSpPr>
              <a:cxnSpLocks/>
              <a:endCxn id="9" idx="1"/>
            </p:cNvCxnSpPr>
            <p:nvPr/>
          </p:nvCxnSpPr>
          <p:spPr bwMode="auto">
            <a:xfrm rot="5400000" flipH="1" flipV="1">
              <a:off x="8471216" y="2721928"/>
              <a:ext cx="548310" cy="949657"/>
            </a:xfrm>
            <a:prstGeom prst="curvedConnector2">
              <a:avLst/>
            </a:prstGeom>
            <a:ln w="38100">
              <a:headEnd type="none" w="med" len="med"/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25148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207" y="391818"/>
            <a:ext cx="10058400" cy="759871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4. Con </a:t>
            </a:r>
            <a:r>
              <a:rPr lang="en-US" dirty="0" err="1" smtClean="0">
                <a:solidFill>
                  <a:srgbClr val="0070C0"/>
                </a:solidFill>
              </a:rPr>
              <a:t>trỏ</a:t>
            </a:r>
            <a:r>
              <a:rPr lang="en-US" dirty="0" smtClean="0">
                <a:solidFill>
                  <a:srgbClr val="0070C0"/>
                </a:solidFill>
              </a:rPr>
              <a:t> - Pointer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1568357" y="4654847"/>
            <a:ext cx="8458200" cy="1081088"/>
          </a:xfrm>
          <a:prstGeom prst="rect">
            <a:avLst/>
          </a:prstGeom>
          <a:solidFill>
            <a:srgbClr val="CCFFCC">
              <a:alpha val="65097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800">
              <a:latin typeface="Times" pitchFamily="18" charset="0"/>
              <a:cs typeface="Arial" charset="0"/>
            </a:endParaRPr>
          </a:p>
        </p:txBody>
      </p:sp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1568357" y="3030786"/>
            <a:ext cx="8458200" cy="990600"/>
          </a:xfrm>
          <a:prstGeom prst="rect">
            <a:avLst/>
          </a:prstGeom>
          <a:solidFill>
            <a:srgbClr val="CCFFCC">
              <a:alpha val="65097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800">
              <a:latin typeface="Times" pitchFamily="18" charset="0"/>
              <a:cs typeface="Arial" charset="0"/>
            </a:endParaRPr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1568357" y="1582986"/>
            <a:ext cx="8458200" cy="990600"/>
          </a:xfrm>
          <a:prstGeom prst="rect">
            <a:avLst/>
          </a:prstGeom>
          <a:solidFill>
            <a:srgbClr val="CCFFCC">
              <a:alpha val="65097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800">
              <a:latin typeface="Times" pitchFamily="18" charset="0"/>
              <a:cs typeface="Arial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796957" y="1811586"/>
            <a:ext cx="1558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 dirty="0" err="1">
                <a:solidFill>
                  <a:srgbClr val="0099FF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int</a:t>
            </a:r>
            <a:r>
              <a:rPr kumimoji="1" lang="en-US" altLang="zh-TW" sz="2800" b="1" dirty="0">
                <a:solidFill>
                  <a:srgbClr val="0099FF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 </a:t>
            </a:r>
            <a:r>
              <a:rPr kumimoji="1" lang="en-US" altLang="zh-TW" sz="2800" b="1" dirty="0">
                <a:latin typeface="Times New Roman" pitchFamily="18" charset="0"/>
                <a:ea typeface="PMingLiU" pitchFamily="18" charset="-120"/>
                <a:cs typeface="Arial" charset="0"/>
              </a:rPr>
              <a:t>i, </a:t>
            </a:r>
            <a:r>
              <a:rPr kumimoji="1" lang="en-US" altLang="zh-TW" sz="2800" b="1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*pi</a:t>
            </a:r>
            <a:r>
              <a:rPr kumimoji="1" lang="en-US" altLang="zh-TW" sz="2800" b="1" dirty="0">
                <a:latin typeface="Times New Roman" pitchFamily="18" charset="0"/>
                <a:ea typeface="PMingLiU" pitchFamily="18" charset="-120"/>
                <a:cs typeface="Arial" charset="0"/>
              </a:rPr>
              <a:t>;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397407" y="1935411"/>
            <a:ext cx="1624013" cy="387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800">
              <a:latin typeface="Times" pitchFamily="18" charset="0"/>
              <a:cs typeface="Arial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8250145" y="1932236"/>
            <a:ext cx="1624012" cy="387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800">
              <a:latin typeface="Times" pitchFamily="18" charset="0"/>
              <a:cs typeface="Arial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970370" y="1895724"/>
            <a:ext cx="282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i</a:t>
            </a:r>
            <a:endParaRPr kumimoji="1" lang="en-US" altLang="zh-TW" sz="2800" b="1">
              <a:solidFill>
                <a:srgbClr val="CC3300"/>
              </a:solidFill>
              <a:latin typeface="Times New Roman" pitchFamily="18" charset="0"/>
              <a:ea typeface="PMingLiU" pitchFamily="18" charset="-120"/>
              <a:cs typeface="Arial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7792945" y="1879849"/>
            <a:ext cx="4810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pi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5429157" y="1478211"/>
            <a:ext cx="974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solidFill>
                  <a:srgbClr val="CC0066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1FF0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8269195" y="1481386"/>
            <a:ext cx="10021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 smtClean="0">
                <a:solidFill>
                  <a:srgbClr val="FF00FF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1FE4</a:t>
            </a:r>
            <a:endParaRPr kumimoji="1" lang="en-US" altLang="zh-TW" sz="2800" b="1">
              <a:solidFill>
                <a:srgbClr val="FF00FF"/>
              </a:solidFill>
              <a:latin typeface="Times New Roman" pitchFamily="18" charset="0"/>
              <a:ea typeface="PMingLiU" pitchFamily="18" charset="-120"/>
              <a:cs typeface="Arial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6081620" y="1859211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?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8939120" y="1897311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?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1796957" y="3284786"/>
            <a:ext cx="13885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 dirty="0" smtClean="0">
                <a:latin typeface="Times New Roman" pitchFamily="18" charset="0"/>
                <a:ea typeface="PMingLiU" pitchFamily="18" charset="-120"/>
                <a:cs typeface="Arial" charset="0"/>
              </a:rPr>
              <a:t>pi = </a:t>
            </a:r>
            <a:r>
              <a:rPr kumimoji="1" lang="en-US" altLang="zh-TW" sz="2800" b="1" dirty="0" smtClean="0">
                <a:solidFill>
                  <a:srgbClr val="FF33CC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&amp;</a:t>
            </a:r>
            <a:r>
              <a:rPr kumimoji="1" lang="en-US" altLang="zh-TW" sz="2800" b="1" dirty="0">
                <a:latin typeface="Times New Roman" pitchFamily="18" charset="0"/>
                <a:ea typeface="PMingLiU" pitchFamily="18" charset="-120"/>
                <a:cs typeface="Arial" charset="0"/>
              </a:rPr>
              <a:t>i;</a:t>
            </a: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5422807" y="3459411"/>
            <a:ext cx="1624013" cy="387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800">
              <a:latin typeface="Times" pitchFamily="18" charset="0"/>
              <a:cs typeface="Arial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8275545" y="3443536"/>
            <a:ext cx="1624012" cy="387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800">
              <a:latin typeface="Times" pitchFamily="18" charset="0"/>
              <a:cs typeface="Arial" charset="0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4995770" y="3137149"/>
            <a:ext cx="282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i</a:t>
            </a:r>
            <a:endParaRPr kumimoji="1" lang="en-US" altLang="zh-TW" sz="2800" b="1">
              <a:solidFill>
                <a:srgbClr val="CC3300"/>
              </a:solidFill>
              <a:latin typeface="Times New Roman" pitchFamily="18" charset="0"/>
              <a:ea typeface="PMingLiU" pitchFamily="18" charset="-120"/>
              <a:cs typeface="Arial" charset="0"/>
            </a:endParaRP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7818345" y="3391149"/>
            <a:ext cx="4810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pi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5454557" y="2994274"/>
            <a:ext cx="9747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solidFill>
                  <a:srgbClr val="CC0066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1FF0</a:t>
            </a:r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auto">
          <a:xfrm>
            <a:off x="8294595" y="2959349"/>
            <a:ext cx="10021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 smtClean="0">
                <a:solidFill>
                  <a:srgbClr val="FF00FF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1FE4</a:t>
            </a:r>
            <a:endParaRPr kumimoji="1" lang="en-US" altLang="zh-TW" sz="2800" b="1">
              <a:solidFill>
                <a:srgbClr val="FF00FF"/>
              </a:solidFill>
              <a:latin typeface="Times New Roman" pitchFamily="18" charset="0"/>
              <a:ea typeface="PMingLiU" pitchFamily="18" charset="-120"/>
              <a:cs typeface="Arial" charset="0"/>
            </a:endParaRPr>
          </a:p>
        </p:txBody>
      </p:sp>
      <p:sp>
        <p:nvSpPr>
          <p:cNvPr id="25" name="Text Box 20"/>
          <p:cNvSpPr txBox="1">
            <a:spLocks noChangeArrowheads="1"/>
          </p:cNvSpPr>
          <p:nvPr/>
        </p:nvSpPr>
        <p:spPr bwMode="auto">
          <a:xfrm>
            <a:off x="6107020" y="3383211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?</a:t>
            </a:r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8647020" y="3370511"/>
            <a:ext cx="1235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en-US" altLang="zh-TW" sz="2800" b="1" dirty="0">
                <a:solidFill>
                  <a:srgbClr val="CC3300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1FF0</a:t>
            </a:r>
            <a:endParaRPr kumimoji="1" lang="en-US" altLang="zh-TW" sz="2800" b="1" dirty="0">
              <a:latin typeface="Times New Roman" pitchFamily="18" charset="0"/>
              <a:ea typeface="PMingLiU" pitchFamily="18" charset="-120"/>
              <a:cs typeface="Arial" charset="0"/>
            </a:endParaRPr>
          </a:p>
        </p:txBody>
      </p:sp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4803682" y="3480049"/>
            <a:ext cx="6588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800" b="1" dirty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*pi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1771557" y="4786516"/>
            <a:ext cx="19240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1" lang="en-US" altLang="zh-TW" sz="2800" b="1" dirty="0" smtClean="0">
                <a:latin typeface="Times New Roman" pitchFamily="18" charset="0"/>
                <a:ea typeface="PMingLiU" pitchFamily="18" charset="-120"/>
                <a:cs typeface="Arial" charset="0"/>
              </a:rPr>
              <a:t>i = </a:t>
            </a:r>
            <a:r>
              <a:rPr kumimoji="1" lang="en-US" altLang="zh-TW" sz="2800" b="1" dirty="0" smtClean="0">
                <a:solidFill>
                  <a:srgbClr val="008000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10</a:t>
            </a:r>
            <a:endParaRPr kumimoji="1" lang="en-US" altLang="zh-TW" sz="2800" b="1" dirty="0">
              <a:solidFill>
                <a:srgbClr val="008000"/>
              </a:solidFill>
              <a:latin typeface="Times New Roman" pitchFamily="18" charset="0"/>
              <a:ea typeface="PMingLiU" pitchFamily="18" charset="-120"/>
              <a:cs typeface="Arial" charset="0"/>
            </a:endParaRP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5422807" y="5112047"/>
            <a:ext cx="1624013" cy="387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800">
              <a:latin typeface="Times" pitchFamily="18" charset="0"/>
              <a:cs typeface="Arial" charset="0"/>
            </a:endParaRPr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8275545" y="5070772"/>
            <a:ext cx="1624012" cy="387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800">
              <a:latin typeface="Times" pitchFamily="18" charset="0"/>
              <a:cs typeface="Arial" charset="0"/>
            </a:endParaRP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4995770" y="4789785"/>
            <a:ext cx="282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i</a:t>
            </a:r>
            <a:endParaRPr kumimoji="1" lang="en-US" altLang="zh-TW" sz="2800" b="1">
              <a:solidFill>
                <a:srgbClr val="CC3300"/>
              </a:solidFill>
              <a:latin typeface="Times New Roman" pitchFamily="18" charset="0"/>
              <a:ea typeface="PMingLiU" pitchFamily="18" charset="-120"/>
              <a:cs typeface="Arial" charset="0"/>
            </a:endParaRP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7818345" y="5018385"/>
            <a:ext cx="4810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pi</a:t>
            </a:r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5454557" y="4654847"/>
            <a:ext cx="974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solidFill>
                  <a:srgbClr val="CC0066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1FF0</a:t>
            </a: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8294595" y="4619922"/>
            <a:ext cx="10021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 smtClean="0">
                <a:solidFill>
                  <a:srgbClr val="FF00FF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1FE4</a:t>
            </a:r>
            <a:endParaRPr kumimoji="1" lang="en-US" altLang="zh-TW" sz="2800" b="1">
              <a:solidFill>
                <a:srgbClr val="FF00FF"/>
              </a:solidFill>
              <a:latin typeface="Times New Roman" pitchFamily="18" charset="0"/>
              <a:ea typeface="PMingLiU" pitchFamily="18" charset="-120"/>
              <a:cs typeface="Arial" charset="0"/>
            </a:endParaRPr>
          </a:p>
        </p:txBody>
      </p:sp>
      <p:sp>
        <p:nvSpPr>
          <p:cNvPr id="35" name="Text Box 30"/>
          <p:cNvSpPr txBox="1">
            <a:spLocks noChangeArrowheads="1"/>
          </p:cNvSpPr>
          <p:nvPr/>
        </p:nvSpPr>
        <p:spPr bwMode="auto">
          <a:xfrm>
            <a:off x="5997482" y="5035847"/>
            <a:ext cx="539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800" b="1">
                <a:solidFill>
                  <a:srgbClr val="008000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10</a:t>
            </a:r>
          </a:p>
        </p:txBody>
      </p:sp>
      <p:sp>
        <p:nvSpPr>
          <p:cNvPr id="36" name="Text Box 31"/>
          <p:cNvSpPr txBox="1">
            <a:spLocks noChangeArrowheads="1"/>
          </p:cNvSpPr>
          <p:nvPr/>
        </p:nvSpPr>
        <p:spPr bwMode="auto">
          <a:xfrm>
            <a:off x="8647020" y="5002510"/>
            <a:ext cx="12350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en-US" altLang="zh-TW" sz="2800" b="1">
                <a:solidFill>
                  <a:srgbClr val="CC3300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1FF</a:t>
            </a:r>
            <a:r>
              <a:rPr kumimoji="1" lang="en-US" altLang="zh-TW" sz="2800" b="1">
                <a:solidFill>
                  <a:srgbClr val="CC0066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0</a:t>
            </a:r>
          </a:p>
        </p:txBody>
      </p:sp>
      <p:sp>
        <p:nvSpPr>
          <p:cNvPr id="37" name="Text Box 32"/>
          <p:cNvSpPr txBox="1">
            <a:spLocks noChangeArrowheads="1"/>
          </p:cNvSpPr>
          <p:nvPr/>
        </p:nvSpPr>
        <p:spPr bwMode="auto">
          <a:xfrm>
            <a:off x="4803682" y="5132685"/>
            <a:ext cx="6588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TW" sz="2800" b="1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*pi</a:t>
            </a:r>
          </a:p>
        </p:txBody>
      </p:sp>
      <p:sp>
        <p:nvSpPr>
          <p:cNvPr id="38" name="Line 37"/>
          <p:cNvSpPr>
            <a:spLocks noChangeShapeType="1"/>
          </p:cNvSpPr>
          <p:nvPr/>
        </p:nvSpPr>
        <p:spPr bwMode="auto">
          <a:xfrm>
            <a:off x="6064157" y="1887786"/>
            <a:ext cx="2455863" cy="16256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5937157" y="706686"/>
            <a:ext cx="2286000" cy="45720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FF0000"/>
                </a:solidFill>
                <a:latin typeface="Times New Roman" pitchFamily="18" charset="0"/>
              </a:rPr>
              <a:t>Địa chỉ</a:t>
            </a:r>
          </a:p>
        </p:txBody>
      </p:sp>
      <p:sp>
        <p:nvSpPr>
          <p:cNvPr id="40" name="Line 39"/>
          <p:cNvSpPr>
            <a:spLocks noChangeShapeType="1"/>
          </p:cNvSpPr>
          <p:nvPr/>
        </p:nvSpPr>
        <p:spPr bwMode="auto">
          <a:xfrm flipH="1">
            <a:off x="6140357" y="1125786"/>
            <a:ext cx="914400" cy="4572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7207157" y="1125786"/>
            <a:ext cx="1295400" cy="3810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41"/>
          <p:cNvSpPr>
            <a:spLocks/>
          </p:cNvSpPr>
          <p:nvPr/>
        </p:nvSpPr>
        <p:spPr bwMode="auto">
          <a:xfrm>
            <a:off x="2254157" y="4327219"/>
            <a:ext cx="3797300" cy="834975"/>
          </a:xfrm>
          <a:custGeom>
            <a:avLst/>
            <a:gdLst>
              <a:gd name="T0" fmla="*/ 0 w 2120"/>
              <a:gd name="T1" fmla="*/ 2147483647 h 511"/>
              <a:gd name="T2" fmla="*/ 2147483647 w 2120"/>
              <a:gd name="T3" fmla="*/ 2147483647 h 511"/>
              <a:gd name="T4" fmla="*/ 2147483647 w 2120"/>
              <a:gd name="T5" fmla="*/ 2147483647 h 511"/>
              <a:gd name="T6" fmla="*/ 0 60000 65536"/>
              <a:gd name="T7" fmla="*/ 0 60000 65536"/>
              <a:gd name="T8" fmla="*/ 0 60000 65536"/>
              <a:gd name="T9" fmla="*/ 0 w 2120"/>
              <a:gd name="T10" fmla="*/ 0 h 511"/>
              <a:gd name="T11" fmla="*/ 2120 w 2120"/>
              <a:gd name="T12" fmla="*/ 511 h 511"/>
              <a:gd name="connsiteX0" fmla="*/ 0 w 10000"/>
              <a:gd name="connsiteY0" fmla="*/ 6756 h 10200"/>
              <a:gd name="connsiteX1" fmla="*/ 5066 w 10000"/>
              <a:gd name="connsiteY1" fmla="*/ 36 h 10200"/>
              <a:gd name="connsiteX2" fmla="*/ 10000 w 10000"/>
              <a:gd name="connsiteY2" fmla="*/ 10200 h 10200"/>
              <a:gd name="connsiteX0" fmla="*/ 0 w 10000"/>
              <a:gd name="connsiteY0" fmla="*/ 7025 h 10469"/>
              <a:gd name="connsiteX1" fmla="*/ 1301 w 10000"/>
              <a:gd name="connsiteY1" fmla="*/ 2662 h 10469"/>
              <a:gd name="connsiteX2" fmla="*/ 5066 w 10000"/>
              <a:gd name="connsiteY2" fmla="*/ 305 h 10469"/>
              <a:gd name="connsiteX3" fmla="*/ 10000 w 10000"/>
              <a:gd name="connsiteY3" fmla="*/ 10469 h 10469"/>
              <a:gd name="connsiteX0" fmla="*/ 0 w 10000"/>
              <a:gd name="connsiteY0" fmla="*/ 7078 h 10522"/>
              <a:gd name="connsiteX1" fmla="*/ 1301 w 10000"/>
              <a:gd name="connsiteY1" fmla="*/ 2715 h 10522"/>
              <a:gd name="connsiteX2" fmla="*/ 5066 w 10000"/>
              <a:gd name="connsiteY2" fmla="*/ 358 h 10522"/>
              <a:gd name="connsiteX3" fmla="*/ 10000 w 10000"/>
              <a:gd name="connsiteY3" fmla="*/ 10522 h 10522"/>
              <a:gd name="connsiteX0" fmla="*/ 0 w 10000"/>
              <a:gd name="connsiteY0" fmla="*/ 7078 h 10522"/>
              <a:gd name="connsiteX1" fmla="*/ 1301 w 10000"/>
              <a:gd name="connsiteY1" fmla="*/ 2715 h 10522"/>
              <a:gd name="connsiteX2" fmla="*/ 5066 w 10000"/>
              <a:gd name="connsiteY2" fmla="*/ 358 h 10522"/>
              <a:gd name="connsiteX3" fmla="*/ 10000 w 10000"/>
              <a:gd name="connsiteY3" fmla="*/ 10522 h 10522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10000 w 10000"/>
              <a:gd name="connsiteY3" fmla="*/ 11277 h 11277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7694 w 10000"/>
              <a:gd name="connsiteY3" fmla="*/ 4751 h 11277"/>
              <a:gd name="connsiteX4" fmla="*/ 10000 w 10000"/>
              <a:gd name="connsiteY4" fmla="*/ 11277 h 11277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7854 w 10000"/>
              <a:gd name="connsiteY3" fmla="*/ 3653 h 11277"/>
              <a:gd name="connsiteX4" fmla="*/ 10000 w 10000"/>
              <a:gd name="connsiteY4" fmla="*/ 11277 h 11277"/>
              <a:gd name="connsiteX0" fmla="*/ 0 w 10000"/>
              <a:gd name="connsiteY0" fmla="*/ 7860 h 11304"/>
              <a:gd name="connsiteX1" fmla="*/ 1741 w 10000"/>
              <a:gd name="connsiteY1" fmla="*/ 2399 h 11304"/>
              <a:gd name="connsiteX2" fmla="*/ 5106 w 10000"/>
              <a:gd name="connsiteY2" fmla="*/ 408 h 11304"/>
              <a:gd name="connsiteX3" fmla="*/ 7854 w 10000"/>
              <a:gd name="connsiteY3" fmla="*/ 3680 h 11304"/>
              <a:gd name="connsiteX4" fmla="*/ 10000 w 10000"/>
              <a:gd name="connsiteY4" fmla="*/ 11304 h 11304"/>
              <a:gd name="connsiteX0" fmla="*/ 0 w 10000"/>
              <a:gd name="connsiteY0" fmla="*/ 7916 h 11360"/>
              <a:gd name="connsiteX1" fmla="*/ 1741 w 10000"/>
              <a:gd name="connsiteY1" fmla="*/ 2455 h 11360"/>
              <a:gd name="connsiteX2" fmla="*/ 5106 w 10000"/>
              <a:gd name="connsiteY2" fmla="*/ 464 h 11360"/>
              <a:gd name="connsiteX3" fmla="*/ 7854 w 10000"/>
              <a:gd name="connsiteY3" fmla="*/ 3736 h 11360"/>
              <a:gd name="connsiteX4" fmla="*/ 10000 w 10000"/>
              <a:gd name="connsiteY4" fmla="*/ 11360 h 1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360">
                <a:moveTo>
                  <a:pt x="0" y="7916"/>
                </a:moveTo>
                <a:cubicBezTo>
                  <a:pt x="310" y="7341"/>
                  <a:pt x="1017" y="4124"/>
                  <a:pt x="1741" y="2455"/>
                </a:cubicBezTo>
                <a:cubicBezTo>
                  <a:pt x="2905" y="420"/>
                  <a:pt x="3749" y="-685"/>
                  <a:pt x="5106" y="464"/>
                </a:cubicBezTo>
                <a:cubicBezTo>
                  <a:pt x="6098" y="830"/>
                  <a:pt x="7038" y="1920"/>
                  <a:pt x="7854" y="3736"/>
                </a:cubicBezTo>
                <a:cubicBezTo>
                  <a:pt x="8670" y="5552"/>
                  <a:pt x="9616" y="10272"/>
                  <a:pt x="10000" y="11360"/>
                </a:cubicBezTo>
              </a:path>
            </a:pathLst>
          </a:custGeom>
          <a:noFill/>
          <a:ln w="38100" cap="flat" cmpd="sng">
            <a:solidFill>
              <a:srgbClr val="3333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6089557" y="5039022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TW" sz="2800" b="1">
                <a:latin typeface="Times New Roman" pitchFamily="18" charset="0"/>
                <a:ea typeface="PMingLiU" pitchFamily="18" charset="-120"/>
                <a:cs typeface="Arial" charset="0"/>
              </a:rPr>
              <a:t>?</a:t>
            </a:r>
          </a:p>
        </p:txBody>
      </p:sp>
      <p:sp>
        <p:nvSpPr>
          <p:cNvPr id="44" name="Text Box 23"/>
          <p:cNvSpPr txBox="1">
            <a:spLocks noChangeArrowheads="1"/>
          </p:cNvSpPr>
          <p:nvPr/>
        </p:nvSpPr>
        <p:spPr bwMode="auto">
          <a:xfrm>
            <a:off x="1771557" y="5202535"/>
            <a:ext cx="19240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1" lang="en-US" altLang="zh-TW" sz="2800" b="1" dirty="0" smtClean="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*pi</a:t>
            </a:r>
            <a:r>
              <a:rPr kumimoji="1" lang="en-US" altLang="zh-TW" sz="2800" b="1" dirty="0" smtClean="0">
                <a:latin typeface="Times New Roman" pitchFamily="18" charset="0"/>
                <a:ea typeface="PMingLiU" pitchFamily="18" charset="-120"/>
                <a:cs typeface="Arial" charset="0"/>
              </a:rPr>
              <a:t> = </a:t>
            </a:r>
            <a:r>
              <a:rPr kumimoji="1" lang="en-US" altLang="zh-TW" sz="2800" b="1" dirty="0" smtClean="0">
                <a:solidFill>
                  <a:srgbClr val="008000"/>
                </a:solidFill>
                <a:latin typeface="Times New Roman" pitchFamily="18" charset="0"/>
                <a:ea typeface="PMingLiU" pitchFamily="18" charset="-120"/>
                <a:cs typeface="Arial" charset="0"/>
              </a:rPr>
              <a:t>10</a:t>
            </a:r>
            <a:endParaRPr kumimoji="1" lang="en-US" altLang="zh-TW" sz="2800" b="1" dirty="0">
              <a:solidFill>
                <a:srgbClr val="008000"/>
              </a:solidFill>
              <a:latin typeface="Times New Roman" pitchFamily="18" charset="0"/>
              <a:ea typeface="PMingLiU" pitchFamily="18" charset="-120"/>
              <a:cs typeface="Arial" charset="0"/>
            </a:endParaRPr>
          </a:p>
        </p:txBody>
      </p:sp>
      <p:sp>
        <p:nvSpPr>
          <p:cNvPr id="45" name="Freeform 41"/>
          <p:cNvSpPr>
            <a:spLocks/>
          </p:cNvSpPr>
          <p:nvPr/>
        </p:nvSpPr>
        <p:spPr bwMode="auto">
          <a:xfrm rot="10374752">
            <a:off x="2641788" y="5413673"/>
            <a:ext cx="3474138" cy="834975"/>
          </a:xfrm>
          <a:custGeom>
            <a:avLst/>
            <a:gdLst>
              <a:gd name="T0" fmla="*/ 0 w 2120"/>
              <a:gd name="T1" fmla="*/ 2147483647 h 511"/>
              <a:gd name="T2" fmla="*/ 2147483647 w 2120"/>
              <a:gd name="T3" fmla="*/ 2147483647 h 511"/>
              <a:gd name="T4" fmla="*/ 2147483647 w 2120"/>
              <a:gd name="T5" fmla="*/ 2147483647 h 511"/>
              <a:gd name="T6" fmla="*/ 0 60000 65536"/>
              <a:gd name="T7" fmla="*/ 0 60000 65536"/>
              <a:gd name="T8" fmla="*/ 0 60000 65536"/>
              <a:gd name="T9" fmla="*/ 0 w 2120"/>
              <a:gd name="T10" fmla="*/ 0 h 511"/>
              <a:gd name="T11" fmla="*/ 2120 w 2120"/>
              <a:gd name="T12" fmla="*/ 511 h 511"/>
              <a:gd name="connsiteX0" fmla="*/ 0 w 10000"/>
              <a:gd name="connsiteY0" fmla="*/ 6756 h 10200"/>
              <a:gd name="connsiteX1" fmla="*/ 5066 w 10000"/>
              <a:gd name="connsiteY1" fmla="*/ 36 h 10200"/>
              <a:gd name="connsiteX2" fmla="*/ 10000 w 10000"/>
              <a:gd name="connsiteY2" fmla="*/ 10200 h 10200"/>
              <a:gd name="connsiteX0" fmla="*/ 0 w 10000"/>
              <a:gd name="connsiteY0" fmla="*/ 7025 h 10469"/>
              <a:gd name="connsiteX1" fmla="*/ 1301 w 10000"/>
              <a:gd name="connsiteY1" fmla="*/ 2662 h 10469"/>
              <a:gd name="connsiteX2" fmla="*/ 5066 w 10000"/>
              <a:gd name="connsiteY2" fmla="*/ 305 h 10469"/>
              <a:gd name="connsiteX3" fmla="*/ 10000 w 10000"/>
              <a:gd name="connsiteY3" fmla="*/ 10469 h 10469"/>
              <a:gd name="connsiteX0" fmla="*/ 0 w 10000"/>
              <a:gd name="connsiteY0" fmla="*/ 7078 h 10522"/>
              <a:gd name="connsiteX1" fmla="*/ 1301 w 10000"/>
              <a:gd name="connsiteY1" fmla="*/ 2715 h 10522"/>
              <a:gd name="connsiteX2" fmla="*/ 5066 w 10000"/>
              <a:gd name="connsiteY2" fmla="*/ 358 h 10522"/>
              <a:gd name="connsiteX3" fmla="*/ 10000 w 10000"/>
              <a:gd name="connsiteY3" fmla="*/ 10522 h 10522"/>
              <a:gd name="connsiteX0" fmla="*/ 0 w 10000"/>
              <a:gd name="connsiteY0" fmla="*/ 7078 h 10522"/>
              <a:gd name="connsiteX1" fmla="*/ 1301 w 10000"/>
              <a:gd name="connsiteY1" fmla="*/ 2715 h 10522"/>
              <a:gd name="connsiteX2" fmla="*/ 5066 w 10000"/>
              <a:gd name="connsiteY2" fmla="*/ 358 h 10522"/>
              <a:gd name="connsiteX3" fmla="*/ 10000 w 10000"/>
              <a:gd name="connsiteY3" fmla="*/ 10522 h 10522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10000 w 10000"/>
              <a:gd name="connsiteY3" fmla="*/ 11277 h 11277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7694 w 10000"/>
              <a:gd name="connsiteY3" fmla="*/ 4751 h 11277"/>
              <a:gd name="connsiteX4" fmla="*/ 10000 w 10000"/>
              <a:gd name="connsiteY4" fmla="*/ 11277 h 11277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7854 w 10000"/>
              <a:gd name="connsiteY3" fmla="*/ 3653 h 11277"/>
              <a:gd name="connsiteX4" fmla="*/ 10000 w 10000"/>
              <a:gd name="connsiteY4" fmla="*/ 11277 h 11277"/>
              <a:gd name="connsiteX0" fmla="*/ 0 w 10000"/>
              <a:gd name="connsiteY0" fmla="*/ 7860 h 11304"/>
              <a:gd name="connsiteX1" fmla="*/ 1741 w 10000"/>
              <a:gd name="connsiteY1" fmla="*/ 2399 h 11304"/>
              <a:gd name="connsiteX2" fmla="*/ 5106 w 10000"/>
              <a:gd name="connsiteY2" fmla="*/ 408 h 11304"/>
              <a:gd name="connsiteX3" fmla="*/ 7854 w 10000"/>
              <a:gd name="connsiteY3" fmla="*/ 3680 h 11304"/>
              <a:gd name="connsiteX4" fmla="*/ 10000 w 10000"/>
              <a:gd name="connsiteY4" fmla="*/ 11304 h 11304"/>
              <a:gd name="connsiteX0" fmla="*/ 0 w 10000"/>
              <a:gd name="connsiteY0" fmla="*/ 7916 h 11360"/>
              <a:gd name="connsiteX1" fmla="*/ 1741 w 10000"/>
              <a:gd name="connsiteY1" fmla="*/ 2455 h 11360"/>
              <a:gd name="connsiteX2" fmla="*/ 5106 w 10000"/>
              <a:gd name="connsiteY2" fmla="*/ 464 h 11360"/>
              <a:gd name="connsiteX3" fmla="*/ 7854 w 10000"/>
              <a:gd name="connsiteY3" fmla="*/ 3736 h 11360"/>
              <a:gd name="connsiteX4" fmla="*/ 10000 w 10000"/>
              <a:gd name="connsiteY4" fmla="*/ 11360 h 1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360">
                <a:moveTo>
                  <a:pt x="0" y="7916"/>
                </a:moveTo>
                <a:cubicBezTo>
                  <a:pt x="310" y="7341"/>
                  <a:pt x="1017" y="4124"/>
                  <a:pt x="1741" y="2455"/>
                </a:cubicBezTo>
                <a:cubicBezTo>
                  <a:pt x="2905" y="420"/>
                  <a:pt x="3749" y="-685"/>
                  <a:pt x="5106" y="464"/>
                </a:cubicBezTo>
                <a:cubicBezTo>
                  <a:pt x="6098" y="830"/>
                  <a:pt x="7038" y="1920"/>
                  <a:pt x="7854" y="3736"/>
                </a:cubicBezTo>
                <a:cubicBezTo>
                  <a:pt x="8670" y="5552"/>
                  <a:pt x="9616" y="10272"/>
                  <a:pt x="10000" y="11360"/>
                </a:cubicBezTo>
              </a:path>
            </a:pathLst>
          </a:custGeom>
          <a:noFill/>
          <a:ln w="38100" cap="flat" cmpd="sng">
            <a:solidFill>
              <a:srgbClr val="CC00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" name="Freeform 41"/>
          <p:cNvSpPr>
            <a:spLocks/>
          </p:cNvSpPr>
          <p:nvPr/>
        </p:nvSpPr>
        <p:spPr bwMode="auto">
          <a:xfrm rot="10800000" flipH="1">
            <a:off x="2547659" y="5350125"/>
            <a:ext cx="3541898" cy="492172"/>
          </a:xfrm>
          <a:custGeom>
            <a:avLst/>
            <a:gdLst>
              <a:gd name="T0" fmla="*/ 0 w 2120"/>
              <a:gd name="T1" fmla="*/ 2147483647 h 511"/>
              <a:gd name="T2" fmla="*/ 2147483647 w 2120"/>
              <a:gd name="T3" fmla="*/ 2147483647 h 511"/>
              <a:gd name="T4" fmla="*/ 2147483647 w 2120"/>
              <a:gd name="T5" fmla="*/ 2147483647 h 511"/>
              <a:gd name="T6" fmla="*/ 0 60000 65536"/>
              <a:gd name="T7" fmla="*/ 0 60000 65536"/>
              <a:gd name="T8" fmla="*/ 0 60000 65536"/>
              <a:gd name="T9" fmla="*/ 0 w 2120"/>
              <a:gd name="T10" fmla="*/ 0 h 511"/>
              <a:gd name="T11" fmla="*/ 2120 w 2120"/>
              <a:gd name="T12" fmla="*/ 511 h 511"/>
              <a:gd name="connsiteX0" fmla="*/ 0 w 10000"/>
              <a:gd name="connsiteY0" fmla="*/ 6756 h 10200"/>
              <a:gd name="connsiteX1" fmla="*/ 5066 w 10000"/>
              <a:gd name="connsiteY1" fmla="*/ 36 h 10200"/>
              <a:gd name="connsiteX2" fmla="*/ 10000 w 10000"/>
              <a:gd name="connsiteY2" fmla="*/ 10200 h 10200"/>
              <a:gd name="connsiteX0" fmla="*/ 0 w 10000"/>
              <a:gd name="connsiteY0" fmla="*/ 7025 h 10469"/>
              <a:gd name="connsiteX1" fmla="*/ 1301 w 10000"/>
              <a:gd name="connsiteY1" fmla="*/ 2662 h 10469"/>
              <a:gd name="connsiteX2" fmla="*/ 5066 w 10000"/>
              <a:gd name="connsiteY2" fmla="*/ 305 h 10469"/>
              <a:gd name="connsiteX3" fmla="*/ 10000 w 10000"/>
              <a:gd name="connsiteY3" fmla="*/ 10469 h 10469"/>
              <a:gd name="connsiteX0" fmla="*/ 0 w 10000"/>
              <a:gd name="connsiteY0" fmla="*/ 7078 h 10522"/>
              <a:gd name="connsiteX1" fmla="*/ 1301 w 10000"/>
              <a:gd name="connsiteY1" fmla="*/ 2715 h 10522"/>
              <a:gd name="connsiteX2" fmla="*/ 5066 w 10000"/>
              <a:gd name="connsiteY2" fmla="*/ 358 h 10522"/>
              <a:gd name="connsiteX3" fmla="*/ 10000 w 10000"/>
              <a:gd name="connsiteY3" fmla="*/ 10522 h 10522"/>
              <a:gd name="connsiteX0" fmla="*/ 0 w 10000"/>
              <a:gd name="connsiteY0" fmla="*/ 7078 h 10522"/>
              <a:gd name="connsiteX1" fmla="*/ 1301 w 10000"/>
              <a:gd name="connsiteY1" fmla="*/ 2715 h 10522"/>
              <a:gd name="connsiteX2" fmla="*/ 5066 w 10000"/>
              <a:gd name="connsiteY2" fmla="*/ 358 h 10522"/>
              <a:gd name="connsiteX3" fmla="*/ 10000 w 10000"/>
              <a:gd name="connsiteY3" fmla="*/ 10522 h 10522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10000 w 10000"/>
              <a:gd name="connsiteY3" fmla="*/ 11277 h 11277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7694 w 10000"/>
              <a:gd name="connsiteY3" fmla="*/ 4751 h 11277"/>
              <a:gd name="connsiteX4" fmla="*/ 10000 w 10000"/>
              <a:gd name="connsiteY4" fmla="*/ 11277 h 11277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7854 w 10000"/>
              <a:gd name="connsiteY3" fmla="*/ 3653 h 11277"/>
              <a:gd name="connsiteX4" fmla="*/ 10000 w 10000"/>
              <a:gd name="connsiteY4" fmla="*/ 11277 h 11277"/>
              <a:gd name="connsiteX0" fmla="*/ 0 w 10000"/>
              <a:gd name="connsiteY0" fmla="*/ 7860 h 11304"/>
              <a:gd name="connsiteX1" fmla="*/ 1741 w 10000"/>
              <a:gd name="connsiteY1" fmla="*/ 2399 h 11304"/>
              <a:gd name="connsiteX2" fmla="*/ 5106 w 10000"/>
              <a:gd name="connsiteY2" fmla="*/ 408 h 11304"/>
              <a:gd name="connsiteX3" fmla="*/ 7854 w 10000"/>
              <a:gd name="connsiteY3" fmla="*/ 3680 h 11304"/>
              <a:gd name="connsiteX4" fmla="*/ 10000 w 10000"/>
              <a:gd name="connsiteY4" fmla="*/ 11304 h 11304"/>
              <a:gd name="connsiteX0" fmla="*/ 0 w 10000"/>
              <a:gd name="connsiteY0" fmla="*/ 7916 h 11360"/>
              <a:gd name="connsiteX1" fmla="*/ 1741 w 10000"/>
              <a:gd name="connsiteY1" fmla="*/ 2455 h 11360"/>
              <a:gd name="connsiteX2" fmla="*/ 5106 w 10000"/>
              <a:gd name="connsiteY2" fmla="*/ 464 h 11360"/>
              <a:gd name="connsiteX3" fmla="*/ 7854 w 10000"/>
              <a:gd name="connsiteY3" fmla="*/ 3736 h 11360"/>
              <a:gd name="connsiteX4" fmla="*/ 10000 w 10000"/>
              <a:gd name="connsiteY4" fmla="*/ 11360 h 1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360">
                <a:moveTo>
                  <a:pt x="0" y="7916"/>
                </a:moveTo>
                <a:cubicBezTo>
                  <a:pt x="310" y="7341"/>
                  <a:pt x="1017" y="4124"/>
                  <a:pt x="1741" y="2455"/>
                </a:cubicBezTo>
                <a:cubicBezTo>
                  <a:pt x="2905" y="420"/>
                  <a:pt x="3749" y="-685"/>
                  <a:pt x="5106" y="464"/>
                </a:cubicBezTo>
                <a:cubicBezTo>
                  <a:pt x="6098" y="830"/>
                  <a:pt x="7038" y="1920"/>
                  <a:pt x="7854" y="3736"/>
                </a:cubicBezTo>
                <a:cubicBezTo>
                  <a:pt x="8670" y="5552"/>
                  <a:pt x="9616" y="10272"/>
                  <a:pt x="10000" y="11360"/>
                </a:cubicBezTo>
              </a:path>
            </a:pathLst>
          </a:custGeom>
          <a:noFill/>
          <a:ln w="57150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" name="Freeform 41"/>
          <p:cNvSpPr>
            <a:spLocks/>
          </p:cNvSpPr>
          <p:nvPr/>
        </p:nvSpPr>
        <p:spPr bwMode="auto">
          <a:xfrm rot="474103" flipH="1">
            <a:off x="2262523" y="4816716"/>
            <a:ext cx="3831648" cy="331855"/>
          </a:xfrm>
          <a:custGeom>
            <a:avLst/>
            <a:gdLst>
              <a:gd name="T0" fmla="*/ 0 w 2120"/>
              <a:gd name="T1" fmla="*/ 2147483647 h 511"/>
              <a:gd name="T2" fmla="*/ 2147483647 w 2120"/>
              <a:gd name="T3" fmla="*/ 2147483647 h 511"/>
              <a:gd name="T4" fmla="*/ 2147483647 w 2120"/>
              <a:gd name="T5" fmla="*/ 2147483647 h 511"/>
              <a:gd name="T6" fmla="*/ 0 60000 65536"/>
              <a:gd name="T7" fmla="*/ 0 60000 65536"/>
              <a:gd name="T8" fmla="*/ 0 60000 65536"/>
              <a:gd name="T9" fmla="*/ 0 w 2120"/>
              <a:gd name="T10" fmla="*/ 0 h 511"/>
              <a:gd name="T11" fmla="*/ 2120 w 2120"/>
              <a:gd name="T12" fmla="*/ 511 h 511"/>
              <a:gd name="connsiteX0" fmla="*/ 0 w 10000"/>
              <a:gd name="connsiteY0" fmla="*/ 6756 h 10200"/>
              <a:gd name="connsiteX1" fmla="*/ 5066 w 10000"/>
              <a:gd name="connsiteY1" fmla="*/ 36 h 10200"/>
              <a:gd name="connsiteX2" fmla="*/ 10000 w 10000"/>
              <a:gd name="connsiteY2" fmla="*/ 10200 h 10200"/>
              <a:gd name="connsiteX0" fmla="*/ 0 w 10000"/>
              <a:gd name="connsiteY0" fmla="*/ 7025 h 10469"/>
              <a:gd name="connsiteX1" fmla="*/ 1301 w 10000"/>
              <a:gd name="connsiteY1" fmla="*/ 2662 h 10469"/>
              <a:gd name="connsiteX2" fmla="*/ 5066 w 10000"/>
              <a:gd name="connsiteY2" fmla="*/ 305 h 10469"/>
              <a:gd name="connsiteX3" fmla="*/ 10000 w 10000"/>
              <a:gd name="connsiteY3" fmla="*/ 10469 h 10469"/>
              <a:gd name="connsiteX0" fmla="*/ 0 w 10000"/>
              <a:gd name="connsiteY0" fmla="*/ 7078 h 10522"/>
              <a:gd name="connsiteX1" fmla="*/ 1301 w 10000"/>
              <a:gd name="connsiteY1" fmla="*/ 2715 h 10522"/>
              <a:gd name="connsiteX2" fmla="*/ 5066 w 10000"/>
              <a:gd name="connsiteY2" fmla="*/ 358 h 10522"/>
              <a:gd name="connsiteX3" fmla="*/ 10000 w 10000"/>
              <a:gd name="connsiteY3" fmla="*/ 10522 h 10522"/>
              <a:gd name="connsiteX0" fmla="*/ 0 w 10000"/>
              <a:gd name="connsiteY0" fmla="*/ 7078 h 10522"/>
              <a:gd name="connsiteX1" fmla="*/ 1301 w 10000"/>
              <a:gd name="connsiteY1" fmla="*/ 2715 h 10522"/>
              <a:gd name="connsiteX2" fmla="*/ 5066 w 10000"/>
              <a:gd name="connsiteY2" fmla="*/ 358 h 10522"/>
              <a:gd name="connsiteX3" fmla="*/ 10000 w 10000"/>
              <a:gd name="connsiteY3" fmla="*/ 10522 h 10522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230 h 10674"/>
              <a:gd name="connsiteX1" fmla="*/ 1741 w 10000"/>
              <a:gd name="connsiteY1" fmla="*/ 1952 h 10674"/>
              <a:gd name="connsiteX2" fmla="*/ 5066 w 10000"/>
              <a:gd name="connsiteY2" fmla="*/ 510 h 10674"/>
              <a:gd name="connsiteX3" fmla="*/ 10000 w 10000"/>
              <a:gd name="connsiteY3" fmla="*/ 10674 h 10674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10000 w 10000"/>
              <a:gd name="connsiteY3" fmla="*/ 11277 h 11277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7694 w 10000"/>
              <a:gd name="connsiteY3" fmla="*/ 4751 h 11277"/>
              <a:gd name="connsiteX4" fmla="*/ 10000 w 10000"/>
              <a:gd name="connsiteY4" fmla="*/ 11277 h 11277"/>
              <a:gd name="connsiteX0" fmla="*/ 0 w 10000"/>
              <a:gd name="connsiteY0" fmla="*/ 7833 h 11277"/>
              <a:gd name="connsiteX1" fmla="*/ 1741 w 10000"/>
              <a:gd name="connsiteY1" fmla="*/ 2555 h 11277"/>
              <a:gd name="connsiteX2" fmla="*/ 5106 w 10000"/>
              <a:gd name="connsiteY2" fmla="*/ 381 h 11277"/>
              <a:gd name="connsiteX3" fmla="*/ 7854 w 10000"/>
              <a:gd name="connsiteY3" fmla="*/ 3653 h 11277"/>
              <a:gd name="connsiteX4" fmla="*/ 10000 w 10000"/>
              <a:gd name="connsiteY4" fmla="*/ 11277 h 11277"/>
              <a:gd name="connsiteX0" fmla="*/ 0 w 10000"/>
              <a:gd name="connsiteY0" fmla="*/ 7860 h 11304"/>
              <a:gd name="connsiteX1" fmla="*/ 1741 w 10000"/>
              <a:gd name="connsiteY1" fmla="*/ 2399 h 11304"/>
              <a:gd name="connsiteX2" fmla="*/ 5106 w 10000"/>
              <a:gd name="connsiteY2" fmla="*/ 408 h 11304"/>
              <a:gd name="connsiteX3" fmla="*/ 7854 w 10000"/>
              <a:gd name="connsiteY3" fmla="*/ 3680 h 11304"/>
              <a:gd name="connsiteX4" fmla="*/ 10000 w 10000"/>
              <a:gd name="connsiteY4" fmla="*/ 11304 h 11304"/>
              <a:gd name="connsiteX0" fmla="*/ 0 w 10000"/>
              <a:gd name="connsiteY0" fmla="*/ 7916 h 11360"/>
              <a:gd name="connsiteX1" fmla="*/ 1741 w 10000"/>
              <a:gd name="connsiteY1" fmla="*/ 2455 h 11360"/>
              <a:gd name="connsiteX2" fmla="*/ 5106 w 10000"/>
              <a:gd name="connsiteY2" fmla="*/ 464 h 11360"/>
              <a:gd name="connsiteX3" fmla="*/ 7854 w 10000"/>
              <a:gd name="connsiteY3" fmla="*/ 3736 h 11360"/>
              <a:gd name="connsiteX4" fmla="*/ 10000 w 10000"/>
              <a:gd name="connsiteY4" fmla="*/ 11360 h 1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360">
                <a:moveTo>
                  <a:pt x="0" y="7916"/>
                </a:moveTo>
                <a:cubicBezTo>
                  <a:pt x="310" y="7341"/>
                  <a:pt x="1017" y="4124"/>
                  <a:pt x="1741" y="2455"/>
                </a:cubicBezTo>
                <a:cubicBezTo>
                  <a:pt x="2905" y="420"/>
                  <a:pt x="3749" y="-685"/>
                  <a:pt x="5106" y="464"/>
                </a:cubicBezTo>
                <a:cubicBezTo>
                  <a:pt x="6098" y="830"/>
                  <a:pt x="7038" y="1920"/>
                  <a:pt x="7854" y="3736"/>
                </a:cubicBezTo>
                <a:cubicBezTo>
                  <a:pt x="8670" y="5552"/>
                  <a:pt x="9616" y="10272"/>
                  <a:pt x="10000" y="11360"/>
                </a:cubicBezTo>
              </a:path>
            </a:pathLst>
          </a:custGeom>
          <a:noFill/>
          <a:ln w="57150" cap="flat" cmpd="sng">
            <a:solidFill>
              <a:srgbClr val="FF33CC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6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500"/>
                            </p:stCondLst>
                            <p:childTnLst>
                              <p:par>
                                <p:cTn id="1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500"/>
                            </p:stCondLst>
                            <p:childTnLst>
                              <p:par>
                                <p:cTn id="14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000"/>
                            </p:stCondLst>
                            <p:childTnLst>
                              <p:par>
                                <p:cTn id="1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 animBg="1"/>
      <p:bldP spid="39" grpId="0"/>
      <p:bldP spid="40" grpId="0" animBg="1"/>
      <p:bldP spid="41" grpId="0" animBg="1"/>
      <p:bldP spid="42" grpId="0" animBg="1"/>
      <p:bldP spid="43" grpId="0"/>
      <p:bldP spid="43" grpId="1"/>
      <p:bldP spid="44" grpId="0"/>
      <p:bldP spid="45" grpId="0" animBg="1"/>
      <p:bldP spid="46" grpId="0" animBg="1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45640" y="482213"/>
            <a:ext cx="9144000" cy="690625"/>
          </a:xfrm>
        </p:spPr>
        <p:txBody>
          <a:bodyPr anchor="b"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5.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Tính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chất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mảng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một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chiều</a:t>
            </a:r>
            <a:endParaRPr lang="en-US" b="1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39863"/>
            <a:ext cx="8728075" cy="4648200"/>
          </a:xfrm>
        </p:spPr>
        <p:txBody>
          <a:bodyPr/>
          <a:lstStyle/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000" dirty="0" err="1" smtClean="0">
                <a:cs typeface="Arial" charset="0"/>
              </a:rPr>
              <a:t>Có</a:t>
            </a:r>
            <a:r>
              <a:rPr lang="en-US" sz="3000" dirty="0" smtClean="0">
                <a:cs typeface="Arial" charset="0"/>
              </a:rPr>
              <a:t> </a:t>
            </a:r>
            <a:r>
              <a:rPr lang="en-US" sz="3000" dirty="0">
                <a:cs typeface="Arial" charset="0"/>
              </a:rPr>
              <a:t>kích thước cố định (</a:t>
            </a:r>
            <a:r>
              <a:rPr lang="en-US" sz="3000" i="1" dirty="0">
                <a:cs typeface="Arial" charset="0"/>
              </a:rPr>
              <a:t>cấp phát </a:t>
            </a:r>
            <a:r>
              <a:rPr lang="en-US" sz="3000" i="1" dirty="0" err="1">
                <a:cs typeface="Arial" charset="0"/>
              </a:rPr>
              <a:t>tĩnh</a:t>
            </a:r>
            <a:r>
              <a:rPr lang="en-US" sz="3000" dirty="0" smtClean="0">
                <a:cs typeface="Arial" charset="0"/>
              </a:rPr>
              <a:t>).</a:t>
            </a:r>
            <a:endParaRPr lang="en-US" sz="3000" dirty="0">
              <a:cs typeface="Arial" charset="0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000" dirty="0" err="1" smtClean="0">
                <a:cs typeface="Arial" charset="0"/>
              </a:rPr>
              <a:t>Thêm</a:t>
            </a:r>
            <a:r>
              <a:rPr lang="en-US" sz="3000" dirty="0" smtClean="0">
                <a:cs typeface="Arial" charset="0"/>
              </a:rPr>
              <a:t>/</a:t>
            </a:r>
            <a:r>
              <a:rPr lang="en-US" sz="3000" dirty="0" err="1" smtClean="0">
                <a:cs typeface="Arial" charset="0"/>
              </a:rPr>
              <a:t>xóa</a:t>
            </a:r>
            <a:r>
              <a:rPr lang="en-US" sz="3000" dirty="0" smtClean="0">
                <a:cs typeface="Arial" charset="0"/>
              </a:rPr>
              <a:t> </a:t>
            </a:r>
            <a:r>
              <a:rPr lang="en-US" sz="3000" dirty="0" err="1" smtClean="0">
                <a:cs typeface="Arial" charset="0"/>
              </a:rPr>
              <a:t>phần</a:t>
            </a:r>
            <a:r>
              <a:rPr lang="en-US" sz="3000" dirty="0" smtClean="0">
                <a:cs typeface="Arial" charset="0"/>
              </a:rPr>
              <a:t> </a:t>
            </a:r>
            <a:r>
              <a:rPr lang="en-US" sz="3000" dirty="0" err="1" smtClean="0">
                <a:cs typeface="Arial" charset="0"/>
              </a:rPr>
              <a:t>tử</a:t>
            </a:r>
            <a:r>
              <a:rPr lang="en-US" sz="3000" dirty="0" smtClean="0">
                <a:cs typeface="Arial" charset="0"/>
              </a:rPr>
              <a:t> </a:t>
            </a:r>
            <a:r>
              <a:rPr lang="en-US" sz="3000" dirty="0" err="1" smtClean="0">
                <a:cs typeface="Arial" charset="0"/>
              </a:rPr>
              <a:t>có</a:t>
            </a:r>
            <a:r>
              <a:rPr lang="en-US" sz="3000" dirty="0" smtClean="0">
                <a:cs typeface="Arial" charset="0"/>
              </a:rPr>
              <a:t> </a:t>
            </a:r>
            <a:r>
              <a:rPr lang="en-US" sz="3000" dirty="0">
                <a:cs typeface="Arial" charset="0"/>
              </a:rPr>
              <a:t>độ phức </a:t>
            </a:r>
            <a:r>
              <a:rPr lang="en-US" sz="3000" dirty="0" err="1">
                <a:cs typeface="Arial" charset="0"/>
              </a:rPr>
              <a:t>tạp</a:t>
            </a:r>
            <a:r>
              <a:rPr lang="en-US" sz="3000" dirty="0">
                <a:cs typeface="Arial" charset="0"/>
              </a:rPr>
              <a:t> </a:t>
            </a:r>
            <a:r>
              <a:rPr lang="en-US" sz="3000" dirty="0" err="1" smtClean="0">
                <a:cs typeface="Arial" charset="0"/>
              </a:rPr>
              <a:t>cao</a:t>
            </a:r>
            <a:r>
              <a:rPr lang="en-US" sz="3000" dirty="0" smtClean="0">
                <a:cs typeface="Arial" charset="0"/>
              </a:rPr>
              <a:t>.</a:t>
            </a:r>
            <a:endParaRPr lang="en-US" sz="3000" dirty="0">
              <a:cs typeface="Arial" charset="0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000" dirty="0">
                <a:cs typeface="Arial" charset="0"/>
              </a:rPr>
              <a:t>Các phần tử tuần tự theo chỉ số 0 </a:t>
            </a:r>
            <a:r>
              <a:rPr lang="en-US" sz="3000" dirty="0">
                <a:cs typeface="Arial" charset="0"/>
                <a:sym typeface="Symbol" pitchFamily="18" charset="2"/>
              </a:rPr>
              <a:t> </a:t>
            </a:r>
            <a:r>
              <a:rPr lang="en-US" sz="3000" dirty="0" smtClean="0">
                <a:cs typeface="Arial" charset="0"/>
                <a:sym typeface="Symbol" pitchFamily="18" charset="2"/>
              </a:rPr>
              <a:t>n-1.</a:t>
            </a:r>
            <a:endParaRPr lang="en-US" sz="3000" dirty="0">
              <a:cs typeface="Arial" charset="0"/>
              <a:sym typeface="Symbol" pitchFamily="18" charset="2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000" dirty="0">
                <a:cs typeface="Arial" charset="0"/>
                <a:sym typeface="Symbol" pitchFamily="18" charset="2"/>
              </a:rPr>
              <a:t>Truy cập </a:t>
            </a:r>
            <a:r>
              <a:rPr lang="en-US" sz="3000" dirty="0" err="1">
                <a:cs typeface="Arial" charset="0"/>
                <a:sym typeface="Symbol" pitchFamily="18" charset="2"/>
              </a:rPr>
              <a:t>ngẫu</a:t>
            </a:r>
            <a:r>
              <a:rPr lang="en-US" sz="3000" dirty="0">
                <a:cs typeface="Arial" charset="0"/>
                <a:sym typeface="Symbol" pitchFamily="18" charset="2"/>
              </a:rPr>
              <a:t> </a:t>
            </a:r>
            <a:r>
              <a:rPr lang="en-US" sz="3000" dirty="0" err="1" smtClean="0">
                <a:cs typeface="Arial" charset="0"/>
                <a:sym typeface="Symbol" pitchFamily="18" charset="2"/>
              </a:rPr>
              <a:t>nhiên</a:t>
            </a:r>
            <a:r>
              <a:rPr lang="en-US" sz="3000" dirty="0" smtClean="0">
                <a:cs typeface="Arial" charset="0"/>
                <a:sym typeface="Symbol" pitchFamily="18" charset="2"/>
              </a:rPr>
              <a:t>.</a:t>
            </a:r>
            <a:endParaRPr lang="en-US" sz="3000" dirty="0">
              <a:cs typeface="Arial" charset="0"/>
              <a:sym typeface="Symbol" pitchFamily="18" charset="2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952750" y="567055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3729038" y="567055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4505325" y="567055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5281613" y="567055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6062663" y="567055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7891463" y="567055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8667750" y="567055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233484" name="Text Box 11"/>
          <p:cNvSpPr txBox="1">
            <a:spLocks noChangeArrowheads="1"/>
          </p:cNvSpPr>
          <p:nvPr/>
        </p:nvSpPr>
        <p:spPr bwMode="auto">
          <a:xfrm>
            <a:off x="3181350" y="6046789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b="1">
                <a:latin typeface="Times" pitchFamily="18" charset="0"/>
                <a:cs typeface="Arial" charset="0"/>
              </a:rPr>
              <a:t>0</a:t>
            </a:r>
          </a:p>
        </p:txBody>
      </p:sp>
      <p:sp>
        <p:nvSpPr>
          <p:cNvPr id="233485" name="Text Box 12"/>
          <p:cNvSpPr txBox="1">
            <a:spLocks noChangeArrowheads="1"/>
          </p:cNvSpPr>
          <p:nvPr/>
        </p:nvSpPr>
        <p:spPr bwMode="auto">
          <a:xfrm>
            <a:off x="3943350" y="604996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b="1">
                <a:latin typeface="Times" pitchFamily="18" charset="0"/>
                <a:cs typeface="Arial" charset="0"/>
              </a:rPr>
              <a:t>1</a:t>
            </a:r>
          </a:p>
        </p:txBody>
      </p:sp>
      <p:sp>
        <p:nvSpPr>
          <p:cNvPr id="233486" name="Text Box 14"/>
          <p:cNvSpPr txBox="1">
            <a:spLocks noChangeArrowheads="1"/>
          </p:cNvSpPr>
          <p:nvPr/>
        </p:nvSpPr>
        <p:spPr bwMode="auto">
          <a:xfrm>
            <a:off x="4730750" y="603885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b="1">
                <a:latin typeface="Times" pitchFamily="18" charset="0"/>
                <a:cs typeface="Arial" charset="0"/>
              </a:rPr>
              <a:t>2</a:t>
            </a:r>
          </a:p>
        </p:txBody>
      </p:sp>
      <p:sp>
        <p:nvSpPr>
          <p:cNvPr id="233487" name="Text Box 15"/>
          <p:cNvSpPr txBox="1">
            <a:spLocks noChangeArrowheads="1"/>
          </p:cNvSpPr>
          <p:nvPr/>
        </p:nvSpPr>
        <p:spPr bwMode="auto">
          <a:xfrm>
            <a:off x="5524500" y="603885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b="1">
                <a:latin typeface="Times" pitchFamily="18" charset="0"/>
                <a:cs typeface="Arial" charset="0"/>
              </a:rPr>
              <a:t>3</a:t>
            </a:r>
          </a:p>
        </p:txBody>
      </p:sp>
      <p:sp>
        <p:nvSpPr>
          <p:cNvPr id="233488" name="Text Box 16"/>
          <p:cNvSpPr txBox="1">
            <a:spLocks noChangeArrowheads="1"/>
          </p:cNvSpPr>
          <p:nvPr/>
        </p:nvSpPr>
        <p:spPr bwMode="auto">
          <a:xfrm>
            <a:off x="6305550" y="603885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b="1">
                <a:latin typeface="Times" pitchFamily="18" charset="0"/>
                <a:cs typeface="Arial" charset="0"/>
              </a:rPr>
              <a:t>4</a:t>
            </a:r>
          </a:p>
        </p:txBody>
      </p:sp>
      <p:sp>
        <p:nvSpPr>
          <p:cNvPr id="233489" name="Line 17"/>
          <p:cNvSpPr>
            <a:spLocks noChangeShapeType="1"/>
          </p:cNvSpPr>
          <p:nvPr/>
        </p:nvSpPr>
        <p:spPr bwMode="auto">
          <a:xfrm>
            <a:off x="7143751" y="5838825"/>
            <a:ext cx="474663" cy="0"/>
          </a:xfrm>
          <a:prstGeom prst="line">
            <a:avLst/>
          </a:prstGeom>
          <a:noFill/>
          <a:ln w="762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3490" name="Text Box 18"/>
          <p:cNvSpPr txBox="1">
            <a:spLocks noChangeArrowheads="1"/>
          </p:cNvSpPr>
          <p:nvPr/>
        </p:nvSpPr>
        <p:spPr bwMode="auto">
          <a:xfrm>
            <a:off x="8039101" y="6048376"/>
            <a:ext cx="53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b="1">
                <a:latin typeface="Times" pitchFamily="18" charset="0"/>
                <a:cs typeface="Arial" charset="0"/>
              </a:rPr>
              <a:t>n-2</a:t>
            </a:r>
          </a:p>
        </p:txBody>
      </p:sp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8794751" y="6051551"/>
            <a:ext cx="53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b="1">
                <a:latin typeface="Times" pitchFamily="18" charset="0"/>
                <a:cs typeface="Arial" charset="0"/>
              </a:rPr>
              <a:t>n-1</a:t>
            </a:r>
          </a:p>
        </p:txBody>
      </p:sp>
      <p:sp>
        <p:nvSpPr>
          <p:cNvPr id="23572" name="AutoShape 20"/>
          <p:cNvSpPr>
            <a:spLocks noChangeArrowheads="1"/>
          </p:cNvSpPr>
          <p:nvPr/>
        </p:nvSpPr>
        <p:spPr bwMode="auto">
          <a:xfrm rot="6929352">
            <a:off x="4362450" y="5175250"/>
            <a:ext cx="533400" cy="304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69804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pic>
        <p:nvPicPr>
          <p:cNvPr id="233493" name="Picture 21" descr="j0424484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0950" y="4391025"/>
            <a:ext cx="9906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3494" name="AutoShape 22"/>
          <p:cNvSpPr>
            <a:spLocks noChangeArrowheads="1"/>
          </p:cNvSpPr>
          <p:nvPr/>
        </p:nvSpPr>
        <p:spPr bwMode="auto">
          <a:xfrm>
            <a:off x="5486400" y="4495800"/>
            <a:ext cx="1371600" cy="685800"/>
          </a:xfrm>
          <a:prstGeom prst="cloudCallout">
            <a:avLst>
              <a:gd name="adj1" fmla="val -106801"/>
              <a:gd name="adj2" fmla="val 231"/>
            </a:avLst>
          </a:prstGeom>
          <a:solidFill>
            <a:srgbClr val="FF00FF">
              <a:alpha val="32941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eaLnBrk="0" hangingPunct="0"/>
            <a:r>
              <a:rPr lang="en-US" sz="2800" b="1">
                <a:solidFill>
                  <a:srgbClr val="003399"/>
                </a:solidFill>
                <a:latin typeface="Times" pitchFamily="18" charset="0"/>
                <a:cs typeface="Arial" charset="0"/>
              </a:rPr>
              <a:t>chèn</a:t>
            </a:r>
          </a:p>
        </p:txBody>
      </p:sp>
    </p:spTree>
    <p:extLst>
      <p:ext uri="{BB962C8B-B14F-4D97-AF65-F5344CB8AC3E}">
        <p14:creationId xmlns:p14="http://schemas.microsoft.com/office/powerpoint/2010/main" val="21301885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3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3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3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3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23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3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3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3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/>
      <p:bldP spid="23557" grpId="0" animBg="1"/>
      <p:bldP spid="23558" grpId="0" animBg="1"/>
      <p:bldP spid="23559" grpId="0" animBg="1"/>
      <p:bldP spid="23560" grpId="0" animBg="1"/>
      <p:bldP spid="23561" grpId="0" animBg="1"/>
      <p:bldP spid="23562" grpId="0" animBg="1"/>
      <p:bldP spid="233484" grpId="0"/>
      <p:bldP spid="233485" grpId="0"/>
      <p:bldP spid="233486" grpId="0"/>
      <p:bldP spid="233487" grpId="0"/>
      <p:bldP spid="233488" grpId="0"/>
      <p:bldP spid="233489" grpId="0" animBg="1"/>
      <p:bldP spid="233490" grpId="0"/>
      <p:bldP spid="233491" grpId="0"/>
      <p:bldP spid="23349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518111" y="414301"/>
            <a:ext cx="9144000" cy="690625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6.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Tính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chất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danh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sách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liên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kết</a:t>
            </a: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(DSLK)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95400"/>
            <a:ext cx="9771063" cy="5105400"/>
          </a:xfrm>
        </p:spPr>
        <p:txBody>
          <a:bodyPr/>
          <a:lstStyle/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000" dirty="0" err="1" smtClean="0">
                <a:cs typeface="Arial" charset="0"/>
              </a:rPr>
              <a:t>Cấp</a:t>
            </a:r>
            <a:r>
              <a:rPr lang="en-US" sz="3000" dirty="0" smtClean="0">
                <a:cs typeface="Arial" charset="0"/>
              </a:rPr>
              <a:t> </a:t>
            </a:r>
            <a:r>
              <a:rPr lang="en-US" sz="3000" dirty="0">
                <a:cs typeface="Arial" charset="0"/>
              </a:rPr>
              <a:t>phát động lúc chạy </a:t>
            </a:r>
            <a:r>
              <a:rPr lang="en-US" sz="3000" dirty="0" err="1">
                <a:cs typeface="Arial" charset="0"/>
              </a:rPr>
              <a:t>chương</a:t>
            </a:r>
            <a:r>
              <a:rPr lang="en-US" sz="3000" dirty="0">
                <a:cs typeface="Arial" charset="0"/>
              </a:rPr>
              <a:t> </a:t>
            </a:r>
            <a:r>
              <a:rPr lang="en-US" sz="3000" dirty="0" err="1" smtClean="0">
                <a:cs typeface="Arial" charset="0"/>
              </a:rPr>
              <a:t>trình</a:t>
            </a:r>
            <a:r>
              <a:rPr lang="en-US" sz="3000" dirty="0" smtClean="0">
                <a:cs typeface="Arial" charset="0"/>
              </a:rPr>
              <a:t>.</a:t>
            </a:r>
            <a:endParaRPr lang="en-US" sz="3000" dirty="0">
              <a:cs typeface="Arial" charset="0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000" dirty="0">
                <a:cs typeface="Arial" charset="0"/>
              </a:rPr>
              <a:t>Các phần tử nằm rải rác ở nhiều nơi trong </a:t>
            </a:r>
            <a:r>
              <a:rPr lang="en-US" sz="3000" dirty="0" err="1">
                <a:cs typeface="Arial" charset="0"/>
              </a:rPr>
              <a:t>bộ</a:t>
            </a:r>
            <a:r>
              <a:rPr lang="en-US" sz="3000" dirty="0">
                <a:cs typeface="Arial" charset="0"/>
              </a:rPr>
              <a:t> </a:t>
            </a:r>
            <a:r>
              <a:rPr lang="en-US" sz="3000" dirty="0" err="1" smtClean="0">
                <a:cs typeface="Arial" charset="0"/>
              </a:rPr>
              <a:t>nhớ</a:t>
            </a:r>
            <a:r>
              <a:rPr lang="en-US" sz="3000" dirty="0" smtClean="0">
                <a:cs typeface="Arial" charset="0"/>
              </a:rPr>
              <a:t>.</a:t>
            </a:r>
            <a:endParaRPr lang="en-US" sz="3000" dirty="0">
              <a:cs typeface="Arial" charset="0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000" dirty="0">
                <a:cs typeface="Arial" charset="0"/>
              </a:rPr>
              <a:t>Kích thước danh sách chỉ bị giới hạn do </a:t>
            </a:r>
            <a:r>
              <a:rPr lang="en-US" sz="3000" dirty="0" smtClean="0">
                <a:cs typeface="Arial" charset="0"/>
              </a:rPr>
              <a:t>RAM.</a:t>
            </a:r>
            <a:endParaRPr lang="en-US" sz="3000" dirty="0">
              <a:cs typeface="Arial" charset="0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3000" dirty="0">
                <a:cs typeface="Arial" charset="0"/>
              </a:rPr>
              <a:t>Thao tác thêm/xóa </a:t>
            </a:r>
            <a:r>
              <a:rPr lang="en-US" sz="3000" dirty="0" err="1">
                <a:cs typeface="Arial" charset="0"/>
              </a:rPr>
              <a:t>đơn</a:t>
            </a:r>
            <a:r>
              <a:rPr lang="en-US" sz="3000" dirty="0">
                <a:cs typeface="Arial" charset="0"/>
              </a:rPr>
              <a:t> </a:t>
            </a:r>
            <a:r>
              <a:rPr lang="en-US" sz="3000" dirty="0" err="1" smtClean="0">
                <a:cs typeface="Arial" charset="0"/>
              </a:rPr>
              <a:t>giản</a:t>
            </a:r>
            <a:r>
              <a:rPr lang="en-US" sz="3000" dirty="0" smtClean="0">
                <a:cs typeface="Arial" charset="0"/>
              </a:rPr>
              <a:t>.</a:t>
            </a:r>
            <a:endParaRPr lang="en-US" sz="3000" dirty="0">
              <a:cs typeface="Arial" charset="0"/>
            </a:endParaRPr>
          </a:p>
        </p:txBody>
      </p:sp>
      <p:pic>
        <p:nvPicPr>
          <p:cNvPr id="6150" name="Picture 4" descr="j0424466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8288" y="4648201"/>
            <a:ext cx="1060450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1" name="AutoShape 5"/>
          <p:cNvSpPr>
            <a:spLocks noChangeArrowheads="1"/>
          </p:cNvSpPr>
          <p:nvPr/>
        </p:nvSpPr>
        <p:spPr bwMode="auto">
          <a:xfrm>
            <a:off x="7620000" y="4343400"/>
            <a:ext cx="1828800" cy="1066800"/>
          </a:xfrm>
          <a:prstGeom prst="cloudCallout">
            <a:avLst>
              <a:gd name="adj1" fmla="val -145745"/>
              <a:gd name="adj2" fmla="val 38394"/>
            </a:avLst>
          </a:prstGeom>
          <a:solidFill>
            <a:srgbClr val="FF00FF">
              <a:alpha val="32941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eaLnBrk="0" hangingPunct="0"/>
            <a:r>
              <a:rPr lang="en-US" sz="2400" b="1">
                <a:solidFill>
                  <a:srgbClr val="003399"/>
                </a:solidFill>
                <a:latin typeface="Times" pitchFamily="18" charset="0"/>
                <a:cs typeface="Arial" charset="0"/>
              </a:rPr>
              <a:t>Insert, Delete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3400425" y="601980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4967288" y="601980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6154" name="AutoShape 12"/>
          <p:cNvSpPr>
            <a:spLocks noChangeArrowheads="1"/>
          </p:cNvSpPr>
          <p:nvPr/>
        </p:nvSpPr>
        <p:spPr bwMode="auto">
          <a:xfrm>
            <a:off x="4129088" y="6138863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0000">
              <a:alpha val="5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>
              <a:latin typeface="Times" pitchFamily="18" charset="0"/>
              <a:cs typeface="Arial" charset="0"/>
            </a:endParaRP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6519863" y="601980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6156" name="AutoShape 14"/>
          <p:cNvSpPr>
            <a:spLocks noChangeArrowheads="1"/>
          </p:cNvSpPr>
          <p:nvPr/>
        </p:nvSpPr>
        <p:spPr bwMode="auto">
          <a:xfrm>
            <a:off x="5681663" y="6138863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0000">
              <a:alpha val="5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>
              <a:latin typeface="Times" pitchFamily="18" charset="0"/>
              <a:cs typeface="Arial" charset="0"/>
            </a:endParaRP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8077200" y="6019800"/>
            <a:ext cx="762000" cy="381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  <p:sp>
        <p:nvSpPr>
          <p:cNvPr id="6158" name="AutoShape 16"/>
          <p:cNvSpPr>
            <a:spLocks noChangeArrowheads="1"/>
          </p:cNvSpPr>
          <p:nvPr/>
        </p:nvSpPr>
        <p:spPr bwMode="auto">
          <a:xfrm>
            <a:off x="7239000" y="6138863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0000">
              <a:alpha val="5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>
              <a:latin typeface="Times" pitchFamily="18" charset="0"/>
              <a:cs typeface="Arial" charset="0"/>
            </a:endParaRPr>
          </a:p>
        </p:txBody>
      </p:sp>
      <p:sp>
        <p:nvSpPr>
          <p:cNvPr id="24594" name="AutoShape 18"/>
          <p:cNvSpPr>
            <a:spLocks noChangeArrowheads="1"/>
          </p:cNvSpPr>
          <p:nvPr/>
        </p:nvSpPr>
        <p:spPr bwMode="auto">
          <a:xfrm>
            <a:off x="5348288" y="5562600"/>
            <a:ext cx="304800" cy="381000"/>
          </a:xfrm>
          <a:prstGeom prst="downArrow">
            <a:avLst>
              <a:gd name="adj1" fmla="val 50000"/>
              <a:gd name="adj2" fmla="val 31250"/>
            </a:avLst>
          </a:prstGeom>
          <a:gradFill rotWithShape="1">
            <a:gsLst>
              <a:gs pos="0">
                <a:schemeClr val="accent2">
                  <a:gamma/>
                  <a:shade val="76078"/>
                  <a:invGamma/>
                </a:schemeClr>
              </a:gs>
              <a:gs pos="50000">
                <a:schemeClr val="accent2">
                  <a:alpha val="78000"/>
                </a:schemeClr>
              </a:gs>
              <a:gs pos="100000">
                <a:schemeClr val="accent2">
                  <a:gamma/>
                  <a:shade val="76078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defRPr/>
            </a:pPr>
            <a:endParaRPr lang="en-US" sz="240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7653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 animBg="1"/>
      <p:bldP spid="24582" grpId="0" animBg="1"/>
      <p:bldP spid="24583" grpId="0" animBg="1"/>
      <p:bldP spid="6154" grpId="0" animBg="1"/>
      <p:bldP spid="24589" grpId="0" animBg="1"/>
      <p:bldP spid="6156" grpId="0" animBg="1"/>
      <p:bldP spid="24591" grpId="0" animBg="1"/>
      <p:bldP spid="6158" grpId="0" animBg="1"/>
      <p:bldP spid="2459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60802" y="1828800"/>
            <a:ext cx="10058400" cy="10055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II. DANH SÁCH LIÊN KẾT – LINKED LIST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48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73229"/>
            <a:ext cx="10058400" cy="75987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2. </a:t>
            </a:r>
            <a:r>
              <a:rPr lang="en-US" dirty="0" err="1">
                <a:solidFill>
                  <a:srgbClr val="0070C0"/>
                </a:solidFill>
              </a:rPr>
              <a:t>Định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nghĩa</a:t>
            </a:r>
            <a:r>
              <a:rPr lang="en-US" dirty="0" smtClean="0">
                <a:solidFill>
                  <a:srgbClr val="0070C0"/>
                </a:solidFill>
              </a:rPr>
              <a:t> DSLK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316036"/>
            <a:ext cx="10598851" cy="490585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Cho </a:t>
            </a:r>
            <a:r>
              <a:rPr lang="en-US" sz="2600" b="1" i="1" dirty="0"/>
              <a:t>T </a:t>
            </a:r>
            <a:r>
              <a:rPr lang="en-US" sz="2600" b="1" i="1" dirty="0" err="1"/>
              <a:t>là</a:t>
            </a:r>
            <a:r>
              <a:rPr lang="en-US" sz="2600" b="1" i="1" dirty="0"/>
              <a:t> </a:t>
            </a:r>
            <a:r>
              <a:rPr lang="en-US" sz="2600" b="1" i="1" dirty="0" err="1"/>
              <a:t>một</a:t>
            </a:r>
            <a:r>
              <a:rPr lang="en-US" sz="2600" b="1" i="1" dirty="0"/>
              <a:t> </a:t>
            </a:r>
            <a:r>
              <a:rPr lang="en-US" sz="2600" b="1" i="1" dirty="0" err="1"/>
              <a:t>kiểu</a:t>
            </a:r>
            <a:r>
              <a:rPr lang="en-US" sz="2600" b="1" i="1" dirty="0"/>
              <a:t> </a:t>
            </a:r>
            <a:r>
              <a:rPr lang="en-US" sz="2600" b="1" i="1" dirty="0" err="1"/>
              <a:t>được</a:t>
            </a:r>
            <a:r>
              <a:rPr lang="en-US" sz="2600" b="1" i="1" dirty="0"/>
              <a:t> </a:t>
            </a:r>
            <a:r>
              <a:rPr lang="en-US" sz="2600" b="1" i="1" dirty="0" err="1"/>
              <a:t>định</a:t>
            </a:r>
            <a:r>
              <a:rPr lang="en-US" sz="2600" b="1" i="1" dirty="0"/>
              <a:t> </a:t>
            </a:r>
            <a:r>
              <a:rPr lang="en-US" sz="2600" b="1" i="1" dirty="0" err="1"/>
              <a:t>nghĩa</a:t>
            </a:r>
            <a:r>
              <a:rPr lang="en-US" sz="2600" b="1" i="1" dirty="0"/>
              <a:t> </a:t>
            </a:r>
            <a:r>
              <a:rPr lang="en-US" sz="2600" b="1" i="1" dirty="0" err="1"/>
              <a:t>trước</a:t>
            </a:r>
            <a:r>
              <a:rPr lang="en-US" sz="2600" dirty="0"/>
              <a:t>, </a:t>
            </a:r>
            <a:r>
              <a:rPr lang="en-US" sz="2600" b="1" i="1" dirty="0" err="1">
                <a:solidFill>
                  <a:srgbClr val="C00000"/>
                </a:solidFill>
              </a:rPr>
              <a:t>kiểu</a:t>
            </a:r>
            <a:r>
              <a:rPr lang="en-US" sz="2600" b="1" i="1" dirty="0">
                <a:solidFill>
                  <a:srgbClr val="C00000"/>
                </a:solidFill>
              </a:rPr>
              <a:t> </a:t>
            </a:r>
            <a:r>
              <a:rPr lang="en-US" sz="2600" b="1" i="1" dirty="0" err="1">
                <a:solidFill>
                  <a:srgbClr val="C00000"/>
                </a:solidFill>
              </a:rPr>
              <a:t>danh</a:t>
            </a:r>
            <a:r>
              <a:rPr lang="en-US" sz="2600" b="1" i="1" dirty="0">
                <a:solidFill>
                  <a:srgbClr val="C00000"/>
                </a:solidFill>
              </a:rPr>
              <a:t> </a:t>
            </a:r>
            <a:r>
              <a:rPr lang="en-US" sz="2600" b="1" i="1" dirty="0" err="1">
                <a:solidFill>
                  <a:srgbClr val="C00000"/>
                </a:solidFill>
              </a:rPr>
              <a:t>sách</a:t>
            </a:r>
            <a:r>
              <a:rPr lang="en-US" sz="2600" b="1" i="1" dirty="0">
                <a:solidFill>
                  <a:srgbClr val="C00000"/>
                </a:solidFill>
              </a:rPr>
              <a:t> </a:t>
            </a:r>
            <a:r>
              <a:rPr lang="en-US" sz="2600" b="1" i="1" dirty="0" err="1">
                <a:solidFill>
                  <a:srgbClr val="C00000"/>
                </a:solidFill>
              </a:rPr>
              <a:t>T</a:t>
            </a:r>
            <a:r>
              <a:rPr lang="en-US" sz="2600" b="1" i="1" baseline="-25000" dirty="0" err="1">
                <a:solidFill>
                  <a:srgbClr val="C00000"/>
                </a:solidFill>
              </a:rPr>
              <a:t>x</a:t>
            </a:r>
            <a:r>
              <a:rPr lang="en-US" sz="2600" b="1" i="1" dirty="0">
                <a:solidFill>
                  <a:srgbClr val="C00000"/>
                </a:solidFill>
              </a:rPr>
              <a:t> </a:t>
            </a:r>
            <a:r>
              <a:rPr lang="en-US" sz="2600" b="1" i="1" dirty="0" err="1">
                <a:solidFill>
                  <a:srgbClr val="C00000"/>
                </a:solidFill>
              </a:rPr>
              <a:t>gồm</a:t>
            </a:r>
            <a:r>
              <a:rPr lang="en-US" sz="2600" b="1" i="1" dirty="0">
                <a:solidFill>
                  <a:srgbClr val="C00000"/>
                </a:solidFill>
              </a:rPr>
              <a:t> </a:t>
            </a:r>
            <a:r>
              <a:rPr lang="en-US" sz="2600" b="1" i="1" dirty="0" err="1">
                <a:solidFill>
                  <a:srgbClr val="C00000"/>
                </a:solidFill>
              </a:rPr>
              <a:t>các</a:t>
            </a:r>
            <a:r>
              <a:rPr lang="en-US" sz="2600" b="1" i="1" dirty="0">
                <a:solidFill>
                  <a:srgbClr val="C00000"/>
                </a:solidFill>
              </a:rPr>
              <a:t> </a:t>
            </a:r>
            <a:r>
              <a:rPr lang="en-US" sz="2600" b="1" i="1" dirty="0" err="1">
                <a:solidFill>
                  <a:srgbClr val="C00000"/>
                </a:solidFill>
              </a:rPr>
              <a:t>phần</a:t>
            </a:r>
            <a:r>
              <a:rPr lang="en-US" sz="2600" b="1" i="1" dirty="0">
                <a:solidFill>
                  <a:srgbClr val="C00000"/>
                </a:solidFill>
              </a:rPr>
              <a:t> </a:t>
            </a:r>
            <a:r>
              <a:rPr lang="en-US" sz="2600" b="1" i="1" dirty="0" err="1">
                <a:solidFill>
                  <a:srgbClr val="C00000"/>
                </a:solidFill>
              </a:rPr>
              <a:t>tử</a:t>
            </a:r>
            <a:r>
              <a:rPr lang="en-US" sz="2600" b="1" i="1" dirty="0">
                <a:solidFill>
                  <a:srgbClr val="C00000"/>
                </a:solidFill>
              </a:rPr>
              <a:t> </a:t>
            </a:r>
            <a:r>
              <a:rPr lang="en-US" sz="2600" b="1" i="1" dirty="0" err="1">
                <a:solidFill>
                  <a:srgbClr val="C00000"/>
                </a:solidFill>
              </a:rPr>
              <a:t>thuộc</a:t>
            </a:r>
            <a:r>
              <a:rPr lang="en-US" sz="2600" b="1" i="1" dirty="0">
                <a:solidFill>
                  <a:srgbClr val="C00000"/>
                </a:solidFill>
              </a:rPr>
              <a:t> </a:t>
            </a:r>
            <a:r>
              <a:rPr lang="en-US" sz="2600" b="1" i="1" dirty="0" err="1">
                <a:solidFill>
                  <a:srgbClr val="C00000"/>
                </a:solidFill>
              </a:rPr>
              <a:t>kiểu</a:t>
            </a:r>
            <a:r>
              <a:rPr lang="en-US" sz="2600" b="1" i="1" dirty="0">
                <a:solidFill>
                  <a:srgbClr val="C00000"/>
                </a:solidFill>
              </a:rPr>
              <a:t> T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định</a:t>
            </a:r>
            <a:r>
              <a:rPr lang="en-US" sz="2600" dirty="0"/>
              <a:t> </a:t>
            </a:r>
            <a:r>
              <a:rPr lang="en-US" sz="2600" dirty="0" err="1"/>
              <a:t>nghĩa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: 	</a:t>
            </a:r>
            <a:r>
              <a:rPr lang="en-US" sz="2600" dirty="0" err="1" smtClean="0"/>
              <a:t>T</a:t>
            </a:r>
            <a:r>
              <a:rPr lang="en-US" sz="2600" baseline="-25000" dirty="0" err="1" smtClean="0"/>
              <a:t>x</a:t>
            </a:r>
            <a:r>
              <a:rPr lang="en-US" sz="2600" dirty="0"/>
              <a:t>=&lt;</a:t>
            </a:r>
            <a:r>
              <a:rPr lang="en-US" sz="2600" dirty="0" err="1"/>
              <a:t>V</a:t>
            </a:r>
            <a:r>
              <a:rPr lang="en-US" sz="2600" baseline="-25000" dirty="0" err="1"/>
              <a:t>x</a:t>
            </a:r>
            <a:r>
              <a:rPr lang="en-US" sz="2600" dirty="0" err="1"/>
              <a:t>,O</a:t>
            </a:r>
            <a:r>
              <a:rPr lang="en-US" sz="2600" baseline="-25000" dirty="0" err="1"/>
              <a:t>x</a:t>
            </a:r>
            <a:r>
              <a:rPr lang="en-US" sz="2600" dirty="0"/>
              <a:t>&gt;.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 err="1"/>
              <a:t>V</a:t>
            </a:r>
            <a:r>
              <a:rPr lang="en-US" sz="2600" baseline="-25000" dirty="0" err="1"/>
              <a:t>x</a:t>
            </a:r>
            <a:r>
              <a:rPr lang="en-US" sz="2600" dirty="0"/>
              <a:t> ={ </a:t>
            </a:r>
            <a:r>
              <a:rPr lang="en-US" sz="2600" dirty="0" err="1"/>
              <a:t>tập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thứ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tử</a:t>
            </a:r>
            <a:r>
              <a:rPr lang="en-US" sz="2600" dirty="0"/>
              <a:t> </a:t>
            </a:r>
            <a:r>
              <a:rPr lang="en-US" sz="2600" dirty="0" err="1"/>
              <a:t>kiểu</a:t>
            </a:r>
            <a:r>
              <a:rPr lang="en-US" sz="2600" dirty="0"/>
              <a:t> T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móc</a:t>
            </a:r>
            <a:r>
              <a:rPr lang="en-US" sz="2600" dirty="0"/>
              <a:t> </a:t>
            </a:r>
            <a:r>
              <a:rPr lang="en-US" sz="2600" dirty="0" err="1"/>
              <a:t>nối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nhau</a:t>
            </a:r>
            <a:r>
              <a:rPr lang="en-US" sz="2600" dirty="0"/>
              <a:t>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</a:t>
            </a:r>
            <a:r>
              <a:rPr lang="en-US" sz="2600" dirty="0" err="1"/>
              <a:t>tuyến</a:t>
            </a:r>
            <a:r>
              <a:rPr lang="en-US" sz="2600" dirty="0"/>
              <a:t> </a:t>
            </a:r>
            <a:r>
              <a:rPr lang="en-US" sz="2600" dirty="0" err="1"/>
              <a:t>tính</a:t>
            </a:r>
            <a:r>
              <a:rPr lang="en-US" sz="2600" dirty="0"/>
              <a:t>}.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O</a:t>
            </a:r>
            <a:r>
              <a:rPr lang="en-US" sz="2600" baseline="-25000" dirty="0"/>
              <a:t>x</a:t>
            </a:r>
            <a:r>
              <a:rPr lang="en-US" sz="2600" dirty="0"/>
              <a:t> ={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phương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</a:t>
            </a:r>
            <a:r>
              <a:rPr lang="en-US" sz="2600" dirty="0" err="1"/>
              <a:t>thiết</a:t>
            </a:r>
            <a:r>
              <a:rPr lang="en-US" sz="2600" dirty="0"/>
              <a:t> </a:t>
            </a:r>
            <a:r>
              <a:rPr lang="en-US" sz="2600" dirty="0" err="1"/>
              <a:t>lập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danh</a:t>
            </a:r>
            <a:r>
              <a:rPr lang="en-US" sz="2600" dirty="0"/>
              <a:t> </a:t>
            </a:r>
            <a:r>
              <a:rPr lang="en-US" sz="2600" dirty="0" err="1"/>
              <a:t>sách</a:t>
            </a:r>
            <a:r>
              <a:rPr lang="en-US" sz="2600" dirty="0"/>
              <a:t> </a:t>
            </a:r>
            <a:r>
              <a:rPr lang="en-US" sz="2600" dirty="0" err="1"/>
              <a:t>T</a:t>
            </a:r>
            <a:r>
              <a:rPr lang="en-US" sz="2600" baseline="-25000" dirty="0" err="1"/>
              <a:t>x</a:t>
            </a:r>
            <a:r>
              <a:rPr lang="en-US" sz="2600" dirty="0"/>
              <a:t> (</a:t>
            </a:r>
            <a:r>
              <a:rPr lang="en-US" sz="2600" dirty="0" err="1"/>
              <a:t>như</a:t>
            </a:r>
            <a:r>
              <a:rPr lang="en-US" sz="2600" dirty="0"/>
              <a:t> </a:t>
            </a:r>
            <a:r>
              <a:rPr lang="en-US" sz="2600" dirty="0" err="1"/>
              <a:t>tạo</a:t>
            </a:r>
            <a:r>
              <a:rPr lang="en-US" sz="2600" dirty="0"/>
              <a:t> </a:t>
            </a:r>
            <a:r>
              <a:rPr lang="en-US" sz="2600" dirty="0" err="1"/>
              <a:t>danh</a:t>
            </a:r>
            <a:r>
              <a:rPr lang="en-US" sz="2600" dirty="0"/>
              <a:t> </a:t>
            </a:r>
            <a:r>
              <a:rPr lang="en-US" sz="2600" dirty="0" err="1"/>
              <a:t>sách</a:t>
            </a:r>
            <a:r>
              <a:rPr lang="en-US" sz="2600" dirty="0"/>
              <a:t>; </a:t>
            </a:r>
            <a:r>
              <a:rPr lang="en-US" sz="2600" dirty="0" err="1"/>
              <a:t>hủy</a:t>
            </a:r>
            <a:r>
              <a:rPr lang="en-US" sz="2600" dirty="0"/>
              <a:t> </a:t>
            </a:r>
            <a:r>
              <a:rPr lang="en-US" sz="2600" dirty="0" err="1"/>
              <a:t>danh</a:t>
            </a:r>
            <a:r>
              <a:rPr lang="en-US" sz="2600" dirty="0"/>
              <a:t> </a:t>
            </a:r>
            <a:r>
              <a:rPr lang="en-US" sz="2600" dirty="0" err="1"/>
              <a:t>sách</a:t>
            </a:r>
            <a:r>
              <a:rPr lang="en-US" sz="2600" dirty="0"/>
              <a:t>;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tử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danh</a:t>
            </a:r>
            <a:r>
              <a:rPr lang="en-US" sz="2600" dirty="0"/>
              <a:t> </a:t>
            </a:r>
            <a:r>
              <a:rPr lang="en-US" sz="2600" dirty="0" err="1"/>
              <a:t>sách</a:t>
            </a:r>
            <a:r>
              <a:rPr lang="en-US" sz="2600" dirty="0"/>
              <a:t>; </a:t>
            </a:r>
            <a:r>
              <a:rPr lang="en-US" sz="2600" dirty="0" err="1"/>
              <a:t>hủy</a:t>
            </a:r>
            <a:r>
              <a:rPr lang="en-US" sz="2600" dirty="0"/>
              <a:t> 1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tử</a:t>
            </a:r>
            <a:r>
              <a:rPr lang="en-US" sz="2600" dirty="0"/>
              <a:t>…)}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8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63605"/>
            <a:ext cx="10058400" cy="759871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2. </a:t>
            </a:r>
            <a:r>
              <a:rPr lang="en-US" dirty="0" err="1" smtClean="0">
                <a:solidFill>
                  <a:srgbClr val="0070C0"/>
                </a:solidFill>
              </a:rPr>
              <a:t>Các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loại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sách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liên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kết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53548"/>
            <a:ext cx="10058400" cy="5486399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smtClean="0"/>
              <a:t>đơn thao tác trên một con trỏ</a:t>
            </a:r>
            <a:endParaRPr lang="en-US" dirty="0"/>
          </a:p>
          <a:p>
            <a:endParaRPr lang="en-US" dirty="0"/>
          </a:p>
          <a:p>
            <a:pPr>
              <a:buNone/>
            </a:pPr>
            <a:endParaRPr lang="en-US" smtClean="0"/>
          </a:p>
          <a:p>
            <a:pPr>
              <a:buNone/>
            </a:pPr>
            <a:endParaRPr lang="en-US" smtClean="0"/>
          </a:p>
          <a:p>
            <a:r>
              <a:rPr lang="en-US"/>
              <a:t>Danh sách liên kết đơn thao tác trên hai con trỏ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 smtClean="0"/>
          </a:p>
          <a:p>
            <a:pPr>
              <a:buNone/>
            </a:pPr>
            <a:endParaRPr lang="en-US" dirty="0"/>
          </a:p>
          <a:p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đôi</a:t>
            </a: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3024166" y="3314750"/>
            <a:ext cx="6500858" cy="1571636"/>
            <a:chOff x="1357290" y="1785926"/>
            <a:chExt cx="6500858" cy="1571636"/>
          </a:xfrm>
        </p:grpSpPr>
        <p:sp>
          <p:nvSpPr>
            <p:cNvPr id="20" name="Rectangle 19"/>
            <p:cNvSpPr/>
            <p:nvPr/>
          </p:nvSpPr>
          <p:spPr>
            <a:xfrm>
              <a:off x="1357290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22" name="Straight Arrow Connector 21"/>
            <p:cNvCxnSpPr>
              <a:stCxn id="20" idx="3"/>
            </p:cNvCxnSpPr>
            <p:nvPr/>
          </p:nvCxnSpPr>
          <p:spPr>
            <a:xfrm>
              <a:off x="2214546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2857488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y</a:t>
              </a:r>
            </a:p>
          </p:txBody>
        </p:sp>
        <p:cxnSp>
          <p:nvCxnSpPr>
            <p:cNvPr id="26" name="Straight Arrow Connector 25"/>
            <p:cNvCxnSpPr>
              <a:stCxn id="25" idx="3"/>
            </p:cNvCxnSpPr>
            <p:nvPr/>
          </p:nvCxnSpPr>
          <p:spPr>
            <a:xfrm>
              <a:off x="3714744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4357686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…</a:t>
              </a:r>
            </a:p>
          </p:txBody>
        </p:sp>
        <p:cxnSp>
          <p:nvCxnSpPr>
            <p:cNvPr id="29" name="Straight Arrow Connector 28"/>
            <p:cNvCxnSpPr>
              <a:stCxn id="28" idx="3"/>
            </p:cNvCxnSpPr>
            <p:nvPr/>
          </p:nvCxnSpPr>
          <p:spPr>
            <a:xfrm>
              <a:off x="5214942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5857884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z</a:t>
              </a:r>
            </a:p>
          </p:txBody>
        </p:sp>
        <p:cxnSp>
          <p:nvCxnSpPr>
            <p:cNvPr id="32" name="Straight Arrow Connector 31"/>
            <p:cNvCxnSpPr>
              <a:stCxn id="31" idx="3"/>
            </p:cNvCxnSpPr>
            <p:nvPr/>
          </p:nvCxnSpPr>
          <p:spPr>
            <a:xfrm>
              <a:off x="6715140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2071670" y="1785926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head</a:t>
              </a:r>
            </a:p>
          </p:txBody>
        </p:sp>
        <p:cxnSp>
          <p:nvCxnSpPr>
            <p:cNvPr id="37" name="Straight Arrow Connector 36"/>
            <p:cNvCxnSpPr>
              <a:endCxn id="20" idx="0"/>
            </p:cNvCxnSpPr>
            <p:nvPr/>
          </p:nvCxnSpPr>
          <p:spPr>
            <a:xfrm rot="10800000" flipV="1">
              <a:off x="1785918" y="2071678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6643702" y="1785926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tail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rot="10800000" flipV="1">
              <a:off x="6357950" y="2071678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6929454" y="3000372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NULL</a:t>
              </a:r>
            </a:p>
          </p:txBody>
        </p:sp>
        <p:grpSp>
          <p:nvGrpSpPr>
            <p:cNvPr id="1040" name="Group 16"/>
            <p:cNvGrpSpPr>
              <a:grpSpLocks/>
            </p:cNvGrpSpPr>
            <p:nvPr/>
          </p:nvGrpSpPr>
          <p:grpSpPr bwMode="auto">
            <a:xfrm>
              <a:off x="7358082" y="2285992"/>
              <a:ext cx="195262" cy="593725"/>
              <a:chOff x="7033" y="5293"/>
              <a:chExt cx="306" cy="934"/>
            </a:xfrm>
          </p:grpSpPr>
          <p:cxnSp>
            <p:nvCxnSpPr>
              <p:cNvPr id="1041" name="AutoShape 17"/>
              <p:cNvCxnSpPr>
                <a:cxnSpLocks noChangeShapeType="1"/>
              </p:cNvCxnSpPr>
              <p:nvPr/>
            </p:nvCxnSpPr>
            <p:spPr bwMode="auto">
              <a:xfrm>
                <a:off x="7040" y="5293"/>
                <a:ext cx="0" cy="934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42" name="AutoShape 18"/>
              <p:cNvCxnSpPr>
                <a:cxnSpLocks noChangeShapeType="1"/>
              </p:cNvCxnSpPr>
              <p:nvPr/>
            </p:nvCxnSpPr>
            <p:spPr bwMode="auto">
              <a:xfrm>
                <a:off x="7040" y="5293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43" name="AutoShape 19"/>
              <p:cNvCxnSpPr>
                <a:cxnSpLocks noChangeShapeType="1"/>
              </p:cNvCxnSpPr>
              <p:nvPr/>
            </p:nvCxnSpPr>
            <p:spPr bwMode="auto">
              <a:xfrm>
                <a:off x="7059" y="5572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44" name="AutoShape 20"/>
              <p:cNvCxnSpPr>
                <a:cxnSpLocks noChangeShapeType="1"/>
              </p:cNvCxnSpPr>
              <p:nvPr/>
            </p:nvCxnSpPr>
            <p:spPr bwMode="auto">
              <a:xfrm>
                <a:off x="7033" y="5845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</p:grpSp>
      </p:grpSp>
      <p:grpSp>
        <p:nvGrpSpPr>
          <p:cNvPr id="98" name="Group 97"/>
          <p:cNvGrpSpPr/>
          <p:nvPr/>
        </p:nvGrpSpPr>
        <p:grpSpPr>
          <a:xfrm>
            <a:off x="1986143" y="4997520"/>
            <a:ext cx="7572428" cy="1643074"/>
            <a:chOff x="500034" y="4143380"/>
            <a:chExt cx="7572428" cy="1643074"/>
          </a:xfrm>
        </p:grpSpPr>
        <p:sp>
          <p:nvSpPr>
            <p:cNvPr id="56" name="Rectangle 55"/>
            <p:cNvSpPr/>
            <p:nvPr/>
          </p:nvSpPr>
          <p:spPr>
            <a:xfrm>
              <a:off x="1571604" y="4714884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57" name="Straight Arrow Connector 56"/>
            <p:cNvCxnSpPr>
              <a:stCxn id="56" idx="3"/>
            </p:cNvCxnSpPr>
            <p:nvPr/>
          </p:nvCxnSpPr>
          <p:spPr>
            <a:xfrm>
              <a:off x="2428860" y="4929198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/>
            <p:cNvSpPr/>
            <p:nvPr/>
          </p:nvSpPr>
          <p:spPr>
            <a:xfrm>
              <a:off x="3071802" y="4714884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y</a:t>
              </a:r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929058" y="4929198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>
              <a:off x="4572000" y="4714884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…</a:t>
              </a:r>
            </a:p>
          </p:txBody>
        </p:sp>
        <p:cxnSp>
          <p:nvCxnSpPr>
            <p:cNvPr id="61" name="Straight Arrow Connector 60"/>
            <p:cNvCxnSpPr>
              <a:stCxn id="60" idx="3"/>
            </p:cNvCxnSpPr>
            <p:nvPr/>
          </p:nvCxnSpPr>
          <p:spPr>
            <a:xfrm>
              <a:off x="5429256" y="4929198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6072198" y="4714884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z</a:t>
              </a:r>
            </a:p>
          </p:txBody>
        </p:sp>
        <p:cxnSp>
          <p:nvCxnSpPr>
            <p:cNvPr id="63" name="Straight Arrow Connector 62"/>
            <p:cNvCxnSpPr>
              <a:stCxn id="62" idx="3"/>
            </p:cNvCxnSpPr>
            <p:nvPr/>
          </p:nvCxnSpPr>
          <p:spPr>
            <a:xfrm>
              <a:off x="6929454" y="4929198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2285984" y="4143380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head</a:t>
              </a:r>
            </a:p>
          </p:txBody>
        </p:sp>
        <p:cxnSp>
          <p:nvCxnSpPr>
            <p:cNvPr id="65" name="Straight Arrow Connector 64"/>
            <p:cNvCxnSpPr>
              <a:endCxn id="56" idx="0"/>
            </p:cNvCxnSpPr>
            <p:nvPr/>
          </p:nvCxnSpPr>
          <p:spPr>
            <a:xfrm rot="10800000" flipV="1">
              <a:off x="2000232" y="4429132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6858016" y="4143380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tail</a:t>
              </a: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 rot="10800000" flipV="1">
              <a:off x="6572264" y="4429132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/>
            <p:cNvSpPr/>
            <p:nvPr/>
          </p:nvSpPr>
          <p:spPr>
            <a:xfrm>
              <a:off x="7143768" y="5357826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NULL</a:t>
              </a:r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rot="10800000">
              <a:off x="5429256" y="5072074"/>
              <a:ext cx="652466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 rot="10800000">
              <a:off x="3919534" y="5070485"/>
              <a:ext cx="652466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rot="10800000">
              <a:off x="2357423" y="5070486"/>
              <a:ext cx="652466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rot="10800000">
              <a:off x="928662" y="4929198"/>
              <a:ext cx="652466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16"/>
            <p:cNvGrpSpPr>
              <a:grpSpLocks/>
            </p:cNvGrpSpPr>
            <p:nvPr/>
          </p:nvGrpSpPr>
          <p:grpSpPr bwMode="auto">
            <a:xfrm>
              <a:off x="7510482" y="4643446"/>
              <a:ext cx="195262" cy="593725"/>
              <a:chOff x="7033" y="5293"/>
              <a:chExt cx="306" cy="934"/>
            </a:xfrm>
          </p:grpSpPr>
          <p:cxnSp>
            <p:nvCxnSpPr>
              <p:cNvPr id="81" name="AutoShape 17"/>
              <p:cNvCxnSpPr>
                <a:cxnSpLocks noChangeShapeType="1"/>
              </p:cNvCxnSpPr>
              <p:nvPr/>
            </p:nvCxnSpPr>
            <p:spPr bwMode="auto">
              <a:xfrm>
                <a:off x="7040" y="5293"/>
                <a:ext cx="0" cy="934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2" name="AutoShape 18"/>
              <p:cNvCxnSpPr>
                <a:cxnSpLocks noChangeShapeType="1"/>
              </p:cNvCxnSpPr>
              <p:nvPr/>
            </p:nvCxnSpPr>
            <p:spPr bwMode="auto">
              <a:xfrm>
                <a:off x="7040" y="5293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3" name="AutoShape 19"/>
              <p:cNvCxnSpPr>
                <a:cxnSpLocks noChangeShapeType="1"/>
              </p:cNvCxnSpPr>
              <p:nvPr/>
            </p:nvCxnSpPr>
            <p:spPr bwMode="auto">
              <a:xfrm>
                <a:off x="7059" y="5572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4" name="AutoShape 20"/>
              <p:cNvCxnSpPr>
                <a:cxnSpLocks noChangeShapeType="1"/>
              </p:cNvCxnSpPr>
              <p:nvPr/>
            </p:nvCxnSpPr>
            <p:spPr bwMode="auto">
              <a:xfrm>
                <a:off x="7033" y="5845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96" name="Group 95"/>
            <p:cNvGrpSpPr/>
            <p:nvPr/>
          </p:nvGrpSpPr>
          <p:grpSpPr>
            <a:xfrm>
              <a:off x="785786" y="4643446"/>
              <a:ext cx="143670" cy="785818"/>
              <a:chOff x="785786" y="4643446"/>
              <a:chExt cx="143670" cy="785818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 rot="5400000">
                <a:off x="571472" y="5000636"/>
                <a:ext cx="71438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678629" y="4750603"/>
                <a:ext cx="357190" cy="14287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678629" y="4964917"/>
                <a:ext cx="357190" cy="14287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678629" y="5179231"/>
                <a:ext cx="357190" cy="14287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7" name="Rectangle 96"/>
            <p:cNvSpPr/>
            <p:nvPr/>
          </p:nvSpPr>
          <p:spPr>
            <a:xfrm>
              <a:off x="500034" y="5429264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NULL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3024166" y="1399001"/>
            <a:ext cx="6500858" cy="1571636"/>
            <a:chOff x="1357290" y="1785926"/>
            <a:chExt cx="6500858" cy="1571636"/>
          </a:xfrm>
        </p:grpSpPr>
        <p:sp>
          <p:nvSpPr>
            <p:cNvPr id="55" name="Rectangle 54"/>
            <p:cNvSpPr/>
            <p:nvPr/>
          </p:nvSpPr>
          <p:spPr>
            <a:xfrm>
              <a:off x="1357290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69" name="Straight Arrow Connector 68"/>
            <p:cNvCxnSpPr>
              <a:stCxn id="55" idx="3"/>
            </p:cNvCxnSpPr>
            <p:nvPr/>
          </p:nvCxnSpPr>
          <p:spPr>
            <a:xfrm>
              <a:off x="2214546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/>
            <p:cNvSpPr/>
            <p:nvPr/>
          </p:nvSpPr>
          <p:spPr>
            <a:xfrm>
              <a:off x="2857488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y</a:t>
              </a:r>
            </a:p>
          </p:txBody>
        </p:sp>
        <p:cxnSp>
          <p:nvCxnSpPr>
            <p:cNvPr id="71" name="Straight Arrow Connector 70"/>
            <p:cNvCxnSpPr>
              <a:stCxn id="70" idx="3"/>
            </p:cNvCxnSpPr>
            <p:nvPr/>
          </p:nvCxnSpPr>
          <p:spPr>
            <a:xfrm>
              <a:off x="3714744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4357686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…</a:t>
              </a:r>
            </a:p>
          </p:txBody>
        </p:sp>
        <p:cxnSp>
          <p:nvCxnSpPr>
            <p:cNvPr id="73" name="Straight Arrow Connector 72"/>
            <p:cNvCxnSpPr>
              <a:stCxn id="72" idx="3"/>
            </p:cNvCxnSpPr>
            <p:nvPr/>
          </p:nvCxnSpPr>
          <p:spPr>
            <a:xfrm>
              <a:off x="5214942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/>
            <p:cNvSpPr/>
            <p:nvPr/>
          </p:nvSpPr>
          <p:spPr>
            <a:xfrm>
              <a:off x="5857884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z</a:t>
              </a:r>
            </a:p>
          </p:txBody>
        </p:sp>
        <p:cxnSp>
          <p:nvCxnSpPr>
            <p:cNvPr id="76" name="Straight Arrow Connector 75"/>
            <p:cNvCxnSpPr>
              <a:stCxn id="75" idx="3"/>
            </p:cNvCxnSpPr>
            <p:nvPr/>
          </p:nvCxnSpPr>
          <p:spPr>
            <a:xfrm>
              <a:off x="6715140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ectangle 84"/>
            <p:cNvSpPr/>
            <p:nvPr/>
          </p:nvSpPr>
          <p:spPr>
            <a:xfrm>
              <a:off x="2071670" y="1785926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head</a:t>
              </a:r>
            </a:p>
          </p:txBody>
        </p:sp>
        <p:cxnSp>
          <p:nvCxnSpPr>
            <p:cNvPr id="86" name="Straight Arrow Connector 85"/>
            <p:cNvCxnSpPr>
              <a:endCxn id="55" idx="0"/>
            </p:cNvCxnSpPr>
            <p:nvPr/>
          </p:nvCxnSpPr>
          <p:spPr>
            <a:xfrm rot="10800000" flipV="1">
              <a:off x="1785918" y="2071678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/>
            <p:cNvSpPr/>
            <p:nvPr/>
          </p:nvSpPr>
          <p:spPr>
            <a:xfrm>
              <a:off x="6929454" y="3000372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NULL</a:t>
              </a:r>
            </a:p>
          </p:txBody>
        </p:sp>
        <p:grpSp>
          <p:nvGrpSpPr>
            <p:cNvPr id="90" name="Group 16"/>
            <p:cNvGrpSpPr>
              <a:grpSpLocks/>
            </p:cNvGrpSpPr>
            <p:nvPr/>
          </p:nvGrpSpPr>
          <p:grpSpPr bwMode="auto">
            <a:xfrm>
              <a:off x="7358082" y="2285992"/>
              <a:ext cx="195262" cy="593725"/>
              <a:chOff x="7033" y="5293"/>
              <a:chExt cx="306" cy="934"/>
            </a:xfrm>
          </p:grpSpPr>
          <p:cxnSp>
            <p:nvCxnSpPr>
              <p:cNvPr id="92" name="AutoShape 17"/>
              <p:cNvCxnSpPr>
                <a:cxnSpLocks noChangeShapeType="1"/>
              </p:cNvCxnSpPr>
              <p:nvPr/>
            </p:nvCxnSpPr>
            <p:spPr bwMode="auto">
              <a:xfrm>
                <a:off x="7040" y="5293"/>
                <a:ext cx="0" cy="934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9" name="AutoShape 18"/>
              <p:cNvCxnSpPr>
                <a:cxnSpLocks noChangeShapeType="1"/>
              </p:cNvCxnSpPr>
              <p:nvPr/>
            </p:nvCxnSpPr>
            <p:spPr bwMode="auto">
              <a:xfrm>
                <a:off x="7040" y="5293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0" name="AutoShape 19"/>
              <p:cNvCxnSpPr>
                <a:cxnSpLocks noChangeShapeType="1"/>
              </p:cNvCxnSpPr>
              <p:nvPr/>
            </p:nvCxnSpPr>
            <p:spPr bwMode="auto">
              <a:xfrm>
                <a:off x="7059" y="5572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1" name="AutoShape 20"/>
              <p:cNvCxnSpPr>
                <a:cxnSpLocks noChangeShapeType="1"/>
              </p:cNvCxnSpPr>
              <p:nvPr/>
            </p:nvCxnSpPr>
            <p:spPr bwMode="auto">
              <a:xfrm>
                <a:off x="7033" y="5845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236092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50229"/>
            <a:ext cx="10058400" cy="759871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2. </a:t>
            </a:r>
            <a:r>
              <a:rPr lang="en-US" dirty="0" err="1" smtClean="0">
                <a:solidFill>
                  <a:srgbClr val="0070C0"/>
                </a:solidFill>
              </a:rPr>
              <a:t>Các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loại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sách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liên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kết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tt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25662"/>
            <a:ext cx="10058400" cy="490585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/>
              <a:t> Danh sách liên kết vòng</a:t>
            </a:r>
            <a:r>
              <a:rPr lang="en-US" sz="280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/>
          </a:p>
          <a:p>
            <a:pPr lvl="1"/>
            <a:r>
              <a:rPr lang="en-US" sz="2400"/>
              <a:t>Vòng </a:t>
            </a:r>
            <a:r>
              <a:rPr lang="en-US" sz="2400" smtClean="0"/>
              <a:t>đơn</a:t>
            </a:r>
            <a:endParaRPr lang="en-US" sz="2800"/>
          </a:p>
          <a:p>
            <a:endParaRPr lang="en-US" sz="2800"/>
          </a:p>
          <a:p>
            <a:pPr>
              <a:buNone/>
            </a:pPr>
            <a:endParaRPr lang="en-US" sz="2800"/>
          </a:p>
          <a:p>
            <a:endParaRPr lang="en-US" sz="2800"/>
          </a:p>
          <a:p>
            <a:pPr lvl="1"/>
            <a:r>
              <a:rPr lang="en-US" sz="2400"/>
              <a:t>Vòng đôi</a:t>
            </a:r>
          </a:p>
          <a:p>
            <a:pPr>
              <a:buNone/>
            </a:pPr>
            <a:endParaRPr lang="en-US" sz="2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85" name="Group 84"/>
          <p:cNvGrpSpPr/>
          <p:nvPr/>
        </p:nvGrpSpPr>
        <p:grpSpPr>
          <a:xfrm>
            <a:off x="2876051" y="2591645"/>
            <a:ext cx="6500858" cy="1571636"/>
            <a:chOff x="1357290" y="1785926"/>
            <a:chExt cx="6500858" cy="1571636"/>
          </a:xfrm>
        </p:grpSpPr>
        <p:sp>
          <p:nvSpPr>
            <p:cNvPr id="20" name="Rectangle 19"/>
            <p:cNvSpPr/>
            <p:nvPr/>
          </p:nvSpPr>
          <p:spPr>
            <a:xfrm>
              <a:off x="1357290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22" name="Straight Arrow Connector 21"/>
            <p:cNvCxnSpPr>
              <a:stCxn id="20" idx="3"/>
            </p:cNvCxnSpPr>
            <p:nvPr/>
          </p:nvCxnSpPr>
          <p:spPr>
            <a:xfrm>
              <a:off x="2214546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2857488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y</a:t>
              </a:r>
            </a:p>
          </p:txBody>
        </p:sp>
        <p:cxnSp>
          <p:nvCxnSpPr>
            <p:cNvPr id="26" name="Straight Arrow Connector 25"/>
            <p:cNvCxnSpPr>
              <a:stCxn id="25" idx="3"/>
            </p:cNvCxnSpPr>
            <p:nvPr/>
          </p:nvCxnSpPr>
          <p:spPr>
            <a:xfrm>
              <a:off x="3714744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4357686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…</a:t>
              </a:r>
            </a:p>
          </p:txBody>
        </p:sp>
        <p:cxnSp>
          <p:nvCxnSpPr>
            <p:cNvPr id="29" name="Straight Arrow Connector 28"/>
            <p:cNvCxnSpPr>
              <a:stCxn id="28" idx="3"/>
            </p:cNvCxnSpPr>
            <p:nvPr/>
          </p:nvCxnSpPr>
          <p:spPr>
            <a:xfrm>
              <a:off x="5214942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5857884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z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071670" y="1785926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head</a:t>
              </a:r>
            </a:p>
          </p:txBody>
        </p:sp>
        <p:cxnSp>
          <p:nvCxnSpPr>
            <p:cNvPr id="37" name="Straight Arrow Connector 36"/>
            <p:cNvCxnSpPr>
              <a:endCxn id="20" idx="0"/>
            </p:cNvCxnSpPr>
            <p:nvPr/>
          </p:nvCxnSpPr>
          <p:spPr>
            <a:xfrm rot="10800000" flipV="1">
              <a:off x="1785918" y="2071678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6643702" y="1785926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tail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rot="10800000" flipV="1">
              <a:off x="6357950" y="2071678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6929454" y="3000372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NULL</a:t>
              </a:r>
            </a:p>
          </p:txBody>
        </p:sp>
        <p:cxnSp>
          <p:nvCxnSpPr>
            <p:cNvPr id="55" name="Shape 54"/>
            <p:cNvCxnSpPr>
              <a:stCxn id="31" idx="3"/>
              <a:endCxn id="20" idx="2"/>
            </p:cNvCxnSpPr>
            <p:nvPr/>
          </p:nvCxnSpPr>
          <p:spPr>
            <a:xfrm flipH="1">
              <a:off x="1785918" y="2571744"/>
              <a:ext cx="4929222" cy="214314"/>
            </a:xfrm>
            <a:prstGeom prst="curvedConnector4">
              <a:avLst>
                <a:gd name="adj1" fmla="val -5566"/>
                <a:gd name="adj2" fmla="val 291999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/>
          <p:cNvGrpSpPr/>
          <p:nvPr/>
        </p:nvGrpSpPr>
        <p:grpSpPr>
          <a:xfrm>
            <a:off x="3095604" y="4857760"/>
            <a:ext cx="6215106" cy="1000132"/>
            <a:chOff x="1571604" y="4143380"/>
            <a:chExt cx="6215106" cy="1000132"/>
          </a:xfrm>
        </p:grpSpPr>
        <p:sp>
          <p:nvSpPr>
            <p:cNvPr id="56" name="Rectangle 55"/>
            <p:cNvSpPr/>
            <p:nvPr/>
          </p:nvSpPr>
          <p:spPr>
            <a:xfrm>
              <a:off x="1571604" y="4714884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x</a:t>
              </a:r>
            </a:p>
          </p:txBody>
        </p:sp>
        <p:cxnSp>
          <p:nvCxnSpPr>
            <p:cNvPr id="57" name="Straight Arrow Connector 56"/>
            <p:cNvCxnSpPr>
              <a:stCxn id="56" idx="3"/>
            </p:cNvCxnSpPr>
            <p:nvPr/>
          </p:nvCxnSpPr>
          <p:spPr>
            <a:xfrm>
              <a:off x="2428860" y="4929198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/>
            <p:cNvSpPr/>
            <p:nvPr/>
          </p:nvSpPr>
          <p:spPr>
            <a:xfrm>
              <a:off x="3071802" y="4714884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y</a:t>
              </a:r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929058" y="4929198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>
              <a:off x="4572000" y="4714884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…</a:t>
              </a:r>
            </a:p>
          </p:txBody>
        </p:sp>
        <p:cxnSp>
          <p:nvCxnSpPr>
            <p:cNvPr id="61" name="Straight Arrow Connector 60"/>
            <p:cNvCxnSpPr>
              <a:stCxn id="60" idx="3"/>
            </p:cNvCxnSpPr>
            <p:nvPr/>
          </p:nvCxnSpPr>
          <p:spPr>
            <a:xfrm>
              <a:off x="5429256" y="4929198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6072198" y="4714884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z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285984" y="4143380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head</a:t>
              </a:r>
            </a:p>
          </p:txBody>
        </p:sp>
        <p:cxnSp>
          <p:nvCxnSpPr>
            <p:cNvPr id="65" name="Straight Arrow Connector 64"/>
            <p:cNvCxnSpPr>
              <a:endCxn id="56" idx="0"/>
            </p:cNvCxnSpPr>
            <p:nvPr/>
          </p:nvCxnSpPr>
          <p:spPr>
            <a:xfrm rot="10800000" flipV="1">
              <a:off x="2000232" y="4429132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6858016" y="4143380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tail</a:t>
              </a: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 rot="10800000" flipV="1">
              <a:off x="6572264" y="4429132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rot="10800000">
              <a:off x="5429256" y="5072074"/>
              <a:ext cx="652466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 rot="10800000">
              <a:off x="3919534" y="5070485"/>
              <a:ext cx="652466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rot="10800000">
              <a:off x="2357423" y="5070486"/>
              <a:ext cx="652466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hape 71"/>
            <p:cNvCxnSpPr>
              <a:endCxn id="62" idx="0"/>
            </p:cNvCxnSpPr>
            <p:nvPr/>
          </p:nvCxnSpPr>
          <p:spPr>
            <a:xfrm flipV="1">
              <a:off x="1571604" y="4714884"/>
              <a:ext cx="4929222" cy="142875"/>
            </a:xfrm>
            <a:prstGeom prst="curvedConnector4">
              <a:avLst>
                <a:gd name="adj1" fmla="val -11237"/>
                <a:gd name="adj2" fmla="val 260000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hape 79"/>
            <p:cNvCxnSpPr/>
            <p:nvPr/>
          </p:nvCxnSpPr>
          <p:spPr>
            <a:xfrm flipH="1">
              <a:off x="1938318" y="4929198"/>
              <a:ext cx="4929222" cy="214314"/>
            </a:xfrm>
            <a:prstGeom prst="curvedConnector4">
              <a:avLst>
                <a:gd name="adj1" fmla="val -5566"/>
                <a:gd name="adj2" fmla="val 291999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65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502" y="408412"/>
            <a:ext cx="11055057" cy="759871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3. </a:t>
            </a:r>
            <a:r>
              <a:rPr lang="en-US" dirty="0" err="1" smtClean="0">
                <a:solidFill>
                  <a:srgbClr val="0070C0"/>
                </a:solidFill>
              </a:rPr>
              <a:t>Định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nghĩa</a:t>
            </a:r>
            <a:r>
              <a:rPr lang="en-US" dirty="0" smtClean="0">
                <a:solidFill>
                  <a:srgbClr val="0070C0"/>
                </a:solidFill>
              </a:rPr>
              <a:t> DSLK </a:t>
            </a:r>
            <a:r>
              <a:rPr lang="en-US" dirty="0" err="1" smtClean="0">
                <a:solidFill>
                  <a:srgbClr val="0070C0"/>
                </a:solidFill>
              </a:rPr>
              <a:t>đơn</a:t>
            </a:r>
            <a:r>
              <a:rPr lang="en-US" dirty="0" smtClean="0">
                <a:solidFill>
                  <a:srgbClr val="0070C0"/>
                </a:solidFill>
              </a:rPr>
              <a:t> (Single </a:t>
            </a:r>
            <a:r>
              <a:rPr lang="en-US" smtClean="0">
                <a:solidFill>
                  <a:srgbClr val="0070C0"/>
                </a:solidFill>
              </a:rPr>
              <a:t>List)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75385" y="1208968"/>
            <a:ext cx="11521440" cy="54102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ct val="0"/>
              </a:spcBef>
            </a:pPr>
            <a:r>
              <a:rPr lang="en-US" sz="2400" i="1" dirty="0" err="1" smtClean="0">
                <a:solidFill>
                  <a:srgbClr val="0000CC"/>
                </a:solidFill>
              </a:rPr>
              <a:t>Danh</a:t>
            </a:r>
            <a:r>
              <a:rPr lang="en-US" sz="2400" i="1" dirty="0" smtClean="0">
                <a:solidFill>
                  <a:srgbClr val="0000CC"/>
                </a:solidFill>
              </a:rPr>
              <a:t> </a:t>
            </a:r>
            <a:r>
              <a:rPr lang="en-US" sz="2400" i="1" dirty="0" err="1" smtClean="0">
                <a:solidFill>
                  <a:srgbClr val="0000CC"/>
                </a:solidFill>
              </a:rPr>
              <a:t>sách</a:t>
            </a:r>
            <a:r>
              <a:rPr lang="en-US" sz="2400" i="1" dirty="0" smtClean="0">
                <a:solidFill>
                  <a:srgbClr val="0000CC"/>
                </a:solidFill>
              </a:rPr>
              <a:t> </a:t>
            </a:r>
            <a:r>
              <a:rPr lang="en-US" sz="2400" i="1" dirty="0" err="1" smtClean="0">
                <a:solidFill>
                  <a:srgbClr val="0000CC"/>
                </a:solidFill>
              </a:rPr>
              <a:t>liên</a:t>
            </a:r>
            <a:r>
              <a:rPr lang="en-US" sz="2400" i="1" dirty="0" smtClean="0">
                <a:solidFill>
                  <a:srgbClr val="0000CC"/>
                </a:solidFill>
              </a:rPr>
              <a:t> </a:t>
            </a:r>
            <a:r>
              <a:rPr lang="en-US" sz="2400" i="1" dirty="0" err="1" smtClean="0">
                <a:solidFill>
                  <a:srgbClr val="0000CC"/>
                </a:solidFill>
              </a:rPr>
              <a:t>kết</a:t>
            </a:r>
            <a:r>
              <a:rPr lang="en-US" sz="2400" i="1" dirty="0" smtClean="0">
                <a:solidFill>
                  <a:srgbClr val="0000CC"/>
                </a:solidFill>
              </a:rPr>
              <a:t> </a:t>
            </a:r>
            <a:r>
              <a:rPr lang="en-US" sz="2400" i="1" dirty="0" err="1" smtClean="0">
                <a:solidFill>
                  <a:srgbClr val="0000CC"/>
                </a:solidFill>
              </a:rPr>
              <a:t>đơn</a:t>
            </a:r>
            <a:r>
              <a:rPr lang="en-US" sz="2400" dirty="0" smtClean="0">
                <a:solidFill>
                  <a:srgbClr val="0000CC"/>
                </a:solidFill>
              </a:rPr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chuỗi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(</a:t>
            </a:r>
            <a:r>
              <a:rPr lang="en-US" sz="2400" dirty="0" smtClean="0">
                <a:solidFill>
                  <a:srgbClr val="0000FF"/>
                </a:solidFill>
              </a:rPr>
              <a:t>Node</a:t>
            </a:r>
            <a:r>
              <a:rPr lang="en-US" sz="2400" dirty="0" smtClean="0"/>
              <a:t>),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tổ</a:t>
            </a:r>
            <a:r>
              <a:rPr lang="en-US" sz="2400" dirty="0" smtClean="0"/>
              <a:t> </a:t>
            </a:r>
            <a:r>
              <a:rPr lang="en-US" sz="2400" dirty="0" err="1" smtClean="0"/>
              <a:t>chức</a:t>
            </a:r>
            <a:r>
              <a:rPr lang="en-US" sz="2400" dirty="0" smtClean="0"/>
              <a:t> </a:t>
            </a:r>
            <a:r>
              <a:rPr lang="en-US" sz="2400" dirty="0" err="1" smtClean="0"/>
              <a:t>theo</a:t>
            </a:r>
            <a:r>
              <a:rPr lang="en-US" sz="2400" dirty="0" smtClean="0"/>
              <a:t> </a:t>
            </a:r>
            <a:r>
              <a:rPr lang="en-US" sz="2400" dirty="0" err="1" smtClean="0"/>
              <a:t>thứ</a:t>
            </a:r>
            <a:r>
              <a:rPr lang="en-US" sz="2400" dirty="0" smtClean="0"/>
              <a:t> </a:t>
            </a:r>
            <a:r>
              <a:rPr lang="en-US" sz="2400" dirty="0" err="1" smtClean="0"/>
              <a:t>tự</a:t>
            </a:r>
            <a:r>
              <a:rPr lang="en-US" sz="2400" dirty="0" smtClean="0"/>
              <a:t> </a:t>
            </a:r>
            <a:r>
              <a:rPr lang="en-US" sz="2400" dirty="0" err="1" smtClean="0"/>
              <a:t>tuyến</a:t>
            </a:r>
            <a:r>
              <a:rPr lang="en-US" sz="2400" dirty="0" smtClean="0"/>
              <a:t> </a:t>
            </a:r>
            <a:r>
              <a:rPr lang="en-US" sz="2400" dirty="0" err="1" smtClean="0"/>
              <a:t>tính</a:t>
            </a:r>
            <a:r>
              <a:rPr lang="en-US" sz="2400" dirty="0" smtClean="0"/>
              <a:t>. </a:t>
            </a:r>
            <a:r>
              <a:rPr lang="en-US" sz="2400" dirty="0" err="1" smtClean="0"/>
              <a:t>Mỗi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1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đứng</a:t>
            </a:r>
            <a:r>
              <a:rPr lang="en-US" sz="2400" dirty="0" smtClean="0"/>
              <a:t> </a:t>
            </a:r>
            <a:r>
              <a:rPr lang="en-US" sz="2400" dirty="0" err="1" smtClean="0"/>
              <a:t>liền</a:t>
            </a:r>
            <a:r>
              <a:rPr lang="en-US" sz="2400" dirty="0" smtClean="0"/>
              <a:t> </a:t>
            </a:r>
            <a:r>
              <a:rPr lang="en-US" sz="2400" dirty="0" err="1" smtClean="0"/>
              <a:t>kế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r>
              <a:rPr lang="en-US" sz="2400" dirty="0" smtClean="0"/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</a:pPr>
            <a:endParaRPr lang="en-US" sz="2400" smtClean="0"/>
          </a:p>
          <a:p>
            <a:pPr algn="just">
              <a:lnSpc>
                <a:spcPct val="110000"/>
              </a:lnSpc>
              <a:spcBef>
                <a:spcPct val="0"/>
              </a:spcBef>
            </a:pPr>
            <a:endParaRPr lang="en-US" sz="2400" dirty="0" smtClean="0"/>
          </a:p>
          <a:p>
            <a:pPr algn="just">
              <a:lnSpc>
                <a:spcPct val="110000"/>
              </a:lnSpc>
              <a:spcBef>
                <a:spcPct val="0"/>
              </a:spcBef>
            </a:pPr>
            <a:endParaRPr lang="en-US" sz="2400" dirty="0" smtClean="0"/>
          </a:p>
          <a:p>
            <a:pPr algn="just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 smtClean="0"/>
              <a:t>Mỗi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(</a:t>
            </a:r>
            <a:r>
              <a:rPr lang="en-US" sz="2400" i="1" dirty="0" smtClean="0">
                <a:solidFill>
                  <a:srgbClr val="0000FF"/>
                </a:solidFill>
              </a:rPr>
              <a:t>Node</a:t>
            </a:r>
            <a:r>
              <a:rPr lang="en-US" sz="2400" dirty="0" smtClean="0"/>
              <a:t>) </a:t>
            </a:r>
            <a:r>
              <a:rPr lang="en-US" sz="2400" dirty="0" err="1" smtClean="0"/>
              <a:t>gồm</a:t>
            </a:r>
            <a:r>
              <a:rPr lang="en-US" sz="2400" dirty="0" smtClean="0"/>
              <a:t> 2 </a:t>
            </a:r>
            <a:r>
              <a:rPr lang="en-US" sz="2400" dirty="0" err="1" smtClean="0"/>
              <a:t>thành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:</a:t>
            </a:r>
          </a:p>
          <a:p>
            <a:pPr lvl="1" algn="just">
              <a:lnSpc>
                <a:spcPct val="110000"/>
              </a:lnSpc>
              <a:spcBef>
                <a:spcPct val="0"/>
              </a:spcBef>
            </a:pPr>
            <a:r>
              <a:rPr lang="en-US" sz="2400" b="1" i="1" dirty="0" err="1" smtClean="0"/>
              <a:t>Thành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phần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dữ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liệu</a:t>
            </a:r>
            <a:r>
              <a:rPr lang="en-US" sz="2400" b="1" i="1" dirty="0" smtClean="0"/>
              <a:t> </a:t>
            </a:r>
            <a:r>
              <a:rPr lang="en-US" sz="2400" b="1" dirty="0" smtClean="0"/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Data</a:t>
            </a:r>
            <a:r>
              <a:rPr lang="en-US" sz="2400" b="1" dirty="0" smtClean="0"/>
              <a:t>)</a:t>
            </a:r>
            <a:r>
              <a:rPr lang="en-US" sz="2400" dirty="0" smtClean="0"/>
              <a:t>: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thông</a:t>
            </a:r>
            <a:r>
              <a:rPr lang="en-US" sz="2400" dirty="0" smtClean="0"/>
              <a:t> tin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(</a:t>
            </a:r>
            <a:r>
              <a:rPr lang="en-US" sz="2400" b="1" i="1" dirty="0" smtClean="0">
                <a:solidFill>
                  <a:srgbClr val="0000FF"/>
                </a:solidFill>
              </a:rPr>
              <a:t>Info</a:t>
            </a:r>
            <a:r>
              <a:rPr lang="en-US" sz="2400" b="1" i="1" dirty="0" smtClean="0"/>
              <a:t>rmation</a:t>
            </a:r>
            <a:r>
              <a:rPr lang="en-US" sz="2400" dirty="0" smtClean="0"/>
              <a:t>).</a:t>
            </a:r>
          </a:p>
          <a:p>
            <a:pPr lvl="1" algn="just">
              <a:lnSpc>
                <a:spcPct val="110000"/>
              </a:lnSpc>
              <a:spcBef>
                <a:spcPct val="0"/>
              </a:spcBef>
            </a:pPr>
            <a:endParaRPr lang="en-US" sz="2400" dirty="0" smtClean="0"/>
          </a:p>
          <a:p>
            <a:pPr lvl="1" algn="just">
              <a:lnSpc>
                <a:spcPct val="110000"/>
              </a:lnSpc>
              <a:spcBef>
                <a:spcPct val="0"/>
              </a:spcBef>
            </a:pPr>
            <a:endParaRPr lang="en-US" sz="2400" dirty="0" smtClean="0"/>
          </a:p>
          <a:p>
            <a:pPr lvl="1" algn="just">
              <a:lnSpc>
                <a:spcPct val="110000"/>
              </a:lnSpc>
              <a:spcBef>
                <a:spcPct val="0"/>
              </a:spcBef>
            </a:pPr>
            <a:r>
              <a:rPr lang="en-US" sz="2400" b="1" i="1" dirty="0" err="1" smtClean="0"/>
              <a:t>Thành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phần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liên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kết</a:t>
            </a:r>
            <a:r>
              <a:rPr lang="en-US" sz="2400" b="1" i="1" dirty="0" smtClean="0"/>
              <a:t> (</a:t>
            </a:r>
            <a:r>
              <a:rPr lang="en-US" sz="2400" b="1" i="1" dirty="0" smtClean="0">
                <a:solidFill>
                  <a:srgbClr val="CC00CC"/>
                </a:solidFill>
                <a:cs typeface="Consolas" panose="020B0609020204030204" pitchFamily="49" charset="0"/>
              </a:rPr>
              <a:t>Link</a:t>
            </a:r>
            <a:r>
              <a:rPr lang="en-US" sz="2400" b="1" i="1" dirty="0" smtClean="0"/>
              <a:t>)</a:t>
            </a:r>
            <a:r>
              <a:rPr lang="en-US" sz="2400" dirty="0" smtClean="0"/>
              <a:t>: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địa</a:t>
            </a:r>
            <a:r>
              <a:rPr lang="en-US" sz="2400" dirty="0" smtClean="0"/>
              <a:t> </a:t>
            </a:r>
            <a:r>
              <a:rPr lang="en-US" sz="2400" dirty="0" err="1" smtClean="0"/>
              <a:t>chỉ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đứng</a:t>
            </a:r>
            <a:r>
              <a:rPr lang="en-US" sz="2400" dirty="0" smtClean="0"/>
              <a:t> </a:t>
            </a:r>
            <a:r>
              <a:rPr lang="en-US" sz="2400" dirty="0" err="1" smtClean="0"/>
              <a:t>kế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r>
              <a:rPr lang="en-US" sz="2400" dirty="0" smtClean="0"/>
              <a:t> (</a:t>
            </a:r>
            <a:r>
              <a:rPr lang="en-US" sz="2400" b="1" i="1" dirty="0" smtClean="0">
                <a:solidFill>
                  <a:srgbClr val="0000FF"/>
                </a:solidFill>
              </a:rPr>
              <a:t>Next</a:t>
            </a:r>
            <a:r>
              <a:rPr lang="en-US" sz="2400" dirty="0" smtClean="0"/>
              <a:t>) </a:t>
            </a:r>
            <a:r>
              <a:rPr lang="en-US" sz="2400" dirty="0" err="1" smtClean="0"/>
              <a:t>trong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, </a:t>
            </a:r>
            <a:r>
              <a:rPr lang="en-US" sz="2400" dirty="0" err="1" smtClean="0"/>
              <a:t>hoặc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0099FF"/>
                </a:solidFill>
              </a:rPr>
              <a:t>NULL</a:t>
            </a:r>
            <a:r>
              <a:rPr lang="en-US" sz="2400" dirty="0" smtClean="0"/>
              <a:t> </a:t>
            </a:r>
            <a:r>
              <a:rPr lang="en-US" sz="2400" dirty="0" err="1" smtClean="0"/>
              <a:t>nếu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cuối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.</a:t>
            </a: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4525102" y="4414539"/>
            <a:ext cx="2730500" cy="576000"/>
            <a:chOff x="5955" y="11269"/>
            <a:chExt cx="1800" cy="360"/>
          </a:xfrm>
        </p:grpSpPr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5955" y="11269"/>
              <a:ext cx="900" cy="360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sz="3400" b="1" i="1" dirty="0" smtClean="0">
                  <a:solidFill>
                    <a:srgbClr val="FF0000"/>
                  </a:solidFill>
                  <a:latin typeface="Sitka Text" panose="02000505000000020004" pitchFamily="2" charset="0"/>
                  <a:cs typeface="Arial" pitchFamily="34" charset="0"/>
                </a:rPr>
                <a:t>Data</a:t>
              </a:r>
              <a:endParaRPr lang="en-US" sz="3400" b="1" i="1" dirty="0">
                <a:solidFill>
                  <a:srgbClr val="FF0000"/>
                </a:solidFill>
                <a:latin typeface="Sitka Text" panose="02000505000000020004" pitchFamily="2" charset="0"/>
                <a:cs typeface="Arial" pitchFamily="34" charset="0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6855" y="11269"/>
              <a:ext cx="90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sz="3400" b="1" i="1" dirty="0">
                  <a:solidFill>
                    <a:srgbClr val="FF00FF"/>
                  </a:solidFill>
                  <a:latin typeface="Sitka Text" panose="02000505000000020004" pitchFamily="2" charset="0"/>
                  <a:cs typeface="Consolas" panose="020B0609020204030204" pitchFamily="49" charset="0"/>
                </a:rPr>
                <a:t>link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711625" y="2137650"/>
            <a:ext cx="6500858" cy="1571636"/>
            <a:chOff x="1357290" y="1785926"/>
            <a:chExt cx="6500858" cy="1571636"/>
          </a:xfrm>
        </p:grpSpPr>
        <p:sp>
          <p:nvSpPr>
            <p:cNvPr id="12" name="Rectangle 11"/>
            <p:cNvSpPr/>
            <p:nvPr/>
          </p:nvSpPr>
          <p:spPr>
            <a:xfrm>
              <a:off x="1357290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6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3" name="Straight Arrow Connector 12"/>
            <p:cNvCxnSpPr>
              <a:stCxn id="12" idx="3"/>
            </p:cNvCxnSpPr>
            <p:nvPr/>
          </p:nvCxnSpPr>
          <p:spPr>
            <a:xfrm>
              <a:off x="2214546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2857488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00000"/>
                  </a:solidFill>
                </a:rPr>
                <a:t>1</a:t>
              </a:r>
            </a:p>
          </p:txBody>
        </p:sp>
        <p:cxnSp>
          <p:nvCxnSpPr>
            <p:cNvPr id="15" name="Straight Arrow Connector 14"/>
            <p:cNvCxnSpPr>
              <a:stCxn id="14" idx="3"/>
            </p:cNvCxnSpPr>
            <p:nvPr/>
          </p:nvCxnSpPr>
          <p:spPr>
            <a:xfrm>
              <a:off x="3714744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4357686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</a:rPr>
                <a:t>…</a:t>
              </a:r>
            </a:p>
          </p:txBody>
        </p:sp>
        <p:cxnSp>
          <p:nvCxnSpPr>
            <p:cNvPr id="17" name="Straight Arrow Connector 16"/>
            <p:cNvCxnSpPr>
              <a:stCxn id="16" idx="3"/>
            </p:cNvCxnSpPr>
            <p:nvPr/>
          </p:nvCxnSpPr>
          <p:spPr>
            <a:xfrm>
              <a:off x="5214942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5857884" y="2357430"/>
              <a:ext cx="857256" cy="4286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00000"/>
                  </a:solidFill>
                </a:rPr>
                <a:t>4</a:t>
              </a:r>
            </a:p>
          </p:txBody>
        </p:sp>
        <p:cxnSp>
          <p:nvCxnSpPr>
            <p:cNvPr id="19" name="Straight Arrow Connector 18"/>
            <p:cNvCxnSpPr>
              <a:stCxn id="18" idx="3"/>
            </p:cNvCxnSpPr>
            <p:nvPr/>
          </p:nvCxnSpPr>
          <p:spPr>
            <a:xfrm>
              <a:off x="6715140" y="2571744"/>
              <a:ext cx="642942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2071670" y="1785926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head</a:t>
              </a:r>
            </a:p>
          </p:txBody>
        </p:sp>
        <p:cxnSp>
          <p:nvCxnSpPr>
            <p:cNvPr id="21" name="Straight Arrow Connector 20"/>
            <p:cNvCxnSpPr>
              <a:endCxn id="12" idx="0"/>
            </p:cNvCxnSpPr>
            <p:nvPr/>
          </p:nvCxnSpPr>
          <p:spPr>
            <a:xfrm rot="10800000" flipV="1">
              <a:off x="1785918" y="2071678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6643702" y="1785926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tail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rot="10800000" flipV="1">
              <a:off x="6357950" y="2071678"/>
              <a:ext cx="571504" cy="285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6929454" y="3000372"/>
              <a:ext cx="928694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NULL</a:t>
              </a:r>
            </a:p>
          </p:txBody>
        </p:sp>
        <p:grpSp>
          <p:nvGrpSpPr>
            <p:cNvPr id="25" name="Group 16"/>
            <p:cNvGrpSpPr>
              <a:grpSpLocks/>
            </p:cNvGrpSpPr>
            <p:nvPr/>
          </p:nvGrpSpPr>
          <p:grpSpPr bwMode="auto">
            <a:xfrm>
              <a:off x="7358082" y="2285992"/>
              <a:ext cx="195262" cy="593725"/>
              <a:chOff x="7033" y="5293"/>
              <a:chExt cx="306" cy="934"/>
            </a:xfrm>
          </p:grpSpPr>
          <p:cxnSp>
            <p:nvCxnSpPr>
              <p:cNvPr id="26" name="AutoShape 17"/>
              <p:cNvCxnSpPr>
                <a:cxnSpLocks noChangeShapeType="1"/>
              </p:cNvCxnSpPr>
              <p:nvPr/>
            </p:nvCxnSpPr>
            <p:spPr bwMode="auto">
              <a:xfrm>
                <a:off x="7040" y="5293"/>
                <a:ext cx="0" cy="934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7" name="AutoShape 18"/>
              <p:cNvCxnSpPr>
                <a:cxnSpLocks noChangeShapeType="1"/>
              </p:cNvCxnSpPr>
              <p:nvPr/>
            </p:nvCxnSpPr>
            <p:spPr bwMode="auto">
              <a:xfrm>
                <a:off x="7040" y="5293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8" name="AutoShape 19"/>
              <p:cNvCxnSpPr>
                <a:cxnSpLocks noChangeShapeType="1"/>
              </p:cNvCxnSpPr>
              <p:nvPr/>
            </p:nvCxnSpPr>
            <p:spPr bwMode="auto">
              <a:xfrm>
                <a:off x="7059" y="5572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9" name="AutoShape 20"/>
              <p:cNvCxnSpPr>
                <a:cxnSpLocks noChangeShapeType="1"/>
              </p:cNvCxnSpPr>
              <p:nvPr/>
            </p:nvCxnSpPr>
            <p:spPr bwMode="auto">
              <a:xfrm>
                <a:off x="7033" y="5845"/>
                <a:ext cx="280" cy="36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82227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33600" y="1316038"/>
            <a:ext cx="10058400" cy="455295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sz="3200" dirty="0">
                <a:latin typeface="Arial" charset="0"/>
                <a:cs typeface="Arial" charset="0"/>
              </a:rPr>
              <a:t>Ví dụ:</a:t>
            </a:r>
          </a:p>
        </p:txBody>
      </p:sp>
      <p:sp>
        <p:nvSpPr>
          <p:cNvPr id="12313" name="Rectangle 2"/>
          <p:cNvSpPr>
            <a:spLocks noChangeArrowheads="1"/>
          </p:cNvSpPr>
          <p:nvPr/>
        </p:nvSpPr>
        <p:spPr bwMode="white">
          <a:xfrm>
            <a:off x="1257300" y="399788"/>
            <a:ext cx="9144000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3600" b="1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Minh </a:t>
            </a:r>
            <a:r>
              <a:rPr lang="en-US" sz="3600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Họa</a:t>
            </a:r>
            <a:r>
              <a:rPr lang="en-US" sz="3600" b="1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DSLK </a:t>
            </a:r>
            <a:r>
              <a:rPr lang="en-US" sz="3600" b="1" dirty="0" err="1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đơn</a:t>
            </a:r>
            <a:endParaRPr lang="en-US" sz="3600" b="1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2590800" y="3276600"/>
            <a:ext cx="838200" cy="533400"/>
          </a:xfrm>
          <a:prstGeom prst="rect">
            <a:avLst/>
          </a:prstGeom>
          <a:solidFill>
            <a:srgbClr val="00FF00">
              <a:alpha val="47842"/>
            </a:srgbClr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 b="1">
                <a:solidFill>
                  <a:srgbClr val="FF0000"/>
                </a:solidFill>
                <a:latin typeface="Times" pitchFamily="18" charset="0"/>
                <a:cs typeface="Arial" charset="0"/>
              </a:rPr>
              <a:t>‘D’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3429000" y="3276600"/>
            <a:ext cx="685800" cy="533400"/>
          </a:xfrm>
          <a:prstGeom prst="rect">
            <a:avLst/>
          </a:prstGeom>
          <a:solidFill>
            <a:srgbClr val="00FF00">
              <a:alpha val="47842"/>
            </a:srgbClr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latin typeface="Times" pitchFamily="18" charset="0"/>
                <a:cs typeface="Arial" charset="0"/>
              </a:rPr>
              <a:t>500</a:t>
            </a: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4648200" y="3276600"/>
            <a:ext cx="838200" cy="533400"/>
          </a:xfrm>
          <a:prstGeom prst="rect">
            <a:avLst/>
          </a:prstGeom>
          <a:solidFill>
            <a:srgbClr val="00FF00">
              <a:alpha val="47842"/>
            </a:srgbClr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 b="1">
                <a:solidFill>
                  <a:srgbClr val="FF0000"/>
                </a:solidFill>
                <a:latin typeface="Times" pitchFamily="18" charset="0"/>
                <a:cs typeface="Arial" charset="0"/>
              </a:rPr>
              <a:t>‘S’</a:t>
            </a: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5486400" y="3276600"/>
            <a:ext cx="685800" cy="533400"/>
          </a:xfrm>
          <a:prstGeom prst="rect">
            <a:avLst/>
          </a:prstGeom>
          <a:solidFill>
            <a:srgbClr val="00FF00">
              <a:alpha val="47842"/>
            </a:srgbClr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latin typeface="Times" pitchFamily="18" charset="0"/>
                <a:cs typeface="Arial" charset="0"/>
              </a:rPr>
              <a:t>600</a:t>
            </a: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5448300" y="4572000"/>
            <a:ext cx="838200" cy="533400"/>
          </a:xfrm>
          <a:prstGeom prst="rect">
            <a:avLst/>
          </a:prstGeom>
          <a:solidFill>
            <a:srgbClr val="00FF00">
              <a:alpha val="47842"/>
            </a:srgbClr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 b="1">
                <a:solidFill>
                  <a:srgbClr val="FF0000"/>
                </a:solidFill>
                <a:latin typeface="Times" pitchFamily="18" charset="0"/>
                <a:cs typeface="Arial" charset="0"/>
              </a:rPr>
              <a:t>‘L’</a:t>
            </a:r>
          </a:p>
        </p:txBody>
      </p:sp>
      <p:sp>
        <p:nvSpPr>
          <p:cNvPr id="32" name="Rectangle 10"/>
          <p:cNvSpPr>
            <a:spLocks noChangeArrowheads="1"/>
          </p:cNvSpPr>
          <p:nvPr/>
        </p:nvSpPr>
        <p:spPr bwMode="auto">
          <a:xfrm>
            <a:off x="6286500" y="4572000"/>
            <a:ext cx="685800" cy="533400"/>
          </a:xfrm>
          <a:prstGeom prst="rect">
            <a:avLst/>
          </a:prstGeom>
          <a:solidFill>
            <a:srgbClr val="00FF00">
              <a:alpha val="47842"/>
            </a:srgbClr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>
                <a:latin typeface="Times" pitchFamily="18" charset="0"/>
                <a:cs typeface="Arial" charset="0"/>
              </a:rPr>
              <a:t>300</a:t>
            </a:r>
          </a:p>
        </p:txBody>
      </p:sp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7518400" y="4559300"/>
            <a:ext cx="838200" cy="533400"/>
          </a:xfrm>
          <a:prstGeom prst="rect">
            <a:avLst/>
          </a:prstGeom>
          <a:solidFill>
            <a:srgbClr val="00FF00">
              <a:alpha val="47842"/>
            </a:srgbClr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400" b="1">
                <a:solidFill>
                  <a:srgbClr val="FF0000"/>
                </a:solidFill>
                <a:latin typeface="Times" pitchFamily="18" charset="0"/>
                <a:cs typeface="Arial" charset="0"/>
              </a:rPr>
              <a:t>‘Q’</a:t>
            </a: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8356600" y="4559300"/>
            <a:ext cx="863600" cy="533400"/>
          </a:xfrm>
          <a:prstGeom prst="rect">
            <a:avLst/>
          </a:prstGeom>
          <a:solidFill>
            <a:srgbClr val="00FF00">
              <a:alpha val="47842"/>
            </a:srgbClr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" pitchFamily="18" charset="0"/>
                <a:cs typeface="Arial" charset="0"/>
              </a:rPr>
              <a:t>NULL</a:t>
            </a:r>
            <a:endParaRPr lang="en-US" sz="2400" dirty="0">
              <a:latin typeface="Times" pitchFamily="18" charset="0"/>
              <a:cs typeface="Arial" charset="0"/>
            </a:endParaRPr>
          </a:p>
        </p:txBody>
      </p:sp>
      <p:sp>
        <p:nvSpPr>
          <p:cNvPr id="35" name="AutoShape 15"/>
          <p:cNvSpPr>
            <a:spLocks noChangeArrowheads="1"/>
          </p:cNvSpPr>
          <p:nvPr/>
        </p:nvSpPr>
        <p:spPr bwMode="auto">
          <a:xfrm>
            <a:off x="4038600" y="3429000"/>
            <a:ext cx="609600" cy="215900"/>
          </a:xfrm>
          <a:prstGeom prst="rightArrow">
            <a:avLst>
              <a:gd name="adj1" fmla="val 50000"/>
              <a:gd name="adj2" fmla="val 70588"/>
            </a:avLst>
          </a:prstGeom>
          <a:solidFill>
            <a:srgbClr val="0000FF">
              <a:alpha val="56862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>
              <a:latin typeface="Times" pitchFamily="18" charset="0"/>
              <a:cs typeface="Arial" charset="0"/>
            </a:endParaRPr>
          </a:p>
        </p:txBody>
      </p:sp>
      <p:sp>
        <p:nvSpPr>
          <p:cNvPr id="36" name="AutoShape 16"/>
          <p:cNvSpPr>
            <a:spLocks noChangeArrowheads="1"/>
          </p:cNvSpPr>
          <p:nvPr/>
        </p:nvSpPr>
        <p:spPr bwMode="auto">
          <a:xfrm rot="5400000">
            <a:off x="5410200" y="4038600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rgbClr val="0000FF">
              <a:alpha val="56862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>
              <a:latin typeface="Times" pitchFamily="18" charset="0"/>
              <a:cs typeface="Arial" charset="0"/>
            </a:endParaRPr>
          </a:p>
        </p:txBody>
      </p:sp>
      <p:sp>
        <p:nvSpPr>
          <p:cNvPr id="37" name="AutoShape 17"/>
          <p:cNvSpPr>
            <a:spLocks noChangeArrowheads="1"/>
          </p:cNvSpPr>
          <p:nvPr/>
        </p:nvSpPr>
        <p:spPr bwMode="auto">
          <a:xfrm>
            <a:off x="6908800" y="4724400"/>
            <a:ext cx="609600" cy="215900"/>
          </a:xfrm>
          <a:prstGeom prst="rightArrow">
            <a:avLst>
              <a:gd name="adj1" fmla="val 50000"/>
              <a:gd name="adj2" fmla="val 70588"/>
            </a:avLst>
          </a:prstGeom>
          <a:solidFill>
            <a:srgbClr val="0000FF">
              <a:alpha val="56862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>
              <a:latin typeface="Times" pitchFamily="18" charset="0"/>
              <a:cs typeface="Arial" charset="0"/>
            </a:endParaRPr>
          </a:p>
        </p:txBody>
      </p:sp>
      <p:sp>
        <p:nvSpPr>
          <p:cNvPr id="38" name="Rectangle 18"/>
          <p:cNvSpPr>
            <a:spLocks noChangeArrowheads="1"/>
          </p:cNvSpPr>
          <p:nvPr/>
        </p:nvSpPr>
        <p:spPr bwMode="auto">
          <a:xfrm>
            <a:off x="2590800" y="2819400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b="1" i="1">
                <a:solidFill>
                  <a:srgbClr val="0000CC"/>
                </a:solidFill>
                <a:latin typeface="Times" pitchFamily="18" charset="0"/>
                <a:cs typeface="Arial" charset="0"/>
              </a:rPr>
              <a:t>700</a:t>
            </a:r>
          </a:p>
        </p:txBody>
      </p:sp>
      <p:sp>
        <p:nvSpPr>
          <p:cNvPr id="39" name="Rectangle 19"/>
          <p:cNvSpPr>
            <a:spLocks noChangeArrowheads="1"/>
          </p:cNvSpPr>
          <p:nvPr/>
        </p:nvSpPr>
        <p:spPr bwMode="auto">
          <a:xfrm>
            <a:off x="4603750" y="2806700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b="1" i="1">
                <a:solidFill>
                  <a:srgbClr val="0000CC"/>
                </a:solidFill>
                <a:latin typeface="Times" pitchFamily="18" charset="0"/>
                <a:cs typeface="Arial" charset="0"/>
              </a:rPr>
              <a:t>500</a:t>
            </a:r>
          </a:p>
        </p:txBody>
      </p:sp>
      <p:sp>
        <p:nvSpPr>
          <p:cNvPr id="40" name="Rectangle 20"/>
          <p:cNvSpPr>
            <a:spLocks noChangeArrowheads="1"/>
          </p:cNvSpPr>
          <p:nvPr/>
        </p:nvSpPr>
        <p:spPr bwMode="auto">
          <a:xfrm>
            <a:off x="5892800" y="4102100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b="1" i="1">
                <a:solidFill>
                  <a:srgbClr val="0000CC"/>
                </a:solidFill>
                <a:latin typeface="Times" pitchFamily="18" charset="0"/>
                <a:cs typeface="Arial" charset="0"/>
              </a:rPr>
              <a:t>600</a:t>
            </a:r>
          </a:p>
        </p:txBody>
      </p:sp>
      <p:sp>
        <p:nvSpPr>
          <p:cNvPr id="41" name="Rectangle 21"/>
          <p:cNvSpPr>
            <a:spLocks noChangeArrowheads="1"/>
          </p:cNvSpPr>
          <p:nvPr/>
        </p:nvSpPr>
        <p:spPr bwMode="auto">
          <a:xfrm>
            <a:off x="7518400" y="4089400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b="1" i="1">
                <a:solidFill>
                  <a:srgbClr val="0000CC"/>
                </a:solidFill>
                <a:latin typeface="Times" pitchFamily="18" charset="0"/>
                <a:cs typeface="Arial" charset="0"/>
              </a:rPr>
              <a:t>300</a:t>
            </a:r>
          </a:p>
        </p:txBody>
      </p:sp>
      <p:sp>
        <p:nvSpPr>
          <p:cNvPr id="42" name="Line 23"/>
          <p:cNvSpPr>
            <a:spLocks noChangeShapeType="1"/>
          </p:cNvSpPr>
          <p:nvPr/>
        </p:nvSpPr>
        <p:spPr bwMode="auto">
          <a:xfrm flipH="1">
            <a:off x="5257800" y="2819400"/>
            <a:ext cx="13716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" name="Line 24"/>
          <p:cNvSpPr>
            <a:spLocks noChangeShapeType="1"/>
          </p:cNvSpPr>
          <p:nvPr/>
        </p:nvSpPr>
        <p:spPr bwMode="auto">
          <a:xfrm>
            <a:off x="7467600" y="3124200"/>
            <a:ext cx="304800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" name="Line 25"/>
          <p:cNvSpPr>
            <a:spLocks noChangeShapeType="1"/>
          </p:cNvSpPr>
          <p:nvPr/>
        </p:nvSpPr>
        <p:spPr bwMode="auto">
          <a:xfrm flipH="1">
            <a:off x="6248400" y="3200400"/>
            <a:ext cx="685800" cy="914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" name="Line 26"/>
          <p:cNvSpPr>
            <a:spLocks noChangeShapeType="1"/>
          </p:cNvSpPr>
          <p:nvPr/>
        </p:nvSpPr>
        <p:spPr bwMode="auto">
          <a:xfrm flipV="1">
            <a:off x="3200400" y="2514600"/>
            <a:ext cx="33528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6" name="Picture 28" descr="j042382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1" y="2133600"/>
            <a:ext cx="1044575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AutoShape 29"/>
          <p:cNvSpPr>
            <a:spLocks noChangeArrowheads="1"/>
          </p:cNvSpPr>
          <p:nvPr/>
        </p:nvSpPr>
        <p:spPr bwMode="auto">
          <a:xfrm>
            <a:off x="7811022" y="1637238"/>
            <a:ext cx="1981200" cy="892516"/>
          </a:xfrm>
          <a:prstGeom prst="cloudCallout">
            <a:avLst>
              <a:gd name="adj1" fmla="val -56630"/>
              <a:gd name="adj2" fmla="val 57551"/>
            </a:avLst>
          </a:prstGeom>
          <a:solidFill>
            <a:srgbClr val="CC00CC">
              <a:alpha val="34901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eaLnBrk="0" hangingPunct="0"/>
            <a:r>
              <a:rPr lang="en-US" sz="28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 chỉ</a:t>
            </a:r>
          </a:p>
        </p:txBody>
      </p:sp>
      <p:sp>
        <p:nvSpPr>
          <p:cNvPr id="48" name="Text Box 30"/>
          <p:cNvSpPr txBox="1">
            <a:spLocks noChangeArrowheads="1"/>
          </p:cNvSpPr>
          <p:nvPr/>
        </p:nvSpPr>
        <p:spPr bwMode="auto">
          <a:xfrm>
            <a:off x="2467029" y="4148435"/>
            <a:ext cx="9813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b="1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Head</a:t>
            </a:r>
          </a:p>
        </p:txBody>
      </p:sp>
      <p:sp>
        <p:nvSpPr>
          <p:cNvPr id="49" name="Text Box 30"/>
          <p:cNvSpPr txBox="1">
            <a:spLocks noChangeArrowheads="1"/>
          </p:cNvSpPr>
          <p:nvPr/>
        </p:nvSpPr>
        <p:spPr bwMode="auto">
          <a:xfrm>
            <a:off x="7454318" y="5483063"/>
            <a:ext cx="7441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b="1">
                <a:solidFill>
                  <a:srgbClr val="CC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Tail</a:t>
            </a:r>
          </a:p>
        </p:txBody>
      </p:sp>
      <p:sp>
        <p:nvSpPr>
          <p:cNvPr id="50" name="Line 31"/>
          <p:cNvSpPr>
            <a:spLocks noChangeShapeType="1"/>
          </p:cNvSpPr>
          <p:nvPr/>
        </p:nvSpPr>
        <p:spPr bwMode="auto">
          <a:xfrm flipH="1" flipV="1">
            <a:off x="2957708" y="3835922"/>
            <a:ext cx="0" cy="396000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" name="Line 35"/>
          <p:cNvSpPr>
            <a:spLocks noChangeShapeType="1"/>
          </p:cNvSpPr>
          <p:nvPr/>
        </p:nvSpPr>
        <p:spPr bwMode="auto">
          <a:xfrm flipV="1">
            <a:off x="7848600" y="5105400"/>
            <a:ext cx="0" cy="4320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765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89" y="384016"/>
            <a:ext cx="10058400" cy="759871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3.1. </a:t>
            </a:r>
            <a:r>
              <a:rPr lang="en-US" dirty="0" err="1">
                <a:solidFill>
                  <a:srgbClr val="0070C0"/>
                </a:solidFill>
              </a:rPr>
              <a:t>Khai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báo</a:t>
            </a:r>
            <a:r>
              <a:rPr lang="en-US" dirty="0">
                <a:solidFill>
                  <a:srgbClr val="0070C0"/>
                </a:solidFill>
              </a:rPr>
              <a:t> Node </a:t>
            </a:r>
            <a:r>
              <a:rPr lang="en-US" dirty="0" err="1">
                <a:solidFill>
                  <a:srgbClr val="0070C0"/>
                </a:solidFill>
              </a:rPr>
              <a:t>và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SList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288757" y="1027276"/>
            <a:ext cx="11636943" cy="490585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 err="1">
                <a:solidFill>
                  <a:srgbClr val="FF0000"/>
                </a:solidFill>
              </a:rPr>
              <a:t>Giả</a:t>
            </a:r>
            <a:r>
              <a:rPr lang="en-US" sz="2400" b="1" i="1" dirty="0">
                <a:solidFill>
                  <a:srgbClr val="FF0000"/>
                </a:solidFill>
              </a:rPr>
              <a:t>  </a:t>
            </a:r>
            <a:r>
              <a:rPr lang="en-US" sz="2400" b="1" i="1" dirty="0" err="1">
                <a:solidFill>
                  <a:srgbClr val="FF0000"/>
                </a:solidFill>
              </a:rPr>
              <a:t>thiết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cho</a:t>
            </a:r>
            <a:r>
              <a:rPr lang="en-US" sz="2400" b="1" i="1" dirty="0">
                <a:solidFill>
                  <a:srgbClr val="FF0000"/>
                </a:solidFill>
              </a:rPr>
              <a:t> dữ liệu </a:t>
            </a:r>
            <a:r>
              <a:rPr lang="en-US" sz="2400" b="1" i="1" dirty="0" err="1">
                <a:solidFill>
                  <a:srgbClr val="FF0000"/>
                </a:solidFill>
              </a:rPr>
              <a:t>lưu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trữ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trong</a:t>
            </a:r>
            <a:r>
              <a:rPr lang="en-US" sz="2400" b="1" i="1" dirty="0">
                <a:solidFill>
                  <a:srgbClr val="FF0000"/>
                </a:solidFill>
              </a:rPr>
              <a:t> List là </a:t>
            </a:r>
            <a:r>
              <a:rPr lang="en-US" sz="2400" b="1" i="1" dirty="0" err="1">
                <a:solidFill>
                  <a:srgbClr val="FF0000"/>
                </a:solidFill>
              </a:rPr>
              <a:t>số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nguyên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 err="1"/>
              <a:t>Khai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smtClean="0"/>
              <a:t>Node </a:t>
            </a:r>
            <a:r>
              <a:rPr lang="en-US" sz="2400" dirty="0" err="1" smtClean="0"/>
              <a:t>của</a:t>
            </a:r>
            <a:r>
              <a:rPr lang="en-US" sz="2400" dirty="0" smtClean="0"/>
              <a:t> DSLK </a:t>
            </a:r>
            <a:r>
              <a:rPr lang="en-US" sz="2400" err="1" smtClean="0"/>
              <a:t>đơn</a:t>
            </a:r>
            <a:r>
              <a:rPr lang="en-US" sz="2400" smtClean="0"/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smtClean="0"/>
              <a:t>Khai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đơn</a:t>
            </a:r>
            <a:r>
              <a:rPr lang="en-US" sz="2400" dirty="0" smtClean="0"/>
              <a:t> (</a:t>
            </a:r>
            <a:r>
              <a:rPr lang="en-US" sz="2400" dirty="0" err="1" smtClean="0"/>
              <a:t>SList</a:t>
            </a:r>
            <a:r>
              <a:rPr lang="en-US" sz="2400" dirty="0" smtClean="0"/>
              <a:t>): </a:t>
            </a:r>
            <a:r>
              <a:rPr lang="en-US" sz="2400" dirty="0" err="1" smtClean="0"/>
              <a:t>chỉ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địa</a:t>
            </a:r>
            <a:r>
              <a:rPr lang="en-US" sz="2400" dirty="0" smtClean="0"/>
              <a:t> </a:t>
            </a:r>
            <a:r>
              <a:rPr lang="en-US" sz="2400" dirty="0" err="1" smtClean="0"/>
              <a:t>chỉ</a:t>
            </a:r>
            <a:r>
              <a:rPr lang="en-US" sz="2400" dirty="0" smtClean="0"/>
              <a:t> 2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head </a:t>
            </a:r>
            <a:r>
              <a:rPr lang="en-US" sz="2400" dirty="0" err="1" smtClean="0"/>
              <a:t>và</a:t>
            </a:r>
            <a:r>
              <a:rPr lang="en-US" sz="2400" dirty="0" smtClean="0"/>
              <a:t> tail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D87FB-E7EA-4CF5-836F-DFC0C9B543B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443791" y="1768941"/>
            <a:ext cx="10190192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struct</a:t>
            </a: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Node 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//(Node: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chứa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thông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tin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một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phần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tử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của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dslk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)</a:t>
            </a:r>
            <a:endParaRPr lang="en-US" sz="2000" b="1" i="1" dirty="0">
              <a:solidFill>
                <a:schemeClr val="accent5"/>
              </a:solidFill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&lt;Data&gt; info;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//Data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là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kiểu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dữ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liệu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của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dữ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liệu</a:t>
            </a:r>
            <a:endParaRPr lang="en-US" sz="2400" b="1" dirty="0" smtClean="0">
              <a:solidFill>
                <a:srgbClr val="0070C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	 //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bài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học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giả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thiết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data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là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số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</a:t>
            </a:r>
            <a:endParaRPr lang="en-US" sz="24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Node* </a:t>
            </a:r>
            <a:r>
              <a:rPr lang="en-US" sz="24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</a:t>
            </a: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ext</a:t>
            </a:r>
            <a:r>
              <a:rPr lang="en-US" sz="24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};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443790" y="4709526"/>
            <a:ext cx="9711890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struct</a:t>
            </a: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SList</a:t>
            </a: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//</a:t>
            </a:r>
            <a:r>
              <a:rPr lang="en-US" sz="2000" b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SList</a:t>
            </a:r>
            <a:r>
              <a:rPr lang="en-US" sz="2000" b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-Single List: </a:t>
            </a:r>
            <a:r>
              <a:rPr lang="en-US" sz="2000" b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dslk</a:t>
            </a:r>
            <a:r>
              <a:rPr lang="en-US" sz="2000" b="1" dirty="0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000" b="1" dirty="0" err="1" smtClean="0">
                <a:solidFill>
                  <a:schemeClr val="accent5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đơn</a:t>
            </a: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Node *head; </a:t>
            </a:r>
            <a:endParaRPr lang="en-US" sz="24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Node *tail;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};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65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53979"/>
            <a:ext cx="10058400" cy="759871"/>
          </a:xfrm>
        </p:spPr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</a:rPr>
              <a:t>Ví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dụ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 </a:t>
            </a:r>
            <a:r>
              <a:rPr lang="en-US" sz="2800" dirty="0" err="1" smtClean="0"/>
              <a:t>Khai</a:t>
            </a:r>
            <a:r>
              <a:rPr lang="en-US" sz="2800" dirty="0" smtClean="0"/>
              <a:t> </a:t>
            </a:r>
            <a:r>
              <a:rPr lang="en-US" sz="2800" dirty="0" err="1" smtClean="0"/>
              <a:t>báo</a:t>
            </a:r>
            <a:r>
              <a:rPr lang="en-US" sz="2800" dirty="0" smtClean="0"/>
              <a:t> DSLK </a:t>
            </a:r>
            <a:r>
              <a:rPr lang="en-US" sz="2800" dirty="0" err="1" smtClean="0"/>
              <a:t>đơn</a:t>
            </a:r>
            <a:r>
              <a:rPr lang="en-US" sz="2800" dirty="0" smtClean="0"/>
              <a:t> </a:t>
            </a:r>
            <a:r>
              <a:rPr lang="en-US" sz="2800" dirty="0" err="1" smtClean="0"/>
              <a:t>chứa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loại</a:t>
            </a:r>
            <a:r>
              <a:rPr lang="en-US" sz="2800" dirty="0" smtClean="0"/>
              <a:t> </a:t>
            </a:r>
            <a:r>
              <a:rPr lang="en-US" sz="2800" dirty="0" err="1" smtClean="0"/>
              <a:t>dữ</a:t>
            </a:r>
            <a:r>
              <a:rPr lang="en-US" sz="2800" dirty="0" smtClean="0"/>
              <a:t> </a:t>
            </a:r>
            <a:r>
              <a:rPr lang="en-US" sz="2800" dirty="0" err="1" smtClean="0"/>
              <a:t>liệu</a:t>
            </a:r>
            <a:r>
              <a:rPr lang="en-US" sz="2800" dirty="0" smtClean="0"/>
              <a:t> </a:t>
            </a:r>
            <a:r>
              <a:rPr lang="en-US" sz="2800" dirty="0" err="1" smtClean="0"/>
              <a:t>sau</a:t>
            </a:r>
            <a:r>
              <a:rPr lang="en-US" sz="2800" dirty="0" smtClean="0"/>
              <a:t>: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 err="1" smtClean="0"/>
              <a:t>Số</a:t>
            </a:r>
            <a:r>
              <a:rPr lang="en-US" sz="2800" dirty="0" smtClean="0"/>
              <a:t> </a:t>
            </a:r>
            <a:r>
              <a:rPr lang="en-US" sz="2800" dirty="0" err="1" smtClean="0"/>
              <a:t>thực</a:t>
            </a:r>
            <a:r>
              <a:rPr lang="en-US" sz="2800" dirty="0" smtClean="0"/>
              <a:t>.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 err="1" smtClean="0"/>
              <a:t>Phân</a:t>
            </a:r>
            <a:r>
              <a:rPr lang="en-US" sz="2800" dirty="0" smtClean="0"/>
              <a:t> </a:t>
            </a:r>
            <a:r>
              <a:rPr lang="en-US" sz="2800" dirty="0" err="1" smtClean="0"/>
              <a:t>số</a:t>
            </a:r>
            <a:r>
              <a:rPr lang="en-US" sz="2800" dirty="0" smtClean="0"/>
              <a:t>.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 err="1" smtClean="0"/>
              <a:t>Sinh</a:t>
            </a:r>
            <a:r>
              <a:rPr lang="en-US" sz="2800" dirty="0" smtClean="0"/>
              <a:t> </a:t>
            </a:r>
            <a:r>
              <a:rPr lang="en-US" sz="2800" dirty="0" err="1" smtClean="0"/>
              <a:t>viên</a:t>
            </a:r>
            <a:r>
              <a:rPr lang="en-US" sz="2800" dirty="0" smtClean="0"/>
              <a:t> (</a:t>
            </a:r>
            <a:r>
              <a:rPr lang="en-US" sz="2800" dirty="0" err="1" smtClean="0"/>
              <a:t>mã</a:t>
            </a:r>
            <a:r>
              <a:rPr lang="en-US" sz="2800" dirty="0" smtClean="0"/>
              <a:t> </a:t>
            </a:r>
            <a:r>
              <a:rPr lang="en-US" sz="2800" dirty="0" err="1" smtClean="0"/>
              <a:t>sv</a:t>
            </a:r>
            <a:r>
              <a:rPr lang="en-US" sz="2800" dirty="0" smtClean="0"/>
              <a:t>, </a:t>
            </a:r>
            <a:r>
              <a:rPr lang="en-US" sz="2800" dirty="0" err="1" smtClean="0"/>
              <a:t>họ</a:t>
            </a:r>
            <a:r>
              <a:rPr lang="en-US" sz="2800" dirty="0" smtClean="0"/>
              <a:t> </a:t>
            </a:r>
            <a:r>
              <a:rPr lang="en-US" sz="2800" dirty="0" err="1" smtClean="0"/>
              <a:t>tên</a:t>
            </a:r>
            <a:r>
              <a:rPr lang="en-US" sz="2800" dirty="0" smtClean="0"/>
              <a:t>, </a:t>
            </a:r>
            <a:r>
              <a:rPr lang="en-US" sz="2800" dirty="0" err="1" smtClean="0"/>
              <a:t>ngày</a:t>
            </a:r>
            <a:r>
              <a:rPr lang="en-US" sz="2800" dirty="0" smtClean="0"/>
              <a:t> </a:t>
            </a:r>
            <a:r>
              <a:rPr lang="en-US" sz="2800" dirty="0" err="1" smtClean="0"/>
              <a:t>sinh</a:t>
            </a:r>
            <a:r>
              <a:rPr lang="en-US" sz="2800" dirty="0" smtClean="0"/>
              <a:t> (</a:t>
            </a:r>
            <a:r>
              <a:rPr lang="en-US" sz="2800" dirty="0" err="1" smtClean="0"/>
              <a:t>kiểu</a:t>
            </a:r>
            <a:r>
              <a:rPr lang="en-US" sz="2800" dirty="0" smtClean="0"/>
              <a:t> Date), </a:t>
            </a:r>
            <a:r>
              <a:rPr lang="en-US" sz="2800" dirty="0" err="1" smtClean="0"/>
              <a:t>địa</a:t>
            </a:r>
            <a:r>
              <a:rPr lang="en-US" sz="2800" dirty="0" smtClean="0"/>
              <a:t> </a:t>
            </a:r>
            <a:r>
              <a:rPr lang="en-US" sz="2800" dirty="0" err="1" smtClean="0"/>
              <a:t>chỉ</a:t>
            </a:r>
            <a:r>
              <a:rPr lang="en-US" sz="2800" dirty="0" smtClean="0"/>
              <a:t>).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 err="1" smtClean="0"/>
              <a:t>Lớp</a:t>
            </a:r>
            <a:r>
              <a:rPr lang="en-US" sz="2800" dirty="0" smtClean="0"/>
              <a:t> (</a:t>
            </a:r>
            <a:r>
              <a:rPr lang="en-US" sz="2800" dirty="0" err="1" smtClean="0"/>
              <a:t>mã</a:t>
            </a:r>
            <a:r>
              <a:rPr lang="en-US" sz="2800" dirty="0" smtClean="0"/>
              <a:t> </a:t>
            </a:r>
            <a:r>
              <a:rPr lang="en-US" sz="2800" dirty="0" err="1" smtClean="0"/>
              <a:t>lớp</a:t>
            </a:r>
            <a:r>
              <a:rPr lang="en-US" sz="2800" dirty="0" smtClean="0"/>
              <a:t>, </a:t>
            </a:r>
            <a:r>
              <a:rPr lang="en-US" sz="2800" dirty="0" err="1" smtClean="0"/>
              <a:t>sỉ</a:t>
            </a:r>
            <a:r>
              <a:rPr lang="en-US" sz="2800" dirty="0" smtClean="0"/>
              <a:t> </a:t>
            </a:r>
            <a:r>
              <a:rPr lang="en-US" sz="2800" dirty="0" err="1" smtClean="0"/>
              <a:t>số</a:t>
            </a:r>
            <a:r>
              <a:rPr lang="en-US" sz="2800" dirty="0" smtClean="0"/>
              <a:t>, </a:t>
            </a:r>
            <a:r>
              <a:rPr lang="en-US" sz="2800" dirty="0" err="1" smtClean="0"/>
              <a:t>danh</a:t>
            </a:r>
            <a:r>
              <a:rPr lang="en-US" sz="2800" dirty="0" smtClean="0"/>
              <a:t> </a:t>
            </a:r>
            <a:r>
              <a:rPr lang="en-US" sz="2800" dirty="0" err="1" smtClean="0"/>
              <a:t>sách</a:t>
            </a:r>
            <a:r>
              <a:rPr lang="en-US" sz="2800" dirty="0" smtClean="0"/>
              <a:t> </a:t>
            </a:r>
            <a:r>
              <a:rPr lang="en-US" sz="2800" dirty="0" err="1" smtClean="0"/>
              <a:t>sinh</a:t>
            </a:r>
            <a:r>
              <a:rPr lang="en-US" sz="2800" dirty="0" smtClean="0"/>
              <a:t> </a:t>
            </a:r>
            <a:r>
              <a:rPr lang="en-US" sz="2800" dirty="0" err="1" smtClean="0"/>
              <a:t>viên</a:t>
            </a:r>
            <a:r>
              <a:rPr lang="en-US" sz="2800" dirty="0" smtClean="0"/>
              <a:t> (</a:t>
            </a:r>
            <a:r>
              <a:rPr lang="en-US" sz="2800" dirty="0" err="1" smtClean="0"/>
              <a:t>kiểu</a:t>
            </a:r>
            <a:r>
              <a:rPr lang="en-US" sz="2800" dirty="0" smtClean="0"/>
              <a:t> </a:t>
            </a:r>
            <a:r>
              <a:rPr lang="en-US" sz="2800" dirty="0" err="1" smtClean="0"/>
              <a:t>sv</a:t>
            </a:r>
            <a:r>
              <a:rPr lang="en-US" sz="2800" dirty="0" smtClean="0"/>
              <a:t> ở </a:t>
            </a:r>
            <a:r>
              <a:rPr lang="en-US" sz="2800" dirty="0" err="1" smtClean="0"/>
              <a:t>câu</a:t>
            </a:r>
            <a:r>
              <a:rPr lang="en-US" sz="2800" dirty="0" smtClean="0"/>
              <a:t> 3)).</a:t>
            </a:r>
          </a:p>
          <a:p>
            <a:pPr lvl="1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52" y="890595"/>
            <a:ext cx="10058400" cy="75987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1. </a:t>
            </a:r>
            <a:r>
              <a:rPr lang="en-US" dirty="0" err="1">
                <a:solidFill>
                  <a:srgbClr val="0070C0"/>
                </a:solidFill>
              </a:rPr>
              <a:t>Hàm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tạo</a:t>
            </a:r>
            <a:r>
              <a:rPr lang="en-US" dirty="0">
                <a:solidFill>
                  <a:srgbClr val="0070C0"/>
                </a:solidFill>
              </a:rPr>
              <a:t> Node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62369" y="1441174"/>
            <a:ext cx="1011916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Node 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*</a:t>
            </a:r>
            <a:r>
              <a:rPr lang="en-US" sz="2800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createNode</a:t>
            </a:r>
            <a:r>
              <a:rPr lang="en-US" sz="28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(</a:t>
            </a:r>
            <a:r>
              <a:rPr lang="en-US" sz="2800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</a:t>
            </a:r>
            <a:r>
              <a:rPr lang="en-US" sz="28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x)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28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Node 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*p = new </a:t>
            </a:r>
            <a:r>
              <a:rPr lang="en-US" sz="28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Node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if(p==NULL)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{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2800" b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printf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(“</a:t>
            </a:r>
            <a:r>
              <a:rPr lang="en-US" sz="2800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Không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800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đủ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800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bộ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800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nhớ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800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để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800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cấp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sz="2800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phát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!”);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2800" b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return 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NULL;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}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2800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p</a:t>
            </a:r>
            <a:r>
              <a:rPr lang="en-US" sz="2800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info</a:t>
            </a:r>
            <a:r>
              <a:rPr lang="en-US" sz="28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=x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  <a:endParaRPr lang="en-US" sz="1600" b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	</a:t>
            </a:r>
            <a:r>
              <a:rPr lang="en-US" sz="2800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p</a:t>
            </a:r>
            <a:r>
              <a:rPr lang="en-US" sz="2800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</a:t>
            </a:r>
            <a:r>
              <a:rPr lang="en-US" sz="2800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next</a:t>
            </a:r>
            <a:r>
              <a:rPr lang="en-US" sz="2800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=NULL</a:t>
            </a: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  <a:endParaRPr lang="en-US" sz="1600" b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	return p;</a:t>
            </a:r>
            <a:endParaRPr lang="en-US" sz="1600" b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}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096662" y="1280661"/>
            <a:ext cx="5416933" cy="2476124"/>
            <a:chOff x="6162259" y="731529"/>
            <a:chExt cx="5416933" cy="2348875"/>
          </a:xfrm>
          <a:noFill/>
        </p:grpSpPr>
        <p:grpSp>
          <p:nvGrpSpPr>
            <p:cNvPr id="22530" name="Group 2"/>
            <p:cNvGrpSpPr>
              <a:grpSpLocks/>
            </p:cNvGrpSpPr>
            <p:nvPr/>
          </p:nvGrpSpPr>
          <p:grpSpPr bwMode="auto">
            <a:xfrm>
              <a:off x="7022784" y="731529"/>
              <a:ext cx="4556408" cy="2348875"/>
              <a:chOff x="4865" y="4807"/>
              <a:chExt cx="2520" cy="1295"/>
            </a:xfrm>
            <a:grpFill/>
          </p:grpSpPr>
          <p:sp>
            <p:nvSpPr>
              <p:cNvPr id="22531" name="Text Box 3"/>
              <p:cNvSpPr txBox="1">
                <a:spLocks noChangeArrowheads="1"/>
              </p:cNvSpPr>
              <p:nvPr/>
            </p:nvSpPr>
            <p:spPr bwMode="auto">
              <a:xfrm>
                <a:off x="5024" y="4807"/>
                <a:ext cx="794" cy="432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4400" b="1">
                    <a:solidFill>
                      <a:srgbClr val="000000"/>
                    </a:solidFill>
                    <a:latin typeface="Calibri" pitchFamily="34" charset="0"/>
                    <a:cs typeface="Arial" pitchFamily="34" charset="0"/>
                  </a:rPr>
                  <a:t>x</a:t>
                </a:r>
                <a:endParaRPr lang="en-US" sz="66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532" name="Text Box 4"/>
              <p:cNvSpPr txBox="1">
                <a:spLocks noChangeArrowheads="1"/>
              </p:cNvSpPr>
              <p:nvPr/>
            </p:nvSpPr>
            <p:spPr bwMode="auto">
              <a:xfrm>
                <a:off x="5816" y="4807"/>
                <a:ext cx="180" cy="432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2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533" name="Text Box 5"/>
              <p:cNvSpPr txBox="1">
                <a:spLocks noChangeArrowheads="1"/>
              </p:cNvSpPr>
              <p:nvPr/>
            </p:nvSpPr>
            <p:spPr bwMode="auto">
              <a:xfrm>
                <a:off x="6646" y="4850"/>
                <a:ext cx="619" cy="447"/>
              </a:xfrm>
              <a:prstGeom prst="rect">
                <a:avLst/>
              </a:prstGeom>
              <a:grpFill/>
              <a:ln w="2857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3200" b="1" smtClean="0">
                    <a:latin typeface="Calibri" pitchFamily="34" charset="0"/>
                    <a:cs typeface="Arial" pitchFamily="34" charset="0"/>
                  </a:rPr>
                  <a:t>NULL</a:t>
                </a:r>
                <a:endParaRPr lang="en-US" sz="88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534" name="Line 6"/>
              <p:cNvSpPr>
                <a:spLocks noChangeShapeType="1"/>
              </p:cNvSpPr>
              <p:nvPr/>
            </p:nvSpPr>
            <p:spPr bwMode="auto">
              <a:xfrm>
                <a:off x="5977" y="5031"/>
                <a:ext cx="635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b="1"/>
              </a:p>
            </p:txBody>
          </p:sp>
          <p:sp>
            <p:nvSpPr>
              <p:cNvPr id="22535" name="Text Box 7"/>
              <p:cNvSpPr txBox="1">
                <a:spLocks noChangeArrowheads="1"/>
              </p:cNvSpPr>
              <p:nvPr/>
            </p:nvSpPr>
            <p:spPr bwMode="auto">
              <a:xfrm>
                <a:off x="4865" y="5655"/>
                <a:ext cx="900" cy="447"/>
              </a:xfrm>
              <a:prstGeom prst="rect">
                <a:avLst/>
              </a:prstGeom>
              <a:grpFill/>
              <a:ln w="2857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2800" b="1" dirty="0" smtClean="0">
                    <a:latin typeface="Arial" pitchFamily="34" charset="0"/>
                    <a:cs typeface="Arial" pitchFamily="34" charset="0"/>
                  </a:rPr>
                  <a:t>info</a:t>
                </a:r>
                <a:endParaRPr lang="en-US" sz="2800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536" name="Text Box 8"/>
              <p:cNvSpPr txBox="1">
                <a:spLocks noChangeArrowheads="1"/>
              </p:cNvSpPr>
              <p:nvPr/>
            </p:nvSpPr>
            <p:spPr bwMode="auto">
              <a:xfrm>
                <a:off x="6294" y="5651"/>
                <a:ext cx="1091" cy="447"/>
              </a:xfrm>
              <a:prstGeom prst="rect">
                <a:avLst/>
              </a:prstGeom>
              <a:grpFill/>
              <a:ln w="2857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3200" b="1" dirty="0" smtClean="0">
                    <a:latin typeface="Calibri" pitchFamily="34" charset="0"/>
                    <a:cs typeface="Arial" pitchFamily="34" charset="0"/>
                  </a:rPr>
                  <a:t>next</a:t>
                </a:r>
                <a:endParaRPr lang="en-US" sz="4800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537" name="Line 9"/>
              <p:cNvSpPr>
                <a:spLocks noChangeShapeType="1"/>
              </p:cNvSpPr>
              <p:nvPr/>
            </p:nvSpPr>
            <p:spPr bwMode="auto">
              <a:xfrm flipV="1">
                <a:off x="5273" y="5269"/>
                <a:ext cx="1" cy="447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b="1"/>
              </a:p>
            </p:txBody>
          </p:sp>
          <p:sp>
            <p:nvSpPr>
              <p:cNvPr id="22538" name="Line 10"/>
              <p:cNvSpPr>
                <a:spLocks noChangeShapeType="1"/>
              </p:cNvSpPr>
              <p:nvPr/>
            </p:nvSpPr>
            <p:spPr bwMode="auto">
              <a:xfrm flipH="1" flipV="1">
                <a:off x="5996" y="5269"/>
                <a:ext cx="476" cy="447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b="1"/>
              </a:p>
            </p:txBody>
          </p:sp>
        </p:grpSp>
        <p:sp>
          <p:nvSpPr>
            <p:cNvPr id="3" name="TextBox 2"/>
            <p:cNvSpPr txBox="1"/>
            <p:nvPr/>
          </p:nvSpPr>
          <p:spPr>
            <a:xfrm>
              <a:off x="6162259" y="1093306"/>
              <a:ext cx="805070" cy="55472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200" b="1">
                  <a:latin typeface="Courier New" pitchFamily="49" charset="0"/>
                  <a:ea typeface="Arial Unicode MS" pitchFamily="34" charset="-128"/>
                  <a:cs typeface="Courier New" pitchFamily="49" charset="0"/>
                  <a:sym typeface="Wingdings" pitchFamily="2" charset="2"/>
                </a:rPr>
                <a:t>p</a:t>
              </a:r>
              <a:endParaRPr lang="en-US" sz="320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V="1">
              <a:off x="6440557" y="1252331"/>
              <a:ext cx="869715" cy="178904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itle 1"/>
          <p:cNvSpPr txBox="1">
            <a:spLocks/>
          </p:cNvSpPr>
          <p:nvPr/>
        </p:nvSpPr>
        <p:spPr>
          <a:xfrm>
            <a:off x="120416" y="382213"/>
            <a:ext cx="10058400" cy="7598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 smtClean="0">
                <a:solidFill>
                  <a:srgbClr val="002060"/>
                </a:solidFill>
                <a:latin typeface="+mj-lt"/>
              </a:rPr>
              <a:t>3.2. </a:t>
            </a:r>
            <a:r>
              <a:rPr lang="en-US" b="1" dirty="0" err="1" smtClean="0">
                <a:solidFill>
                  <a:srgbClr val="002060"/>
                </a:solidFill>
                <a:latin typeface="+mj-lt"/>
              </a:rPr>
              <a:t>Các</a:t>
            </a:r>
            <a:r>
              <a:rPr lang="en-US" b="1" dirty="0" smtClean="0">
                <a:solidFill>
                  <a:srgbClr val="002060"/>
                </a:solidFill>
                <a:latin typeface="+mj-lt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+mj-lt"/>
              </a:rPr>
              <a:t>thao</a:t>
            </a:r>
            <a:r>
              <a:rPr lang="en-US" b="1" dirty="0" smtClean="0">
                <a:solidFill>
                  <a:srgbClr val="002060"/>
                </a:solidFill>
                <a:latin typeface="+mj-lt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+mj-lt"/>
              </a:rPr>
              <a:t>tác</a:t>
            </a:r>
            <a:r>
              <a:rPr lang="en-US" b="1" dirty="0" smtClean="0">
                <a:solidFill>
                  <a:srgbClr val="002060"/>
                </a:solidFill>
                <a:latin typeface="+mj-lt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+mj-lt"/>
              </a:rPr>
              <a:t>cơ</a:t>
            </a:r>
            <a:r>
              <a:rPr lang="en-US" b="1" dirty="0" smtClean="0">
                <a:solidFill>
                  <a:srgbClr val="002060"/>
                </a:solidFill>
                <a:latin typeface="+mj-lt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+mj-lt"/>
              </a:rPr>
              <a:t>bản</a:t>
            </a:r>
            <a:r>
              <a:rPr lang="en-US" b="1" dirty="0" smtClean="0">
                <a:solidFill>
                  <a:srgbClr val="002060"/>
                </a:solidFill>
                <a:latin typeface="+mj-lt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+mj-lt"/>
              </a:rPr>
              <a:t>trên</a:t>
            </a:r>
            <a:r>
              <a:rPr lang="en-US" b="1" dirty="0" smtClean="0">
                <a:solidFill>
                  <a:srgbClr val="002060"/>
                </a:solidFill>
                <a:latin typeface="+mj-lt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+mj-lt"/>
              </a:rPr>
              <a:t>SList</a:t>
            </a:r>
            <a:endParaRPr lang="en-US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298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63604"/>
            <a:ext cx="10058400" cy="75987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2. </a:t>
            </a:r>
            <a:r>
              <a:rPr lang="en-US" dirty="0" err="1">
                <a:solidFill>
                  <a:srgbClr val="0070C0"/>
                </a:solidFill>
              </a:rPr>
              <a:t>Hàm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xóa</a:t>
            </a:r>
            <a:r>
              <a:rPr lang="en-US" dirty="0">
                <a:solidFill>
                  <a:srgbClr val="0070C0"/>
                </a:solidFill>
              </a:rPr>
              <a:t> Node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404261" y="1211667"/>
            <a:ext cx="7929618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3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deleteNode</a:t>
            </a:r>
            <a:r>
              <a:rPr lang="en-US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(Node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*&amp;p)</a:t>
            </a:r>
          </a:p>
          <a:p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if(p==NULL)	</a:t>
            </a:r>
          </a:p>
          <a:p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return;</a:t>
            </a:r>
          </a:p>
          <a:p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3200" b="1" dirty="0" err="1" smtClean="0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</a:t>
            </a:r>
            <a:r>
              <a:rPr lang="en-US" sz="3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US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=NULL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delete p;</a:t>
            </a:r>
          </a:p>
          <a:p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5849160" y="2368013"/>
            <a:ext cx="2723011" cy="1245988"/>
            <a:chOff x="4974" y="11683"/>
            <a:chExt cx="2801" cy="900"/>
          </a:xfrm>
        </p:grpSpPr>
        <p:sp>
          <p:nvSpPr>
            <p:cNvPr id="24579" name="Text Box 3"/>
            <p:cNvSpPr txBox="1">
              <a:spLocks noChangeArrowheads="1"/>
            </p:cNvSpPr>
            <p:nvPr/>
          </p:nvSpPr>
          <p:spPr bwMode="auto">
            <a:xfrm>
              <a:off x="6080" y="11908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FFFFFF">
                    <a:gamma/>
                    <a:shade val="8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86275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2000">
                  <a:latin typeface="Calibri" pitchFamily="34" charset="0"/>
                  <a:cs typeface="Arial" pitchFamily="34" charset="0"/>
                </a:rPr>
                <a:t>x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580" name="Text Box 4"/>
            <p:cNvSpPr txBox="1">
              <a:spLocks noChangeArrowheads="1"/>
            </p:cNvSpPr>
            <p:nvPr/>
          </p:nvSpPr>
          <p:spPr bwMode="auto">
            <a:xfrm>
              <a:off x="6854" y="11908"/>
              <a:ext cx="205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6968" y="12133"/>
              <a:ext cx="59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24582" name="Oval 6"/>
            <p:cNvSpPr>
              <a:spLocks noChangeArrowheads="1"/>
            </p:cNvSpPr>
            <p:nvPr/>
          </p:nvSpPr>
          <p:spPr bwMode="auto">
            <a:xfrm>
              <a:off x="7627" y="12073"/>
              <a:ext cx="148" cy="120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24583" name="Line 7"/>
            <p:cNvSpPr>
              <a:spLocks noChangeShapeType="1"/>
            </p:cNvSpPr>
            <p:nvPr/>
          </p:nvSpPr>
          <p:spPr bwMode="auto">
            <a:xfrm>
              <a:off x="7175" y="12043"/>
              <a:ext cx="360" cy="1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 flipH="1">
              <a:off x="7175" y="12043"/>
              <a:ext cx="360" cy="1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24585" name="Text Box 9"/>
            <p:cNvSpPr txBox="1">
              <a:spLocks noChangeArrowheads="1"/>
            </p:cNvSpPr>
            <p:nvPr/>
          </p:nvSpPr>
          <p:spPr bwMode="auto">
            <a:xfrm>
              <a:off x="4974" y="11908"/>
              <a:ext cx="54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2000" dirty="0">
                  <a:latin typeface="Calibri" pitchFamily="34" charset="0"/>
                  <a:cs typeface="Arial" pitchFamily="34" charset="0"/>
                </a:rPr>
                <a:t>p</a:t>
              </a:r>
              <a:endParaRPr lang="en-US" sz="3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>
              <a:off x="5360" y="12118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 flipH="1">
              <a:off x="6155" y="11683"/>
              <a:ext cx="900" cy="9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24588" name="Line 12"/>
            <p:cNvSpPr>
              <a:spLocks noChangeShapeType="1"/>
            </p:cNvSpPr>
            <p:nvPr/>
          </p:nvSpPr>
          <p:spPr bwMode="auto">
            <a:xfrm>
              <a:off x="6155" y="11683"/>
              <a:ext cx="900" cy="9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</p:grpSp>
    </p:spTree>
    <p:extLst>
      <p:ext uri="{BB962C8B-B14F-4D97-AF65-F5344CB8AC3E}">
        <p14:creationId xmlns:p14="http://schemas.microsoft.com/office/powerpoint/2010/main" val="118172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59854"/>
            <a:ext cx="10058400" cy="75987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3. </a:t>
            </a:r>
            <a:r>
              <a:rPr lang="en-US" dirty="0" err="1">
                <a:solidFill>
                  <a:srgbClr val="0070C0"/>
                </a:solidFill>
              </a:rPr>
              <a:t>Khởi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tạo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sách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liên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kết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đơn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110489" y="1275652"/>
            <a:ext cx="7185460" cy="5016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createSList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x;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*q;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NULL; 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=1;i&lt;=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Nhập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phần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tử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thứ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%d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là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:”,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(“%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d”,&amp;x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q=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createNode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if(q==NULL)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Không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đủ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bộ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nhớ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cấp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phát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!”);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return;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tiếp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theo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ở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khung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kế</a:t>
            </a:r>
            <a:r>
              <a:rPr lang="en-US" sz="2000" b="1" i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6909" y="1275652"/>
            <a:ext cx="4704924" cy="31700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      //</a:t>
            </a:r>
            <a:r>
              <a:rPr lang="en-US" sz="2000" b="1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nối</a:t>
            </a:r>
            <a:r>
              <a:rPr lang="en-US" sz="20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 q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vào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danh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sách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</a:t>
            </a:r>
          </a:p>
          <a:p>
            <a:r>
              <a:rPr lang="en-US" sz="20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      if(l.head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=q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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=q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=q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2000" b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2000" b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endfor</a:t>
            </a:r>
            <a:endParaRPr lang="en-US" sz="2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//end-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endParaRPr lang="en-US" sz="2000" b="1" i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48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40604"/>
            <a:ext cx="10058400" cy="759871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4. </a:t>
            </a:r>
            <a:r>
              <a:rPr lang="en-US" dirty="0" err="1" smtClean="0">
                <a:solidFill>
                  <a:srgbClr val="0070C0"/>
                </a:solidFill>
              </a:rPr>
              <a:t>Tìm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kiếm</a:t>
            </a:r>
            <a:r>
              <a:rPr lang="en-US" dirty="0">
                <a:solidFill>
                  <a:srgbClr val="0070C0"/>
                </a:solidFill>
              </a:rPr>
              <a:t> x </a:t>
            </a:r>
            <a:r>
              <a:rPr lang="en-US" dirty="0" err="1">
                <a:solidFill>
                  <a:srgbClr val="0070C0"/>
                </a:solidFill>
              </a:rPr>
              <a:t>trên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dslk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2319690" y="1066948"/>
            <a:ext cx="8046719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Node </a:t>
            </a: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*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searchSList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SList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l,int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x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)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//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duyệt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list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bằng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while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endParaRPr lang="en-US" sz="11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  <a:endParaRPr lang="en-US" sz="11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Node </a:t>
            </a: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*p;</a:t>
            </a:r>
            <a:endParaRPr lang="en-US" sz="11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p=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l.head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  <a:endParaRPr lang="en-US" sz="11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while(p)</a:t>
            </a:r>
            <a:endParaRPr lang="en-US" sz="11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{</a:t>
            </a:r>
            <a:endParaRPr lang="en-US" sz="11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	if(</a:t>
            </a:r>
            <a:r>
              <a:rPr lang="en-US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p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info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==</a:t>
            </a:r>
            <a:r>
              <a:rPr lang="en-US" b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x)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	</a:t>
            </a:r>
            <a:r>
              <a:rPr lang="en-US" b="1" smtClean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		return </a:t>
            </a: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p;</a:t>
            </a:r>
            <a:endParaRPr lang="en-US" sz="1100" b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		p=</a:t>
            </a:r>
            <a:r>
              <a:rPr lang="en-US" b="1" dirty="0" err="1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p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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next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  <a:endParaRPr lang="en-US" sz="1100" b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	}</a:t>
            </a:r>
            <a:endParaRPr lang="en-US" sz="1100" b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	return NULL;</a:t>
            </a:r>
            <a:endParaRPr lang="en-US" sz="1100" b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19690" y="4517911"/>
            <a:ext cx="8046719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Node </a:t>
            </a: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*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searchSList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SList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l,int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x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) 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//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duyệt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list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bằng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for</a:t>
            </a:r>
            <a:endParaRPr lang="en-US" sz="11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  <a:endParaRPr lang="en-US" sz="1100" b="1" dirty="0">
              <a:latin typeface="Arial" pitchFamily="34" charset="0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for(Node </a:t>
            </a: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*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p=</a:t>
            </a:r>
            <a:r>
              <a:rPr lang="en-US" b="1" dirty="0" err="1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l.head;p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!=NULL, p=p-&gt;next)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if(p-&gt;info==x)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	return p;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return NULL; </a:t>
            </a:r>
            <a:r>
              <a:rPr lang="en-US" b="1" dirty="0"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endParaRPr lang="en-US" b="1" dirty="0" smtClean="0"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Courier New" pitchFamily="49" charset="0"/>
                <a:ea typeface="Arial Unicode MS" pitchFamily="34" charset="-128"/>
                <a:cs typeface="Courier New" pitchFamily="49" charset="0"/>
                <a:sym typeface="Wingdings" pitchFamily="2" charset="2"/>
              </a:rPr>
              <a:t>}</a:t>
            </a:r>
            <a:endParaRPr lang="en-US" b="1" dirty="0">
              <a:latin typeface="Courier New" pitchFamily="49" charset="0"/>
              <a:ea typeface="Arial Unicode MS" pitchFamily="34" charset="-128"/>
              <a:cs typeface="Courier New" pitchFamily="49" charset="0"/>
              <a:sym typeface="Wingdings" pitchFamily="2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7398" y="1058779"/>
            <a:ext cx="1414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/>
              <a:t>Cách 1:</a:t>
            </a:r>
            <a:endParaRPr lang="en-US" sz="2800" b="1"/>
          </a:p>
        </p:txBody>
      </p:sp>
      <p:sp>
        <p:nvSpPr>
          <p:cNvPr id="9" name="TextBox 8"/>
          <p:cNvSpPr txBox="1"/>
          <p:nvPr/>
        </p:nvSpPr>
        <p:spPr>
          <a:xfrm>
            <a:off x="837398" y="4235116"/>
            <a:ext cx="1414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/>
              <a:t>Cách 2: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98182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462" y="475737"/>
            <a:ext cx="9142124" cy="71438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5.Thêm </a:t>
            </a:r>
            <a:r>
              <a:rPr lang="en-US" dirty="0">
                <a:solidFill>
                  <a:srgbClr val="0070C0"/>
                </a:solidFill>
              </a:rPr>
              <a:t>node </a:t>
            </a:r>
            <a:r>
              <a:rPr lang="en-US" dirty="0" err="1">
                <a:solidFill>
                  <a:srgbClr val="0070C0"/>
                </a:solidFill>
              </a:rPr>
              <a:t>vào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đầu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dslk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1014" y="1190117"/>
            <a:ext cx="6773309" cy="4893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addHeadSList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&amp;l,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p)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if(p==NULL)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return; </a:t>
            </a:r>
            <a:r>
              <a:rPr lang="en-US" sz="2400" b="1" i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 </a:t>
            </a:r>
            <a:r>
              <a:rPr lang="en-US" sz="24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rỗng</a:t>
            </a:r>
            <a:r>
              <a:rPr lang="en-US" sz="24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thì</a:t>
            </a:r>
            <a:r>
              <a:rPr lang="en-US" sz="24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không</a:t>
            </a:r>
            <a:r>
              <a:rPr lang="en-US" sz="24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thêm</a:t>
            </a:r>
            <a:endParaRPr lang="en-US" sz="2400" b="1" i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NULL) </a:t>
            </a:r>
            <a:r>
              <a:rPr lang="en-US" sz="2400" b="1" i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//ds </a:t>
            </a:r>
            <a:r>
              <a:rPr lang="en-US" sz="24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rỗng</a:t>
            </a:r>
            <a:endParaRPr lang="en-US" sz="2400" b="1" i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p-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6999021" y="3035788"/>
            <a:ext cx="5204033" cy="1571636"/>
            <a:chOff x="1410" y="2714"/>
            <a:chExt cx="7425" cy="1856"/>
          </a:xfrm>
        </p:grpSpPr>
        <p:sp>
          <p:nvSpPr>
            <p:cNvPr id="1028" name="Text Box 4"/>
            <p:cNvSpPr txBox="1">
              <a:spLocks noChangeArrowheads="1"/>
            </p:cNvSpPr>
            <p:nvPr/>
          </p:nvSpPr>
          <p:spPr bwMode="auto">
            <a:xfrm>
              <a:off x="8308" y="3706"/>
              <a:ext cx="527" cy="35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900" b="1">
                  <a:latin typeface="Calibri" pitchFamily="34" charset="0"/>
                  <a:cs typeface="Arial" pitchFamily="34" charset="0"/>
                </a:rPr>
                <a:t>NULL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9" name="Text Box 5"/>
            <p:cNvSpPr txBox="1">
              <a:spLocks noChangeArrowheads="1"/>
            </p:cNvSpPr>
            <p:nvPr/>
          </p:nvSpPr>
          <p:spPr bwMode="auto">
            <a:xfrm>
              <a:off x="1502" y="2865"/>
              <a:ext cx="928" cy="34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 dirty="0" smtClean="0">
                  <a:latin typeface="Calibri" pitchFamily="34" charset="0"/>
                  <a:cs typeface="Arial" pitchFamily="34" charset="0"/>
                </a:rPr>
                <a:t>head</a:t>
              </a:r>
              <a:endParaRPr lang="en-US" sz="28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0" name="Line 6"/>
            <p:cNvSpPr>
              <a:spLocks noChangeShapeType="1"/>
            </p:cNvSpPr>
            <p:nvPr/>
          </p:nvSpPr>
          <p:spPr bwMode="auto">
            <a:xfrm>
              <a:off x="2369" y="4379"/>
              <a:ext cx="518" cy="1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 b="1"/>
            </a:p>
          </p:txBody>
        </p:sp>
        <p:sp>
          <p:nvSpPr>
            <p:cNvPr id="1031" name="Text Box 7"/>
            <p:cNvSpPr txBox="1">
              <a:spLocks noChangeArrowheads="1"/>
            </p:cNvSpPr>
            <p:nvPr/>
          </p:nvSpPr>
          <p:spPr bwMode="auto">
            <a:xfrm>
              <a:off x="2906" y="4249"/>
              <a:ext cx="720" cy="28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900" b="1">
                  <a:latin typeface="Calibri" pitchFamily="34" charset="0"/>
                  <a:cs typeface="Arial" pitchFamily="34" charset="0"/>
                </a:rPr>
                <a:t>NULL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2" name="Line 8"/>
            <p:cNvSpPr>
              <a:spLocks noChangeShapeType="1"/>
            </p:cNvSpPr>
            <p:nvPr/>
          </p:nvSpPr>
          <p:spPr bwMode="auto">
            <a:xfrm>
              <a:off x="2147" y="3241"/>
              <a:ext cx="900" cy="54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 b="1"/>
            </a:p>
          </p:txBody>
        </p:sp>
        <p:sp>
          <p:nvSpPr>
            <p:cNvPr id="1033" name="Text Box 9"/>
            <p:cNvSpPr txBox="1">
              <a:spLocks noChangeArrowheads="1"/>
            </p:cNvSpPr>
            <p:nvPr/>
          </p:nvSpPr>
          <p:spPr bwMode="auto">
            <a:xfrm>
              <a:off x="1485" y="4138"/>
              <a:ext cx="792" cy="432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>
                  <a:latin typeface="Calibri" pitchFamily="34" charset="0"/>
                  <a:cs typeface="Arial" pitchFamily="34" charset="0"/>
                </a:rPr>
                <a:t>4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" name="Text Box 10"/>
            <p:cNvSpPr txBox="1">
              <a:spLocks noChangeArrowheads="1"/>
            </p:cNvSpPr>
            <p:nvPr/>
          </p:nvSpPr>
          <p:spPr bwMode="auto">
            <a:xfrm>
              <a:off x="2268" y="4138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5" name="Text Box 11"/>
            <p:cNvSpPr txBox="1">
              <a:spLocks noChangeArrowheads="1"/>
            </p:cNvSpPr>
            <p:nvPr/>
          </p:nvSpPr>
          <p:spPr bwMode="auto">
            <a:xfrm>
              <a:off x="6902" y="3610"/>
              <a:ext cx="792" cy="432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>
                  <a:latin typeface="Calibri" pitchFamily="34" charset="0"/>
                  <a:cs typeface="Arial" pitchFamily="34" charset="0"/>
                </a:rPr>
                <a:t>3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6" name="Text Box 12"/>
            <p:cNvSpPr txBox="1">
              <a:spLocks noChangeArrowheads="1"/>
            </p:cNvSpPr>
            <p:nvPr/>
          </p:nvSpPr>
          <p:spPr bwMode="auto">
            <a:xfrm>
              <a:off x="7685" y="3610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7" name="Line 13"/>
            <p:cNvSpPr>
              <a:spLocks noChangeShapeType="1"/>
            </p:cNvSpPr>
            <p:nvPr/>
          </p:nvSpPr>
          <p:spPr bwMode="auto">
            <a:xfrm>
              <a:off x="7756" y="3824"/>
              <a:ext cx="518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 b="1"/>
            </a:p>
          </p:txBody>
        </p:sp>
        <p:sp>
          <p:nvSpPr>
            <p:cNvPr id="1038" name="Text Box 14"/>
            <p:cNvSpPr txBox="1">
              <a:spLocks noChangeArrowheads="1"/>
            </p:cNvSpPr>
            <p:nvPr/>
          </p:nvSpPr>
          <p:spPr bwMode="auto">
            <a:xfrm>
              <a:off x="6045" y="2714"/>
              <a:ext cx="72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 dirty="0" smtClean="0">
                  <a:latin typeface="Calibri" pitchFamily="34" charset="0"/>
                  <a:cs typeface="Arial" pitchFamily="34" charset="0"/>
                </a:rPr>
                <a:t>tail</a:t>
              </a:r>
              <a:endParaRPr lang="en-US" sz="28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9" name="Text Box 15"/>
            <p:cNvSpPr txBox="1">
              <a:spLocks noChangeArrowheads="1"/>
            </p:cNvSpPr>
            <p:nvPr/>
          </p:nvSpPr>
          <p:spPr bwMode="auto">
            <a:xfrm>
              <a:off x="3034" y="3610"/>
              <a:ext cx="792" cy="432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>
                  <a:latin typeface="Calibri" pitchFamily="34" charset="0"/>
                  <a:cs typeface="Arial" pitchFamily="34" charset="0"/>
                </a:rPr>
                <a:t>2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0" name="Text Box 16"/>
            <p:cNvSpPr txBox="1">
              <a:spLocks noChangeArrowheads="1"/>
            </p:cNvSpPr>
            <p:nvPr/>
          </p:nvSpPr>
          <p:spPr bwMode="auto">
            <a:xfrm>
              <a:off x="3817" y="3610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1" name="Text Box 17"/>
            <p:cNvSpPr txBox="1">
              <a:spLocks noChangeArrowheads="1"/>
            </p:cNvSpPr>
            <p:nvPr/>
          </p:nvSpPr>
          <p:spPr bwMode="auto">
            <a:xfrm>
              <a:off x="4965" y="3610"/>
              <a:ext cx="792" cy="432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>
                  <a:latin typeface="Calibri" pitchFamily="34" charset="0"/>
                  <a:cs typeface="Arial" pitchFamily="34" charset="0"/>
                </a:rPr>
                <a:t>5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2" name="Text Box 18"/>
            <p:cNvSpPr txBox="1">
              <a:spLocks noChangeArrowheads="1"/>
            </p:cNvSpPr>
            <p:nvPr/>
          </p:nvSpPr>
          <p:spPr bwMode="auto">
            <a:xfrm>
              <a:off x="5748" y="3610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3" name="Line 19"/>
            <p:cNvSpPr>
              <a:spLocks noChangeShapeType="1"/>
            </p:cNvSpPr>
            <p:nvPr/>
          </p:nvSpPr>
          <p:spPr bwMode="auto">
            <a:xfrm>
              <a:off x="6765" y="3061"/>
              <a:ext cx="36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 b="1"/>
            </a:p>
          </p:txBody>
        </p:sp>
        <p:sp>
          <p:nvSpPr>
            <p:cNvPr id="1044" name="Line 20"/>
            <p:cNvSpPr>
              <a:spLocks noChangeShapeType="1"/>
            </p:cNvSpPr>
            <p:nvPr/>
          </p:nvSpPr>
          <p:spPr bwMode="auto">
            <a:xfrm>
              <a:off x="1650" y="3241"/>
              <a:ext cx="0" cy="9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 b="1"/>
            </a:p>
          </p:txBody>
        </p:sp>
        <p:sp>
          <p:nvSpPr>
            <p:cNvPr id="1045" name="Text Box 21"/>
            <p:cNvSpPr txBox="1">
              <a:spLocks noChangeArrowheads="1"/>
            </p:cNvSpPr>
            <p:nvPr/>
          </p:nvSpPr>
          <p:spPr bwMode="auto">
            <a:xfrm>
              <a:off x="2475" y="3784"/>
              <a:ext cx="18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r" defTabSz="914400" fontAlgn="base">
                <a:spcBef>
                  <a:spcPts val="600"/>
                </a:spcBef>
                <a:spcAft>
                  <a:spcPts val="1000"/>
                </a:spcAft>
              </a:pPr>
              <a:r>
                <a:rPr lang="en-US" sz="1200" b="1">
                  <a:latin typeface="Calibri" pitchFamily="34" charset="0"/>
                  <a:cs typeface="Arial" pitchFamily="34" charset="0"/>
                </a:rPr>
                <a:t>1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6" name="Text Box 22"/>
            <p:cNvSpPr txBox="1">
              <a:spLocks noChangeArrowheads="1"/>
            </p:cNvSpPr>
            <p:nvPr/>
          </p:nvSpPr>
          <p:spPr bwMode="auto">
            <a:xfrm>
              <a:off x="1410" y="3421"/>
              <a:ext cx="18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200" b="1">
                  <a:latin typeface="Calibri" pitchFamily="34" charset="0"/>
                  <a:cs typeface="Arial" pitchFamily="34" charset="0"/>
                </a:rPr>
                <a:t>2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auto">
            <a:xfrm>
              <a:off x="2325" y="3841"/>
              <a:ext cx="630" cy="540"/>
            </a:xfrm>
            <a:custGeom>
              <a:avLst/>
              <a:gdLst/>
              <a:ahLst/>
              <a:cxnLst>
                <a:cxn ang="0">
                  <a:pos x="90" y="540"/>
                </a:cxn>
                <a:cxn ang="0">
                  <a:pos x="90" y="180"/>
                </a:cxn>
                <a:cxn ang="0">
                  <a:pos x="630" y="0"/>
                </a:cxn>
              </a:cxnLst>
              <a:rect l="0" t="0" r="r" b="b"/>
              <a:pathLst>
                <a:path w="630" h="540">
                  <a:moveTo>
                    <a:pt x="90" y="540"/>
                  </a:moveTo>
                  <a:cubicBezTo>
                    <a:pt x="45" y="405"/>
                    <a:pt x="0" y="270"/>
                    <a:pt x="90" y="180"/>
                  </a:cubicBezTo>
                  <a:cubicBezTo>
                    <a:pt x="180" y="90"/>
                    <a:pt x="405" y="45"/>
                    <a:pt x="630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 b="1"/>
            </a:p>
          </p:txBody>
        </p:sp>
        <p:sp>
          <p:nvSpPr>
            <p:cNvPr id="1048" name="Line 24"/>
            <p:cNvSpPr>
              <a:spLocks noChangeShapeType="1"/>
            </p:cNvSpPr>
            <p:nvPr/>
          </p:nvSpPr>
          <p:spPr bwMode="auto">
            <a:xfrm>
              <a:off x="3900" y="3811"/>
              <a:ext cx="10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 b="1"/>
            </a:p>
          </p:txBody>
        </p:sp>
        <p:sp>
          <p:nvSpPr>
            <p:cNvPr id="1049" name="Line 25"/>
            <p:cNvSpPr>
              <a:spLocks noChangeShapeType="1"/>
            </p:cNvSpPr>
            <p:nvPr/>
          </p:nvSpPr>
          <p:spPr bwMode="auto">
            <a:xfrm>
              <a:off x="5835" y="3826"/>
              <a:ext cx="10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 b="1"/>
            </a:p>
          </p:txBody>
        </p:sp>
      </p:grpSp>
    </p:spTree>
    <p:extLst>
      <p:ext uri="{BB962C8B-B14F-4D97-AF65-F5344CB8AC3E}">
        <p14:creationId xmlns:p14="http://schemas.microsoft.com/office/powerpoint/2010/main" val="327715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414" y="474775"/>
            <a:ext cx="8286808" cy="71438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6.Thêm </a:t>
            </a:r>
            <a:r>
              <a:rPr lang="en-US" dirty="0">
                <a:solidFill>
                  <a:srgbClr val="0070C0"/>
                </a:solidFill>
              </a:rPr>
              <a:t>node </a:t>
            </a:r>
            <a:r>
              <a:rPr lang="en-US" dirty="0" err="1">
                <a:solidFill>
                  <a:srgbClr val="0070C0"/>
                </a:solidFill>
              </a:rPr>
              <a:t>vào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cuối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dslk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tt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9334" y="1194270"/>
            <a:ext cx="7229154" cy="5262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addTailSList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&amp;l,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p)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if(p==NULL)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-&gt;next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6710260" y="1928346"/>
            <a:ext cx="5304832" cy="1389583"/>
            <a:chOff x="3081" y="7895"/>
            <a:chExt cx="7574" cy="1423"/>
          </a:xfrm>
        </p:grpSpPr>
        <p:sp>
          <p:nvSpPr>
            <p:cNvPr id="2052" name="Text Box 4"/>
            <p:cNvSpPr txBox="1">
              <a:spLocks noChangeArrowheads="1"/>
            </p:cNvSpPr>
            <p:nvPr/>
          </p:nvSpPr>
          <p:spPr bwMode="auto">
            <a:xfrm>
              <a:off x="10137" y="8411"/>
              <a:ext cx="518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800" b="1">
                  <a:latin typeface="Calibri" pitchFamily="34" charset="0"/>
                  <a:cs typeface="Arial" pitchFamily="34" charset="0"/>
                </a:rPr>
                <a:t>NULL</a:t>
              </a: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3" name="Text Box 5"/>
            <p:cNvSpPr txBox="1">
              <a:spLocks noChangeArrowheads="1"/>
            </p:cNvSpPr>
            <p:nvPr/>
          </p:nvSpPr>
          <p:spPr bwMode="auto">
            <a:xfrm>
              <a:off x="9031" y="8967"/>
              <a:ext cx="634" cy="35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800" b="1">
                  <a:latin typeface="Calibri" pitchFamily="34" charset="0"/>
                  <a:cs typeface="Arial" pitchFamily="34" charset="0"/>
                </a:rPr>
                <a:t>NULL</a:t>
              </a: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4" name="Text Box 6"/>
            <p:cNvSpPr txBox="1">
              <a:spLocks noChangeArrowheads="1"/>
            </p:cNvSpPr>
            <p:nvPr/>
          </p:nvSpPr>
          <p:spPr bwMode="auto">
            <a:xfrm>
              <a:off x="3081" y="8132"/>
              <a:ext cx="944" cy="34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400" b="1" dirty="0" smtClean="0">
                  <a:latin typeface="Calibri" pitchFamily="34" charset="0"/>
                  <a:cs typeface="Arial" pitchFamily="34" charset="0"/>
                </a:rPr>
                <a:t>head</a:t>
              </a:r>
              <a:endParaRPr lang="en-US" sz="2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5" name="Line 7"/>
            <p:cNvSpPr>
              <a:spLocks noChangeShapeType="1"/>
            </p:cNvSpPr>
            <p:nvPr/>
          </p:nvSpPr>
          <p:spPr bwMode="auto">
            <a:xfrm>
              <a:off x="7502" y="8296"/>
              <a:ext cx="303" cy="54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b="1"/>
            </a:p>
          </p:txBody>
        </p:sp>
        <p:sp>
          <p:nvSpPr>
            <p:cNvPr id="2056" name="Text Box 8"/>
            <p:cNvSpPr txBox="1">
              <a:spLocks noChangeArrowheads="1"/>
            </p:cNvSpPr>
            <p:nvPr/>
          </p:nvSpPr>
          <p:spPr bwMode="auto">
            <a:xfrm>
              <a:off x="9155" y="7895"/>
              <a:ext cx="154" cy="44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r" defTabSz="914400" fontAlgn="base">
                <a:spcBef>
                  <a:spcPts val="600"/>
                </a:spcBef>
                <a:spcAft>
                  <a:spcPts val="1000"/>
                </a:spcAft>
              </a:pPr>
              <a:r>
                <a:rPr lang="en-US" sz="1100" b="1" dirty="0">
                  <a:latin typeface="Calibri" pitchFamily="34" charset="0"/>
                  <a:cs typeface="Arial" pitchFamily="34" charset="0"/>
                </a:rPr>
                <a:t>p</a:t>
              </a:r>
              <a:endParaRPr lang="en-US" sz="2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8869" y="8305"/>
              <a:ext cx="792" cy="432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400" b="1">
                  <a:latin typeface="Calibri" pitchFamily="34" charset="0"/>
                  <a:cs typeface="Arial" pitchFamily="34" charset="0"/>
                </a:rPr>
                <a:t>4</a:t>
              </a: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8" name="Text Box 10"/>
            <p:cNvSpPr txBox="1">
              <a:spLocks noChangeArrowheads="1"/>
            </p:cNvSpPr>
            <p:nvPr/>
          </p:nvSpPr>
          <p:spPr bwMode="auto">
            <a:xfrm>
              <a:off x="9652" y="8305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" name="Line 11"/>
            <p:cNvSpPr>
              <a:spLocks noChangeShapeType="1"/>
            </p:cNvSpPr>
            <p:nvPr/>
          </p:nvSpPr>
          <p:spPr bwMode="auto">
            <a:xfrm>
              <a:off x="9689" y="8531"/>
              <a:ext cx="42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b="1"/>
            </a:p>
          </p:txBody>
        </p:sp>
        <p:sp>
          <p:nvSpPr>
            <p:cNvPr id="2060" name="Text Box 12"/>
            <p:cNvSpPr txBox="1">
              <a:spLocks noChangeArrowheads="1"/>
            </p:cNvSpPr>
            <p:nvPr/>
          </p:nvSpPr>
          <p:spPr bwMode="auto">
            <a:xfrm>
              <a:off x="7618" y="8845"/>
              <a:ext cx="792" cy="432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400" b="1">
                  <a:latin typeface="Calibri" pitchFamily="34" charset="0"/>
                  <a:cs typeface="Arial" pitchFamily="34" charset="0"/>
                </a:rPr>
                <a:t>3</a:t>
              </a: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1" name="Text Box 13"/>
            <p:cNvSpPr txBox="1">
              <a:spLocks noChangeArrowheads="1"/>
            </p:cNvSpPr>
            <p:nvPr/>
          </p:nvSpPr>
          <p:spPr bwMode="auto">
            <a:xfrm>
              <a:off x="8417" y="8845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2" name="Text Box 14"/>
            <p:cNvSpPr txBox="1">
              <a:spLocks noChangeArrowheads="1"/>
            </p:cNvSpPr>
            <p:nvPr/>
          </p:nvSpPr>
          <p:spPr bwMode="auto">
            <a:xfrm>
              <a:off x="6897" y="7936"/>
              <a:ext cx="655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400" b="1" dirty="0" smtClean="0">
                  <a:latin typeface="Calibri" pitchFamily="34" charset="0"/>
                  <a:cs typeface="Arial" pitchFamily="34" charset="0"/>
                </a:rPr>
                <a:t>tail</a:t>
              </a:r>
              <a:endParaRPr lang="en-US" sz="2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3" name="Line 15"/>
            <p:cNvSpPr>
              <a:spLocks noChangeShapeType="1"/>
            </p:cNvSpPr>
            <p:nvPr/>
          </p:nvSpPr>
          <p:spPr bwMode="auto">
            <a:xfrm>
              <a:off x="3623" y="8521"/>
              <a:ext cx="756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b="1"/>
            </a:p>
          </p:txBody>
        </p:sp>
        <p:sp>
          <p:nvSpPr>
            <p:cNvPr id="2064" name="Text Box 16"/>
            <p:cNvSpPr txBox="1">
              <a:spLocks noChangeArrowheads="1"/>
            </p:cNvSpPr>
            <p:nvPr/>
          </p:nvSpPr>
          <p:spPr bwMode="auto">
            <a:xfrm>
              <a:off x="4368" y="8845"/>
              <a:ext cx="792" cy="432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400" b="1">
                  <a:latin typeface="Calibri" pitchFamily="34" charset="0"/>
                  <a:cs typeface="Arial" pitchFamily="34" charset="0"/>
                </a:rPr>
                <a:t>2</a:t>
              </a: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5" name="Text Box 17"/>
            <p:cNvSpPr txBox="1">
              <a:spLocks noChangeArrowheads="1"/>
            </p:cNvSpPr>
            <p:nvPr/>
          </p:nvSpPr>
          <p:spPr bwMode="auto">
            <a:xfrm>
              <a:off x="5155" y="8845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6" name="Text Box 18"/>
            <p:cNvSpPr txBox="1">
              <a:spLocks noChangeArrowheads="1"/>
            </p:cNvSpPr>
            <p:nvPr/>
          </p:nvSpPr>
          <p:spPr bwMode="auto">
            <a:xfrm>
              <a:off x="5990" y="8845"/>
              <a:ext cx="792" cy="432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400" b="1">
                  <a:latin typeface="Calibri" pitchFamily="34" charset="0"/>
                  <a:cs typeface="Arial" pitchFamily="34" charset="0"/>
                </a:rPr>
                <a:t>5</a:t>
              </a: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7" name="Text Box 19"/>
            <p:cNvSpPr txBox="1">
              <a:spLocks noChangeArrowheads="1"/>
            </p:cNvSpPr>
            <p:nvPr/>
          </p:nvSpPr>
          <p:spPr bwMode="auto">
            <a:xfrm>
              <a:off x="6774" y="8845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8" name="Text Box 20"/>
            <p:cNvSpPr txBox="1">
              <a:spLocks noChangeArrowheads="1"/>
            </p:cNvSpPr>
            <p:nvPr/>
          </p:nvSpPr>
          <p:spPr bwMode="auto">
            <a:xfrm>
              <a:off x="8550" y="8416"/>
              <a:ext cx="16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r" defTabSz="914400" fontAlgn="base">
                <a:spcBef>
                  <a:spcPts val="600"/>
                </a:spcBef>
                <a:spcAft>
                  <a:spcPts val="1000"/>
                </a:spcAft>
              </a:pPr>
              <a:r>
                <a:rPr lang="en-US" sz="1100" b="1">
                  <a:latin typeface="Calibri" pitchFamily="34" charset="0"/>
                  <a:cs typeface="Arial" pitchFamily="34" charset="0"/>
                </a:rPr>
                <a:t>1</a:t>
              </a:r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9" name="Line 21"/>
            <p:cNvSpPr>
              <a:spLocks noChangeShapeType="1"/>
            </p:cNvSpPr>
            <p:nvPr/>
          </p:nvSpPr>
          <p:spPr bwMode="auto">
            <a:xfrm>
              <a:off x="7592" y="8146"/>
              <a:ext cx="1277" cy="1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b="1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>
              <a:off x="6891" y="9062"/>
              <a:ext cx="7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b="1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>
              <a:off x="5241" y="9077"/>
              <a:ext cx="7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b="1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8466" y="9076"/>
              <a:ext cx="540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b="1"/>
            </a:p>
          </p:txBody>
        </p:sp>
        <p:sp>
          <p:nvSpPr>
            <p:cNvPr id="2073" name="Freeform 25"/>
            <p:cNvSpPr>
              <a:spLocks/>
            </p:cNvSpPr>
            <p:nvPr/>
          </p:nvSpPr>
          <p:spPr bwMode="auto">
            <a:xfrm>
              <a:off x="8435" y="8431"/>
              <a:ext cx="420" cy="540"/>
            </a:xfrm>
            <a:custGeom>
              <a:avLst/>
              <a:gdLst/>
              <a:ahLst/>
              <a:cxnLst>
                <a:cxn ang="0">
                  <a:pos x="60" y="540"/>
                </a:cxn>
                <a:cxn ang="0">
                  <a:pos x="60" y="180"/>
                </a:cxn>
                <a:cxn ang="0">
                  <a:pos x="420" y="0"/>
                </a:cxn>
              </a:cxnLst>
              <a:rect l="0" t="0" r="r" b="b"/>
              <a:pathLst>
                <a:path w="420" h="540">
                  <a:moveTo>
                    <a:pt x="60" y="540"/>
                  </a:moveTo>
                  <a:cubicBezTo>
                    <a:pt x="30" y="405"/>
                    <a:pt x="0" y="270"/>
                    <a:pt x="60" y="180"/>
                  </a:cubicBezTo>
                  <a:cubicBezTo>
                    <a:pt x="120" y="90"/>
                    <a:pt x="270" y="45"/>
                    <a:pt x="420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b="1"/>
            </a:p>
          </p:txBody>
        </p:sp>
      </p:grpSp>
    </p:spTree>
    <p:extLst>
      <p:ext uri="{BB962C8B-B14F-4D97-AF65-F5344CB8AC3E}">
        <p14:creationId xmlns:p14="http://schemas.microsoft.com/office/powerpoint/2010/main" val="232990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469" y="433518"/>
            <a:ext cx="10357470" cy="71438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7. </a:t>
            </a:r>
            <a:r>
              <a:rPr lang="en-US" dirty="0" err="1">
                <a:solidFill>
                  <a:srgbClr val="0070C0"/>
                </a:solidFill>
              </a:rPr>
              <a:t>Thêm</a:t>
            </a:r>
            <a:r>
              <a:rPr lang="en-US" dirty="0">
                <a:solidFill>
                  <a:srgbClr val="0070C0"/>
                </a:solidFill>
              </a:rPr>
              <a:t> node </a:t>
            </a:r>
            <a:r>
              <a:rPr lang="en-US" dirty="0" smtClean="0">
                <a:solidFill>
                  <a:srgbClr val="0070C0"/>
                </a:solidFill>
              </a:rPr>
              <a:t>p </a:t>
            </a:r>
            <a:r>
              <a:rPr lang="en-US" dirty="0" err="1" smtClean="0">
                <a:solidFill>
                  <a:srgbClr val="0070C0"/>
                </a:solidFill>
              </a:rPr>
              <a:t>vào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sau</a:t>
            </a:r>
            <a:r>
              <a:rPr lang="en-US" dirty="0" smtClean="0">
                <a:solidFill>
                  <a:srgbClr val="0070C0"/>
                </a:solidFill>
              </a:rPr>
              <a:t> node q </a:t>
            </a:r>
            <a:r>
              <a:rPr lang="en-US" err="1" smtClean="0">
                <a:solidFill>
                  <a:srgbClr val="0070C0"/>
                </a:solidFill>
              </a:rPr>
              <a:t>của</a:t>
            </a:r>
            <a:r>
              <a:rPr lang="en-US" smtClean="0">
                <a:solidFill>
                  <a:srgbClr val="0070C0"/>
                </a:solidFill>
              </a:rPr>
              <a:t> dslk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1834" y="1151088"/>
            <a:ext cx="8407618" cy="5016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addAfterNodeSList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&amp;l,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q, Node* p)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if(p==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NULL || q==NULL)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)// 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if(q==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addTailSList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l,p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p-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q-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q-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470484" y="2378413"/>
            <a:ext cx="5623249" cy="2065161"/>
            <a:chOff x="6277984" y="2436165"/>
            <a:chExt cx="5623249" cy="2065161"/>
          </a:xfrm>
        </p:grpSpPr>
        <p:grpSp>
          <p:nvGrpSpPr>
            <p:cNvPr id="3074" name="Group 2"/>
            <p:cNvGrpSpPr>
              <a:grpSpLocks/>
            </p:cNvGrpSpPr>
            <p:nvPr/>
          </p:nvGrpSpPr>
          <p:grpSpPr bwMode="auto">
            <a:xfrm>
              <a:off x="6277984" y="2436165"/>
              <a:ext cx="5623249" cy="1643074"/>
              <a:chOff x="3007" y="8813"/>
              <a:chExt cx="7393" cy="2250"/>
            </a:xfrm>
          </p:grpSpPr>
          <p:sp>
            <p:nvSpPr>
              <p:cNvPr id="3076" name="Text Box 4"/>
              <p:cNvSpPr txBox="1">
                <a:spLocks noChangeArrowheads="1"/>
              </p:cNvSpPr>
              <p:nvPr/>
            </p:nvSpPr>
            <p:spPr bwMode="auto">
              <a:xfrm>
                <a:off x="9813" y="9831"/>
                <a:ext cx="587" cy="3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800" b="1">
                    <a:latin typeface="Calibri" pitchFamily="34" charset="0"/>
                    <a:cs typeface="Arial" pitchFamily="34" charset="0"/>
                  </a:rPr>
                  <a:t>NULL</a:t>
                </a: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77" name="Text Box 5"/>
              <p:cNvSpPr txBox="1">
                <a:spLocks noChangeArrowheads="1"/>
              </p:cNvSpPr>
              <p:nvPr/>
            </p:nvSpPr>
            <p:spPr bwMode="auto">
              <a:xfrm>
                <a:off x="8958" y="10713"/>
                <a:ext cx="587" cy="3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800" b="1">
                    <a:latin typeface="Calibri" pitchFamily="34" charset="0"/>
                    <a:cs typeface="Arial" pitchFamily="34" charset="0"/>
                  </a:rPr>
                  <a:t>NULL</a:t>
                </a: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78" name="Text Box 6"/>
              <p:cNvSpPr txBox="1">
                <a:spLocks noChangeArrowheads="1"/>
              </p:cNvSpPr>
              <p:nvPr/>
            </p:nvSpPr>
            <p:spPr bwMode="auto">
              <a:xfrm>
                <a:off x="3007" y="8964"/>
                <a:ext cx="853" cy="38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1400" b="1" dirty="0" smtClean="0">
                    <a:latin typeface="Calibri" pitchFamily="34" charset="0"/>
                    <a:cs typeface="Arial" pitchFamily="34" charset="0"/>
                  </a:rPr>
                  <a:t>head</a:t>
                </a:r>
                <a:endParaRPr lang="en-US" sz="2400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79" name="Line 7"/>
              <p:cNvSpPr>
                <a:spLocks noChangeShapeType="1"/>
              </p:cNvSpPr>
              <p:nvPr/>
            </p:nvSpPr>
            <p:spPr bwMode="auto">
              <a:xfrm>
                <a:off x="8406" y="10842"/>
                <a:ext cx="518" cy="1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b="1"/>
              </a:p>
            </p:txBody>
          </p:sp>
          <p:sp>
            <p:nvSpPr>
              <p:cNvPr id="3080" name="Text Box 8"/>
              <p:cNvSpPr txBox="1">
                <a:spLocks noChangeArrowheads="1"/>
              </p:cNvSpPr>
              <p:nvPr/>
            </p:nvSpPr>
            <p:spPr bwMode="auto">
              <a:xfrm>
                <a:off x="8407" y="9719"/>
                <a:ext cx="792" cy="432"/>
              </a:xfrm>
              <a:prstGeom prst="rect">
                <a:avLst/>
              </a:pr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</a:gra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1400" b="1">
                    <a:latin typeface="Calibri" pitchFamily="34" charset="0"/>
                    <a:cs typeface="Arial" pitchFamily="34" charset="0"/>
                  </a:rPr>
                  <a:t>3</a:t>
                </a: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81" name="Text Box 9"/>
              <p:cNvSpPr txBox="1">
                <a:spLocks noChangeArrowheads="1"/>
              </p:cNvSpPr>
              <p:nvPr/>
            </p:nvSpPr>
            <p:spPr bwMode="auto">
              <a:xfrm>
                <a:off x="9192" y="9719"/>
                <a:ext cx="173" cy="432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82" name="Line 10"/>
              <p:cNvSpPr>
                <a:spLocks noChangeShapeType="1"/>
              </p:cNvSpPr>
              <p:nvPr/>
            </p:nvSpPr>
            <p:spPr bwMode="auto">
              <a:xfrm>
                <a:off x="9246" y="9945"/>
                <a:ext cx="518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b="1"/>
              </a:p>
            </p:txBody>
          </p:sp>
          <p:sp>
            <p:nvSpPr>
              <p:cNvPr id="3083" name="Text Box 11"/>
              <p:cNvSpPr txBox="1">
                <a:spLocks noChangeArrowheads="1"/>
              </p:cNvSpPr>
              <p:nvPr/>
            </p:nvSpPr>
            <p:spPr bwMode="auto">
              <a:xfrm>
                <a:off x="7550" y="8813"/>
                <a:ext cx="720" cy="35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1400" b="1" dirty="0" smtClean="0">
                    <a:latin typeface="Calibri" pitchFamily="34" charset="0"/>
                    <a:cs typeface="Arial" pitchFamily="34" charset="0"/>
                  </a:rPr>
                  <a:t>tail</a:t>
                </a:r>
                <a:endParaRPr lang="en-US" sz="2400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84" name="Line 12"/>
              <p:cNvSpPr>
                <a:spLocks noChangeShapeType="1"/>
              </p:cNvSpPr>
              <p:nvPr/>
            </p:nvSpPr>
            <p:spPr bwMode="auto">
              <a:xfrm>
                <a:off x="3652" y="9352"/>
                <a:ext cx="900" cy="5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b="1"/>
              </a:p>
            </p:txBody>
          </p:sp>
          <p:sp>
            <p:nvSpPr>
              <p:cNvPr id="3085" name="Text Box 13"/>
              <p:cNvSpPr txBox="1">
                <a:spLocks noChangeArrowheads="1"/>
              </p:cNvSpPr>
              <p:nvPr/>
            </p:nvSpPr>
            <p:spPr bwMode="auto">
              <a:xfrm>
                <a:off x="4539" y="9719"/>
                <a:ext cx="792" cy="432"/>
              </a:xfrm>
              <a:prstGeom prst="rect">
                <a:avLst/>
              </a:pr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</a:gra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1400" b="1">
                    <a:latin typeface="Calibri" pitchFamily="34" charset="0"/>
                    <a:cs typeface="Arial" pitchFamily="34" charset="0"/>
                  </a:rPr>
                  <a:t>2</a:t>
                </a: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86" name="Text Box 14"/>
              <p:cNvSpPr txBox="1">
                <a:spLocks noChangeArrowheads="1"/>
              </p:cNvSpPr>
              <p:nvPr/>
            </p:nvSpPr>
            <p:spPr bwMode="auto">
              <a:xfrm>
                <a:off x="5337" y="9719"/>
                <a:ext cx="173" cy="432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87" name="Text Box 15"/>
              <p:cNvSpPr txBox="1">
                <a:spLocks noChangeArrowheads="1"/>
              </p:cNvSpPr>
              <p:nvPr/>
            </p:nvSpPr>
            <p:spPr bwMode="auto">
              <a:xfrm>
                <a:off x="6470" y="9719"/>
                <a:ext cx="792" cy="432"/>
              </a:xfrm>
              <a:prstGeom prst="rect">
                <a:avLst/>
              </a:pr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</a:gra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1400" b="1">
                    <a:latin typeface="Calibri" pitchFamily="34" charset="0"/>
                    <a:cs typeface="Arial" pitchFamily="34" charset="0"/>
                  </a:rPr>
                  <a:t>5</a:t>
                </a: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88" name="Text Box 16"/>
              <p:cNvSpPr txBox="1">
                <a:spLocks noChangeArrowheads="1"/>
              </p:cNvSpPr>
              <p:nvPr/>
            </p:nvSpPr>
            <p:spPr bwMode="auto">
              <a:xfrm>
                <a:off x="7250" y="9719"/>
                <a:ext cx="173" cy="432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89" name="Line 17"/>
              <p:cNvSpPr>
                <a:spLocks noChangeShapeType="1"/>
              </p:cNvSpPr>
              <p:nvPr/>
            </p:nvSpPr>
            <p:spPr bwMode="auto">
              <a:xfrm>
                <a:off x="8270" y="9172"/>
                <a:ext cx="360" cy="53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b="1"/>
              </a:p>
            </p:txBody>
          </p:sp>
          <p:sp>
            <p:nvSpPr>
              <p:cNvPr id="3091" name="Line 19"/>
              <p:cNvSpPr>
                <a:spLocks noChangeShapeType="1"/>
              </p:cNvSpPr>
              <p:nvPr/>
            </p:nvSpPr>
            <p:spPr bwMode="auto">
              <a:xfrm flipV="1">
                <a:off x="6607" y="10070"/>
                <a:ext cx="180" cy="35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b="1"/>
              </a:p>
            </p:txBody>
          </p:sp>
          <p:sp>
            <p:nvSpPr>
              <p:cNvPr id="3092" name="Text Box 20"/>
              <p:cNvSpPr txBox="1">
                <a:spLocks noChangeArrowheads="1"/>
              </p:cNvSpPr>
              <p:nvPr/>
            </p:nvSpPr>
            <p:spPr bwMode="auto">
              <a:xfrm>
                <a:off x="7507" y="10617"/>
                <a:ext cx="792" cy="432"/>
              </a:xfrm>
              <a:prstGeom prst="rect">
                <a:avLst/>
              </a:pr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</a:gra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1400" b="1">
                    <a:latin typeface="Calibri" pitchFamily="34" charset="0"/>
                    <a:cs typeface="Arial" pitchFamily="34" charset="0"/>
                  </a:rPr>
                  <a:t>4</a:t>
                </a: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93" name="Text Box 21"/>
              <p:cNvSpPr txBox="1">
                <a:spLocks noChangeArrowheads="1"/>
              </p:cNvSpPr>
              <p:nvPr/>
            </p:nvSpPr>
            <p:spPr bwMode="auto">
              <a:xfrm>
                <a:off x="8292" y="10617"/>
                <a:ext cx="173" cy="432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94" name="Text Box 22"/>
              <p:cNvSpPr txBox="1">
                <a:spLocks noChangeArrowheads="1"/>
              </p:cNvSpPr>
              <p:nvPr/>
            </p:nvSpPr>
            <p:spPr bwMode="auto">
              <a:xfrm>
                <a:off x="8077" y="10114"/>
                <a:ext cx="180" cy="35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sz="1100" b="1">
                    <a:latin typeface="Calibri" pitchFamily="34" charset="0"/>
                    <a:cs typeface="Arial" pitchFamily="34" charset="0"/>
                  </a:rPr>
                  <a:t>1</a:t>
                </a: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95" name="Text Box 23"/>
              <p:cNvSpPr txBox="1">
                <a:spLocks noChangeArrowheads="1"/>
              </p:cNvSpPr>
              <p:nvPr/>
            </p:nvSpPr>
            <p:spPr bwMode="auto">
              <a:xfrm>
                <a:off x="7132" y="10249"/>
                <a:ext cx="180" cy="35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sz="1100" b="1">
                    <a:latin typeface="Calibri" pitchFamily="34" charset="0"/>
                    <a:cs typeface="Arial" pitchFamily="34" charset="0"/>
                  </a:rPr>
                  <a:t>2</a:t>
                </a:r>
                <a:endParaRPr 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96" name="Freeform 24"/>
              <p:cNvSpPr>
                <a:spLocks/>
              </p:cNvSpPr>
              <p:nvPr/>
            </p:nvSpPr>
            <p:spPr bwMode="auto">
              <a:xfrm>
                <a:off x="6965" y="9995"/>
                <a:ext cx="570" cy="897"/>
              </a:xfrm>
              <a:custGeom>
                <a:avLst/>
                <a:gdLst/>
                <a:ahLst/>
                <a:cxnLst>
                  <a:cxn ang="0">
                    <a:pos x="390" y="0"/>
                  </a:cxn>
                  <a:cxn ang="0">
                    <a:pos x="30" y="720"/>
                  </a:cxn>
                  <a:cxn ang="0">
                    <a:pos x="570" y="900"/>
                  </a:cxn>
                </a:cxnLst>
                <a:rect l="0" t="0" r="r" b="b"/>
                <a:pathLst>
                  <a:path w="570" h="900">
                    <a:moveTo>
                      <a:pt x="390" y="0"/>
                    </a:moveTo>
                    <a:cubicBezTo>
                      <a:pt x="195" y="285"/>
                      <a:pt x="0" y="570"/>
                      <a:pt x="30" y="720"/>
                    </a:cubicBezTo>
                    <a:cubicBezTo>
                      <a:pt x="60" y="870"/>
                      <a:pt x="315" y="885"/>
                      <a:pt x="570" y="900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b="1"/>
              </a:p>
            </p:txBody>
          </p:sp>
          <p:sp>
            <p:nvSpPr>
              <p:cNvPr id="3097" name="Freeform 25"/>
              <p:cNvSpPr>
                <a:spLocks/>
              </p:cNvSpPr>
              <p:nvPr/>
            </p:nvSpPr>
            <p:spPr bwMode="auto">
              <a:xfrm>
                <a:off x="8225" y="10025"/>
                <a:ext cx="180" cy="897"/>
              </a:xfrm>
              <a:custGeom>
                <a:avLst/>
                <a:gdLst/>
                <a:ahLst/>
                <a:cxnLst>
                  <a:cxn ang="0">
                    <a:pos x="180" y="900"/>
                  </a:cxn>
                  <a:cxn ang="0">
                    <a:pos x="0" y="180"/>
                  </a:cxn>
                  <a:cxn ang="0">
                    <a:pos x="180" y="0"/>
                  </a:cxn>
                </a:cxnLst>
                <a:rect l="0" t="0" r="r" b="b"/>
                <a:pathLst>
                  <a:path w="180" h="900">
                    <a:moveTo>
                      <a:pt x="180" y="900"/>
                    </a:moveTo>
                    <a:cubicBezTo>
                      <a:pt x="90" y="615"/>
                      <a:pt x="0" y="330"/>
                      <a:pt x="0" y="180"/>
                    </a:cubicBezTo>
                    <a:cubicBezTo>
                      <a:pt x="0" y="30"/>
                      <a:pt x="90" y="15"/>
                      <a:pt x="180" y="0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b="1"/>
              </a:p>
            </p:txBody>
          </p:sp>
          <p:sp>
            <p:nvSpPr>
              <p:cNvPr id="3098" name="Line 26"/>
              <p:cNvSpPr>
                <a:spLocks noChangeShapeType="1"/>
              </p:cNvSpPr>
              <p:nvPr/>
            </p:nvSpPr>
            <p:spPr bwMode="auto">
              <a:xfrm>
                <a:off x="5390" y="9935"/>
                <a:ext cx="10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b="1"/>
              </a:p>
            </p:txBody>
          </p:sp>
          <p:sp>
            <p:nvSpPr>
              <p:cNvPr id="3099" name="Line 27"/>
              <p:cNvSpPr>
                <a:spLocks noChangeShapeType="1"/>
              </p:cNvSpPr>
              <p:nvPr/>
            </p:nvSpPr>
            <p:spPr bwMode="auto">
              <a:xfrm>
                <a:off x="7325" y="9935"/>
                <a:ext cx="1080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b="1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8771529" y="36158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750417" y="413199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483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5" y="438518"/>
            <a:ext cx="8286808" cy="71438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8. </a:t>
            </a:r>
            <a:r>
              <a:rPr lang="en-US" dirty="0" err="1" smtClean="0">
                <a:solidFill>
                  <a:srgbClr val="0070C0"/>
                </a:solidFill>
              </a:rPr>
              <a:t>Xóa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node </a:t>
            </a:r>
            <a:r>
              <a:rPr lang="en-US" dirty="0" err="1" smtClean="0">
                <a:solidFill>
                  <a:srgbClr val="0070C0"/>
                </a:solidFill>
              </a:rPr>
              <a:t>đầu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trong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dslk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7455" y="1310806"/>
            <a:ext cx="6066385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deleteHeadSList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&amp;l)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p-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p-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NULL;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delete p;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6228101" y="2072766"/>
            <a:ext cx="5786478" cy="1500198"/>
            <a:chOff x="3110" y="2427"/>
            <a:chExt cx="7305" cy="2160"/>
          </a:xfrm>
        </p:grpSpPr>
        <p:sp>
          <p:nvSpPr>
            <p:cNvPr id="4099" name="Text Box 3"/>
            <p:cNvSpPr txBox="1">
              <a:spLocks noChangeArrowheads="1"/>
            </p:cNvSpPr>
            <p:nvPr/>
          </p:nvSpPr>
          <p:spPr bwMode="auto">
            <a:xfrm>
              <a:off x="9948" y="3439"/>
              <a:ext cx="467" cy="35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050">
                  <a:latin typeface="Calibri" pitchFamily="34" charset="0"/>
                  <a:cs typeface="Arial" pitchFamily="34" charset="0"/>
                </a:rPr>
                <a:t>NULL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00" name="Text Box 4"/>
            <p:cNvSpPr txBox="1">
              <a:spLocks noChangeArrowheads="1"/>
            </p:cNvSpPr>
            <p:nvPr/>
          </p:nvSpPr>
          <p:spPr bwMode="auto">
            <a:xfrm>
              <a:off x="3110" y="2467"/>
              <a:ext cx="959" cy="3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2000" dirty="0" smtClean="0">
                  <a:latin typeface="Calibri" pitchFamily="34" charset="0"/>
                  <a:cs typeface="Arial" pitchFamily="34" charset="0"/>
                </a:rPr>
                <a:t>head</a:t>
              </a:r>
              <a:endParaRPr lang="en-US" sz="3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01" name="Text Box 5"/>
            <p:cNvSpPr txBox="1">
              <a:spLocks noChangeArrowheads="1"/>
            </p:cNvSpPr>
            <p:nvPr/>
          </p:nvSpPr>
          <p:spPr bwMode="auto">
            <a:xfrm>
              <a:off x="4432" y="3537"/>
              <a:ext cx="18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>
                  <a:latin typeface="Calibri" pitchFamily="34" charset="0"/>
                  <a:cs typeface="Arial" pitchFamily="34" charset="0"/>
                </a:rPr>
                <a:t>2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03" name="Line 7"/>
            <p:cNvSpPr>
              <a:spLocks noChangeShapeType="1"/>
            </p:cNvSpPr>
            <p:nvPr/>
          </p:nvSpPr>
          <p:spPr bwMode="auto">
            <a:xfrm>
              <a:off x="5570" y="3598"/>
              <a:ext cx="1080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4104" name="Text Box 8"/>
            <p:cNvSpPr txBox="1">
              <a:spLocks noChangeArrowheads="1"/>
            </p:cNvSpPr>
            <p:nvPr/>
          </p:nvSpPr>
          <p:spPr bwMode="auto">
            <a:xfrm>
              <a:off x="8587" y="3336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2000">
                  <a:latin typeface="Calibri" pitchFamily="34" charset="0"/>
                  <a:cs typeface="Arial" pitchFamily="34" charset="0"/>
                </a:rPr>
                <a:t>3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05" name="Text Box 9"/>
            <p:cNvSpPr txBox="1">
              <a:spLocks noChangeArrowheads="1"/>
            </p:cNvSpPr>
            <p:nvPr/>
          </p:nvSpPr>
          <p:spPr bwMode="auto">
            <a:xfrm>
              <a:off x="9385" y="3336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06" name="Line 10"/>
            <p:cNvSpPr>
              <a:spLocks noChangeShapeType="1"/>
            </p:cNvSpPr>
            <p:nvPr/>
          </p:nvSpPr>
          <p:spPr bwMode="auto">
            <a:xfrm>
              <a:off x="9411" y="3562"/>
              <a:ext cx="518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4107" name="Text Box 11"/>
            <p:cNvSpPr txBox="1">
              <a:spLocks noChangeArrowheads="1"/>
            </p:cNvSpPr>
            <p:nvPr/>
          </p:nvSpPr>
          <p:spPr bwMode="auto">
            <a:xfrm>
              <a:off x="7730" y="2427"/>
              <a:ext cx="72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2000" dirty="0" smtClean="0">
                  <a:latin typeface="Calibri" pitchFamily="34" charset="0"/>
                  <a:cs typeface="Arial" pitchFamily="34" charset="0"/>
                </a:rPr>
                <a:t>tail</a:t>
              </a:r>
              <a:endParaRPr lang="en-US" sz="3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08" name="Text Box 12"/>
            <p:cNvSpPr txBox="1">
              <a:spLocks noChangeArrowheads="1"/>
            </p:cNvSpPr>
            <p:nvPr/>
          </p:nvSpPr>
          <p:spPr bwMode="auto">
            <a:xfrm>
              <a:off x="4719" y="3336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2000">
                  <a:latin typeface="Calibri" pitchFamily="34" charset="0"/>
                  <a:cs typeface="Arial" pitchFamily="34" charset="0"/>
                </a:rPr>
                <a:t>2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09" name="Text Box 13"/>
            <p:cNvSpPr txBox="1">
              <a:spLocks noChangeArrowheads="1"/>
            </p:cNvSpPr>
            <p:nvPr/>
          </p:nvSpPr>
          <p:spPr bwMode="auto">
            <a:xfrm>
              <a:off x="5517" y="3336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0" name="Text Box 14"/>
            <p:cNvSpPr txBox="1">
              <a:spLocks noChangeArrowheads="1"/>
            </p:cNvSpPr>
            <p:nvPr/>
          </p:nvSpPr>
          <p:spPr bwMode="auto">
            <a:xfrm>
              <a:off x="6650" y="3336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2000">
                  <a:latin typeface="Calibri" pitchFamily="34" charset="0"/>
                  <a:cs typeface="Arial" pitchFamily="34" charset="0"/>
                </a:rPr>
                <a:t>5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1" name="Text Box 15"/>
            <p:cNvSpPr txBox="1">
              <a:spLocks noChangeArrowheads="1"/>
            </p:cNvSpPr>
            <p:nvPr/>
          </p:nvSpPr>
          <p:spPr bwMode="auto">
            <a:xfrm>
              <a:off x="7448" y="3336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2" name="Line 16"/>
            <p:cNvSpPr>
              <a:spLocks noChangeShapeType="1"/>
            </p:cNvSpPr>
            <p:nvPr/>
          </p:nvSpPr>
          <p:spPr bwMode="auto">
            <a:xfrm>
              <a:off x="8450" y="2787"/>
              <a:ext cx="36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4113" name="Text Box 17"/>
            <p:cNvSpPr txBox="1">
              <a:spLocks noChangeArrowheads="1"/>
            </p:cNvSpPr>
            <p:nvPr/>
          </p:nvSpPr>
          <p:spPr bwMode="auto">
            <a:xfrm>
              <a:off x="4987" y="4227"/>
              <a:ext cx="18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2000">
                  <a:latin typeface="Calibri" pitchFamily="34" charset="0"/>
                  <a:cs typeface="Arial" pitchFamily="34" charset="0"/>
                </a:rPr>
                <a:t>p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4" name="Line 18"/>
            <p:cNvSpPr>
              <a:spLocks noChangeShapeType="1"/>
            </p:cNvSpPr>
            <p:nvPr/>
          </p:nvSpPr>
          <p:spPr bwMode="auto">
            <a:xfrm flipV="1">
              <a:off x="5182" y="3762"/>
              <a:ext cx="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4115" name="Line 19"/>
            <p:cNvSpPr>
              <a:spLocks noChangeShapeType="1"/>
            </p:cNvSpPr>
            <p:nvPr/>
          </p:nvSpPr>
          <p:spPr bwMode="auto">
            <a:xfrm>
              <a:off x="3907" y="2832"/>
              <a:ext cx="270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  <p:sp>
          <p:nvSpPr>
            <p:cNvPr id="4116" name="Text Box 20"/>
            <p:cNvSpPr txBox="1">
              <a:spLocks noChangeArrowheads="1"/>
            </p:cNvSpPr>
            <p:nvPr/>
          </p:nvSpPr>
          <p:spPr bwMode="auto">
            <a:xfrm>
              <a:off x="5902" y="3672"/>
              <a:ext cx="18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600"/>
                </a:spcAft>
              </a:pPr>
              <a:r>
                <a:rPr lang="en-US" sz="1600">
                  <a:latin typeface="Calibri" pitchFamily="34" charset="0"/>
                  <a:cs typeface="Arial" pitchFamily="34" charset="0"/>
                </a:rPr>
                <a:t>1</a:t>
              </a:r>
              <a:endParaRPr lang="en-US" sz="36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117" name="Group 21"/>
            <p:cNvGrpSpPr>
              <a:grpSpLocks/>
            </p:cNvGrpSpPr>
            <p:nvPr/>
          </p:nvGrpSpPr>
          <p:grpSpPr bwMode="auto">
            <a:xfrm>
              <a:off x="4627" y="3147"/>
              <a:ext cx="900" cy="735"/>
              <a:chOff x="3240" y="5760"/>
              <a:chExt cx="900" cy="735"/>
            </a:xfrm>
          </p:grpSpPr>
          <p:sp>
            <p:nvSpPr>
              <p:cNvPr id="4118" name="Line 22"/>
              <p:cNvSpPr>
                <a:spLocks noChangeShapeType="1"/>
              </p:cNvSpPr>
              <p:nvPr/>
            </p:nvSpPr>
            <p:spPr bwMode="auto">
              <a:xfrm flipH="1">
                <a:off x="3285" y="5775"/>
                <a:ext cx="720" cy="72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600"/>
              </a:p>
            </p:txBody>
          </p:sp>
          <p:sp>
            <p:nvSpPr>
              <p:cNvPr id="4119" name="Line 23"/>
              <p:cNvSpPr>
                <a:spLocks noChangeShapeType="1"/>
              </p:cNvSpPr>
              <p:nvPr/>
            </p:nvSpPr>
            <p:spPr bwMode="auto">
              <a:xfrm>
                <a:off x="3240" y="5760"/>
                <a:ext cx="900" cy="72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600"/>
              </a:p>
            </p:txBody>
          </p:sp>
        </p:grpSp>
        <p:sp>
          <p:nvSpPr>
            <p:cNvPr id="4120" name="Line 24"/>
            <p:cNvSpPr>
              <a:spLocks noChangeShapeType="1"/>
            </p:cNvSpPr>
            <p:nvPr/>
          </p:nvSpPr>
          <p:spPr bwMode="auto">
            <a:xfrm>
              <a:off x="7520" y="3568"/>
              <a:ext cx="10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3600"/>
            </a:p>
          </p:txBody>
        </p:sp>
      </p:grpSp>
    </p:spTree>
    <p:extLst>
      <p:ext uri="{BB962C8B-B14F-4D97-AF65-F5344CB8AC3E}">
        <p14:creationId xmlns:p14="http://schemas.microsoft.com/office/powerpoint/2010/main" val="63265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12" y="474912"/>
            <a:ext cx="9142124" cy="71438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9. </a:t>
            </a:r>
            <a:r>
              <a:rPr lang="en-US" dirty="0" err="1">
                <a:solidFill>
                  <a:srgbClr val="0070C0"/>
                </a:solidFill>
              </a:rPr>
              <a:t>Xóa</a:t>
            </a:r>
            <a:r>
              <a:rPr lang="en-US" dirty="0">
                <a:solidFill>
                  <a:srgbClr val="0070C0"/>
                </a:solidFill>
              </a:rPr>
              <a:t> node </a:t>
            </a:r>
            <a:r>
              <a:rPr lang="en-US" dirty="0" err="1" smtClean="0">
                <a:solidFill>
                  <a:srgbClr val="0070C0"/>
                </a:solidFill>
              </a:rPr>
              <a:t>cuối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trong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dslk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2505" y="1213434"/>
            <a:ext cx="6309001" cy="5293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deleteTailList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&amp;l)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p =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i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2000" b="1" i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</a:t>
            </a:r>
            <a:r>
              <a:rPr lang="en-US" sz="2000" b="1" i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node </a:t>
            </a:r>
            <a:r>
              <a:rPr lang="en-US" sz="2000" b="1" i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</a:t>
            </a:r>
            <a:r>
              <a:rPr lang="en-US" sz="2000" b="1" i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ngay</a:t>
            </a:r>
            <a:r>
              <a:rPr lang="en-US" sz="2000" b="1" i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truoc</a:t>
            </a:r>
            <a:r>
              <a:rPr lang="en-US" sz="2000" b="1" i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endParaRPr lang="en-US" sz="2000" b="1" i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SNode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*q =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while(q-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&gt;next!=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q=q-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cắt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node tail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rồi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và</a:t>
            </a:r>
            <a:r>
              <a:rPr lang="en-US" sz="2000" b="1" i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xóa</a:t>
            </a:r>
            <a:endParaRPr lang="en-US" sz="2000" b="1" i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q;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-&gt;next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NULL;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delete p;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6887142" y="2258268"/>
            <a:ext cx="4929222" cy="1500198"/>
            <a:chOff x="2975" y="7238"/>
            <a:chExt cx="7273" cy="2133"/>
          </a:xfrm>
        </p:grpSpPr>
        <p:sp>
          <p:nvSpPr>
            <p:cNvPr id="5124" name="Text Box 4"/>
            <p:cNvSpPr txBox="1">
              <a:spLocks noChangeArrowheads="1"/>
            </p:cNvSpPr>
            <p:nvPr/>
          </p:nvSpPr>
          <p:spPr bwMode="auto">
            <a:xfrm>
              <a:off x="9751" y="8258"/>
              <a:ext cx="497" cy="35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900">
                  <a:latin typeface="Calibri" pitchFamily="34" charset="0"/>
                  <a:cs typeface="Arial" pitchFamily="34" charset="0"/>
                </a:rPr>
                <a:t>NULL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2975" y="7389"/>
              <a:ext cx="883" cy="34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dirty="0" smtClean="0">
                  <a:latin typeface="Calibri" pitchFamily="34" charset="0"/>
                  <a:cs typeface="Arial" pitchFamily="34" charset="0"/>
                </a:rPr>
                <a:t>head</a:t>
              </a:r>
              <a:endParaRPr lang="en-US" sz="2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26" name="Line 6"/>
            <p:cNvSpPr>
              <a:spLocks noChangeShapeType="1"/>
            </p:cNvSpPr>
            <p:nvPr/>
          </p:nvSpPr>
          <p:spPr bwMode="auto">
            <a:xfrm>
              <a:off x="7295" y="8354"/>
              <a:ext cx="1080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5127" name="Text Box 7"/>
            <p:cNvSpPr txBox="1">
              <a:spLocks noChangeArrowheads="1"/>
            </p:cNvSpPr>
            <p:nvPr/>
          </p:nvSpPr>
          <p:spPr bwMode="auto">
            <a:xfrm>
              <a:off x="8375" y="8147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>
                  <a:latin typeface="Calibri" pitchFamily="34" charset="0"/>
                  <a:cs typeface="Arial" pitchFamily="34" charset="0"/>
                </a:rPr>
                <a:t>3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28" name="Text Box 8"/>
            <p:cNvSpPr txBox="1">
              <a:spLocks noChangeArrowheads="1"/>
            </p:cNvSpPr>
            <p:nvPr/>
          </p:nvSpPr>
          <p:spPr bwMode="auto">
            <a:xfrm>
              <a:off x="9159" y="8147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29" name="Line 9"/>
            <p:cNvSpPr>
              <a:spLocks noChangeShapeType="1"/>
            </p:cNvSpPr>
            <p:nvPr/>
          </p:nvSpPr>
          <p:spPr bwMode="auto">
            <a:xfrm>
              <a:off x="9192" y="8388"/>
              <a:ext cx="518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5130" name="Text Box 10"/>
            <p:cNvSpPr txBox="1">
              <a:spLocks noChangeArrowheads="1"/>
            </p:cNvSpPr>
            <p:nvPr/>
          </p:nvSpPr>
          <p:spPr bwMode="auto">
            <a:xfrm>
              <a:off x="7518" y="7238"/>
              <a:ext cx="72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dirty="0" smtClean="0">
                  <a:latin typeface="Calibri" pitchFamily="34" charset="0"/>
                  <a:cs typeface="Arial" pitchFamily="34" charset="0"/>
                </a:rPr>
                <a:t>tail</a:t>
              </a:r>
              <a:endParaRPr lang="en-US" sz="2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31" name="Line 11"/>
            <p:cNvSpPr>
              <a:spLocks noChangeShapeType="1"/>
            </p:cNvSpPr>
            <p:nvPr/>
          </p:nvSpPr>
          <p:spPr bwMode="auto">
            <a:xfrm>
              <a:off x="3620" y="7778"/>
              <a:ext cx="90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5132" name="Text Box 12"/>
            <p:cNvSpPr txBox="1">
              <a:spLocks noChangeArrowheads="1"/>
            </p:cNvSpPr>
            <p:nvPr/>
          </p:nvSpPr>
          <p:spPr bwMode="auto">
            <a:xfrm>
              <a:off x="4507" y="8147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>
                  <a:latin typeface="Calibri" pitchFamily="34" charset="0"/>
                  <a:cs typeface="Arial" pitchFamily="34" charset="0"/>
                </a:rPr>
                <a:t>2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33" name="Text Box 13"/>
            <p:cNvSpPr txBox="1">
              <a:spLocks noChangeArrowheads="1"/>
            </p:cNvSpPr>
            <p:nvPr/>
          </p:nvSpPr>
          <p:spPr bwMode="auto">
            <a:xfrm>
              <a:off x="5291" y="8147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34" name="Text Box 14"/>
            <p:cNvSpPr txBox="1">
              <a:spLocks noChangeArrowheads="1"/>
            </p:cNvSpPr>
            <p:nvPr/>
          </p:nvSpPr>
          <p:spPr bwMode="auto">
            <a:xfrm>
              <a:off x="6438" y="8147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>
                  <a:latin typeface="Calibri" pitchFamily="34" charset="0"/>
                  <a:cs typeface="Arial" pitchFamily="34" charset="0"/>
                </a:rPr>
                <a:t>5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35" name="Text Box 15"/>
            <p:cNvSpPr txBox="1">
              <a:spLocks noChangeArrowheads="1"/>
            </p:cNvSpPr>
            <p:nvPr/>
          </p:nvSpPr>
          <p:spPr bwMode="auto">
            <a:xfrm>
              <a:off x="7222" y="8147"/>
              <a:ext cx="173" cy="43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36" name="Line 16"/>
            <p:cNvSpPr>
              <a:spLocks noChangeShapeType="1"/>
            </p:cNvSpPr>
            <p:nvPr/>
          </p:nvSpPr>
          <p:spPr bwMode="auto">
            <a:xfrm>
              <a:off x="8238" y="7598"/>
              <a:ext cx="36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5137" name="Text Box 17"/>
            <p:cNvSpPr txBox="1">
              <a:spLocks noChangeArrowheads="1"/>
            </p:cNvSpPr>
            <p:nvPr/>
          </p:nvSpPr>
          <p:spPr bwMode="auto">
            <a:xfrm>
              <a:off x="6710" y="9008"/>
              <a:ext cx="18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600"/>
                </a:spcAft>
              </a:pPr>
              <a:r>
                <a:rPr lang="en-US" sz="1600">
                  <a:latin typeface="Calibri" pitchFamily="34" charset="0"/>
                  <a:cs typeface="Arial" pitchFamily="34" charset="0"/>
                </a:rPr>
                <a:t>q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38" name="Line 18"/>
            <p:cNvSpPr>
              <a:spLocks noChangeShapeType="1"/>
            </p:cNvSpPr>
            <p:nvPr/>
          </p:nvSpPr>
          <p:spPr bwMode="auto">
            <a:xfrm flipV="1">
              <a:off x="6800" y="8558"/>
              <a:ext cx="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5139" name="Text Box 19"/>
            <p:cNvSpPr txBox="1">
              <a:spLocks noChangeArrowheads="1"/>
            </p:cNvSpPr>
            <p:nvPr/>
          </p:nvSpPr>
          <p:spPr bwMode="auto">
            <a:xfrm>
              <a:off x="8570" y="9011"/>
              <a:ext cx="18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600"/>
                </a:spcAft>
              </a:pPr>
              <a:r>
                <a:rPr lang="en-US" sz="1600">
                  <a:latin typeface="Calibri" pitchFamily="34" charset="0"/>
                  <a:cs typeface="Arial" pitchFamily="34" charset="0"/>
                </a:rPr>
                <a:t>p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40" name="Line 20"/>
            <p:cNvSpPr>
              <a:spLocks noChangeShapeType="1"/>
            </p:cNvSpPr>
            <p:nvPr/>
          </p:nvSpPr>
          <p:spPr bwMode="auto">
            <a:xfrm flipV="1">
              <a:off x="8660" y="8561"/>
              <a:ext cx="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  <p:sp>
          <p:nvSpPr>
            <p:cNvPr id="5141" name="Text Box 21"/>
            <p:cNvSpPr txBox="1">
              <a:spLocks noChangeArrowheads="1"/>
            </p:cNvSpPr>
            <p:nvPr/>
          </p:nvSpPr>
          <p:spPr bwMode="auto">
            <a:xfrm>
              <a:off x="8705" y="8696"/>
              <a:ext cx="18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200">
                  <a:latin typeface="Calibri" pitchFamily="34" charset="0"/>
                  <a:cs typeface="Arial" pitchFamily="34" charset="0"/>
                </a:rPr>
                <a:t>1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5142" name="Group 22"/>
            <p:cNvGrpSpPr>
              <a:grpSpLocks/>
            </p:cNvGrpSpPr>
            <p:nvPr/>
          </p:nvGrpSpPr>
          <p:grpSpPr bwMode="auto">
            <a:xfrm>
              <a:off x="7245" y="7751"/>
              <a:ext cx="2640" cy="570"/>
              <a:chOff x="7065" y="6315"/>
              <a:chExt cx="2640" cy="570"/>
            </a:xfrm>
          </p:grpSpPr>
          <p:sp>
            <p:nvSpPr>
              <p:cNvPr id="5143" name="Freeform 23"/>
              <p:cNvSpPr>
                <a:spLocks/>
              </p:cNvSpPr>
              <p:nvPr/>
            </p:nvSpPr>
            <p:spPr bwMode="auto">
              <a:xfrm>
                <a:off x="7065" y="6315"/>
                <a:ext cx="2340" cy="570"/>
              </a:xfrm>
              <a:custGeom>
                <a:avLst/>
                <a:gdLst/>
                <a:ahLst/>
                <a:cxnLst>
                  <a:cxn ang="0">
                    <a:pos x="0" y="570"/>
                  </a:cxn>
                  <a:cxn ang="0">
                    <a:pos x="900" y="30"/>
                  </a:cxn>
                  <a:cxn ang="0">
                    <a:pos x="2340" y="390"/>
                  </a:cxn>
                </a:cxnLst>
                <a:rect l="0" t="0" r="r" b="b"/>
                <a:pathLst>
                  <a:path w="2340" h="570">
                    <a:moveTo>
                      <a:pt x="0" y="570"/>
                    </a:moveTo>
                    <a:cubicBezTo>
                      <a:pt x="255" y="315"/>
                      <a:pt x="510" y="60"/>
                      <a:pt x="900" y="30"/>
                    </a:cubicBezTo>
                    <a:cubicBezTo>
                      <a:pt x="1290" y="0"/>
                      <a:pt x="1815" y="195"/>
                      <a:pt x="2340" y="390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/>
              </a:p>
            </p:txBody>
          </p:sp>
          <p:sp>
            <p:nvSpPr>
              <p:cNvPr id="5144" name="Line 24"/>
              <p:cNvSpPr>
                <a:spLocks noChangeShapeType="1"/>
              </p:cNvSpPr>
              <p:nvPr/>
            </p:nvSpPr>
            <p:spPr bwMode="auto">
              <a:xfrm>
                <a:off x="9345" y="6690"/>
                <a:ext cx="360" cy="18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800"/>
              </a:p>
            </p:txBody>
          </p:sp>
        </p:grpSp>
        <p:sp>
          <p:nvSpPr>
            <p:cNvPr id="5145" name="Text Box 25"/>
            <p:cNvSpPr txBox="1">
              <a:spLocks noChangeArrowheads="1"/>
            </p:cNvSpPr>
            <p:nvPr/>
          </p:nvSpPr>
          <p:spPr bwMode="auto">
            <a:xfrm>
              <a:off x="7387" y="7661"/>
              <a:ext cx="180" cy="36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200">
                  <a:latin typeface="Calibri" pitchFamily="34" charset="0"/>
                  <a:cs typeface="Arial" pitchFamily="34" charset="0"/>
                </a:rPr>
                <a:t>2</a:t>
              </a:r>
              <a:endParaRPr lang="en-US" sz="2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46" name="Line 26"/>
            <p:cNvSpPr>
              <a:spLocks noChangeShapeType="1"/>
            </p:cNvSpPr>
            <p:nvPr/>
          </p:nvSpPr>
          <p:spPr bwMode="auto">
            <a:xfrm>
              <a:off x="5383" y="8371"/>
              <a:ext cx="10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108434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36" y="451909"/>
            <a:ext cx="8286808" cy="71438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10. </a:t>
            </a:r>
            <a:r>
              <a:rPr lang="en-US" dirty="0" err="1">
                <a:solidFill>
                  <a:srgbClr val="0070C0"/>
                </a:solidFill>
              </a:rPr>
              <a:t>Xóa</a:t>
            </a:r>
            <a:r>
              <a:rPr lang="en-US" dirty="0">
                <a:solidFill>
                  <a:srgbClr val="0070C0"/>
                </a:solidFill>
              </a:rPr>
              <a:t> node </a:t>
            </a:r>
            <a:r>
              <a:rPr lang="en-US" dirty="0" err="1" smtClean="0">
                <a:solidFill>
                  <a:srgbClr val="0070C0"/>
                </a:solidFill>
              </a:rPr>
              <a:t>nằm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sau</a:t>
            </a:r>
            <a:r>
              <a:rPr lang="en-US" dirty="0" smtClean="0">
                <a:solidFill>
                  <a:srgbClr val="0070C0"/>
                </a:solidFill>
              </a:rPr>
              <a:t> node q </a:t>
            </a:r>
            <a:r>
              <a:rPr lang="en-US" dirty="0" err="1">
                <a:solidFill>
                  <a:srgbClr val="0070C0"/>
                </a:solidFill>
              </a:rPr>
              <a:t>dslk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tt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4717" y="1211589"/>
            <a:ext cx="6759554" cy="5293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deleteMidList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&amp;l,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q)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==NULL || q==NULL || q==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if(q-&gt;next ==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deleteTailList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(l);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else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{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p=q-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q-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p-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p-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NULL;</a:t>
            </a:r>
          </a:p>
          <a:p>
            <a:pPr lvl="2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delete p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5917285" y="2300081"/>
            <a:ext cx="6143668" cy="2143140"/>
            <a:chOff x="3095" y="6926"/>
            <a:chExt cx="7303" cy="2163"/>
          </a:xfrm>
        </p:grpSpPr>
        <p:sp>
          <p:nvSpPr>
            <p:cNvPr id="6148" name="Text Box 4"/>
            <p:cNvSpPr txBox="1">
              <a:spLocks noChangeArrowheads="1"/>
            </p:cNvSpPr>
            <p:nvPr/>
          </p:nvSpPr>
          <p:spPr bwMode="auto">
            <a:xfrm>
              <a:off x="9856" y="7931"/>
              <a:ext cx="542" cy="3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900" b="1">
                  <a:latin typeface="Calibri" pitchFamily="34" charset="0"/>
                  <a:cs typeface="Arial" pitchFamily="34" charset="0"/>
                </a:rPr>
                <a:t>NULL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49" name="Text Box 5"/>
            <p:cNvSpPr txBox="1">
              <a:spLocks noChangeArrowheads="1"/>
            </p:cNvSpPr>
            <p:nvPr/>
          </p:nvSpPr>
          <p:spPr bwMode="auto">
            <a:xfrm>
              <a:off x="9279" y="7835"/>
              <a:ext cx="173" cy="4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50" name="Text Box 6"/>
            <p:cNvSpPr txBox="1">
              <a:spLocks noChangeArrowheads="1"/>
            </p:cNvSpPr>
            <p:nvPr/>
          </p:nvSpPr>
          <p:spPr bwMode="auto">
            <a:xfrm>
              <a:off x="5411" y="7835"/>
              <a:ext cx="173" cy="4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51" name="Text Box 7"/>
            <p:cNvSpPr txBox="1">
              <a:spLocks noChangeArrowheads="1"/>
            </p:cNvSpPr>
            <p:nvPr/>
          </p:nvSpPr>
          <p:spPr bwMode="auto">
            <a:xfrm>
              <a:off x="7342" y="7835"/>
              <a:ext cx="173" cy="4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52" name="Text Box 8"/>
            <p:cNvSpPr txBox="1">
              <a:spLocks noChangeArrowheads="1"/>
            </p:cNvSpPr>
            <p:nvPr/>
          </p:nvSpPr>
          <p:spPr bwMode="auto">
            <a:xfrm>
              <a:off x="3095" y="7077"/>
              <a:ext cx="883" cy="3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 dirty="0" smtClean="0">
                  <a:latin typeface="Calibri" pitchFamily="34" charset="0"/>
                  <a:cs typeface="Arial" pitchFamily="34" charset="0"/>
                </a:rPr>
                <a:t>head</a:t>
              </a:r>
              <a:endParaRPr lang="en-US" sz="28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53" name="Line 9"/>
            <p:cNvSpPr>
              <a:spLocks noChangeShapeType="1"/>
            </p:cNvSpPr>
            <p:nvPr/>
          </p:nvSpPr>
          <p:spPr bwMode="auto">
            <a:xfrm>
              <a:off x="7248" y="8081"/>
              <a:ext cx="1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800" b="1"/>
            </a:p>
          </p:txBody>
        </p:sp>
        <p:sp>
          <p:nvSpPr>
            <p:cNvPr id="6154" name="Text Box 10"/>
            <p:cNvSpPr txBox="1">
              <a:spLocks noChangeArrowheads="1"/>
            </p:cNvSpPr>
            <p:nvPr/>
          </p:nvSpPr>
          <p:spPr bwMode="auto">
            <a:xfrm>
              <a:off x="6335" y="7039"/>
              <a:ext cx="18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200" b="1">
                  <a:latin typeface="Calibri" pitchFamily="34" charset="0"/>
                  <a:cs typeface="Arial" pitchFamily="34" charset="0"/>
                </a:rPr>
                <a:t>2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55" name="Text Box 11"/>
            <p:cNvSpPr txBox="1">
              <a:spLocks noChangeArrowheads="1"/>
            </p:cNvSpPr>
            <p:nvPr/>
          </p:nvSpPr>
          <p:spPr bwMode="auto">
            <a:xfrm>
              <a:off x="7933" y="8126"/>
              <a:ext cx="18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600"/>
                </a:spcAft>
              </a:pPr>
              <a:r>
                <a:rPr lang="en-US" sz="1200" b="1">
                  <a:latin typeface="Calibri" pitchFamily="34" charset="0"/>
                  <a:cs typeface="Arial" pitchFamily="34" charset="0"/>
                </a:rPr>
                <a:t>1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56" name="Text Box 12"/>
            <p:cNvSpPr txBox="1">
              <a:spLocks noChangeArrowheads="1"/>
            </p:cNvSpPr>
            <p:nvPr/>
          </p:nvSpPr>
          <p:spPr bwMode="auto">
            <a:xfrm>
              <a:off x="8495" y="7835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>
                  <a:latin typeface="Calibri" pitchFamily="34" charset="0"/>
                  <a:cs typeface="Arial" pitchFamily="34" charset="0"/>
                </a:rPr>
                <a:t>3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>
              <a:off x="9312" y="8061"/>
              <a:ext cx="5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800" b="1"/>
            </a:p>
          </p:txBody>
        </p:sp>
        <p:sp>
          <p:nvSpPr>
            <p:cNvPr id="6158" name="Text Box 14"/>
            <p:cNvSpPr txBox="1">
              <a:spLocks noChangeArrowheads="1"/>
            </p:cNvSpPr>
            <p:nvPr/>
          </p:nvSpPr>
          <p:spPr bwMode="auto">
            <a:xfrm>
              <a:off x="4627" y="7835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>
                  <a:latin typeface="Calibri" pitchFamily="34" charset="0"/>
                  <a:cs typeface="Arial" pitchFamily="34" charset="0"/>
                </a:rPr>
                <a:t>2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59" name="Text Box 15"/>
            <p:cNvSpPr txBox="1">
              <a:spLocks noChangeArrowheads="1"/>
            </p:cNvSpPr>
            <p:nvPr/>
          </p:nvSpPr>
          <p:spPr bwMode="auto">
            <a:xfrm>
              <a:off x="6558" y="7835"/>
              <a:ext cx="792" cy="43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>
                  <a:latin typeface="Calibri" pitchFamily="34" charset="0"/>
                  <a:cs typeface="Arial" pitchFamily="34" charset="0"/>
                </a:rPr>
                <a:t>5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60" name="Text Box 16"/>
            <p:cNvSpPr txBox="1">
              <a:spLocks noChangeArrowheads="1"/>
            </p:cNvSpPr>
            <p:nvPr/>
          </p:nvSpPr>
          <p:spPr bwMode="auto">
            <a:xfrm>
              <a:off x="7638" y="6926"/>
              <a:ext cx="72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 dirty="0" smtClean="0">
                  <a:latin typeface="Calibri" pitchFamily="34" charset="0"/>
                  <a:cs typeface="Arial" pitchFamily="34" charset="0"/>
                </a:rPr>
                <a:t>tail</a:t>
              </a:r>
              <a:endParaRPr lang="en-US" sz="28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3740" y="7541"/>
              <a:ext cx="90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800" b="1"/>
            </a:p>
          </p:txBody>
        </p:sp>
        <p:sp>
          <p:nvSpPr>
            <p:cNvPr id="6162" name="Line 18"/>
            <p:cNvSpPr>
              <a:spLocks noChangeShapeType="1"/>
            </p:cNvSpPr>
            <p:nvPr/>
          </p:nvSpPr>
          <p:spPr bwMode="auto">
            <a:xfrm>
              <a:off x="8358" y="7286"/>
              <a:ext cx="36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800" b="1"/>
            </a:p>
          </p:txBody>
        </p:sp>
        <p:sp>
          <p:nvSpPr>
            <p:cNvPr id="6163" name="Text Box 19"/>
            <p:cNvSpPr txBox="1">
              <a:spLocks noChangeArrowheads="1"/>
            </p:cNvSpPr>
            <p:nvPr/>
          </p:nvSpPr>
          <p:spPr bwMode="auto">
            <a:xfrm>
              <a:off x="4895" y="8729"/>
              <a:ext cx="18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>
                  <a:latin typeface="Calibri" pitchFamily="34" charset="0"/>
                  <a:cs typeface="Arial" pitchFamily="34" charset="0"/>
                </a:rPr>
                <a:t>q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64" name="Line 20"/>
            <p:cNvSpPr>
              <a:spLocks noChangeShapeType="1"/>
            </p:cNvSpPr>
            <p:nvPr/>
          </p:nvSpPr>
          <p:spPr bwMode="auto">
            <a:xfrm flipV="1">
              <a:off x="5015" y="8264"/>
              <a:ext cx="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800" b="1"/>
            </a:p>
          </p:txBody>
        </p:sp>
        <p:sp>
          <p:nvSpPr>
            <p:cNvPr id="6165" name="Text Box 21"/>
            <p:cNvSpPr txBox="1">
              <a:spLocks noChangeArrowheads="1"/>
            </p:cNvSpPr>
            <p:nvPr/>
          </p:nvSpPr>
          <p:spPr bwMode="auto">
            <a:xfrm>
              <a:off x="6785" y="8723"/>
              <a:ext cx="18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600" b="1">
                  <a:latin typeface="Calibri" pitchFamily="34" charset="0"/>
                  <a:cs typeface="Arial" pitchFamily="34" charset="0"/>
                </a:rPr>
                <a:t>p</a:t>
              </a:r>
              <a:endParaRPr lang="en-US" sz="28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66" name="Line 22"/>
            <p:cNvSpPr>
              <a:spLocks noChangeShapeType="1"/>
            </p:cNvSpPr>
            <p:nvPr/>
          </p:nvSpPr>
          <p:spPr bwMode="auto">
            <a:xfrm flipV="1">
              <a:off x="6905" y="8258"/>
              <a:ext cx="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800" b="1"/>
            </a:p>
          </p:txBody>
        </p:sp>
        <p:grpSp>
          <p:nvGrpSpPr>
            <p:cNvPr id="6167" name="Group 23"/>
            <p:cNvGrpSpPr>
              <a:grpSpLocks/>
            </p:cNvGrpSpPr>
            <p:nvPr/>
          </p:nvGrpSpPr>
          <p:grpSpPr bwMode="auto">
            <a:xfrm>
              <a:off x="5456" y="7386"/>
              <a:ext cx="3090" cy="585"/>
              <a:chOff x="4080" y="4980"/>
              <a:chExt cx="3090" cy="585"/>
            </a:xfrm>
          </p:grpSpPr>
          <p:sp>
            <p:nvSpPr>
              <p:cNvPr id="6168" name="Freeform 24"/>
              <p:cNvSpPr>
                <a:spLocks/>
              </p:cNvSpPr>
              <p:nvPr/>
            </p:nvSpPr>
            <p:spPr bwMode="auto">
              <a:xfrm>
                <a:off x="4080" y="4980"/>
                <a:ext cx="2520" cy="570"/>
              </a:xfrm>
              <a:custGeom>
                <a:avLst/>
                <a:gdLst/>
                <a:ahLst/>
                <a:cxnLst>
                  <a:cxn ang="0">
                    <a:pos x="0" y="570"/>
                  </a:cxn>
                  <a:cxn ang="0">
                    <a:pos x="900" y="30"/>
                  </a:cxn>
                  <a:cxn ang="0">
                    <a:pos x="2520" y="390"/>
                  </a:cxn>
                </a:cxnLst>
                <a:rect l="0" t="0" r="r" b="b"/>
                <a:pathLst>
                  <a:path w="2520" h="570">
                    <a:moveTo>
                      <a:pt x="0" y="570"/>
                    </a:moveTo>
                    <a:cubicBezTo>
                      <a:pt x="240" y="315"/>
                      <a:pt x="480" y="60"/>
                      <a:pt x="900" y="30"/>
                    </a:cubicBezTo>
                    <a:cubicBezTo>
                      <a:pt x="1320" y="0"/>
                      <a:pt x="1920" y="195"/>
                      <a:pt x="2520" y="39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800" b="1"/>
              </a:p>
            </p:txBody>
          </p:sp>
          <p:sp>
            <p:nvSpPr>
              <p:cNvPr id="6169" name="Line 25"/>
              <p:cNvSpPr>
                <a:spLocks noChangeShapeType="1"/>
              </p:cNvSpPr>
              <p:nvPr/>
            </p:nvSpPr>
            <p:spPr bwMode="auto">
              <a:xfrm>
                <a:off x="6630" y="5385"/>
                <a:ext cx="540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800" b="1"/>
              </a:p>
            </p:txBody>
          </p:sp>
        </p:grpSp>
        <p:grpSp>
          <p:nvGrpSpPr>
            <p:cNvPr id="6170" name="Group 26"/>
            <p:cNvGrpSpPr>
              <a:grpSpLocks/>
            </p:cNvGrpSpPr>
            <p:nvPr/>
          </p:nvGrpSpPr>
          <p:grpSpPr bwMode="auto">
            <a:xfrm>
              <a:off x="6575" y="7691"/>
              <a:ext cx="720" cy="720"/>
              <a:chOff x="5220" y="8460"/>
              <a:chExt cx="720" cy="720"/>
            </a:xfrm>
          </p:grpSpPr>
          <p:sp>
            <p:nvSpPr>
              <p:cNvPr id="6171" name="Line 27"/>
              <p:cNvSpPr>
                <a:spLocks noChangeShapeType="1"/>
              </p:cNvSpPr>
              <p:nvPr/>
            </p:nvSpPr>
            <p:spPr bwMode="auto">
              <a:xfrm flipH="1">
                <a:off x="5220" y="8460"/>
                <a:ext cx="72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800" b="1"/>
              </a:p>
            </p:txBody>
          </p:sp>
          <p:sp>
            <p:nvSpPr>
              <p:cNvPr id="6172" name="Line 28"/>
              <p:cNvSpPr>
                <a:spLocks noChangeShapeType="1"/>
              </p:cNvSpPr>
              <p:nvPr/>
            </p:nvSpPr>
            <p:spPr bwMode="auto">
              <a:xfrm>
                <a:off x="5220" y="8460"/>
                <a:ext cx="72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800" b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66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007" y="430986"/>
            <a:ext cx="11511814" cy="759871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0070C0"/>
                </a:solidFill>
              </a:rPr>
              <a:t>11.Sắp </a:t>
            </a:r>
            <a:r>
              <a:rPr lang="en-US" sz="3600" dirty="0" err="1">
                <a:solidFill>
                  <a:srgbClr val="0070C0"/>
                </a:solidFill>
              </a:rPr>
              <a:t>xếp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tăng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dslk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theo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giải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thuật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InterchangeSort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3567" y="1423107"/>
            <a:ext cx="11124874" cy="3108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interchangeSortSList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l)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for(Node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p = </a:t>
            </a:r>
            <a:r>
              <a:rPr lang="en-US" sz="2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l.head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p!=</a:t>
            </a:r>
            <a:r>
              <a:rPr lang="en-US" sz="2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l.tail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= p-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for(Node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q = p-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&gt;next;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q!=NULL; q=q-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&gt;next)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if(p-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&gt;info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q-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&gt;info)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swap(p-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&gt;info,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q-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&gt;info)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126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37220"/>
            <a:ext cx="10058400" cy="759871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Bài tập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/>
              <a:t>Cài đặt các hàm sau: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Xuất thông tin các phần tử trong dslk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Thêm node vào dslk (thêm ở đầu/giữa/cuối)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Xóa node trong dslk (xóa ở đầu/cuối/giữa)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Sắp xếp dslk tăng/giảm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Đếm số phần tử của dslk.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Tính tổng các phần tử của dslk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Xuất các phần tử chẵn/lẻ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Xuất các phần tử ở vị trí chẵn/lẻ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Tìm kiếm x trên dslk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Đếm trên dslk l có bao nhiêu x.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37220"/>
            <a:ext cx="10058400" cy="759871"/>
          </a:xfrm>
        </p:spPr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Bài tập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err="1"/>
              <a:t>Cài</a:t>
            </a:r>
            <a:r>
              <a:rPr lang="en-US" b="1" dirty="0"/>
              <a:t> </a:t>
            </a:r>
            <a:r>
              <a:rPr lang="en-US" b="1" dirty="0" err="1"/>
              <a:t>đặt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: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/>
              <a:t>Đếm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dslk</a:t>
            </a:r>
            <a:r>
              <a:rPr lang="en-US" b="1" dirty="0"/>
              <a:t> l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max/min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dslk</a:t>
            </a:r>
            <a:r>
              <a:rPr lang="en-US" b="1" dirty="0"/>
              <a:t>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chẵn</a:t>
            </a:r>
            <a:r>
              <a:rPr lang="en-US" b="1" dirty="0"/>
              <a:t> </a:t>
            </a:r>
            <a:r>
              <a:rPr lang="en-US" b="1" dirty="0" err="1"/>
              <a:t>nhỏ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dslk</a:t>
            </a:r>
            <a:endParaRPr lang="en-US" b="1" dirty="0"/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lẻ</a:t>
            </a:r>
            <a:r>
              <a:rPr lang="en-US" b="1" dirty="0"/>
              <a:t> </a:t>
            </a:r>
            <a:r>
              <a:rPr lang="en-US" b="1" dirty="0" err="1"/>
              <a:t>lớn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dslk</a:t>
            </a:r>
            <a:r>
              <a:rPr lang="en-US" b="1" dirty="0" smtClean="0"/>
              <a:t>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 smtClean="0"/>
              <a:t>Tìm</a:t>
            </a:r>
            <a:r>
              <a:rPr lang="en-US" b="1" dirty="0" smtClean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chẵn</a:t>
            </a:r>
            <a:r>
              <a:rPr lang="en-US" b="1" dirty="0" smtClean="0"/>
              <a:t> </a:t>
            </a:r>
            <a:r>
              <a:rPr lang="en-US" b="1" dirty="0" err="1" smtClean="0"/>
              <a:t>lớn</a:t>
            </a:r>
            <a:r>
              <a:rPr lang="en-US" b="1" dirty="0" smtClean="0"/>
              <a:t> </a:t>
            </a:r>
            <a:r>
              <a:rPr lang="en-US" b="1" dirty="0" err="1" smtClean="0"/>
              <a:t>nhất</a:t>
            </a:r>
            <a:r>
              <a:rPr lang="en-US" b="1" dirty="0" smtClean="0"/>
              <a:t> </a:t>
            </a:r>
            <a:r>
              <a:rPr lang="en-US" b="1" dirty="0" err="1" smtClean="0"/>
              <a:t>trong</a:t>
            </a:r>
            <a:r>
              <a:rPr lang="en-US" b="1" dirty="0" smtClean="0"/>
              <a:t> </a:t>
            </a:r>
            <a:r>
              <a:rPr lang="en-US" b="1" dirty="0" err="1" smtClean="0"/>
              <a:t>dslk</a:t>
            </a:r>
            <a:r>
              <a:rPr lang="en-US" b="1" dirty="0" smtClean="0"/>
              <a:t>, </a:t>
            </a:r>
            <a:r>
              <a:rPr lang="en-US" b="1" dirty="0" err="1" smtClean="0"/>
              <a:t>nếu</a:t>
            </a:r>
            <a:r>
              <a:rPr lang="en-US" b="1" dirty="0" smtClean="0"/>
              <a:t> </a:t>
            </a:r>
            <a:r>
              <a:rPr lang="en-US" b="1" dirty="0" err="1" smtClean="0"/>
              <a:t>dslk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 </a:t>
            </a:r>
            <a:r>
              <a:rPr lang="en-US" b="1" dirty="0" err="1" smtClean="0"/>
              <a:t>có</a:t>
            </a:r>
            <a:r>
              <a:rPr lang="en-US" b="1" dirty="0" smtClean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chẵn</a:t>
            </a:r>
            <a:r>
              <a:rPr lang="en-US" b="1" dirty="0" smtClean="0"/>
              <a:t> </a:t>
            </a:r>
            <a:r>
              <a:rPr lang="en-US" b="1" dirty="0" err="1" smtClean="0"/>
              <a:t>thì</a:t>
            </a:r>
            <a:r>
              <a:rPr lang="en-US" b="1" dirty="0" smtClean="0"/>
              <a:t> </a:t>
            </a:r>
            <a:r>
              <a:rPr lang="en-US" b="1" dirty="0" err="1" smtClean="0"/>
              <a:t>trả</a:t>
            </a:r>
            <a:r>
              <a:rPr lang="en-US" b="1" dirty="0" smtClean="0"/>
              <a:t> </a:t>
            </a:r>
            <a:r>
              <a:rPr lang="en-US" b="1" dirty="0" err="1" smtClean="0"/>
              <a:t>về</a:t>
            </a:r>
            <a:r>
              <a:rPr lang="en-US" b="1" dirty="0" smtClean="0"/>
              <a:t> -1.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 smtClean="0"/>
              <a:t>lẻ</a:t>
            </a:r>
            <a:r>
              <a:rPr lang="en-US" b="1" dirty="0" smtClean="0"/>
              <a:t> </a:t>
            </a:r>
            <a:r>
              <a:rPr lang="en-US" b="1" dirty="0" err="1" smtClean="0"/>
              <a:t>nhỏ</a:t>
            </a:r>
            <a:r>
              <a:rPr lang="en-US" b="1" dirty="0" smtClean="0"/>
              <a:t> </a:t>
            </a:r>
            <a:r>
              <a:rPr lang="en-US" b="1" dirty="0" err="1" smtClean="0"/>
              <a:t>nhất</a:t>
            </a:r>
            <a:r>
              <a:rPr lang="en-US" b="1" dirty="0" smtClean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dslk</a:t>
            </a:r>
            <a:r>
              <a:rPr lang="en-US" b="1" dirty="0"/>
              <a:t>, </a:t>
            </a:r>
            <a:r>
              <a:rPr lang="en-US" b="1" dirty="0" err="1"/>
              <a:t>nếu</a:t>
            </a:r>
            <a:r>
              <a:rPr lang="en-US" b="1" dirty="0"/>
              <a:t> </a:t>
            </a:r>
            <a:r>
              <a:rPr lang="en-US" b="1" dirty="0" err="1"/>
              <a:t>dslk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 smtClean="0"/>
              <a:t>lẻ</a:t>
            </a:r>
            <a:r>
              <a:rPr lang="en-US" b="1" dirty="0" smtClean="0"/>
              <a:t> </a:t>
            </a:r>
            <a:r>
              <a:rPr lang="en-US" b="1" dirty="0" err="1"/>
              <a:t>thì</a:t>
            </a:r>
            <a:r>
              <a:rPr lang="en-US" b="1" dirty="0"/>
              <a:t> </a:t>
            </a:r>
            <a:r>
              <a:rPr lang="en-US" b="1" dirty="0" err="1"/>
              <a:t>trả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0</a:t>
            </a:r>
            <a:r>
              <a:rPr lang="en-US" b="1" dirty="0" smtClean="0"/>
              <a:t>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 smtClean="0"/>
              <a:t>Xóa</a:t>
            </a:r>
            <a:r>
              <a:rPr lang="en-US" b="1" dirty="0" smtClean="0"/>
              <a:t> </a:t>
            </a:r>
            <a:r>
              <a:rPr lang="en-US" b="1" dirty="0" err="1" smtClean="0"/>
              <a:t>phần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max/min </a:t>
            </a:r>
            <a:r>
              <a:rPr lang="en-US" b="1" dirty="0" err="1" smtClean="0"/>
              <a:t>của</a:t>
            </a:r>
            <a:r>
              <a:rPr lang="en-US" b="1" dirty="0" smtClean="0"/>
              <a:t> </a:t>
            </a:r>
            <a:r>
              <a:rPr lang="en-US" b="1" dirty="0" err="1" smtClean="0"/>
              <a:t>dslk</a:t>
            </a:r>
            <a:endParaRPr lang="en-US" b="1" dirty="0" smtClean="0"/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 smtClean="0"/>
              <a:t>Thêm</a:t>
            </a:r>
            <a:r>
              <a:rPr lang="en-US" b="1" dirty="0" smtClean="0"/>
              <a:t> x </a:t>
            </a:r>
            <a:r>
              <a:rPr lang="en-US" b="1" dirty="0" err="1" smtClean="0"/>
              <a:t>vào</a:t>
            </a:r>
            <a:r>
              <a:rPr lang="en-US" b="1" dirty="0" smtClean="0"/>
              <a:t> </a:t>
            </a:r>
            <a:r>
              <a:rPr lang="en-US" b="1" dirty="0" err="1" smtClean="0"/>
              <a:t>dslk</a:t>
            </a:r>
            <a:r>
              <a:rPr lang="en-US" b="1" dirty="0" smtClean="0"/>
              <a:t> </a:t>
            </a:r>
            <a:r>
              <a:rPr lang="en-US" b="1" dirty="0" err="1" smtClean="0"/>
              <a:t>sao</a:t>
            </a:r>
            <a:r>
              <a:rPr lang="en-US" b="1" dirty="0" smtClean="0"/>
              <a:t> </a:t>
            </a:r>
            <a:r>
              <a:rPr lang="en-US" b="1" dirty="0" err="1" smtClean="0"/>
              <a:t>cho</a:t>
            </a:r>
            <a:r>
              <a:rPr lang="en-US" b="1" dirty="0" smtClean="0"/>
              <a:t> x </a:t>
            </a:r>
            <a:r>
              <a:rPr lang="en-US" b="1" dirty="0" err="1" smtClean="0"/>
              <a:t>là</a:t>
            </a:r>
            <a:r>
              <a:rPr lang="en-US" b="1" dirty="0" smtClean="0"/>
              <a:t> </a:t>
            </a:r>
            <a:r>
              <a:rPr lang="en-US" b="1" dirty="0" err="1" smtClean="0"/>
              <a:t>phần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cực</a:t>
            </a:r>
            <a:r>
              <a:rPr lang="en-US" b="1" dirty="0" smtClean="0"/>
              <a:t> </a:t>
            </a:r>
            <a:r>
              <a:rPr lang="en-US" b="1" dirty="0" err="1" smtClean="0"/>
              <a:t>đại</a:t>
            </a:r>
            <a:r>
              <a:rPr lang="en-US" b="1" dirty="0" smtClean="0"/>
              <a:t> (</a:t>
            </a:r>
            <a:r>
              <a:rPr lang="en-US" b="1" dirty="0" err="1" smtClean="0"/>
              <a:t>lớn</a:t>
            </a:r>
            <a:r>
              <a:rPr lang="en-US" b="1" dirty="0" smtClean="0"/>
              <a:t> </a:t>
            </a:r>
            <a:r>
              <a:rPr lang="en-US" b="1" dirty="0" err="1" smtClean="0"/>
              <a:t>hơn</a:t>
            </a:r>
            <a:r>
              <a:rPr lang="en-US" b="1" dirty="0" smtClean="0"/>
              <a:t> </a:t>
            </a:r>
            <a:r>
              <a:rPr lang="en-US" b="1" dirty="0" err="1" smtClean="0"/>
              <a:t>các</a:t>
            </a:r>
            <a:r>
              <a:rPr lang="en-US" b="1" dirty="0" smtClean="0"/>
              <a:t> </a:t>
            </a:r>
            <a:r>
              <a:rPr lang="en-US" b="1" dirty="0" err="1" smtClean="0"/>
              <a:t>phần</a:t>
            </a:r>
            <a:r>
              <a:rPr lang="en-US" b="1" dirty="0" smtClean="0"/>
              <a:t> </a:t>
            </a:r>
            <a:r>
              <a:rPr lang="en-US" b="1" dirty="0" err="1" smtClean="0"/>
              <a:t>tử</a:t>
            </a:r>
            <a:r>
              <a:rPr lang="en-US" b="1" dirty="0" smtClean="0"/>
              <a:t> </a:t>
            </a:r>
            <a:r>
              <a:rPr lang="en-US" b="1" dirty="0" err="1" smtClean="0"/>
              <a:t>kề</a:t>
            </a:r>
            <a:r>
              <a:rPr lang="en-US" b="1" dirty="0" smtClean="0"/>
              <a:t> </a:t>
            </a:r>
            <a:r>
              <a:rPr lang="en-US" b="1" dirty="0" err="1" smtClean="0"/>
              <a:t>nó</a:t>
            </a:r>
            <a:r>
              <a:rPr lang="en-US" b="1" dirty="0" smtClean="0"/>
              <a:t>)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 smtClean="0"/>
              <a:t>Tìm</a:t>
            </a:r>
            <a:r>
              <a:rPr lang="en-US" b="1" dirty="0" smtClean="0"/>
              <a:t> </a:t>
            </a:r>
            <a:r>
              <a:rPr lang="en-US" b="1" dirty="0" err="1" smtClean="0"/>
              <a:t>dãy</a:t>
            </a:r>
            <a:r>
              <a:rPr lang="en-US" b="1" dirty="0" smtClean="0"/>
              <a:t> con </a:t>
            </a:r>
            <a:r>
              <a:rPr lang="en-US" b="1" dirty="0" err="1" smtClean="0"/>
              <a:t>dài</a:t>
            </a:r>
            <a:r>
              <a:rPr lang="en-US" b="1" dirty="0" smtClean="0"/>
              <a:t> </a:t>
            </a:r>
            <a:r>
              <a:rPr lang="en-US" b="1" dirty="0" err="1" smtClean="0"/>
              <a:t>nhất</a:t>
            </a:r>
            <a:r>
              <a:rPr lang="en-US" b="1" dirty="0" smtClean="0"/>
              <a:t> </a:t>
            </a:r>
            <a:r>
              <a:rPr lang="en-US" b="1" dirty="0" err="1" smtClean="0"/>
              <a:t>của</a:t>
            </a:r>
            <a:r>
              <a:rPr lang="en-US" b="1" dirty="0" smtClean="0"/>
              <a:t> </a:t>
            </a:r>
            <a:r>
              <a:rPr lang="en-US" b="1" dirty="0" err="1" smtClean="0"/>
              <a:t>dslk</a:t>
            </a:r>
            <a:endParaRPr lang="en-US" b="1" dirty="0" smtClean="0"/>
          </a:p>
          <a:p>
            <a:pPr marL="514350" indent="-514350">
              <a:buFont typeface="+mj-lt"/>
              <a:buAutoNum type="arabicPeriod" startAt="11"/>
            </a:pPr>
            <a:r>
              <a:rPr lang="en-US" b="1" dirty="0" err="1" smtClean="0"/>
              <a:t>Kiểm</a:t>
            </a:r>
            <a:r>
              <a:rPr lang="en-US" b="1" dirty="0" smtClean="0"/>
              <a:t> </a:t>
            </a:r>
            <a:r>
              <a:rPr lang="en-US" b="1" dirty="0" err="1" smtClean="0"/>
              <a:t>tra</a:t>
            </a:r>
            <a:r>
              <a:rPr lang="en-US" b="1" dirty="0" smtClean="0"/>
              <a:t> </a:t>
            </a:r>
            <a:r>
              <a:rPr lang="en-US" b="1" dirty="0" err="1" smtClean="0"/>
              <a:t>dslk</a:t>
            </a:r>
            <a:r>
              <a:rPr lang="en-US" b="1" dirty="0" smtClean="0"/>
              <a:t> </a:t>
            </a:r>
            <a:r>
              <a:rPr lang="en-US" b="1" dirty="0" err="1" smtClean="0"/>
              <a:t>có</a:t>
            </a:r>
            <a:r>
              <a:rPr lang="en-US" b="1" dirty="0" smtClean="0"/>
              <a:t> </a:t>
            </a:r>
            <a:r>
              <a:rPr lang="en-US" b="1" dirty="0" err="1" smtClean="0"/>
              <a:t>tăng</a:t>
            </a:r>
            <a:r>
              <a:rPr lang="en-US" b="1" dirty="0" smtClean="0"/>
              <a:t> </a:t>
            </a:r>
            <a:r>
              <a:rPr lang="en-US" b="1" dirty="0" err="1" smtClean="0"/>
              <a:t>dần</a:t>
            </a:r>
            <a:r>
              <a:rPr lang="en-US" b="1" dirty="0" smtClean="0"/>
              <a:t>/</a:t>
            </a:r>
            <a:r>
              <a:rPr lang="en-US" b="1" dirty="0" err="1" smtClean="0"/>
              <a:t>giảm</a:t>
            </a:r>
            <a:r>
              <a:rPr lang="en-US" b="1" dirty="0" smtClean="0"/>
              <a:t> </a:t>
            </a:r>
            <a:r>
              <a:rPr lang="en-US" b="1" dirty="0" err="1" smtClean="0"/>
              <a:t>dần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?</a:t>
            </a:r>
            <a:endParaRPr lang="en-US" b="1" dirty="0"/>
          </a:p>
          <a:p>
            <a:pPr marL="514350" indent="-514350">
              <a:buNone/>
            </a:pP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D87FB-E7EA-4CF5-836F-DFC0C9B543B4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6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27E5-2E3F-4AE1-995E-77E2B7EB78DF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935" y="948448"/>
            <a:ext cx="5131344" cy="455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3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175956FF049F48857A601B2366A1E8" ma:contentTypeVersion="9" ma:contentTypeDescription="Create a new document." ma:contentTypeScope="" ma:versionID="014ae6507a54a9ab81ce5d6d3919f678">
  <xsd:schema xmlns:xsd="http://www.w3.org/2001/XMLSchema" xmlns:xs="http://www.w3.org/2001/XMLSchema" xmlns:p="http://schemas.microsoft.com/office/2006/metadata/properties" xmlns:ns2="bec1cf72-34b8-402f-9613-ebed87436c1f" xmlns:ns3="e1f39115-eada-46af-8bbe-8d98fb8204f3" targetNamespace="http://schemas.microsoft.com/office/2006/metadata/properties" ma:root="true" ma:fieldsID="7b31a02fc3a0f10d629298896d445f41" ns2:_="" ns3:_="">
    <xsd:import namespace="bec1cf72-34b8-402f-9613-ebed87436c1f"/>
    <xsd:import namespace="e1f39115-eada-46af-8bbe-8d98fb8204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c1cf72-34b8-402f-9613-ebed87436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f39115-eada-46af-8bbe-8d98fb8204f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EDFBC4-E699-41E9-980C-1155742D35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c1cf72-34b8-402f-9613-ebed87436c1f"/>
    <ds:schemaRef ds:uri="e1f39115-eada-46af-8bbe-8d98fb8204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2C9E94-0D1B-4A75-9B0F-7FA87EBEE6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488E90-2F3E-4681-8442-C5AF5FBC9185}">
  <ds:schemaRefs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e1f39115-eada-46af-8bbe-8d98fb8204f3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bec1cf72-34b8-402f-9613-ebed87436c1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7006</TotalTime>
  <Words>1456</Words>
  <Application>Microsoft Office PowerPoint</Application>
  <PresentationFormat>Widescreen</PresentationFormat>
  <Paragraphs>586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Arial Unicode MS</vt:lpstr>
      <vt:lpstr>Arial</vt:lpstr>
      <vt:lpstr>Calibri</vt:lpstr>
      <vt:lpstr>Consolas</vt:lpstr>
      <vt:lpstr>Courier New</vt:lpstr>
      <vt:lpstr>Georgia</vt:lpstr>
      <vt:lpstr>PMingLiU</vt:lpstr>
      <vt:lpstr>Sitka Text</vt:lpstr>
      <vt:lpstr>Symbol</vt:lpstr>
      <vt:lpstr>Tahoma</vt:lpstr>
      <vt:lpstr>Times</vt:lpstr>
      <vt:lpstr>Times New Roman</vt:lpstr>
      <vt:lpstr>Wingdings</vt:lpstr>
      <vt:lpstr>Retrospect</vt:lpstr>
      <vt:lpstr>Mục tiêu</vt:lpstr>
      <vt:lpstr>NỘI DUNG</vt:lpstr>
      <vt:lpstr>1. Xét ví dụ</vt:lpstr>
      <vt:lpstr>Các vấn đề hạn chế cấu trúc dữ liệu tĩnh </vt:lpstr>
      <vt:lpstr>2. Biến tĩnh (static)</vt:lpstr>
      <vt:lpstr>3. Biến động (dynamic)</vt:lpstr>
      <vt:lpstr>Biến động </vt:lpstr>
      <vt:lpstr>4. Con trỏ - Pointer</vt:lpstr>
      <vt:lpstr>5. Tính chất mảng một chiều</vt:lpstr>
      <vt:lpstr>6. Tính chất danh sách liên kết (DSLK)</vt:lpstr>
      <vt:lpstr>PowerPoint Presentation</vt:lpstr>
      <vt:lpstr>2. Định nghĩa DSLK</vt:lpstr>
      <vt:lpstr>2. Các loại danh sách liên kết</vt:lpstr>
      <vt:lpstr>2. Các loại danh sách liên kết (tt)</vt:lpstr>
      <vt:lpstr>3. Định nghĩa DSLK đơn (Single List)</vt:lpstr>
      <vt:lpstr>PowerPoint Presentation</vt:lpstr>
      <vt:lpstr>3.1. Khai báo Node và SList</vt:lpstr>
      <vt:lpstr>Ví dụ</vt:lpstr>
      <vt:lpstr>1. Hàm tạo Node</vt:lpstr>
      <vt:lpstr>2. Hàm xóa Node</vt:lpstr>
      <vt:lpstr>3. Khởi tạo danh sách liên kết đơn</vt:lpstr>
      <vt:lpstr>4. Tìm kiếm x trên dslk</vt:lpstr>
      <vt:lpstr>5.Thêm node vào đầu dslk</vt:lpstr>
      <vt:lpstr>6.Thêm node vào cuối dslk (tt)</vt:lpstr>
      <vt:lpstr>7. Thêm node p vào sau node q của dslk</vt:lpstr>
      <vt:lpstr>8. Xóa node đầu trong dslk</vt:lpstr>
      <vt:lpstr>9. Xóa node cuối trong dslk </vt:lpstr>
      <vt:lpstr>10. Xóa node nằm sau node q dslk (tt)</vt:lpstr>
      <vt:lpstr>11.Sắp xếp tăng dslk theo giải thuật InterchangeSort</vt:lpstr>
      <vt:lpstr>Bài tập</vt:lpstr>
      <vt:lpstr>Bài tập (tt)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Toan Le</dc:creator>
  <cp:lastModifiedBy>Windows User</cp:lastModifiedBy>
  <cp:revision>192</cp:revision>
  <dcterms:created xsi:type="dcterms:W3CDTF">2020-11-09T06:31:33Z</dcterms:created>
  <dcterms:modified xsi:type="dcterms:W3CDTF">2024-10-07T02:30:39Z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0x010100F3175956FF049F48857A601B2366A1E8</vt:lpwstr>
  </property>
</Properties>
</file>