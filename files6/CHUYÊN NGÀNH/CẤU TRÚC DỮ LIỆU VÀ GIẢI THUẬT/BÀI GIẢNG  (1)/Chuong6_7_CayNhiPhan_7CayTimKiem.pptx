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6"/>
  </p:notesMasterIdLst>
  <p:sldIdLst>
    <p:sldId id="264" r:id="rId5"/>
    <p:sldId id="265" r:id="rId6"/>
    <p:sldId id="266" r:id="rId7"/>
    <p:sldId id="267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469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14" r:id="rId53"/>
    <p:sldId id="315" r:id="rId54"/>
    <p:sldId id="316" r:id="rId55"/>
    <p:sldId id="317" r:id="rId56"/>
    <p:sldId id="318" r:id="rId57"/>
    <p:sldId id="319" r:id="rId58"/>
    <p:sldId id="320" r:id="rId59"/>
    <p:sldId id="321" r:id="rId60"/>
    <p:sldId id="322" r:id="rId61"/>
    <p:sldId id="323" r:id="rId62"/>
    <p:sldId id="324" r:id="rId63"/>
    <p:sldId id="325" r:id="rId64"/>
    <p:sldId id="326" r:id="rId65"/>
    <p:sldId id="327" r:id="rId66"/>
    <p:sldId id="328" r:id="rId67"/>
    <p:sldId id="329" r:id="rId68"/>
    <p:sldId id="330" r:id="rId69"/>
    <p:sldId id="331" r:id="rId70"/>
    <p:sldId id="332" r:id="rId71"/>
    <p:sldId id="333" r:id="rId72"/>
    <p:sldId id="334" r:id="rId73"/>
    <p:sldId id="335" r:id="rId74"/>
    <p:sldId id="336" r:id="rId75"/>
    <p:sldId id="337" r:id="rId76"/>
    <p:sldId id="338" r:id="rId77"/>
    <p:sldId id="339" r:id="rId78"/>
    <p:sldId id="340" r:id="rId79"/>
    <p:sldId id="342" r:id="rId80"/>
    <p:sldId id="343" r:id="rId81"/>
    <p:sldId id="531" r:id="rId82"/>
    <p:sldId id="532" r:id="rId83"/>
    <p:sldId id="533" r:id="rId84"/>
    <p:sldId id="534" r:id="rId85"/>
    <p:sldId id="535" r:id="rId86"/>
    <p:sldId id="536" r:id="rId87"/>
    <p:sldId id="537" r:id="rId88"/>
    <p:sldId id="538" r:id="rId89"/>
    <p:sldId id="539" r:id="rId90"/>
    <p:sldId id="540" r:id="rId91"/>
    <p:sldId id="541" r:id="rId92"/>
    <p:sldId id="542" r:id="rId93"/>
    <p:sldId id="543" r:id="rId94"/>
    <p:sldId id="544" r:id="rId95"/>
    <p:sldId id="545" r:id="rId96"/>
    <p:sldId id="546" r:id="rId97"/>
    <p:sldId id="547" r:id="rId98"/>
    <p:sldId id="548" r:id="rId99"/>
    <p:sldId id="549" r:id="rId100"/>
    <p:sldId id="550" r:id="rId101"/>
    <p:sldId id="551" r:id="rId102"/>
    <p:sldId id="552" r:id="rId103"/>
    <p:sldId id="553" r:id="rId104"/>
    <p:sldId id="554" r:id="rId105"/>
    <p:sldId id="555" r:id="rId106"/>
    <p:sldId id="556" r:id="rId107"/>
    <p:sldId id="557" r:id="rId108"/>
    <p:sldId id="558" r:id="rId109"/>
    <p:sldId id="559" r:id="rId110"/>
    <p:sldId id="560" r:id="rId111"/>
    <p:sldId id="523" r:id="rId112"/>
    <p:sldId id="344" r:id="rId113"/>
    <p:sldId id="528" r:id="rId114"/>
    <p:sldId id="346" r:id="rId115"/>
    <p:sldId id="347" r:id="rId116"/>
    <p:sldId id="348" r:id="rId117"/>
    <p:sldId id="349" r:id="rId118"/>
    <p:sldId id="350" r:id="rId119"/>
    <p:sldId id="351" r:id="rId120"/>
    <p:sldId id="352" r:id="rId121"/>
    <p:sldId id="353" r:id="rId122"/>
    <p:sldId id="354" r:id="rId123"/>
    <p:sldId id="355" r:id="rId124"/>
    <p:sldId id="356" r:id="rId125"/>
    <p:sldId id="357" r:id="rId126"/>
    <p:sldId id="358" r:id="rId127"/>
    <p:sldId id="359" r:id="rId128"/>
    <p:sldId id="360" r:id="rId129"/>
    <p:sldId id="361" r:id="rId130"/>
    <p:sldId id="362" r:id="rId131"/>
    <p:sldId id="363" r:id="rId132"/>
    <p:sldId id="364" r:id="rId133"/>
    <p:sldId id="365" r:id="rId134"/>
    <p:sldId id="366" r:id="rId135"/>
    <p:sldId id="367" r:id="rId136"/>
    <p:sldId id="368" r:id="rId137"/>
    <p:sldId id="529" r:id="rId138"/>
    <p:sldId id="370" r:id="rId139"/>
    <p:sldId id="371" r:id="rId140"/>
    <p:sldId id="372" r:id="rId141"/>
    <p:sldId id="373" r:id="rId142"/>
    <p:sldId id="374" r:id="rId143"/>
    <p:sldId id="375" r:id="rId144"/>
    <p:sldId id="530" r:id="rId1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CC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414" autoAdjust="0"/>
    <p:restoredTop sz="94010" autoAdjust="0"/>
  </p:normalViewPr>
  <p:slideViewPr>
    <p:cSldViewPr snapToGrid="0">
      <p:cViewPr varScale="1">
        <p:scale>
          <a:sx n="64" d="100"/>
          <a:sy n="64" d="100"/>
        </p:scale>
        <p:origin x="39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149" Type="http://schemas.openxmlformats.org/officeDocument/2006/relationships/theme" Target="theme/theme1.xml"/><Relationship Id="rId5" Type="http://schemas.openxmlformats.org/officeDocument/2006/relationships/slide" Target="slides/slide1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134" Type="http://schemas.openxmlformats.org/officeDocument/2006/relationships/slide" Target="slides/slide130.xml"/><Relationship Id="rId139" Type="http://schemas.openxmlformats.org/officeDocument/2006/relationships/slide" Target="slides/slide13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50" Type="http://schemas.openxmlformats.org/officeDocument/2006/relationships/tableStyles" Target="tableStyles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40" Type="http://schemas.openxmlformats.org/officeDocument/2006/relationships/slide" Target="slides/slide136.xml"/><Relationship Id="rId145" Type="http://schemas.openxmlformats.org/officeDocument/2006/relationships/slide" Target="slides/slide14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slide" Target="slides/slide131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slide" Target="slides/slide137.xml"/><Relationship Id="rId146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slide" Target="slides/slide132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slide" Target="slides/slide138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slide" Target="slides/slide139.xml"/><Relationship Id="rId148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44" Type="http://schemas.openxmlformats.org/officeDocument/2006/relationships/slide" Target="slides/slide140.xml"/><Relationship Id="rId90" Type="http://schemas.openxmlformats.org/officeDocument/2006/relationships/slide" Target="slides/slide8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7E7FDB-B56D-495D-AF5B-8EB475CE3C81}" type="datetimeFigureOut">
              <a:rPr lang="en-US" smtClean="0"/>
              <a:t>21/10/2024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745A3-603B-4A3F-985B-C51563797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047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CBE2B16-24DB-4966-AF78-0021EFED0DC1}" type="slidenum">
              <a:rPr lang="en-US" smtClean="0"/>
              <a:pPr/>
              <a:t>28</a:t>
            </a:fld>
            <a:endParaRPr lang="en-US" smtClean="0"/>
          </a:p>
        </p:txBody>
      </p:sp>
      <p:sp>
        <p:nvSpPr>
          <p:cNvPr id="10035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100357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8BBDB5D8-C9B9-4267-BF73-19A18A951C80}" type="slidenum">
              <a:rPr lang="en-US" sz="1200" b="0">
                <a:latin typeface="Arial" charset="0"/>
              </a:rPr>
              <a:pPr algn="r"/>
              <a:t>28</a:t>
            </a:fld>
            <a:endParaRPr lang="en-US" sz="1200" b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8144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0745A3-603B-4A3F-985B-C5156379754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464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sz="1200" b="1" smtClean="0">
                <a:solidFill>
                  <a:srgbClr val="0000FF"/>
                </a:solidFill>
              </a:rPr>
              <a:t>log</a:t>
            </a:r>
            <a:r>
              <a:rPr lang="vi-VN" sz="1200" b="1" baseline="-25000" smtClean="0">
                <a:solidFill>
                  <a:srgbClr val="0000FF"/>
                </a:solidFill>
              </a:rPr>
              <a:t>2</a:t>
            </a:r>
            <a:r>
              <a:rPr lang="vi-VN" sz="1200" b="1" smtClean="0">
                <a:solidFill>
                  <a:srgbClr val="0000FF"/>
                </a:solidFill>
              </a:rPr>
              <a:t>n</a:t>
            </a:r>
            <a:r>
              <a:rPr lang="en-US" sz="1200" b="1" smtClean="0">
                <a:solidFill>
                  <a:srgbClr val="0000FF"/>
                </a:solidFill>
              </a:rPr>
              <a:t>  khi nhập</a:t>
            </a:r>
            <a:r>
              <a:rPr lang="en-US" sz="1200" b="1" baseline="0" smtClean="0">
                <a:solidFill>
                  <a:srgbClr val="0000FF"/>
                </a:solidFill>
              </a:rPr>
              <a:t> hàm log Excel là =log(n,2) vậy log(1000000,2)=</a:t>
            </a:r>
            <a:r>
              <a:rPr lang="en-US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19.93157</a:t>
            </a:r>
            <a:r>
              <a:rPr lang="en-US" smtClean="0"/>
              <a:t>  </a:t>
            </a:r>
            <a:r>
              <a:rPr lang="en-US" sz="2400" smtClean="0"/>
              <a:t>≈ 20 (Node) nút</a:t>
            </a:r>
          </a:p>
          <a:p>
            <a:r>
              <a:rPr lang="vi-VN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Cú pháp hàm LOG: </a:t>
            </a:r>
            <a:r>
              <a:rPr lang="vi-VN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=LOG(number,[base])</a:t>
            </a:r>
            <a:endParaRPr lang="vi-VN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vi-VN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 đó:</a:t>
            </a:r>
            <a:endParaRPr lang="vi-VN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vi-VN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</a:t>
            </a:r>
            <a:r>
              <a:rPr lang="vi-VN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Là số thực dương mà bạn muốn tính logarit.</a:t>
            </a:r>
          </a:p>
          <a:p>
            <a:r>
              <a:rPr lang="vi-VN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</a:t>
            </a:r>
            <a:r>
              <a:rPr lang="vi-VN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Là cơ số của Logarit, tham số tùy chọn. Nếu cơ số được bỏ qua, thì cơ số được giả định là 10.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endParaRPr lang="en-US" sz="12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0745A3-603B-4A3F-985B-C5156379754B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814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If the node is not a leaf node, then the node</a:t>
            </a:r>
          </a:p>
          <a:p>
            <a:r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must be swapped with either it's in-order successor or predecessor. </a:t>
            </a:r>
          </a:p>
          <a:p>
            <a:r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Once the node has been swapped we can delete it.</a:t>
            </a:r>
          </a:p>
          <a:p>
            <a:r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If a deletion node was originally a leaf node, then</a:t>
            </a:r>
          </a:p>
          <a:p>
            <a:r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it can simply be removed.</a:t>
            </a: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4D1FCEF-5611-4C99-893F-BCED4C226041}" type="slidenum">
              <a:rPr lang="en-US"/>
              <a:pPr eaLnBrk="1" hangingPunct="1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445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smtClean="0">
                <a:effectLst/>
              </a:rPr>
              <a:t>Preorder: </a:t>
            </a:r>
            <a:r>
              <a:rPr lang="vi-VN" sz="1200" smtClean="0"/>
              <a:t>Đặt hàng trước</a:t>
            </a:r>
            <a:endParaRPr lang="en-US" sz="1200" smtClean="0"/>
          </a:p>
          <a:p>
            <a:pPr fontAlgn="t"/>
            <a:r>
              <a:rPr lang="en-US" sz="1200" smtClean="0">
                <a:effectLst/>
              </a:rPr>
              <a:t>Inorder: </a:t>
            </a:r>
            <a:r>
              <a:rPr lang="vi-VN" sz="1200" smtClean="0"/>
              <a:t>Theo thứ tự</a:t>
            </a:r>
            <a:endParaRPr lang="en-US" sz="1200" smtClean="0"/>
          </a:p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mtClean="0">
                <a:effectLst/>
              </a:rPr>
              <a:t>Postorder:</a:t>
            </a:r>
            <a:r>
              <a:rPr lang="en-US" sz="1200" baseline="0" smtClean="0">
                <a:effectLst/>
              </a:rPr>
              <a:t> </a:t>
            </a:r>
            <a:r>
              <a:rPr lang="vi-VN" smtClean="0"/>
              <a:t>Đăng đơn hàng</a:t>
            </a:r>
            <a:endParaRPr lang="en-US" sz="1200" smtClean="0">
              <a:effectLst/>
            </a:endParaRPr>
          </a:p>
          <a:p>
            <a:pPr fontAlgn="t"/>
            <a:endParaRPr lang="en-US" sz="1200" smtClean="0"/>
          </a:p>
          <a:p>
            <a:pPr fontAlgn="t"/>
            <a:endParaRPr lang="en-US" sz="1200" smtClean="0">
              <a:effectLst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0745A3-603B-4A3F-985B-C5156379754B}" type="slidenum">
              <a:rPr lang="en-US" smtClean="0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327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472224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323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32604"/>
            <a:ext cx="10642600" cy="703747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700" y="914400"/>
            <a:ext cx="10642600" cy="5384800"/>
          </a:xfrm>
        </p:spPr>
        <p:txBody>
          <a:bodyPr/>
          <a:lstStyle>
            <a:lvl1pPr marL="91440" indent="-91440" algn="just">
              <a:buFont typeface="Wingdings" panose="05000000000000000000" pitchFamily="2" charset="2"/>
              <a:buChar char="v"/>
              <a:defRPr sz="3200"/>
            </a:lvl1pPr>
            <a:lvl2pPr marL="384048" indent="-182880" algn="just">
              <a:buFont typeface="Wingdings" panose="05000000000000000000" pitchFamily="2" charset="2"/>
              <a:buChar char="v"/>
              <a:defRPr/>
            </a:lvl2pPr>
            <a:lvl3pPr marL="566928" indent="-182880" algn="just">
              <a:buFont typeface="Wingdings" panose="05000000000000000000" pitchFamily="2" charset="2"/>
              <a:buChar char="v"/>
              <a:defRPr sz="2800"/>
            </a:lvl3pPr>
            <a:lvl4pPr marL="749808" indent="-182880" algn="just">
              <a:buFont typeface="Wingdings" panose="05000000000000000000" pitchFamily="2" charset="2"/>
              <a:buChar char="v"/>
              <a:defRPr/>
            </a:lvl4pPr>
            <a:lvl5pPr marL="932688" indent="-182880" algn="just">
              <a:buFont typeface="Wingdings" panose="05000000000000000000" pitchFamily="2" charset="2"/>
              <a:buChar char="v"/>
              <a:defRPr sz="2400"/>
            </a:lvl5pPr>
            <a:lvl7pPr marL="1298575" indent="-269875">
              <a:defRPr sz="2000"/>
            </a:lvl7pPr>
            <a:lvl8pPr>
              <a:defRPr sz="1600"/>
            </a:lvl8pPr>
          </a:lstStyle>
          <a:p>
            <a:pPr lvl="0"/>
            <a:r>
              <a:rPr lang="en-US" smtClean="0"/>
              <a:t>Edit Master text styles</a:t>
            </a:r>
          </a:p>
          <a:p>
            <a:pPr lvl="2"/>
            <a:r>
              <a:rPr lang="en-US" smtClean="0"/>
              <a:t>Second level</a:t>
            </a:r>
          </a:p>
          <a:p>
            <a:pPr lvl="4"/>
            <a:r>
              <a:rPr lang="en-US" smtClean="0"/>
              <a:t>Third level</a:t>
            </a:r>
          </a:p>
          <a:p>
            <a:pPr lvl="6"/>
            <a:r>
              <a:rPr lang="en-US" smtClean="0"/>
              <a:t>Fourth level</a:t>
            </a:r>
          </a:p>
          <a:p>
            <a:pPr lvl="7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078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421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68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025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543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6666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25A313A-BB42-4E34-8E5F-18065357E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438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458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38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6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484350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2936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05538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3600" y="32604"/>
            <a:ext cx="10541000" cy="7218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3600" y="884641"/>
            <a:ext cx="10541000" cy="544719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80" y="6459785"/>
            <a:ext cx="40313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25A313A-BB42-4E34-8E5F-18065357EDE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63600" y="825655"/>
            <a:ext cx="10541000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66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1" kern="1200" spc="-50" baseline="0">
          <a:solidFill>
            <a:srgbClr val="0000C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3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s.usfca.edu/~galles/visualization/BST.html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s.usfca.edu/~galles/visualization/AVLtree.html" TargetMode="Externa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01700" y="1241670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Cấu trúc cây</a:t>
            </a:r>
          </a:p>
        </p:txBody>
      </p:sp>
      <p:pic>
        <p:nvPicPr>
          <p:cNvPr id="9221" name="Picture 4" descr="MCj0331821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1" y="2974200"/>
            <a:ext cx="3260725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2" name="Picture 6" descr="MCj0331821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flipV="1">
            <a:off x="7086601" y="2974200"/>
            <a:ext cx="3260725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3" name="Picture 7" descr="j0078711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5486401" y="3964800"/>
            <a:ext cx="1069975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20" name="AutoShape 8"/>
          <p:cNvSpPr>
            <a:spLocks noChangeArrowheads="1"/>
          </p:cNvSpPr>
          <p:nvPr/>
        </p:nvSpPr>
        <p:spPr bwMode="auto">
          <a:xfrm>
            <a:off x="4267200" y="1831200"/>
            <a:ext cx="3810000" cy="1676400"/>
          </a:xfrm>
          <a:prstGeom prst="cloudCallout">
            <a:avLst>
              <a:gd name="adj1" fmla="val -7417"/>
              <a:gd name="adj2" fmla="val 85324"/>
            </a:avLst>
          </a:prstGeom>
          <a:solidFill>
            <a:srgbClr val="CC00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>
              <a:defRPr/>
            </a:pPr>
            <a:r>
              <a:rPr lang="en-GB" sz="2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Sao trong m</a:t>
            </a:r>
            <a:r>
              <a:rPr lang="en-US" sz="2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áy tính, cây lại thể hiện ngược?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</a:t>
            </a:fld>
            <a:endParaRPr lang="en-US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1226825" y="544235"/>
            <a:ext cx="9525000" cy="8382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b="1" kern="1200" spc="-50" baseline="0">
                <a:solidFill>
                  <a:srgbClr val="0000C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440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 6. </a:t>
            </a:r>
            <a:r>
              <a:rPr lang="en-US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CÂY NHỊ PHÂN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0705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610120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Khái niệm</a:t>
            </a:r>
          </a:p>
        </p:txBody>
      </p:sp>
      <p:sp>
        <p:nvSpPr>
          <p:cNvPr id="8197" name="Freeform 4"/>
          <p:cNvSpPr>
            <a:spLocks/>
          </p:cNvSpPr>
          <p:nvPr/>
        </p:nvSpPr>
        <p:spPr bwMode="auto">
          <a:xfrm>
            <a:off x="1890714" y="3251200"/>
            <a:ext cx="4859337" cy="2159000"/>
          </a:xfrm>
          <a:custGeom>
            <a:avLst/>
            <a:gdLst>
              <a:gd name="T0" fmla="*/ 2147483647 w 3061"/>
              <a:gd name="T1" fmla="*/ 0 h 1360"/>
              <a:gd name="T2" fmla="*/ 2147483647 w 3061"/>
              <a:gd name="T3" fmla="*/ 2147483647 h 1360"/>
              <a:gd name="T4" fmla="*/ 2147483647 w 3061"/>
              <a:gd name="T5" fmla="*/ 2147483647 h 1360"/>
              <a:gd name="T6" fmla="*/ 2147483647 w 3061"/>
              <a:gd name="T7" fmla="*/ 2147483647 h 1360"/>
              <a:gd name="T8" fmla="*/ 2147483647 w 3061"/>
              <a:gd name="T9" fmla="*/ 2147483647 h 1360"/>
              <a:gd name="T10" fmla="*/ 2147483647 w 3061"/>
              <a:gd name="T11" fmla="*/ 2147483647 h 1360"/>
              <a:gd name="T12" fmla="*/ 2147483647 w 3061"/>
              <a:gd name="T13" fmla="*/ 2147483647 h 1360"/>
              <a:gd name="T14" fmla="*/ 2147483647 w 3061"/>
              <a:gd name="T15" fmla="*/ 2147483647 h 1360"/>
              <a:gd name="T16" fmla="*/ 2147483647 w 3061"/>
              <a:gd name="T17" fmla="*/ 2147483647 h 1360"/>
              <a:gd name="T18" fmla="*/ 2147483647 w 3061"/>
              <a:gd name="T19" fmla="*/ 2147483647 h 1360"/>
              <a:gd name="T20" fmla="*/ 2147483647 w 3061"/>
              <a:gd name="T21" fmla="*/ 2147483647 h 1360"/>
              <a:gd name="T22" fmla="*/ 2147483647 w 3061"/>
              <a:gd name="T23" fmla="*/ 2147483647 h 1360"/>
              <a:gd name="T24" fmla="*/ 2147483647 w 3061"/>
              <a:gd name="T25" fmla="*/ 2147483647 h 1360"/>
              <a:gd name="T26" fmla="*/ 2147483647 w 3061"/>
              <a:gd name="T27" fmla="*/ 2147483647 h 1360"/>
              <a:gd name="T28" fmla="*/ 2147483647 w 3061"/>
              <a:gd name="T29" fmla="*/ 2147483647 h 1360"/>
              <a:gd name="T30" fmla="*/ 2147483647 w 3061"/>
              <a:gd name="T31" fmla="*/ 2147483647 h 1360"/>
              <a:gd name="T32" fmla="*/ 2147483647 w 3061"/>
              <a:gd name="T33" fmla="*/ 2147483647 h 1360"/>
              <a:gd name="T34" fmla="*/ 2147483647 w 3061"/>
              <a:gd name="T35" fmla="*/ 2147483647 h 1360"/>
              <a:gd name="T36" fmla="*/ 2147483647 w 3061"/>
              <a:gd name="T37" fmla="*/ 2147483647 h 1360"/>
              <a:gd name="T38" fmla="*/ 2147483647 w 3061"/>
              <a:gd name="T39" fmla="*/ 2147483647 h 1360"/>
              <a:gd name="T40" fmla="*/ 2147483647 w 3061"/>
              <a:gd name="T41" fmla="*/ 2147483647 h 1360"/>
              <a:gd name="T42" fmla="*/ 2147483647 w 3061"/>
              <a:gd name="T43" fmla="*/ 2147483647 h 1360"/>
              <a:gd name="T44" fmla="*/ 2147483647 w 3061"/>
              <a:gd name="T45" fmla="*/ 2147483647 h 1360"/>
              <a:gd name="T46" fmla="*/ 2147483647 w 3061"/>
              <a:gd name="T47" fmla="*/ 2147483647 h 1360"/>
              <a:gd name="T48" fmla="*/ 2147483647 w 3061"/>
              <a:gd name="T49" fmla="*/ 2147483647 h 1360"/>
              <a:gd name="T50" fmla="*/ 2147483647 w 3061"/>
              <a:gd name="T51" fmla="*/ 2147483647 h 1360"/>
              <a:gd name="T52" fmla="*/ 2147483647 w 3061"/>
              <a:gd name="T53" fmla="*/ 2147483647 h 1360"/>
              <a:gd name="T54" fmla="*/ 2147483647 w 3061"/>
              <a:gd name="T55" fmla="*/ 2147483647 h 1360"/>
              <a:gd name="T56" fmla="*/ 2147483647 w 3061"/>
              <a:gd name="T57" fmla="*/ 2147483647 h 1360"/>
              <a:gd name="T58" fmla="*/ 2147483647 w 3061"/>
              <a:gd name="T59" fmla="*/ 2147483647 h 1360"/>
              <a:gd name="T60" fmla="*/ 2147483647 w 3061"/>
              <a:gd name="T61" fmla="*/ 2147483647 h 1360"/>
              <a:gd name="T62" fmla="*/ 2147483647 w 3061"/>
              <a:gd name="T63" fmla="*/ 2147483647 h 1360"/>
              <a:gd name="T64" fmla="*/ 2147483647 w 3061"/>
              <a:gd name="T65" fmla="*/ 2147483647 h 1360"/>
              <a:gd name="T66" fmla="*/ 2147483647 w 3061"/>
              <a:gd name="T67" fmla="*/ 2147483647 h 1360"/>
              <a:gd name="T68" fmla="*/ 2147483647 w 3061"/>
              <a:gd name="T69" fmla="*/ 2147483647 h 1360"/>
              <a:gd name="T70" fmla="*/ 2147483647 w 3061"/>
              <a:gd name="T71" fmla="*/ 2147483647 h 1360"/>
              <a:gd name="T72" fmla="*/ 2147483647 w 3061"/>
              <a:gd name="T73" fmla="*/ 2147483647 h 1360"/>
              <a:gd name="T74" fmla="*/ 2147483647 w 3061"/>
              <a:gd name="T75" fmla="*/ 2147483647 h 1360"/>
              <a:gd name="T76" fmla="*/ 2147483647 w 3061"/>
              <a:gd name="T77" fmla="*/ 2147483647 h 1360"/>
              <a:gd name="T78" fmla="*/ 2147483647 w 3061"/>
              <a:gd name="T79" fmla="*/ 2147483647 h 1360"/>
              <a:gd name="T80" fmla="*/ 2147483647 w 3061"/>
              <a:gd name="T81" fmla="*/ 2147483647 h 1360"/>
              <a:gd name="T82" fmla="*/ 2147483647 w 3061"/>
              <a:gd name="T83" fmla="*/ 2147483647 h 1360"/>
              <a:gd name="T84" fmla="*/ 2147483647 w 3061"/>
              <a:gd name="T85" fmla="*/ 2147483647 h 1360"/>
              <a:gd name="T86" fmla="*/ 2147483647 w 3061"/>
              <a:gd name="T87" fmla="*/ 2147483647 h 1360"/>
              <a:gd name="T88" fmla="*/ 2147483647 w 3061"/>
              <a:gd name="T89" fmla="*/ 2147483647 h 1360"/>
              <a:gd name="T90" fmla="*/ 2147483647 w 3061"/>
              <a:gd name="T91" fmla="*/ 2147483647 h 1360"/>
              <a:gd name="T92" fmla="*/ 2147483647 w 3061"/>
              <a:gd name="T93" fmla="*/ 2147483647 h 1360"/>
              <a:gd name="T94" fmla="*/ 2147483647 w 3061"/>
              <a:gd name="T95" fmla="*/ 2147483647 h 1360"/>
              <a:gd name="T96" fmla="*/ 2147483647 w 3061"/>
              <a:gd name="T97" fmla="*/ 0 h 136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061"/>
              <a:gd name="T148" fmla="*/ 0 h 1360"/>
              <a:gd name="T149" fmla="*/ 3061 w 3061"/>
              <a:gd name="T150" fmla="*/ 1360 h 136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061" h="1360">
                <a:moveTo>
                  <a:pt x="1413" y="0"/>
                </a:moveTo>
                <a:cubicBezTo>
                  <a:pt x="1299" y="14"/>
                  <a:pt x="1182" y="23"/>
                  <a:pt x="1085" y="88"/>
                </a:cubicBezTo>
                <a:cubicBezTo>
                  <a:pt x="1080" y="96"/>
                  <a:pt x="1076" y="105"/>
                  <a:pt x="1069" y="112"/>
                </a:cubicBezTo>
                <a:cubicBezTo>
                  <a:pt x="1062" y="119"/>
                  <a:pt x="1051" y="121"/>
                  <a:pt x="1045" y="128"/>
                </a:cubicBezTo>
                <a:cubicBezTo>
                  <a:pt x="1032" y="142"/>
                  <a:pt x="1013" y="176"/>
                  <a:pt x="1013" y="176"/>
                </a:cubicBezTo>
                <a:cubicBezTo>
                  <a:pt x="1002" y="221"/>
                  <a:pt x="988" y="268"/>
                  <a:pt x="973" y="312"/>
                </a:cubicBezTo>
                <a:cubicBezTo>
                  <a:pt x="982" y="386"/>
                  <a:pt x="981" y="369"/>
                  <a:pt x="1005" y="424"/>
                </a:cubicBezTo>
                <a:cubicBezTo>
                  <a:pt x="1012" y="439"/>
                  <a:pt x="1021" y="472"/>
                  <a:pt x="1021" y="472"/>
                </a:cubicBezTo>
                <a:cubicBezTo>
                  <a:pt x="1018" y="488"/>
                  <a:pt x="1018" y="531"/>
                  <a:pt x="997" y="544"/>
                </a:cubicBezTo>
                <a:cubicBezTo>
                  <a:pt x="976" y="557"/>
                  <a:pt x="946" y="554"/>
                  <a:pt x="925" y="568"/>
                </a:cubicBezTo>
                <a:cubicBezTo>
                  <a:pt x="855" y="615"/>
                  <a:pt x="767" y="614"/>
                  <a:pt x="685" y="616"/>
                </a:cubicBezTo>
                <a:cubicBezTo>
                  <a:pt x="541" y="620"/>
                  <a:pt x="397" y="621"/>
                  <a:pt x="253" y="624"/>
                </a:cubicBezTo>
                <a:cubicBezTo>
                  <a:pt x="208" y="639"/>
                  <a:pt x="237" y="630"/>
                  <a:pt x="165" y="648"/>
                </a:cubicBezTo>
                <a:cubicBezTo>
                  <a:pt x="149" y="652"/>
                  <a:pt x="117" y="664"/>
                  <a:pt x="117" y="664"/>
                </a:cubicBezTo>
                <a:cubicBezTo>
                  <a:pt x="99" y="692"/>
                  <a:pt x="81" y="710"/>
                  <a:pt x="53" y="728"/>
                </a:cubicBezTo>
                <a:cubicBezTo>
                  <a:pt x="41" y="765"/>
                  <a:pt x="34" y="793"/>
                  <a:pt x="13" y="824"/>
                </a:cubicBezTo>
                <a:cubicBezTo>
                  <a:pt x="0" y="916"/>
                  <a:pt x="19" y="988"/>
                  <a:pt x="69" y="1064"/>
                </a:cubicBezTo>
                <a:cubicBezTo>
                  <a:pt x="74" y="1071"/>
                  <a:pt x="74" y="1080"/>
                  <a:pt x="77" y="1088"/>
                </a:cubicBezTo>
                <a:cubicBezTo>
                  <a:pt x="82" y="1099"/>
                  <a:pt x="86" y="1110"/>
                  <a:pt x="93" y="1120"/>
                </a:cubicBezTo>
                <a:cubicBezTo>
                  <a:pt x="120" y="1157"/>
                  <a:pt x="162" y="1202"/>
                  <a:pt x="205" y="1216"/>
                </a:cubicBezTo>
                <a:cubicBezTo>
                  <a:pt x="247" y="1258"/>
                  <a:pt x="323" y="1282"/>
                  <a:pt x="381" y="1296"/>
                </a:cubicBezTo>
                <a:cubicBezTo>
                  <a:pt x="477" y="1320"/>
                  <a:pt x="572" y="1344"/>
                  <a:pt x="669" y="1360"/>
                </a:cubicBezTo>
                <a:cubicBezTo>
                  <a:pt x="860" y="1352"/>
                  <a:pt x="1046" y="1328"/>
                  <a:pt x="1237" y="1320"/>
                </a:cubicBezTo>
                <a:cubicBezTo>
                  <a:pt x="1364" y="1299"/>
                  <a:pt x="1493" y="1277"/>
                  <a:pt x="1621" y="1264"/>
                </a:cubicBezTo>
                <a:cubicBezTo>
                  <a:pt x="1744" y="1270"/>
                  <a:pt x="1859" y="1287"/>
                  <a:pt x="1981" y="1296"/>
                </a:cubicBezTo>
                <a:cubicBezTo>
                  <a:pt x="2142" y="1280"/>
                  <a:pt x="2300" y="1258"/>
                  <a:pt x="2461" y="1240"/>
                </a:cubicBezTo>
                <a:cubicBezTo>
                  <a:pt x="2573" y="1212"/>
                  <a:pt x="2642" y="1206"/>
                  <a:pt x="2765" y="1200"/>
                </a:cubicBezTo>
                <a:cubicBezTo>
                  <a:pt x="2813" y="1193"/>
                  <a:pt x="2889" y="1192"/>
                  <a:pt x="2933" y="1168"/>
                </a:cubicBezTo>
                <a:cubicBezTo>
                  <a:pt x="2967" y="1149"/>
                  <a:pt x="2993" y="1116"/>
                  <a:pt x="3029" y="1104"/>
                </a:cubicBezTo>
                <a:cubicBezTo>
                  <a:pt x="3034" y="1096"/>
                  <a:pt x="3041" y="1089"/>
                  <a:pt x="3045" y="1080"/>
                </a:cubicBezTo>
                <a:cubicBezTo>
                  <a:pt x="3052" y="1065"/>
                  <a:pt x="3061" y="1032"/>
                  <a:pt x="3061" y="1032"/>
                </a:cubicBezTo>
                <a:cubicBezTo>
                  <a:pt x="3052" y="938"/>
                  <a:pt x="3040" y="908"/>
                  <a:pt x="2989" y="832"/>
                </a:cubicBezTo>
                <a:cubicBezTo>
                  <a:pt x="2960" y="788"/>
                  <a:pt x="2948" y="809"/>
                  <a:pt x="2917" y="792"/>
                </a:cubicBezTo>
                <a:cubicBezTo>
                  <a:pt x="2824" y="740"/>
                  <a:pt x="2914" y="775"/>
                  <a:pt x="2821" y="744"/>
                </a:cubicBezTo>
                <a:cubicBezTo>
                  <a:pt x="2733" y="715"/>
                  <a:pt x="2866" y="761"/>
                  <a:pt x="2773" y="720"/>
                </a:cubicBezTo>
                <a:cubicBezTo>
                  <a:pt x="2735" y="703"/>
                  <a:pt x="2692" y="693"/>
                  <a:pt x="2653" y="680"/>
                </a:cubicBezTo>
                <a:cubicBezTo>
                  <a:pt x="2559" y="649"/>
                  <a:pt x="2455" y="637"/>
                  <a:pt x="2357" y="624"/>
                </a:cubicBezTo>
                <a:cubicBezTo>
                  <a:pt x="2287" y="615"/>
                  <a:pt x="2219" y="604"/>
                  <a:pt x="2149" y="592"/>
                </a:cubicBezTo>
                <a:cubicBezTo>
                  <a:pt x="2085" y="581"/>
                  <a:pt x="2031" y="561"/>
                  <a:pt x="1973" y="536"/>
                </a:cubicBezTo>
                <a:cubicBezTo>
                  <a:pt x="1955" y="528"/>
                  <a:pt x="1935" y="530"/>
                  <a:pt x="1917" y="520"/>
                </a:cubicBezTo>
                <a:cubicBezTo>
                  <a:pt x="1917" y="520"/>
                  <a:pt x="1857" y="480"/>
                  <a:pt x="1845" y="472"/>
                </a:cubicBezTo>
                <a:cubicBezTo>
                  <a:pt x="1829" y="461"/>
                  <a:pt x="1797" y="440"/>
                  <a:pt x="1797" y="440"/>
                </a:cubicBezTo>
                <a:cubicBezTo>
                  <a:pt x="1761" y="386"/>
                  <a:pt x="1803" y="439"/>
                  <a:pt x="1757" y="408"/>
                </a:cubicBezTo>
                <a:cubicBezTo>
                  <a:pt x="1740" y="396"/>
                  <a:pt x="1726" y="380"/>
                  <a:pt x="1709" y="368"/>
                </a:cubicBezTo>
                <a:cubicBezTo>
                  <a:pt x="1690" y="310"/>
                  <a:pt x="1646" y="256"/>
                  <a:pt x="1621" y="200"/>
                </a:cubicBezTo>
                <a:cubicBezTo>
                  <a:pt x="1595" y="142"/>
                  <a:pt x="1625" y="159"/>
                  <a:pt x="1581" y="144"/>
                </a:cubicBezTo>
                <a:cubicBezTo>
                  <a:pt x="1566" y="99"/>
                  <a:pt x="1546" y="95"/>
                  <a:pt x="1501" y="80"/>
                </a:cubicBezTo>
                <a:cubicBezTo>
                  <a:pt x="1483" y="74"/>
                  <a:pt x="1453" y="48"/>
                  <a:pt x="1453" y="48"/>
                </a:cubicBezTo>
                <a:cubicBezTo>
                  <a:pt x="1431" y="15"/>
                  <a:pt x="1444" y="31"/>
                  <a:pt x="1413" y="0"/>
                </a:cubicBezTo>
                <a:close/>
              </a:path>
            </a:pathLst>
          </a:cu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8" name="Oval 5"/>
          <p:cNvSpPr>
            <a:spLocks noChangeArrowheads="1"/>
          </p:cNvSpPr>
          <p:nvPr/>
        </p:nvSpPr>
        <p:spPr bwMode="auto">
          <a:xfrm>
            <a:off x="4256089" y="1620839"/>
            <a:ext cx="504825" cy="504825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GB" sz="2400">
                <a:solidFill>
                  <a:schemeClr val="bg1"/>
                </a:solidFill>
                <a:latin typeface="Courier New" pitchFamily="49" charset="0"/>
              </a:rPr>
              <a:t>J</a:t>
            </a:r>
          </a:p>
        </p:txBody>
      </p:sp>
      <p:sp>
        <p:nvSpPr>
          <p:cNvPr id="8199" name="Oval 6"/>
          <p:cNvSpPr>
            <a:spLocks noChangeArrowheads="1"/>
          </p:cNvSpPr>
          <p:nvPr/>
        </p:nvSpPr>
        <p:spPr bwMode="auto">
          <a:xfrm>
            <a:off x="3175001" y="2555876"/>
            <a:ext cx="504825" cy="504825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GB" sz="2400">
                <a:solidFill>
                  <a:schemeClr val="bg1"/>
                </a:solidFill>
                <a:latin typeface="Courier New" pitchFamily="49" charset="0"/>
              </a:rPr>
              <a:t>Z</a:t>
            </a:r>
          </a:p>
        </p:txBody>
      </p:sp>
      <p:sp>
        <p:nvSpPr>
          <p:cNvPr id="8200" name="Oval 7"/>
          <p:cNvSpPr>
            <a:spLocks noChangeArrowheads="1"/>
          </p:cNvSpPr>
          <p:nvPr/>
        </p:nvSpPr>
        <p:spPr bwMode="auto">
          <a:xfrm>
            <a:off x="4759326" y="2628901"/>
            <a:ext cx="504825" cy="504825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GB" sz="2400">
                <a:solidFill>
                  <a:schemeClr val="bg1"/>
                </a:solidFill>
                <a:latin typeface="Courier New" pitchFamily="49" charset="0"/>
              </a:rPr>
              <a:t>A</a:t>
            </a:r>
          </a:p>
        </p:txBody>
      </p:sp>
      <p:sp>
        <p:nvSpPr>
          <p:cNvPr id="8201" name="Oval 8"/>
          <p:cNvSpPr>
            <a:spLocks noChangeArrowheads="1"/>
          </p:cNvSpPr>
          <p:nvPr/>
        </p:nvSpPr>
        <p:spPr bwMode="auto">
          <a:xfrm>
            <a:off x="5480051" y="3492501"/>
            <a:ext cx="504825" cy="504825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GB" sz="2400">
                <a:solidFill>
                  <a:schemeClr val="bg1"/>
                </a:solidFill>
                <a:latin typeface="Courier New" pitchFamily="49" charset="0"/>
              </a:rPr>
              <a:t>D</a:t>
            </a:r>
          </a:p>
        </p:txBody>
      </p:sp>
      <p:sp>
        <p:nvSpPr>
          <p:cNvPr id="8202" name="Oval 9"/>
          <p:cNvSpPr>
            <a:spLocks noChangeArrowheads="1"/>
          </p:cNvSpPr>
          <p:nvPr/>
        </p:nvSpPr>
        <p:spPr bwMode="auto">
          <a:xfrm>
            <a:off x="3606801" y="3421064"/>
            <a:ext cx="504825" cy="504825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GB" sz="2400">
                <a:solidFill>
                  <a:schemeClr val="bg1"/>
                </a:solidFill>
                <a:latin typeface="Courier New" pitchFamily="49" charset="0"/>
              </a:rPr>
              <a:t>R</a:t>
            </a:r>
          </a:p>
        </p:txBody>
      </p:sp>
      <p:sp>
        <p:nvSpPr>
          <p:cNvPr id="8203" name="Oval 10"/>
          <p:cNvSpPr>
            <a:spLocks noChangeArrowheads="1"/>
          </p:cNvSpPr>
          <p:nvPr/>
        </p:nvSpPr>
        <p:spPr bwMode="auto">
          <a:xfrm>
            <a:off x="2455864" y="3421064"/>
            <a:ext cx="504825" cy="504825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GB" sz="2400">
                <a:solidFill>
                  <a:schemeClr val="bg1"/>
                </a:solidFill>
                <a:latin typeface="Courier New" pitchFamily="49" charset="0"/>
              </a:rPr>
              <a:t>B</a:t>
            </a:r>
          </a:p>
        </p:txBody>
      </p:sp>
      <p:sp>
        <p:nvSpPr>
          <p:cNvPr id="8204" name="Oval 11"/>
          <p:cNvSpPr>
            <a:spLocks noChangeArrowheads="1"/>
          </p:cNvSpPr>
          <p:nvPr/>
        </p:nvSpPr>
        <p:spPr bwMode="auto">
          <a:xfrm>
            <a:off x="5911851" y="4500564"/>
            <a:ext cx="504825" cy="504825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GB" sz="2400">
                <a:solidFill>
                  <a:schemeClr val="bg1"/>
                </a:solidFill>
                <a:latin typeface="Courier New" pitchFamily="49" charset="0"/>
              </a:rPr>
              <a:t>L</a:t>
            </a:r>
          </a:p>
        </p:txBody>
      </p:sp>
      <p:sp>
        <p:nvSpPr>
          <p:cNvPr id="8205" name="Oval 12"/>
          <p:cNvSpPr>
            <a:spLocks noChangeArrowheads="1"/>
          </p:cNvSpPr>
          <p:nvPr/>
        </p:nvSpPr>
        <p:spPr bwMode="auto">
          <a:xfrm>
            <a:off x="4975226" y="4500564"/>
            <a:ext cx="504825" cy="504825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GB" sz="2400">
                <a:solidFill>
                  <a:schemeClr val="bg1"/>
                </a:solidFill>
                <a:latin typeface="Courier New" pitchFamily="49" charset="0"/>
              </a:rPr>
              <a:t>F</a:t>
            </a:r>
          </a:p>
        </p:txBody>
      </p:sp>
      <p:sp>
        <p:nvSpPr>
          <p:cNvPr id="8206" name="Oval 13"/>
          <p:cNvSpPr>
            <a:spLocks noChangeArrowheads="1"/>
          </p:cNvSpPr>
          <p:nvPr/>
        </p:nvSpPr>
        <p:spPr bwMode="auto">
          <a:xfrm>
            <a:off x="3822701" y="4500564"/>
            <a:ext cx="504825" cy="504825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GB" sz="2400">
                <a:solidFill>
                  <a:schemeClr val="bg1"/>
                </a:solidFill>
                <a:latin typeface="Courier New" pitchFamily="49" charset="0"/>
              </a:rPr>
              <a:t>C</a:t>
            </a:r>
          </a:p>
        </p:txBody>
      </p:sp>
      <p:sp>
        <p:nvSpPr>
          <p:cNvPr id="8207" name="Oval 14"/>
          <p:cNvSpPr>
            <a:spLocks noChangeArrowheads="1"/>
          </p:cNvSpPr>
          <p:nvPr/>
        </p:nvSpPr>
        <p:spPr bwMode="auto">
          <a:xfrm>
            <a:off x="2959101" y="4500564"/>
            <a:ext cx="504825" cy="504825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GB" sz="2400">
                <a:solidFill>
                  <a:schemeClr val="bg1"/>
                </a:solidFill>
                <a:latin typeface="Courier New" pitchFamily="49" charset="0"/>
              </a:rPr>
              <a:t>K</a:t>
            </a:r>
          </a:p>
        </p:txBody>
      </p:sp>
      <p:sp>
        <p:nvSpPr>
          <p:cNvPr id="8208" name="Oval 15"/>
          <p:cNvSpPr>
            <a:spLocks noChangeArrowheads="1"/>
          </p:cNvSpPr>
          <p:nvPr/>
        </p:nvSpPr>
        <p:spPr bwMode="auto">
          <a:xfrm>
            <a:off x="2022476" y="4500564"/>
            <a:ext cx="504825" cy="504825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GB" sz="2400">
                <a:solidFill>
                  <a:schemeClr val="bg1"/>
                </a:solidFill>
                <a:latin typeface="Courier New" pitchFamily="49" charset="0"/>
              </a:rPr>
              <a:t>Q</a:t>
            </a:r>
          </a:p>
        </p:txBody>
      </p:sp>
      <p:sp>
        <p:nvSpPr>
          <p:cNvPr id="8209" name="Line 16"/>
          <p:cNvSpPr>
            <a:spLocks noChangeShapeType="1"/>
          </p:cNvSpPr>
          <p:nvPr/>
        </p:nvSpPr>
        <p:spPr bwMode="auto">
          <a:xfrm flipH="1">
            <a:off x="3606801" y="2052638"/>
            <a:ext cx="720725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0" name="Line 17"/>
          <p:cNvSpPr>
            <a:spLocks noChangeShapeType="1"/>
          </p:cNvSpPr>
          <p:nvPr/>
        </p:nvSpPr>
        <p:spPr bwMode="auto">
          <a:xfrm flipH="1">
            <a:off x="2814639" y="2989263"/>
            <a:ext cx="433387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1" name="Line 18"/>
          <p:cNvSpPr>
            <a:spLocks noChangeShapeType="1"/>
          </p:cNvSpPr>
          <p:nvPr/>
        </p:nvSpPr>
        <p:spPr bwMode="auto">
          <a:xfrm flipH="1">
            <a:off x="2382838" y="3924301"/>
            <a:ext cx="21590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2" name="Line 19"/>
          <p:cNvSpPr>
            <a:spLocks noChangeShapeType="1"/>
          </p:cNvSpPr>
          <p:nvPr/>
        </p:nvSpPr>
        <p:spPr bwMode="auto">
          <a:xfrm>
            <a:off x="2814638" y="3924301"/>
            <a:ext cx="360362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3" name="Line 20"/>
          <p:cNvSpPr>
            <a:spLocks noChangeShapeType="1"/>
          </p:cNvSpPr>
          <p:nvPr/>
        </p:nvSpPr>
        <p:spPr bwMode="auto">
          <a:xfrm>
            <a:off x="3606800" y="2989263"/>
            <a:ext cx="21590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4" name="Line 21"/>
          <p:cNvSpPr>
            <a:spLocks noChangeShapeType="1"/>
          </p:cNvSpPr>
          <p:nvPr/>
        </p:nvSpPr>
        <p:spPr bwMode="auto">
          <a:xfrm>
            <a:off x="2887663" y="3852863"/>
            <a:ext cx="107950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5" name="Line 22"/>
          <p:cNvSpPr>
            <a:spLocks noChangeShapeType="1"/>
          </p:cNvSpPr>
          <p:nvPr/>
        </p:nvSpPr>
        <p:spPr bwMode="auto">
          <a:xfrm>
            <a:off x="4614864" y="2124076"/>
            <a:ext cx="288925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6" name="Line 23"/>
          <p:cNvSpPr>
            <a:spLocks noChangeShapeType="1"/>
          </p:cNvSpPr>
          <p:nvPr/>
        </p:nvSpPr>
        <p:spPr bwMode="auto">
          <a:xfrm>
            <a:off x="5048251" y="3132138"/>
            <a:ext cx="574675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7" name="Line 24"/>
          <p:cNvSpPr>
            <a:spLocks noChangeShapeType="1"/>
          </p:cNvSpPr>
          <p:nvPr/>
        </p:nvSpPr>
        <p:spPr bwMode="auto">
          <a:xfrm flipH="1">
            <a:off x="5335589" y="3997325"/>
            <a:ext cx="287337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8" name="Line 25"/>
          <p:cNvSpPr>
            <a:spLocks noChangeShapeType="1"/>
          </p:cNvSpPr>
          <p:nvPr/>
        </p:nvSpPr>
        <p:spPr bwMode="auto">
          <a:xfrm>
            <a:off x="5695950" y="3997325"/>
            <a:ext cx="431800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9" name="Text Box 26"/>
          <p:cNvSpPr txBox="1">
            <a:spLocks noChangeArrowheads="1"/>
          </p:cNvSpPr>
          <p:nvPr/>
        </p:nvSpPr>
        <p:spPr bwMode="auto">
          <a:xfrm>
            <a:off x="7259638" y="4614863"/>
            <a:ext cx="157956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GB" sz="2800">
                <a:solidFill>
                  <a:srgbClr val="000066"/>
                </a:solidFill>
                <a:latin typeface="Times New Roman" pitchFamily="18" charset="0"/>
              </a:rPr>
              <a:t>Nút lá</a:t>
            </a:r>
          </a:p>
        </p:txBody>
      </p:sp>
      <p:sp>
        <p:nvSpPr>
          <p:cNvPr id="8220" name="Line 27"/>
          <p:cNvSpPr>
            <a:spLocks noChangeShapeType="1"/>
          </p:cNvSpPr>
          <p:nvPr/>
        </p:nvSpPr>
        <p:spPr bwMode="auto">
          <a:xfrm flipH="1">
            <a:off x="6704013" y="493236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221" name="Text Box 28"/>
          <p:cNvSpPr txBox="1">
            <a:spLocks noChangeArrowheads="1"/>
          </p:cNvSpPr>
          <p:nvPr/>
        </p:nvSpPr>
        <p:spPr bwMode="auto">
          <a:xfrm>
            <a:off x="5848350" y="2238376"/>
            <a:ext cx="14668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GB" sz="2800">
                <a:solidFill>
                  <a:srgbClr val="CC0000"/>
                </a:solidFill>
                <a:latin typeface="Times New Roman" pitchFamily="18" charset="0"/>
              </a:rPr>
              <a:t>Nút con</a:t>
            </a:r>
          </a:p>
        </p:txBody>
      </p:sp>
      <p:sp>
        <p:nvSpPr>
          <p:cNvPr id="8222" name="Text Box 29"/>
          <p:cNvSpPr txBox="1">
            <a:spLocks noChangeArrowheads="1"/>
          </p:cNvSpPr>
          <p:nvPr/>
        </p:nvSpPr>
        <p:spPr bwMode="auto">
          <a:xfrm>
            <a:off x="5335588" y="1497013"/>
            <a:ext cx="6969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GB" sz="2800">
                <a:solidFill>
                  <a:srgbClr val="FF0000"/>
                </a:solidFill>
                <a:latin typeface="Times New Roman" pitchFamily="18" charset="0"/>
              </a:rPr>
              <a:t>gốc</a:t>
            </a:r>
          </a:p>
        </p:txBody>
      </p:sp>
      <p:sp>
        <p:nvSpPr>
          <p:cNvPr id="8223" name="Text Box 30"/>
          <p:cNvSpPr txBox="1">
            <a:spLocks noChangeArrowheads="1"/>
          </p:cNvSpPr>
          <p:nvPr/>
        </p:nvSpPr>
        <p:spPr bwMode="auto">
          <a:xfrm>
            <a:off x="2311401" y="1712913"/>
            <a:ext cx="94128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GB" sz="2800">
                <a:solidFill>
                  <a:srgbClr val="FF00FF"/>
                </a:solidFill>
                <a:latin typeface="Times New Roman" pitchFamily="18" charset="0"/>
              </a:rPr>
              <a:t>Cạnh</a:t>
            </a:r>
          </a:p>
        </p:txBody>
      </p:sp>
      <p:sp>
        <p:nvSpPr>
          <p:cNvPr id="8224" name="Line 31"/>
          <p:cNvSpPr>
            <a:spLocks noChangeShapeType="1"/>
          </p:cNvSpPr>
          <p:nvPr/>
        </p:nvSpPr>
        <p:spPr bwMode="auto">
          <a:xfrm>
            <a:off x="3248025" y="2052639"/>
            <a:ext cx="503238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225" name="Line 32"/>
          <p:cNvSpPr>
            <a:spLocks noChangeShapeType="1"/>
          </p:cNvSpPr>
          <p:nvPr/>
        </p:nvSpPr>
        <p:spPr bwMode="auto">
          <a:xfrm>
            <a:off x="2743201" y="2197100"/>
            <a:ext cx="144463" cy="935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226" name="Line 33"/>
          <p:cNvSpPr>
            <a:spLocks noChangeShapeType="1"/>
          </p:cNvSpPr>
          <p:nvPr/>
        </p:nvSpPr>
        <p:spPr bwMode="auto">
          <a:xfrm flipH="1">
            <a:off x="4830764" y="1763713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227" name="Line 34"/>
          <p:cNvSpPr>
            <a:spLocks noChangeShapeType="1"/>
          </p:cNvSpPr>
          <p:nvPr/>
        </p:nvSpPr>
        <p:spPr bwMode="auto">
          <a:xfrm flipH="1">
            <a:off x="5335588" y="2555875"/>
            <a:ext cx="43180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228" name="Line 35"/>
          <p:cNvSpPr>
            <a:spLocks noChangeShapeType="1"/>
          </p:cNvSpPr>
          <p:nvPr/>
        </p:nvSpPr>
        <p:spPr bwMode="auto">
          <a:xfrm flipH="1">
            <a:off x="5767388" y="2771776"/>
            <a:ext cx="21590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229" name="Line 36"/>
          <p:cNvSpPr>
            <a:spLocks noChangeShapeType="1"/>
          </p:cNvSpPr>
          <p:nvPr/>
        </p:nvSpPr>
        <p:spPr bwMode="auto">
          <a:xfrm>
            <a:off x="6199188" y="2771775"/>
            <a:ext cx="0" cy="1657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8230" name="Picture 37" descr="MCj0331821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0800000">
            <a:off x="7693026" y="1752600"/>
            <a:ext cx="2898775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8667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590871"/>
            <a:ext cx="10541000" cy="721861"/>
          </a:xfrm>
        </p:spPr>
        <p:txBody>
          <a:bodyPr/>
          <a:lstStyle/>
          <a:p>
            <a:pPr eaLnBrk="1" hangingPunct="1"/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endParaRPr lang="en-US" dirty="0" smtClean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524000" y="1082039"/>
            <a:ext cx="9144000" cy="3276600"/>
          </a:xfrm>
        </p:spPr>
        <p:txBody>
          <a:bodyPr/>
          <a:lstStyle/>
          <a:p>
            <a:pPr marL="457200" indent="-457200">
              <a:lnSpc>
                <a:spcPct val="130000"/>
              </a:lnSpc>
            </a:pPr>
            <a:r>
              <a:rPr lang="en-US" dirty="0" smtClean="0"/>
              <a:t>Thuật ngữ</a:t>
            </a:r>
          </a:p>
          <a:p>
            <a:pPr marL="635000" lvl="1" indent="-342900">
              <a:lnSpc>
                <a:spcPct val="130000"/>
              </a:lnSpc>
            </a:pPr>
            <a:r>
              <a:rPr lang="en-US" b="1" dirty="0" smtClean="0">
                <a:solidFill>
                  <a:srgbClr val="FF00FF"/>
                </a:solidFill>
              </a:rPr>
              <a:t>Nút gốc</a:t>
            </a:r>
            <a:r>
              <a:rPr lang="en-US" dirty="0" smtClean="0"/>
              <a:t>: không có nút cha</a:t>
            </a:r>
          </a:p>
          <a:p>
            <a:pPr marL="635000" lvl="1" indent="-342900">
              <a:lnSpc>
                <a:spcPct val="130000"/>
              </a:lnSpc>
            </a:pPr>
            <a:r>
              <a:rPr lang="en-US" b="1" dirty="0" smtClean="0">
                <a:solidFill>
                  <a:srgbClr val="FF00FF"/>
                </a:solidFill>
              </a:rPr>
              <a:t>Nút lá</a:t>
            </a:r>
            <a:r>
              <a:rPr lang="en-US" dirty="0" smtClean="0"/>
              <a:t>: không có nút con</a:t>
            </a:r>
          </a:p>
          <a:p>
            <a:pPr marL="635000" lvl="1" indent="-342900">
              <a:lnSpc>
                <a:spcPct val="130000"/>
              </a:lnSpc>
            </a:pPr>
            <a:r>
              <a:rPr lang="en-US" b="1" dirty="0" smtClean="0">
                <a:solidFill>
                  <a:srgbClr val="FF00FF"/>
                </a:solidFill>
              </a:rPr>
              <a:t>Nút trong</a:t>
            </a:r>
            <a:r>
              <a:rPr lang="en-US" dirty="0" smtClean="0"/>
              <a:t>: không phải nút lá và nút gốc</a:t>
            </a:r>
          </a:p>
          <a:p>
            <a:pPr marL="635000" lvl="1" indent="-342900">
              <a:lnSpc>
                <a:spcPct val="130000"/>
              </a:lnSpc>
            </a:pPr>
            <a:r>
              <a:rPr lang="en-US" b="1" dirty="0" smtClean="0">
                <a:solidFill>
                  <a:srgbClr val="FF00FF"/>
                </a:solidFill>
              </a:rPr>
              <a:t>Chiều cao</a:t>
            </a:r>
            <a:r>
              <a:rPr lang="en-US" dirty="0" smtClean="0"/>
              <a:t>: khoảng cách từ gốc đến lá của nhánh cao nhất</a:t>
            </a:r>
          </a:p>
        </p:txBody>
      </p:sp>
      <p:sp>
        <p:nvSpPr>
          <p:cNvPr id="9222" name="Oval 4"/>
          <p:cNvSpPr>
            <a:spLocks noChangeArrowheads="1"/>
          </p:cNvSpPr>
          <p:nvPr/>
        </p:nvSpPr>
        <p:spPr bwMode="auto">
          <a:xfrm>
            <a:off x="5791200" y="4238625"/>
            <a:ext cx="762000" cy="3810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9223" name="Oval 5"/>
          <p:cNvSpPr>
            <a:spLocks noChangeArrowheads="1"/>
          </p:cNvSpPr>
          <p:nvPr/>
        </p:nvSpPr>
        <p:spPr bwMode="auto">
          <a:xfrm>
            <a:off x="4876800" y="5076825"/>
            <a:ext cx="762000" cy="3810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9224" name="Oval 6"/>
          <p:cNvSpPr>
            <a:spLocks noChangeArrowheads="1"/>
          </p:cNvSpPr>
          <p:nvPr/>
        </p:nvSpPr>
        <p:spPr bwMode="auto">
          <a:xfrm>
            <a:off x="5943600" y="5076825"/>
            <a:ext cx="762000" cy="3810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9225" name="Oval 7"/>
          <p:cNvSpPr>
            <a:spLocks noChangeArrowheads="1"/>
          </p:cNvSpPr>
          <p:nvPr/>
        </p:nvSpPr>
        <p:spPr bwMode="auto">
          <a:xfrm>
            <a:off x="4419600" y="5762625"/>
            <a:ext cx="762000" cy="3810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9226" name="Oval 8"/>
          <p:cNvSpPr>
            <a:spLocks noChangeArrowheads="1"/>
          </p:cNvSpPr>
          <p:nvPr/>
        </p:nvSpPr>
        <p:spPr bwMode="auto">
          <a:xfrm>
            <a:off x="5334000" y="5762625"/>
            <a:ext cx="762000" cy="3810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9227" name="Oval 9"/>
          <p:cNvSpPr>
            <a:spLocks noChangeArrowheads="1"/>
          </p:cNvSpPr>
          <p:nvPr/>
        </p:nvSpPr>
        <p:spPr bwMode="auto">
          <a:xfrm>
            <a:off x="6248400" y="5762625"/>
            <a:ext cx="762000" cy="3810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9228" name="Oval 10"/>
          <p:cNvSpPr>
            <a:spLocks noChangeArrowheads="1"/>
          </p:cNvSpPr>
          <p:nvPr/>
        </p:nvSpPr>
        <p:spPr bwMode="auto">
          <a:xfrm>
            <a:off x="7162800" y="5762625"/>
            <a:ext cx="762000" cy="3810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cxnSp>
        <p:nvCxnSpPr>
          <p:cNvPr id="9229" name="AutoShape 11"/>
          <p:cNvCxnSpPr>
            <a:cxnSpLocks noChangeShapeType="1"/>
            <a:stCxn id="9223" idx="4"/>
            <a:endCxn id="9225" idx="0"/>
          </p:cNvCxnSpPr>
          <p:nvPr/>
        </p:nvCxnSpPr>
        <p:spPr bwMode="auto">
          <a:xfrm flipH="1">
            <a:off x="4800600" y="5486400"/>
            <a:ext cx="457200" cy="247650"/>
          </a:xfrm>
          <a:prstGeom prst="straightConnector1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9230" name="AutoShape 12"/>
          <p:cNvCxnSpPr>
            <a:cxnSpLocks noChangeShapeType="1"/>
            <a:stCxn id="9224" idx="4"/>
            <a:endCxn id="9226" idx="0"/>
          </p:cNvCxnSpPr>
          <p:nvPr/>
        </p:nvCxnSpPr>
        <p:spPr bwMode="auto">
          <a:xfrm flipH="1">
            <a:off x="5715000" y="5486400"/>
            <a:ext cx="609600" cy="247650"/>
          </a:xfrm>
          <a:prstGeom prst="straightConnector1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9231" name="AutoShape 13"/>
          <p:cNvCxnSpPr>
            <a:cxnSpLocks noChangeShapeType="1"/>
            <a:stCxn id="9224" idx="4"/>
            <a:endCxn id="9227" idx="0"/>
          </p:cNvCxnSpPr>
          <p:nvPr/>
        </p:nvCxnSpPr>
        <p:spPr bwMode="auto">
          <a:xfrm>
            <a:off x="6324600" y="5486400"/>
            <a:ext cx="304800" cy="247650"/>
          </a:xfrm>
          <a:prstGeom prst="straightConnector1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9232" name="AutoShape 14"/>
          <p:cNvCxnSpPr>
            <a:cxnSpLocks noChangeShapeType="1"/>
            <a:stCxn id="9224" idx="4"/>
            <a:endCxn id="9228" idx="0"/>
          </p:cNvCxnSpPr>
          <p:nvPr/>
        </p:nvCxnSpPr>
        <p:spPr bwMode="auto">
          <a:xfrm>
            <a:off x="6324600" y="5486400"/>
            <a:ext cx="1219200" cy="247650"/>
          </a:xfrm>
          <a:prstGeom prst="straightConnector1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9233" name="AutoShape 15"/>
          <p:cNvCxnSpPr>
            <a:cxnSpLocks noChangeShapeType="1"/>
            <a:stCxn id="9222" idx="4"/>
            <a:endCxn id="9224" idx="0"/>
          </p:cNvCxnSpPr>
          <p:nvPr/>
        </p:nvCxnSpPr>
        <p:spPr bwMode="auto">
          <a:xfrm>
            <a:off x="6172200" y="4648200"/>
            <a:ext cx="152400" cy="400050"/>
          </a:xfrm>
          <a:prstGeom prst="straightConnector1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9234" name="AutoShape 16"/>
          <p:cNvCxnSpPr>
            <a:cxnSpLocks noChangeShapeType="1"/>
            <a:stCxn id="9222" idx="4"/>
            <a:endCxn id="9223" idx="0"/>
          </p:cNvCxnSpPr>
          <p:nvPr/>
        </p:nvCxnSpPr>
        <p:spPr bwMode="auto">
          <a:xfrm flipH="1">
            <a:off x="5257800" y="4648200"/>
            <a:ext cx="914400" cy="400050"/>
          </a:xfrm>
          <a:prstGeom prst="straightConnector1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9235" name="Oval 17"/>
          <p:cNvSpPr>
            <a:spLocks noChangeArrowheads="1"/>
          </p:cNvSpPr>
          <p:nvPr/>
        </p:nvSpPr>
        <p:spPr bwMode="auto">
          <a:xfrm>
            <a:off x="6934200" y="5076825"/>
            <a:ext cx="762000" cy="3810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cxnSp>
        <p:nvCxnSpPr>
          <p:cNvPr id="9236" name="AutoShape 18"/>
          <p:cNvCxnSpPr>
            <a:cxnSpLocks noChangeShapeType="1"/>
            <a:stCxn id="9222" idx="4"/>
            <a:endCxn id="9235" idx="0"/>
          </p:cNvCxnSpPr>
          <p:nvPr/>
        </p:nvCxnSpPr>
        <p:spPr bwMode="auto">
          <a:xfrm>
            <a:off x="6172200" y="4648200"/>
            <a:ext cx="1143000" cy="400050"/>
          </a:xfrm>
          <a:prstGeom prst="straightConnector1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9237" name="AutoShape 20"/>
          <p:cNvSpPr>
            <a:spLocks/>
          </p:cNvSpPr>
          <p:nvPr/>
        </p:nvSpPr>
        <p:spPr bwMode="auto">
          <a:xfrm>
            <a:off x="8001000" y="4191000"/>
            <a:ext cx="381000" cy="1981200"/>
          </a:xfrm>
          <a:prstGeom prst="rightBrace">
            <a:avLst>
              <a:gd name="adj1" fmla="val 43333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9238" name="Text Box 24"/>
          <p:cNvSpPr txBox="1">
            <a:spLocks noChangeArrowheads="1"/>
          </p:cNvSpPr>
          <p:nvPr/>
        </p:nvSpPr>
        <p:spPr bwMode="auto">
          <a:xfrm>
            <a:off x="8458200" y="4940301"/>
            <a:ext cx="14221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400">
                <a:solidFill>
                  <a:srgbClr val="000066"/>
                </a:solidFill>
                <a:latin typeface="Times New Roman" pitchFamily="18" charset="0"/>
              </a:rPr>
              <a:t>Chiều cao</a:t>
            </a:r>
          </a:p>
        </p:txBody>
      </p:sp>
      <p:sp>
        <p:nvSpPr>
          <p:cNvPr id="9239" name="Text Box 25"/>
          <p:cNvSpPr txBox="1">
            <a:spLocks noChangeArrowheads="1"/>
          </p:cNvSpPr>
          <p:nvPr/>
        </p:nvSpPr>
        <p:spPr bwMode="auto">
          <a:xfrm>
            <a:off x="2608264" y="4222751"/>
            <a:ext cx="14001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800">
                <a:solidFill>
                  <a:srgbClr val="CC0000"/>
                </a:solidFill>
                <a:latin typeface="Palatino Linotype" pitchFamily="18" charset="0"/>
              </a:rPr>
              <a:t>N</a:t>
            </a:r>
            <a:r>
              <a:rPr lang="en-US" sz="2800">
                <a:solidFill>
                  <a:srgbClr val="CC0000"/>
                </a:solidFill>
                <a:latin typeface="Times New Roman" pitchFamily="18" charset="0"/>
              </a:rPr>
              <a:t>út gốc</a:t>
            </a:r>
          </a:p>
        </p:txBody>
      </p:sp>
      <p:sp>
        <p:nvSpPr>
          <p:cNvPr id="9240" name="Text Box 26"/>
          <p:cNvSpPr txBox="1">
            <a:spLocks noChangeArrowheads="1"/>
          </p:cNvSpPr>
          <p:nvPr/>
        </p:nvSpPr>
        <p:spPr bwMode="auto">
          <a:xfrm>
            <a:off x="2590800" y="4975225"/>
            <a:ext cx="160973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800">
                <a:solidFill>
                  <a:srgbClr val="FF00FF"/>
                </a:solidFill>
                <a:latin typeface="Palatino Linotype" pitchFamily="18" charset="0"/>
              </a:rPr>
              <a:t>N</a:t>
            </a:r>
            <a:r>
              <a:rPr lang="en-US" sz="2800">
                <a:solidFill>
                  <a:srgbClr val="FF00FF"/>
                </a:solidFill>
                <a:latin typeface="Times New Roman" pitchFamily="18" charset="0"/>
              </a:rPr>
              <a:t>út trong</a:t>
            </a:r>
          </a:p>
        </p:txBody>
      </p:sp>
      <p:sp>
        <p:nvSpPr>
          <p:cNvPr id="9241" name="Text Box 27"/>
          <p:cNvSpPr txBox="1">
            <a:spLocks noChangeArrowheads="1"/>
          </p:cNvSpPr>
          <p:nvPr/>
        </p:nvSpPr>
        <p:spPr bwMode="auto">
          <a:xfrm>
            <a:off x="2590801" y="5661025"/>
            <a:ext cx="1109599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800">
                <a:solidFill>
                  <a:srgbClr val="66FF33"/>
                </a:solidFill>
                <a:latin typeface="Palatino Linotype" pitchFamily="18" charset="0"/>
              </a:rPr>
              <a:t>N</a:t>
            </a:r>
            <a:r>
              <a:rPr lang="en-US" sz="2800">
                <a:solidFill>
                  <a:srgbClr val="66FF33"/>
                </a:solidFill>
                <a:latin typeface="Times New Roman" pitchFamily="18" charset="0"/>
              </a:rPr>
              <a:t>út lá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2122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0" name="Oval 30"/>
          <p:cNvSpPr>
            <a:spLocks noChangeArrowheads="1"/>
          </p:cNvSpPr>
          <p:nvPr/>
        </p:nvSpPr>
        <p:spPr bwMode="auto">
          <a:xfrm>
            <a:off x="1625600" y="2832100"/>
            <a:ext cx="3581400" cy="2324100"/>
          </a:xfrm>
          <a:prstGeom prst="ellipse">
            <a:avLst/>
          </a:prstGeom>
          <a:gradFill rotWithShape="1">
            <a:gsLst>
              <a:gs pos="0">
                <a:srgbClr val="00CC00">
                  <a:alpha val="57001"/>
                </a:srgbClr>
              </a:gs>
              <a:gs pos="100000">
                <a:srgbClr val="CC0000">
                  <a:alpha val="59000"/>
                </a:srgbClr>
              </a:gs>
            </a:gsLst>
            <a:path path="shape">
              <a:fillToRect l="50000" t="50000" r="50000" b="50000"/>
            </a:path>
          </a:gradFill>
          <a:ln w="381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494616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Khái niệm</a:t>
            </a:r>
          </a:p>
        </p:txBody>
      </p:sp>
      <p:sp>
        <p:nvSpPr>
          <p:cNvPr id="10245" name="Text Box 4"/>
          <p:cNvSpPr txBox="1">
            <a:spLocks noChangeArrowheads="1"/>
          </p:cNvSpPr>
          <p:nvPr/>
        </p:nvSpPr>
        <p:spPr bwMode="auto">
          <a:xfrm>
            <a:off x="5346700" y="1295401"/>
            <a:ext cx="1295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Root</a:t>
            </a:r>
          </a:p>
        </p:txBody>
      </p:sp>
      <p:sp>
        <p:nvSpPr>
          <p:cNvPr id="10246" name="Text Box 5"/>
          <p:cNvSpPr txBox="1">
            <a:spLocks noChangeArrowheads="1"/>
          </p:cNvSpPr>
          <p:nvPr/>
        </p:nvSpPr>
        <p:spPr bwMode="auto">
          <a:xfrm>
            <a:off x="3898900" y="2133601"/>
            <a:ext cx="1295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Node A</a:t>
            </a:r>
          </a:p>
        </p:txBody>
      </p:sp>
      <p:sp>
        <p:nvSpPr>
          <p:cNvPr id="10247" name="Text Box 6"/>
          <p:cNvSpPr txBox="1">
            <a:spLocks noChangeArrowheads="1"/>
          </p:cNvSpPr>
          <p:nvPr/>
        </p:nvSpPr>
        <p:spPr bwMode="auto">
          <a:xfrm>
            <a:off x="2070100" y="4191001"/>
            <a:ext cx="1295400" cy="466725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Node H</a:t>
            </a:r>
          </a:p>
        </p:txBody>
      </p:sp>
      <p:sp>
        <p:nvSpPr>
          <p:cNvPr id="10248" name="Text Box 7"/>
          <p:cNvSpPr txBox="1">
            <a:spLocks noChangeArrowheads="1"/>
          </p:cNvSpPr>
          <p:nvPr/>
        </p:nvSpPr>
        <p:spPr bwMode="auto">
          <a:xfrm>
            <a:off x="7251700" y="2133601"/>
            <a:ext cx="1295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Node B</a:t>
            </a:r>
          </a:p>
        </p:txBody>
      </p:sp>
      <p:sp>
        <p:nvSpPr>
          <p:cNvPr id="10249" name="Text Box 8"/>
          <p:cNvSpPr txBox="1">
            <a:spLocks noChangeArrowheads="1"/>
          </p:cNvSpPr>
          <p:nvPr/>
        </p:nvSpPr>
        <p:spPr bwMode="auto">
          <a:xfrm>
            <a:off x="9080500" y="3048001"/>
            <a:ext cx="1295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Node G</a:t>
            </a:r>
          </a:p>
        </p:txBody>
      </p:sp>
      <p:sp>
        <p:nvSpPr>
          <p:cNvPr id="10250" name="Text Box 9"/>
          <p:cNvSpPr txBox="1">
            <a:spLocks noChangeArrowheads="1"/>
          </p:cNvSpPr>
          <p:nvPr/>
        </p:nvSpPr>
        <p:spPr bwMode="auto">
          <a:xfrm>
            <a:off x="7632700" y="3048001"/>
            <a:ext cx="1295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Node F</a:t>
            </a:r>
          </a:p>
        </p:txBody>
      </p:sp>
      <p:sp>
        <p:nvSpPr>
          <p:cNvPr id="10251" name="Text Box 10"/>
          <p:cNvSpPr txBox="1">
            <a:spLocks noChangeArrowheads="1"/>
          </p:cNvSpPr>
          <p:nvPr/>
        </p:nvSpPr>
        <p:spPr bwMode="auto">
          <a:xfrm>
            <a:off x="6184900" y="3048001"/>
            <a:ext cx="1295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Node E</a:t>
            </a:r>
          </a:p>
        </p:txBody>
      </p:sp>
      <p:sp>
        <p:nvSpPr>
          <p:cNvPr id="10252" name="Text Box 11"/>
          <p:cNvSpPr txBox="1">
            <a:spLocks noChangeArrowheads="1"/>
          </p:cNvSpPr>
          <p:nvPr/>
        </p:nvSpPr>
        <p:spPr bwMode="auto">
          <a:xfrm>
            <a:off x="4508500" y="3048001"/>
            <a:ext cx="1295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Node D</a:t>
            </a:r>
          </a:p>
        </p:txBody>
      </p:sp>
      <p:sp>
        <p:nvSpPr>
          <p:cNvPr id="10253" name="Text Box 12"/>
          <p:cNvSpPr txBox="1">
            <a:spLocks noChangeArrowheads="1"/>
          </p:cNvSpPr>
          <p:nvPr/>
        </p:nvSpPr>
        <p:spPr bwMode="auto">
          <a:xfrm>
            <a:off x="2603500" y="3048001"/>
            <a:ext cx="1295400" cy="466725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Node C</a:t>
            </a:r>
          </a:p>
        </p:txBody>
      </p:sp>
      <p:sp>
        <p:nvSpPr>
          <p:cNvPr id="10254" name="Text Box 13"/>
          <p:cNvSpPr txBox="1">
            <a:spLocks noChangeArrowheads="1"/>
          </p:cNvSpPr>
          <p:nvPr/>
        </p:nvSpPr>
        <p:spPr bwMode="auto">
          <a:xfrm>
            <a:off x="8318500" y="4191001"/>
            <a:ext cx="1295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Node K</a:t>
            </a:r>
          </a:p>
        </p:txBody>
      </p:sp>
      <p:sp>
        <p:nvSpPr>
          <p:cNvPr id="10255" name="Text Box 14"/>
          <p:cNvSpPr txBox="1">
            <a:spLocks noChangeArrowheads="1"/>
          </p:cNvSpPr>
          <p:nvPr/>
        </p:nvSpPr>
        <p:spPr bwMode="auto">
          <a:xfrm>
            <a:off x="6870700" y="4191001"/>
            <a:ext cx="1295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Node J</a:t>
            </a:r>
          </a:p>
        </p:txBody>
      </p:sp>
      <p:sp>
        <p:nvSpPr>
          <p:cNvPr id="10256" name="Text Box 15"/>
          <p:cNvSpPr txBox="1">
            <a:spLocks noChangeArrowheads="1"/>
          </p:cNvSpPr>
          <p:nvPr/>
        </p:nvSpPr>
        <p:spPr bwMode="auto">
          <a:xfrm>
            <a:off x="8394700" y="5029201"/>
            <a:ext cx="1295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Node L</a:t>
            </a:r>
          </a:p>
        </p:txBody>
      </p:sp>
      <p:sp>
        <p:nvSpPr>
          <p:cNvPr id="10257" name="Text Box 16"/>
          <p:cNvSpPr txBox="1">
            <a:spLocks noChangeArrowheads="1"/>
          </p:cNvSpPr>
          <p:nvPr/>
        </p:nvSpPr>
        <p:spPr bwMode="auto">
          <a:xfrm>
            <a:off x="3517900" y="4191001"/>
            <a:ext cx="1295400" cy="466725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Node I</a:t>
            </a:r>
          </a:p>
        </p:txBody>
      </p:sp>
      <p:sp>
        <p:nvSpPr>
          <p:cNvPr id="10258" name="Line 17"/>
          <p:cNvSpPr>
            <a:spLocks noChangeShapeType="1"/>
          </p:cNvSpPr>
          <p:nvPr/>
        </p:nvSpPr>
        <p:spPr bwMode="auto">
          <a:xfrm flipH="1">
            <a:off x="4889500" y="17526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9" name="Line 18"/>
          <p:cNvSpPr>
            <a:spLocks noChangeShapeType="1"/>
          </p:cNvSpPr>
          <p:nvPr/>
        </p:nvSpPr>
        <p:spPr bwMode="auto">
          <a:xfrm>
            <a:off x="6413500" y="1752600"/>
            <a:ext cx="1143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0" name="Line 19"/>
          <p:cNvSpPr>
            <a:spLocks noChangeShapeType="1"/>
          </p:cNvSpPr>
          <p:nvPr/>
        </p:nvSpPr>
        <p:spPr bwMode="auto">
          <a:xfrm flipH="1">
            <a:off x="3276600" y="2590800"/>
            <a:ext cx="9271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1" name="Line 20"/>
          <p:cNvSpPr>
            <a:spLocks noChangeShapeType="1"/>
          </p:cNvSpPr>
          <p:nvPr/>
        </p:nvSpPr>
        <p:spPr bwMode="auto">
          <a:xfrm>
            <a:off x="4889500" y="25908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2" name="Line 21"/>
          <p:cNvSpPr>
            <a:spLocks noChangeShapeType="1"/>
          </p:cNvSpPr>
          <p:nvPr/>
        </p:nvSpPr>
        <p:spPr bwMode="auto">
          <a:xfrm flipH="1">
            <a:off x="6870700" y="25908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3" name="Line 22"/>
          <p:cNvSpPr>
            <a:spLocks noChangeShapeType="1"/>
          </p:cNvSpPr>
          <p:nvPr/>
        </p:nvSpPr>
        <p:spPr bwMode="auto">
          <a:xfrm>
            <a:off x="7937500" y="2590800"/>
            <a:ext cx="2921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4" name="Line 23"/>
          <p:cNvSpPr>
            <a:spLocks noChangeShapeType="1"/>
          </p:cNvSpPr>
          <p:nvPr/>
        </p:nvSpPr>
        <p:spPr bwMode="auto">
          <a:xfrm>
            <a:off x="8318500" y="2590800"/>
            <a:ext cx="1219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5" name="Line 24"/>
          <p:cNvSpPr>
            <a:spLocks noChangeShapeType="1"/>
          </p:cNvSpPr>
          <p:nvPr/>
        </p:nvSpPr>
        <p:spPr bwMode="auto">
          <a:xfrm flipH="1">
            <a:off x="2667000" y="3505200"/>
            <a:ext cx="469900" cy="685800"/>
          </a:xfrm>
          <a:prstGeom prst="line">
            <a:avLst/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6" name="Line 25"/>
          <p:cNvSpPr>
            <a:spLocks noChangeShapeType="1"/>
          </p:cNvSpPr>
          <p:nvPr/>
        </p:nvSpPr>
        <p:spPr bwMode="auto">
          <a:xfrm>
            <a:off x="3594100" y="3505200"/>
            <a:ext cx="520700" cy="685800"/>
          </a:xfrm>
          <a:prstGeom prst="line">
            <a:avLst/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7" name="Line 26"/>
          <p:cNvSpPr>
            <a:spLocks noChangeShapeType="1"/>
          </p:cNvSpPr>
          <p:nvPr/>
        </p:nvSpPr>
        <p:spPr bwMode="auto">
          <a:xfrm flipH="1">
            <a:off x="7632700" y="35052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8" name="Line 27"/>
          <p:cNvSpPr>
            <a:spLocks noChangeShapeType="1"/>
          </p:cNvSpPr>
          <p:nvPr/>
        </p:nvSpPr>
        <p:spPr bwMode="auto">
          <a:xfrm>
            <a:off x="8470900" y="3505200"/>
            <a:ext cx="381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9" name="Line 28"/>
          <p:cNvSpPr>
            <a:spLocks noChangeShapeType="1"/>
          </p:cNvSpPr>
          <p:nvPr/>
        </p:nvSpPr>
        <p:spPr bwMode="auto">
          <a:xfrm>
            <a:off x="8928100" y="4648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71" name="Text Box 31"/>
          <p:cNvSpPr txBox="1">
            <a:spLocks noChangeArrowheads="1"/>
          </p:cNvSpPr>
          <p:nvPr/>
        </p:nvSpPr>
        <p:spPr bwMode="auto">
          <a:xfrm>
            <a:off x="2908301" y="5727700"/>
            <a:ext cx="1243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400">
                <a:solidFill>
                  <a:srgbClr val="CC0000"/>
                </a:solidFill>
                <a:latin typeface="Times New Roman" pitchFamily="18" charset="0"/>
              </a:rPr>
              <a:t>Cây con</a:t>
            </a:r>
          </a:p>
        </p:txBody>
      </p:sp>
      <p:sp>
        <p:nvSpPr>
          <p:cNvPr id="10272" name="Line 32"/>
          <p:cNvSpPr>
            <a:spLocks noChangeShapeType="1"/>
          </p:cNvSpPr>
          <p:nvPr/>
        </p:nvSpPr>
        <p:spPr bwMode="auto">
          <a:xfrm>
            <a:off x="3517900" y="51911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273" name="Text Box 34"/>
          <p:cNvSpPr txBox="1">
            <a:spLocks noChangeArrowheads="1"/>
          </p:cNvSpPr>
          <p:nvPr/>
        </p:nvSpPr>
        <p:spPr bwMode="auto">
          <a:xfrm>
            <a:off x="5410200" y="5727701"/>
            <a:ext cx="16193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400">
                <a:solidFill>
                  <a:srgbClr val="CC0000"/>
                </a:solidFill>
                <a:latin typeface="Times New Roman" pitchFamily="18" charset="0"/>
              </a:rPr>
              <a:t>Nút anh em</a:t>
            </a:r>
          </a:p>
        </p:txBody>
      </p:sp>
      <p:sp>
        <p:nvSpPr>
          <p:cNvPr id="10274" name="Line 35"/>
          <p:cNvSpPr>
            <a:spLocks noChangeShapeType="1"/>
          </p:cNvSpPr>
          <p:nvPr/>
        </p:nvSpPr>
        <p:spPr bwMode="auto">
          <a:xfrm flipV="1">
            <a:off x="6184900" y="4733925"/>
            <a:ext cx="12192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275" name="Line 36"/>
          <p:cNvSpPr>
            <a:spLocks noChangeShapeType="1"/>
          </p:cNvSpPr>
          <p:nvPr/>
        </p:nvSpPr>
        <p:spPr bwMode="auto">
          <a:xfrm flipV="1">
            <a:off x="6184900" y="4746625"/>
            <a:ext cx="23622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0923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90345" y="581246"/>
            <a:ext cx="10917722" cy="72186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/>
              <a:t>Cây nhị phân</a:t>
            </a:r>
          </a:p>
        </p:txBody>
      </p:sp>
      <p:sp>
        <p:nvSpPr>
          <p:cNvPr id="37376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63600" y="1462159"/>
            <a:ext cx="10917722" cy="5447199"/>
          </a:xfrm>
        </p:spPr>
        <p:txBody>
          <a:bodyPr/>
          <a:lstStyle/>
          <a:p>
            <a:pPr marL="457200" indent="-457200">
              <a:buFont typeface="Wingdings" pitchFamily="2" charset="2"/>
              <a:buChar char="§"/>
            </a:pPr>
            <a:r>
              <a:rPr lang="en-US" sz="3200"/>
              <a:t>Cây nhị phân có thể rỗng (không có nút nào)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/>
              <a:t>Cây nhị phân khác rỗng có 1 nút gốc</a:t>
            </a:r>
          </a:p>
          <a:p>
            <a:pPr marL="914400" lvl="1" indent="-457200">
              <a:buFont typeface="Arial" charset="0"/>
              <a:buChar char="•"/>
            </a:pPr>
            <a:r>
              <a:rPr lang="en-US" sz="3200"/>
              <a:t>Có duy nhất 1 đường đi từ gốc đến 1 nút con.</a:t>
            </a:r>
          </a:p>
          <a:p>
            <a:pPr marL="914400" lvl="1" indent="-457200">
              <a:buFont typeface="Arial" charset="0"/>
              <a:buChar char="•"/>
            </a:pPr>
            <a:r>
              <a:rPr lang="en-US" sz="3200"/>
              <a:t>Nút không có nút con bên trái và con bên phải là nút lá.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0352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6" name="Rectangle 86"/>
          <p:cNvSpPr>
            <a:spLocks noChangeArrowheads="1"/>
          </p:cNvSpPr>
          <p:nvPr/>
        </p:nvSpPr>
        <p:spPr bwMode="auto">
          <a:xfrm>
            <a:off x="2362200" y="2133600"/>
            <a:ext cx="3581400" cy="37338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15407" name="Rectangle 87"/>
          <p:cNvSpPr>
            <a:spLocks noChangeArrowheads="1"/>
          </p:cNvSpPr>
          <p:nvPr/>
        </p:nvSpPr>
        <p:spPr bwMode="auto">
          <a:xfrm>
            <a:off x="6184900" y="2135094"/>
            <a:ext cx="4000500" cy="3733800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456115"/>
            <a:ext cx="10541000" cy="72186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/>
              <a:t>Cây nhị phân</a:t>
            </a:r>
          </a:p>
        </p:txBody>
      </p:sp>
      <p:sp>
        <p:nvSpPr>
          <p:cNvPr id="15364" name="Line 93"/>
          <p:cNvSpPr>
            <a:spLocks noChangeShapeType="1"/>
          </p:cNvSpPr>
          <p:nvPr/>
        </p:nvSpPr>
        <p:spPr bwMode="auto">
          <a:xfrm>
            <a:off x="1828800" y="1500188"/>
            <a:ext cx="8839200" cy="0"/>
          </a:xfrm>
          <a:prstGeom prst="line">
            <a:avLst/>
          </a:prstGeom>
          <a:noFill/>
          <a:ln w="28575">
            <a:solidFill>
              <a:srgbClr val="CC00CC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5" name="Line 83"/>
          <p:cNvSpPr>
            <a:spLocks noChangeShapeType="1"/>
          </p:cNvSpPr>
          <p:nvPr/>
        </p:nvSpPr>
        <p:spPr bwMode="auto">
          <a:xfrm>
            <a:off x="1828800" y="5295900"/>
            <a:ext cx="8839200" cy="0"/>
          </a:xfrm>
          <a:prstGeom prst="line">
            <a:avLst/>
          </a:prstGeom>
          <a:noFill/>
          <a:ln w="28575">
            <a:solidFill>
              <a:srgbClr val="CC00CC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6" name="Line 82"/>
          <p:cNvSpPr>
            <a:spLocks noChangeShapeType="1"/>
          </p:cNvSpPr>
          <p:nvPr/>
        </p:nvSpPr>
        <p:spPr bwMode="auto">
          <a:xfrm>
            <a:off x="1828800" y="4000500"/>
            <a:ext cx="8839200" cy="0"/>
          </a:xfrm>
          <a:prstGeom prst="line">
            <a:avLst/>
          </a:prstGeom>
          <a:noFill/>
          <a:ln w="28575">
            <a:solidFill>
              <a:srgbClr val="CC00CC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7" name="Line 81"/>
          <p:cNvSpPr>
            <a:spLocks noChangeShapeType="1"/>
          </p:cNvSpPr>
          <p:nvPr/>
        </p:nvSpPr>
        <p:spPr bwMode="auto">
          <a:xfrm>
            <a:off x="1828800" y="2717800"/>
            <a:ext cx="8839200" cy="0"/>
          </a:xfrm>
          <a:prstGeom prst="line">
            <a:avLst/>
          </a:prstGeom>
          <a:noFill/>
          <a:ln w="28575">
            <a:solidFill>
              <a:srgbClr val="CC00CC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9" name="Rectangle 4"/>
          <p:cNvSpPr>
            <a:spLocks noChangeArrowheads="1"/>
          </p:cNvSpPr>
          <p:nvPr/>
        </p:nvSpPr>
        <p:spPr bwMode="auto">
          <a:xfrm>
            <a:off x="5638800" y="1295400"/>
            <a:ext cx="762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800">
                <a:solidFill>
                  <a:schemeClr val="bg1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15370" name="Rectangle 6"/>
          <p:cNvSpPr>
            <a:spLocks noChangeArrowheads="1"/>
          </p:cNvSpPr>
          <p:nvPr/>
        </p:nvSpPr>
        <p:spPr bwMode="auto">
          <a:xfrm>
            <a:off x="5334000" y="1295400"/>
            <a:ext cx="304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15371" name="Rectangle 7"/>
          <p:cNvSpPr>
            <a:spLocks noChangeArrowheads="1"/>
          </p:cNvSpPr>
          <p:nvPr/>
        </p:nvSpPr>
        <p:spPr bwMode="auto">
          <a:xfrm>
            <a:off x="6400800" y="1295400"/>
            <a:ext cx="304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15372" name="Rectangle 49"/>
          <p:cNvSpPr>
            <a:spLocks noChangeArrowheads="1"/>
          </p:cNvSpPr>
          <p:nvPr/>
        </p:nvSpPr>
        <p:spPr bwMode="auto">
          <a:xfrm>
            <a:off x="3733800" y="2514600"/>
            <a:ext cx="762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800">
                <a:solidFill>
                  <a:schemeClr val="bg1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15373" name="Rectangle 50"/>
          <p:cNvSpPr>
            <a:spLocks noChangeArrowheads="1"/>
          </p:cNvSpPr>
          <p:nvPr/>
        </p:nvSpPr>
        <p:spPr bwMode="auto">
          <a:xfrm>
            <a:off x="3429000" y="2514600"/>
            <a:ext cx="304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15374" name="Rectangle 51"/>
          <p:cNvSpPr>
            <a:spLocks noChangeArrowheads="1"/>
          </p:cNvSpPr>
          <p:nvPr/>
        </p:nvSpPr>
        <p:spPr bwMode="auto">
          <a:xfrm>
            <a:off x="4495800" y="2514600"/>
            <a:ext cx="304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15375" name="Rectangle 52"/>
          <p:cNvSpPr>
            <a:spLocks noChangeArrowheads="1"/>
          </p:cNvSpPr>
          <p:nvPr/>
        </p:nvSpPr>
        <p:spPr bwMode="auto">
          <a:xfrm>
            <a:off x="7848600" y="2514600"/>
            <a:ext cx="762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800">
                <a:solidFill>
                  <a:schemeClr val="bg1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15376" name="Rectangle 53"/>
          <p:cNvSpPr>
            <a:spLocks noChangeArrowheads="1"/>
          </p:cNvSpPr>
          <p:nvPr/>
        </p:nvSpPr>
        <p:spPr bwMode="auto">
          <a:xfrm>
            <a:off x="7543800" y="2514600"/>
            <a:ext cx="304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15377" name="Rectangle 54"/>
          <p:cNvSpPr>
            <a:spLocks noChangeArrowheads="1"/>
          </p:cNvSpPr>
          <p:nvPr/>
        </p:nvSpPr>
        <p:spPr bwMode="auto">
          <a:xfrm>
            <a:off x="8610600" y="2514600"/>
            <a:ext cx="304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15378" name="Rectangle 55"/>
          <p:cNvSpPr>
            <a:spLocks noChangeArrowheads="1"/>
          </p:cNvSpPr>
          <p:nvPr/>
        </p:nvSpPr>
        <p:spPr bwMode="auto">
          <a:xfrm>
            <a:off x="2819400" y="3810000"/>
            <a:ext cx="762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800">
                <a:solidFill>
                  <a:schemeClr val="bg1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15379" name="Rectangle 56"/>
          <p:cNvSpPr>
            <a:spLocks noChangeArrowheads="1"/>
          </p:cNvSpPr>
          <p:nvPr/>
        </p:nvSpPr>
        <p:spPr bwMode="auto">
          <a:xfrm>
            <a:off x="2514600" y="3810000"/>
            <a:ext cx="304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15380" name="Rectangle 57"/>
          <p:cNvSpPr>
            <a:spLocks noChangeArrowheads="1"/>
          </p:cNvSpPr>
          <p:nvPr/>
        </p:nvSpPr>
        <p:spPr bwMode="auto">
          <a:xfrm>
            <a:off x="3581400" y="3810000"/>
            <a:ext cx="304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15381" name="Rectangle 58"/>
          <p:cNvSpPr>
            <a:spLocks noChangeArrowheads="1"/>
          </p:cNvSpPr>
          <p:nvPr/>
        </p:nvSpPr>
        <p:spPr bwMode="auto">
          <a:xfrm>
            <a:off x="4648200" y="3810000"/>
            <a:ext cx="762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800">
                <a:solidFill>
                  <a:schemeClr val="bg1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5382" name="Rectangle 59"/>
          <p:cNvSpPr>
            <a:spLocks noChangeArrowheads="1"/>
          </p:cNvSpPr>
          <p:nvPr/>
        </p:nvSpPr>
        <p:spPr bwMode="auto">
          <a:xfrm>
            <a:off x="4343400" y="3810000"/>
            <a:ext cx="304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15383" name="Rectangle 60"/>
          <p:cNvSpPr>
            <a:spLocks noChangeArrowheads="1"/>
          </p:cNvSpPr>
          <p:nvPr/>
        </p:nvSpPr>
        <p:spPr bwMode="auto">
          <a:xfrm>
            <a:off x="5410200" y="3810000"/>
            <a:ext cx="304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15384" name="Rectangle 61"/>
          <p:cNvSpPr>
            <a:spLocks noChangeArrowheads="1"/>
          </p:cNvSpPr>
          <p:nvPr/>
        </p:nvSpPr>
        <p:spPr bwMode="auto">
          <a:xfrm>
            <a:off x="7010400" y="3810000"/>
            <a:ext cx="762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800">
                <a:solidFill>
                  <a:schemeClr val="bg1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15385" name="Rectangle 62"/>
          <p:cNvSpPr>
            <a:spLocks noChangeArrowheads="1"/>
          </p:cNvSpPr>
          <p:nvPr/>
        </p:nvSpPr>
        <p:spPr bwMode="auto">
          <a:xfrm>
            <a:off x="6705600" y="3810000"/>
            <a:ext cx="304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15386" name="Rectangle 63"/>
          <p:cNvSpPr>
            <a:spLocks noChangeArrowheads="1"/>
          </p:cNvSpPr>
          <p:nvPr/>
        </p:nvSpPr>
        <p:spPr bwMode="auto">
          <a:xfrm>
            <a:off x="7772400" y="3810000"/>
            <a:ext cx="304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15387" name="Rectangle 64"/>
          <p:cNvSpPr>
            <a:spLocks noChangeArrowheads="1"/>
          </p:cNvSpPr>
          <p:nvPr/>
        </p:nvSpPr>
        <p:spPr bwMode="auto">
          <a:xfrm>
            <a:off x="6553200" y="5105400"/>
            <a:ext cx="762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800">
                <a:solidFill>
                  <a:schemeClr val="bg1"/>
                </a:solidFill>
                <a:latin typeface="Times New Roman" pitchFamily="18" charset="0"/>
              </a:rPr>
              <a:t>I</a:t>
            </a:r>
          </a:p>
        </p:txBody>
      </p:sp>
      <p:sp>
        <p:nvSpPr>
          <p:cNvPr id="15388" name="Rectangle 65"/>
          <p:cNvSpPr>
            <a:spLocks noChangeArrowheads="1"/>
          </p:cNvSpPr>
          <p:nvPr/>
        </p:nvSpPr>
        <p:spPr bwMode="auto">
          <a:xfrm>
            <a:off x="6248400" y="5105400"/>
            <a:ext cx="304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15389" name="Rectangle 66"/>
          <p:cNvSpPr>
            <a:spLocks noChangeArrowheads="1"/>
          </p:cNvSpPr>
          <p:nvPr/>
        </p:nvSpPr>
        <p:spPr bwMode="auto">
          <a:xfrm>
            <a:off x="7315200" y="5105400"/>
            <a:ext cx="304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15390" name="Rectangle 67"/>
          <p:cNvSpPr>
            <a:spLocks noChangeArrowheads="1"/>
          </p:cNvSpPr>
          <p:nvPr/>
        </p:nvSpPr>
        <p:spPr bwMode="auto">
          <a:xfrm>
            <a:off x="3733800" y="5105400"/>
            <a:ext cx="762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800">
                <a:solidFill>
                  <a:schemeClr val="bg1"/>
                </a:solidFill>
                <a:latin typeface="Times New Roman" pitchFamily="18" charset="0"/>
              </a:rPr>
              <a:t>H</a:t>
            </a:r>
          </a:p>
        </p:txBody>
      </p:sp>
      <p:sp>
        <p:nvSpPr>
          <p:cNvPr id="15391" name="Rectangle 68"/>
          <p:cNvSpPr>
            <a:spLocks noChangeArrowheads="1"/>
          </p:cNvSpPr>
          <p:nvPr/>
        </p:nvSpPr>
        <p:spPr bwMode="auto">
          <a:xfrm>
            <a:off x="3429000" y="5105400"/>
            <a:ext cx="304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15392" name="Rectangle 69"/>
          <p:cNvSpPr>
            <a:spLocks noChangeArrowheads="1"/>
          </p:cNvSpPr>
          <p:nvPr/>
        </p:nvSpPr>
        <p:spPr bwMode="auto">
          <a:xfrm>
            <a:off x="4495800" y="5105400"/>
            <a:ext cx="304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15393" name="Line 70"/>
          <p:cNvSpPr>
            <a:spLocks noChangeShapeType="1"/>
          </p:cNvSpPr>
          <p:nvPr/>
        </p:nvSpPr>
        <p:spPr bwMode="auto">
          <a:xfrm flipH="1">
            <a:off x="4191000" y="1524000"/>
            <a:ext cx="1295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94" name="Line 71"/>
          <p:cNvSpPr>
            <a:spLocks noChangeShapeType="1"/>
          </p:cNvSpPr>
          <p:nvPr/>
        </p:nvSpPr>
        <p:spPr bwMode="auto">
          <a:xfrm>
            <a:off x="6553200" y="1524000"/>
            <a:ext cx="1676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95" name="Line 72"/>
          <p:cNvSpPr>
            <a:spLocks noChangeShapeType="1"/>
          </p:cNvSpPr>
          <p:nvPr/>
        </p:nvSpPr>
        <p:spPr bwMode="auto">
          <a:xfrm flipH="1">
            <a:off x="3200400" y="2743200"/>
            <a:ext cx="3810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96" name="Line 73"/>
          <p:cNvSpPr>
            <a:spLocks noChangeShapeType="1"/>
          </p:cNvSpPr>
          <p:nvPr/>
        </p:nvSpPr>
        <p:spPr bwMode="auto">
          <a:xfrm>
            <a:off x="4648200" y="2743200"/>
            <a:ext cx="3810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97" name="Line 74"/>
          <p:cNvSpPr>
            <a:spLocks noChangeShapeType="1"/>
          </p:cNvSpPr>
          <p:nvPr/>
        </p:nvSpPr>
        <p:spPr bwMode="auto">
          <a:xfrm flipH="1">
            <a:off x="4114800" y="4038600"/>
            <a:ext cx="3810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98" name="Line 75"/>
          <p:cNvSpPr>
            <a:spLocks noChangeShapeType="1"/>
          </p:cNvSpPr>
          <p:nvPr/>
        </p:nvSpPr>
        <p:spPr bwMode="auto">
          <a:xfrm flipH="1">
            <a:off x="7391400" y="2743200"/>
            <a:ext cx="3048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99" name="Line 76"/>
          <p:cNvSpPr>
            <a:spLocks noChangeShapeType="1"/>
          </p:cNvSpPr>
          <p:nvPr/>
        </p:nvSpPr>
        <p:spPr bwMode="auto">
          <a:xfrm>
            <a:off x="6858000" y="4038600"/>
            <a:ext cx="762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400" name="Rectangle 77"/>
          <p:cNvSpPr>
            <a:spLocks noChangeArrowheads="1"/>
          </p:cNvSpPr>
          <p:nvPr/>
        </p:nvSpPr>
        <p:spPr bwMode="auto">
          <a:xfrm>
            <a:off x="8915400" y="3810000"/>
            <a:ext cx="762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800">
                <a:solidFill>
                  <a:schemeClr val="bg1"/>
                </a:solidFill>
                <a:latin typeface="Times New Roman" pitchFamily="18" charset="0"/>
              </a:rPr>
              <a:t>G</a:t>
            </a:r>
          </a:p>
        </p:txBody>
      </p:sp>
      <p:sp>
        <p:nvSpPr>
          <p:cNvPr id="15401" name="Rectangle 78"/>
          <p:cNvSpPr>
            <a:spLocks noChangeArrowheads="1"/>
          </p:cNvSpPr>
          <p:nvPr/>
        </p:nvSpPr>
        <p:spPr bwMode="auto">
          <a:xfrm>
            <a:off x="8610600" y="3810000"/>
            <a:ext cx="304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15402" name="Rectangle 79"/>
          <p:cNvSpPr>
            <a:spLocks noChangeArrowheads="1"/>
          </p:cNvSpPr>
          <p:nvPr/>
        </p:nvSpPr>
        <p:spPr bwMode="auto">
          <a:xfrm>
            <a:off x="9677400" y="3810000"/>
            <a:ext cx="304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15403" name="Line 80"/>
          <p:cNvSpPr>
            <a:spLocks noChangeShapeType="1"/>
          </p:cNvSpPr>
          <p:nvPr/>
        </p:nvSpPr>
        <p:spPr bwMode="auto">
          <a:xfrm>
            <a:off x="8763000" y="2743200"/>
            <a:ext cx="5334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405" name="Text Box 85"/>
          <p:cNvSpPr txBox="1">
            <a:spLocks noChangeArrowheads="1"/>
          </p:cNvSpPr>
          <p:nvPr/>
        </p:nvSpPr>
        <p:spPr bwMode="auto">
          <a:xfrm>
            <a:off x="7391400" y="914400"/>
            <a:ext cx="3189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400">
                <a:solidFill>
                  <a:srgbClr val="CC0000"/>
                </a:solidFill>
                <a:latin typeface="Times New Roman" pitchFamily="18" charset="0"/>
              </a:rPr>
              <a:t>Kích thước = 9 (số nút)</a:t>
            </a:r>
          </a:p>
        </p:txBody>
      </p:sp>
      <p:sp>
        <p:nvSpPr>
          <p:cNvPr id="15408" name="Text Box 88"/>
          <p:cNvSpPr txBox="1">
            <a:spLocks noChangeArrowheads="1"/>
          </p:cNvSpPr>
          <p:nvPr/>
        </p:nvSpPr>
        <p:spPr bwMode="auto">
          <a:xfrm>
            <a:off x="2193925" y="1692276"/>
            <a:ext cx="16866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400">
                <a:solidFill>
                  <a:srgbClr val="0000CC"/>
                </a:solidFill>
                <a:latin typeface="Times New Roman" pitchFamily="18" charset="0"/>
              </a:rPr>
              <a:t>Cây con trái</a:t>
            </a:r>
          </a:p>
        </p:txBody>
      </p:sp>
      <p:sp>
        <p:nvSpPr>
          <p:cNvPr id="15409" name="Text Box 89"/>
          <p:cNvSpPr txBox="1">
            <a:spLocks noChangeArrowheads="1"/>
          </p:cNvSpPr>
          <p:nvPr/>
        </p:nvSpPr>
        <p:spPr bwMode="auto">
          <a:xfrm>
            <a:off x="8382001" y="1676401"/>
            <a:ext cx="18069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400">
                <a:solidFill>
                  <a:srgbClr val="0000CC"/>
                </a:solidFill>
                <a:latin typeface="Times New Roman" pitchFamily="18" charset="0"/>
              </a:rPr>
              <a:t>Cây con phải</a:t>
            </a:r>
          </a:p>
        </p:txBody>
      </p:sp>
      <p:sp>
        <p:nvSpPr>
          <p:cNvPr id="15410" name="Text Box 90"/>
          <p:cNvSpPr txBox="1">
            <a:spLocks noChangeArrowheads="1"/>
          </p:cNvSpPr>
          <p:nvPr/>
        </p:nvSpPr>
        <p:spPr bwMode="auto">
          <a:xfrm>
            <a:off x="1524001" y="2400301"/>
            <a:ext cx="8096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>
                <a:solidFill>
                  <a:srgbClr val="CC00CC"/>
                </a:solidFill>
                <a:latin typeface="Times New Roman" pitchFamily="18" charset="0"/>
              </a:rPr>
              <a:t>Mức 1</a:t>
            </a:r>
          </a:p>
        </p:txBody>
      </p:sp>
      <p:sp>
        <p:nvSpPr>
          <p:cNvPr id="15411" name="Text Box 91"/>
          <p:cNvSpPr txBox="1">
            <a:spLocks noChangeArrowheads="1"/>
          </p:cNvSpPr>
          <p:nvPr/>
        </p:nvSpPr>
        <p:spPr bwMode="auto">
          <a:xfrm>
            <a:off x="1524001" y="3670301"/>
            <a:ext cx="8096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>
                <a:solidFill>
                  <a:srgbClr val="CC00CC"/>
                </a:solidFill>
                <a:latin typeface="Times New Roman" pitchFamily="18" charset="0"/>
              </a:rPr>
              <a:t>Mức 2</a:t>
            </a:r>
          </a:p>
        </p:txBody>
      </p:sp>
      <p:sp>
        <p:nvSpPr>
          <p:cNvPr id="15412" name="Text Box 92"/>
          <p:cNvSpPr txBox="1">
            <a:spLocks noChangeArrowheads="1"/>
          </p:cNvSpPr>
          <p:nvPr/>
        </p:nvSpPr>
        <p:spPr bwMode="auto">
          <a:xfrm>
            <a:off x="1524001" y="4965701"/>
            <a:ext cx="8096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>
                <a:solidFill>
                  <a:srgbClr val="CC00CC"/>
                </a:solidFill>
                <a:latin typeface="Times New Roman" pitchFamily="18" charset="0"/>
              </a:rPr>
              <a:t>Mức 3</a:t>
            </a:r>
          </a:p>
        </p:txBody>
      </p:sp>
      <p:sp>
        <p:nvSpPr>
          <p:cNvPr id="15413" name="Text Box 94"/>
          <p:cNvSpPr txBox="1">
            <a:spLocks noChangeArrowheads="1"/>
          </p:cNvSpPr>
          <p:nvPr/>
        </p:nvSpPr>
        <p:spPr bwMode="auto">
          <a:xfrm>
            <a:off x="1524001" y="1157288"/>
            <a:ext cx="8096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>
                <a:solidFill>
                  <a:srgbClr val="CC00CC"/>
                </a:solidFill>
                <a:latin typeface="Times New Roman" pitchFamily="18" charset="0"/>
              </a:rPr>
              <a:t>Mức 0</a:t>
            </a:r>
          </a:p>
        </p:txBody>
      </p:sp>
      <p:sp>
        <p:nvSpPr>
          <p:cNvPr id="15404" name="Text Box 84"/>
          <p:cNvSpPr txBox="1">
            <a:spLocks noChangeArrowheads="1"/>
          </p:cNvSpPr>
          <p:nvPr/>
        </p:nvSpPr>
        <p:spPr bwMode="auto">
          <a:xfrm>
            <a:off x="4648200" y="5867400"/>
            <a:ext cx="2846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400">
                <a:solidFill>
                  <a:srgbClr val="CC0000"/>
                </a:solidFill>
                <a:latin typeface="Times New Roman" pitchFamily="18" charset="0"/>
              </a:rPr>
              <a:t>Độ sâu/chiều cao = 3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6609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6600" y="479852"/>
            <a:ext cx="10541000" cy="72186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/>
              <a:t>Cây nhị phân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295400" y="1069382"/>
            <a:ext cx="8229600" cy="2819400"/>
          </a:xfrm>
        </p:spPr>
        <p:txBody>
          <a:bodyPr/>
          <a:lstStyle/>
          <a:p>
            <a:pPr marL="457200" indent="-457200">
              <a:lnSpc>
                <a:spcPct val="125000"/>
              </a:lnSpc>
              <a:spcBef>
                <a:spcPct val="0"/>
              </a:spcBef>
              <a:buFont typeface="Wingdings" pitchFamily="2" charset="2"/>
              <a:buChar char="§"/>
            </a:pPr>
            <a:r>
              <a:rPr lang="en-US" sz="3200" dirty="0"/>
              <a:t>Cây nhị phân đúng:</a:t>
            </a:r>
          </a:p>
          <a:p>
            <a:pPr marL="914400" lvl="1" indent="-457200">
              <a:lnSpc>
                <a:spcPct val="125000"/>
              </a:lnSpc>
              <a:spcBef>
                <a:spcPct val="0"/>
              </a:spcBef>
              <a:buFont typeface="Courier New" pitchFamily="49" charset="0"/>
              <a:buChar char="o"/>
            </a:pPr>
            <a:r>
              <a:rPr lang="en-US" sz="3000" dirty="0"/>
              <a:t>Nút gốc và nút trung gian có đúng 2 con</a:t>
            </a:r>
          </a:p>
          <a:p>
            <a:pPr marL="457200" indent="-457200">
              <a:lnSpc>
                <a:spcPct val="125000"/>
              </a:lnSpc>
              <a:spcBef>
                <a:spcPct val="0"/>
              </a:spcBef>
              <a:buFont typeface="Wingdings" pitchFamily="2" charset="2"/>
              <a:buChar char="§"/>
            </a:pPr>
            <a:r>
              <a:rPr lang="en-US" sz="3200" dirty="0"/>
              <a:t>Cây nhị phân đúng có n nút lá thì số nút trên cây </a:t>
            </a:r>
            <a:r>
              <a:rPr lang="en-US" sz="3200" dirty="0">
                <a:solidFill>
                  <a:srgbClr val="CC0000"/>
                </a:solidFill>
              </a:rPr>
              <a:t>2* n – 1</a:t>
            </a:r>
            <a:r>
              <a:rPr lang="en-US" sz="3200" dirty="0"/>
              <a:t>. </a:t>
            </a:r>
          </a:p>
        </p:txBody>
      </p:sp>
      <p:sp>
        <p:nvSpPr>
          <p:cNvPr id="16390" name="Oval 4"/>
          <p:cNvSpPr>
            <a:spLocks noChangeArrowheads="1"/>
          </p:cNvSpPr>
          <p:nvPr/>
        </p:nvSpPr>
        <p:spPr bwMode="auto">
          <a:xfrm>
            <a:off x="5651500" y="34290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solidFill>
                  <a:schemeClr val="bg1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16391" name="Oval 5"/>
          <p:cNvSpPr>
            <a:spLocks noChangeArrowheads="1"/>
          </p:cNvSpPr>
          <p:nvPr/>
        </p:nvSpPr>
        <p:spPr bwMode="auto">
          <a:xfrm>
            <a:off x="4686300" y="42037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dirty="0">
                <a:solidFill>
                  <a:schemeClr val="bg1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16392" name="Oval 6"/>
          <p:cNvSpPr>
            <a:spLocks noChangeArrowheads="1"/>
          </p:cNvSpPr>
          <p:nvPr/>
        </p:nvSpPr>
        <p:spPr bwMode="auto">
          <a:xfrm>
            <a:off x="6629400" y="42037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solidFill>
                  <a:schemeClr val="bg1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16393" name="Oval 8"/>
          <p:cNvSpPr>
            <a:spLocks noChangeArrowheads="1"/>
          </p:cNvSpPr>
          <p:nvPr/>
        </p:nvSpPr>
        <p:spPr bwMode="auto">
          <a:xfrm>
            <a:off x="4114800" y="49657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solidFill>
                  <a:schemeClr val="bg1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16394" name="Oval 9"/>
          <p:cNvSpPr>
            <a:spLocks noChangeArrowheads="1"/>
          </p:cNvSpPr>
          <p:nvPr/>
        </p:nvSpPr>
        <p:spPr bwMode="auto">
          <a:xfrm>
            <a:off x="5257800" y="49657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solidFill>
                  <a:schemeClr val="bg1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6395" name="Oval 10"/>
          <p:cNvSpPr>
            <a:spLocks noChangeArrowheads="1"/>
          </p:cNvSpPr>
          <p:nvPr/>
        </p:nvSpPr>
        <p:spPr bwMode="auto">
          <a:xfrm>
            <a:off x="6096000" y="49657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solidFill>
                  <a:schemeClr val="bg1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16396" name="Oval 11"/>
          <p:cNvSpPr>
            <a:spLocks noChangeArrowheads="1"/>
          </p:cNvSpPr>
          <p:nvPr/>
        </p:nvSpPr>
        <p:spPr bwMode="auto">
          <a:xfrm>
            <a:off x="7239000" y="49657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solidFill>
                  <a:schemeClr val="bg1"/>
                </a:solidFill>
                <a:latin typeface="Times New Roman" pitchFamily="18" charset="0"/>
              </a:rPr>
              <a:t>G</a:t>
            </a:r>
          </a:p>
        </p:txBody>
      </p:sp>
      <p:sp>
        <p:nvSpPr>
          <p:cNvPr id="16397" name="Oval 12"/>
          <p:cNvSpPr>
            <a:spLocks noChangeArrowheads="1"/>
          </p:cNvSpPr>
          <p:nvPr/>
        </p:nvSpPr>
        <p:spPr bwMode="auto">
          <a:xfrm>
            <a:off x="4673600" y="58039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solidFill>
                  <a:schemeClr val="bg1"/>
                </a:solidFill>
                <a:latin typeface="Times New Roman" pitchFamily="18" charset="0"/>
              </a:rPr>
              <a:t>H</a:t>
            </a:r>
          </a:p>
        </p:txBody>
      </p:sp>
      <p:sp>
        <p:nvSpPr>
          <p:cNvPr id="16398" name="Oval 13"/>
          <p:cNvSpPr>
            <a:spLocks noChangeArrowheads="1"/>
          </p:cNvSpPr>
          <p:nvPr/>
        </p:nvSpPr>
        <p:spPr bwMode="auto">
          <a:xfrm>
            <a:off x="5816600" y="58039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solidFill>
                  <a:schemeClr val="bg1"/>
                </a:solidFill>
                <a:latin typeface="Times New Roman" pitchFamily="18" charset="0"/>
              </a:rPr>
              <a:t>I</a:t>
            </a:r>
          </a:p>
        </p:txBody>
      </p:sp>
      <p:sp>
        <p:nvSpPr>
          <p:cNvPr id="16399" name="Oval 14"/>
          <p:cNvSpPr>
            <a:spLocks noChangeArrowheads="1"/>
          </p:cNvSpPr>
          <p:nvPr/>
        </p:nvSpPr>
        <p:spPr bwMode="auto">
          <a:xfrm>
            <a:off x="6705600" y="58039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solidFill>
                  <a:schemeClr val="bg1"/>
                </a:solidFill>
                <a:latin typeface="Times New Roman" pitchFamily="18" charset="0"/>
              </a:rPr>
              <a:t>J</a:t>
            </a:r>
          </a:p>
        </p:txBody>
      </p:sp>
      <p:sp>
        <p:nvSpPr>
          <p:cNvPr id="16400" name="Oval 15"/>
          <p:cNvSpPr>
            <a:spLocks noChangeArrowheads="1"/>
          </p:cNvSpPr>
          <p:nvPr/>
        </p:nvSpPr>
        <p:spPr bwMode="auto">
          <a:xfrm>
            <a:off x="7848600" y="58039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solidFill>
                  <a:schemeClr val="bg1"/>
                </a:solidFill>
                <a:latin typeface="Times New Roman" pitchFamily="18" charset="0"/>
              </a:rPr>
              <a:t>K</a:t>
            </a:r>
          </a:p>
        </p:txBody>
      </p:sp>
      <p:sp>
        <p:nvSpPr>
          <p:cNvPr id="16401" name="Line 16"/>
          <p:cNvSpPr>
            <a:spLocks noChangeShapeType="1"/>
          </p:cNvSpPr>
          <p:nvPr/>
        </p:nvSpPr>
        <p:spPr bwMode="auto">
          <a:xfrm flipH="1">
            <a:off x="4876800" y="3822700"/>
            <a:ext cx="990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02" name="Line 17"/>
          <p:cNvSpPr>
            <a:spLocks noChangeShapeType="1"/>
          </p:cNvSpPr>
          <p:nvPr/>
        </p:nvSpPr>
        <p:spPr bwMode="auto">
          <a:xfrm>
            <a:off x="5867400" y="38227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03" name="Line 18"/>
          <p:cNvSpPr>
            <a:spLocks noChangeShapeType="1"/>
          </p:cNvSpPr>
          <p:nvPr/>
        </p:nvSpPr>
        <p:spPr bwMode="auto">
          <a:xfrm flipH="1">
            <a:off x="4343400" y="45847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04" name="Line 19"/>
          <p:cNvSpPr>
            <a:spLocks noChangeShapeType="1"/>
          </p:cNvSpPr>
          <p:nvPr/>
        </p:nvSpPr>
        <p:spPr bwMode="auto">
          <a:xfrm>
            <a:off x="4876800" y="45847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05" name="Line 20"/>
          <p:cNvSpPr>
            <a:spLocks noChangeShapeType="1"/>
          </p:cNvSpPr>
          <p:nvPr/>
        </p:nvSpPr>
        <p:spPr bwMode="auto">
          <a:xfrm flipH="1">
            <a:off x="4864100" y="53467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06" name="Line 21"/>
          <p:cNvSpPr>
            <a:spLocks noChangeShapeType="1"/>
          </p:cNvSpPr>
          <p:nvPr/>
        </p:nvSpPr>
        <p:spPr bwMode="auto">
          <a:xfrm>
            <a:off x="5473700" y="53467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07" name="Line 22"/>
          <p:cNvSpPr>
            <a:spLocks noChangeShapeType="1"/>
          </p:cNvSpPr>
          <p:nvPr/>
        </p:nvSpPr>
        <p:spPr bwMode="auto">
          <a:xfrm flipH="1">
            <a:off x="6324600" y="45847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08" name="Line 23"/>
          <p:cNvSpPr>
            <a:spLocks noChangeShapeType="1"/>
          </p:cNvSpPr>
          <p:nvPr/>
        </p:nvSpPr>
        <p:spPr bwMode="auto">
          <a:xfrm>
            <a:off x="6858000" y="45847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09" name="Line 24"/>
          <p:cNvSpPr>
            <a:spLocks noChangeShapeType="1"/>
          </p:cNvSpPr>
          <p:nvPr/>
        </p:nvSpPr>
        <p:spPr bwMode="auto">
          <a:xfrm flipH="1">
            <a:off x="6921500" y="53467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10" name="Line 25"/>
          <p:cNvSpPr>
            <a:spLocks noChangeShapeType="1"/>
          </p:cNvSpPr>
          <p:nvPr/>
        </p:nvSpPr>
        <p:spPr bwMode="auto">
          <a:xfrm>
            <a:off x="7454900" y="53467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5774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8333" y="535434"/>
            <a:ext cx="10541000" cy="72186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/>
              <a:t>Cây nhị phân</a:t>
            </a:r>
          </a:p>
        </p:txBody>
      </p:sp>
      <p:sp>
        <p:nvSpPr>
          <p:cNvPr id="37683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752600" y="1625190"/>
            <a:ext cx="8763000" cy="23622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§"/>
            </a:pPr>
            <a:r>
              <a:rPr lang="en-US" sz="3200"/>
              <a:t>Cây nhị phân đầy đủ với chiều sâu d</a:t>
            </a:r>
          </a:p>
          <a:p>
            <a:pPr marL="914400" lvl="1" indent="-457200">
              <a:buFont typeface="Arial" charset="0"/>
              <a:buChar char="•"/>
            </a:pPr>
            <a:r>
              <a:rPr lang="en-US" sz="3200"/>
              <a:t>Phải là cây nhị phân đúng</a:t>
            </a:r>
          </a:p>
          <a:p>
            <a:pPr marL="914400" lvl="1" indent="-457200">
              <a:buFont typeface="Arial" charset="0"/>
              <a:buChar char="•"/>
            </a:pPr>
            <a:r>
              <a:rPr lang="en-US" sz="3200"/>
              <a:t>Tất cả nút lá có chiều sâu d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6248400" y="3200400"/>
            <a:ext cx="3886200" cy="2590800"/>
            <a:chOff x="2928" y="2016"/>
            <a:chExt cx="2304" cy="1488"/>
          </a:xfrm>
        </p:grpSpPr>
        <p:sp>
          <p:nvSpPr>
            <p:cNvPr id="18438" name="Oval 4"/>
            <p:cNvSpPr>
              <a:spLocks noChangeArrowheads="1"/>
            </p:cNvSpPr>
            <p:nvPr/>
          </p:nvSpPr>
          <p:spPr bwMode="auto">
            <a:xfrm>
              <a:off x="3920" y="201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>
                  <a:solidFill>
                    <a:schemeClr val="bg1"/>
                  </a:solidFill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18439" name="Oval 5"/>
            <p:cNvSpPr>
              <a:spLocks noChangeArrowheads="1"/>
            </p:cNvSpPr>
            <p:nvPr/>
          </p:nvSpPr>
          <p:spPr bwMode="auto">
            <a:xfrm>
              <a:off x="3312" y="2584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>
                  <a:solidFill>
                    <a:schemeClr val="bg1"/>
                  </a:solidFill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8440" name="Oval 6"/>
            <p:cNvSpPr>
              <a:spLocks noChangeArrowheads="1"/>
            </p:cNvSpPr>
            <p:nvPr/>
          </p:nvSpPr>
          <p:spPr bwMode="auto">
            <a:xfrm>
              <a:off x="4536" y="2584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>
                  <a:solidFill>
                    <a:schemeClr val="bg1"/>
                  </a:solidFill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18441" name="Oval 7"/>
            <p:cNvSpPr>
              <a:spLocks noChangeArrowheads="1"/>
            </p:cNvSpPr>
            <p:nvPr/>
          </p:nvSpPr>
          <p:spPr bwMode="auto">
            <a:xfrm>
              <a:off x="2928" y="316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>
                  <a:solidFill>
                    <a:schemeClr val="bg1"/>
                  </a:solidFill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18442" name="Oval 8"/>
            <p:cNvSpPr>
              <a:spLocks noChangeArrowheads="1"/>
            </p:cNvSpPr>
            <p:nvPr/>
          </p:nvSpPr>
          <p:spPr bwMode="auto">
            <a:xfrm>
              <a:off x="3648" y="316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>
                  <a:solidFill>
                    <a:schemeClr val="bg1"/>
                  </a:solidFill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18443" name="Oval 9"/>
            <p:cNvSpPr>
              <a:spLocks noChangeArrowheads="1"/>
            </p:cNvSpPr>
            <p:nvPr/>
          </p:nvSpPr>
          <p:spPr bwMode="auto">
            <a:xfrm>
              <a:off x="4176" y="316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>
                  <a:solidFill>
                    <a:schemeClr val="bg1"/>
                  </a:solidFill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18444" name="Oval 10"/>
            <p:cNvSpPr>
              <a:spLocks noChangeArrowheads="1"/>
            </p:cNvSpPr>
            <p:nvPr/>
          </p:nvSpPr>
          <p:spPr bwMode="auto">
            <a:xfrm>
              <a:off x="4896" y="316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>
                  <a:solidFill>
                    <a:schemeClr val="bg1"/>
                  </a:solidFill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18445" name="Line 11"/>
            <p:cNvSpPr>
              <a:spLocks noChangeShapeType="1"/>
            </p:cNvSpPr>
            <p:nvPr/>
          </p:nvSpPr>
          <p:spPr bwMode="auto">
            <a:xfrm flipH="1">
              <a:off x="3472" y="2352"/>
              <a:ext cx="62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6" name="Line 12"/>
            <p:cNvSpPr>
              <a:spLocks noChangeShapeType="1"/>
            </p:cNvSpPr>
            <p:nvPr/>
          </p:nvSpPr>
          <p:spPr bwMode="auto">
            <a:xfrm>
              <a:off x="4096" y="2352"/>
              <a:ext cx="57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7" name="Line 13"/>
            <p:cNvSpPr>
              <a:spLocks noChangeShapeType="1"/>
            </p:cNvSpPr>
            <p:nvPr/>
          </p:nvSpPr>
          <p:spPr bwMode="auto">
            <a:xfrm flipH="1">
              <a:off x="3136" y="2920"/>
              <a:ext cx="33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8" name="Line 14"/>
            <p:cNvSpPr>
              <a:spLocks noChangeShapeType="1"/>
            </p:cNvSpPr>
            <p:nvPr/>
          </p:nvSpPr>
          <p:spPr bwMode="auto">
            <a:xfrm>
              <a:off x="3472" y="2920"/>
              <a:ext cx="33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9" name="Line 15"/>
            <p:cNvSpPr>
              <a:spLocks noChangeShapeType="1"/>
            </p:cNvSpPr>
            <p:nvPr/>
          </p:nvSpPr>
          <p:spPr bwMode="auto">
            <a:xfrm flipH="1">
              <a:off x="4384" y="2920"/>
              <a:ext cx="33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0" name="Line 16"/>
            <p:cNvSpPr>
              <a:spLocks noChangeShapeType="1"/>
            </p:cNvSpPr>
            <p:nvPr/>
          </p:nvSpPr>
          <p:spPr bwMode="auto">
            <a:xfrm>
              <a:off x="4720" y="2920"/>
              <a:ext cx="33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6852" name="Text Box 17"/>
          <p:cNvSpPr txBox="1">
            <a:spLocks noChangeArrowheads="1"/>
          </p:cNvSpPr>
          <p:nvPr/>
        </p:nvSpPr>
        <p:spPr bwMode="auto">
          <a:xfrm>
            <a:off x="1981200" y="3465514"/>
            <a:ext cx="3810000" cy="215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>
              <a:lnSpc>
                <a:spcPct val="130000"/>
              </a:lnSpc>
            </a:pPr>
            <a:r>
              <a:rPr lang="en-US" sz="2600">
                <a:solidFill>
                  <a:srgbClr val="CC00CC"/>
                </a:solidFill>
                <a:latin typeface="Times New Roman" pitchFamily="18" charset="0"/>
              </a:rPr>
              <a:t>Số nút = (</a:t>
            </a:r>
            <a:r>
              <a:rPr lang="en-US" sz="2600">
                <a:solidFill>
                  <a:srgbClr val="CC0000"/>
                </a:solidFill>
                <a:latin typeface="Times New Roman" pitchFamily="18" charset="0"/>
              </a:rPr>
              <a:t>2</a:t>
            </a:r>
            <a:r>
              <a:rPr lang="en-US" sz="2600" baseline="30000">
                <a:solidFill>
                  <a:srgbClr val="CC0000"/>
                </a:solidFill>
                <a:latin typeface="Times New Roman" pitchFamily="18" charset="0"/>
              </a:rPr>
              <a:t>d+1</a:t>
            </a:r>
            <a:r>
              <a:rPr lang="en-US" sz="2600">
                <a:solidFill>
                  <a:srgbClr val="CC0000"/>
                </a:solidFill>
                <a:latin typeface="Times New Roman" pitchFamily="18" charset="0"/>
              </a:rPr>
              <a:t> -1)</a:t>
            </a:r>
          </a:p>
          <a:p>
            <a:pPr algn="l" eaLnBrk="0" hangingPunct="0">
              <a:lnSpc>
                <a:spcPct val="130000"/>
              </a:lnSpc>
            </a:pPr>
            <a:r>
              <a:rPr lang="en-US" sz="2600">
                <a:solidFill>
                  <a:srgbClr val="CC00CC"/>
                </a:solidFill>
                <a:latin typeface="Times New Roman" pitchFamily="18" charset="0"/>
              </a:rPr>
              <a:t>Số nút trung gian = ?</a:t>
            </a:r>
          </a:p>
          <a:p>
            <a:pPr algn="l" eaLnBrk="0" hangingPunct="0">
              <a:lnSpc>
                <a:spcPct val="130000"/>
              </a:lnSpc>
            </a:pPr>
            <a:r>
              <a:rPr lang="en-US" sz="2600">
                <a:solidFill>
                  <a:srgbClr val="CC00CC"/>
                </a:solidFill>
                <a:latin typeface="Times New Roman" pitchFamily="18" charset="0"/>
              </a:rPr>
              <a:t>Biết số nút tính d của cây nhị phân đầy đủ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0424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55980" y="550742"/>
            <a:ext cx="10541000" cy="72186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/>
              <a:t>Cấu trúc cây nhị </a:t>
            </a:r>
            <a:r>
              <a:rPr lang="en-US" smtClean="0"/>
              <a:t>phân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97280" y="1061348"/>
            <a:ext cx="10058400" cy="4553058"/>
          </a:xfrm>
        </p:spPr>
        <p:txBody>
          <a:bodyPr/>
          <a:lstStyle/>
          <a:p>
            <a:pPr marL="457200" indent="-457200">
              <a:buFont typeface="Wingdings" pitchFamily="2" charset="2"/>
              <a:buChar char="§"/>
            </a:pPr>
            <a:r>
              <a:rPr lang="en-US" sz="3200" dirty="0"/>
              <a:t>Cấu trúc của cây nhị phân.</a:t>
            </a:r>
          </a:p>
        </p:txBody>
      </p:sp>
      <p:sp>
        <p:nvSpPr>
          <p:cNvPr id="20486" name="Text Box 4"/>
          <p:cNvSpPr txBox="1">
            <a:spLocks noChangeArrowheads="1"/>
          </p:cNvSpPr>
          <p:nvPr/>
        </p:nvSpPr>
        <p:spPr bwMode="auto">
          <a:xfrm>
            <a:off x="1600200" y="1600200"/>
            <a:ext cx="5267114" cy="4832092"/>
          </a:xfrm>
          <a:prstGeom prst="rect">
            <a:avLst/>
          </a:prstGeom>
          <a:solidFill>
            <a:srgbClr val="CCFFCC">
              <a:alpha val="14117"/>
            </a:srgbClr>
          </a:solidFill>
          <a:ln w="28575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en-US" sz="28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typedef</a:t>
            </a:r>
            <a:r>
              <a:rPr lang="en-US" sz="2800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ItemType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eaLnBrk="0" hangingPunct="0"/>
            <a:r>
              <a:rPr lang="en-US" sz="2800" dirty="0" err="1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TNode</a:t>
            </a:r>
            <a:endParaRPr lang="en-US" sz="2800" dirty="0">
              <a:solidFill>
                <a:srgbClr val="0000CC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eaLnBrk="0" hangingPunct="0"/>
            <a:r>
              <a:rPr lang="en-US" sz="2800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algn="l" eaLnBrk="0" hangingPunct="0"/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800" dirty="0" err="1">
                <a:solidFill>
                  <a:srgbClr val="00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ItemType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i="1" dirty="0">
                <a:solidFill>
                  <a:srgbClr val="FF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Info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l" eaLnBrk="0" hangingPunct="0"/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800" dirty="0" err="1">
                <a:solidFill>
                  <a:srgbClr val="00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TNode</a:t>
            </a:r>
            <a:r>
              <a:rPr lang="en-US" sz="2800" i="1" dirty="0">
                <a:solidFill>
                  <a:srgbClr val="FF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2800" i="1" dirty="0">
                <a:solidFill>
                  <a:srgbClr val="CC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800" i="1" dirty="0">
                <a:solidFill>
                  <a:srgbClr val="FF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Left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l" eaLnBrk="0" hangingPunct="0"/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800" dirty="0" err="1">
                <a:solidFill>
                  <a:srgbClr val="00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TNode</a:t>
            </a:r>
            <a:r>
              <a:rPr lang="en-US" sz="2800" i="1" dirty="0">
                <a:solidFill>
                  <a:srgbClr val="FF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2800" i="1" dirty="0">
                <a:solidFill>
                  <a:srgbClr val="CC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800" i="1" dirty="0">
                <a:solidFill>
                  <a:srgbClr val="FF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Right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l" eaLnBrk="0" hangingPunct="0"/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l" eaLnBrk="0" hangingPunct="0"/>
            <a:r>
              <a:rPr lang="en-US" sz="2800" dirty="0" err="1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sz="2800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BTree</a:t>
            </a:r>
            <a:endParaRPr lang="en-US" sz="2800" dirty="0">
              <a:solidFill>
                <a:srgbClr val="CC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eaLnBrk="0" hangingPunct="0"/>
            <a:r>
              <a:rPr lang="en-US" sz="2800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algn="l" eaLnBrk="0" hangingPunct="0"/>
            <a:r>
              <a:rPr lang="en-US" sz="2800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TNode</a:t>
            </a:r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2800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i="1" dirty="0">
                <a:solidFill>
                  <a:srgbClr val="FF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Root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l" eaLnBrk="0" hangingPunct="0"/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20489" name="Rectangle 7"/>
          <p:cNvSpPr>
            <a:spLocks noChangeArrowheads="1"/>
          </p:cNvSpPr>
          <p:nvPr/>
        </p:nvSpPr>
        <p:spPr bwMode="auto">
          <a:xfrm>
            <a:off x="2487706" y="2909967"/>
            <a:ext cx="3532094" cy="1332000"/>
          </a:xfrm>
          <a:prstGeom prst="rect">
            <a:avLst/>
          </a:prstGeom>
          <a:solidFill>
            <a:srgbClr val="66FF66">
              <a:alpha val="16078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20490" name="Text Box 8"/>
          <p:cNvSpPr txBox="1">
            <a:spLocks noChangeArrowheads="1"/>
          </p:cNvSpPr>
          <p:nvPr/>
        </p:nvSpPr>
        <p:spPr bwMode="auto">
          <a:xfrm>
            <a:off x="2057400" y="2476781"/>
            <a:ext cx="3429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en-US" sz="2400" i="1">
                <a:solidFill>
                  <a:srgbClr val="00B0F0"/>
                </a:solidFill>
                <a:latin typeface="Times New Roman" pitchFamily="18" charset="0"/>
              </a:rPr>
              <a:t>//Cấu trúc của một nút</a:t>
            </a:r>
          </a:p>
        </p:txBody>
      </p:sp>
      <p:sp>
        <p:nvSpPr>
          <p:cNvPr id="20491" name="Line 9"/>
          <p:cNvSpPr>
            <a:spLocks noChangeShapeType="1"/>
          </p:cNvSpPr>
          <p:nvPr/>
        </p:nvSpPr>
        <p:spPr bwMode="auto">
          <a:xfrm flipV="1">
            <a:off x="5927514" y="3124199"/>
            <a:ext cx="1092200" cy="1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492" name="Text Box 10"/>
          <p:cNvSpPr txBox="1">
            <a:spLocks noChangeArrowheads="1"/>
          </p:cNvSpPr>
          <p:nvPr/>
        </p:nvSpPr>
        <p:spPr bwMode="auto">
          <a:xfrm>
            <a:off x="7021208" y="2898588"/>
            <a:ext cx="29702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400" dirty="0">
                <a:latin typeface="Times New Roman" pitchFamily="18" charset="0"/>
              </a:rPr>
              <a:t>Chứa thông tin của nút</a:t>
            </a:r>
          </a:p>
        </p:txBody>
      </p:sp>
      <p:sp>
        <p:nvSpPr>
          <p:cNvPr id="20493" name="Line 11"/>
          <p:cNvSpPr>
            <a:spLocks noChangeShapeType="1"/>
          </p:cNvSpPr>
          <p:nvPr/>
        </p:nvSpPr>
        <p:spPr bwMode="auto">
          <a:xfrm flipV="1">
            <a:off x="5927515" y="4038600"/>
            <a:ext cx="1101725" cy="1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494" name="Text Box 12"/>
          <p:cNvSpPr txBox="1">
            <a:spLocks noChangeArrowheads="1"/>
          </p:cNvSpPr>
          <p:nvPr/>
        </p:nvSpPr>
        <p:spPr bwMode="auto">
          <a:xfrm>
            <a:off x="7029240" y="3733800"/>
            <a:ext cx="2962181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en-US" sz="2400">
                <a:latin typeface="Times New Roman" pitchFamily="18" charset="0"/>
              </a:rPr>
              <a:t>Trỏ đến nút con phải</a:t>
            </a:r>
          </a:p>
        </p:txBody>
      </p:sp>
      <p:sp>
        <p:nvSpPr>
          <p:cNvPr id="20495" name="Line 13"/>
          <p:cNvSpPr>
            <a:spLocks noChangeShapeType="1"/>
          </p:cNvSpPr>
          <p:nvPr/>
        </p:nvSpPr>
        <p:spPr bwMode="auto">
          <a:xfrm>
            <a:off x="5927514" y="3581400"/>
            <a:ext cx="1101726" cy="1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496" name="Text Box 14"/>
          <p:cNvSpPr txBox="1">
            <a:spLocks noChangeArrowheads="1"/>
          </p:cNvSpPr>
          <p:nvPr/>
        </p:nvSpPr>
        <p:spPr bwMode="auto">
          <a:xfrm>
            <a:off x="7019714" y="3352800"/>
            <a:ext cx="297170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en-US" sz="2400">
                <a:latin typeface="Times New Roman" pitchFamily="18" charset="0"/>
              </a:rPr>
              <a:t>Trỏ đến nút con trái</a:t>
            </a:r>
          </a:p>
        </p:txBody>
      </p:sp>
      <p:sp>
        <p:nvSpPr>
          <p:cNvPr id="2" name="Text Box 8"/>
          <p:cNvSpPr txBox="1">
            <a:spLocks noChangeArrowheads="1"/>
          </p:cNvSpPr>
          <p:nvPr/>
        </p:nvSpPr>
        <p:spPr bwMode="auto">
          <a:xfrm>
            <a:off x="7033672" y="5486401"/>
            <a:ext cx="36343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400">
                <a:latin typeface="Times New Roman" pitchFamily="18" charset="0"/>
              </a:rPr>
              <a:t>Con trỏ đến nút gốc của cây</a:t>
            </a:r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5317914" y="5715000"/>
            <a:ext cx="1752600" cy="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Box 8"/>
          <p:cNvSpPr txBox="1">
            <a:spLocks noChangeArrowheads="1"/>
          </p:cNvSpPr>
          <p:nvPr/>
        </p:nvSpPr>
        <p:spPr bwMode="auto">
          <a:xfrm>
            <a:off x="2057400" y="5078506"/>
            <a:ext cx="3352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en-US" sz="2400" i="1">
                <a:solidFill>
                  <a:srgbClr val="00B0F0"/>
                </a:solidFill>
                <a:latin typeface="Times New Roman" pitchFamily="18" charset="0"/>
              </a:rPr>
              <a:t>//Cấu trúc của một cây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433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10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10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3" grpId="0" animBg="1"/>
      <p:bldP spid="20494" grpId="0"/>
      <p:bldP spid="20496" grpId="0"/>
      <p:bldP spid="2" grpId="0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8" name="Oval 70"/>
          <p:cNvSpPr>
            <a:spLocks noChangeArrowheads="1"/>
          </p:cNvSpPr>
          <p:nvPr/>
        </p:nvSpPr>
        <p:spPr bwMode="auto">
          <a:xfrm>
            <a:off x="4483100" y="1485900"/>
            <a:ext cx="2971800" cy="914400"/>
          </a:xfrm>
          <a:prstGeom prst="ellipse">
            <a:avLst/>
          </a:prstGeom>
          <a:solidFill>
            <a:srgbClr val="FF00FF">
              <a:alpha val="29019"/>
            </a:srgbClr>
          </a:solidFill>
          <a:ln w="381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1292" y="573139"/>
            <a:ext cx="5437508" cy="72186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/>
              <a:t>Sơ đồ cây nhị phân</a:t>
            </a:r>
          </a:p>
        </p:txBody>
      </p:sp>
      <p:grpSp>
        <p:nvGrpSpPr>
          <p:cNvPr id="2" name="Group 66"/>
          <p:cNvGrpSpPr>
            <a:grpSpLocks/>
          </p:cNvGrpSpPr>
          <p:nvPr/>
        </p:nvGrpSpPr>
        <p:grpSpPr bwMode="auto">
          <a:xfrm>
            <a:off x="2438400" y="1727200"/>
            <a:ext cx="7467600" cy="4495800"/>
            <a:chOff x="990600" y="1968500"/>
            <a:chExt cx="7467600" cy="4495800"/>
          </a:xfrm>
        </p:grpSpPr>
        <p:sp>
          <p:nvSpPr>
            <p:cNvPr id="20489" name="Rectangle 4"/>
            <p:cNvSpPr>
              <a:spLocks noChangeArrowheads="1"/>
            </p:cNvSpPr>
            <p:nvPr/>
          </p:nvSpPr>
          <p:spPr bwMode="auto">
            <a:xfrm>
              <a:off x="4114800" y="1968500"/>
              <a:ext cx="7620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0490" name="Rectangle 5"/>
            <p:cNvSpPr>
              <a:spLocks noChangeArrowheads="1"/>
            </p:cNvSpPr>
            <p:nvPr/>
          </p:nvSpPr>
          <p:spPr bwMode="auto">
            <a:xfrm>
              <a:off x="3810000" y="1968500"/>
              <a:ext cx="3048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20491" name="Rectangle 6"/>
            <p:cNvSpPr>
              <a:spLocks noChangeArrowheads="1"/>
            </p:cNvSpPr>
            <p:nvPr/>
          </p:nvSpPr>
          <p:spPr bwMode="auto">
            <a:xfrm>
              <a:off x="4876800" y="1968500"/>
              <a:ext cx="3048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20492" name="Rectangle 7"/>
            <p:cNvSpPr>
              <a:spLocks noChangeArrowheads="1"/>
            </p:cNvSpPr>
            <p:nvPr/>
          </p:nvSpPr>
          <p:spPr bwMode="auto">
            <a:xfrm>
              <a:off x="2209800" y="3187700"/>
              <a:ext cx="7620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0493" name="Rectangle 8"/>
            <p:cNvSpPr>
              <a:spLocks noChangeArrowheads="1"/>
            </p:cNvSpPr>
            <p:nvPr/>
          </p:nvSpPr>
          <p:spPr bwMode="auto">
            <a:xfrm>
              <a:off x="1905000" y="3187700"/>
              <a:ext cx="3048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20494" name="Rectangle 9"/>
            <p:cNvSpPr>
              <a:spLocks noChangeArrowheads="1"/>
            </p:cNvSpPr>
            <p:nvPr/>
          </p:nvSpPr>
          <p:spPr bwMode="auto">
            <a:xfrm>
              <a:off x="2971800" y="3187700"/>
              <a:ext cx="3048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20495" name="Rectangle 10"/>
            <p:cNvSpPr>
              <a:spLocks noChangeArrowheads="1"/>
            </p:cNvSpPr>
            <p:nvPr/>
          </p:nvSpPr>
          <p:spPr bwMode="auto">
            <a:xfrm>
              <a:off x="6324600" y="3187700"/>
              <a:ext cx="7620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10</a:t>
              </a:r>
            </a:p>
          </p:txBody>
        </p:sp>
        <p:sp>
          <p:nvSpPr>
            <p:cNvPr id="20496" name="Rectangle 11"/>
            <p:cNvSpPr>
              <a:spLocks noChangeArrowheads="1"/>
            </p:cNvSpPr>
            <p:nvPr/>
          </p:nvSpPr>
          <p:spPr bwMode="auto">
            <a:xfrm>
              <a:off x="6019800" y="3187700"/>
              <a:ext cx="3048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20497" name="Rectangle 12"/>
            <p:cNvSpPr>
              <a:spLocks noChangeArrowheads="1"/>
            </p:cNvSpPr>
            <p:nvPr/>
          </p:nvSpPr>
          <p:spPr bwMode="auto">
            <a:xfrm>
              <a:off x="7086600" y="3187700"/>
              <a:ext cx="3048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20498" name="Rectangle 13"/>
            <p:cNvSpPr>
              <a:spLocks noChangeArrowheads="1"/>
            </p:cNvSpPr>
            <p:nvPr/>
          </p:nvSpPr>
          <p:spPr bwMode="auto">
            <a:xfrm>
              <a:off x="1295400" y="4483100"/>
              <a:ext cx="7620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0499" name="Rectangle 14"/>
            <p:cNvSpPr>
              <a:spLocks noChangeArrowheads="1"/>
            </p:cNvSpPr>
            <p:nvPr/>
          </p:nvSpPr>
          <p:spPr bwMode="auto">
            <a:xfrm>
              <a:off x="2057400" y="4483100"/>
              <a:ext cx="3048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20500" name="Rectangle 15"/>
            <p:cNvSpPr>
              <a:spLocks noChangeArrowheads="1"/>
            </p:cNvSpPr>
            <p:nvPr/>
          </p:nvSpPr>
          <p:spPr bwMode="auto">
            <a:xfrm>
              <a:off x="3124200" y="4483100"/>
              <a:ext cx="7620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0501" name="Rectangle 16"/>
            <p:cNvSpPr>
              <a:spLocks noChangeArrowheads="1"/>
            </p:cNvSpPr>
            <p:nvPr/>
          </p:nvSpPr>
          <p:spPr bwMode="auto">
            <a:xfrm>
              <a:off x="2819400" y="4483100"/>
              <a:ext cx="3048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20502" name="Rectangle 17"/>
            <p:cNvSpPr>
              <a:spLocks noChangeArrowheads="1"/>
            </p:cNvSpPr>
            <p:nvPr/>
          </p:nvSpPr>
          <p:spPr bwMode="auto">
            <a:xfrm>
              <a:off x="3886200" y="4483100"/>
              <a:ext cx="3048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20503" name="Rectangle 18"/>
            <p:cNvSpPr>
              <a:spLocks noChangeArrowheads="1"/>
            </p:cNvSpPr>
            <p:nvPr/>
          </p:nvSpPr>
          <p:spPr bwMode="auto">
            <a:xfrm>
              <a:off x="5486400" y="4483100"/>
              <a:ext cx="7620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0504" name="Rectangle 19"/>
            <p:cNvSpPr>
              <a:spLocks noChangeArrowheads="1"/>
            </p:cNvSpPr>
            <p:nvPr/>
          </p:nvSpPr>
          <p:spPr bwMode="auto">
            <a:xfrm>
              <a:off x="5181600" y="4483100"/>
              <a:ext cx="3048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20505" name="Rectangle 20"/>
            <p:cNvSpPr>
              <a:spLocks noChangeArrowheads="1"/>
            </p:cNvSpPr>
            <p:nvPr/>
          </p:nvSpPr>
          <p:spPr bwMode="auto">
            <a:xfrm>
              <a:off x="6248400" y="4483100"/>
              <a:ext cx="3048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20506" name="Rectangle 21"/>
            <p:cNvSpPr>
              <a:spLocks noChangeArrowheads="1"/>
            </p:cNvSpPr>
            <p:nvPr/>
          </p:nvSpPr>
          <p:spPr bwMode="auto">
            <a:xfrm>
              <a:off x="5029200" y="5778500"/>
              <a:ext cx="7620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0507" name="Rectangle 22"/>
            <p:cNvSpPr>
              <a:spLocks noChangeArrowheads="1"/>
            </p:cNvSpPr>
            <p:nvPr/>
          </p:nvSpPr>
          <p:spPr bwMode="auto">
            <a:xfrm>
              <a:off x="4724400" y="5778500"/>
              <a:ext cx="3048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20508" name="Rectangle 23"/>
            <p:cNvSpPr>
              <a:spLocks noChangeArrowheads="1"/>
            </p:cNvSpPr>
            <p:nvPr/>
          </p:nvSpPr>
          <p:spPr bwMode="auto">
            <a:xfrm>
              <a:off x="5791200" y="5778500"/>
              <a:ext cx="3048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20509" name="Rectangle 24"/>
            <p:cNvSpPr>
              <a:spLocks noChangeArrowheads="1"/>
            </p:cNvSpPr>
            <p:nvPr/>
          </p:nvSpPr>
          <p:spPr bwMode="auto">
            <a:xfrm>
              <a:off x="2209800" y="5778500"/>
              <a:ext cx="7620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0510" name="Rectangle 25"/>
            <p:cNvSpPr>
              <a:spLocks noChangeArrowheads="1"/>
            </p:cNvSpPr>
            <p:nvPr/>
          </p:nvSpPr>
          <p:spPr bwMode="auto">
            <a:xfrm>
              <a:off x="1905000" y="5778500"/>
              <a:ext cx="3048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20511" name="Rectangle 26"/>
            <p:cNvSpPr>
              <a:spLocks noChangeArrowheads="1"/>
            </p:cNvSpPr>
            <p:nvPr/>
          </p:nvSpPr>
          <p:spPr bwMode="auto">
            <a:xfrm>
              <a:off x="2971800" y="5778500"/>
              <a:ext cx="3048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20512" name="Line 27"/>
            <p:cNvSpPr>
              <a:spLocks noChangeShapeType="1"/>
            </p:cNvSpPr>
            <p:nvPr/>
          </p:nvSpPr>
          <p:spPr bwMode="auto">
            <a:xfrm flipH="1">
              <a:off x="2667000" y="2197100"/>
              <a:ext cx="12954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3" name="Line 28"/>
            <p:cNvSpPr>
              <a:spLocks noChangeShapeType="1"/>
            </p:cNvSpPr>
            <p:nvPr/>
          </p:nvSpPr>
          <p:spPr bwMode="auto">
            <a:xfrm>
              <a:off x="5029200" y="2197100"/>
              <a:ext cx="16764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4" name="Line 29"/>
            <p:cNvSpPr>
              <a:spLocks noChangeShapeType="1"/>
            </p:cNvSpPr>
            <p:nvPr/>
          </p:nvSpPr>
          <p:spPr bwMode="auto">
            <a:xfrm flipH="1">
              <a:off x="1676400" y="3416300"/>
              <a:ext cx="38100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5" name="Line 30"/>
            <p:cNvSpPr>
              <a:spLocks noChangeShapeType="1"/>
            </p:cNvSpPr>
            <p:nvPr/>
          </p:nvSpPr>
          <p:spPr bwMode="auto">
            <a:xfrm>
              <a:off x="3124200" y="3416300"/>
              <a:ext cx="38100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6" name="Line 31"/>
            <p:cNvSpPr>
              <a:spLocks noChangeShapeType="1"/>
            </p:cNvSpPr>
            <p:nvPr/>
          </p:nvSpPr>
          <p:spPr bwMode="auto">
            <a:xfrm flipH="1">
              <a:off x="2590800" y="4711700"/>
              <a:ext cx="38100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7" name="Line 32"/>
            <p:cNvSpPr>
              <a:spLocks noChangeShapeType="1"/>
            </p:cNvSpPr>
            <p:nvPr/>
          </p:nvSpPr>
          <p:spPr bwMode="auto">
            <a:xfrm flipH="1">
              <a:off x="5867400" y="3416300"/>
              <a:ext cx="30480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8" name="Line 33"/>
            <p:cNvSpPr>
              <a:spLocks noChangeShapeType="1"/>
            </p:cNvSpPr>
            <p:nvPr/>
          </p:nvSpPr>
          <p:spPr bwMode="auto">
            <a:xfrm>
              <a:off x="5334000" y="4711700"/>
              <a:ext cx="7620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9" name="Rectangle 34"/>
            <p:cNvSpPr>
              <a:spLocks noChangeArrowheads="1"/>
            </p:cNvSpPr>
            <p:nvPr/>
          </p:nvSpPr>
          <p:spPr bwMode="auto">
            <a:xfrm>
              <a:off x="7391400" y="4483100"/>
              <a:ext cx="7620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20</a:t>
              </a:r>
            </a:p>
          </p:txBody>
        </p:sp>
        <p:sp>
          <p:nvSpPr>
            <p:cNvPr id="20520" name="Rectangle 35"/>
            <p:cNvSpPr>
              <a:spLocks noChangeArrowheads="1"/>
            </p:cNvSpPr>
            <p:nvPr/>
          </p:nvSpPr>
          <p:spPr bwMode="auto">
            <a:xfrm>
              <a:off x="7086600" y="4483100"/>
              <a:ext cx="3048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20521" name="Rectangle 36"/>
            <p:cNvSpPr>
              <a:spLocks noChangeArrowheads="1"/>
            </p:cNvSpPr>
            <p:nvPr/>
          </p:nvSpPr>
          <p:spPr bwMode="auto">
            <a:xfrm>
              <a:off x="8153400" y="4483100"/>
              <a:ext cx="3048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20522" name="Line 37"/>
            <p:cNvSpPr>
              <a:spLocks noChangeShapeType="1"/>
            </p:cNvSpPr>
            <p:nvPr/>
          </p:nvSpPr>
          <p:spPr bwMode="auto">
            <a:xfrm>
              <a:off x="7239000" y="3416300"/>
              <a:ext cx="53340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3" name="Rectangle 38"/>
            <p:cNvSpPr>
              <a:spLocks noChangeArrowheads="1"/>
            </p:cNvSpPr>
            <p:nvPr/>
          </p:nvSpPr>
          <p:spPr bwMode="auto">
            <a:xfrm>
              <a:off x="990600" y="4483100"/>
              <a:ext cx="3048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20524" name="Line 39"/>
            <p:cNvSpPr>
              <a:spLocks noChangeShapeType="1"/>
            </p:cNvSpPr>
            <p:nvPr/>
          </p:nvSpPr>
          <p:spPr bwMode="auto">
            <a:xfrm>
              <a:off x="990600" y="5168900"/>
              <a:ext cx="304800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5" name="Line 40"/>
            <p:cNvSpPr>
              <a:spLocks noChangeShapeType="1"/>
            </p:cNvSpPr>
            <p:nvPr/>
          </p:nvSpPr>
          <p:spPr bwMode="auto">
            <a:xfrm>
              <a:off x="1143000" y="4711700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6" name="Line 45"/>
            <p:cNvSpPr>
              <a:spLocks noChangeShapeType="1"/>
            </p:cNvSpPr>
            <p:nvPr/>
          </p:nvSpPr>
          <p:spPr bwMode="auto">
            <a:xfrm>
              <a:off x="2057400" y="5168900"/>
              <a:ext cx="304800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7" name="Line 46"/>
            <p:cNvSpPr>
              <a:spLocks noChangeShapeType="1"/>
            </p:cNvSpPr>
            <p:nvPr/>
          </p:nvSpPr>
          <p:spPr bwMode="auto">
            <a:xfrm>
              <a:off x="2209800" y="4711700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8" name="Line 47"/>
            <p:cNvSpPr>
              <a:spLocks noChangeShapeType="1"/>
            </p:cNvSpPr>
            <p:nvPr/>
          </p:nvSpPr>
          <p:spPr bwMode="auto">
            <a:xfrm>
              <a:off x="3886200" y="5168900"/>
              <a:ext cx="304800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9" name="Line 48"/>
            <p:cNvSpPr>
              <a:spLocks noChangeShapeType="1"/>
            </p:cNvSpPr>
            <p:nvPr/>
          </p:nvSpPr>
          <p:spPr bwMode="auto">
            <a:xfrm>
              <a:off x="4038600" y="4711700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0" name="Line 49"/>
            <p:cNvSpPr>
              <a:spLocks noChangeShapeType="1"/>
            </p:cNvSpPr>
            <p:nvPr/>
          </p:nvSpPr>
          <p:spPr bwMode="auto">
            <a:xfrm>
              <a:off x="6248400" y="5168900"/>
              <a:ext cx="304800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1" name="Line 50"/>
            <p:cNvSpPr>
              <a:spLocks noChangeShapeType="1"/>
            </p:cNvSpPr>
            <p:nvPr/>
          </p:nvSpPr>
          <p:spPr bwMode="auto">
            <a:xfrm>
              <a:off x="6400800" y="4711700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2" name="Line 51"/>
            <p:cNvSpPr>
              <a:spLocks noChangeShapeType="1"/>
            </p:cNvSpPr>
            <p:nvPr/>
          </p:nvSpPr>
          <p:spPr bwMode="auto">
            <a:xfrm>
              <a:off x="7086600" y="5168900"/>
              <a:ext cx="304800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3" name="Line 52"/>
            <p:cNvSpPr>
              <a:spLocks noChangeShapeType="1"/>
            </p:cNvSpPr>
            <p:nvPr/>
          </p:nvSpPr>
          <p:spPr bwMode="auto">
            <a:xfrm>
              <a:off x="7239000" y="4711700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4" name="Line 53"/>
            <p:cNvSpPr>
              <a:spLocks noChangeShapeType="1"/>
            </p:cNvSpPr>
            <p:nvPr/>
          </p:nvSpPr>
          <p:spPr bwMode="auto">
            <a:xfrm>
              <a:off x="8153400" y="5168900"/>
              <a:ext cx="304800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5" name="Line 54"/>
            <p:cNvSpPr>
              <a:spLocks noChangeShapeType="1"/>
            </p:cNvSpPr>
            <p:nvPr/>
          </p:nvSpPr>
          <p:spPr bwMode="auto">
            <a:xfrm>
              <a:off x="8305800" y="4711700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6" name="Line 55"/>
            <p:cNvSpPr>
              <a:spLocks noChangeShapeType="1"/>
            </p:cNvSpPr>
            <p:nvPr/>
          </p:nvSpPr>
          <p:spPr bwMode="auto">
            <a:xfrm>
              <a:off x="1905000" y="6464300"/>
              <a:ext cx="304800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7" name="Line 56"/>
            <p:cNvSpPr>
              <a:spLocks noChangeShapeType="1"/>
            </p:cNvSpPr>
            <p:nvPr/>
          </p:nvSpPr>
          <p:spPr bwMode="auto">
            <a:xfrm>
              <a:off x="2057400" y="6007100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8" name="Line 57"/>
            <p:cNvSpPr>
              <a:spLocks noChangeShapeType="1"/>
            </p:cNvSpPr>
            <p:nvPr/>
          </p:nvSpPr>
          <p:spPr bwMode="auto">
            <a:xfrm>
              <a:off x="2971800" y="6464300"/>
              <a:ext cx="304800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9" name="Line 58"/>
            <p:cNvSpPr>
              <a:spLocks noChangeShapeType="1"/>
            </p:cNvSpPr>
            <p:nvPr/>
          </p:nvSpPr>
          <p:spPr bwMode="auto">
            <a:xfrm>
              <a:off x="3124200" y="6007100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40" name="Line 59"/>
            <p:cNvSpPr>
              <a:spLocks noChangeShapeType="1"/>
            </p:cNvSpPr>
            <p:nvPr/>
          </p:nvSpPr>
          <p:spPr bwMode="auto">
            <a:xfrm>
              <a:off x="4724400" y="6464300"/>
              <a:ext cx="304800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41" name="Line 60"/>
            <p:cNvSpPr>
              <a:spLocks noChangeShapeType="1"/>
            </p:cNvSpPr>
            <p:nvPr/>
          </p:nvSpPr>
          <p:spPr bwMode="auto">
            <a:xfrm>
              <a:off x="4876800" y="6007100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42" name="Line 61"/>
            <p:cNvSpPr>
              <a:spLocks noChangeShapeType="1"/>
            </p:cNvSpPr>
            <p:nvPr/>
          </p:nvSpPr>
          <p:spPr bwMode="auto">
            <a:xfrm>
              <a:off x="5791200" y="6464300"/>
              <a:ext cx="304800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43" name="Line 62"/>
            <p:cNvSpPr>
              <a:spLocks noChangeShapeType="1"/>
            </p:cNvSpPr>
            <p:nvPr/>
          </p:nvSpPr>
          <p:spPr bwMode="auto">
            <a:xfrm>
              <a:off x="5943600" y="6007100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564" name="Rectangle 63"/>
          <p:cNvSpPr>
            <a:spLocks noChangeArrowheads="1"/>
          </p:cNvSpPr>
          <p:nvPr/>
        </p:nvSpPr>
        <p:spPr bwMode="auto">
          <a:xfrm>
            <a:off x="7696200" y="1270000"/>
            <a:ext cx="182880" cy="457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21565" name="Text Box 66"/>
          <p:cNvSpPr txBox="1">
            <a:spLocks noChangeArrowheads="1"/>
          </p:cNvSpPr>
          <p:nvPr/>
        </p:nvSpPr>
        <p:spPr bwMode="auto">
          <a:xfrm>
            <a:off x="7455647" y="847538"/>
            <a:ext cx="683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000">
                <a:solidFill>
                  <a:srgbClr val="CC0000"/>
                </a:solidFill>
                <a:latin typeface="Times New Roman" pitchFamily="18" charset="0"/>
              </a:rPr>
              <a:t>Root</a:t>
            </a:r>
          </a:p>
        </p:txBody>
      </p:sp>
      <p:sp>
        <p:nvSpPr>
          <p:cNvPr id="52291" name="Text Box 67"/>
          <p:cNvSpPr txBox="1">
            <a:spLocks noChangeArrowheads="1"/>
          </p:cNvSpPr>
          <p:nvPr/>
        </p:nvSpPr>
        <p:spPr bwMode="auto">
          <a:xfrm>
            <a:off x="7969624" y="1270001"/>
            <a:ext cx="2667000" cy="830997"/>
          </a:xfrm>
          <a:prstGeom prst="rect">
            <a:avLst/>
          </a:prstGeom>
          <a:solidFill>
            <a:srgbClr val="00B05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en-US" sz="2400">
                <a:solidFill>
                  <a:schemeClr val="bg1"/>
                </a:solidFill>
                <a:latin typeface="Times New Roman" pitchFamily="18" charset="0"/>
              </a:rPr>
              <a:t>Con trỏ Root trỏ </a:t>
            </a:r>
            <a:br>
              <a:rPr lang="en-US" sz="2400">
                <a:solidFill>
                  <a:schemeClr val="bg1"/>
                </a:solidFill>
                <a:latin typeface="Times New Roman" pitchFamily="18" charset="0"/>
              </a:rPr>
            </a:br>
            <a:r>
              <a:rPr lang="en-US" sz="2400">
                <a:solidFill>
                  <a:schemeClr val="bg1"/>
                </a:solidFill>
                <a:latin typeface="Times New Roman" pitchFamily="18" charset="0"/>
              </a:rPr>
              <a:t>đến nút gốc của cây</a:t>
            </a:r>
          </a:p>
        </p:txBody>
      </p:sp>
      <p:sp>
        <p:nvSpPr>
          <p:cNvPr id="21567" name="Freeform 68"/>
          <p:cNvSpPr>
            <a:spLocks/>
          </p:cNvSpPr>
          <p:nvPr/>
        </p:nvSpPr>
        <p:spPr bwMode="auto">
          <a:xfrm>
            <a:off x="5943600" y="1231900"/>
            <a:ext cx="1752600" cy="495300"/>
          </a:xfrm>
          <a:custGeom>
            <a:avLst/>
            <a:gdLst>
              <a:gd name="T0" fmla="*/ 2147483647 w 1104"/>
              <a:gd name="T1" fmla="*/ 2147483647 h 312"/>
              <a:gd name="T2" fmla="*/ 2147483647 w 1104"/>
              <a:gd name="T3" fmla="*/ 2147483647 h 312"/>
              <a:gd name="T4" fmla="*/ 0 w 1104"/>
              <a:gd name="T5" fmla="*/ 2147483647 h 312"/>
              <a:gd name="T6" fmla="*/ 0 60000 65536"/>
              <a:gd name="T7" fmla="*/ 0 60000 65536"/>
              <a:gd name="T8" fmla="*/ 0 60000 65536"/>
              <a:gd name="T9" fmla="*/ 0 w 1104"/>
              <a:gd name="T10" fmla="*/ 0 h 312"/>
              <a:gd name="T11" fmla="*/ 1104 w 1104"/>
              <a:gd name="T12" fmla="*/ 312 h 3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312">
                <a:moveTo>
                  <a:pt x="1104" y="168"/>
                </a:moveTo>
                <a:cubicBezTo>
                  <a:pt x="764" y="84"/>
                  <a:pt x="424" y="0"/>
                  <a:pt x="240" y="24"/>
                </a:cubicBezTo>
                <a:cubicBezTo>
                  <a:pt x="56" y="48"/>
                  <a:pt x="28" y="180"/>
                  <a:pt x="0" y="31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4160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71483" y="530023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Các thao tác cơ bản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836821" y="1338510"/>
            <a:ext cx="5122244" cy="5486400"/>
          </a:xfrm>
        </p:spPr>
        <p:txBody>
          <a:bodyPr/>
          <a:lstStyle/>
          <a:p>
            <a:pPr marL="457200" indent="-45720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3000"/>
              <a:t>Khởi tạo cây</a:t>
            </a:r>
          </a:p>
          <a:p>
            <a:pPr marL="457200" indent="-45720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3000"/>
              <a:t>Tạo nút mới.</a:t>
            </a:r>
          </a:p>
          <a:p>
            <a:pPr marL="457200" indent="-45720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3000"/>
              <a:t>Thêm nút con trái T</a:t>
            </a:r>
          </a:p>
          <a:p>
            <a:pPr marL="457200" indent="-45720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3000"/>
              <a:t>Thêm nút con phải T</a:t>
            </a:r>
          </a:p>
          <a:p>
            <a:pPr marL="457200" indent="-45720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3000"/>
              <a:t>Thêm nút có giá trị x</a:t>
            </a:r>
          </a:p>
          <a:p>
            <a:pPr marL="457200" indent="-45720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3000"/>
              <a:t>Duyệt cây</a:t>
            </a:r>
          </a:p>
          <a:p>
            <a:pPr marL="457200" indent="-45720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3000"/>
              <a:t>Xóa con trái T</a:t>
            </a:r>
          </a:p>
          <a:p>
            <a:pPr marL="457200" indent="-45720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3000"/>
              <a:t>Xóa con phải T</a:t>
            </a:r>
          </a:p>
          <a:p>
            <a:pPr marL="457200" indent="-45720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3000"/>
              <a:t>Xóa nút có giá trị x</a:t>
            </a:r>
          </a:p>
          <a:p>
            <a:pPr marL="457200" indent="-45720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3000"/>
              <a:t>Xóa cây.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1967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 idx="4294967295"/>
          </p:nvPr>
        </p:nvSpPr>
        <p:spPr>
          <a:xfrm>
            <a:off x="776973" y="523710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Khởi tạo cây nhị phân rỗng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marL="457200" indent="-457200">
              <a:spcBef>
                <a:spcPct val="0"/>
              </a:spcBef>
              <a:buNone/>
            </a:pPr>
            <a:endParaRPr lang="en-US" sz="3600" dirty="0">
              <a:cs typeface="Consolas" panose="020B0609020204030204" pitchFamily="49" charset="0"/>
            </a:endParaRPr>
          </a:p>
          <a:p>
            <a:pPr marL="457200" indent="-457200"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void </a:t>
            </a:r>
            <a:r>
              <a:rPr lang="en-US" sz="3600" i="1" dirty="0">
                <a:solidFill>
                  <a:srgbClr val="CC00CC"/>
                </a:solidFill>
                <a:cs typeface="Consolas" panose="020B0609020204030204" pitchFamily="49" charset="0"/>
              </a:rPr>
              <a:t>initBTree</a:t>
            </a:r>
            <a:r>
              <a:rPr lang="en-US" sz="3600" dirty="0">
                <a:cs typeface="Consolas" panose="020B0609020204030204" pitchFamily="49" charset="0"/>
              </a:rPr>
              <a:t>(</a:t>
            </a:r>
            <a:r>
              <a:rPr lang="en-US" sz="3600" dirty="0">
                <a:solidFill>
                  <a:srgbClr val="0000CC"/>
                </a:solidFill>
                <a:cs typeface="Consolas" panose="020B0609020204030204" pitchFamily="49" charset="0"/>
              </a:rPr>
              <a:t>BTree </a:t>
            </a:r>
            <a:r>
              <a:rPr lang="en-US" sz="3600" dirty="0">
                <a:cs typeface="Consolas" panose="020B0609020204030204" pitchFamily="49" charset="0"/>
              </a:rPr>
              <a:t>&amp;bt)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{		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		</a:t>
            </a:r>
            <a:r>
              <a:rPr lang="en-US" sz="3600" dirty="0" err="1">
                <a:cs typeface="Consolas" panose="020B0609020204030204" pitchFamily="49" charset="0"/>
              </a:rPr>
              <a:t>bt.Root</a:t>
            </a:r>
            <a:r>
              <a:rPr lang="en-US" sz="3600" dirty="0">
                <a:cs typeface="Consolas" panose="020B0609020204030204" pitchFamily="49" charset="0"/>
              </a:rPr>
              <a:t> = NULL;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1280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48096" y="443119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Tạo nút mới</a:t>
            </a:r>
          </a:p>
        </p:txBody>
      </p:sp>
      <p:sp>
        <p:nvSpPr>
          <p:cNvPr id="23555" name="Text Box 4"/>
          <p:cNvSpPr txBox="1">
            <a:spLocks noChangeArrowheads="1"/>
          </p:cNvSpPr>
          <p:nvPr/>
        </p:nvSpPr>
        <p:spPr bwMode="auto">
          <a:xfrm>
            <a:off x="1905000" y="1136651"/>
            <a:ext cx="7075142" cy="507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36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TNode* </a:t>
            </a:r>
            <a:r>
              <a:rPr lang="en-US" sz="3600" i="1" dirty="0">
                <a:solidFill>
                  <a:srgbClr val="CC00CC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createTNode</a:t>
            </a:r>
            <a:r>
              <a:rPr lang="en-US" sz="36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(ItemType x)</a:t>
            </a:r>
          </a:p>
          <a:p>
            <a:pPr algn="l" eaLnBrk="0" hangingPunct="0"/>
            <a:r>
              <a:rPr lang="en-US" sz="36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{</a:t>
            </a:r>
          </a:p>
          <a:p>
            <a:pPr algn="l" eaLnBrk="0" hangingPunct="0"/>
            <a:r>
              <a:rPr lang="en-US" sz="36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</a:t>
            </a:r>
            <a:r>
              <a:rPr lang="en-US" sz="3600" dirty="0" err="1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TNode</a:t>
            </a:r>
            <a:r>
              <a:rPr lang="en-US" sz="36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* p = new </a:t>
            </a:r>
            <a:r>
              <a:rPr lang="en-US" sz="3600" dirty="0" err="1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TNode</a:t>
            </a:r>
            <a:r>
              <a:rPr lang="en-US" sz="36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;</a:t>
            </a:r>
          </a:p>
          <a:p>
            <a:pPr algn="l" eaLnBrk="0" hangingPunct="0"/>
            <a:r>
              <a:rPr lang="en-US" sz="36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if(!p) return NULL;</a:t>
            </a:r>
          </a:p>
          <a:p>
            <a:pPr algn="l" eaLnBrk="0" hangingPunct="0"/>
            <a:r>
              <a:rPr lang="en-US" sz="36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</a:t>
            </a:r>
            <a:r>
              <a:rPr lang="en-US" sz="3600" dirty="0" err="1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p</a:t>
            </a:r>
            <a:r>
              <a:rPr lang="en-US" sz="3600" dirty="0" err="1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600" dirty="0" err="1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Info</a:t>
            </a:r>
            <a:r>
              <a:rPr lang="en-US" sz="36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 = x;</a:t>
            </a:r>
          </a:p>
          <a:p>
            <a:pPr algn="l" eaLnBrk="0" hangingPunct="0"/>
            <a:r>
              <a:rPr lang="en-US" sz="36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</a:t>
            </a:r>
            <a:r>
              <a:rPr lang="en-US" sz="3600" dirty="0" err="1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p</a:t>
            </a:r>
            <a:r>
              <a:rPr lang="en-US" sz="3600" dirty="0" err="1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600" dirty="0" err="1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Left</a:t>
            </a:r>
            <a:r>
              <a:rPr lang="en-US" sz="36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 = NULL;</a:t>
            </a:r>
          </a:p>
          <a:p>
            <a:pPr algn="l" eaLnBrk="0" hangingPunct="0"/>
            <a:r>
              <a:rPr lang="en-US" sz="36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</a:t>
            </a:r>
            <a:r>
              <a:rPr lang="en-US" sz="3600" dirty="0" err="1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p</a:t>
            </a:r>
            <a:r>
              <a:rPr lang="en-US" sz="3600" dirty="0" err="1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600" dirty="0" err="1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Right</a:t>
            </a:r>
            <a:r>
              <a:rPr lang="en-US" sz="36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 = NULL;</a:t>
            </a:r>
          </a:p>
          <a:p>
            <a:pPr algn="l" eaLnBrk="0" hangingPunct="0"/>
            <a:r>
              <a:rPr lang="en-US" sz="36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return p;</a:t>
            </a:r>
          </a:p>
          <a:p>
            <a:pPr algn="l" eaLnBrk="0" hangingPunct="0"/>
            <a:r>
              <a:rPr lang="en-US" sz="36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3559" name="Rectangle 5"/>
          <p:cNvSpPr>
            <a:spLocks noChangeArrowheads="1"/>
          </p:cNvSpPr>
          <p:nvPr/>
        </p:nvSpPr>
        <p:spPr bwMode="auto">
          <a:xfrm>
            <a:off x="8101013" y="4100513"/>
            <a:ext cx="838200" cy="539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4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</a:p>
        </p:txBody>
      </p:sp>
      <p:sp>
        <p:nvSpPr>
          <p:cNvPr id="23560" name="Rectangle 6"/>
          <p:cNvSpPr>
            <a:spLocks noChangeArrowheads="1"/>
          </p:cNvSpPr>
          <p:nvPr/>
        </p:nvSpPr>
        <p:spPr bwMode="auto">
          <a:xfrm>
            <a:off x="7796213" y="4100513"/>
            <a:ext cx="304800" cy="539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 sz="2000">
              <a:latin typeface="Times New Roman" pitchFamily="18" charset="0"/>
            </a:endParaRPr>
          </a:p>
        </p:txBody>
      </p:sp>
      <p:sp>
        <p:nvSpPr>
          <p:cNvPr id="23561" name="Rectangle 7"/>
          <p:cNvSpPr>
            <a:spLocks noChangeArrowheads="1"/>
          </p:cNvSpPr>
          <p:nvPr/>
        </p:nvSpPr>
        <p:spPr bwMode="auto">
          <a:xfrm>
            <a:off x="8939213" y="4100513"/>
            <a:ext cx="304800" cy="539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 sz="2000">
              <a:latin typeface="Times New Roman" pitchFamily="18" charset="0"/>
            </a:endParaRPr>
          </a:p>
        </p:txBody>
      </p:sp>
      <p:sp>
        <p:nvSpPr>
          <p:cNvPr id="23562" name="Line 8"/>
          <p:cNvSpPr>
            <a:spLocks noChangeShapeType="1"/>
          </p:cNvSpPr>
          <p:nvPr/>
        </p:nvSpPr>
        <p:spPr bwMode="auto">
          <a:xfrm>
            <a:off x="7948613" y="4329113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563" name="Line 9"/>
          <p:cNvSpPr>
            <a:spLocks noChangeShapeType="1"/>
          </p:cNvSpPr>
          <p:nvPr/>
        </p:nvSpPr>
        <p:spPr bwMode="auto">
          <a:xfrm>
            <a:off x="9091613" y="4329113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564" name="Line 10"/>
          <p:cNvSpPr>
            <a:spLocks noChangeShapeType="1"/>
          </p:cNvSpPr>
          <p:nvPr/>
        </p:nvSpPr>
        <p:spPr bwMode="auto">
          <a:xfrm>
            <a:off x="7796213" y="5014913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5" name="Line 11"/>
          <p:cNvSpPr>
            <a:spLocks noChangeShapeType="1"/>
          </p:cNvSpPr>
          <p:nvPr/>
        </p:nvSpPr>
        <p:spPr bwMode="auto">
          <a:xfrm>
            <a:off x="7848600" y="5043488"/>
            <a:ext cx="209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6" name="Line 12"/>
          <p:cNvSpPr>
            <a:spLocks noChangeShapeType="1"/>
          </p:cNvSpPr>
          <p:nvPr/>
        </p:nvSpPr>
        <p:spPr bwMode="auto">
          <a:xfrm>
            <a:off x="7867650" y="5072063"/>
            <a:ext cx="165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7" name="Line 13"/>
          <p:cNvSpPr>
            <a:spLocks noChangeShapeType="1"/>
          </p:cNvSpPr>
          <p:nvPr/>
        </p:nvSpPr>
        <p:spPr bwMode="auto">
          <a:xfrm>
            <a:off x="8934450" y="50101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8" name="Line 14"/>
          <p:cNvSpPr>
            <a:spLocks noChangeShapeType="1"/>
          </p:cNvSpPr>
          <p:nvPr/>
        </p:nvSpPr>
        <p:spPr bwMode="auto">
          <a:xfrm>
            <a:off x="8986838" y="5038725"/>
            <a:ext cx="209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9" name="Line 15"/>
          <p:cNvSpPr>
            <a:spLocks noChangeShapeType="1"/>
          </p:cNvSpPr>
          <p:nvPr/>
        </p:nvSpPr>
        <p:spPr bwMode="auto">
          <a:xfrm>
            <a:off x="9005888" y="5067300"/>
            <a:ext cx="165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70" name="Rectangle 16"/>
          <p:cNvSpPr>
            <a:spLocks noChangeArrowheads="1"/>
          </p:cNvSpPr>
          <p:nvPr/>
        </p:nvSpPr>
        <p:spPr bwMode="auto">
          <a:xfrm>
            <a:off x="9472613" y="3186113"/>
            <a:ext cx="2286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 sz="2000">
              <a:latin typeface="Times New Roman" pitchFamily="18" charset="0"/>
            </a:endParaRPr>
          </a:p>
        </p:txBody>
      </p:sp>
      <p:sp>
        <p:nvSpPr>
          <p:cNvPr id="23571" name="Text Box 17"/>
          <p:cNvSpPr txBox="1">
            <a:spLocks noChangeArrowheads="1"/>
          </p:cNvSpPr>
          <p:nvPr/>
        </p:nvSpPr>
        <p:spPr bwMode="auto">
          <a:xfrm>
            <a:off x="9430591" y="2730501"/>
            <a:ext cx="2968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sz="2400">
                <a:solidFill>
                  <a:srgbClr val="CC0000"/>
                </a:solidFill>
                <a:latin typeface="Times New Roman" pitchFamily="18" charset="0"/>
              </a:rPr>
              <a:t>p</a:t>
            </a:r>
          </a:p>
        </p:txBody>
      </p:sp>
      <p:sp>
        <p:nvSpPr>
          <p:cNvPr id="23572" name="Freeform 18"/>
          <p:cNvSpPr>
            <a:spLocks/>
          </p:cNvSpPr>
          <p:nvPr/>
        </p:nvSpPr>
        <p:spPr bwMode="auto">
          <a:xfrm>
            <a:off x="8558213" y="3300413"/>
            <a:ext cx="914400" cy="800100"/>
          </a:xfrm>
          <a:custGeom>
            <a:avLst/>
            <a:gdLst>
              <a:gd name="T0" fmla="*/ 2147483647 w 576"/>
              <a:gd name="T1" fmla="*/ 2147483647 h 504"/>
              <a:gd name="T2" fmla="*/ 2147483647 w 576"/>
              <a:gd name="T3" fmla="*/ 2147483647 h 504"/>
              <a:gd name="T4" fmla="*/ 0 w 576"/>
              <a:gd name="T5" fmla="*/ 2147483647 h 504"/>
              <a:gd name="T6" fmla="*/ 0 60000 65536"/>
              <a:gd name="T7" fmla="*/ 0 60000 65536"/>
              <a:gd name="T8" fmla="*/ 0 60000 65536"/>
              <a:gd name="T9" fmla="*/ 0 w 576"/>
              <a:gd name="T10" fmla="*/ 0 h 504"/>
              <a:gd name="T11" fmla="*/ 576 w 576"/>
              <a:gd name="T12" fmla="*/ 504 h 5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504">
                <a:moveTo>
                  <a:pt x="576" y="72"/>
                </a:moveTo>
                <a:cubicBezTo>
                  <a:pt x="384" y="36"/>
                  <a:pt x="192" y="0"/>
                  <a:pt x="96" y="72"/>
                </a:cubicBezTo>
                <a:cubicBezTo>
                  <a:pt x="0" y="144"/>
                  <a:pt x="0" y="324"/>
                  <a:pt x="0" y="504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573" name="AutoShape 20"/>
          <p:cNvSpPr>
            <a:spLocks noChangeArrowheads="1"/>
          </p:cNvSpPr>
          <p:nvPr/>
        </p:nvSpPr>
        <p:spPr bwMode="auto">
          <a:xfrm>
            <a:off x="9067800" y="3581402"/>
            <a:ext cx="1243013" cy="742950"/>
          </a:xfrm>
          <a:prstGeom prst="irregularSeal2">
            <a:avLst/>
          </a:prstGeom>
          <a:solidFill>
            <a:srgbClr val="FFFF00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400" dirty="0">
                <a:solidFill>
                  <a:srgbClr val="FF0000"/>
                </a:solidFill>
                <a:latin typeface="Times" pitchFamily="18" charset="0"/>
              </a:rPr>
              <a:t>new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3331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71483" y="464636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Thêm nút con bên trái của node T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524000" y="1067601"/>
            <a:ext cx="9220200" cy="5486400"/>
          </a:xfrm>
        </p:spPr>
        <p:txBody>
          <a:bodyPr/>
          <a:lstStyle/>
          <a:p>
            <a:pPr marL="457200" indent="-457200">
              <a:spcBef>
                <a:spcPct val="0"/>
              </a:spcBef>
              <a:buNone/>
            </a:pPr>
            <a:r>
              <a:rPr lang="en-US" sz="3200" dirty="0">
                <a:cs typeface="Consolas" panose="020B0609020204030204" pitchFamily="49" charset="0"/>
              </a:rPr>
              <a:t>int </a:t>
            </a:r>
            <a:r>
              <a:rPr lang="en-US" sz="3600" i="1" dirty="0">
                <a:solidFill>
                  <a:srgbClr val="CC00CC"/>
                </a:solidFill>
                <a:cs typeface="Consolas" panose="020B0609020204030204" pitchFamily="49" charset="0"/>
              </a:rPr>
              <a:t>insertTNodeLeft</a:t>
            </a:r>
            <a:r>
              <a:rPr lang="en-US" sz="3200" dirty="0">
                <a:cs typeface="Consolas" panose="020B0609020204030204" pitchFamily="49" charset="0"/>
              </a:rPr>
              <a:t>(TNode* T, ItemType x)</a:t>
            </a:r>
            <a:endParaRPr lang="en-US" sz="3600" dirty="0">
              <a:cs typeface="Consolas" panose="020B0609020204030204" pitchFamily="49" charset="0"/>
            </a:endParaRPr>
          </a:p>
          <a:p>
            <a:pPr marL="457200" indent="-457200"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{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	if(T == NULL) 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		return 0; </a:t>
            </a:r>
            <a:r>
              <a:rPr lang="en-US" sz="3600" i="1" dirty="0">
                <a:cs typeface="Consolas" panose="020B0609020204030204" pitchFamily="49" charset="0"/>
              </a:rPr>
              <a:t>//Không tồn tại nút T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	if(</a:t>
            </a:r>
            <a:r>
              <a:rPr lang="en-US" sz="3600" dirty="0" err="1">
                <a:cs typeface="Consolas" panose="020B0609020204030204" pitchFamily="49" charset="0"/>
              </a:rPr>
              <a:t>T</a:t>
            </a:r>
            <a:r>
              <a:rPr lang="en-US" sz="3600" dirty="0" err="1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600" dirty="0" err="1">
                <a:cs typeface="Consolas" panose="020B0609020204030204" pitchFamily="49" charset="0"/>
              </a:rPr>
              <a:t>Left</a:t>
            </a:r>
            <a:r>
              <a:rPr lang="en-US" sz="3600" dirty="0">
                <a:cs typeface="Consolas" panose="020B0609020204030204" pitchFamily="49" charset="0"/>
              </a:rPr>
              <a:t> != NULL) 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		return 0; </a:t>
            </a:r>
            <a:r>
              <a:rPr lang="en-US" sz="3200" i="1" dirty="0">
                <a:cs typeface="Consolas" panose="020B0609020204030204" pitchFamily="49" charset="0"/>
              </a:rPr>
              <a:t>//Đã tồn tại nút con trái</a:t>
            </a:r>
            <a:endParaRPr lang="en-US" sz="3600" i="1" dirty="0">
              <a:cs typeface="Consolas" panose="020B0609020204030204" pitchFamily="49" charset="0"/>
            </a:endParaRPr>
          </a:p>
          <a:p>
            <a:pPr marL="457200" indent="-457200"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	TNode* p = </a:t>
            </a:r>
            <a:r>
              <a:rPr lang="en-US" sz="3600" dirty="0">
                <a:solidFill>
                  <a:srgbClr val="CC00CC"/>
                </a:solidFill>
                <a:cs typeface="Consolas" panose="020B0609020204030204" pitchFamily="49" charset="0"/>
              </a:rPr>
              <a:t>createTNode</a:t>
            </a:r>
            <a:r>
              <a:rPr lang="en-US" sz="3600" dirty="0">
                <a:cs typeface="Consolas" panose="020B0609020204030204" pitchFamily="49" charset="0"/>
              </a:rPr>
              <a:t>(x);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	</a:t>
            </a:r>
            <a:r>
              <a:rPr lang="en-US" sz="3600" dirty="0" err="1">
                <a:cs typeface="Consolas" panose="020B0609020204030204" pitchFamily="49" charset="0"/>
              </a:rPr>
              <a:t>T</a:t>
            </a:r>
            <a:r>
              <a:rPr lang="en-US" sz="3600" dirty="0" err="1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600" dirty="0" err="1">
                <a:cs typeface="Consolas" panose="020B0609020204030204" pitchFamily="49" charset="0"/>
              </a:rPr>
              <a:t>Left</a:t>
            </a:r>
            <a:r>
              <a:rPr lang="en-US" sz="3600" dirty="0">
                <a:cs typeface="Consolas" panose="020B0609020204030204" pitchFamily="49" charset="0"/>
              </a:rPr>
              <a:t> = p;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	return 1;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9072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95150" y="432988"/>
            <a:ext cx="10058400" cy="759871"/>
          </a:xfrm>
        </p:spPr>
        <p:txBody>
          <a:bodyPr/>
          <a:lstStyle/>
          <a:p>
            <a:pPr eaLnBrk="1" hangingPunct="1"/>
            <a:r>
              <a:rPr lang="en-US" smtClean="0"/>
              <a:t>Thêm nút con bên phải của node T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524000" y="1028028"/>
            <a:ext cx="92964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>
              <a:buClr>
                <a:schemeClr val="hlink"/>
              </a:buClr>
              <a:defRPr/>
            </a:pPr>
            <a:r>
              <a:rPr lang="en-US" sz="3200" kern="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int </a:t>
            </a:r>
            <a:r>
              <a:rPr lang="en-US" sz="3200" i="1" kern="0" dirty="0">
                <a:solidFill>
                  <a:srgbClr val="CC00CC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insertTNodeRight</a:t>
            </a:r>
            <a:r>
              <a:rPr lang="en-US" sz="3600" kern="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(</a:t>
            </a:r>
            <a:r>
              <a:rPr lang="en-US" sz="3200" kern="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TNode* T, ItemType x</a:t>
            </a:r>
            <a:r>
              <a:rPr lang="en-US" sz="3600" kern="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)</a:t>
            </a:r>
          </a:p>
          <a:p>
            <a:pPr marL="457200" indent="-457200">
              <a:buClr>
                <a:schemeClr val="hlink"/>
              </a:buClr>
              <a:defRPr/>
            </a:pPr>
            <a:r>
              <a:rPr lang="en-US" sz="3600" kern="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{</a:t>
            </a:r>
          </a:p>
          <a:p>
            <a:pPr marL="457200" indent="-457200">
              <a:buClr>
                <a:schemeClr val="hlink"/>
              </a:buClr>
              <a:defRPr/>
            </a:pPr>
            <a:r>
              <a:rPr lang="en-US" sz="3600" kern="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if(T == NULL) </a:t>
            </a:r>
          </a:p>
          <a:p>
            <a:pPr marL="457200" indent="-457200">
              <a:buClr>
                <a:schemeClr val="hlink"/>
              </a:buClr>
              <a:defRPr/>
            </a:pPr>
            <a:r>
              <a:rPr lang="en-US" sz="3600" kern="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	return 0; </a:t>
            </a:r>
            <a:r>
              <a:rPr lang="en-US" sz="3200" i="1" kern="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//Không tồn tại nút T</a:t>
            </a:r>
            <a:endParaRPr lang="en-US" sz="3600" i="1" kern="0" dirty="0">
              <a:solidFill>
                <a:srgbClr val="000066"/>
              </a:solidFill>
              <a:latin typeface="Cambria" panose="02040503050406030204" pitchFamily="18" charset="0"/>
              <a:ea typeface="Cambria" panose="02040503050406030204" pitchFamily="18" charset="0"/>
              <a:cs typeface="Consolas" panose="020B0609020204030204" pitchFamily="49" charset="0"/>
            </a:endParaRPr>
          </a:p>
          <a:p>
            <a:pPr marL="457200" indent="-457200">
              <a:buClr>
                <a:schemeClr val="hlink"/>
              </a:buClr>
              <a:defRPr/>
            </a:pPr>
            <a:r>
              <a:rPr lang="en-US" sz="3600" kern="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if(</a:t>
            </a:r>
            <a:r>
              <a:rPr lang="en-US" sz="3600" kern="0" dirty="0" err="1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T</a:t>
            </a:r>
            <a:r>
              <a:rPr lang="en-US" sz="3600" kern="0" dirty="0" err="1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600" kern="0" dirty="0" err="1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Right</a:t>
            </a:r>
            <a:r>
              <a:rPr lang="en-US" sz="3600" kern="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 != NULL) </a:t>
            </a:r>
          </a:p>
          <a:p>
            <a:pPr marL="457200" indent="-457200">
              <a:buClr>
                <a:schemeClr val="hlink"/>
              </a:buClr>
              <a:defRPr/>
            </a:pPr>
            <a:r>
              <a:rPr lang="en-US" sz="3600" kern="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	return 0; </a:t>
            </a:r>
            <a:r>
              <a:rPr lang="en-US" sz="3200" i="1" kern="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//Đã tồn tại nút con phải</a:t>
            </a:r>
            <a:endParaRPr lang="en-US" sz="4800" i="1" kern="0" dirty="0">
              <a:solidFill>
                <a:srgbClr val="000066"/>
              </a:solidFill>
              <a:latin typeface="Cambria" panose="02040503050406030204" pitchFamily="18" charset="0"/>
              <a:ea typeface="Cambria" panose="02040503050406030204" pitchFamily="18" charset="0"/>
              <a:cs typeface="Consolas" panose="020B0609020204030204" pitchFamily="49" charset="0"/>
            </a:endParaRPr>
          </a:p>
          <a:p>
            <a:pPr marL="457200" indent="-457200">
              <a:buClr>
                <a:schemeClr val="hlink"/>
              </a:buClr>
              <a:defRPr/>
            </a:pPr>
            <a:r>
              <a:rPr lang="en-US" sz="3600" kern="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TNode* p = </a:t>
            </a:r>
            <a:r>
              <a:rPr lang="en-US" sz="3600" kern="0" dirty="0">
                <a:solidFill>
                  <a:srgbClr val="CC00CC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createTNode</a:t>
            </a:r>
            <a:r>
              <a:rPr lang="en-US" sz="3600" kern="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(x);</a:t>
            </a:r>
          </a:p>
          <a:p>
            <a:pPr marL="457200" indent="-457200">
              <a:buClr>
                <a:schemeClr val="hlink"/>
              </a:buClr>
              <a:defRPr/>
            </a:pPr>
            <a:r>
              <a:rPr lang="en-US" sz="3600" kern="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</a:t>
            </a:r>
            <a:r>
              <a:rPr lang="en-US" sz="3600" kern="0" dirty="0" err="1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T</a:t>
            </a:r>
            <a:r>
              <a:rPr lang="en-US" sz="3600" kern="0" dirty="0" err="1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600" kern="0" dirty="0" err="1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Right</a:t>
            </a:r>
            <a:r>
              <a:rPr lang="en-US" sz="3600" kern="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 = p;</a:t>
            </a:r>
          </a:p>
          <a:p>
            <a:pPr marL="457200" indent="-457200">
              <a:buClr>
                <a:schemeClr val="hlink"/>
              </a:buClr>
              <a:defRPr/>
            </a:pPr>
            <a:r>
              <a:rPr lang="en-US" sz="3600" kern="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return 1;</a:t>
            </a:r>
          </a:p>
          <a:p>
            <a:pPr marL="457200" indent="-457200">
              <a:buClr>
                <a:schemeClr val="hlink"/>
              </a:buClr>
              <a:defRPr/>
            </a:pPr>
            <a:r>
              <a:rPr lang="en-US" sz="3600" kern="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6028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9339" y="473287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Duyệt cây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0228" y="1195148"/>
            <a:ext cx="10541000" cy="5447199"/>
          </a:xfrm>
        </p:spPr>
        <p:txBody>
          <a:bodyPr/>
          <a:lstStyle/>
          <a:p>
            <a:pPr marL="457200" indent="-457200">
              <a:buFont typeface="Wingdings" pitchFamily="2" charset="2"/>
              <a:buChar char="§"/>
            </a:pPr>
            <a:r>
              <a:rPr lang="en-US" sz="3200" dirty="0"/>
              <a:t>Do cây là cấu trúc không tuyến tính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dirty="0"/>
              <a:t>Có 6 cách duyệt cây nhị phân:</a:t>
            </a:r>
          </a:p>
          <a:p>
            <a:pPr marL="914400" lvl="1" indent="-457200">
              <a:buFont typeface="Arial" charset="0"/>
              <a:buChar char="•"/>
            </a:pPr>
            <a:r>
              <a:rPr lang="en-US" sz="3200" dirty="0"/>
              <a:t>Duyệt theo thứ tự trước </a:t>
            </a:r>
            <a:r>
              <a:rPr lang="en-US" sz="3200" b="1" dirty="0">
                <a:solidFill>
                  <a:srgbClr val="00B0F0"/>
                </a:solidFill>
              </a:rPr>
              <a:t>PreOrder</a:t>
            </a:r>
            <a:r>
              <a:rPr lang="en-US" sz="3200" dirty="0"/>
              <a:t>: </a:t>
            </a:r>
            <a:r>
              <a:rPr lang="en-US" sz="3200" b="1" dirty="0"/>
              <a:t>traverseNLR</a:t>
            </a:r>
            <a:r>
              <a:rPr lang="en-US" sz="3200" dirty="0"/>
              <a:t>, </a:t>
            </a:r>
            <a:r>
              <a:rPr lang="en-US" sz="3200" b="1" dirty="0"/>
              <a:t>traverseNRL</a:t>
            </a:r>
          </a:p>
          <a:p>
            <a:pPr marL="914400" lvl="1" indent="-457200">
              <a:buFont typeface="Arial" charset="0"/>
              <a:buChar char="•"/>
            </a:pPr>
            <a:r>
              <a:rPr lang="en-US" sz="3200" dirty="0"/>
              <a:t>Duyệt theo thứ tự giữa </a:t>
            </a:r>
            <a:r>
              <a:rPr lang="en-US" sz="3200" b="1" dirty="0">
                <a:solidFill>
                  <a:srgbClr val="00B0F0"/>
                </a:solidFill>
              </a:rPr>
              <a:t>InOrder</a:t>
            </a:r>
            <a:r>
              <a:rPr lang="en-US" sz="3200" dirty="0"/>
              <a:t>: </a:t>
            </a:r>
            <a:r>
              <a:rPr lang="en-US" sz="3200" b="1" dirty="0"/>
              <a:t>traverseLNR</a:t>
            </a:r>
            <a:r>
              <a:rPr lang="en-US" sz="3200" dirty="0"/>
              <a:t>, </a:t>
            </a:r>
            <a:r>
              <a:rPr lang="en-US" sz="3200" b="1" dirty="0"/>
              <a:t>traverseRNL</a:t>
            </a:r>
          </a:p>
          <a:p>
            <a:pPr marL="914400" lvl="1" indent="-457200">
              <a:buFont typeface="Arial" charset="0"/>
              <a:buChar char="•"/>
            </a:pPr>
            <a:r>
              <a:rPr lang="en-US" sz="3200" dirty="0"/>
              <a:t>Duyệt theo thứ tự sau </a:t>
            </a:r>
            <a:r>
              <a:rPr lang="en-US" sz="3200" b="1" dirty="0">
                <a:solidFill>
                  <a:srgbClr val="00B0F0"/>
                </a:solidFill>
              </a:rPr>
              <a:t>PostOrder</a:t>
            </a:r>
            <a:r>
              <a:rPr lang="en-US" sz="3200" dirty="0"/>
              <a:t>: </a:t>
            </a:r>
            <a:r>
              <a:rPr lang="en-US" sz="3200" b="1" dirty="0"/>
              <a:t>traverseLRN</a:t>
            </a:r>
            <a:r>
              <a:rPr lang="en-US" sz="3200" dirty="0"/>
              <a:t>, </a:t>
            </a:r>
            <a:r>
              <a:rPr lang="en-US" sz="3200" b="1" dirty="0"/>
              <a:t>traverseRLN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638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2" name="Line 23"/>
          <p:cNvSpPr>
            <a:spLocks noChangeShapeType="1"/>
          </p:cNvSpPr>
          <p:nvPr/>
        </p:nvSpPr>
        <p:spPr bwMode="auto">
          <a:xfrm>
            <a:off x="6755690" y="3262508"/>
            <a:ext cx="296393" cy="6909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65" name="Line 16"/>
          <p:cNvSpPr>
            <a:spLocks noChangeShapeType="1"/>
          </p:cNvSpPr>
          <p:nvPr/>
        </p:nvSpPr>
        <p:spPr bwMode="auto">
          <a:xfrm>
            <a:off x="6133686" y="1222785"/>
            <a:ext cx="1252357" cy="6022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1185" y="607185"/>
            <a:ext cx="4067569" cy="721861"/>
          </a:xfrm>
        </p:spPr>
        <p:txBody>
          <a:bodyPr/>
          <a:lstStyle/>
          <a:p>
            <a:pPr eaLnBrk="1" hangingPunct="1"/>
            <a:r>
              <a:rPr lang="en-US" smtClean="0"/>
              <a:t>Duyệt cây</a:t>
            </a:r>
          </a:p>
        </p:txBody>
      </p:sp>
      <p:sp>
        <p:nvSpPr>
          <p:cNvPr id="27653" name="Oval 4"/>
          <p:cNvSpPr>
            <a:spLocks noChangeArrowheads="1"/>
          </p:cNvSpPr>
          <p:nvPr/>
        </p:nvSpPr>
        <p:spPr bwMode="auto">
          <a:xfrm>
            <a:off x="5887395" y="701912"/>
            <a:ext cx="500944" cy="516194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400">
                <a:solidFill>
                  <a:schemeClr val="bg1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27654" name="Oval 5"/>
          <p:cNvSpPr>
            <a:spLocks noChangeArrowheads="1"/>
          </p:cNvSpPr>
          <p:nvPr/>
        </p:nvSpPr>
        <p:spPr bwMode="auto">
          <a:xfrm>
            <a:off x="4580758" y="1738980"/>
            <a:ext cx="500944" cy="516194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400">
                <a:solidFill>
                  <a:schemeClr val="bg1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27655" name="Oval 6"/>
          <p:cNvSpPr>
            <a:spLocks noChangeArrowheads="1"/>
          </p:cNvSpPr>
          <p:nvPr/>
        </p:nvSpPr>
        <p:spPr bwMode="auto">
          <a:xfrm>
            <a:off x="7252068" y="1738980"/>
            <a:ext cx="500944" cy="516194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400">
                <a:solidFill>
                  <a:schemeClr val="bg1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27656" name="Oval 7"/>
          <p:cNvSpPr>
            <a:spLocks noChangeArrowheads="1"/>
          </p:cNvSpPr>
          <p:nvPr/>
        </p:nvSpPr>
        <p:spPr bwMode="auto">
          <a:xfrm>
            <a:off x="3829341" y="2771367"/>
            <a:ext cx="500944" cy="516194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400">
                <a:solidFill>
                  <a:schemeClr val="bg1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27657" name="Oval 8"/>
          <p:cNvSpPr>
            <a:spLocks noChangeArrowheads="1"/>
          </p:cNvSpPr>
          <p:nvPr/>
        </p:nvSpPr>
        <p:spPr bwMode="auto">
          <a:xfrm>
            <a:off x="5369752" y="2771367"/>
            <a:ext cx="500944" cy="516194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400">
                <a:solidFill>
                  <a:schemeClr val="bg1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27658" name="Oval 9"/>
          <p:cNvSpPr>
            <a:spLocks noChangeArrowheads="1"/>
          </p:cNvSpPr>
          <p:nvPr/>
        </p:nvSpPr>
        <p:spPr bwMode="auto">
          <a:xfrm>
            <a:off x="6434252" y="2771367"/>
            <a:ext cx="500944" cy="516194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400">
                <a:solidFill>
                  <a:schemeClr val="bg1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27659" name="Oval 10"/>
          <p:cNvSpPr>
            <a:spLocks noChangeArrowheads="1"/>
          </p:cNvSpPr>
          <p:nvPr/>
        </p:nvSpPr>
        <p:spPr bwMode="auto">
          <a:xfrm>
            <a:off x="8073731" y="2771367"/>
            <a:ext cx="500944" cy="516194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400">
                <a:solidFill>
                  <a:schemeClr val="bg1"/>
                </a:solidFill>
                <a:latin typeface="Times New Roman" pitchFamily="18" charset="0"/>
              </a:rPr>
              <a:t>G</a:t>
            </a:r>
          </a:p>
        </p:txBody>
      </p:sp>
      <p:sp>
        <p:nvSpPr>
          <p:cNvPr id="27660" name="Oval 11"/>
          <p:cNvSpPr>
            <a:spLocks noChangeArrowheads="1"/>
          </p:cNvSpPr>
          <p:nvPr/>
        </p:nvSpPr>
        <p:spPr bwMode="auto">
          <a:xfrm>
            <a:off x="4811274" y="3906992"/>
            <a:ext cx="500944" cy="516194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400">
                <a:solidFill>
                  <a:schemeClr val="bg1"/>
                </a:solidFill>
                <a:latin typeface="Times New Roman" pitchFamily="18" charset="0"/>
              </a:rPr>
              <a:t>H</a:t>
            </a:r>
          </a:p>
        </p:txBody>
      </p:sp>
      <p:sp>
        <p:nvSpPr>
          <p:cNvPr id="27661" name="Oval 12"/>
          <p:cNvSpPr>
            <a:spLocks noChangeArrowheads="1"/>
          </p:cNvSpPr>
          <p:nvPr/>
        </p:nvSpPr>
        <p:spPr bwMode="auto">
          <a:xfrm>
            <a:off x="5830428" y="3906992"/>
            <a:ext cx="500944" cy="516194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400">
                <a:solidFill>
                  <a:schemeClr val="bg1"/>
                </a:solidFill>
                <a:latin typeface="Times New Roman" pitchFamily="18" charset="0"/>
              </a:rPr>
              <a:t>I</a:t>
            </a:r>
          </a:p>
        </p:txBody>
      </p:sp>
      <p:sp>
        <p:nvSpPr>
          <p:cNvPr id="27662" name="Oval 13"/>
          <p:cNvSpPr>
            <a:spLocks noChangeArrowheads="1"/>
          </p:cNvSpPr>
          <p:nvPr/>
        </p:nvSpPr>
        <p:spPr bwMode="auto">
          <a:xfrm>
            <a:off x="6858000" y="3906992"/>
            <a:ext cx="500944" cy="516194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400">
                <a:solidFill>
                  <a:schemeClr val="bg1"/>
                </a:solidFill>
                <a:latin typeface="Times New Roman" pitchFamily="18" charset="0"/>
              </a:rPr>
              <a:t>J</a:t>
            </a:r>
          </a:p>
        </p:txBody>
      </p:sp>
      <p:sp>
        <p:nvSpPr>
          <p:cNvPr id="27663" name="Oval 14"/>
          <p:cNvSpPr>
            <a:spLocks noChangeArrowheads="1"/>
          </p:cNvSpPr>
          <p:nvPr/>
        </p:nvSpPr>
        <p:spPr bwMode="auto">
          <a:xfrm>
            <a:off x="7601366" y="3906992"/>
            <a:ext cx="500944" cy="516194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400">
                <a:solidFill>
                  <a:schemeClr val="bg1"/>
                </a:solidFill>
                <a:latin typeface="Times New Roman" pitchFamily="18" charset="0"/>
              </a:rPr>
              <a:t>K</a:t>
            </a:r>
          </a:p>
        </p:txBody>
      </p:sp>
      <p:sp>
        <p:nvSpPr>
          <p:cNvPr id="27664" name="Line 15"/>
          <p:cNvSpPr>
            <a:spLocks noChangeShapeType="1"/>
          </p:cNvSpPr>
          <p:nvPr/>
        </p:nvSpPr>
        <p:spPr bwMode="auto">
          <a:xfrm flipH="1">
            <a:off x="4831230" y="1222786"/>
            <a:ext cx="1302456" cy="5161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66" name="Line 17"/>
          <p:cNvSpPr>
            <a:spLocks noChangeShapeType="1"/>
          </p:cNvSpPr>
          <p:nvPr/>
        </p:nvSpPr>
        <p:spPr bwMode="auto">
          <a:xfrm flipH="1">
            <a:off x="4129908" y="2255173"/>
            <a:ext cx="701322" cy="5161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67" name="Line 18"/>
          <p:cNvSpPr>
            <a:spLocks noChangeShapeType="1"/>
          </p:cNvSpPr>
          <p:nvPr/>
        </p:nvSpPr>
        <p:spPr bwMode="auto">
          <a:xfrm>
            <a:off x="4831230" y="2255174"/>
            <a:ext cx="767721" cy="51619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68" name="Line 19"/>
          <p:cNvSpPr>
            <a:spLocks noChangeShapeType="1"/>
          </p:cNvSpPr>
          <p:nvPr/>
        </p:nvSpPr>
        <p:spPr bwMode="auto">
          <a:xfrm flipH="1">
            <a:off x="5116851" y="3287560"/>
            <a:ext cx="499191" cy="61943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69" name="Line 20"/>
          <p:cNvSpPr>
            <a:spLocks noChangeShapeType="1"/>
          </p:cNvSpPr>
          <p:nvPr/>
        </p:nvSpPr>
        <p:spPr bwMode="auto">
          <a:xfrm>
            <a:off x="5616043" y="3287560"/>
            <a:ext cx="431462" cy="61943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70" name="Line 21"/>
          <p:cNvSpPr>
            <a:spLocks noChangeShapeType="1"/>
          </p:cNvSpPr>
          <p:nvPr/>
        </p:nvSpPr>
        <p:spPr bwMode="auto">
          <a:xfrm flipH="1">
            <a:off x="6734819" y="2255173"/>
            <a:ext cx="746526" cy="5161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71" name="Line 22"/>
          <p:cNvSpPr>
            <a:spLocks noChangeShapeType="1"/>
          </p:cNvSpPr>
          <p:nvPr/>
        </p:nvSpPr>
        <p:spPr bwMode="auto">
          <a:xfrm>
            <a:off x="7481346" y="2255174"/>
            <a:ext cx="752133" cy="53760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73" name="Line 24"/>
          <p:cNvSpPr>
            <a:spLocks noChangeShapeType="1"/>
          </p:cNvSpPr>
          <p:nvPr/>
        </p:nvSpPr>
        <p:spPr bwMode="auto">
          <a:xfrm flipH="1">
            <a:off x="7917619" y="3275034"/>
            <a:ext cx="315860" cy="66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3" name="Text Box 25"/>
          <p:cNvSpPr txBox="1">
            <a:spLocks noChangeArrowheads="1"/>
          </p:cNvSpPr>
          <p:nvPr/>
        </p:nvSpPr>
        <p:spPr bwMode="auto">
          <a:xfrm>
            <a:off x="2712297" y="4419355"/>
            <a:ext cx="6853158" cy="20128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>
              <a:lnSpc>
                <a:spcPct val="130000"/>
              </a:lnSpc>
            </a:pPr>
            <a:r>
              <a:rPr lang="en-US" sz="3200" dirty="0">
                <a:solidFill>
                  <a:srgbClr val="FF0000"/>
                </a:solidFill>
                <a:latin typeface="Times New Roman" pitchFamily="18" charset="0"/>
              </a:rPr>
              <a:t>PreOrder</a:t>
            </a:r>
            <a:r>
              <a:rPr lang="en-US" sz="3200" dirty="0">
                <a:solidFill>
                  <a:srgbClr val="000066"/>
                </a:solidFill>
                <a:latin typeface="Times New Roman" pitchFamily="18" charset="0"/>
              </a:rPr>
              <a:t> (traverseNLR, traverseNRL)</a:t>
            </a:r>
          </a:p>
          <a:p>
            <a:pPr algn="l" eaLnBrk="0" hangingPunct="0">
              <a:lnSpc>
                <a:spcPct val="130000"/>
              </a:lnSpc>
            </a:pPr>
            <a:r>
              <a:rPr lang="en-US" sz="3200" dirty="0">
                <a:solidFill>
                  <a:srgbClr val="FF0000"/>
                </a:solidFill>
                <a:latin typeface="Times New Roman" pitchFamily="18" charset="0"/>
              </a:rPr>
              <a:t>InOrder</a:t>
            </a:r>
            <a:r>
              <a:rPr lang="en-US" sz="3200" dirty="0">
                <a:solidFill>
                  <a:srgbClr val="000066"/>
                </a:solidFill>
                <a:latin typeface="Times New Roman" pitchFamily="18" charset="0"/>
              </a:rPr>
              <a:t> (traverseLNR, traverseRNL)</a:t>
            </a:r>
          </a:p>
          <a:p>
            <a:pPr algn="l" eaLnBrk="0" hangingPunct="0">
              <a:lnSpc>
                <a:spcPct val="130000"/>
              </a:lnSpc>
            </a:pPr>
            <a:r>
              <a:rPr lang="en-US" sz="3200" dirty="0">
                <a:solidFill>
                  <a:srgbClr val="FF0000"/>
                </a:solidFill>
                <a:latin typeface="Times New Roman" pitchFamily="18" charset="0"/>
              </a:rPr>
              <a:t>PostOrder</a:t>
            </a:r>
            <a:r>
              <a:rPr lang="en-US" sz="3200" dirty="0">
                <a:solidFill>
                  <a:srgbClr val="000066"/>
                </a:solidFill>
                <a:latin typeface="Times New Roman" pitchFamily="18" charset="0"/>
              </a:rPr>
              <a:t> (traverseLRN, traverseRLN)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595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 idx="4294967295"/>
          </p:nvPr>
        </p:nvSpPr>
        <p:spPr>
          <a:xfrm>
            <a:off x="574842" y="494617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Duyệt Node Left Right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4294967295"/>
          </p:nvPr>
        </p:nvSpPr>
        <p:spPr>
          <a:xfrm>
            <a:off x="863600" y="1377711"/>
            <a:ext cx="10541000" cy="5447199"/>
          </a:xfrm>
        </p:spPr>
        <p:txBody>
          <a:bodyPr>
            <a:normAutofit lnSpcReduction="10000"/>
          </a:bodyPr>
          <a:lstStyle/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void  </a:t>
            </a:r>
            <a:r>
              <a:rPr lang="en-US" sz="3600" dirty="0">
                <a:solidFill>
                  <a:srgbClr val="CC00CC"/>
                </a:solidFill>
                <a:cs typeface="Consolas" panose="020B0609020204030204" pitchFamily="49" charset="0"/>
              </a:rPr>
              <a:t>traverseNLR</a:t>
            </a:r>
            <a:r>
              <a:rPr lang="en-US" sz="3600" dirty="0">
                <a:cs typeface="Consolas" panose="020B0609020204030204" pitchFamily="49" charset="0"/>
              </a:rPr>
              <a:t>(</a:t>
            </a:r>
            <a:r>
              <a:rPr lang="en-US" sz="3600" dirty="0">
                <a:solidFill>
                  <a:srgbClr val="0000CC"/>
                </a:solidFill>
                <a:cs typeface="Consolas" panose="020B0609020204030204" pitchFamily="49" charset="0"/>
              </a:rPr>
              <a:t>TNode* 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</a:rPr>
              <a:t>root</a:t>
            </a:r>
            <a:r>
              <a:rPr lang="en-US" sz="3600" dirty="0">
                <a:cs typeface="Consolas" panose="020B0609020204030204" pitchFamily="49" charset="0"/>
              </a:rPr>
              <a:t>)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{		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		if(root == NULL) return;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		</a:t>
            </a:r>
            <a:r>
              <a:rPr lang="en-US" sz="3600" i="1" dirty="0">
                <a:solidFill>
                  <a:srgbClr val="CC0000"/>
                </a:solidFill>
                <a:cs typeface="Consolas" panose="020B0609020204030204" pitchFamily="49" charset="0"/>
              </a:rPr>
              <a:t>&lt;xử lý gốc&gt;;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		</a:t>
            </a:r>
            <a:r>
              <a:rPr lang="en-US" sz="3600" dirty="0">
                <a:solidFill>
                  <a:srgbClr val="CC00CC"/>
                </a:solidFill>
                <a:cs typeface="Consolas" panose="020B0609020204030204" pitchFamily="49" charset="0"/>
              </a:rPr>
              <a:t>traverseNLR</a:t>
            </a:r>
            <a:r>
              <a:rPr lang="en-US" sz="3600" dirty="0">
                <a:cs typeface="Consolas" panose="020B0609020204030204" pitchFamily="49" charset="0"/>
              </a:rPr>
              <a:t>(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</a:rPr>
              <a:t>root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</a:rPr>
              <a:t>Left</a:t>
            </a:r>
            <a:r>
              <a:rPr lang="en-US" sz="3600" dirty="0">
                <a:cs typeface="Consolas" panose="020B0609020204030204" pitchFamily="49" charset="0"/>
              </a:rPr>
              <a:t>);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		</a:t>
            </a:r>
            <a:r>
              <a:rPr lang="en-US" sz="3600" dirty="0">
                <a:solidFill>
                  <a:srgbClr val="CC00CC"/>
                </a:solidFill>
                <a:cs typeface="Consolas" panose="020B0609020204030204" pitchFamily="49" charset="0"/>
              </a:rPr>
              <a:t>traverseNLR</a:t>
            </a:r>
            <a:r>
              <a:rPr lang="en-US" sz="3600" dirty="0">
                <a:cs typeface="Consolas" panose="020B0609020204030204" pitchFamily="49" charset="0"/>
              </a:rPr>
              <a:t>(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</a:rPr>
              <a:t>root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</a:rPr>
              <a:t>Right</a:t>
            </a:r>
            <a:r>
              <a:rPr lang="en-US" sz="3600" dirty="0">
                <a:cs typeface="Consolas" panose="020B0609020204030204" pitchFamily="49" charset="0"/>
              </a:rPr>
              <a:t>);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5974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 idx="4294967295"/>
          </p:nvPr>
        </p:nvSpPr>
        <p:spPr>
          <a:xfrm>
            <a:off x="863600" y="523493"/>
            <a:ext cx="10541000" cy="721861"/>
          </a:xfrm>
        </p:spPr>
        <p:txBody>
          <a:bodyPr/>
          <a:lstStyle/>
          <a:p>
            <a:r>
              <a:rPr lang="en-US" smtClean="0"/>
              <a:t>Duyệt Node </a:t>
            </a:r>
            <a:r>
              <a:rPr lang="en-US"/>
              <a:t>Right Left</a:t>
            </a:r>
            <a:endParaRPr lang="en-US" smtClean="0"/>
          </a:p>
        </p:txBody>
      </p:sp>
      <p:sp>
        <p:nvSpPr>
          <p:cNvPr id="28675" name="Content Placeholder 2"/>
          <p:cNvSpPr>
            <a:spLocks noGrp="1"/>
          </p:cNvSpPr>
          <p:nvPr>
            <p:ph idx="4294967295"/>
          </p:nvPr>
        </p:nvSpPr>
        <p:spPr>
          <a:xfrm>
            <a:off x="863600" y="1410801"/>
            <a:ext cx="10541000" cy="5447199"/>
          </a:xfrm>
        </p:spPr>
        <p:txBody>
          <a:bodyPr>
            <a:normAutofit lnSpcReduction="10000"/>
          </a:bodyPr>
          <a:lstStyle/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void  </a:t>
            </a:r>
            <a:r>
              <a:rPr lang="en-US" sz="3600" dirty="0">
                <a:solidFill>
                  <a:srgbClr val="CC00CC"/>
                </a:solidFill>
                <a:cs typeface="Consolas" panose="020B0609020204030204" pitchFamily="49" charset="0"/>
              </a:rPr>
              <a:t>traverseNRL</a:t>
            </a:r>
            <a:r>
              <a:rPr lang="en-US" sz="3600" dirty="0">
                <a:cs typeface="Consolas" panose="020B0609020204030204" pitchFamily="49" charset="0"/>
              </a:rPr>
              <a:t>(</a:t>
            </a:r>
            <a:r>
              <a:rPr lang="en-US" sz="3600" dirty="0">
                <a:solidFill>
                  <a:srgbClr val="0000CC"/>
                </a:solidFill>
                <a:cs typeface="Consolas" panose="020B0609020204030204" pitchFamily="49" charset="0"/>
              </a:rPr>
              <a:t>TNode* 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</a:rPr>
              <a:t>root</a:t>
            </a:r>
            <a:r>
              <a:rPr lang="en-US" sz="3600" dirty="0">
                <a:cs typeface="Consolas" panose="020B0609020204030204" pitchFamily="49" charset="0"/>
              </a:rPr>
              <a:t>)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{		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		if(root == NULL) return;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		</a:t>
            </a:r>
            <a:r>
              <a:rPr lang="en-US" sz="3600" i="1" dirty="0">
                <a:solidFill>
                  <a:srgbClr val="CC0000"/>
                </a:solidFill>
                <a:cs typeface="Consolas" panose="020B0609020204030204" pitchFamily="49" charset="0"/>
              </a:rPr>
              <a:t>&lt;xử lý gốc&gt;;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		</a:t>
            </a:r>
            <a:r>
              <a:rPr lang="en-US" sz="3600" dirty="0">
                <a:solidFill>
                  <a:srgbClr val="CC00CC"/>
                </a:solidFill>
                <a:cs typeface="Consolas" panose="020B0609020204030204" pitchFamily="49" charset="0"/>
              </a:rPr>
              <a:t>traverseNRL</a:t>
            </a:r>
            <a:r>
              <a:rPr lang="en-US" sz="3600" dirty="0">
                <a:cs typeface="Consolas" panose="020B0609020204030204" pitchFamily="49" charset="0"/>
              </a:rPr>
              <a:t>(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</a:rPr>
              <a:t>root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</a:rPr>
              <a:t>Right</a:t>
            </a:r>
            <a:r>
              <a:rPr lang="en-US" sz="3600" dirty="0">
                <a:cs typeface="Consolas" panose="020B0609020204030204" pitchFamily="49" charset="0"/>
              </a:rPr>
              <a:t>);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solidFill>
                  <a:srgbClr val="CC00CC"/>
                </a:solidFill>
                <a:cs typeface="Consolas" panose="020B0609020204030204" pitchFamily="49" charset="0"/>
              </a:rPr>
              <a:t>		traverseNRL</a:t>
            </a:r>
            <a:r>
              <a:rPr lang="en-US" sz="3600" dirty="0">
                <a:cs typeface="Consolas" panose="020B0609020204030204" pitchFamily="49" charset="0"/>
              </a:rPr>
              <a:t>(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</a:rPr>
              <a:t>root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</a:rPr>
              <a:t>Left</a:t>
            </a:r>
            <a:r>
              <a:rPr lang="en-US" sz="3600" dirty="0">
                <a:cs typeface="Consolas" panose="020B0609020204030204" pitchFamily="49" charset="0"/>
              </a:rPr>
              <a:t>);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2406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 idx="4294967295"/>
          </p:nvPr>
        </p:nvSpPr>
        <p:spPr>
          <a:xfrm>
            <a:off x="862263" y="518916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Duyệt Left Node Right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4294967295"/>
          </p:nvPr>
        </p:nvSpPr>
        <p:spPr>
          <a:xfrm>
            <a:off x="862263" y="1288902"/>
            <a:ext cx="10541000" cy="5447199"/>
          </a:xfrm>
        </p:spPr>
        <p:txBody>
          <a:bodyPr>
            <a:normAutofit lnSpcReduction="10000"/>
          </a:bodyPr>
          <a:lstStyle/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void  </a:t>
            </a:r>
            <a:r>
              <a:rPr lang="en-US" sz="3600" dirty="0">
                <a:solidFill>
                  <a:srgbClr val="CC00CC"/>
                </a:solidFill>
                <a:cs typeface="Consolas" panose="020B0609020204030204" pitchFamily="49" charset="0"/>
              </a:rPr>
              <a:t>traverseLNR</a:t>
            </a:r>
            <a:r>
              <a:rPr lang="en-US" sz="3600" dirty="0">
                <a:cs typeface="Consolas" panose="020B0609020204030204" pitchFamily="49" charset="0"/>
              </a:rPr>
              <a:t>(</a:t>
            </a:r>
            <a:r>
              <a:rPr lang="en-US" sz="3600" dirty="0">
                <a:solidFill>
                  <a:srgbClr val="0000CC"/>
                </a:solidFill>
                <a:cs typeface="Consolas" panose="020B0609020204030204" pitchFamily="49" charset="0"/>
              </a:rPr>
              <a:t>TNode* 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</a:rPr>
              <a:t>root</a:t>
            </a:r>
            <a:r>
              <a:rPr lang="en-US" sz="3600" dirty="0">
                <a:cs typeface="Consolas" panose="020B0609020204030204" pitchFamily="49" charset="0"/>
              </a:rPr>
              <a:t>)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{		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		if(root == NULL) return;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		</a:t>
            </a:r>
            <a:r>
              <a:rPr lang="en-US" sz="3600" dirty="0">
                <a:solidFill>
                  <a:srgbClr val="CC00CC"/>
                </a:solidFill>
                <a:cs typeface="Consolas" panose="020B0609020204030204" pitchFamily="49" charset="0"/>
              </a:rPr>
              <a:t>traverseLNR</a:t>
            </a:r>
            <a:r>
              <a:rPr lang="en-US" sz="3600" dirty="0">
                <a:cs typeface="Consolas" panose="020B0609020204030204" pitchFamily="49" charset="0"/>
              </a:rPr>
              <a:t>(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</a:rPr>
              <a:t>root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</a:rPr>
              <a:t>Left</a:t>
            </a:r>
            <a:r>
              <a:rPr lang="en-US" sz="3600" dirty="0">
                <a:cs typeface="Consolas" panose="020B0609020204030204" pitchFamily="49" charset="0"/>
              </a:rPr>
              <a:t>);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		</a:t>
            </a:r>
            <a:r>
              <a:rPr lang="en-US" sz="3600" i="1" dirty="0">
                <a:solidFill>
                  <a:srgbClr val="CC0000"/>
                </a:solidFill>
                <a:cs typeface="Consolas" panose="020B0609020204030204" pitchFamily="49" charset="0"/>
              </a:rPr>
              <a:t>&lt;xử lý gốc&gt;;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		</a:t>
            </a:r>
            <a:r>
              <a:rPr lang="en-US" sz="3600" dirty="0">
                <a:solidFill>
                  <a:srgbClr val="CC00CC"/>
                </a:solidFill>
                <a:cs typeface="Consolas" panose="020B0609020204030204" pitchFamily="49" charset="0"/>
              </a:rPr>
              <a:t>traverseLNR</a:t>
            </a:r>
            <a:r>
              <a:rPr lang="en-US" sz="3600" dirty="0">
                <a:cs typeface="Consolas" panose="020B0609020204030204" pitchFamily="49" charset="0"/>
              </a:rPr>
              <a:t>(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</a:rPr>
              <a:t>root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</a:rPr>
              <a:t>Right</a:t>
            </a:r>
            <a:r>
              <a:rPr lang="en-US" sz="3600" dirty="0">
                <a:cs typeface="Consolas" panose="020B0609020204030204" pitchFamily="49" charset="0"/>
              </a:rPr>
              <a:t>);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7914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 idx="4294967295"/>
          </p:nvPr>
        </p:nvSpPr>
        <p:spPr>
          <a:xfrm>
            <a:off x="863600" y="482912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Duyệt Left Node Right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4294967295"/>
          </p:nvPr>
        </p:nvSpPr>
        <p:spPr>
          <a:xfrm>
            <a:off x="863600" y="1195148"/>
            <a:ext cx="10541000" cy="5447199"/>
          </a:xfrm>
        </p:spPr>
        <p:txBody>
          <a:bodyPr>
            <a:normAutofit lnSpcReduction="10000"/>
          </a:bodyPr>
          <a:lstStyle/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void  </a:t>
            </a:r>
            <a:r>
              <a:rPr lang="en-US" sz="3600" dirty="0">
                <a:solidFill>
                  <a:srgbClr val="CC00CC"/>
                </a:solidFill>
                <a:cs typeface="Consolas" panose="020B0609020204030204" pitchFamily="49" charset="0"/>
              </a:rPr>
              <a:t>traverseRNL</a:t>
            </a:r>
            <a:r>
              <a:rPr lang="en-US" sz="3600" dirty="0">
                <a:cs typeface="Consolas" panose="020B0609020204030204" pitchFamily="49" charset="0"/>
              </a:rPr>
              <a:t>(</a:t>
            </a:r>
            <a:r>
              <a:rPr lang="en-US" sz="3600" dirty="0">
                <a:solidFill>
                  <a:srgbClr val="0000CC"/>
                </a:solidFill>
                <a:cs typeface="Consolas" panose="020B0609020204030204" pitchFamily="49" charset="0"/>
              </a:rPr>
              <a:t>TNode* 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</a:rPr>
              <a:t>root</a:t>
            </a:r>
            <a:r>
              <a:rPr lang="en-US" sz="3600" dirty="0">
                <a:cs typeface="Consolas" panose="020B0609020204030204" pitchFamily="49" charset="0"/>
              </a:rPr>
              <a:t>)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{		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		if(root == NULL) return;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		</a:t>
            </a:r>
            <a:r>
              <a:rPr lang="en-US" sz="3600" dirty="0">
                <a:solidFill>
                  <a:srgbClr val="CC00CC"/>
                </a:solidFill>
                <a:cs typeface="Consolas" panose="020B0609020204030204" pitchFamily="49" charset="0"/>
              </a:rPr>
              <a:t>traverseRNL</a:t>
            </a:r>
            <a:r>
              <a:rPr lang="en-US" sz="3600" dirty="0">
                <a:cs typeface="Consolas" panose="020B0609020204030204" pitchFamily="49" charset="0"/>
              </a:rPr>
              <a:t>(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</a:rPr>
              <a:t>root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</a:rPr>
              <a:t>Right</a:t>
            </a:r>
            <a:r>
              <a:rPr lang="en-US" sz="3600" dirty="0">
                <a:cs typeface="Consolas" panose="020B0609020204030204" pitchFamily="49" charset="0"/>
              </a:rPr>
              <a:t>);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		</a:t>
            </a:r>
            <a:r>
              <a:rPr lang="en-US" sz="3600" i="1" dirty="0">
                <a:solidFill>
                  <a:srgbClr val="CC0000"/>
                </a:solidFill>
                <a:cs typeface="Consolas" panose="020B0609020204030204" pitchFamily="49" charset="0"/>
              </a:rPr>
              <a:t>&lt;xử lý gốc&gt;;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solidFill>
                  <a:srgbClr val="CC00CC"/>
                </a:solidFill>
                <a:cs typeface="Consolas" panose="020B0609020204030204" pitchFamily="49" charset="0"/>
              </a:rPr>
              <a:t>		traverseRNL</a:t>
            </a:r>
            <a:r>
              <a:rPr lang="en-US" sz="3600" dirty="0">
                <a:cs typeface="Consolas" panose="020B0609020204030204" pitchFamily="49" charset="0"/>
              </a:rPr>
              <a:t>(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</a:rPr>
              <a:t>root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</a:rPr>
              <a:t>Left</a:t>
            </a:r>
            <a:r>
              <a:rPr lang="en-US" sz="3600" dirty="0">
                <a:cs typeface="Consolas" panose="020B0609020204030204" pitchFamily="49" charset="0"/>
              </a:rPr>
              <a:t>);</a:t>
            </a:r>
            <a:endParaRPr lang="en-US" sz="3600" i="1" dirty="0">
              <a:solidFill>
                <a:srgbClr val="CC0000"/>
              </a:solidFill>
              <a:cs typeface="Consolas" panose="020B0609020204030204" pitchFamily="49" charset="0"/>
            </a:endParaRP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6853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 idx="4294967295"/>
          </p:nvPr>
        </p:nvSpPr>
        <p:spPr>
          <a:xfrm>
            <a:off x="805849" y="465741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Duyệt Left Right Node 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4294967295"/>
          </p:nvPr>
        </p:nvSpPr>
        <p:spPr>
          <a:xfrm>
            <a:off x="950228" y="1377711"/>
            <a:ext cx="10541000" cy="5447199"/>
          </a:xfrm>
        </p:spPr>
        <p:txBody>
          <a:bodyPr>
            <a:normAutofit lnSpcReduction="10000"/>
          </a:bodyPr>
          <a:lstStyle/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void  </a:t>
            </a:r>
            <a:r>
              <a:rPr lang="en-US" sz="3600" dirty="0">
                <a:solidFill>
                  <a:srgbClr val="CC00CC"/>
                </a:solidFill>
                <a:cs typeface="Consolas" panose="020B0609020204030204" pitchFamily="49" charset="0"/>
              </a:rPr>
              <a:t>traverseLRN</a:t>
            </a:r>
            <a:r>
              <a:rPr lang="en-US" sz="3600" dirty="0">
                <a:cs typeface="Consolas" panose="020B0609020204030204" pitchFamily="49" charset="0"/>
              </a:rPr>
              <a:t>(</a:t>
            </a:r>
            <a:r>
              <a:rPr lang="en-US" sz="3600" dirty="0">
                <a:solidFill>
                  <a:srgbClr val="0000CC"/>
                </a:solidFill>
                <a:cs typeface="Consolas" panose="020B0609020204030204" pitchFamily="49" charset="0"/>
              </a:rPr>
              <a:t>TNode* 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</a:rPr>
              <a:t>root</a:t>
            </a:r>
            <a:r>
              <a:rPr lang="en-US" sz="3600" dirty="0">
                <a:cs typeface="Consolas" panose="020B0609020204030204" pitchFamily="49" charset="0"/>
              </a:rPr>
              <a:t>)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{		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		if(root == NULL) return;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		</a:t>
            </a:r>
            <a:r>
              <a:rPr lang="en-US" sz="3600" dirty="0">
                <a:solidFill>
                  <a:srgbClr val="CC00CC"/>
                </a:solidFill>
                <a:cs typeface="Consolas" panose="020B0609020204030204" pitchFamily="49" charset="0"/>
              </a:rPr>
              <a:t>traverseLRN</a:t>
            </a:r>
            <a:r>
              <a:rPr lang="en-US" sz="3600" dirty="0">
                <a:cs typeface="Consolas" panose="020B0609020204030204" pitchFamily="49" charset="0"/>
              </a:rPr>
              <a:t>(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</a:rPr>
              <a:t>root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</a:rPr>
              <a:t>Left</a:t>
            </a:r>
            <a:r>
              <a:rPr lang="en-US" sz="3600" dirty="0">
                <a:cs typeface="Consolas" panose="020B0609020204030204" pitchFamily="49" charset="0"/>
              </a:rPr>
              <a:t>);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		</a:t>
            </a:r>
            <a:r>
              <a:rPr lang="en-US" sz="3600" dirty="0">
                <a:solidFill>
                  <a:srgbClr val="CC00CC"/>
                </a:solidFill>
                <a:cs typeface="Consolas" panose="020B0609020204030204" pitchFamily="49" charset="0"/>
              </a:rPr>
              <a:t>traverseLRN</a:t>
            </a:r>
            <a:r>
              <a:rPr lang="en-US" sz="3600" dirty="0">
                <a:cs typeface="Consolas" panose="020B0609020204030204" pitchFamily="49" charset="0"/>
              </a:rPr>
              <a:t>(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</a:rPr>
              <a:t>root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</a:rPr>
              <a:t>Right</a:t>
            </a:r>
            <a:r>
              <a:rPr lang="en-US" sz="3600" dirty="0">
                <a:cs typeface="Consolas" panose="020B0609020204030204" pitchFamily="49" charset="0"/>
              </a:rPr>
              <a:t>);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		</a:t>
            </a:r>
            <a:r>
              <a:rPr lang="en-US" sz="3600" i="1" dirty="0">
                <a:solidFill>
                  <a:srgbClr val="CC0000"/>
                </a:solidFill>
                <a:cs typeface="Consolas" panose="020B0609020204030204" pitchFamily="49" charset="0"/>
              </a:rPr>
              <a:t>&lt;xử lý gốc&gt;;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6415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 idx="4294967295"/>
          </p:nvPr>
        </p:nvSpPr>
        <p:spPr>
          <a:xfrm>
            <a:off x="834724" y="473287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Duyệt Left Right Node 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4294967295"/>
          </p:nvPr>
        </p:nvSpPr>
        <p:spPr>
          <a:xfrm>
            <a:off x="950227" y="1195148"/>
            <a:ext cx="10541000" cy="5447199"/>
          </a:xfrm>
        </p:spPr>
        <p:txBody>
          <a:bodyPr>
            <a:normAutofit lnSpcReduction="10000"/>
          </a:bodyPr>
          <a:lstStyle/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void  </a:t>
            </a:r>
            <a:r>
              <a:rPr lang="en-US" sz="3600" dirty="0">
                <a:solidFill>
                  <a:srgbClr val="CC00CC"/>
                </a:solidFill>
                <a:cs typeface="Consolas" panose="020B0609020204030204" pitchFamily="49" charset="0"/>
              </a:rPr>
              <a:t>traverseRLN</a:t>
            </a:r>
            <a:r>
              <a:rPr lang="en-US" sz="3600" dirty="0">
                <a:cs typeface="Consolas" panose="020B0609020204030204" pitchFamily="49" charset="0"/>
              </a:rPr>
              <a:t>(</a:t>
            </a:r>
            <a:r>
              <a:rPr lang="en-US" sz="3600" dirty="0">
                <a:solidFill>
                  <a:srgbClr val="0000CC"/>
                </a:solidFill>
                <a:cs typeface="Consolas" panose="020B0609020204030204" pitchFamily="49" charset="0"/>
              </a:rPr>
              <a:t>TNode* 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</a:rPr>
              <a:t>root</a:t>
            </a:r>
            <a:r>
              <a:rPr lang="en-US" sz="3600" dirty="0">
                <a:cs typeface="Consolas" panose="020B0609020204030204" pitchFamily="49" charset="0"/>
              </a:rPr>
              <a:t>)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{		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		if(root == NULL) return;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		</a:t>
            </a:r>
            <a:r>
              <a:rPr lang="en-US" sz="3600" dirty="0">
                <a:solidFill>
                  <a:srgbClr val="CC00CC"/>
                </a:solidFill>
                <a:cs typeface="Consolas" panose="020B0609020204030204" pitchFamily="49" charset="0"/>
              </a:rPr>
              <a:t>traverseRLN</a:t>
            </a:r>
            <a:r>
              <a:rPr lang="en-US" sz="3600" dirty="0">
                <a:cs typeface="Consolas" panose="020B0609020204030204" pitchFamily="49" charset="0"/>
              </a:rPr>
              <a:t>(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</a:rPr>
              <a:t>root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</a:rPr>
              <a:t>Right</a:t>
            </a:r>
            <a:r>
              <a:rPr lang="en-US" sz="3600" dirty="0">
                <a:cs typeface="Consolas" panose="020B0609020204030204" pitchFamily="49" charset="0"/>
              </a:rPr>
              <a:t>);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		</a:t>
            </a:r>
            <a:r>
              <a:rPr lang="en-US" sz="3600" dirty="0">
                <a:solidFill>
                  <a:srgbClr val="CC00CC"/>
                </a:solidFill>
                <a:cs typeface="Consolas" panose="020B0609020204030204" pitchFamily="49" charset="0"/>
              </a:rPr>
              <a:t>traverseRLN</a:t>
            </a:r>
            <a:r>
              <a:rPr lang="en-US" sz="3600" dirty="0">
                <a:cs typeface="Consolas" panose="020B0609020204030204" pitchFamily="49" charset="0"/>
              </a:rPr>
              <a:t>(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</a:rPr>
              <a:t>root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600" dirty="0">
                <a:solidFill>
                  <a:srgbClr val="0070C0"/>
                </a:solidFill>
                <a:cs typeface="Consolas" panose="020B0609020204030204" pitchFamily="49" charset="0"/>
              </a:rPr>
              <a:t>Left</a:t>
            </a:r>
            <a:r>
              <a:rPr lang="en-US" sz="3600" dirty="0">
                <a:cs typeface="Consolas" panose="020B0609020204030204" pitchFamily="49" charset="0"/>
              </a:rPr>
              <a:t>);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		</a:t>
            </a:r>
            <a:r>
              <a:rPr lang="en-US" sz="3600" i="1" dirty="0">
                <a:solidFill>
                  <a:srgbClr val="CC0000"/>
                </a:solidFill>
                <a:cs typeface="Consolas" panose="020B0609020204030204" pitchFamily="49" charset="0"/>
              </a:rPr>
              <a:t>&lt;xử lý gốc&gt;;</a:t>
            </a:r>
          </a:p>
          <a:p>
            <a:pPr marL="457200" indent="-4572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8363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54083" y="527839"/>
            <a:ext cx="10058400" cy="759871"/>
          </a:xfrm>
        </p:spPr>
        <p:txBody>
          <a:bodyPr/>
          <a:lstStyle/>
          <a:p>
            <a:pPr eaLnBrk="1" hangingPunct="1"/>
            <a:r>
              <a:rPr lang="en-US" smtClean="0"/>
              <a:t>Xóa nút con trái của node T 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579346" y="1287710"/>
            <a:ext cx="8763000" cy="5537200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200" dirty="0">
                <a:cs typeface="Consolas" panose="020B0609020204030204" pitchFamily="49" charset="0"/>
              </a:rPr>
              <a:t>int </a:t>
            </a:r>
            <a:r>
              <a:rPr lang="en-US" sz="3600" dirty="0">
                <a:solidFill>
                  <a:srgbClr val="CC00CC"/>
                </a:solidFill>
                <a:cs typeface="Consolas" panose="020B0609020204030204" pitchFamily="49" charset="0"/>
              </a:rPr>
              <a:t>deleteTNodeLeft</a:t>
            </a:r>
            <a:r>
              <a:rPr lang="en-US" sz="3200" dirty="0">
                <a:cs typeface="Consolas" panose="020B0609020204030204" pitchFamily="49" charset="0"/>
              </a:rPr>
              <a:t>(TNode* T)</a:t>
            </a:r>
            <a:endParaRPr lang="en-US" sz="3000" dirty="0">
              <a:solidFill>
                <a:srgbClr val="CC0000"/>
              </a:solidFill>
              <a:cs typeface="Consolas" panose="020B0609020204030204" pitchFamily="49" charset="0"/>
            </a:endParaRP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 dirty="0">
                <a:cs typeface="Consolas" panose="020B0609020204030204" pitchFamily="49" charset="0"/>
              </a:rPr>
              <a:t>{</a:t>
            </a:r>
            <a:r>
              <a:rPr lang="en-US" sz="3000" dirty="0">
                <a:solidFill>
                  <a:srgbClr val="CC0000"/>
                </a:solidFill>
                <a:cs typeface="Consolas" panose="020B0609020204030204" pitchFamily="49" charset="0"/>
              </a:rPr>
              <a:t>//Nút này phải là nút lá</a:t>
            </a:r>
            <a:endParaRPr lang="en-US" sz="3000" dirty="0">
              <a:cs typeface="Consolas" panose="020B0609020204030204" pitchFamily="49" charset="0"/>
            </a:endParaRP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 dirty="0">
                <a:cs typeface="Consolas" panose="020B0609020204030204" pitchFamily="49" charset="0"/>
              </a:rPr>
              <a:t>	if(T == NULL</a:t>
            </a:r>
            <a:r>
              <a:rPr lang="en-US" sz="3000">
                <a:cs typeface="Consolas" panose="020B0609020204030204" pitchFamily="49" charset="0"/>
              </a:rPr>
              <a:t>) </a:t>
            </a:r>
            <a:endParaRPr lang="en-US" sz="3000" smtClean="0">
              <a:cs typeface="Consolas" panose="020B0609020204030204" pitchFamily="49" charset="0"/>
            </a:endParaRP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>
                <a:cs typeface="Consolas" panose="020B0609020204030204" pitchFamily="49" charset="0"/>
              </a:rPr>
              <a:t>	</a:t>
            </a:r>
            <a:r>
              <a:rPr lang="en-US" sz="3000" smtClean="0">
                <a:cs typeface="Consolas" panose="020B0609020204030204" pitchFamily="49" charset="0"/>
              </a:rPr>
              <a:t>	return </a:t>
            </a:r>
            <a:r>
              <a:rPr lang="en-US" sz="3000" dirty="0">
                <a:cs typeface="Consolas" panose="020B0609020204030204" pitchFamily="49" charset="0"/>
              </a:rPr>
              <a:t>0;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 dirty="0">
                <a:cs typeface="Consolas" panose="020B0609020204030204" pitchFamily="49" charset="0"/>
              </a:rPr>
              <a:t>	</a:t>
            </a:r>
            <a:r>
              <a:rPr lang="en-US" sz="3200" dirty="0">
                <a:solidFill>
                  <a:srgbClr val="00CC00"/>
                </a:solidFill>
                <a:cs typeface="Consolas" panose="020B0609020204030204" pitchFamily="49" charset="0"/>
              </a:rPr>
              <a:t>TNode* p = T</a:t>
            </a:r>
            <a:r>
              <a:rPr lang="en-US" sz="3200" dirty="0">
                <a:solidFill>
                  <a:srgbClr val="00CC00"/>
                </a:solidFill>
                <a:cs typeface="Consolas" panose="020B0609020204030204" pitchFamily="49" charset="0"/>
                <a:sym typeface="Wingdings" pitchFamily="2" charset="2"/>
              </a:rPr>
              <a:t>  </a:t>
            </a:r>
            <a:r>
              <a:rPr lang="en-US" sz="3200" dirty="0">
                <a:solidFill>
                  <a:srgbClr val="00CC00"/>
                </a:solidFill>
                <a:cs typeface="Consolas" panose="020B0609020204030204" pitchFamily="49" charset="0"/>
              </a:rPr>
              <a:t>Left;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 dirty="0">
                <a:cs typeface="Consolas" panose="020B0609020204030204" pitchFamily="49" charset="0"/>
              </a:rPr>
              <a:t>	if(p == NULL) return 0;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 dirty="0">
                <a:cs typeface="Consolas" panose="020B0609020204030204" pitchFamily="49" charset="0"/>
              </a:rPr>
              <a:t>	if(p</a:t>
            </a:r>
            <a:r>
              <a:rPr lang="en-US" sz="3000" dirty="0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000" dirty="0">
                <a:cs typeface="Consolas" panose="020B0609020204030204" pitchFamily="49" charset="0"/>
              </a:rPr>
              <a:t>Left != NULL || p</a:t>
            </a:r>
            <a:r>
              <a:rPr lang="en-US" sz="3000" dirty="0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000" dirty="0">
                <a:cs typeface="Consolas" panose="020B0609020204030204" pitchFamily="49" charset="0"/>
              </a:rPr>
              <a:t>Right != NULL)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 dirty="0">
                <a:cs typeface="Consolas" panose="020B0609020204030204" pitchFamily="49" charset="0"/>
              </a:rPr>
              <a:t>		return 0;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 dirty="0">
                <a:cs typeface="Consolas" panose="020B0609020204030204" pitchFamily="49" charset="0"/>
              </a:rPr>
              <a:t>	delete  p;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 dirty="0">
                <a:cs typeface="Consolas" panose="020B0609020204030204" pitchFamily="49" charset="0"/>
              </a:rPr>
              <a:t> 	return  1;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 dirty="0"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46382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494617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Xóa nút con phải của node T 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676400" y="1308347"/>
            <a:ext cx="8915400" cy="5334000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 dirty="0">
                <a:cs typeface="Consolas" panose="020B0609020204030204" pitchFamily="49" charset="0"/>
              </a:rPr>
              <a:t>int  </a:t>
            </a:r>
            <a:r>
              <a:rPr lang="en-US" sz="3200" dirty="0">
                <a:solidFill>
                  <a:srgbClr val="CC00CC"/>
                </a:solidFill>
                <a:cs typeface="Consolas" panose="020B0609020204030204" pitchFamily="49" charset="0"/>
              </a:rPr>
              <a:t>deleteTNodeRight</a:t>
            </a:r>
            <a:r>
              <a:rPr lang="en-US" sz="3000" dirty="0">
                <a:cs typeface="Consolas" panose="020B0609020204030204" pitchFamily="49" charset="0"/>
              </a:rPr>
              <a:t>(TNode* T)</a:t>
            </a:r>
            <a:endParaRPr lang="en-US" sz="3000" dirty="0">
              <a:solidFill>
                <a:srgbClr val="CC0000"/>
              </a:solidFill>
              <a:cs typeface="Consolas" panose="020B0609020204030204" pitchFamily="49" charset="0"/>
            </a:endParaRP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 dirty="0">
                <a:cs typeface="Consolas" panose="020B0609020204030204" pitchFamily="49" charset="0"/>
              </a:rPr>
              <a:t>{</a:t>
            </a:r>
            <a:r>
              <a:rPr lang="en-US" sz="3000" dirty="0">
                <a:solidFill>
                  <a:srgbClr val="CC0000"/>
                </a:solidFill>
                <a:cs typeface="Consolas" panose="020B0609020204030204" pitchFamily="49" charset="0"/>
              </a:rPr>
              <a:t>//Nút này phải là nút lá</a:t>
            </a:r>
            <a:endParaRPr lang="en-US" sz="3000" dirty="0">
              <a:cs typeface="Consolas" panose="020B0609020204030204" pitchFamily="49" charset="0"/>
            </a:endParaRP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 dirty="0">
                <a:cs typeface="Consolas" panose="020B0609020204030204" pitchFamily="49" charset="0"/>
              </a:rPr>
              <a:t>	if(T == NULL</a:t>
            </a:r>
            <a:r>
              <a:rPr lang="en-US" sz="3000">
                <a:cs typeface="Consolas" panose="020B0609020204030204" pitchFamily="49" charset="0"/>
              </a:rPr>
              <a:t>) </a:t>
            </a:r>
            <a:endParaRPr lang="en-US" sz="3000" smtClean="0">
              <a:cs typeface="Consolas" panose="020B0609020204030204" pitchFamily="49" charset="0"/>
            </a:endParaRP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>
                <a:cs typeface="Consolas" panose="020B0609020204030204" pitchFamily="49" charset="0"/>
              </a:rPr>
              <a:t>	</a:t>
            </a:r>
            <a:r>
              <a:rPr lang="en-US" sz="3000" smtClean="0">
                <a:cs typeface="Consolas" panose="020B0609020204030204" pitchFamily="49" charset="0"/>
              </a:rPr>
              <a:t>	return </a:t>
            </a:r>
            <a:r>
              <a:rPr lang="en-US" sz="3000" dirty="0">
                <a:cs typeface="Consolas" panose="020B0609020204030204" pitchFamily="49" charset="0"/>
              </a:rPr>
              <a:t>0;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 dirty="0">
                <a:cs typeface="Consolas" panose="020B0609020204030204" pitchFamily="49" charset="0"/>
              </a:rPr>
              <a:t>	</a:t>
            </a:r>
            <a:r>
              <a:rPr lang="en-US" sz="3200" dirty="0">
                <a:solidFill>
                  <a:srgbClr val="00CC00"/>
                </a:solidFill>
                <a:cs typeface="Consolas" panose="020B0609020204030204" pitchFamily="49" charset="0"/>
              </a:rPr>
              <a:t>TNode* p = T</a:t>
            </a:r>
            <a:r>
              <a:rPr lang="en-US" sz="3200" dirty="0">
                <a:solidFill>
                  <a:srgbClr val="00CC00"/>
                </a:solidFill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200" dirty="0">
                <a:solidFill>
                  <a:srgbClr val="00CC00"/>
                </a:solidFill>
                <a:cs typeface="Consolas" panose="020B0609020204030204" pitchFamily="49" charset="0"/>
              </a:rPr>
              <a:t>Right;</a:t>
            </a:r>
            <a:endParaRPr lang="en-US" sz="3000" dirty="0">
              <a:solidFill>
                <a:srgbClr val="00CC00"/>
              </a:solidFill>
              <a:cs typeface="Consolas" panose="020B0609020204030204" pitchFamily="49" charset="0"/>
            </a:endParaRP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 dirty="0">
                <a:cs typeface="Consolas" panose="020B0609020204030204" pitchFamily="49" charset="0"/>
              </a:rPr>
              <a:t>	if(p == NULL</a:t>
            </a:r>
            <a:r>
              <a:rPr lang="en-US" sz="3000">
                <a:cs typeface="Consolas" panose="020B0609020204030204" pitchFamily="49" charset="0"/>
              </a:rPr>
              <a:t>) </a:t>
            </a:r>
            <a:endParaRPr lang="en-US" sz="3000" smtClean="0">
              <a:cs typeface="Consolas" panose="020B0609020204030204" pitchFamily="49" charset="0"/>
            </a:endParaRP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>
                <a:cs typeface="Consolas" panose="020B0609020204030204" pitchFamily="49" charset="0"/>
              </a:rPr>
              <a:t>	</a:t>
            </a:r>
            <a:r>
              <a:rPr lang="en-US" sz="3000" smtClean="0">
                <a:cs typeface="Consolas" panose="020B0609020204030204" pitchFamily="49" charset="0"/>
              </a:rPr>
              <a:t>	return </a:t>
            </a:r>
            <a:r>
              <a:rPr lang="en-US" sz="3000" dirty="0">
                <a:cs typeface="Consolas" panose="020B0609020204030204" pitchFamily="49" charset="0"/>
              </a:rPr>
              <a:t>0;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 dirty="0">
                <a:cs typeface="Consolas" panose="020B0609020204030204" pitchFamily="49" charset="0"/>
              </a:rPr>
              <a:t>	if(p</a:t>
            </a:r>
            <a:r>
              <a:rPr lang="en-US" sz="3000" dirty="0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000" dirty="0">
                <a:cs typeface="Consolas" panose="020B0609020204030204" pitchFamily="49" charset="0"/>
              </a:rPr>
              <a:t>Left != NULL || p</a:t>
            </a:r>
            <a:r>
              <a:rPr lang="en-US" sz="3000" dirty="0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000" dirty="0">
                <a:cs typeface="Consolas" panose="020B0609020204030204" pitchFamily="49" charset="0"/>
              </a:rPr>
              <a:t>Right != NULL)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 dirty="0">
                <a:cs typeface="Consolas" panose="020B0609020204030204" pitchFamily="49" charset="0"/>
              </a:rPr>
              <a:t>		return 0;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 dirty="0">
                <a:cs typeface="Consolas" panose="020B0609020204030204" pitchFamily="49" charset="0"/>
              </a:rPr>
              <a:t>	delete  p;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 dirty="0">
                <a:cs typeface="Consolas" panose="020B0609020204030204" pitchFamily="49" charset="0"/>
              </a:rPr>
              <a:t> 	return  1;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 dirty="0"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0648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71483" y="552368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Tìm nút có khóa x </a:t>
            </a:r>
            <a:endParaRPr lang="en-US" smtClean="0">
              <a:solidFill>
                <a:srgbClr val="FF0000"/>
              </a:solidFill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763684" y="1685892"/>
            <a:ext cx="9448799" cy="5334000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None/>
            </a:pPr>
            <a:r>
              <a:rPr lang="en-US" sz="3000" dirty="0">
                <a:cs typeface="Consolas" panose="020B0609020204030204" pitchFamily="49" charset="0"/>
              </a:rPr>
              <a:t>TNode* </a:t>
            </a:r>
            <a:r>
              <a:rPr lang="en-US" sz="3200" dirty="0">
                <a:solidFill>
                  <a:srgbClr val="CC00CC"/>
                </a:solidFill>
                <a:cs typeface="Consolas" panose="020B0609020204030204" pitchFamily="49" charset="0"/>
              </a:rPr>
              <a:t>findTNode</a:t>
            </a:r>
            <a:r>
              <a:rPr lang="en-US" sz="3200" dirty="0">
                <a:cs typeface="Consolas" panose="020B0609020204030204" pitchFamily="49" charset="0"/>
              </a:rPr>
              <a:t>(</a:t>
            </a:r>
            <a:r>
              <a:rPr lang="en-US" b="0" dirty="0" smtClean="0">
                <a:solidFill>
                  <a:srgbClr val="0000CC"/>
                </a:solidFill>
                <a:cs typeface="Consolas" panose="020B0609020204030204" pitchFamily="49" charset="0"/>
              </a:rPr>
              <a:t>TNode* root</a:t>
            </a:r>
            <a:r>
              <a:rPr lang="en-US" b="0" dirty="0" smtClean="0">
                <a:cs typeface="Consolas" panose="020B0609020204030204" pitchFamily="49" charset="0"/>
              </a:rPr>
              <a:t>, ItemType x</a:t>
            </a:r>
            <a:r>
              <a:rPr lang="en-US" sz="3200" dirty="0">
                <a:cs typeface="Consolas" panose="020B0609020204030204" pitchFamily="49" charset="0"/>
              </a:rPr>
              <a:t>)</a:t>
            </a:r>
          </a:p>
          <a:p>
            <a:pPr marL="457200" indent="-457200">
              <a:buNone/>
            </a:pPr>
            <a:r>
              <a:rPr lang="en-US" sz="3200" dirty="0">
                <a:cs typeface="Consolas" panose="020B0609020204030204" pitchFamily="49" charset="0"/>
              </a:rPr>
              <a:t>{	</a:t>
            </a:r>
          </a:p>
          <a:p>
            <a:pPr marL="457200" indent="-457200">
              <a:buNone/>
            </a:pPr>
            <a:r>
              <a:rPr lang="en-US" sz="3200" dirty="0">
                <a:cs typeface="Consolas" panose="020B0609020204030204" pitchFamily="49" charset="0"/>
              </a:rPr>
              <a:t>	if(!root</a:t>
            </a:r>
            <a:r>
              <a:rPr lang="en-US" sz="3200">
                <a:cs typeface="Consolas" panose="020B0609020204030204" pitchFamily="49" charset="0"/>
              </a:rPr>
              <a:t>) </a:t>
            </a:r>
            <a:endParaRPr lang="en-US" sz="3200" smtClean="0">
              <a:cs typeface="Consolas" panose="020B0609020204030204" pitchFamily="49" charset="0"/>
            </a:endParaRPr>
          </a:p>
          <a:p>
            <a:pPr marL="457200" indent="-457200">
              <a:buNone/>
            </a:pPr>
            <a:r>
              <a:rPr lang="en-US" sz="3200">
                <a:cs typeface="Consolas" panose="020B0609020204030204" pitchFamily="49" charset="0"/>
              </a:rPr>
              <a:t>	</a:t>
            </a:r>
            <a:r>
              <a:rPr lang="en-US" sz="3200" smtClean="0">
                <a:cs typeface="Consolas" panose="020B0609020204030204" pitchFamily="49" charset="0"/>
              </a:rPr>
              <a:t>	return </a:t>
            </a:r>
            <a:r>
              <a:rPr lang="en-US" sz="3200" dirty="0">
                <a:cs typeface="Consolas" panose="020B0609020204030204" pitchFamily="49" charset="0"/>
              </a:rPr>
              <a:t>NULL;</a:t>
            </a:r>
          </a:p>
          <a:p>
            <a:pPr marL="457200" indent="-457200">
              <a:buNone/>
            </a:pPr>
            <a:r>
              <a:rPr lang="en-US" sz="3200" dirty="0">
                <a:cs typeface="Consolas" panose="020B0609020204030204" pitchFamily="49" charset="0"/>
              </a:rPr>
              <a:t>	if(</a:t>
            </a:r>
            <a:r>
              <a:rPr lang="en-US" sz="3200" dirty="0" err="1">
                <a:cs typeface="Consolas" panose="020B0609020204030204" pitchFamily="49" charset="0"/>
              </a:rPr>
              <a:t>root</a:t>
            </a:r>
            <a:r>
              <a:rPr lang="en-US" sz="3200" dirty="0" err="1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200" dirty="0" err="1">
                <a:cs typeface="Consolas" panose="020B0609020204030204" pitchFamily="49" charset="0"/>
              </a:rPr>
              <a:t>Info</a:t>
            </a:r>
            <a:r>
              <a:rPr lang="en-US" sz="3200" dirty="0">
                <a:cs typeface="Consolas" panose="020B0609020204030204" pitchFamily="49" charset="0"/>
              </a:rPr>
              <a:t> == x) return root;</a:t>
            </a:r>
          </a:p>
          <a:p>
            <a:pPr marL="457200" indent="-457200">
              <a:buNone/>
            </a:pPr>
            <a:r>
              <a:rPr lang="en-US" sz="3200" dirty="0">
                <a:cs typeface="Consolas" panose="020B0609020204030204" pitchFamily="49" charset="0"/>
              </a:rPr>
              <a:t>	TNode* p = </a:t>
            </a:r>
            <a:r>
              <a:rPr lang="en-US" sz="3200" i="1" dirty="0">
                <a:solidFill>
                  <a:srgbClr val="CC00CC"/>
                </a:solidFill>
                <a:cs typeface="Consolas" panose="020B0609020204030204" pitchFamily="49" charset="0"/>
              </a:rPr>
              <a:t>findTNode</a:t>
            </a:r>
            <a:r>
              <a:rPr lang="en-US" sz="3200" dirty="0">
                <a:cs typeface="Consolas" panose="020B0609020204030204" pitchFamily="49" charset="0"/>
              </a:rPr>
              <a:t>(root</a:t>
            </a:r>
            <a:r>
              <a:rPr lang="en-US" sz="3200" dirty="0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200" dirty="0">
                <a:cs typeface="Consolas" panose="020B0609020204030204" pitchFamily="49" charset="0"/>
              </a:rPr>
              <a:t>Left, x);</a:t>
            </a:r>
          </a:p>
          <a:p>
            <a:pPr marL="457200" indent="-457200">
              <a:buNone/>
            </a:pPr>
            <a:r>
              <a:rPr lang="en-US" sz="3200" dirty="0">
                <a:cs typeface="Consolas" panose="020B0609020204030204" pitchFamily="49" charset="0"/>
              </a:rPr>
              <a:t>	if(p</a:t>
            </a:r>
            <a:r>
              <a:rPr lang="en-US" sz="3200">
                <a:cs typeface="Consolas" panose="020B0609020204030204" pitchFamily="49" charset="0"/>
              </a:rPr>
              <a:t>)  </a:t>
            </a:r>
            <a:endParaRPr lang="en-US" sz="3200" smtClean="0">
              <a:cs typeface="Consolas" panose="020B0609020204030204" pitchFamily="49" charset="0"/>
            </a:endParaRPr>
          </a:p>
          <a:p>
            <a:pPr marL="457200" indent="-457200">
              <a:buNone/>
            </a:pPr>
            <a:r>
              <a:rPr lang="en-US" sz="3200">
                <a:cs typeface="Consolas" panose="020B0609020204030204" pitchFamily="49" charset="0"/>
              </a:rPr>
              <a:t>	</a:t>
            </a:r>
            <a:r>
              <a:rPr lang="en-US" sz="3200" smtClean="0">
                <a:cs typeface="Consolas" panose="020B0609020204030204" pitchFamily="49" charset="0"/>
              </a:rPr>
              <a:t>	return </a:t>
            </a:r>
            <a:r>
              <a:rPr lang="en-US" sz="3200" dirty="0">
                <a:cs typeface="Consolas" panose="020B0609020204030204" pitchFamily="49" charset="0"/>
              </a:rPr>
              <a:t>p;</a:t>
            </a:r>
          </a:p>
          <a:p>
            <a:pPr marL="457200" indent="-457200">
              <a:buNone/>
            </a:pPr>
            <a:r>
              <a:rPr lang="en-US" sz="3200" dirty="0">
                <a:cs typeface="Consolas" panose="020B0609020204030204" pitchFamily="49" charset="0"/>
              </a:rPr>
              <a:t>	return </a:t>
            </a:r>
            <a:r>
              <a:rPr lang="en-US" sz="3200" i="1" dirty="0">
                <a:solidFill>
                  <a:srgbClr val="CC00CC"/>
                </a:solidFill>
                <a:cs typeface="Consolas" panose="020B0609020204030204" pitchFamily="49" charset="0"/>
              </a:rPr>
              <a:t>findTNode</a:t>
            </a:r>
            <a:r>
              <a:rPr lang="en-US" sz="3200" dirty="0">
                <a:cs typeface="Consolas" panose="020B0609020204030204" pitchFamily="49" charset="0"/>
              </a:rPr>
              <a:t>(root</a:t>
            </a:r>
            <a:r>
              <a:rPr lang="en-US" sz="3200" dirty="0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200" dirty="0">
                <a:cs typeface="Consolas" panose="020B0609020204030204" pitchFamily="49" charset="0"/>
              </a:rPr>
              <a:t>Right, x);</a:t>
            </a:r>
          </a:p>
          <a:p>
            <a:pPr marL="457200" indent="-457200">
              <a:buNone/>
            </a:pPr>
            <a:r>
              <a:rPr lang="en-US" sz="3200" dirty="0"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74278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43836" y="523492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Xóa cây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798320" y="1404486"/>
            <a:ext cx="8717280" cy="54102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tabLst>
                <a:tab pos="627063" algn="l"/>
              </a:tabLst>
            </a:pPr>
            <a:r>
              <a:rPr lang="en-US" sz="3600" dirty="0">
                <a:cs typeface="Consolas" panose="020B0609020204030204" pitchFamily="49" charset="0"/>
              </a:rPr>
              <a:t>int </a:t>
            </a:r>
            <a:r>
              <a:rPr lang="en-US" sz="3600" dirty="0">
                <a:solidFill>
                  <a:srgbClr val="CC00CC"/>
                </a:solidFill>
                <a:cs typeface="Consolas" panose="020B0609020204030204" pitchFamily="49" charset="0"/>
              </a:rPr>
              <a:t>deleteTree</a:t>
            </a:r>
            <a:r>
              <a:rPr lang="en-US" sz="3600" dirty="0">
                <a:cs typeface="Consolas" panose="020B0609020204030204" pitchFamily="49" charset="0"/>
              </a:rPr>
              <a:t>(</a:t>
            </a:r>
            <a:r>
              <a:rPr lang="en-US" sz="3600" dirty="0">
                <a:solidFill>
                  <a:srgbClr val="0000CC"/>
                </a:solidFill>
                <a:cs typeface="Consolas" panose="020B0609020204030204" pitchFamily="49" charset="0"/>
              </a:rPr>
              <a:t>TNode* </a:t>
            </a:r>
            <a:r>
              <a:rPr lang="en-US" sz="3600" dirty="0">
                <a:cs typeface="Consolas" panose="020B0609020204030204" pitchFamily="49" charset="0"/>
              </a:rPr>
              <a:t>&amp;root)</a:t>
            </a:r>
          </a:p>
          <a:p>
            <a:pPr marL="0" indent="0">
              <a:buNone/>
              <a:tabLst>
                <a:tab pos="627063" algn="l"/>
              </a:tabLst>
            </a:pPr>
            <a:r>
              <a:rPr lang="en-US" sz="3600" dirty="0"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  <a:tabLst>
                <a:tab pos="627063" algn="l"/>
              </a:tabLst>
            </a:pPr>
            <a:r>
              <a:rPr lang="en-US" sz="3600" dirty="0">
                <a:cs typeface="Consolas" panose="020B0609020204030204" pitchFamily="49" charset="0"/>
              </a:rPr>
              <a:t>	if(!root</a:t>
            </a:r>
            <a:r>
              <a:rPr lang="en-US" sz="3600">
                <a:cs typeface="Consolas" panose="020B0609020204030204" pitchFamily="49" charset="0"/>
              </a:rPr>
              <a:t>) </a:t>
            </a:r>
            <a:endParaRPr lang="en-US" sz="3600" smtClean="0">
              <a:cs typeface="Consolas" panose="020B0609020204030204" pitchFamily="49" charset="0"/>
            </a:endParaRPr>
          </a:p>
          <a:p>
            <a:pPr marL="0" indent="0">
              <a:buNone/>
              <a:tabLst>
                <a:tab pos="627063" algn="l"/>
              </a:tabLst>
            </a:pPr>
            <a:r>
              <a:rPr lang="en-US">
                <a:cs typeface="Consolas" panose="020B0609020204030204" pitchFamily="49" charset="0"/>
              </a:rPr>
              <a:t>	</a:t>
            </a:r>
            <a:r>
              <a:rPr lang="en-US" smtClean="0">
                <a:cs typeface="Consolas" panose="020B0609020204030204" pitchFamily="49" charset="0"/>
              </a:rPr>
              <a:t>	</a:t>
            </a:r>
            <a:r>
              <a:rPr lang="en-US" sz="3600" smtClean="0">
                <a:cs typeface="Consolas" panose="020B0609020204030204" pitchFamily="49" charset="0"/>
              </a:rPr>
              <a:t>return </a:t>
            </a:r>
            <a:r>
              <a:rPr lang="en-US" sz="3600" dirty="0">
                <a:cs typeface="Consolas" panose="020B0609020204030204" pitchFamily="49" charset="0"/>
              </a:rPr>
              <a:t>0;</a:t>
            </a:r>
          </a:p>
          <a:p>
            <a:pPr marL="0" indent="0">
              <a:buNone/>
              <a:tabLst>
                <a:tab pos="627063" algn="l"/>
              </a:tabLst>
            </a:pPr>
            <a:r>
              <a:rPr lang="en-US" sz="3600" dirty="0">
                <a:cs typeface="Consolas" panose="020B0609020204030204" pitchFamily="49" charset="0"/>
              </a:rPr>
              <a:t>	</a:t>
            </a:r>
            <a:r>
              <a:rPr lang="en-US" sz="3600" i="1" dirty="0">
                <a:solidFill>
                  <a:srgbClr val="CC00CC"/>
                </a:solidFill>
                <a:cs typeface="Consolas" panose="020B0609020204030204" pitchFamily="49" charset="0"/>
              </a:rPr>
              <a:t>deleteTree</a:t>
            </a:r>
            <a:r>
              <a:rPr lang="en-US" sz="3600" dirty="0">
                <a:cs typeface="Consolas" panose="020B0609020204030204" pitchFamily="49" charset="0"/>
              </a:rPr>
              <a:t>(root</a:t>
            </a:r>
            <a:r>
              <a:rPr lang="en-US" sz="3600" dirty="0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600" dirty="0">
                <a:cs typeface="Consolas" panose="020B0609020204030204" pitchFamily="49" charset="0"/>
              </a:rPr>
              <a:t>Left);</a:t>
            </a:r>
          </a:p>
          <a:p>
            <a:pPr marL="0" indent="0">
              <a:buNone/>
              <a:tabLst>
                <a:tab pos="627063" algn="l"/>
              </a:tabLst>
            </a:pPr>
            <a:r>
              <a:rPr lang="en-US" sz="3600" dirty="0">
                <a:cs typeface="Consolas" panose="020B0609020204030204" pitchFamily="49" charset="0"/>
              </a:rPr>
              <a:t>	</a:t>
            </a:r>
            <a:r>
              <a:rPr lang="en-US" sz="3600" i="1" dirty="0">
                <a:solidFill>
                  <a:srgbClr val="CC00CC"/>
                </a:solidFill>
                <a:cs typeface="Consolas" panose="020B0609020204030204" pitchFamily="49" charset="0"/>
              </a:rPr>
              <a:t>deleteTree</a:t>
            </a:r>
            <a:r>
              <a:rPr lang="en-US" sz="3600" dirty="0">
                <a:cs typeface="Consolas" panose="020B0609020204030204" pitchFamily="49" charset="0"/>
              </a:rPr>
              <a:t>(root</a:t>
            </a:r>
            <a:r>
              <a:rPr lang="en-US" sz="3600" dirty="0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600" dirty="0">
                <a:cs typeface="Consolas" panose="020B0609020204030204" pitchFamily="49" charset="0"/>
              </a:rPr>
              <a:t>Right);</a:t>
            </a:r>
          </a:p>
          <a:p>
            <a:pPr marL="0" indent="0">
              <a:buNone/>
              <a:tabLst>
                <a:tab pos="627063" algn="l"/>
              </a:tabLst>
            </a:pPr>
            <a:r>
              <a:rPr lang="en-US" sz="3600" dirty="0">
                <a:cs typeface="Consolas" panose="020B0609020204030204" pitchFamily="49" charset="0"/>
              </a:rPr>
              <a:t>	delete root;</a:t>
            </a:r>
          </a:p>
          <a:p>
            <a:pPr marL="0" indent="0">
              <a:buNone/>
              <a:tabLst>
                <a:tab pos="627063" algn="l"/>
              </a:tabLst>
            </a:pPr>
            <a:r>
              <a:rPr lang="en-US" sz="3600" dirty="0">
                <a:cs typeface="Consolas" panose="020B0609020204030204" pitchFamily="49" charset="0"/>
              </a:rPr>
              <a:t>	return 1;</a:t>
            </a:r>
          </a:p>
          <a:p>
            <a:pPr marL="0" indent="0">
              <a:buNone/>
              <a:tabLst>
                <a:tab pos="627063" algn="l"/>
              </a:tabLst>
            </a:pPr>
            <a:r>
              <a:rPr lang="en-US" sz="3600" dirty="0"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6761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465739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>
                <a:solidFill>
                  <a:srgbClr val="002060"/>
                </a:solidFill>
              </a:rPr>
              <a:t>Các thao tác mở rộng</a:t>
            </a:r>
          </a:p>
        </p:txBody>
      </p:sp>
      <p:sp>
        <p:nvSpPr>
          <p:cNvPr id="3921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752600" y="1347535"/>
            <a:ext cx="8763000" cy="5486400"/>
          </a:xfrm>
        </p:spPr>
        <p:txBody>
          <a:bodyPr>
            <a:normAutofit lnSpcReduction="10000"/>
          </a:bodyPr>
          <a:lstStyle/>
          <a:p>
            <a:pPr marL="457200" indent="-450850">
              <a:lnSpc>
                <a:spcPct val="120000"/>
              </a:lnSpc>
              <a:spcBef>
                <a:spcPct val="0"/>
              </a:spcBef>
              <a:buFont typeface="Wingdings" pitchFamily="2" charset="2"/>
              <a:buChar char="§"/>
            </a:pPr>
            <a:r>
              <a:rPr lang="en-US" sz="3200" dirty="0"/>
              <a:t>Đếm số nút trên cây.</a:t>
            </a:r>
          </a:p>
          <a:p>
            <a:pPr marL="457200" indent="-450850">
              <a:lnSpc>
                <a:spcPct val="120000"/>
              </a:lnSpc>
              <a:spcBef>
                <a:spcPct val="0"/>
              </a:spcBef>
              <a:buFont typeface="Wingdings" pitchFamily="2" charset="2"/>
              <a:buChar char="§"/>
            </a:pPr>
            <a:r>
              <a:rPr lang="en-US" sz="3200" dirty="0"/>
              <a:t>Đếm số nút lá trên cây. </a:t>
            </a:r>
          </a:p>
          <a:p>
            <a:pPr marL="457200" indent="-450850">
              <a:lnSpc>
                <a:spcPct val="120000"/>
              </a:lnSpc>
              <a:spcBef>
                <a:spcPct val="0"/>
              </a:spcBef>
              <a:buFont typeface="Wingdings" pitchFamily="2" charset="2"/>
              <a:buChar char="§"/>
            </a:pPr>
            <a:r>
              <a:rPr lang="en-US" sz="3200" dirty="0"/>
              <a:t>Đếm số nút trong.</a:t>
            </a:r>
          </a:p>
          <a:p>
            <a:pPr marL="457200" indent="-450850">
              <a:lnSpc>
                <a:spcPct val="120000"/>
              </a:lnSpc>
              <a:spcBef>
                <a:spcPct val="0"/>
              </a:spcBef>
              <a:buFont typeface="Wingdings" pitchFamily="2" charset="2"/>
              <a:buChar char="§"/>
            </a:pPr>
            <a:r>
              <a:rPr lang="en-US" sz="3200" dirty="0"/>
              <a:t>Xác định độ sâu/chiều cao của cây.</a:t>
            </a:r>
          </a:p>
          <a:p>
            <a:pPr marL="457200" indent="-450850">
              <a:lnSpc>
                <a:spcPct val="120000"/>
              </a:lnSpc>
              <a:spcBef>
                <a:spcPct val="0"/>
              </a:spcBef>
              <a:buFont typeface="Wingdings" pitchFamily="2" charset="2"/>
              <a:buChar char="§"/>
            </a:pPr>
            <a:r>
              <a:rPr lang="en-US" sz="3200" dirty="0"/>
              <a:t>Đếm số nút có giá trị bằng x.</a:t>
            </a:r>
          </a:p>
          <a:p>
            <a:pPr marL="457200" indent="-450850">
              <a:lnSpc>
                <a:spcPct val="120000"/>
              </a:lnSpc>
              <a:spcBef>
                <a:spcPct val="0"/>
              </a:spcBef>
              <a:buFont typeface="Wingdings" pitchFamily="2" charset="2"/>
              <a:buChar char="§"/>
            </a:pPr>
            <a:r>
              <a:rPr lang="en-US" sz="3200" dirty="0"/>
              <a:t>Tìm giá </a:t>
            </a:r>
            <a:r>
              <a:rPr lang="en-US" sz="3200"/>
              <a:t>trị </a:t>
            </a:r>
            <a:r>
              <a:rPr lang="en-US" sz="3200" smtClean="0"/>
              <a:t>lớn nhất/nhỏ </a:t>
            </a:r>
            <a:r>
              <a:rPr lang="en-US" sz="3200" dirty="0"/>
              <a:t>nhất trên cây.</a:t>
            </a:r>
          </a:p>
          <a:p>
            <a:pPr marL="457200" indent="-450850">
              <a:lnSpc>
                <a:spcPct val="120000"/>
              </a:lnSpc>
              <a:spcBef>
                <a:spcPct val="0"/>
              </a:spcBef>
              <a:buFont typeface="Wingdings" pitchFamily="2" charset="2"/>
              <a:buChar char="§"/>
            </a:pPr>
            <a:r>
              <a:rPr lang="en-US" sz="3200" dirty="0"/>
              <a:t>Tính tổng các giá trị trên cây.</a:t>
            </a:r>
          </a:p>
          <a:p>
            <a:pPr marL="457200" indent="-450850">
              <a:lnSpc>
                <a:spcPct val="120000"/>
              </a:lnSpc>
              <a:spcBef>
                <a:spcPct val="0"/>
              </a:spcBef>
              <a:buFont typeface="Wingdings" pitchFamily="2" charset="2"/>
              <a:buChar char="§"/>
            </a:pPr>
            <a:r>
              <a:rPr lang="en-US" sz="3200" dirty="0"/>
              <a:t>Xuất ra màn hình các nút ở mức thứ k.</a:t>
            </a:r>
          </a:p>
          <a:p>
            <a:pPr marL="457200" indent="-450850">
              <a:lnSpc>
                <a:spcPct val="120000"/>
              </a:lnSpc>
              <a:spcBef>
                <a:spcPct val="0"/>
              </a:spcBef>
              <a:buFont typeface="Wingdings" pitchFamily="2" charset="2"/>
              <a:buChar char="§"/>
            </a:pPr>
            <a:r>
              <a:rPr lang="en-US" sz="3200" dirty="0"/>
              <a:t>Đếm các nút lá ở mức 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0193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561993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Đếm số nút trên cây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828800" y="1596189"/>
            <a:ext cx="8686800" cy="5181600"/>
          </a:xfrm>
        </p:spPr>
        <p:txBody>
          <a:bodyPr/>
          <a:lstStyle/>
          <a:p>
            <a:pPr marL="457200" indent="-457200">
              <a:buNone/>
            </a:pPr>
            <a:r>
              <a:rPr lang="en-US" sz="3600" dirty="0">
                <a:cs typeface="Consolas" panose="020B0609020204030204" pitchFamily="49" charset="0"/>
              </a:rPr>
              <a:t>int </a:t>
            </a:r>
            <a:r>
              <a:rPr lang="en-US" sz="4000" dirty="0">
                <a:solidFill>
                  <a:srgbClr val="0000FF"/>
                </a:solidFill>
                <a:cs typeface="Consolas" panose="020B0609020204030204" pitchFamily="49" charset="0"/>
              </a:rPr>
              <a:t>countTNode</a:t>
            </a:r>
            <a:r>
              <a:rPr lang="en-US" sz="3600" dirty="0">
                <a:cs typeface="Consolas" panose="020B0609020204030204" pitchFamily="49" charset="0"/>
              </a:rPr>
              <a:t>(TNode* root)</a:t>
            </a:r>
          </a:p>
          <a:p>
            <a:pPr marL="457200" indent="-457200">
              <a:buNone/>
            </a:pPr>
            <a:r>
              <a:rPr lang="en-US" sz="3200" dirty="0">
                <a:cs typeface="Consolas" panose="020B0609020204030204" pitchFamily="49" charset="0"/>
              </a:rPr>
              <a:t>{</a:t>
            </a:r>
          </a:p>
          <a:p>
            <a:pPr marL="457200" indent="-457200">
              <a:buNone/>
            </a:pPr>
            <a:r>
              <a:rPr lang="en-US" sz="3200" dirty="0">
                <a:cs typeface="Consolas" panose="020B0609020204030204" pitchFamily="49" charset="0"/>
              </a:rPr>
              <a:t>	if(!root</a:t>
            </a:r>
            <a:r>
              <a:rPr lang="en-US" sz="3200">
                <a:cs typeface="Consolas" panose="020B0609020204030204" pitchFamily="49" charset="0"/>
              </a:rPr>
              <a:t>)  </a:t>
            </a:r>
            <a:endParaRPr lang="en-US" sz="3200" smtClean="0">
              <a:cs typeface="Consolas" panose="020B0609020204030204" pitchFamily="49" charset="0"/>
            </a:endParaRPr>
          </a:p>
          <a:p>
            <a:pPr marL="457200" indent="-457200">
              <a:buNone/>
            </a:pPr>
            <a:r>
              <a:rPr lang="en-US" sz="3200">
                <a:cs typeface="Consolas" panose="020B0609020204030204" pitchFamily="49" charset="0"/>
              </a:rPr>
              <a:t>	</a:t>
            </a:r>
            <a:r>
              <a:rPr lang="en-US" sz="3200" smtClean="0">
                <a:cs typeface="Consolas" panose="020B0609020204030204" pitchFamily="49" charset="0"/>
              </a:rPr>
              <a:t>	return </a:t>
            </a:r>
            <a:r>
              <a:rPr lang="en-US" sz="3200" dirty="0">
                <a:cs typeface="Consolas" panose="020B0609020204030204" pitchFamily="49" charset="0"/>
              </a:rPr>
              <a:t>0;</a:t>
            </a:r>
          </a:p>
          <a:p>
            <a:pPr marL="457200" indent="-457200">
              <a:buNone/>
            </a:pPr>
            <a:r>
              <a:rPr lang="en-US" sz="3200" dirty="0">
                <a:cs typeface="Consolas" panose="020B0609020204030204" pitchFamily="49" charset="0"/>
              </a:rPr>
              <a:t>	int </a:t>
            </a:r>
            <a:r>
              <a:rPr lang="en-US" sz="3200" dirty="0">
                <a:solidFill>
                  <a:srgbClr val="FF0000"/>
                </a:solidFill>
                <a:cs typeface="Consolas" panose="020B0609020204030204" pitchFamily="49" charset="0"/>
              </a:rPr>
              <a:t>cnl </a:t>
            </a:r>
            <a:r>
              <a:rPr lang="en-US" sz="3200" dirty="0">
                <a:cs typeface="Consolas" panose="020B0609020204030204" pitchFamily="49" charset="0"/>
              </a:rPr>
              <a:t>=</a:t>
            </a:r>
            <a:r>
              <a:rPr lang="en-US" sz="3200" dirty="0">
                <a:solidFill>
                  <a:srgbClr val="CC00CC"/>
                </a:solidFill>
                <a:cs typeface="Consolas" panose="020B0609020204030204" pitchFamily="49" charset="0"/>
              </a:rPr>
              <a:t> </a:t>
            </a:r>
            <a:r>
              <a:rPr lang="en-US" sz="3200" i="1" dirty="0">
                <a:solidFill>
                  <a:srgbClr val="CC00CC"/>
                </a:solidFill>
                <a:cs typeface="Consolas" panose="020B0609020204030204" pitchFamily="49" charset="0"/>
              </a:rPr>
              <a:t>countTNode</a:t>
            </a:r>
            <a:r>
              <a:rPr lang="en-US" sz="3200" dirty="0">
                <a:cs typeface="Consolas" panose="020B0609020204030204" pitchFamily="49" charset="0"/>
              </a:rPr>
              <a:t>(root</a:t>
            </a:r>
            <a:r>
              <a:rPr lang="en-US" sz="3200" dirty="0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200" dirty="0">
                <a:cs typeface="Consolas" panose="020B0609020204030204" pitchFamily="49" charset="0"/>
              </a:rPr>
              <a:t>Left);</a:t>
            </a:r>
          </a:p>
          <a:p>
            <a:pPr marL="457200" indent="-457200">
              <a:buNone/>
            </a:pPr>
            <a:r>
              <a:rPr lang="en-US" sz="3200" dirty="0">
                <a:cs typeface="Consolas" panose="020B0609020204030204" pitchFamily="49" charset="0"/>
              </a:rPr>
              <a:t>	int </a:t>
            </a:r>
            <a:r>
              <a:rPr lang="en-US" sz="3200" dirty="0">
                <a:solidFill>
                  <a:srgbClr val="C00000"/>
                </a:solidFill>
                <a:cs typeface="Consolas" panose="020B0609020204030204" pitchFamily="49" charset="0"/>
              </a:rPr>
              <a:t>cnr</a:t>
            </a:r>
            <a:r>
              <a:rPr lang="en-US" sz="3200" dirty="0">
                <a:cs typeface="Consolas" panose="020B0609020204030204" pitchFamily="49" charset="0"/>
              </a:rPr>
              <a:t> = </a:t>
            </a:r>
            <a:r>
              <a:rPr lang="en-US" sz="3200" i="1" dirty="0">
                <a:solidFill>
                  <a:srgbClr val="CC00CC"/>
                </a:solidFill>
                <a:cs typeface="Consolas" panose="020B0609020204030204" pitchFamily="49" charset="0"/>
              </a:rPr>
              <a:t>countTNode</a:t>
            </a:r>
            <a:r>
              <a:rPr lang="en-US" sz="3200" dirty="0">
                <a:cs typeface="Consolas" panose="020B0609020204030204" pitchFamily="49" charset="0"/>
              </a:rPr>
              <a:t>(root</a:t>
            </a:r>
            <a:r>
              <a:rPr lang="en-US" sz="3200" dirty="0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200" dirty="0">
                <a:cs typeface="Consolas" panose="020B0609020204030204" pitchFamily="49" charset="0"/>
              </a:rPr>
              <a:t>Right);</a:t>
            </a:r>
          </a:p>
          <a:p>
            <a:pPr marL="457200" indent="-457200">
              <a:buNone/>
            </a:pPr>
            <a:r>
              <a:rPr lang="en-US" sz="3200" dirty="0">
                <a:cs typeface="Consolas" panose="020B0609020204030204" pitchFamily="49" charset="0"/>
              </a:rPr>
              <a:t>	return (</a:t>
            </a:r>
            <a:r>
              <a:rPr lang="en-US" sz="3200" dirty="0">
                <a:solidFill>
                  <a:srgbClr val="FF0000"/>
                </a:solidFill>
                <a:cs typeface="Consolas" panose="020B0609020204030204" pitchFamily="49" charset="0"/>
              </a:rPr>
              <a:t>1</a:t>
            </a:r>
            <a:r>
              <a:rPr lang="en-US" sz="3200" dirty="0">
                <a:cs typeface="Consolas" panose="020B0609020204030204" pitchFamily="49" charset="0"/>
              </a:rPr>
              <a:t> + </a:t>
            </a:r>
            <a:r>
              <a:rPr lang="en-US" sz="3200" dirty="0" err="1">
                <a:solidFill>
                  <a:srgbClr val="FF0000"/>
                </a:solidFill>
                <a:cs typeface="Consolas" panose="020B0609020204030204" pitchFamily="49" charset="0"/>
              </a:rPr>
              <a:t>cnl</a:t>
            </a:r>
            <a:r>
              <a:rPr lang="en-US" sz="3200" dirty="0">
                <a:solidFill>
                  <a:srgbClr val="FF0000"/>
                </a:solidFill>
                <a:cs typeface="Consolas" panose="020B0609020204030204" pitchFamily="49" charset="0"/>
              </a:rPr>
              <a:t> </a:t>
            </a:r>
            <a:r>
              <a:rPr lang="en-US" sz="3200" dirty="0">
                <a:cs typeface="Consolas" panose="020B0609020204030204" pitchFamily="49" charset="0"/>
              </a:rPr>
              <a:t>+ </a:t>
            </a:r>
            <a:r>
              <a:rPr lang="en-US" sz="3200" dirty="0" err="1">
                <a:solidFill>
                  <a:srgbClr val="C00000"/>
                </a:solidFill>
                <a:cs typeface="Consolas" panose="020B0609020204030204" pitchFamily="49" charset="0"/>
              </a:rPr>
              <a:t>cnr</a:t>
            </a:r>
            <a:r>
              <a:rPr lang="en-US" sz="3200" dirty="0">
                <a:solidFill>
                  <a:srgbClr val="002060"/>
                </a:solidFill>
                <a:cs typeface="Consolas" panose="020B0609020204030204" pitchFamily="49" charset="0"/>
              </a:rPr>
              <a:t>)</a:t>
            </a:r>
            <a:r>
              <a:rPr lang="en-US" sz="3200" dirty="0">
                <a:cs typeface="Consolas" panose="020B0609020204030204" pitchFamily="49" charset="0"/>
              </a:rPr>
              <a:t>;</a:t>
            </a:r>
          </a:p>
          <a:p>
            <a:pPr marL="457200" indent="-457200">
              <a:buNone/>
            </a:pPr>
            <a:r>
              <a:rPr lang="en-US" sz="3200" dirty="0"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7573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542739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Đếm số nút lá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524000" y="1308235"/>
            <a:ext cx="9144000" cy="5334000"/>
          </a:xfrm>
        </p:spPr>
        <p:txBody>
          <a:bodyPr/>
          <a:lstStyle/>
          <a:p>
            <a:pPr marL="457200" indent="-45720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600" dirty="0">
                <a:cs typeface="Consolas" panose="020B0609020204030204" pitchFamily="49" charset="0"/>
              </a:rPr>
              <a:t>int </a:t>
            </a:r>
            <a:r>
              <a:rPr lang="en-US" sz="3600" dirty="0">
                <a:solidFill>
                  <a:srgbClr val="0000FF"/>
                </a:solidFill>
                <a:cs typeface="Consolas" panose="020B0609020204030204" pitchFamily="49" charset="0"/>
              </a:rPr>
              <a:t>countTNodeLeaf</a:t>
            </a:r>
            <a:r>
              <a:rPr lang="en-US" sz="3600" dirty="0">
                <a:cs typeface="Consolas" panose="020B0609020204030204" pitchFamily="49" charset="0"/>
              </a:rPr>
              <a:t>(TNode* root)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dirty="0">
                <a:cs typeface="Consolas" panose="020B0609020204030204" pitchFamily="49" charset="0"/>
              </a:rPr>
              <a:t>{	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dirty="0">
                <a:cs typeface="Consolas" panose="020B0609020204030204" pitchFamily="49" charset="0"/>
              </a:rPr>
              <a:t>	if(!root</a:t>
            </a:r>
            <a:r>
              <a:rPr lang="en-US" sz="3200">
                <a:cs typeface="Consolas" panose="020B0609020204030204" pitchFamily="49" charset="0"/>
              </a:rPr>
              <a:t>)  </a:t>
            </a:r>
            <a:endParaRPr lang="en-US" sz="3200" smtClean="0">
              <a:cs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>
                <a:cs typeface="Consolas" panose="020B0609020204030204" pitchFamily="49" charset="0"/>
              </a:rPr>
              <a:t>	</a:t>
            </a:r>
            <a:r>
              <a:rPr lang="en-US" sz="3200" smtClean="0">
                <a:cs typeface="Consolas" panose="020B0609020204030204" pitchFamily="49" charset="0"/>
              </a:rPr>
              <a:t>	return </a:t>
            </a:r>
            <a:r>
              <a:rPr lang="en-US" sz="3200" dirty="0">
                <a:cs typeface="Consolas" panose="020B0609020204030204" pitchFamily="49" charset="0"/>
              </a:rPr>
              <a:t>0;	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dirty="0">
                <a:cs typeface="Consolas" panose="020B0609020204030204" pitchFamily="49" charset="0"/>
              </a:rPr>
              <a:t>	int </a:t>
            </a:r>
            <a:r>
              <a:rPr lang="en-US" sz="3200" dirty="0">
                <a:solidFill>
                  <a:srgbClr val="C00000"/>
                </a:solidFill>
                <a:cs typeface="Consolas" panose="020B0609020204030204" pitchFamily="49" charset="0"/>
              </a:rPr>
              <a:t>cnl </a:t>
            </a:r>
            <a:r>
              <a:rPr lang="en-US" sz="3200" dirty="0">
                <a:cs typeface="Consolas" panose="020B0609020204030204" pitchFamily="49" charset="0"/>
              </a:rPr>
              <a:t>= </a:t>
            </a:r>
            <a:r>
              <a:rPr lang="en-US" sz="3200" dirty="0">
                <a:solidFill>
                  <a:srgbClr val="CC00CC"/>
                </a:solidFill>
                <a:cs typeface="Consolas" panose="020B0609020204030204" pitchFamily="49" charset="0"/>
              </a:rPr>
              <a:t>countTNodeLeaf</a:t>
            </a:r>
            <a:r>
              <a:rPr lang="en-US" sz="3200" dirty="0">
                <a:cs typeface="Consolas" panose="020B0609020204030204" pitchFamily="49" charset="0"/>
              </a:rPr>
              <a:t>(root</a:t>
            </a:r>
            <a:r>
              <a:rPr lang="en-US" sz="3200" dirty="0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200" dirty="0">
                <a:cs typeface="Consolas" panose="020B0609020204030204" pitchFamily="49" charset="0"/>
              </a:rPr>
              <a:t>Left);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dirty="0">
                <a:cs typeface="Consolas" panose="020B0609020204030204" pitchFamily="49" charset="0"/>
              </a:rPr>
              <a:t>	int </a:t>
            </a:r>
            <a:r>
              <a:rPr lang="en-US" sz="3200" dirty="0">
                <a:solidFill>
                  <a:srgbClr val="FF0000"/>
                </a:solidFill>
                <a:cs typeface="Consolas" panose="020B0609020204030204" pitchFamily="49" charset="0"/>
              </a:rPr>
              <a:t>cnr </a:t>
            </a:r>
            <a:r>
              <a:rPr lang="en-US" sz="3200" dirty="0">
                <a:cs typeface="Consolas" panose="020B0609020204030204" pitchFamily="49" charset="0"/>
              </a:rPr>
              <a:t>= </a:t>
            </a:r>
            <a:r>
              <a:rPr lang="en-US" sz="3200" dirty="0">
                <a:solidFill>
                  <a:srgbClr val="CC00CC"/>
                </a:solidFill>
                <a:cs typeface="Consolas" panose="020B0609020204030204" pitchFamily="49" charset="0"/>
              </a:rPr>
              <a:t>countTNodeLeaf</a:t>
            </a:r>
            <a:r>
              <a:rPr lang="en-US" sz="3200" dirty="0">
                <a:cs typeface="Consolas" panose="020B0609020204030204" pitchFamily="49" charset="0"/>
              </a:rPr>
              <a:t>(root</a:t>
            </a:r>
            <a:r>
              <a:rPr lang="en-US" sz="3200" dirty="0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200" dirty="0">
                <a:cs typeface="Consolas" panose="020B0609020204030204" pitchFamily="49" charset="0"/>
              </a:rPr>
              <a:t>Right);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dirty="0">
                <a:cs typeface="Consolas" panose="020B0609020204030204" pitchFamily="49" charset="0"/>
              </a:rPr>
              <a:t>	</a:t>
            </a:r>
            <a:r>
              <a:rPr lang="en-US" sz="3200" dirty="0" smtClean="0">
                <a:cs typeface="Consolas" panose="020B0609020204030204" pitchFamily="49" charset="0"/>
              </a:rPr>
              <a:t>if(</a:t>
            </a:r>
            <a:r>
              <a:rPr lang="en-US" sz="3200" dirty="0" err="1" smtClean="0">
                <a:cs typeface="Consolas" panose="020B0609020204030204" pitchFamily="49" charset="0"/>
              </a:rPr>
              <a:t>root</a:t>
            </a:r>
            <a:r>
              <a:rPr lang="en-US" sz="3200" dirty="0" err="1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200" dirty="0" err="1" smtClean="0">
                <a:cs typeface="Consolas" panose="020B0609020204030204" pitchFamily="49" charset="0"/>
              </a:rPr>
              <a:t>Left</a:t>
            </a:r>
            <a:r>
              <a:rPr lang="en-US" sz="3200" dirty="0" smtClean="0">
                <a:cs typeface="Consolas" panose="020B0609020204030204" pitchFamily="49" charset="0"/>
              </a:rPr>
              <a:t>==NULL </a:t>
            </a:r>
            <a:r>
              <a:rPr lang="en-US" sz="3200" dirty="0">
                <a:cs typeface="Consolas" panose="020B0609020204030204" pitchFamily="49" charset="0"/>
              </a:rPr>
              <a:t>&amp;&amp; </a:t>
            </a:r>
            <a:r>
              <a:rPr lang="en-US" sz="3200" dirty="0" err="1" smtClean="0">
                <a:cs typeface="Consolas" panose="020B0609020204030204" pitchFamily="49" charset="0"/>
              </a:rPr>
              <a:t>root</a:t>
            </a:r>
            <a:r>
              <a:rPr lang="en-US" sz="3200" dirty="0" err="1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200" dirty="0" err="1" smtClean="0">
                <a:cs typeface="Consolas" panose="020B0609020204030204" pitchFamily="49" charset="0"/>
              </a:rPr>
              <a:t>Right</a:t>
            </a:r>
            <a:r>
              <a:rPr lang="en-US" sz="3200" dirty="0" smtClean="0">
                <a:cs typeface="Consolas" panose="020B0609020204030204" pitchFamily="49" charset="0"/>
              </a:rPr>
              <a:t>==NULL) </a:t>
            </a:r>
            <a:endParaRPr lang="en-US" sz="3200" dirty="0">
              <a:cs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dirty="0">
                <a:cs typeface="Consolas" panose="020B0609020204030204" pitchFamily="49" charset="0"/>
              </a:rPr>
              <a:t>		return </a:t>
            </a:r>
            <a:r>
              <a:rPr lang="en-US" sz="3200" dirty="0" smtClean="0">
                <a:solidFill>
                  <a:srgbClr val="FF0000"/>
                </a:solidFill>
                <a:cs typeface="Consolas" panose="020B0609020204030204" pitchFamily="49" charset="0"/>
              </a:rPr>
              <a:t>1;</a:t>
            </a:r>
            <a:endParaRPr lang="en-US" sz="3200" dirty="0">
              <a:cs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dirty="0">
                <a:cs typeface="Consolas" panose="020B0609020204030204" pitchFamily="49" charset="0"/>
              </a:rPr>
              <a:t>	return (</a:t>
            </a:r>
            <a:r>
              <a:rPr lang="en-US" sz="3200" dirty="0" err="1">
                <a:solidFill>
                  <a:srgbClr val="CC0000"/>
                </a:solidFill>
                <a:cs typeface="Consolas" panose="020B0609020204030204" pitchFamily="49" charset="0"/>
              </a:rPr>
              <a:t>cnl</a:t>
            </a:r>
            <a:r>
              <a:rPr lang="en-US" sz="3200" dirty="0">
                <a:solidFill>
                  <a:srgbClr val="CC0000"/>
                </a:solidFill>
                <a:cs typeface="Consolas" panose="020B0609020204030204" pitchFamily="49" charset="0"/>
              </a:rPr>
              <a:t> </a:t>
            </a:r>
            <a:r>
              <a:rPr lang="en-US" sz="3200" dirty="0">
                <a:cs typeface="Consolas" panose="020B0609020204030204" pitchFamily="49" charset="0"/>
              </a:rPr>
              <a:t>+ </a:t>
            </a:r>
            <a:r>
              <a:rPr lang="en-US" sz="3200" dirty="0" err="1">
                <a:solidFill>
                  <a:srgbClr val="FF0000"/>
                </a:solidFill>
                <a:cs typeface="Consolas" panose="020B0609020204030204" pitchFamily="49" charset="0"/>
              </a:rPr>
              <a:t>cnr</a:t>
            </a:r>
            <a:r>
              <a:rPr lang="en-US" sz="3200" dirty="0">
                <a:solidFill>
                  <a:srgbClr val="002060"/>
                </a:solidFill>
                <a:cs typeface="Consolas" panose="020B0609020204030204" pitchFamily="49" charset="0"/>
              </a:rPr>
              <a:t>)</a:t>
            </a:r>
            <a:r>
              <a:rPr lang="en-US" sz="3200" dirty="0">
                <a:cs typeface="Consolas" panose="020B0609020204030204" pitchFamily="49" charset="0"/>
              </a:rPr>
              <a:t>;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dirty="0"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3426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552368"/>
            <a:ext cx="10541000" cy="721861"/>
          </a:xfrm>
        </p:spPr>
        <p:txBody>
          <a:bodyPr/>
          <a:lstStyle/>
          <a:p>
            <a:pPr eaLnBrk="1" hangingPunct="1"/>
            <a:r>
              <a:rPr lang="en-US" dirty="0" smtClean="0"/>
              <a:t>Đếm số nút không phải nút lá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524000" y="1510364"/>
            <a:ext cx="9144000" cy="5334000"/>
          </a:xfrm>
        </p:spPr>
        <p:txBody>
          <a:bodyPr/>
          <a:lstStyle/>
          <a:p>
            <a:pPr marL="457200" indent="-45720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600" dirty="0">
                <a:cs typeface="Consolas" panose="020B0609020204030204" pitchFamily="49" charset="0"/>
              </a:rPr>
              <a:t>int </a:t>
            </a:r>
            <a:r>
              <a:rPr lang="en-US" sz="3600" dirty="0">
                <a:solidFill>
                  <a:srgbClr val="0000FF"/>
                </a:solidFill>
                <a:cs typeface="Consolas" panose="020B0609020204030204" pitchFamily="49" charset="0"/>
              </a:rPr>
              <a:t>countTNodeNoLeaf</a:t>
            </a:r>
            <a:r>
              <a:rPr lang="en-US" sz="3600" dirty="0">
                <a:cs typeface="Consolas" panose="020B0609020204030204" pitchFamily="49" charset="0"/>
              </a:rPr>
              <a:t>(TNode* root)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dirty="0">
                <a:cs typeface="Consolas" panose="020B0609020204030204" pitchFamily="49" charset="0"/>
              </a:rPr>
              <a:t>{	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dirty="0">
                <a:cs typeface="Consolas" panose="020B0609020204030204" pitchFamily="49" charset="0"/>
              </a:rPr>
              <a:t>	if(!root</a:t>
            </a:r>
            <a:r>
              <a:rPr lang="en-US" sz="3200">
                <a:cs typeface="Consolas" panose="020B0609020204030204" pitchFamily="49" charset="0"/>
              </a:rPr>
              <a:t>)  </a:t>
            </a:r>
            <a:endParaRPr lang="en-US" sz="3200" smtClean="0">
              <a:cs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>
                <a:cs typeface="Consolas" panose="020B0609020204030204" pitchFamily="49" charset="0"/>
              </a:rPr>
              <a:t>	</a:t>
            </a:r>
            <a:r>
              <a:rPr lang="en-US" sz="3200" smtClean="0">
                <a:cs typeface="Consolas" panose="020B0609020204030204" pitchFamily="49" charset="0"/>
              </a:rPr>
              <a:t>	return </a:t>
            </a:r>
            <a:r>
              <a:rPr lang="en-US" sz="3200" dirty="0">
                <a:cs typeface="Consolas" panose="020B0609020204030204" pitchFamily="49" charset="0"/>
              </a:rPr>
              <a:t>0;	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dirty="0">
                <a:cs typeface="Consolas" panose="020B0609020204030204" pitchFamily="49" charset="0"/>
              </a:rPr>
              <a:t>	int </a:t>
            </a:r>
            <a:r>
              <a:rPr lang="en-US" sz="3200" dirty="0">
                <a:solidFill>
                  <a:srgbClr val="C00000"/>
                </a:solidFill>
                <a:cs typeface="Consolas" panose="020B0609020204030204" pitchFamily="49" charset="0"/>
              </a:rPr>
              <a:t>cnl</a:t>
            </a:r>
            <a:r>
              <a:rPr lang="en-US" sz="3200" dirty="0">
                <a:cs typeface="Consolas" panose="020B0609020204030204" pitchFamily="49" charset="0"/>
              </a:rPr>
              <a:t>=</a:t>
            </a:r>
            <a:r>
              <a:rPr lang="en-US" sz="3200" dirty="0">
                <a:solidFill>
                  <a:srgbClr val="CC00CC"/>
                </a:solidFill>
                <a:cs typeface="Consolas" panose="020B0609020204030204" pitchFamily="49" charset="0"/>
              </a:rPr>
              <a:t>countTNodeNoLeaf</a:t>
            </a:r>
            <a:r>
              <a:rPr lang="en-US" sz="3200" dirty="0">
                <a:cs typeface="Consolas" panose="020B0609020204030204" pitchFamily="49" charset="0"/>
              </a:rPr>
              <a:t>(root</a:t>
            </a:r>
            <a:r>
              <a:rPr lang="en-US" sz="3200" dirty="0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200" dirty="0">
                <a:cs typeface="Consolas" panose="020B0609020204030204" pitchFamily="49" charset="0"/>
              </a:rPr>
              <a:t>Left);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dirty="0">
                <a:cs typeface="Consolas" panose="020B0609020204030204" pitchFamily="49" charset="0"/>
              </a:rPr>
              <a:t>	int </a:t>
            </a:r>
            <a:r>
              <a:rPr lang="en-US" sz="3200" dirty="0">
                <a:solidFill>
                  <a:srgbClr val="FF0000"/>
                </a:solidFill>
                <a:cs typeface="Consolas" panose="020B0609020204030204" pitchFamily="49" charset="0"/>
              </a:rPr>
              <a:t>cnr</a:t>
            </a:r>
            <a:r>
              <a:rPr lang="en-US" sz="3200" dirty="0">
                <a:cs typeface="Consolas" panose="020B0609020204030204" pitchFamily="49" charset="0"/>
              </a:rPr>
              <a:t>=</a:t>
            </a:r>
            <a:r>
              <a:rPr lang="en-US" sz="3200" dirty="0">
                <a:solidFill>
                  <a:srgbClr val="CC00CC"/>
                </a:solidFill>
                <a:cs typeface="Consolas" panose="020B0609020204030204" pitchFamily="49" charset="0"/>
              </a:rPr>
              <a:t>countTNodeNoLeaf</a:t>
            </a:r>
            <a:r>
              <a:rPr lang="en-US" sz="3200" dirty="0">
                <a:cs typeface="Consolas" panose="020B0609020204030204" pitchFamily="49" charset="0"/>
              </a:rPr>
              <a:t>(root</a:t>
            </a:r>
            <a:r>
              <a:rPr lang="en-US" sz="3200" dirty="0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200" dirty="0">
                <a:cs typeface="Consolas" panose="020B0609020204030204" pitchFamily="49" charset="0"/>
              </a:rPr>
              <a:t>Right); if(root</a:t>
            </a:r>
            <a:r>
              <a:rPr lang="en-US" sz="3200" dirty="0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200">
                <a:cs typeface="Consolas" panose="020B0609020204030204" pitchFamily="49" charset="0"/>
              </a:rPr>
              <a:t>Left </a:t>
            </a:r>
            <a:r>
              <a:rPr lang="en-US" sz="3200" smtClean="0">
                <a:cs typeface="Consolas" panose="020B0609020204030204" pitchFamily="49" charset="0"/>
              </a:rPr>
              <a:t>!</a:t>
            </a:r>
            <a:r>
              <a:rPr lang="en-US" smtClean="0"/>
              <a:t>=</a:t>
            </a:r>
            <a:r>
              <a:rPr lang="en-US"/>
              <a:t>NULL</a:t>
            </a:r>
            <a:r>
              <a:rPr lang="en-US" sz="3200" smtClean="0">
                <a:cs typeface="Consolas" panose="020B0609020204030204" pitchFamily="49" charset="0"/>
              </a:rPr>
              <a:t>|| </a:t>
            </a:r>
            <a:r>
              <a:rPr lang="en-US" sz="3200" dirty="0">
                <a:cs typeface="Consolas" panose="020B0609020204030204" pitchFamily="49" charset="0"/>
              </a:rPr>
              <a:t>root</a:t>
            </a:r>
            <a:r>
              <a:rPr lang="en-US" sz="3200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200" smtClean="0">
                <a:cs typeface="Consolas" panose="020B0609020204030204" pitchFamily="49" charset="0"/>
              </a:rPr>
              <a:t>Right</a:t>
            </a:r>
            <a:r>
              <a:rPr lang="en-US"/>
              <a:t>!</a:t>
            </a:r>
            <a:r>
              <a:rPr lang="en-US" smtClean="0"/>
              <a:t>=NULL</a:t>
            </a:r>
            <a:r>
              <a:rPr lang="en-US" sz="3200" smtClean="0">
                <a:cs typeface="Consolas" panose="020B0609020204030204" pitchFamily="49" charset="0"/>
              </a:rPr>
              <a:t>) </a:t>
            </a:r>
            <a:endParaRPr lang="en-US" sz="3200" dirty="0">
              <a:cs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dirty="0">
                <a:cs typeface="Consolas" panose="020B0609020204030204" pitchFamily="49" charset="0"/>
              </a:rPr>
              <a:t>		return (</a:t>
            </a:r>
            <a:r>
              <a:rPr lang="en-US" sz="3200" dirty="0">
                <a:solidFill>
                  <a:srgbClr val="FF0000"/>
                </a:solidFill>
                <a:cs typeface="Consolas" panose="020B0609020204030204" pitchFamily="49" charset="0"/>
              </a:rPr>
              <a:t>1</a:t>
            </a:r>
            <a:r>
              <a:rPr lang="en-US" sz="3200" dirty="0">
                <a:cs typeface="Consolas" panose="020B0609020204030204" pitchFamily="49" charset="0"/>
              </a:rPr>
              <a:t> + </a:t>
            </a:r>
            <a:r>
              <a:rPr lang="en-US" sz="3200" dirty="0" err="1">
                <a:solidFill>
                  <a:srgbClr val="CC0000"/>
                </a:solidFill>
                <a:cs typeface="Consolas" panose="020B0609020204030204" pitchFamily="49" charset="0"/>
              </a:rPr>
              <a:t>cnl</a:t>
            </a:r>
            <a:r>
              <a:rPr lang="en-US" sz="3200" dirty="0">
                <a:solidFill>
                  <a:srgbClr val="CC0000"/>
                </a:solidFill>
                <a:cs typeface="Consolas" panose="020B0609020204030204" pitchFamily="49" charset="0"/>
              </a:rPr>
              <a:t> </a:t>
            </a:r>
            <a:r>
              <a:rPr lang="en-US" sz="3200" dirty="0">
                <a:cs typeface="Consolas" panose="020B0609020204030204" pitchFamily="49" charset="0"/>
              </a:rPr>
              <a:t>+ </a:t>
            </a:r>
            <a:r>
              <a:rPr lang="en-US" sz="3200" dirty="0" err="1">
                <a:solidFill>
                  <a:srgbClr val="FF0000"/>
                </a:solidFill>
                <a:cs typeface="Consolas" panose="020B0609020204030204" pitchFamily="49" charset="0"/>
              </a:rPr>
              <a:t>cnr</a:t>
            </a:r>
            <a:r>
              <a:rPr lang="en-US" sz="3200" dirty="0">
                <a:solidFill>
                  <a:srgbClr val="002060"/>
                </a:solidFill>
                <a:cs typeface="Consolas" panose="020B0609020204030204" pitchFamily="49" charset="0"/>
              </a:rPr>
              <a:t>)</a:t>
            </a:r>
            <a:r>
              <a:rPr lang="en-US" sz="3200" dirty="0">
                <a:cs typeface="Consolas" panose="020B0609020204030204" pitchFamily="49" charset="0"/>
              </a:rPr>
              <a:t>;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dirty="0">
                <a:cs typeface="Consolas" panose="020B0609020204030204" pitchFamily="49" charset="0"/>
              </a:rPr>
              <a:t>	return (</a:t>
            </a:r>
            <a:r>
              <a:rPr lang="en-US" sz="3200" dirty="0" err="1">
                <a:solidFill>
                  <a:srgbClr val="CC0000"/>
                </a:solidFill>
                <a:cs typeface="Consolas" panose="020B0609020204030204" pitchFamily="49" charset="0"/>
              </a:rPr>
              <a:t>cnl</a:t>
            </a:r>
            <a:r>
              <a:rPr lang="en-US" sz="3200" dirty="0">
                <a:solidFill>
                  <a:srgbClr val="CC0000"/>
                </a:solidFill>
                <a:cs typeface="Consolas" panose="020B0609020204030204" pitchFamily="49" charset="0"/>
              </a:rPr>
              <a:t> </a:t>
            </a:r>
            <a:r>
              <a:rPr lang="en-US" sz="3200" dirty="0">
                <a:cs typeface="Consolas" panose="020B0609020204030204" pitchFamily="49" charset="0"/>
              </a:rPr>
              <a:t>+ </a:t>
            </a:r>
            <a:r>
              <a:rPr lang="en-US" sz="3200" dirty="0" err="1">
                <a:solidFill>
                  <a:srgbClr val="FF0000"/>
                </a:solidFill>
                <a:cs typeface="Consolas" panose="020B0609020204030204" pitchFamily="49" charset="0"/>
              </a:rPr>
              <a:t>cnr</a:t>
            </a:r>
            <a:r>
              <a:rPr lang="en-US" sz="3200" dirty="0">
                <a:solidFill>
                  <a:srgbClr val="002060"/>
                </a:solidFill>
                <a:cs typeface="Consolas" panose="020B0609020204030204" pitchFamily="49" charset="0"/>
              </a:rPr>
              <a:t>)</a:t>
            </a:r>
            <a:r>
              <a:rPr lang="en-US" sz="3200" dirty="0">
                <a:cs typeface="Consolas" panose="020B0609020204030204" pitchFamily="49" charset="0"/>
              </a:rPr>
              <a:t>;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dirty="0"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8887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542740"/>
            <a:ext cx="10541000" cy="721861"/>
          </a:xfrm>
        </p:spPr>
        <p:txBody>
          <a:bodyPr/>
          <a:lstStyle/>
          <a:p>
            <a:pPr eaLnBrk="1" hangingPunct="1"/>
            <a:r>
              <a:rPr lang="en-US" dirty="0" smtClean="0"/>
              <a:t>Đếm số nút trong (</a:t>
            </a:r>
            <a:r>
              <a:rPr lang="en-US" i="1" dirty="0" smtClean="0"/>
              <a:t>nút trung gian</a:t>
            </a:r>
            <a:r>
              <a:rPr lang="en-US" dirty="0" smtClean="0"/>
              <a:t>)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712259" y="1433361"/>
            <a:ext cx="8915400" cy="5334000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ct val="0"/>
              </a:spcBef>
              <a:buNone/>
              <a:tabLst>
                <a:tab pos="538163" algn="l"/>
                <a:tab pos="1076325" algn="l"/>
                <a:tab pos="1612900" algn="l"/>
              </a:tabLst>
            </a:pPr>
            <a:r>
              <a:rPr lang="en-US" sz="3200" dirty="0">
                <a:cs typeface="Consolas" panose="020B0609020204030204" pitchFamily="49" charset="0"/>
              </a:rPr>
              <a:t>int </a:t>
            </a:r>
            <a:r>
              <a:rPr lang="en-US" sz="3600" dirty="0">
                <a:solidFill>
                  <a:srgbClr val="0000FF"/>
                </a:solidFill>
                <a:cs typeface="Consolas" panose="020B0609020204030204" pitchFamily="49" charset="0"/>
              </a:rPr>
              <a:t>countTNodeMedium</a:t>
            </a:r>
            <a:r>
              <a:rPr lang="en-US" sz="3200" dirty="0">
                <a:cs typeface="Consolas" panose="020B0609020204030204" pitchFamily="49" charset="0"/>
              </a:rPr>
              <a:t>(TNode* root)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  <a:tabLst>
                <a:tab pos="538163" algn="l"/>
                <a:tab pos="1076325" algn="l"/>
                <a:tab pos="1612900" algn="l"/>
              </a:tabLst>
            </a:pPr>
            <a:r>
              <a:rPr lang="en-US" sz="3600" dirty="0">
                <a:cs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  <a:tabLst>
                <a:tab pos="538163" algn="l"/>
                <a:tab pos="1076325" algn="l"/>
                <a:tab pos="1612900" algn="l"/>
              </a:tabLst>
            </a:pPr>
            <a:r>
              <a:rPr lang="en-US" sz="3600" dirty="0">
                <a:cs typeface="Consolas" panose="020B0609020204030204" pitchFamily="49" charset="0"/>
              </a:rPr>
              <a:t>	</a:t>
            </a:r>
            <a:r>
              <a:rPr lang="en-US" sz="3200" dirty="0">
                <a:cs typeface="Consolas" panose="020B0609020204030204" pitchFamily="49" charset="0"/>
              </a:rPr>
              <a:t>int </a:t>
            </a:r>
            <a:r>
              <a:rPr lang="en-US" sz="3200" dirty="0">
                <a:solidFill>
                  <a:srgbClr val="C00000"/>
                </a:solidFill>
                <a:cs typeface="Consolas" panose="020B0609020204030204" pitchFamily="49" charset="0"/>
              </a:rPr>
              <a:t>cn</a:t>
            </a:r>
            <a:r>
              <a:rPr lang="en-US" sz="3200" dirty="0">
                <a:cs typeface="Consolas" panose="020B0609020204030204" pitchFamily="49" charset="0"/>
              </a:rPr>
              <a:t> = </a:t>
            </a:r>
            <a:r>
              <a:rPr lang="en-US" sz="3200" dirty="0">
                <a:solidFill>
                  <a:srgbClr val="CC00CC"/>
                </a:solidFill>
                <a:cs typeface="Consolas" panose="020B0609020204030204" pitchFamily="49" charset="0"/>
              </a:rPr>
              <a:t>countTNode</a:t>
            </a:r>
            <a:r>
              <a:rPr lang="en-US" sz="3200" dirty="0">
                <a:cs typeface="Consolas" panose="020B0609020204030204" pitchFamily="49" charset="0"/>
              </a:rPr>
              <a:t>(root);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  <a:tabLst>
                <a:tab pos="538163" algn="l"/>
                <a:tab pos="1076325" algn="l"/>
                <a:tab pos="1612900" algn="l"/>
              </a:tabLst>
            </a:pPr>
            <a:r>
              <a:rPr lang="en-US" sz="3200" dirty="0">
                <a:cs typeface="Consolas" panose="020B0609020204030204" pitchFamily="49" charset="0"/>
              </a:rPr>
              <a:t>	if(</a:t>
            </a:r>
            <a:r>
              <a:rPr lang="en-US" sz="3200" dirty="0" err="1">
                <a:solidFill>
                  <a:srgbClr val="FF0000"/>
                </a:solidFill>
                <a:cs typeface="Consolas" panose="020B0609020204030204" pitchFamily="49" charset="0"/>
              </a:rPr>
              <a:t>cn</a:t>
            </a:r>
            <a:r>
              <a:rPr lang="en-US" sz="3200" dirty="0">
                <a:solidFill>
                  <a:srgbClr val="FF0000"/>
                </a:solidFill>
                <a:cs typeface="Consolas" panose="020B0609020204030204" pitchFamily="49" charset="0"/>
              </a:rPr>
              <a:t> </a:t>
            </a:r>
            <a:r>
              <a:rPr lang="en-US" sz="3200" dirty="0">
                <a:cs typeface="Consolas" panose="020B0609020204030204" pitchFamily="49" charset="0"/>
              </a:rPr>
              <a:t>&lt;= 2</a:t>
            </a:r>
            <a:r>
              <a:rPr lang="en-US" sz="3200">
                <a:cs typeface="Consolas" panose="020B0609020204030204" pitchFamily="49" charset="0"/>
              </a:rPr>
              <a:t>)  </a:t>
            </a:r>
            <a:endParaRPr lang="en-US" sz="3200" smtClean="0">
              <a:cs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  <a:tabLst>
                <a:tab pos="538163" algn="l"/>
                <a:tab pos="1076325" algn="l"/>
                <a:tab pos="1612900" algn="l"/>
              </a:tabLst>
            </a:pPr>
            <a:r>
              <a:rPr lang="en-US" sz="3200">
                <a:cs typeface="Consolas" panose="020B0609020204030204" pitchFamily="49" charset="0"/>
              </a:rPr>
              <a:t>	</a:t>
            </a:r>
            <a:r>
              <a:rPr lang="en-US" sz="3200" smtClean="0">
                <a:cs typeface="Consolas" panose="020B0609020204030204" pitchFamily="49" charset="0"/>
              </a:rPr>
              <a:t>	return </a:t>
            </a:r>
            <a:r>
              <a:rPr lang="en-US" sz="3200" dirty="0">
                <a:cs typeface="Consolas" panose="020B0609020204030204" pitchFamily="49" charset="0"/>
              </a:rPr>
              <a:t>0;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  <a:tabLst>
                <a:tab pos="538163" algn="l"/>
                <a:tab pos="1076325" algn="l"/>
                <a:tab pos="1612900" algn="l"/>
              </a:tabLst>
            </a:pPr>
            <a:r>
              <a:rPr lang="en-US" sz="3200" dirty="0">
                <a:cs typeface="Consolas" panose="020B0609020204030204" pitchFamily="49" charset="0"/>
              </a:rPr>
              <a:t>	int </a:t>
            </a:r>
            <a:r>
              <a:rPr lang="en-US" sz="3200" dirty="0">
                <a:solidFill>
                  <a:srgbClr val="FF0000"/>
                </a:solidFill>
                <a:cs typeface="Consolas" panose="020B0609020204030204" pitchFamily="49" charset="0"/>
              </a:rPr>
              <a:t>cnl</a:t>
            </a:r>
            <a:r>
              <a:rPr lang="en-US" sz="3200" dirty="0">
                <a:cs typeface="Consolas" panose="020B0609020204030204" pitchFamily="49" charset="0"/>
              </a:rPr>
              <a:t> = </a:t>
            </a:r>
            <a:r>
              <a:rPr lang="en-US" sz="3200" dirty="0">
                <a:solidFill>
                  <a:srgbClr val="CC00CC"/>
                </a:solidFill>
                <a:cs typeface="Consolas" panose="020B0609020204030204" pitchFamily="49" charset="0"/>
              </a:rPr>
              <a:t>countTNodeLeaf</a:t>
            </a:r>
            <a:r>
              <a:rPr lang="en-US" sz="3200" dirty="0">
                <a:cs typeface="Consolas" panose="020B0609020204030204" pitchFamily="49" charset="0"/>
              </a:rPr>
              <a:t>(root);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  <a:tabLst>
                <a:tab pos="538163" algn="l"/>
                <a:tab pos="1076325" algn="l"/>
                <a:tab pos="1612900" algn="l"/>
              </a:tabLst>
            </a:pPr>
            <a:r>
              <a:rPr lang="en-US" sz="3200" dirty="0">
                <a:cs typeface="Consolas" panose="020B0609020204030204" pitchFamily="49" charset="0"/>
              </a:rPr>
              <a:t>	return (</a:t>
            </a:r>
            <a:r>
              <a:rPr lang="en-US" sz="3200" dirty="0" err="1">
                <a:solidFill>
                  <a:srgbClr val="C00000"/>
                </a:solidFill>
                <a:cs typeface="Consolas" panose="020B0609020204030204" pitchFamily="49" charset="0"/>
              </a:rPr>
              <a:t>cn</a:t>
            </a:r>
            <a:r>
              <a:rPr lang="en-US" sz="3200" dirty="0">
                <a:solidFill>
                  <a:srgbClr val="C00000"/>
                </a:solidFill>
                <a:cs typeface="Consolas" panose="020B0609020204030204" pitchFamily="49" charset="0"/>
              </a:rPr>
              <a:t> </a:t>
            </a:r>
            <a:r>
              <a:rPr lang="en-US" sz="3200" dirty="0">
                <a:cs typeface="Consolas" panose="020B0609020204030204" pitchFamily="49" charset="0"/>
              </a:rPr>
              <a:t>– </a:t>
            </a:r>
            <a:r>
              <a:rPr lang="en-US" sz="3200" dirty="0" err="1">
                <a:solidFill>
                  <a:srgbClr val="FF0000"/>
                </a:solidFill>
                <a:cs typeface="Consolas" panose="020B0609020204030204" pitchFamily="49" charset="0"/>
              </a:rPr>
              <a:t>cnl</a:t>
            </a:r>
            <a:r>
              <a:rPr lang="en-US" sz="3200" dirty="0">
                <a:solidFill>
                  <a:srgbClr val="FF0000"/>
                </a:solidFill>
                <a:cs typeface="Consolas" panose="020B0609020204030204" pitchFamily="49" charset="0"/>
              </a:rPr>
              <a:t> </a:t>
            </a:r>
            <a:r>
              <a:rPr lang="en-US" sz="3200" dirty="0">
                <a:cs typeface="Consolas" panose="020B0609020204030204" pitchFamily="49" charset="0"/>
              </a:rPr>
              <a:t>- </a:t>
            </a:r>
            <a:r>
              <a:rPr lang="en-US" sz="3200" dirty="0">
                <a:solidFill>
                  <a:srgbClr val="0000FF"/>
                </a:solidFill>
                <a:cs typeface="Consolas" panose="020B0609020204030204" pitchFamily="49" charset="0"/>
              </a:rPr>
              <a:t>1</a:t>
            </a:r>
            <a:r>
              <a:rPr lang="en-US" sz="3200" dirty="0">
                <a:cs typeface="Consolas" panose="020B0609020204030204" pitchFamily="49" charset="0"/>
              </a:rPr>
              <a:t>); </a:t>
            </a:r>
            <a:r>
              <a:rPr lang="en-US" b="0" dirty="0" smtClean="0">
                <a:cs typeface="Consolas" panose="020B0609020204030204" pitchFamily="49" charset="0"/>
              </a:rPr>
              <a:t>//trừ nút gốc</a:t>
            </a:r>
            <a:endParaRPr lang="en-US" sz="3600" dirty="0">
              <a:cs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  <a:tabLst>
                <a:tab pos="538163" algn="l"/>
                <a:tab pos="1076325" algn="l"/>
                <a:tab pos="1612900" algn="l"/>
              </a:tabLst>
            </a:pPr>
            <a:r>
              <a:rPr lang="en-US" sz="3600" dirty="0"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5740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735251"/>
            <a:ext cx="10541000" cy="721861"/>
          </a:xfrm>
        </p:spPr>
        <p:txBody>
          <a:bodyPr/>
          <a:lstStyle/>
          <a:p>
            <a:pPr eaLnBrk="1" hangingPunct="1"/>
            <a:r>
              <a:rPr lang="en-US" dirty="0" smtClean="0"/>
              <a:t>Đếm số nút trong (</a:t>
            </a:r>
            <a:r>
              <a:rPr lang="en-US" i="1" dirty="0" smtClean="0"/>
              <a:t>nút trung gian</a:t>
            </a:r>
            <a:r>
              <a:rPr lang="en-US" dirty="0" smtClean="0"/>
              <a:t>)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752600" y="1693247"/>
            <a:ext cx="8763000" cy="5334000"/>
          </a:xfrm>
        </p:spPr>
        <p:txBody>
          <a:bodyPr/>
          <a:lstStyle/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200" dirty="0">
                <a:cs typeface="Consolas" panose="020B0609020204030204" pitchFamily="49" charset="0"/>
              </a:rPr>
              <a:t>int  </a:t>
            </a:r>
            <a:r>
              <a:rPr lang="en-US" sz="3600" dirty="0">
                <a:solidFill>
                  <a:srgbClr val="0000FF"/>
                </a:solidFill>
                <a:cs typeface="Consolas" panose="020B0609020204030204" pitchFamily="49" charset="0"/>
              </a:rPr>
              <a:t>countTNodeMedium</a:t>
            </a:r>
            <a:r>
              <a:rPr lang="en-US" sz="3200" dirty="0">
                <a:cs typeface="Consolas" panose="020B0609020204030204" pitchFamily="49" charset="0"/>
              </a:rPr>
              <a:t>(TNode* root)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{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	</a:t>
            </a:r>
            <a:r>
              <a:rPr lang="en-US" sz="3200" dirty="0">
                <a:cs typeface="Consolas" panose="020B0609020204030204" pitchFamily="49" charset="0"/>
              </a:rPr>
              <a:t>int </a:t>
            </a:r>
            <a:r>
              <a:rPr lang="en-US" sz="3200" dirty="0">
                <a:solidFill>
                  <a:srgbClr val="C00000"/>
                </a:solidFill>
                <a:cs typeface="Consolas" panose="020B0609020204030204" pitchFamily="49" charset="0"/>
              </a:rPr>
              <a:t>n</a:t>
            </a:r>
            <a:r>
              <a:rPr lang="en-US" sz="3200" dirty="0">
                <a:cs typeface="Consolas" panose="020B0609020204030204" pitchFamily="49" charset="0"/>
              </a:rPr>
              <a:t> = </a:t>
            </a:r>
            <a:r>
              <a:rPr lang="en-US" sz="3200" dirty="0">
                <a:solidFill>
                  <a:srgbClr val="CC00CC"/>
                </a:solidFill>
                <a:cs typeface="Consolas" panose="020B0609020204030204" pitchFamily="49" charset="0"/>
              </a:rPr>
              <a:t>countTNodeNoLeaf</a:t>
            </a:r>
            <a:r>
              <a:rPr lang="en-US" sz="3200" dirty="0">
                <a:cs typeface="Consolas" panose="020B0609020204030204" pitchFamily="49" charset="0"/>
              </a:rPr>
              <a:t>(root);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200" dirty="0">
                <a:cs typeface="Consolas" panose="020B0609020204030204" pitchFamily="49" charset="0"/>
              </a:rPr>
              <a:t>	if(</a:t>
            </a:r>
            <a:r>
              <a:rPr lang="en-US" sz="3200" dirty="0">
                <a:solidFill>
                  <a:srgbClr val="C00000"/>
                </a:solidFill>
                <a:cs typeface="Consolas" panose="020B0609020204030204" pitchFamily="49" charset="0"/>
              </a:rPr>
              <a:t>n</a:t>
            </a:r>
            <a:r>
              <a:rPr lang="en-US" sz="3200" dirty="0">
                <a:cs typeface="Consolas" panose="020B0609020204030204" pitchFamily="49" charset="0"/>
              </a:rPr>
              <a:t> &gt; 0)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200" dirty="0">
                <a:cs typeface="Consolas" panose="020B0609020204030204" pitchFamily="49" charset="0"/>
              </a:rPr>
              <a:t>		return (</a:t>
            </a:r>
            <a:r>
              <a:rPr lang="en-US" sz="3200" dirty="0">
                <a:solidFill>
                  <a:srgbClr val="C00000"/>
                </a:solidFill>
                <a:cs typeface="Consolas" panose="020B0609020204030204" pitchFamily="49" charset="0"/>
              </a:rPr>
              <a:t>n </a:t>
            </a:r>
            <a:r>
              <a:rPr lang="en-US" sz="3200" dirty="0">
                <a:cs typeface="Consolas" panose="020B0609020204030204" pitchFamily="49" charset="0"/>
              </a:rPr>
              <a:t>- </a:t>
            </a:r>
            <a:r>
              <a:rPr lang="en-US" sz="3200" dirty="0">
                <a:solidFill>
                  <a:srgbClr val="0000FF"/>
                </a:solidFill>
                <a:cs typeface="Consolas" panose="020B0609020204030204" pitchFamily="49" charset="0"/>
              </a:rPr>
              <a:t>1</a:t>
            </a:r>
            <a:r>
              <a:rPr lang="en-US" sz="3200" dirty="0">
                <a:cs typeface="Consolas" panose="020B0609020204030204" pitchFamily="49" charset="0"/>
              </a:rPr>
              <a:t>); </a:t>
            </a:r>
            <a:r>
              <a:rPr lang="en-US" sz="3200" i="1" dirty="0">
                <a:cs typeface="Consolas" panose="020B0609020204030204" pitchFamily="49" charset="0"/>
              </a:rPr>
              <a:t>//trừ nút gốc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200" dirty="0">
                <a:cs typeface="Consolas" panose="020B0609020204030204" pitchFamily="49" charset="0"/>
              </a:rPr>
              <a:t>	return 0;</a:t>
            </a:r>
            <a:endParaRPr lang="en-US" sz="3600" dirty="0">
              <a:cs typeface="Consolas" panose="020B0609020204030204" pitchFamily="49" charset="0"/>
            </a:endParaRP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9178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 idx="4294967295"/>
          </p:nvPr>
        </p:nvSpPr>
        <p:spPr>
          <a:xfrm>
            <a:off x="863600" y="542736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Tính tổng</a:t>
            </a:r>
            <a:endParaRPr lang="en-US" smtClean="0">
              <a:solidFill>
                <a:srgbClr val="FF0000"/>
              </a:solidFill>
            </a:endParaRPr>
          </a:p>
        </p:txBody>
      </p:sp>
      <p:sp>
        <p:nvSpPr>
          <p:cNvPr id="43011" name="Content Placeholder 2"/>
          <p:cNvSpPr>
            <a:spLocks noGrp="1"/>
          </p:cNvSpPr>
          <p:nvPr>
            <p:ph idx="4294967295"/>
          </p:nvPr>
        </p:nvSpPr>
        <p:spPr>
          <a:xfrm>
            <a:off x="1752600" y="1451807"/>
            <a:ext cx="8763000" cy="5486400"/>
          </a:xfrm>
        </p:spPr>
        <p:txBody>
          <a:bodyPr/>
          <a:lstStyle/>
          <a:p>
            <a:pPr marL="0" indent="0">
              <a:buNone/>
              <a:tabLst>
                <a:tab pos="538163" algn="l"/>
              </a:tabLst>
            </a:pPr>
            <a:r>
              <a:rPr lang="en-US" sz="3600" dirty="0">
                <a:cs typeface="Consolas" panose="020B0609020204030204" pitchFamily="49" charset="0"/>
              </a:rPr>
              <a:t>int  </a:t>
            </a:r>
            <a:r>
              <a:rPr lang="en-US" sz="3600" dirty="0">
                <a:solidFill>
                  <a:srgbClr val="0000FF"/>
                </a:solidFill>
                <a:cs typeface="Consolas" panose="020B0609020204030204" pitchFamily="49" charset="0"/>
              </a:rPr>
              <a:t>sumTNode</a:t>
            </a:r>
            <a:r>
              <a:rPr lang="en-US" sz="3600" dirty="0">
                <a:cs typeface="Consolas" panose="020B0609020204030204" pitchFamily="49" charset="0"/>
              </a:rPr>
              <a:t>(TNode* root)</a:t>
            </a:r>
          </a:p>
          <a:p>
            <a:pPr marL="0" indent="0">
              <a:buNone/>
              <a:tabLst>
                <a:tab pos="538163" algn="l"/>
              </a:tabLst>
            </a:pPr>
            <a:r>
              <a:rPr lang="en-US" sz="3600" dirty="0">
                <a:cs typeface="Consolas" panose="020B0609020204030204" pitchFamily="49" charset="0"/>
              </a:rPr>
              <a:t>{		</a:t>
            </a:r>
          </a:p>
          <a:p>
            <a:pPr marL="0" indent="0">
              <a:buNone/>
              <a:tabLst>
                <a:tab pos="538163" algn="l"/>
              </a:tabLst>
            </a:pPr>
            <a:r>
              <a:rPr lang="en-US" sz="3600" dirty="0">
                <a:cs typeface="Consolas" panose="020B0609020204030204" pitchFamily="49" charset="0"/>
              </a:rPr>
              <a:t>	</a:t>
            </a:r>
            <a:r>
              <a:rPr lang="en-US" sz="3200" dirty="0">
                <a:cs typeface="Consolas" panose="020B0609020204030204" pitchFamily="49" charset="0"/>
              </a:rPr>
              <a:t>if(!root</a:t>
            </a:r>
            <a:r>
              <a:rPr lang="en-US" sz="3200">
                <a:cs typeface="Consolas" panose="020B0609020204030204" pitchFamily="49" charset="0"/>
              </a:rPr>
              <a:t>) </a:t>
            </a:r>
            <a:endParaRPr lang="en-US" sz="3200" smtClean="0">
              <a:cs typeface="Consolas" panose="020B0609020204030204" pitchFamily="49" charset="0"/>
            </a:endParaRPr>
          </a:p>
          <a:p>
            <a:pPr marL="0" indent="0">
              <a:buNone/>
              <a:tabLst>
                <a:tab pos="538163" algn="l"/>
              </a:tabLst>
            </a:pPr>
            <a:r>
              <a:rPr lang="en-US" sz="3200">
                <a:cs typeface="Consolas" panose="020B0609020204030204" pitchFamily="49" charset="0"/>
              </a:rPr>
              <a:t>	</a:t>
            </a:r>
            <a:r>
              <a:rPr lang="en-US" sz="3200" smtClean="0">
                <a:cs typeface="Consolas" panose="020B0609020204030204" pitchFamily="49" charset="0"/>
              </a:rPr>
              <a:t>	return </a:t>
            </a:r>
            <a:r>
              <a:rPr lang="en-US" sz="3200" dirty="0">
                <a:cs typeface="Consolas" panose="020B0609020204030204" pitchFamily="49" charset="0"/>
              </a:rPr>
              <a:t>0;</a:t>
            </a:r>
          </a:p>
          <a:p>
            <a:pPr marL="0" indent="0">
              <a:buNone/>
              <a:tabLst>
                <a:tab pos="538163" algn="l"/>
              </a:tabLst>
            </a:pPr>
            <a:r>
              <a:rPr lang="en-US" sz="3200" dirty="0">
                <a:cs typeface="Consolas" panose="020B0609020204030204" pitchFamily="49" charset="0"/>
              </a:rPr>
              <a:t>	int </a:t>
            </a:r>
            <a:r>
              <a:rPr lang="en-US" sz="3200" dirty="0">
                <a:solidFill>
                  <a:srgbClr val="C00000"/>
                </a:solidFill>
                <a:cs typeface="Consolas" panose="020B0609020204030204" pitchFamily="49" charset="0"/>
              </a:rPr>
              <a:t>suml</a:t>
            </a:r>
            <a:r>
              <a:rPr lang="en-US" sz="3200" dirty="0">
                <a:cs typeface="Consolas" panose="020B0609020204030204" pitchFamily="49" charset="0"/>
              </a:rPr>
              <a:t> = </a:t>
            </a:r>
            <a:r>
              <a:rPr lang="en-US" sz="3200" i="1" dirty="0">
                <a:solidFill>
                  <a:srgbClr val="CC00CC"/>
                </a:solidFill>
                <a:cs typeface="Consolas" panose="020B0609020204030204" pitchFamily="49" charset="0"/>
              </a:rPr>
              <a:t>sumTNode</a:t>
            </a:r>
            <a:r>
              <a:rPr lang="en-US" sz="3200" dirty="0">
                <a:cs typeface="Consolas" panose="020B0609020204030204" pitchFamily="49" charset="0"/>
              </a:rPr>
              <a:t>(root</a:t>
            </a:r>
            <a:r>
              <a:rPr lang="en-US" sz="3200" dirty="0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200" dirty="0">
                <a:cs typeface="Consolas" panose="020B0609020204030204" pitchFamily="49" charset="0"/>
              </a:rPr>
              <a:t>Left);</a:t>
            </a:r>
          </a:p>
          <a:p>
            <a:pPr marL="0" indent="0">
              <a:buNone/>
              <a:tabLst>
                <a:tab pos="538163" algn="l"/>
              </a:tabLst>
            </a:pPr>
            <a:r>
              <a:rPr lang="en-US" sz="3200" dirty="0">
                <a:cs typeface="Consolas" panose="020B0609020204030204" pitchFamily="49" charset="0"/>
              </a:rPr>
              <a:t>	int </a:t>
            </a:r>
            <a:r>
              <a:rPr lang="en-US" sz="3200" dirty="0">
                <a:solidFill>
                  <a:srgbClr val="FF0000"/>
                </a:solidFill>
                <a:cs typeface="Consolas" panose="020B0609020204030204" pitchFamily="49" charset="0"/>
              </a:rPr>
              <a:t>sumr</a:t>
            </a:r>
            <a:r>
              <a:rPr lang="en-US" sz="3200" dirty="0">
                <a:cs typeface="Consolas" panose="020B0609020204030204" pitchFamily="49" charset="0"/>
              </a:rPr>
              <a:t> = </a:t>
            </a:r>
            <a:r>
              <a:rPr lang="en-US" sz="3200" i="1" dirty="0">
                <a:solidFill>
                  <a:srgbClr val="CC00CC"/>
                </a:solidFill>
                <a:cs typeface="Consolas" panose="020B0609020204030204" pitchFamily="49" charset="0"/>
              </a:rPr>
              <a:t>sumTNode</a:t>
            </a:r>
            <a:r>
              <a:rPr lang="en-US" sz="3200" dirty="0">
                <a:cs typeface="Consolas" panose="020B0609020204030204" pitchFamily="49" charset="0"/>
              </a:rPr>
              <a:t>(root</a:t>
            </a:r>
            <a:r>
              <a:rPr lang="en-US" sz="3200" dirty="0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200" dirty="0">
                <a:cs typeface="Consolas" panose="020B0609020204030204" pitchFamily="49" charset="0"/>
              </a:rPr>
              <a:t>Right);</a:t>
            </a:r>
          </a:p>
          <a:p>
            <a:pPr marL="0" indent="0">
              <a:buNone/>
              <a:tabLst>
                <a:tab pos="538163" algn="l"/>
              </a:tabLst>
            </a:pPr>
            <a:r>
              <a:rPr lang="en-US" sz="3200" dirty="0">
                <a:cs typeface="Consolas" panose="020B0609020204030204" pitchFamily="49" charset="0"/>
              </a:rPr>
              <a:t>	return (</a:t>
            </a:r>
            <a:r>
              <a:rPr lang="en-US" sz="3200" dirty="0" err="1">
                <a:solidFill>
                  <a:srgbClr val="0000FF"/>
                </a:solidFill>
                <a:cs typeface="Consolas" panose="020B0609020204030204" pitchFamily="49" charset="0"/>
              </a:rPr>
              <a:t>root</a:t>
            </a:r>
            <a:r>
              <a:rPr lang="en-US" sz="3200" dirty="0" err="1">
                <a:solidFill>
                  <a:srgbClr val="0000FF"/>
                </a:solidFill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200" dirty="0" err="1">
                <a:solidFill>
                  <a:srgbClr val="0000FF"/>
                </a:solidFill>
                <a:cs typeface="Consolas" panose="020B0609020204030204" pitchFamily="49" charset="0"/>
              </a:rPr>
              <a:t>Info</a:t>
            </a:r>
            <a:r>
              <a:rPr lang="en-US" sz="3200" dirty="0">
                <a:cs typeface="Consolas" panose="020B0609020204030204" pitchFamily="49" charset="0"/>
              </a:rPr>
              <a:t> + </a:t>
            </a:r>
            <a:r>
              <a:rPr lang="en-US" sz="3200" dirty="0" err="1">
                <a:solidFill>
                  <a:srgbClr val="C00000"/>
                </a:solidFill>
                <a:cs typeface="Consolas" panose="020B0609020204030204" pitchFamily="49" charset="0"/>
              </a:rPr>
              <a:t>suml</a:t>
            </a:r>
            <a:r>
              <a:rPr lang="en-US" sz="3200" dirty="0">
                <a:cs typeface="Consolas" panose="020B0609020204030204" pitchFamily="49" charset="0"/>
              </a:rPr>
              <a:t> + </a:t>
            </a:r>
            <a:r>
              <a:rPr lang="en-US" sz="3200" dirty="0" err="1">
                <a:solidFill>
                  <a:srgbClr val="FF0000"/>
                </a:solidFill>
                <a:cs typeface="Consolas" panose="020B0609020204030204" pitchFamily="49" charset="0"/>
              </a:rPr>
              <a:t>sumr</a:t>
            </a:r>
            <a:r>
              <a:rPr lang="en-US" sz="3200" dirty="0">
                <a:cs typeface="Consolas" panose="020B0609020204030204" pitchFamily="49" charset="0"/>
              </a:rPr>
              <a:t>);</a:t>
            </a:r>
          </a:p>
          <a:p>
            <a:pPr marL="0" indent="0">
              <a:buNone/>
              <a:tabLst>
                <a:tab pos="538163" algn="l"/>
              </a:tabLst>
            </a:pPr>
            <a:r>
              <a:rPr lang="en-US" sz="3600" dirty="0"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8837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542741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Tính chiều cao của cây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981200" y="1475685"/>
            <a:ext cx="8534400" cy="5486400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400"/>
              </a:spcBef>
              <a:buNone/>
              <a:tabLst>
                <a:tab pos="463550" algn="l"/>
                <a:tab pos="914400" algn="l"/>
                <a:tab pos="1377950" algn="l"/>
              </a:tabLst>
            </a:pPr>
            <a:r>
              <a:rPr lang="en-US" sz="3600" dirty="0">
                <a:cs typeface="Consolas" panose="020B0609020204030204" pitchFamily="49" charset="0"/>
              </a:rPr>
              <a:t>int </a:t>
            </a:r>
            <a:r>
              <a:rPr lang="en-US" sz="3600" dirty="0">
                <a:solidFill>
                  <a:srgbClr val="0000FF"/>
                </a:solidFill>
                <a:cs typeface="Consolas" panose="020B0609020204030204" pitchFamily="49" charset="0"/>
              </a:rPr>
              <a:t>highBTree</a:t>
            </a:r>
            <a:r>
              <a:rPr lang="en-US" sz="3600" dirty="0">
                <a:cs typeface="Consolas" panose="020B0609020204030204" pitchFamily="49" charset="0"/>
              </a:rPr>
              <a:t>(TNode* root)</a:t>
            </a:r>
            <a:endParaRPr lang="en-US" sz="3200" dirty="0">
              <a:cs typeface="Consolas" panose="020B0609020204030204" pitchFamily="49" charset="0"/>
            </a:endParaRPr>
          </a:p>
          <a:p>
            <a:pPr marL="0" indent="0">
              <a:spcBef>
                <a:spcPts val="400"/>
              </a:spcBef>
              <a:buNone/>
              <a:tabLst>
                <a:tab pos="463550" algn="l"/>
                <a:tab pos="914400" algn="l"/>
                <a:tab pos="1377950" algn="l"/>
              </a:tabLst>
            </a:pPr>
            <a:r>
              <a:rPr lang="en-US" sz="3200" dirty="0">
                <a:cs typeface="Consolas" panose="020B0609020204030204" pitchFamily="49" charset="0"/>
              </a:rPr>
              <a:t>{	</a:t>
            </a:r>
          </a:p>
          <a:p>
            <a:pPr marL="0" indent="0">
              <a:spcBef>
                <a:spcPts val="400"/>
              </a:spcBef>
              <a:buNone/>
              <a:tabLst>
                <a:tab pos="463550" algn="l"/>
                <a:tab pos="914400" algn="l"/>
                <a:tab pos="1377950" algn="l"/>
              </a:tabLst>
            </a:pPr>
            <a:r>
              <a:rPr lang="en-US" sz="3200" dirty="0">
                <a:cs typeface="Consolas" panose="020B0609020204030204" pitchFamily="49" charset="0"/>
              </a:rPr>
              <a:t>	if(!root</a:t>
            </a:r>
            <a:r>
              <a:rPr lang="en-US" sz="3200">
                <a:cs typeface="Consolas" panose="020B0609020204030204" pitchFamily="49" charset="0"/>
              </a:rPr>
              <a:t>) </a:t>
            </a:r>
            <a:endParaRPr lang="en-US" sz="3200" smtClean="0">
              <a:cs typeface="Consolas" panose="020B0609020204030204" pitchFamily="49" charset="0"/>
            </a:endParaRPr>
          </a:p>
          <a:p>
            <a:pPr marL="0" indent="0">
              <a:spcBef>
                <a:spcPts val="400"/>
              </a:spcBef>
              <a:buNone/>
              <a:tabLst>
                <a:tab pos="463550" algn="l"/>
                <a:tab pos="914400" algn="l"/>
                <a:tab pos="1377950" algn="l"/>
              </a:tabLst>
            </a:pPr>
            <a:r>
              <a:rPr lang="en-US" sz="3200">
                <a:cs typeface="Consolas" panose="020B0609020204030204" pitchFamily="49" charset="0"/>
              </a:rPr>
              <a:t>	</a:t>
            </a:r>
            <a:r>
              <a:rPr lang="en-US" sz="3200" smtClean="0">
                <a:cs typeface="Consolas" panose="020B0609020204030204" pitchFamily="49" charset="0"/>
              </a:rPr>
              <a:t>	return </a:t>
            </a:r>
            <a:r>
              <a:rPr lang="en-US" sz="3200" dirty="0">
                <a:cs typeface="Consolas" panose="020B0609020204030204" pitchFamily="49" charset="0"/>
              </a:rPr>
              <a:t>0;</a:t>
            </a:r>
          </a:p>
          <a:p>
            <a:pPr marL="0" indent="0">
              <a:spcBef>
                <a:spcPts val="400"/>
              </a:spcBef>
              <a:buNone/>
              <a:tabLst>
                <a:tab pos="463550" algn="l"/>
                <a:tab pos="914400" algn="l"/>
                <a:tab pos="1377950" algn="l"/>
              </a:tabLst>
            </a:pPr>
            <a:r>
              <a:rPr lang="en-US" sz="3200" dirty="0">
                <a:cs typeface="Consolas" panose="020B0609020204030204" pitchFamily="49" charset="0"/>
              </a:rPr>
              <a:t>	int </a:t>
            </a:r>
            <a:r>
              <a:rPr lang="en-US" sz="3200" dirty="0">
                <a:solidFill>
                  <a:srgbClr val="FF0000"/>
                </a:solidFill>
                <a:cs typeface="Consolas" panose="020B0609020204030204" pitchFamily="49" charset="0"/>
              </a:rPr>
              <a:t>hl </a:t>
            </a:r>
            <a:r>
              <a:rPr lang="en-US" sz="3200" dirty="0">
                <a:cs typeface="Consolas" panose="020B0609020204030204" pitchFamily="49" charset="0"/>
              </a:rPr>
              <a:t>= </a:t>
            </a:r>
            <a:r>
              <a:rPr lang="en-US" sz="3200" i="1" dirty="0">
                <a:solidFill>
                  <a:srgbClr val="CC00CC"/>
                </a:solidFill>
                <a:cs typeface="Consolas" panose="020B0609020204030204" pitchFamily="49" charset="0"/>
              </a:rPr>
              <a:t>highBTree</a:t>
            </a:r>
            <a:r>
              <a:rPr lang="en-US" sz="3200" dirty="0">
                <a:cs typeface="Consolas" panose="020B0609020204030204" pitchFamily="49" charset="0"/>
              </a:rPr>
              <a:t>(root</a:t>
            </a:r>
            <a:r>
              <a:rPr lang="en-US" sz="3200" dirty="0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200" dirty="0">
                <a:cs typeface="Consolas" panose="020B0609020204030204" pitchFamily="49" charset="0"/>
              </a:rPr>
              <a:t>Left);</a:t>
            </a:r>
          </a:p>
          <a:p>
            <a:pPr marL="0" indent="0">
              <a:spcBef>
                <a:spcPts val="400"/>
              </a:spcBef>
              <a:buNone/>
              <a:tabLst>
                <a:tab pos="463550" algn="l"/>
                <a:tab pos="914400" algn="l"/>
                <a:tab pos="1377950" algn="l"/>
              </a:tabLst>
            </a:pPr>
            <a:r>
              <a:rPr lang="en-US" sz="3200" dirty="0">
                <a:cs typeface="Consolas" panose="020B0609020204030204" pitchFamily="49" charset="0"/>
              </a:rPr>
              <a:t>	int </a:t>
            </a:r>
            <a:r>
              <a:rPr lang="en-US" sz="3200" dirty="0">
                <a:solidFill>
                  <a:srgbClr val="C00000"/>
                </a:solidFill>
                <a:cs typeface="Consolas" panose="020B0609020204030204" pitchFamily="49" charset="0"/>
              </a:rPr>
              <a:t>hr</a:t>
            </a:r>
            <a:r>
              <a:rPr lang="en-US" sz="3200" dirty="0">
                <a:cs typeface="Consolas" panose="020B0609020204030204" pitchFamily="49" charset="0"/>
              </a:rPr>
              <a:t> = </a:t>
            </a:r>
            <a:r>
              <a:rPr lang="en-US" sz="3200" i="1" dirty="0">
                <a:solidFill>
                  <a:srgbClr val="CC00CC"/>
                </a:solidFill>
                <a:cs typeface="Consolas" panose="020B0609020204030204" pitchFamily="49" charset="0"/>
              </a:rPr>
              <a:t>highBTree</a:t>
            </a:r>
            <a:r>
              <a:rPr lang="en-US" sz="3200" dirty="0">
                <a:cs typeface="Consolas" panose="020B0609020204030204" pitchFamily="49" charset="0"/>
              </a:rPr>
              <a:t>(root</a:t>
            </a:r>
            <a:r>
              <a:rPr lang="en-US" sz="3200" dirty="0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200" dirty="0">
                <a:cs typeface="Consolas" panose="020B0609020204030204" pitchFamily="49" charset="0"/>
              </a:rPr>
              <a:t>Right);</a:t>
            </a:r>
          </a:p>
          <a:p>
            <a:pPr marL="0" indent="0">
              <a:spcBef>
                <a:spcPts val="400"/>
              </a:spcBef>
              <a:buNone/>
              <a:tabLst>
                <a:tab pos="463550" algn="l"/>
                <a:tab pos="914400" algn="l"/>
                <a:tab pos="1377950" algn="l"/>
              </a:tabLst>
            </a:pPr>
            <a:r>
              <a:rPr lang="en-US" sz="3200" dirty="0">
                <a:cs typeface="Consolas" panose="020B0609020204030204" pitchFamily="49" charset="0"/>
              </a:rPr>
              <a:t>	if(</a:t>
            </a:r>
            <a:r>
              <a:rPr lang="en-US" sz="3200" dirty="0">
                <a:solidFill>
                  <a:srgbClr val="FF0000"/>
                </a:solidFill>
                <a:cs typeface="Consolas" panose="020B0609020204030204" pitchFamily="49" charset="0"/>
              </a:rPr>
              <a:t>hl</a:t>
            </a:r>
            <a:r>
              <a:rPr lang="en-US" sz="3200" dirty="0">
                <a:cs typeface="Consolas" panose="020B0609020204030204" pitchFamily="49" charset="0"/>
              </a:rPr>
              <a:t> &gt; </a:t>
            </a:r>
            <a:r>
              <a:rPr lang="en-US" sz="3200" dirty="0">
                <a:solidFill>
                  <a:srgbClr val="C00000"/>
                </a:solidFill>
                <a:cs typeface="Consolas" panose="020B0609020204030204" pitchFamily="49" charset="0"/>
              </a:rPr>
              <a:t>hr</a:t>
            </a:r>
            <a:r>
              <a:rPr lang="en-US" sz="3200" dirty="0">
                <a:cs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400"/>
              </a:spcBef>
              <a:buNone/>
              <a:tabLst>
                <a:tab pos="463550" algn="l"/>
                <a:tab pos="914400" algn="l"/>
                <a:tab pos="1377950" algn="l"/>
              </a:tabLst>
            </a:pPr>
            <a:r>
              <a:rPr lang="en-US" sz="3200" dirty="0">
                <a:cs typeface="Consolas" panose="020B0609020204030204" pitchFamily="49" charset="0"/>
              </a:rPr>
              <a:t>		return (</a:t>
            </a:r>
            <a:r>
              <a:rPr lang="en-US" sz="3200" dirty="0">
                <a:solidFill>
                  <a:srgbClr val="0000FF"/>
                </a:solidFill>
                <a:cs typeface="Consolas" panose="020B0609020204030204" pitchFamily="49" charset="0"/>
              </a:rPr>
              <a:t>1</a:t>
            </a:r>
            <a:r>
              <a:rPr lang="en-US" sz="3200" dirty="0">
                <a:cs typeface="Consolas" panose="020B0609020204030204" pitchFamily="49" charset="0"/>
              </a:rPr>
              <a:t> + </a:t>
            </a:r>
            <a:r>
              <a:rPr lang="en-US" sz="3200" dirty="0">
                <a:solidFill>
                  <a:srgbClr val="FF0000"/>
                </a:solidFill>
                <a:cs typeface="Consolas" panose="020B0609020204030204" pitchFamily="49" charset="0"/>
              </a:rPr>
              <a:t>hl</a:t>
            </a:r>
            <a:r>
              <a:rPr lang="en-US" sz="3200" dirty="0">
                <a:cs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400"/>
              </a:spcBef>
              <a:buNone/>
              <a:tabLst>
                <a:tab pos="463550" algn="l"/>
                <a:tab pos="914400" algn="l"/>
                <a:tab pos="1377950" algn="l"/>
              </a:tabLst>
            </a:pPr>
            <a:r>
              <a:rPr lang="en-US" sz="3200" dirty="0">
                <a:cs typeface="Consolas" panose="020B0609020204030204" pitchFamily="49" charset="0"/>
              </a:rPr>
              <a:t>	else</a:t>
            </a:r>
          </a:p>
          <a:p>
            <a:pPr marL="0" indent="0">
              <a:spcBef>
                <a:spcPts val="400"/>
              </a:spcBef>
              <a:buNone/>
              <a:tabLst>
                <a:tab pos="463550" algn="l"/>
                <a:tab pos="914400" algn="l"/>
                <a:tab pos="1377950" algn="l"/>
              </a:tabLst>
            </a:pPr>
            <a:r>
              <a:rPr lang="en-US" sz="3200" dirty="0">
                <a:cs typeface="Consolas" panose="020B0609020204030204" pitchFamily="49" charset="0"/>
              </a:rPr>
              <a:t>		return (</a:t>
            </a:r>
            <a:r>
              <a:rPr lang="en-US" sz="3200" dirty="0">
                <a:solidFill>
                  <a:srgbClr val="0000FF"/>
                </a:solidFill>
                <a:cs typeface="Consolas" panose="020B0609020204030204" pitchFamily="49" charset="0"/>
              </a:rPr>
              <a:t>1</a:t>
            </a:r>
            <a:r>
              <a:rPr lang="en-US" sz="3200" dirty="0">
                <a:cs typeface="Consolas" panose="020B0609020204030204" pitchFamily="49" charset="0"/>
              </a:rPr>
              <a:t> + </a:t>
            </a:r>
            <a:r>
              <a:rPr lang="en-US" sz="3200" dirty="0" err="1">
                <a:solidFill>
                  <a:srgbClr val="C00000"/>
                </a:solidFill>
                <a:cs typeface="Consolas" panose="020B0609020204030204" pitchFamily="49" charset="0"/>
              </a:rPr>
              <a:t>hr</a:t>
            </a:r>
            <a:r>
              <a:rPr lang="en-US" sz="3200" dirty="0">
                <a:cs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400"/>
              </a:spcBef>
              <a:buNone/>
              <a:tabLst>
                <a:tab pos="463550" algn="l"/>
                <a:tab pos="914400" algn="l"/>
                <a:tab pos="1377950" algn="l"/>
              </a:tabLst>
            </a:pPr>
            <a:r>
              <a:rPr lang="en-US" sz="3200" dirty="0">
                <a:cs typeface="Consolas" panose="020B0609020204030204" pitchFamily="49" charset="0"/>
              </a:rPr>
              <a:t>}</a:t>
            </a:r>
            <a:endParaRPr lang="en-US" sz="3000" dirty="0">
              <a:cs typeface="Consolas" panose="020B06090202040302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6661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600493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Đếm số nút có giá trị bằng x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524000" y="1480689"/>
            <a:ext cx="9144000" cy="5181600"/>
          </a:xfrm>
        </p:spPr>
        <p:txBody>
          <a:bodyPr>
            <a:normAutofit lnSpcReduction="10000"/>
          </a:bodyPr>
          <a:lstStyle/>
          <a:p>
            <a:pPr marL="457200" indent="-45720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3200" dirty="0">
                <a:cs typeface="Consolas" panose="020B0609020204030204" pitchFamily="49" charset="0"/>
              </a:rPr>
              <a:t>int </a:t>
            </a:r>
            <a:r>
              <a:rPr lang="en-US" sz="3200" dirty="0">
                <a:solidFill>
                  <a:srgbClr val="0000FF"/>
                </a:solidFill>
                <a:cs typeface="Consolas" panose="020B0609020204030204" pitchFamily="49" charset="0"/>
              </a:rPr>
              <a:t>countTNodeX</a:t>
            </a:r>
            <a:r>
              <a:rPr lang="en-US" sz="3200" dirty="0">
                <a:cs typeface="Consolas" panose="020B0609020204030204" pitchFamily="49" charset="0"/>
              </a:rPr>
              <a:t>(TNode* root, int x)</a:t>
            </a:r>
          </a:p>
          <a:p>
            <a:pPr marL="457200" indent="-45720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3600" dirty="0">
                <a:cs typeface="Consolas" panose="020B0609020204030204" pitchFamily="49" charset="0"/>
              </a:rPr>
              <a:t>{	</a:t>
            </a:r>
          </a:p>
          <a:p>
            <a:pPr marL="457200" indent="-45720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3600" dirty="0">
                <a:cs typeface="Consolas" panose="020B0609020204030204" pitchFamily="49" charset="0"/>
              </a:rPr>
              <a:t>	</a:t>
            </a:r>
            <a:r>
              <a:rPr lang="en-US" sz="3200" dirty="0">
                <a:cs typeface="Consolas" panose="020B0609020204030204" pitchFamily="49" charset="0"/>
              </a:rPr>
              <a:t>if(!root</a:t>
            </a:r>
            <a:r>
              <a:rPr lang="en-US" sz="3200">
                <a:cs typeface="Consolas" panose="020B0609020204030204" pitchFamily="49" charset="0"/>
              </a:rPr>
              <a:t>)  </a:t>
            </a:r>
            <a:endParaRPr lang="en-US" sz="3200" smtClean="0">
              <a:cs typeface="Consolas" panose="020B0609020204030204" pitchFamily="49" charset="0"/>
            </a:endParaRPr>
          </a:p>
          <a:p>
            <a:pPr marL="457200" indent="-45720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3200">
                <a:cs typeface="Consolas" panose="020B0609020204030204" pitchFamily="49" charset="0"/>
              </a:rPr>
              <a:t> </a:t>
            </a:r>
            <a:r>
              <a:rPr lang="en-US" sz="3200" smtClean="0">
                <a:cs typeface="Consolas" panose="020B0609020204030204" pitchFamily="49" charset="0"/>
              </a:rPr>
              <a:t>       return </a:t>
            </a:r>
            <a:r>
              <a:rPr lang="en-US" sz="3200" dirty="0">
                <a:cs typeface="Consolas" panose="020B0609020204030204" pitchFamily="49" charset="0"/>
              </a:rPr>
              <a:t>0;</a:t>
            </a:r>
          </a:p>
          <a:p>
            <a:pPr marL="457200" indent="-45720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3200" dirty="0">
                <a:cs typeface="Consolas" panose="020B0609020204030204" pitchFamily="49" charset="0"/>
              </a:rPr>
              <a:t>	int </a:t>
            </a:r>
            <a:r>
              <a:rPr lang="en-US" sz="3200" dirty="0">
                <a:solidFill>
                  <a:srgbClr val="C00000"/>
                </a:solidFill>
                <a:cs typeface="Consolas" panose="020B0609020204030204" pitchFamily="49" charset="0"/>
              </a:rPr>
              <a:t>nlx </a:t>
            </a:r>
            <a:r>
              <a:rPr lang="en-US" sz="3200" dirty="0">
                <a:cs typeface="Consolas" panose="020B0609020204030204" pitchFamily="49" charset="0"/>
              </a:rPr>
              <a:t>= </a:t>
            </a:r>
            <a:r>
              <a:rPr lang="en-US" sz="3200" i="1" dirty="0">
                <a:solidFill>
                  <a:srgbClr val="CC00CC"/>
                </a:solidFill>
                <a:cs typeface="Consolas" panose="020B0609020204030204" pitchFamily="49" charset="0"/>
              </a:rPr>
              <a:t>countTNodeX(</a:t>
            </a:r>
            <a:r>
              <a:rPr lang="en-US" sz="3200" dirty="0">
                <a:cs typeface="Consolas" panose="020B0609020204030204" pitchFamily="49" charset="0"/>
              </a:rPr>
              <a:t>root</a:t>
            </a:r>
            <a:r>
              <a:rPr lang="en-US" sz="3200" dirty="0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200" dirty="0">
                <a:cs typeface="Consolas" panose="020B0609020204030204" pitchFamily="49" charset="0"/>
              </a:rPr>
              <a:t>Left, x);</a:t>
            </a:r>
          </a:p>
          <a:p>
            <a:pPr marL="457200" indent="-45720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3200" dirty="0">
                <a:cs typeface="Consolas" panose="020B0609020204030204" pitchFamily="49" charset="0"/>
              </a:rPr>
              <a:t>	int </a:t>
            </a:r>
            <a:r>
              <a:rPr lang="en-US" sz="3200" dirty="0">
                <a:solidFill>
                  <a:srgbClr val="FF0000"/>
                </a:solidFill>
                <a:cs typeface="Consolas" panose="020B0609020204030204" pitchFamily="49" charset="0"/>
              </a:rPr>
              <a:t>nrx </a:t>
            </a:r>
            <a:r>
              <a:rPr lang="en-US" sz="3200" dirty="0">
                <a:cs typeface="Consolas" panose="020B0609020204030204" pitchFamily="49" charset="0"/>
              </a:rPr>
              <a:t>= </a:t>
            </a:r>
            <a:r>
              <a:rPr lang="en-US" sz="3200" i="1" dirty="0">
                <a:solidFill>
                  <a:srgbClr val="CC00CC"/>
                </a:solidFill>
                <a:cs typeface="Consolas" panose="020B0609020204030204" pitchFamily="49" charset="0"/>
              </a:rPr>
              <a:t>countTNodeX</a:t>
            </a:r>
            <a:r>
              <a:rPr lang="en-US" sz="3200" dirty="0">
                <a:cs typeface="Consolas" panose="020B0609020204030204" pitchFamily="49" charset="0"/>
              </a:rPr>
              <a:t>(root</a:t>
            </a:r>
            <a:r>
              <a:rPr lang="en-US" sz="3200" dirty="0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200" dirty="0">
                <a:cs typeface="Consolas" panose="020B0609020204030204" pitchFamily="49" charset="0"/>
              </a:rPr>
              <a:t>Right, x);</a:t>
            </a:r>
          </a:p>
          <a:p>
            <a:pPr marL="457200" indent="-45720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3200" dirty="0">
                <a:cs typeface="Consolas" panose="020B0609020204030204" pitchFamily="49" charset="0"/>
              </a:rPr>
              <a:t>	if(</a:t>
            </a:r>
            <a:r>
              <a:rPr lang="en-US" sz="3200" dirty="0" err="1">
                <a:cs typeface="Consolas" panose="020B0609020204030204" pitchFamily="49" charset="0"/>
              </a:rPr>
              <a:t>root</a:t>
            </a:r>
            <a:r>
              <a:rPr lang="en-US" sz="3200" dirty="0" err="1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200" dirty="0" err="1">
                <a:cs typeface="Consolas" panose="020B0609020204030204" pitchFamily="49" charset="0"/>
              </a:rPr>
              <a:t>Info</a:t>
            </a:r>
            <a:r>
              <a:rPr lang="en-US" sz="3200" dirty="0">
                <a:cs typeface="Consolas" panose="020B0609020204030204" pitchFamily="49" charset="0"/>
              </a:rPr>
              <a:t> == x)</a:t>
            </a:r>
          </a:p>
          <a:p>
            <a:pPr marL="457200" indent="-45720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3200" dirty="0">
                <a:cs typeface="Consolas" panose="020B0609020204030204" pitchFamily="49" charset="0"/>
              </a:rPr>
              <a:t>		 return (</a:t>
            </a:r>
            <a:r>
              <a:rPr lang="en-US" sz="3200" dirty="0">
                <a:solidFill>
                  <a:srgbClr val="0000FF"/>
                </a:solidFill>
                <a:cs typeface="Consolas" panose="020B0609020204030204" pitchFamily="49" charset="0"/>
              </a:rPr>
              <a:t>1</a:t>
            </a:r>
            <a:r>
              <a:rPr lang="en-US" sz="3200" dirty="0">
                <a:cs typeface="Consolas" panose="020B0609020204030204" pitchFamily="49" charset="0"/>
              </a:rPr>
              <a:t> + </a:t>
            </a:r>
            <a:r>
              <a:rPr lang="en-US" sz="3200" dirty="0" err="1">
                <a:solidFill>
                  <a:srgbClr val="C00000"/>
                </a:solidFill>
                <a:cs typeface="Consolas" panose="020B0609020204030204" pitchFamily="49" charset="0"/>
              </a:rPr>
              <a:t>nlx</a:t>
            </a:r>
            <a:r>
              <a:rPr lang="en-US" sz="3200" dirty="0">
                <a:cs typeface="Consolas" panose="020B0609020204030204" pitchFamily="49" charset="0"/>
              </a:rPr>
              <a:t> + </a:t>
            </a:r>
            <a:r>
              <a:rPr lang="en-US" sz="3200" dirty="0" err="1">
                <a:solidFill>
                  <a:srgbClr val="FF0000"/>
                </a:solidFill>
                <a:cs typeface="Consolas" panose="020B0609020204030204" pitchFamily="49" charset="0"/>
              </a:rPr>
              <a:t>nrx</a:t>
            </a:r>
            <a:r>
              <a:rPr lang="en-US" sz="3200" dirty="0">
                <a:cs typeface="Consolas" panose="020B0609020204030204" pitchFamily="49" charset="0"/>
              </a:rPr>
              <a:t>);</a:t>
            </a:r>
          </a:p>
          <a:p>
            <a:pPr marL="457200" indent="-45720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3200" dirty="0">
                <a:cs typeface="Consolas" panose="020B0609020204030204" pitchFamily="49" charset="0"/>
              </a:rPr>
              <a:t> 	return (</a:t>
            </a:r>
            <a:r>
              <a:rPr lang="en-US" sz="3200" dirty="0" err="1">
                <a:solidFill>
                  <a:srgbClr val="C00000"/>
                </a:solidFill>
                <a:cs typeface="Consolas" panose="020B0609020204030204" pitchFamily="49" charset="0"/>
              </a:rPr>
              <a:t>nlx</a:t>
            </a:r>
            <a:r>
              <a:rPr lang="en-US" sz="3200" dirty="0">
                <a:cs typeface="Consolas" panose="020B0609020204030204" pitchFamily="49" charset="0"/>
              </a:rPr>
              <a:t> + </a:t>
            </a:r>
            <a:r>
              <a:rPr lang="en-US" sz="3200" dirty="0" err="1">
                <a:solidFill>
                  <a:srgbClr val="FF0000"/>
                </a:solidFill>
                <a:cs typeface="Consolas" panose="020B0609020204030204" pitchFamily="49" charset="0"/>
              </a:rPr>
              <a:t>nrx</a:t>
            </a:r>
            <a:r>
              <a:rPr lang="en-US" sz="3200" dirty="0">
                <a:cs typeface="Consolas" panose="020B0609020204030204" pitchFamily="49" charset="0"/>
              </a:rPr>
              <a:t>);</a:t>
            </a:r>
          </a:p>
          <a:p>
            <a:pPr marL="457200" indent="-45720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3600" dirty="0">
                <a:cs typeface="Consolas" panose="020B0609020204030204" pitchFamily="49" charset="0"/>
              </a:rPr>
              <a:t>}</a:t>
            </a:r>
            <a:endParaRPr lang="en-US" sz="3200" dirty="0">
              <a:cs typeface="Consolas" panose="020B06090202040302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0250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 idx="4294967295"/>
          </p:nvPr>
        </p:nvSpPr>
        <p:spPr>
          <a:xfrm>
            <a:off x="863600" y="552363"/>
            <a:ext cx="10541000" cy="72186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>
                <a:solidFill>
                  <a:srgbClr val="FF0000"/>
                </a:solidFill>
              </a:rPr>
              <a:t>Cách</a:t>
            </a:r>
            <a:r>
              <a:rPr lang="en-US" smtClean="0"/>
              <a:t> </a:t>
            </a:r>
            <a:r>
              <a:rPr lang="en-US" smtClean="0">
                <a:solidFill>
                  <a:srgbClr val="FF0000"/>
                </a:solidFill>
              </a:rPr>
              <a:t>1</a:t>
            </a:r>
            <a:r>
              <a:rPr lang="en-US" smtClean="0"/>
              <a:t>: Tìm giá trị lớn nhất trên cây nhị phân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4294967295"/>
          </p:nvPr>
        </p:nvSpPr>
        <p:spPr>
          <a:xfrm>
            <a:off x="1676400" y="1188183"/>
            <a:ext cx="8991600" cy="5588000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lnSpc>
                <a:spcPct val="130000"/>
              </a:lnSpc>
              <a:spcBef>
                <a:spcPct val="0"/>
              </a:spcBef>
              <a:buNone/>
            </a:pPr>
            <a:r>
              <a:rPr lang="en-US" sz="3200" dirty="0">
                <a:cs typeface="Consolas" panose="020B0609020204030204" pitchFamily="49" charset="0"/>
              </a:rPr>
              <a:t>int </a:t>
            </a:r>
            <a:r>
              <a:rPr lang="en-US" sz="3200" dirty="0">
                <a:solidFill>
                  <a:srgbClr val="0000FF"/>
                </a:solidFill>
                <a:cs typeface="Consolas" panose="020B0609020204030204" pitchFamily="49" charset="0"/>
              </a:rPr>
              <a:t>Max</a:t>
            </a:r>
            <a:r>
              <a:rPr lang="en-US" sz="3200" dirty="0">
                <a:cs typeface="Consolas" panose="020B0609020204030204" pitchFamily="49" charset="0"/>
              </a:rPr>
              <a:t>(int a, int b) {	</a:t>
            </a:r>
            <a:r>
              <a:rPr lang="en-US" sz="3200" dirty="0">
                <a:solidFill>
                  <a:srgbClr val="0000FF"/>
                </a:solidFill>
                <a:cs typeface="Consolas" panose="020B0609020204030204" pitchFamily="49" charset="0"/>
              </a:rPr>
              <a:t>return</a:t>
            </a:r>
            <a:r>
              <a:rPr lang="en-US" sz="3200" dirty="0">
                <a:cs typeface="Consolas" panose="020B0609020204030204" pitchFamily="49" charset="0"/>
              </a:rPr>
              <a:t> (a&gt;b) ? a : b;</a:t>
            </a:r>
            <a:r>
              <a:rPr lang="en-US" b="0" dirty="0" smtClean="0">
                <a:cs typeface="Consolas" panose="020B0609020204030204" pitchFamily="49" charset="0"/>
              </a:rPr>
              <a:t> </a:t>
            </a:r>
            <a:r>
              <a:rPr lang="en-US" sz="3200" dirty="0">
                <a:cs typeface="Consolas" panose="020B0609020204030204" pitchFamily="49" charset="0"/>
              </a:rPr>
              <a:t>}</a:t>
            </a:r>
          </a:p>
          <a:p>
            <a:pPr marL="457200" indent="-457200">
              <a:lnSpc>
                <a:spcPct val="130000"/>
              </a:lnSpc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int </a:t>
            </a:r>
            <a:r>
              <a:rPr lang="en-US" sz="3600" dirty="0">
                <a:solidFill>
                  <a:srgbClr val="0000FF"/>
                </a:solidFill>
                <a:cs typeface="Consolas" panose="020B0609020204030204" pitchFamily="49" charset="0"/>
              </a:rPr>
              <a:t>maxTNode</a:t>
            </a:r>
            <a:r>
              <a:rPr lang="en-US" sz="3600" dirty="0">
                <a:cs typeface="Consolas" panose="020B0609020204030204" pitchFamily="49" charset="0"/>
              </a:rPr>
              <a:t>(TNode* root)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600" dirty="0">
                <a:solidFill>
                  <a:srgbClr val="CC0000"/>
                </a:solidFill>
                <a:cs typeface="Consolas" panose="020B0609020204030204" pitchFamily="49" charset="0"/>
              </a:rPr>
              <a:t>{</a:t>
            </a:r>
            <a:r>
              <a:rPr lang="en-US" b="0" smtClean="0">
                <a:cs typeface="Consolas" panose="020B0609020204030204" pitchFamily="49" charset="0"/>
              </a:rPr>
              <a:t>	</a:t>
            </a:r>
          </a:p>
          <a:p>
            <a:pPr marL="457200" indent="-45720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mtClean="0">
                <a:cs typeface="Consolas" panose="020B0609020204030204" pitchFamily="49" charset="0"/>
              </a:rPr>
              <a:t>	i</a:t>
            </a:r>
            <a:r>
              <a:rPr lang="en-US" sz="3100" smtClean="0">
                <a:cs typeface="Consolas" panose="020B0609020204030204" pitchFamily="49" charset="0"/>
              </a:rPr>
              <a:t>f</a:t>
            </a:r>
            <a:r>
              <a:rPr lang="en-US" sz="3100">
                <a:cs typeface="Consolas" panose="020B0609020204030204" pitchFamily="49" charset="0"/>
              </a:rPr>
              <a:t>(!root)  </a:t>
            </a:r>
          </a:p>
          <a:p>
            <a:pPr marL="457200" indent="-45720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3100">
                <a:cs typeface="Consolas" panose="020B0609020204030204" pitchFamily="49" charset="0"/>
              </a:rPr>
              <a:t>        return 0;</a:t>
            </a:r>
            <a:endParaRPr lang="en-US" sz="3100" dirty="0">
              <a:cs typeface="Consolas" panose="020B0609020204030204" pitchFamily="49" charset="0"/>
            </a:endParaRP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b="0" dirty="0">
                <a:cs typeface="Consolas" panose="020B0609020204030204" pitchFamily="49" charset="0"/>
              </a:rPr>
              <a:t>	</a:t>
            </a:r>
            <a:r>
              <a:rPr lang="en-US" sz="3000" dirty="0">
                <a:cs typeface="Consolas" panose="020B0609020204030204" pitchFamily="49" charset="0"/>
              </a:rPr>
              <a:t>if(!</a:t>
            </a:r>
            <a:r>
              <a:rPr lang="en-US" sz="3000" dirty="0" err="1">
                <a:cs typeface="Consolas" panose="020B0609020204030204" pitchFamily="49" charset="0"/>
              </a:rPr>
              <a:t>root</a:t>
            </a:r>
            <a:r>
              <a:rPr lang="en-US" sz="3000" dirty="0" err="1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000" dirty="0" err="1">
                <a:cs typeface="Consolas" panose="020B0609020204030204" pitchFamily="49" charset="0"/>
              </a:rPr>
              <a:t>Left</a:t>
            </a:r>
            <a:r>
              <a:rPr lang="en-US" sz="3000" dirty="0">
                <a:cs typeface="Consolas" panose="020B0609020204030204" pitchFamily="49" charset="0"/>
              </a:rPr>
              <a:t> &amp;&amp; !</a:t>
            </a:r>
            <a:r>
              <a:rPr lang="en-US" sz="3000" dirty="0" err="1">
                <a:cs typeface="Consolas" panose="020B0609020204030204" pitchFamily="49" charset="0"/>
              </a:rPr>
              <a:t>root</a:t>
            </a:r>
            <a:r>
              <a:rPr lang="en-US" sz="3000" dirty="0" err="1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000" dirty="0" err="1">
                <a:cs typeface="Consolas" panose="020B0609020204030204" pitchFamily="49" charset="0"/>
              </a:rPr>
              <a:t>Right</a:t>
            </a:r>
            <a:r>
              <a:rPr lang="en-US" sz="3000" dirty="0">
                <a:cs typeface="Consolas" panose="020B0609020204030204" pitchFamily="49" charset="0"/>
              </a:rPr>
              <a:t>)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 dirty="0">
                <a:cs typeface="Consolas" panose="020B0609020204030204" pitchFamily="49" charset="0"/>
              </a:rPr>
              <a:t>		return (</a:t>
            </a:r>
            <a:r>
              <a:rPr lang="en-US" sz="3000" dirty="0" err="1">
                <a:cs typeface="Consolas" panose="020B0609020204030204" pitchFamily="49" charset="0"/>
              </a:rPr>
              <a:t>root</a:t>
            </a:r>
            <a:r>
              <a:rPr lang="en-US" sz="3000" dirty="0" err="1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000" dirty="0" err="1">
                <a:cs typeface="Consolas" panose="020B0609020204030204" pitchFamily="49" charset="0"/>
              </a:rPr>
              <a:t>Info</a:t>
            </a:r>
            <a:r>
              <a:rPr lang="en-US" sz="3000" dirty="0">
                <a:cs typeface="Consolas" panose="020B0609020204030204" pitchFamily="49" charset="0"/>
              </a:rPr>
              <a:t>);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 dirty="0">
                <a:cs typeface="Consolas" panose="020B0609020204030204" pitchFamily="49" charset="0"/>
              </a:rPr>
              <a:t>	int </a:t>
            </a:r>
            <a:r>
              <a:rPr lang="en-US" sz="3000" dirty="0">
                <a:solidFill>
                  <a:srgbClr val="C00000"/>
                </a:solidFill>
                <a:cs typeface="Consolas" panose="020B0609020204030204" pitchFamily="49" charset="0"/>
              </a:rPr>
              <a:t>maxl</a:t>
            </a:r>
            <a:r>
              <a:rPr lang="en-US" sz="3000" dirty="0">
                <a:cs typeface="Consolas" panose="020B0609020204030204" pitchFamily="49" charset="0"/>
              </a:rPr>
              <a:t> = </a:t>
            </a:r>
            <a:r>
              <a:rPr lang="en-US" sz="3000" dirty="0">
                <a:solidFill>
                  <a:srgbClr val="CC00CC"/>
                </a:solidFill>
                <a:cs typeface="Consolas" panose="020B0609020204030204" pitchFamily="49" charset="0"/>
              </a:rPr>
              <a:t>maxTNode</a:t>
            </a:r>
            <a:r>
              <a:rPr lang="en-US" sz="3000" dirty="0">
                <a:cs typeface="Consolas" panose="020B0609020204030204" pitchFamily="49" charset="0"/>
              </a:rPr>
              <a:t>(root</a:t>
            </a:r>
            <a:r>
              <a:rPr lang="en-US" sz="3000" dirty="0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000" dirty="0">
                <a:cs typeface="Consolas" panose="020B0609020204030204" pitchFamily="49" charset="0"/>
              </a:rPr>
              <a:t>Left);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 dirty="0">
                <a:cs typeface="Consolas" panose="020B0609020204030204" pitchFamily="49" charset="0"/>
              </a:rPr>
              <a:t>	int </a:t>
            </a:r>
            <a:r>
              <a:rPr lang="en-US" sz="3000" dirty="0">
                <a:solidFill>
                  <a:srgbClr val="FF0000"/>
                </a:solidFill>
                <a:cs typeface="Consolas" panose="020B0609020204030204" pitchFamily="49" charset="0"/>
              </a:rPr>
              <a:t>maxr</a:t>
            </a:r>
            <a:r>
              <a:rPr lang="en-US" sz="3000" dirty="0">
                <a:cs typeface="Consolas" panose="020B0609020204030204" pitchFamily="49" charset="0"/>
              </a:rPr>
              <a:t> = </a:t>
            </a:r>
            <a:r>
              <a:rPr lang="en-US" sz="3000" dirty="0">
                <a:solidFill>
                  <a:srgbClr val="CC00CC"/>
                </a:solidFill>
                <a:cs typeface="Consolas" panose="020B0609020204030204" pitchFamily="49" charset="0"/>
              </a:rPr>
              <a:t>maxTNode</a:t>
            </a:r>
            <a:r>
              <a:rPr lang="en-US" sz="3000" dirty="0">
                <a:cs typeface="Consolas" panose="020B0609020204030204" pitchFamily="49" charset="0"/>
              </a:rPr>
              <a:t>(root</a:t>
            </a:r>
            <a:r>
              <a:rPr lang="en-US" sz="3000" dirty="0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000" dirty="0">
                <a:cs typeface="Consolas" panose="020B0609020204030204" pitchFamily="49" charset="0"/>
              </a:rPr>
              <a:t>Right);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 dirty="0">
                <a:cs typeface="Consolas" panose="020B0609020204030204" pitchFamily="49" charset="0"/>
              </a:rPr>
              <a:t>	return  </a:t>
            </a:r>
            <a:r>
              <a:rPr lang="en-US" sz="3000" dirty="0">
                <a:solidFill>
                  <a:srgbClr val="0000FF"/>
                </a:solidFill>
                <a:cs typeface="Consolas" panose="020B0609020204030204" pitchFamily="49" charset="0"/>
              </a:rPr>
              <a:t>Max</a:t>
            </a:r>
            <a:r>
              <a:rPr lang="en-US" sz="3000" dirty="0">
                <a:cs typeface="Consolas" panose="020B0609020204030204" pitchFamily="49" charset="0"/>
              </a:rPr>
              <a:t>(</a:t>
            </a:r>
            <a:r>
              <a:rPr lang="en-US" sz="3000" dirty="0" err="1">
                <a:solidFill>
                  <a:srgbClr val="00B0F0"/>
                </a:solidFill>
                <a:cs typeface="Consolas" panose="020B0609020204030204" pitchFamily="49" charset="0"/>
              </a:rPr>
              <a:t>root</a:t>
            </a:r>
            <a:r>
              <a:rPr lang="en-US" sz="3000" dirty="0" err="1">
                <a:solidFill>
                  <a:srgbClr val="00B0F0"/>
                </a:solidFill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000" dirty="0" err="1">
                <a:solidFill>
                  <a:srgbClr val="00B0F0"/>
                </a:solidFill>
                <a:cs typeface="Consolas" panose="020B0609020204030204" pitchFamily="49" charset="0"/>
              </a:rPr>
              <a:t>Info</a:t>
            </a:r>
            <a:r>
              <a:rPr lang="en-US" sz="3000" dirty="0">
                <a:cs typeface="Consolas" panose="020B0609020204030204" pitchFamily="49" charset="0"/>
              </a:rPr>
              <a:t>, </a:t>
            </a:r>
            <a:r>
              <a:rPr lang="en-US" sz="3000" dirty="0">
                <a:solidFill>
                  <a:srgbClr val="0000FF"/>
                </a:solidFill>
                <a:cs typeface="Consolas" panose="020B0609020204030204" pitchFamily="49" charset="0"/>
              </a:rPr>
              <a:t>Max</a:t>
            </a:r>
            <a:r>
              <a:rPr lang="en-US" sz="3000" dirty="0">
                <a:cs typeface="Consolas" panose="020B0609020204030204" pitchFamily="49" charset="0"/>
              </a:rPr>
              <a:t>(</a:t>
            </a:r>
            <a:r>
              <a:rPr lang="en-US" sz="3000" dirty="0" err="1">
                <a:solidFill>
                  <a:srgbClr val="C00000"/>
                </a:solidFill>
                <a:cs typeface="Consolas" panose="020B0609020204030204" pitchFamily="49" charset="0"/>
              </a:rPr>
              <a:t>maxl</a:t>
            </a:r>
            <a:r>
              <a:rPr lang="en-US" sz="3000" dirty="0">
                <a:cs typeface="Consolas" panose="020B0609020204030204" pitchFamily="49" charset="0"/>
              </a:rPr>
              <a:t>, </a:t>
            </a:r>
            <a:r>
              <a:rPr lang="en-US" sz="3000" dirty="0" err="1">
                <a:solidFill>
                  <a:srgbClr val="FF0000"/>
                </a:solidFill>
                <a:cs typeface="Consolas" panose="020B0609020204030204" pitchFamily="49" charset="0"/>
              </a:rPr>
              <a:t>maxr</a:t>
            </a:r>
            <a:r>
              <a:rPr lang="en-US" sz="3000" dirty="0">
                <a:cs typeface="Consolas" panose="020B0609020204030204" pitchFamily="49" charset="0"/>
              </a:rPr>
              <a:t>));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600" dirty="0">
                <a:solidFill>
                  <a:srgbClr val="CC0000"/>
                </a:solidFill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0524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 idx="4294967295"/>
          </p:nvPr>
        </p:nvSpPr>
        <p:spPr>
          <a:xfrm>
            <a:off x="1097280" y="538054"/>
            <a:ext cx="10058400" cy="75987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>
                <a:solidFill>
                  <a:srgbClr val="FF0000"/>
                </a:solidFill>
              </a:rPr>
              <a:t>Cách</a:t>
            </a:r>
            <a:r>
              <a:rPr lang="en-US" smtClean="0"/>
              <a:t> </a:t>
            </a:r>
            <a:r>
              <a:rPr lang="en-US" smtClean="0">
                <a:solidFill>
                  <a:srgbClr val="FF0000"/>
                </a:solidFill>
              </a:rPr>
              <a:t>2</a:t>
            </a:r>
            <a:r>
              <a:rPr lang="en-US" smtClean="0"/>
              <a:t>: Tìm giá trị lớn nhất trên cây nhị phân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4294967295"/>
          </p:nvPr>
        </p:nvSpPr>
        <p:spPr>
          <a:xfrm>
            <a:off x="1676400" y="1272679"/>
            <a:ext cx="8991600" cy="5588000"/>
          </a:xfrm>
        </p:spPr>
        <p:txBody>
          <a:bodyPr>
            <a:normAutofit fontScale="70000" lnSpcReduction="20000"/>
          </a:bodyPr>
          <a:lstStyle/>
          <a:p>
            <a:pPr marL="457200" indent="-457200">
              <a:spcBef>
                <a:spcPct val="0"/>
              </a:spcBef>
              <a:buNone/>
            </a:pPr>
            <a:r>
              <a:rPr lang="en-US" sz="3600" dirty="0">
                <a:cs typeface="Consolas" panose="020B0609020204030204" pitchFamily="49" charset="0"/>
              </a:rPr>
              <a:t>int </a:t>
            </a:r>
            <a:r>
              <a:rPr lang="en-US" sz="3600" dirty="0">
                <a:solidFill>
                  <a:srgbClr val="0000FF"/>
                </a:solidFill>
                <a:cs typeface="Consolas" panose="020B0609020204030204" pitchFamily="49" charset="0"/>
              </a:rPr>
              <a:t>maxTNode</a:t>
            </a:r>
            <a:r>
              <a:rPr lang="en-US" sz="3600" dirty="0">
                <a:cs typeface="Consolas" panose="020B0609020204030204" pitchFamily="49" charset="0"/>
              </a:rPr>
              <a:t>(TNode* root</a:t>
            </a:r>
            <a:r>
              <a:rPr lang="en-US" sz="3600">
                <a:cs typeface="Consolas" panose="020B0609020204030204" pitchFamily="49" charset="0"/>
              </a:rPr>
              <a:t>) </a:t>
            </a:r>
            <a:endParaRPr lang="en-US" sz="3600" smtClean="0">
              <a:cs typeface="Consolas" panose="020B0609020204030204" pitchFamily="49" charset="0"/>
            </a:endParaRPr>
          </a:p>
          <a:p>
            <a:pPr marL="457200" indent="-457200">
              <a:spcBef>
                <a:spcPct val="0"/>
              </a:spcBef>
              <a:buNone/>
            </a:pPr>
            <a:r>
              <a:rPr lang="en-US" sz="3600" smtClean="0">
                <a:solidFill>
                  <a:srgbClr val="CC0000"/>
                </a:solidFill>
                <a:cs typeface="Consolas" panose="020B0609020204030204" pitchFamily="49" charset="0"/>
              </a:rPr>
              <a:t>{</a:t>
            </a:r>
            <a:r>
              <a:rPr lang="en-US" b="0" smtClean="0">
                <a:cs typeface="Consolas" panose="020B0609020204030204" pitchFamily="49" charset="0"/>
              </a:rPr>
              <a:t>	</a:t>
            </a:r>
          </a:p>
          <a:p>
            <a:r>
              <a:rPr lang="en-US" sz="3000" smtClean="0">
                <a:cs typeface="Consolas" panose="020B0609020204030204" pitchFamily="49" charset="0"/>
              </a:rPr>
              <a:t>    if(root</a:t>
            </a:r>
            <a:r>
              <a:rPr lang="en-US" sz="3000">
                <a:cs typeface="Consolas" panose="020B0609020204030204" pitchFamily="49" charset="0"/>
              </a:rPr>
              <a:t>==NULL)</a:t>
            </a:r>
          </a:p>
          <a:p>
            <a:r>
              <a:rPr lang="en-US" sz="3000" smtClean="0">
                <a:cs typeface="Consolas" panose="020B0609020204030204" pitchFamily="49" charset="0"/>
              </a:rPr>
              <a:t>          return </a:t>
            </a:r>
            <a:r>
              <a:rPr lang="en-US" sz="3000">
                <a:cs typeface="Consolas" panose="020B0609020204030204" pitchFamily="49" charset="0"/>
              </a:rPr>
              <a:t>0;</a:t>
            </a:r>
            <a:endParaRPr lang="en-US" sz="3000" dirty="0">
              <a:cs typeface="Consolas" panose="020B0609020204030204" pitchFamily="49" charset="0"/>
            </a:endParaRP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b="0" dirty="0">
                <a:cs typeface="Consolas" panose="020B0609020204030204" pitchFamily="49" charset="0"/>
              </a:rPr>
              <a:t>	</a:t>
            </a:r>
            <a:r>
              <a:rPr lang="en-US" sz="3000" dirty="0">
                <a:cs typeface="Consolas" panose="020B0609020204030204" pitchFamily="49" charset="0"/>
              </a:rPr>
              <a:t>if(!</a:t>
            </a:r>
            <a:r>
              <a:rPr lang="en-US" sz="3000" dirty="0" err="1">
                <a:cs typeface="Consolas" panose="020B0609020204030204" pitchFamily="49" charset="0"/>
              </a:rPr>
              <a:t>root</a:t>
            </a:r>
            <a:r>
              <a:rPr lang="en-US" sz="3000" dirty="0" err="1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000" dirty="0" err="1">
                <a:cs typeface="Consolas" panose="020B0609020204030204" pitchFamily="49" charset="0"/>
              </a:rPr>
              <a:t>Left</a:t>
            </a:r>
            <a:r>
              <a:rPr lang="en-US" sz="3000" dirty="0">
                <a:cs typeface="Consolas" panose="020B0609020204030204" pitchFamily="49" charset="0"/>
              </a:rPr>
              <a:t> &amp;&amp; !</a:t>
            </a:r>
            <a:r>
              <a:rPr lang="en-US" sz="3000" dirty="0" err="1">
                <a:cs typeface="Consolas" panose="020B0609020204030204" pitchFamily="49" charset="0"/>
              </a:rPr>
              <a:t>root</a:t>
            </a:r>
            <a:r>
              <a:rPr lang="en-US" sz="3000" dirty="0" err="1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000" dirty="0" err="1">
                <a:cs typeface="Consolas" panose="020B0609020204030204" pitchFamily="49" charset="0"/>
              </a:rPr>
              <a:t>Right</a:t>
            </a:r>
            <a:r>
              <a:rPr lang="en-US" sz="3000" dirty="0">
                <a:cs typeface="Consolas" panose="020B0609020204030204" pitchFamily="49" charset="0"/>
              </a:rPr>
              <a:t>)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 dirty="0">
                <a:cs typeface="Consolas" panose="020B0609020204030204" pitchFamily="49" charset="0"/>
              </a:rPr>
              <a:t>		return (</a:t>
            </a:r>
            <a:r>
              <a:rPr lang="en-US" sz="3000" dirty="0" err="1">
                <a:solidFill>
                  <a:srgbClr val="00B0F0"/>
                </a:solidFill>
                <a:cs typeface="Consolas" panose="020B0609020204030204" pitchFamily="49" charset="0"/>
              </a:rPr>
              <a:t>root</a:t>
            </a:r>
            <a:r>
              <a:rPr lang="en-US" sz="3000" dirty="0" err="1">
                <a:solidFill>
                  <a:srgbClr val="00B0F0"/>
                </a:solidFill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000" dirty="0" err="1">
                <a:solidFill>
                  <a:srgbClr val="00B0F0"/>
                </a:solidFill>
                <a:cs typeface="Consolas" panose="020B0609020204030204" pitchFamily="49" charset="0"/>
              </a:rPr>
              <a:t>Info</a:t>
            </a:r>
            <a:r>
              <a:rPr lang="en-US" sz="3000" dirty="0">
                <a:cs typeface="Consolas" panose="020B0609020204030204" pitchFamily="49" charset="0"/>
              </a:rPr>
              <a:t>);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 dirty="0">
                <a:cs typeface="Consolas" panose="020B0609020204030204" pitchFamily="49" charset="0"/>
              </a:rPr>
              <a:t>	int </a:t>
            </a:r>
            <a:r>
              <a:rPr lang="en-US" sz="3000" dirty="0">
                <a:solidFill>
                  <a:srgbClr val="C00000"/>
                </a:solidFill>
                <a:cs typeface="Consolas" panose="020B0609020204030204" pitchFamily="49" charset="0"/>
              </a:rPr>
              <a:t>maxl</a:t>
            </a:r>
            <a:r>
              <a:rPr lang="en-US" sz="3000" dirty="0">
                <a:cs typeface="Consolas" panose="020B0609020204030204" pitchFamily="49" charset="0"/>
              </a:rPr>
              <a:t> = </a:t>
            </a:r>
            <a:r>
              <a:rPr lang="en-US" sz="3000" dirty="0">
                <a:solidFill>
                  <a:srgbClr val="CC00CC"/>
                </a:solidFill>
                <a:cs typeface="Consolas" panose="020B0609020204030204" pitchFamily="49" charset="0"/>
              </a:rPr>
              <a:t>maxTNode</a:t>
            </a:r>
            <a:r>
              <a:rPr lang="en-US" sz="3000" dirty="0">
                <a:cs typeface="Consolas" panose="020B0609020204030204" pitchFamily="49" charset="0"/>
              </a:rPr>
              <a:t>(root</a:t>
            </a:r>
            <a:r>
              <a:rPr lang="en-US" sz="3000" dirty="0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000" dirty="0">
                <a:cs typeface="Consolas" panose="020B0609020204030204" pitchFamily="49" charset="0"/>
              </a:rPr>
              <a:t>Left);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 dirty="0">
                <a:cs typeface="Consolas" panose="020B0609020204030204" pitchFamily="49" charset="0"/>
              </a:rPr>
              <a:t>	int </a:t>
            </a:r>
            <a:r>
              <a:rPr lang="en-US" sz="3000" dirty="0">
                <a:solidFill>
                  <a:srgbClr val="FF0000"/>
                </a:solidFill>
                <a:cs typeface="Consolas" panose="020B0609020204030204" pitchFamily="49" charset="0"/>
              </a:rPr>
              <a:t>maxr</a:t>
            </a:r>
            <a:r>
              <a:rPr lang="en-US" sz="3000" dirty="0">
                <a:cs typeface="Consolas" panose="020B0609020204030204" pitchFamily="49" charset="0"/>
              </a:rPr>
              <a:t> = </a:t>
            </a:r>
            <a:r>
              <a:rPr lang="en-US" sz="3000" dirty="0">
                <a:solidFill>
                  <a:srgbClr val="CC00CC"/>
                </a:solidFill>
                <a:cs typeface="Consolas" panose="020B0609020204030204" pitchFamily="49" charset="0"/>
              </a:rPr>
              <a:t>maxTNode</a:t>
            </a:r>
            <a:r>
              <a:rPr lang="en-US" sz="3000" dirty="0">
                <a:cs typeface="Consolas" panose="020B0609020204030204" pitchFamily="49" charset="0"/>
              </a:rPr>
              <a:t>(root</a:t>
            </a:r>
            <a:r>
              <a:rPr lang="en-US" sz="3000" dirty="0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000" dirty="0">
                <a:cs typeface="Consolas" panose="020B0609020204030204" pitchFamily="49" charset="0"/>
              </a:rPr>
              <a:t>Right);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 dirty="0">
                <a:cs typeface="Consolas" panose="020B0609020204030204" pitchFamily="49" charset="0"/>
              </a:rPr>
              <a:t>	</a:t>
            </a:r>
            <a:r>
              <a:rPr lang="en-US" sz="3000" dirty="0" err="1">
                <a:cs typeface="Consolas" panose="020B0609020204030204" pitchFamily="49" charset="0"/>
              </a:rPr>
              <a:t>int</a:t>
            </a:r>
            <a:r>
              <a:rPr lang="en-US" sz="3000" dirty="0">
                <a:cs typeface="Consolas" panose="020B0609020204030204" pitchFamily="49" charset="0"/>
              </a:rPr>
              <a:t> </a:t>
            </a:r>
            <a:r>
              <a:rPr lang="en-US" sz="3000" dirty="0">
                <a:solidFill>
                  <a:srgbClr val="0000FF"/>
                </a:solidFill>
                <a:cs typeface="Consolas" panose="020B0609020204030204" pitchFamily="49" charset="0"/>
              </a:rPr>
              <a:t>max</a:t>
            </a:r>
            <a:r>
              <a:rPr lang="en-US" sz="3000" dirty="0">
                <a:cs typeface="Consolas" panose="020B0609020204030204" pitchFamily="49" charset="0"/>
              </a:rPr>
              <a:t> = </a:t>
            </a:r>
            <a:r>
              <a:rPr lang="en-US" sz="3000" dirty="0" err="1">
                <a:solidFill>
                  <a:srgbClr val="00B0F0"/>
                </a:solidFill>
                <a:cs typeface="Consolas" panose="020B0609020204030204" pitchFamily="49" charset="0"/>
              </a:rPr>
              <a:t>root</a:t>
            </a:r>
            <a:r>
              <a:rPr lang="en-US" sz="3000" dirty="0" err="1">
                <a:solidFill>
                  <a:srgbClr val="00B0F0"/>
                </a:solidFill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000" dirty="0" err="1">
                <a:solidFill>
                  <a:srgbClr val="00B0F0"/>
                </a:solidFill>
                <a:cs typeface="Consolas" panose="020B0609020204030204" pitchFamily="49" charset="0"/>
              </a:rPr>
              <a:t>Info</a:t>
            </a:r>
            <a:r>
              <a:rPr lang="en-US" sz="3000" dirty="0">
                <a:cs typeface="Consolas" panose="020B0609020204030204" pitchFamily="49" charset="0"/>
              </a:rPr>
              <a:t>;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 dirty="0">
                <a:cs typeface="Consolas" panose="020B0609020204030204" pitchFamily="49" charset="0"/>
              </a:rPr>
              <a:t>	if(</a:t>
            </a:r>
            <a:r>
              <a:rPr lang="en-US" sz="3000" dirty="0">
                <a:solidFill>
                  <a:srgbClr val="0000FF"/>
                </a:solidFill>
                <a:cs typeface="Consolas" panose="020B0609020204030204" pitchFamily="49" charset="0"/>
              </a:rPr>
              <a:t>max</a:t>
            </a:r>
            <a:r>
              <a:rPr lang="en-US" sz="3000" dirty="0">
                <a:cs typeface="Consolas" panose="020B0609020204030204" pitchFamily="49" charset="0"/>
              </a:rPr>
              <a:t> &lt; </a:t>
            </a:r>
            <a:r>
              <a:rPr lang="en-US" sz="3000" dirty="0" err="1">
                <a:solidFill>
                  <a:srgbClr val="C00000"/>
                </a:solidFill>
                <a:cs typeface="Consolas" panose="020B0609020204030204" pitchFamily="49" charset="0"/>
              </a:rPr>
              <a:t>maxl</a:t>
            </a:r>
            <a:r>
              <a:rPr lang="en-US" sz="3000">
                <a:cs typeface="Consolas" panose="020B0609020204030204" pitchFamily="49" charset="0"/>
              </a:rPr>
              <a:t>) </a:t>
            </a:r>
            <a:endParaRPr lang="en-US" sz="3000" smtClean="0">
              <a:cs typeface="Consolas" panose="020B0609020204030204" pitchFamily="49" charset="0"/>
            </a:endParaRP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>
                <a:solidFill>
                  <a:srgbClr val="0000FF"/>
                </a:solidFill>
                <a:cs typeface="Consolas" panose="020B0609020204030204" pitchFamily="49" charset="0"/>
              </a:rPr>
              <a:t>	</a:t>
            </a:r>
            <a:r>
              <a:rPr lang="en-US" sz="3000" smtClean="0">
                <a:solidFill>
                  <a:srgbClr val="0000FF"/>
                </a:solidFill>
                <a:cs typeface="Consolas" panose="020B0609020204030204" pitchFamily="49" charset="0"/>
              </a:rPr>
              <a:t>	max</a:t>
            </a:r>
            <a:r>
              <a:rPr lang="en-US" sz="3000" smtClean="0">
                <a:cs typeface="Consolas" panose="020B0609020204030204" pitchFamily="49" charset="0"/>
              </a:rPr>
              <a:t> </a:t>
            </a:r>
            <a:r>
              <a:rPr lang="en-US" sz="3000" dirty="0">
                <a:cs typeface="Consolas" panose="020B0609020204030204" pitchFamily="49" charset="0"/>
              </a:rPr>
              <a:t>= </a:t>
            </a:r>
            <a:r>
              <a:rPr lang="en-US" sz="3000" dirty="0" err="1">
                <a:solidFill>
                  <a:srgbClr val="C00000"/>
                </a:solidFill>
                <a:cs typeface="Consolas" panose="020B0609020204030204" pitchFamily="49" charset="0"/>
              </a:rPr>
              <a:t>maxl</a:t>
            </a:r>
            <a:r>
              <a:rPr lang="en-US" sz="3000" dirty="0">
                <a:cs typeface="Consolas" panose="020B0609020204030204" pitchFamily="49" charset="0"/>
              </a:rPr>
              <a:t>;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 dirty="0">
                <a:cs typeface="Consolas" panose="020B0609020204030204" pitchFamily="49" charset="0"/>
              </a:rPr>
              <a:t>	if(</a:t>
            </a:r>
            <a:r>
              <a:rPr lang="en-US" sz="3000" dirty="0">
                <a:solidFill>
                  <a:srgbClr val="0000FF"/>
                </a:solidFill>
                <a:cs typeface="Consolas" panose="020B0609020204030204" pitchFamily="49" charset="0"/>
              </a:rPr>
              <a:t>max</a:t>
            </a:r>
            <a:r>
              <a:rPr lang="en-US" sz="3000" dirty="0">
                <a:cs typeface="Consolas" panose="020B0609020204030204" pitchFamily="49" charset="0"/>
              </a:rPr>
              <a:t> &lt; </a:t>
            </a:r>
            <a:r>
              <a:rPr lang="en-US" sz="3000" dirty="0" err="1">
                <a:solidFill>
                  <a:srgbClr val="C00000"/>
                </a:solidFill>
                <a:cs typeface="Consolas" panose="020B0609020204030204" pitchFamily="49" charset="0"/>
              </a:rPr>
              <a:t>maxr</a:t>
            </a:r>
            <a:r>
              <a:rPr lang="en-US" sz="3000">
                <a:cs typeface="Consolas" panose="020B0609020204030204" pitchFamily="49" charset="0"/>
              </a:rPr>
              <a:t>) </a:t>
            </a:r>
            <a:endParaRPr lang="en-US" sz="3000" smtClean="0">
              <a:cs typeface="Consolas" panose="020B0609020204030204" pitchFamily="49" charset="0"/>
            </a:endParaRP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>
                <a:solidFill>
                  <a:srgbClr val="0000FF"/>
                </a:solidFill>
                <a:cs typeface="Consolas" panose="020B0609020204030204" pitchFamily="49" charset="0"/>
              </a:rPr>
              <a:t>	</a:t>
            </a:r>
            <a:r>
              <a:rPr lang="en-US" sz="3000" smtClean="0">
                <a:solidFill>
                  <a:srgbClr val="0000FF"/>
                </a:solidFill>
                <a:cs typeface="Consolas" panose="020B0609020204030204" pitchFamily="49" charset="0"/>
              </a:rPr>
              <a:t>	max</a:t>
            </a:r>
            <a:r>
              <a:rPr lang="en-US" sz="3000" smtClean="0">
                <a:cs typeface="Consolas" panose="020B0609020204030204" pitchFamily="49" charset="0"/>
              </a:rPr>
              <a:t> </a:t>
            </a:r>
            <a:r>
              <a:rPr lang="en-US" sz="3000" dirty="0">
                <a:cs typeface="Consolas" panose="020B0609020204030204" pitchFamily="49" charset="0"/>
              </a:rPr>
              <a:t>= </a:t>
            </a:r>
            <a:r>
              <a:rPr lang="en-US" sz="3000" dirty="0" err="1">
                <a:solidFill>
                  <a:srgbClr val="C00000"/>
                </a:solidFill>
                <a:cs typeface="Consolas" panose="020B0609020204030204" pitchFamily="49" charset="0"/>
              </a:rPr>
              <a:t>maxr</a:t>
            </a:r>
            <a:r>
              <a:rPr lang="en-US" sz="3000" dirty="0">
                <a:cs typeface="Consolas" panose="020B0609020204030204" pitchFamily="49" charset="0"/>
              </a:rPr>
              <a:t>;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000" dirty="0">
                <a:cs typeface="Consolas" panose="020B0609020204030204" pitchFamily="49" charset="0"/>
              </a:rPr>
              <a:t>	return </a:t>
            </a:r>
            <a:r>
              <a:rPr lang="en-US" sz="3000" dirty="0">
                <a:solidFill>
                  <a:srgbClr val="0000FF"/>
                </a:solidFill>
                <a:cs typeface="Consolas" panose="020B0609020204030204" pitchFamily="49" charset="0"/>
              </a:rPr>
              <a:t>max</a:t>
            </a:r>
            <a:r>
              <a:rPr lang="en-US" sz="3000" dirty="0">
                <a:cs typeface="Consolas" panose="020B0609020204030204" pitchFamily="49" charset="0"/>
              </a:rPr>
              <a:t>;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600" dirty="0">
                <a:solidFill>
                  <a:srgbClr val="CC0000"/>
                </a:solidFill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4727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 idx="4294967295"/>
          </p:nvPr>
        </p:nvSpPr>
        <p:spPr>
          <a:xfrm>
            <a:off x="1097280" y="518065"/>
            <a:ext cx="10058400" cy="759871"/>
          </a:xfrm>
        </p:spPr>
        <p:txBody>
          <a:bodyPr/>
          <a:lstStyle/>
          <a:p>
            <a:pPr eaLnBrk="1" hangingPunct="1"/>
            <a:r>
              <a:rPr lang="en-US" smtClean="0"/>
              <a:t>Xuất ra màn hình các nút ở mức k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4294967295"/>
          </p:nvPr>
        </p:nvSpPr>
        <p:spPr>
          <a:xfrm>
            <a:off x="77404" y="1217051"/>
            <a:ext cx="8991600" cy="5486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tabLst>
                <a:tab pos="538163" algn="l"/>
                <a:tab pos="1077913" algn="l"/>
                <a:tab pos="1616075" algn="l"/>
                <a:tab pos="2154238" algn="l"/>
              </a:tabLst>
            </a:pPr>
            <a:r>
              <a:rPr lang="en-US" sz="3000" dirty="0">
                <a:cs typeface="Consolas" panose="020B0609020204030204" pitchFamily="49" charset="0"/>
              </a:rPr>
              <a:t>void </a:t>
            </a:r>
            <a:r>
              <a:rPr lang="en-US" sz="3000" dirty="0">
                <a:solidFill>
                  <a:srgbClr val="0000FF"/>
                </a:solidFill>
                <a:cs typeface="Consolas" panose="020B0609020204030204" pitchFamily="49" charset="0"/>
              </a:rPr>
              <a:t>showTNodeLevelK</a:t>
            </a:r>
            <a:r>
              <a:rPr lang="en-US" sz="3000" dirty="0">
                <a:cs typeface="Consolas" panose="020B0609020204030204" pitchFamily="49" charset="0"/>
              </a:rPr>
              <a:t>(TNode* root, int k)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  <a:tabLst>
                <a:tab pos="538163" algn="l"/>
                <a:tab pos="1077913" algn="l"/>
                <a:tab pos="1616075" algn="l"/>
                <a:tab pos="2154238" algn="l"/>
              </a:tabLst>
            </a:pPr>
            <a:r>
              <a:rPr lang="en-US" sz="3600" dirty="0">
                <a:solidFill>
                  <a:srgbClr val="CC0000"/>
                </a:solidFill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  <a:tabLst>
                <a:tab pos="538163" algn="l"/>
                <a:tab pos="1077913" algn="l"/>
                <a:tab pos="1616075" algn="l"/>
                <a:tab pos="2154238" algn="l"/>
              </a:tabLst>
            </a:pPr>
            <a:r>
              <a:rPr lang="en-US" sz="3200" dirty="0">
                <a:cs typeface="Consolas" panose="020B0609020204030204" pitchFamily="49" charset="0"/>
              </a:rPr>
              <a:t>	if(!</a:t>
            </a:r>
            <a:r>
              <a:rPr lang="en-US" sz="3200">
                <a:cs typeface="Consolas" panose="020B0609020204030204" pitchFamily="49" charset="0"/>
              </a:rPr>
              <a:t>root</a:t>
            </a:r>
            <a:r>
              <a:rPr lang="en-US" sz="3200" smtClean="0">
                <a:cs typeface="Consolas" panose="020B0609020204030204" pitchFamily="49" charset="0"/>
              </a:rPr>
              <a:t>)</a:t>
            </a:r>
          </a:p>
          <a:p>
            <a:pPr marL="0" indent="0">
              <a:buNone/>
              <a:tabLst>
                <a:tab pos="538163" algn="l"/>
                <a:tab pos="1077913" algn="l"/>
                <a:tab pos="1616075" algn="l"/>
                <a:tab pos="2154238" algn="l"/>
              </a:tabLst>
            </a:pPr>
            <a:r>
              <a:rPr lang="en-US" sz="3200">
                <a:cs typeface="Consolas" panose="020B0609020204030204" pitchFamily="49" charset="0"/>
              </a:rPr>
              <a:t>	</a:t>
            </a:r>
            <a:r>
              <a:rPr lang="en-US" sz="3200" smtClean="0">
                <a:cs typeface="Consolas" panose="020B0609020204030204" pitchFamily="49" charset="0"/>
              </a:rPr>
              <a:t>	 return;</a:t>
            </a:r>
            <a:endParaRPr lang="en-US" sz="3200" dirty="0">
              <a:cs typeface="Consolas" panose="020B0609020204030204" pitchFamily="49" charset="0"/>
            </a:endParaRPr>
          </a:p>
          <a:p>
            <a:pPr marL="0" indent="0">
              <a:buNone/>
              <a:tabLst>
                <a:tab pos="538163" algn="l"/>
                <a:tab pos="1077913" algn="l"/>
                <a:tab pos="1616075" algn="l"/>
                <a:tab pos="2154238" algn="l"/>
              </a:tabLst>
            </a:pPr>
            <a:r>
              <a:rPr lang="en-US" sz="3200" dirty="0">
                <a:cs typeface="Consolas" panose="020B0609020204030204" pitchFamily="49" charset="0"/>
              </a:rPr>
              <a:t>	if(k == 0) </a:t>
            </a:r>
            <a:r>
              <a:rPr lang="en-US" sz="3200" i="1" dirty="0">
                <a:cs typeface="Consolas" panose="020B0609020204030204" pitchFamily="49" charset="0"/>
              </a:rPr>
              <a:t>//đến tầng cần tìm</a:t>
            </a:r>
          </a:p>
          <a:p>
            <a:pPr marL="0" indent="0">
              <a:buNone/>
              <a:tabLst>
                <a:tab pos="538163" algn="l"/>
                <a:tab pos="1077913" algn="l"/>
                <a:tab pos="1616075" algn="l"/>
                <a:tab pos="2154238" algn="l"/>
              </a:tabLst>
            </a:pPr>
            <a:r>
              <a:rPr lang="en-US" sz="3200" dirty="0">
                <a:cs typeface="Consolas" panose="020B0609020204030204" pitchFamily="49" charset="0"/>
              </a:rPr>
              <a:t>		</a:t>
            </a:r>
            <a:r>
              <a:rPr lang="en-US" sz="3200" dirty="0" err="1">
                <a:cs typeface="Consolas" panose="020B0609020204030204" pitchFamily="49" charset="0"/>
              </a:rPr>
              <a:t>printf</a:t>
            </a:r>
            <a:r>
              <a:rPr lang="en-US" sz="3200" dirty="0">
                <a:cs typeface="Consolas" panose="020B0609020204030204" pitchFamily="49" charset="0"/>
              </a:rPr>
              <a:t>("%4d", </a:t>
            </a:r>
            <a:r>
              <a:rPr lang="en-US" sz="3200" dirty="0" err="1">
                <a:solidFill>
                  <a:srgbClr val="0000FF"/>
                </a:solidFill>
                <a:cs typeface="Consolas" panose="020B0609020204030204" pitchFamily="49" charset="0"/>
              </a:rPr>
              <a:t>root</a:t>
            </a:r>
            <a:r>
              <a:rPr lang="en-US" sz="3200" dirty="0" err="1">
                <a:solidFill>
                  <a:srgbClr val="0000FF"/>
                </a:solidFill>
                <a:cs typeface="Consolas" panose="020B0609020204030204" pitchFamily="49" charset="0"/>
                <a:sym typeface="Symbol"/>
              </a:rPr>
              <a:t></a:t>
            </a:r>
            <a:r>
              <a:rPr lang="en-US" sz="3200" dirty="0" err="1">
                <a:solidFill>
                  <a:srgbClr val="0000FF"/>
                </a:solidFill>
                <a:cs typeface="Consolas" panose="020B0609020204030204" pitchFamily="49" charset="0"/>
              </a:rPr>
              <a:t>Info</a:t>
            </a:r>
            <a:r>
              <a:rPr lang="en-US" sz="3200" dirty="0">
                <a:cs typeface="Consolas" panose="020B0609020204030204" pitchFamily="49" charset="0"/>
              </a:rPr>
              <a:t>);</a:t>
            </a:r>
          </a:p>
          <a:p>
            <a:pPr marL="0" indent="0">
              <a:buNone/>
              <a:tabLst>
                <a:tab pos="538163" algn="l"/>
                <a:tab pos="1077913" algn="l"/>
                <a:tab pos="1616075" algn="l"/>
                <a:tab pos="2154238" algn="l"/>
              </a:tabLst>
            </a:pPr>
            <a:r>
              <a:rPr lang="en-US" sz="3200" dirty="0">
                <a:cs typeface="Consolas" panose="020B0609020204030204" pitchFamily="49" charset="0"/>
              </a:rPr>
              <a:t>	k--; </a:t>
            </a:r>
            <a:r>
              <a:rPr lang="en-US" sz="3200" i="1" dirty="0">
                <a:cs typeface="Consolas" panose="020B0609020204030204" pitchFamily="49" charset="0"/>
              </a:rPr>
              <a:t>//mức k giảm dần về 0</a:t>
            </a:r>
          </a:p>
          <a:p>
            <a:pPr marL="0" indent="0">
              <a:buNone/>
              <a:tabLst>
                <a:tab pos="538163" algn="l"/>
                <a:tab pos="1077913" algn="l"/>
                <a:tab pos="1616075" algn="l"/>
                <a:tab pos="2154238" algn="l"/>
              </a:tabLst>
            </a:pPr>
            <a:r>
              <a:rPr lang="en-US" sz="3200" dirty="0">
                <a:cs typeface="Consolas" panose="020B0609020204030204" pitchFamily="49" charset="0"/>
              </a:rPr>
              <a:t>	</a:t>
            </a:r>
            <a:r>
              <a:rPr lang="en-US" sz="3200" i="1" dirty="0">
                <a:solidFill>
                  <a:srgbClr val="CC00CC"/>
                </a:solidFill>
                <a:cs typeface="Consolas" panose="020B0609020204030204" pitchFamily="49" charset="0"/>
              </a:rPr>
              <a:t>showTNodeLevelK</a:t>
            </a:r>
            <a:r>
              <a:rPr lang="en-US" sz="3200" dirty="0">
                <a:cs typeface="Consolas" panose="020B0609020204030204" pitchFamily="49" charset="0"/>
              </a:rPr>
              <a:t>(root</a:t>
            </a:r>
            <a:r>
              <a:rPr lang="en-US" sz="3200" dirty="0">
                <a:cs typeface="Consolas" panose="020B0609020204030204" pitchFamily="49" charset="0"/>
                <a:sym typeface="Symbol"/>
              </a:rPr>
              <a:t></a:t>
            </a:r>
            <a:r>
              <a:rPr lang="en-US" sz="3200" dirty="0">
                <a:cs typeface="Consolas" panose="020B0609020204030204" pitchFamily="49" charset="0"/>
              </a:rPr>
              <a:t>Left, k);</a:t>
            </a:r>
          </a:p>
          <a:p>
            <a:pPr marL="0" indent="0">
              <a:buNone/>
              <a:tabLst>
                <a:tab pos="538163" algn="l"/>
                <a:tab pos="1077913" algn="l"/>
                <a:tab pos="1616075" algn="l"/>
                <a:tab pos="2154238" algn="l"/>
              </a:tabLst>
            </a:pPr>
            <a:r>
              <a:rPr lang="en-US" sz="3200" dirty="0">
                <a:cs typeface="Consolas" panose="020B0609020204030204" pitchFamily="49" charset="0"/>
              </a:rPr>
              <a:t>	</a:t>
            </a:r>
            <a:r>
              <a:rPr lang="en-US" sz="3200" i="1" dirty="0">
                <a:solidFill>
                  <a:srgbClr val="CC00CC"/>
                </a:solidFill>
                <a:cs typeface="Consolas" panose="020B0609020204030204" pitchFamily="49" charset="0"/>
              </a:rPr>
              <a:t>showTNodeLevelK</a:t>
            </a:r>
            <a:r>
              <a:rPr lang="en-US" sz="3200" dirty="0">
                <a:cs typeface="Consolas" panose="020B0609020204030204" pitchFamily="49" charset="0"/>
              </a:rPr>
              <a:t>(root</a:t>
            </a:r>
            <a:r>
              <a:rPr lang="en-US" sz="3200" dirty="0">
                <a:cs typeface="Consolas" panose="020B0609020204030204" pitchFamily="49" charset="0"/>
                <a:sym typeface="Symbol"/>
              </a:rPr>
              <a:t></a:t>
            </a:r>
            <a:r>
              <a:rPr lang="en-US" sz="3200" dirty="0">
                <a:cs typeface="Consolas" panose="020B0609020204030204" pitchFamily="49" charset="0"/>
              </a:rPr>
              <a:t>Right, k);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  <a:tabLst>
                <a:tab pos="538163" algn="l"/>
                <a:tab pos="1077913" algn="l"/>
                <a:tab pos="1616075" algn="l"/>
                <a:tab pos="2154238" algn="l"/>
              </a:tabLst>
            </a:pPr>
            <a:r>
              <a:rPr lang="en-US" sz="3600" dirty="0">
                <a:solidFill>
                  <a:srgbClr val="CC0000"/>
                </a:solidFill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39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536722" y="1644402"/>
            <a:ext cx="5655278" cy="41242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b="1" smtClean="0">
                <a:solidFill>
                  <a:srgbClr val="FF0000"/>
                </a:solidFill>
              </a:rPr>
              <a:t>Ghi chú:</a:t>
            </a:r>
          </a:p>
          <a:p>
            <a:r>
              <a:rPr lang="en-US" b="1"/>
              <a:t>	</a:t>
            </a:r>
            <a:r>
              <a:rPr lang="vi-VN" b="1" smtClean="0"/>
              <a:t>Hàm </a:t>
            </a:r>
            <a:r>
              <a:rPr lang="vi-VN" b="1"/>
              <a:t>đệ quy: là hàm mà trong thân của nó có lệnh gọi lại chính nó dành cho đối tượng ở cấp thấp hơn.</a:t>
            </a:r>
          </a:p>
          <a:p>
            <a:endParaRPr lang="en-US" b="1" i="1" smtClean="0"/>
          </a:p>
          <a:p>
            <a:r>
              <a:rPr lang="en-US" b="1" i="1" smtClean="0"/>
              <a:t>int </a:t>
            </a:r>
            <a:r>
              <a:rPr lang="vi-VN" b="1" i="1" smtClean="0"/>
              <a:t>  </a:t>
            </a:r>
            <a:r>
              <a:rPr lang="en-US" b="1" i="1" dirty="0" err="1"/>
              <a:t>tinhGiaiThua</a:t>
            </a:r>
            <a:r>
              <a:rPr lang="en-US" b="1" i="1" dirty="0"/>
              <a:t> (</a:t>
            </a:r>
            <a:r>
              <a:rPr lang="en-US" b="1" i="1" dirty="0" err="1"/>
              <a:t>int</a:t>
            </a:r>
            <a:r>
              <a:rPr lang="en-US" b="1" i="1" dirty="0"/>
              <a:t> n)</a:t>
            </a:r>
          </a:p>
          <a:p>
            <a:r>
              <a:rPr lang="en-US" b="1" i="1" dirty="0"/>
              <a:t>{</a:t>
            </a:r>
          </a:p>
          <a:p>
            <a:r>
              <a:rPr lang="en-US" b="1" i="1"/>
              <a:t> </a:t>
            </a:r>
            <a:r>
              <a:rPr lang="en-US" b="1" i="1" smtClean="0"/>
              <a:t>       int </a:t>
            </a:r>
            <a:r>
              <a:rPr lang="en-US" b="1" i="1" dirty="0" err="1"/>
              <a:t>gt</a:t>
            </a:r>
            <a:r>
              <a:rPr lang="en-US" b="1" i="1" dirty="0"/>
              <a:t> = 1;</a:t>
            </a:r>
          </a:p>
          <a:p>
            <a:r>
              <a:rPr lang="en-US" b="1" i="1"/>
              <a:t> </a:t>
            </a:r>
            <a:r>
              <a:rPr lang="en-US" b="1" i="1" smtClean="0"/>
              <a:t>      </a:t>
            </a:r>
            <a:r>
              <a:rPr lang="en-US" b="1" i="1" smtClean="0">
                <a:solidFill>
                  <a:srgbClr val="FF0000"/>
                </a:solidFill>
              </a:rPr>
              <a:t> if(n</a:t>
            </a:r>
            <a:r>
              <a:rPr lang="vi-VN" b="1" i="1" dirty="0">
                <a:solidFill>
                  <a:srgbClr val="FF0000"/>
                </a:solidFill>
              </a:rPr>
              <a:t>&lt;=</a:t>
            </a:r>
            <a:r>
              <a:rPr lang="vi-VN" b="1" i="1">
                <a:solidFill>
                  <a:srgbClr val="FF0000"/>
                </a:solidFill>
              </a:rPr>
              <a:t>1</a:t>
            </a:r>
            <a:r>
              <a:rPr lang="en-US" b="1" i="1" smtClean="0">
                <a:solidFill>
                  <a:srgbClr val="FF0000"/>
                </a:solidFill>
              </a:rPr>
              <a:t>) </a:t>
            </a:r>
            <a:r>
              <a:rPr lang="en-US" b="1" i="1" smtClean="0"/>
              <a:t>// Điểm dừng</a:t>
            </a:r>
            <a:endParaRPr lang="en-US" b="1" i="1" dirty="0"/>
          </a:p>
          <a:p>
            <a:r>
              <a:rPr lang="en-US" b="1" i="1"/>
              <a:t>	</a:t>
            </a:r>
            <a:r>
              <a:rPr lang="en-US" b="1" i="1" smtClean="0">
                <a:solidFill>
                  <a:srgbClr val="FF0000"/>
                </a:solidFill>
              </a:rPr>
              <a:t>gt </a:t>
            </a:r>
            <a:r>
              <a:rPr lang="en-US" b="1" i="1" dirty="0">
                <a:solidFill>
                  <a:srgbClr val="FF0000"/>
                </a:solidFill>
              </a:rPr>
              <a:t>= 1;</a:t>
            </a:r>
          </a:p>
          <a:p>
            <a:r>
              <a:rPr lang="en-US" b="1" i="1"/>
              <a:t> </a:t>
            </a:r>
            <a:r>
              <a:rPr lang="en-US" b="1" i="1" smtClean="0"/>
              <a:t>      </a:t>
            </a:r>
            <a:r>
              <a:rPr lang="en-US" b="1" i="1" smtClean="0">
                <a:solidFill>
                  <a:srgbClr val="FF0000"/>
                </a:solidFill>
              </a:rPr>
              <a:t>  else</a:t>
            </a:r>
            <a:endParaRPr lang="en-US" b="1" i="1" dirty="0">
              <a:solidFill>
                <a:srgbClr val="FF0000"/>
              </a:solidFill>
            </a:endParaRPr>
          </a:p>
          <a:p>
            <a:r>
              <a:rPr lang="en-US" b="1" i="1"/>
              <a:t>	</a:t>
            </a:r>
            <a:r>
              <a:rPr lang="en-US" b="1" i="1" smtClean="0">
                <a:solidFill>
                  <a:srgbClr val="FF0000"/>
                </a:solidFill>
              </a:rPr>
              <a:t>gt </a:t>
            </a:r>
            <a:r>
              <a:rPr lang="en-US" b="1" i="1" dirty="0">
                <a:solidFill>
                  <a:srgbClr val="FF0000"/>
                </a:solidFill>
              </a:rPr>
              <a:t>= n * </a:t>
            </a:r>
            <a:r>
              <a:rPr lang="en-US" b="1" i="1" err="1">
                <a:solidFill>
                  <a:srgbClr val="FF0000"/>
                </a:solidFill>
              </a:rPr>
              <a:t>tinhGiaiThua</a:t>
            </a:r>
            <a:r>
              <a:rPr lang="en-US" b="1" i="1">
                <a:solidFill>
                  <a:srgbClr val="FF0000"/>
                </a:solidFill>
              </a:rPr>
              <a:t>(n-1</a:t>
            </a:r>
            <a:r>
              <a:rPr lang="en-US" b="1" i="1" smtClean="0">
                <a:solidFill>
                  <a:srgbClr val="FF0000"/>
                </a:solidFill>
              </a:rPr>
              <a:t>); </a:t>
            </a:r>
            <a:r>
              <a:rPr lang="en-US" b="1" i="1" smtClean="0"/>
              <a:t>// Diểm gọi đệ quy</a:t>
            </a:r>
            <a:endParaRPr lang="en-US" b="1" i="1" dirty="0"/>
          </a:p>
          <a:p>
            <a:r>
              <a:rPr lang="en-US" b="1" i="1" dirty="0"/>
              <a:t>	return </a:t>
            </a:r>
            <a:r>
              <a:rPr lang="en-US" b="1" i="1" dirty="0" err="1"/>
              <a:t>gt</a:t>
            </a:r>
            <a:r>
              <a:rPr lang="en-US" b="1" i="1" dirty="0"/>
              <a:t>;</a:t>
            </a:r>
          </a:p>
          <a:p>
            <a:r>
              <a:rPr lang="en-US" b="1" i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940148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 idx="4294967295"/>
          </p:nvPr>
        </p:nvSpPr>
        <p:spPr>
          <a:xfrm>
            <a:off x="863600" y="590866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Đếm các nút lá ở mức k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4294967295"/>
          </p:nvPr>
        </p:nvSpPr>
        <p:spPr>
          <a:xfrm>
            <a:off x="990600" y="1366787"/>
            <a:ext cx="10414000" cy="5486400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100"/>
              </a:spcBef>
              <a:buNone/>
              <a:tabLst>
                <a:tab pos="450850" algn="l"/>
                <a:tab pos="1165225" algn="l"/>
                <a:tab pos="1371600" algn="l"/>
              </a:tabLst>
            </a:pPr>
            <a:r>
              <a:rPr lang="en-US" dirty="0" smtClean="0">
                <a:cs typeface="Consolas" panose="020B0609020204030204" pitchFamily="49" charset="0"/>
              </a:rPr>
              <a:t>int </a:t>
            </a:r>
            <a:r>
              <a:rPr lang="en-US" dirty="0" smtClean="0">
                <a:solidFill>
                  <a:srgbClr val="0000FF"/>
                </a:solidFill>
                <a:cs typeface="Consolas" panose="020B0609020204030204" pitchFamily="49" charset="0"/>
              </a:rPr>
              <a:t>countTNodeLeafLevelK</a:t>
            </a:r>
            <a:r>
              <a:rPr lang="en-US" dirty="0" smtClean="0">
                <a:cs typeface="Consolas" panose="020B0609020204030204" pitchFamily="49" charset="0"/>
              </a:rPr>
              <a:t>(TNode* root, int k)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  <a:tabLst>
                <a:tab pos="450850" algn="l"/>
                <a:tab pos="1165225" algn="l"/>
                <a:tab pos="1371600" algn="l"/>
              </a:tabLst>
            </a:pPr>
            <a:r>
              <a:rPr lang="en-US" sz="3600" dirty="0">
                <a:solidFill>
                  <a:srgbClr val="CC0000"/>
                </a:solidFill>
                <a:cs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100"/>
              </a:spcBef>
              <a:buNone/>
              <a:tabLst>
                <a:tab pos="450850" algn="l"/>
                <a:tab pos="1165225" algn="l"/>
                <a:tab pos="1371600" algn="l"/>
              </a:tabLst>
            </a:pPr>
            <a:r>
              <a:rPr lang="en-US" sz="3200" dirty="0">
                <a:cs typeface="Consolas" panose="020B0609020204030204" pitchFamily="49" charset="0"/>
              </a:rPr>
              <a:t>	if(!root</a:t>
            </a:r>
            <a:r>
              <a:rPr lang="en-US" sz="3200">
                <a:cs typeface="Consolas" panose="020B0609020204030204" pitchFamily="49" charset="0"/>
              </a:rPr>
              <a:t>) </a:t>
            </a:r>
            <a:endParaRPr lang="en-US" sz="3200" smtClean="0">
              <a:cs typeface="Consolas" panose="020B0609020204030204" pitchFamily="49" charset="0"/>
            </a:endParaRPr>
          </a:p>
          <a:p>
            <a:pPr marL="0" indent="0">
              <a:spcBef>
                <a:spcPts val="100"/>
              </a:spcBef>
              <a:buNone/>
              <a:tabLst>
                <a:tab pos="450850" algn="l"/>
                <a:tab pos="1165225" algn="l"/>
                <a:tab pos="1371600" algn="l"/>
              </a:tabLst>
            </a:pPr>
            <a:r>
              <a:rPr lang="en-US" sz="3200">
                <a:cs typeface="Consolas" panose="020B0609020204030204" pitchFamily="49" charset="0"/>
              </a:rPr>
              <a:t> </a:t>
            </a:r>
            <a:r>
              <a:rPr lang="en-US" sz="3200" smtClean="0">
                <a:cs typeface="Consolas" panose="020B0609020204030204" pitchFamily="49" charset="0"/>
              </a:rPr>
              <a:t>         return </a:t>
            </a:r>
            <a:r>
              <a:rPr lang="en-US" sz="3200" dirty="0">
                <a:cs typeface="Consolas" panose="020B0609020204030204" pitchFamily="49" charset="0"/>
              </a:rPr>
              <a:t>0;</a:t>
            </a:r>
          </a:p>
          <a:p>
            <a:pPr marL="0" indent="0">
              <a:spcBef>
                <a:spcPts val="100"/>
              </a:spcBef>
              <a:buNone/>
              <a:tabLst>
                <a:tab pos="450850" algn="l"/>
                <a:tab pos="1165225" algn="l"/>
                <a:tab pos="1371600" algn="l"/>
              </a:tabLst>
            </a:pPr>
            <a:r>
              <a:rPr lang="en-US" sz="3200" dirty="0">
                <a:cs typeface="Consolas" panose="020B0609020204030204" pitchFamily="49" charset="0"/>
              </a:rPr>
              <a:t>	if(</a:t>
            </a:r>
            <a:r>
              <a:rPr lang="en-US" sz="3100" dirty="0">
                <a:cs typeface="Consolas" panose="020B0609020204030204" pitchFamily="49" charset="0"/>
              </a:rPr>
              <a:t>k==0 &amp;&amp; !root</a:t>
            </a:r>
            <a:r>
              <a:rPr lang="en-US" sz="3100" dirty="0">
                <a:cs typeface="Consolas" panose="020B0609020204030204" pitchFamily="49" charset="0"/>
                <a:sym typeface="Symbol"/>
              </a:rPr>
              <a:t></a:t>
            </a:r>
            <a:r>
              <a:rPr lang="en-US" sz="3100" dirty="0">
                <a:cs typeface="Consolas" panose="020B0609020204030204" pitchFamily="49" charset="0"/>
              </a:rPr>
              <a:t>Left &amp;&amp; !root</a:t>
            </a:r>
            <a:r>
              <a:rPr lang="en-US" sz="3100" dirty="0">
                <a:cs typeface="Consolas" panose="020B0609020204030204" pitchFamily="49" charset="0"/>
                <a:sym typeface="Symbol"/>
              </a:rPr>
              <a:t></a:t>
            </a:r>
            <a:r>
              <a:rPr lang="en-US" sz="3100" dirty="0">
                <a:cs typeface="Consolas" panose="020B0609020204030204" pitchFamily="49" charset="0"/>
              </a:rPr>
              <a:t>Right</a:t>
            </a:r>
            <a:r>
              <a:rPr lang="en-US" sz="3200" dirty="0">
                <a:cs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100"/>
              </a:spcBef>
              <a:buNone/>
              <a:tabLst>
                <a:tab pos="450850" algn="l"/>
                <a:tab pos="1165225" algn="l"/>
                <a:tab pos="1371600" algn="l"/>
              </a:tabLst>
            </a:pPr>
            <a:r>
              <a:rPr lang="en-US" sz="3200" dirty="0">
                <a:cs typeface="Consolas" panose="020B0609020204030204" pitchFamily="49" charset="0"/>
              </a:rPr>
              <a:t>		return (</a:t>
            </a:r>
            <a:r>
              <a:rPr lang="en-US" sz="3200" dirty="0">
                <a:solidFill>
                  <a:srgbClr val="0000FF"/>
                </a:solidFill>
                <a:cs typeface="Consolas" panose="020B0609020204030204" pitchFamily="49" charset="0"/>
              </a:rPr>
              <a:t>1</a:t>
            </a:r>
            <a:r>
              <a:rPr lang="en-US" sz="3200" dirty="0">
                <a:cs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100"/>
              </a:spcBef>
              <a:buNone/>
              <a:tabLst>
                <a:tab pos="450850" algn="l"/>
                <a:tab pos="1165225" algn="l"/>
                <a:tab pos="1371600" algn="l"/>
              </a:tabLst>
            </a:pPr>
            <a:r>
              <a:rPr lang="en-US" sz="3200" dirty="0">
                <a:cs typeface="Consolas" panose="020B0609020204030204" pitchFamily="49" charset="0"/>
              </a:rPr>
              <a:t>	k--; </a:t>
            </a:r>
            <a:r>
              <a:rPr lang="en-US" sz="3200" i="1" dirty="0">
                <a:cs typeface="Consolas" panose="020B0609020204030204" pitchFamily="49" charset="0"/>
              </a:rPr>
              <a:t>//mức k giảm dần về 0</a:t>
            </a:r>
          </a:p>
          <a:p>
            <a:pPr marL="0" indent="0">
              <a:spcBef>
                <a:spcPts val="100"/>
              </a:spcBef>
              <a:buNone/>
              <a:tabLst>
                <a:tab pos="450850" algn="l"/>
                <a:tab pos="1165225" algn="l"/>
                <a:tab pos="1371600" algn="l"/>
              </a:tabLst>
            </a:pPr>
            <a:r>
              <a:rPr lang="en-US" sz="3200" dirty="0">
                <a:cs typeface="Consolas" panose="020B0609020204030204" pitchFamily="49" charset="0"/>
              </a:rPr>
              <a:t>	int </a:t>
            </a:r>
            <a:r>
              <a:rPr lang="en-US" sz="3200" dirty="0">
                <a:solidFill>
                  <a:srgbClr val="C00000"/>
                </a:solidFill>
                <a:cs typeface="Consolas" panose="020B0609020204030204" pitchFamily="49" charset="0"/>
              </a:rPr>
              <a:t>nl</a:t>
            </a:r>
            <a:r>
              <a:rPr lang="en-US" sz="3200" dirty="0">
                <a:cs typeface="Consolas" panose="020B0609020204030204" pitchFamily="49" charset="0"/>
              </a:rPr>
              <a:t>=</a:t>
            </a:r>
            <a:r>
              <a:rPr lang="en-US" i="1" dirty="0" smtClean="0">
                <a:solidFill>
                  <a:srgbClr val="CC00CC"/>
                </a:solidFill>
                <a:cs typeface="Consolas" panose="020B0609020204030204" pitchFamily="49" charset="0"/>
              </a:rPr>
              <a:t>countTNodeLeafLevelK</a:t>
            </a:r>
            <a:r>
              <a:rPr lang="en-US" b="0" dirty="0" smtClean="0">
                <a:cs typeface="Consolas" panose="020B0609020204030204" pitchFamily="49" charset="0"/>
              </a:rPr>
              <a:t>(root</a:t>
            </a:r>
            <a:r>
              <a:rPr lang="en-US" b="0" dirty="0" smtClean="0">
                <a:cs typeface="Consolas" panose="020B0609020204030204" pitchFamily="49" charset="0"/>
                <a:sym typeface="Symbol"/>
              </a:rPr>
              <a:t></a:t>
            </a:r>
            <a:r>
              <a:rPr lang="en-US" b="0" smtClean="0">
                <a:cs typeface="Consolas" panose="020B0609020204030204" pitchFamily="49" charset="0"/>
              </a:rPr>
              <a:t>Left, k</a:t>
            </a:r>
            <a:r>
              <a:rPr lang="en-US" b="0" dirty="0" smtClean="0">
                <a:cs typeface="Consolas" panose="020B0609020204030204" pitchFamily="49" charset="0"/>
              </a:rPr>
              <a:t>)</a:t>
            </a:r>
            <a:r>
              <a:rPr lang="en-US" sz="3200" dirty="0">
                <a:cs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100"/>
              </a:spcBef>
              <a:buNone/>
              <a:tabLst>
                <a:tab pos="450850" algn="l"/>
                <a:tab pos="1165225" algn="l"/>
                <a:tab pos="1371600" algn="l"/>
              </a:tabLst>
            </a:pPr>
            <a:r>
              <a:rPr lang="en-US" sz="3200" dirty="0">
                <a:cs typeface="Consolas" panose="020B0609020204030204" pitchFamily="49" charset="0"/>
              </a:rPr>
              <a:t>	int </a:t>
            </a:r>
            <a:r>
              <a:rPr lang="en-US" sz="3200" dirty="0">
                <a:solidFill>
                  <a:srgbClr val="FF0000"/>
                </a:solidFill>
                <a:cs typeface="Consolas" panose="020B0609020204030204" pitchFamily="49" charset="0"/>
              </a:rPr>
              <a:t>nr</a:t>
            </a:r>
            <a:r>
              <a:rPr lang="en-US" sz="3200" dirty="0">
                <a:cs typeface="Consolas" panose="020B0609020204030204" pitchFamily="49" charset="0"/>
              </a:rPr>
              <a:t>=</a:t>
            </a:r>
            <a:r>
              <a:rPr lang="en-US" i="1" dirty="0" smtClean="0">
                <a:solidFill>
                  <a:srgbClr val="CC00CC"/>
                </a:solidFill>
                <a:cs typeface="Consolas" panose="020B0609020204030204" pitchFamily="49" charset="0"/>
              </a:rPr>
              <a:t>countTNodeLeafLevelK</a:t>
            </a:r>
            <a:r>
              <a:rPr lang="en-US" b="0" dirty="0" smtClean="0">
                <a:cs typeface="Consolas" panose="020B0609020204030204" pitchFamily="49" charset="0"/>
              </a:rPr>
              <a:t>(root</a:t>
            </a:r>
            <a:r>
              <a:rPr lang="en-US" b="0" dirty="0" smtClean="0">
                <a:cs typeface="Consolas" panose="020B0609020204030204" pitchFamily="49" charset="0"/>
                <a:sym typeface="Symbol"/>
              </a:rPr>
              <a:t></a:t>
            </a:r>
            <a:r>
              <a:rPr lang="en-US" b="0" smtClean="0">
                <a:cs typeface="Consolas" panose="020B0609020204030204" pitchFamily="49" charset="0"/>
              </a:rPr>
              <a:t>Right, k</a:t>
            </a:r>
            <a:r>
              <a:rPr lang="en-US" b="0" dirty="0" smtClean="0">
                <a:cs typeface="Consolas" panose="020B0609020204030204" pitchFamily="49" charset="0"/>
              </a:rPr>
              <a:t>)</a:t>
            </a:r>
            <a:r>
              <a:rPr lang="en-US" sz="3200" dirty="0">
                <a:cs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100"/>
              </a:spcBef>
              <a:buNone/>
              <a:tabLst>
                <a:tab pos="450850" algn="l"/>
                <a:tab pos="1165225" algn="l"/>
                <a:tab pos="1371600" algn="l"/>
              </a:tabLst>
            </a:pPr>
            <a:r>
              <a:rPr lang="en-US" sz="3200" dirty="0">
                <a:cs typeface="Consolas" panose="020B0609020204030204" pitchFamily="49" charset="0"/>
              </a:rPr>
              <a:t>	return (</a:t>
            </a:r>
            <a:r>
              <a:rPr lang="en-US" sz="3200" dirty="0" err="1">
                <a:solidFill>
                  <a:srgbClr val="C00000"/>
                </a:solidFill>
                <a:cs typeface="Consolas" panose="020B0609020204030204" pitchFamily="49" charset="0"/>
              </a:rPr>
              <a:t>nl</a:t>
            </a:r>
            <a:r>
              <a:rPr lang="en-US" sz="3200" dirty="0">
                <a:cs typeface="Consolas" panose="020B0609020204030204" pitchFamily="49" charset="0"/>
              </a:rPr>
              <a:t> + </a:t>
            </a:r>
            <a:r>
              <a:rPr lang="en-US" sz="3200" dirty="0">
                <a:solidFill>
                  <a:srgbClr val="FF0000"/>
                </a:solidFill>
                <a:cs typeface="Consolas" panose="020B0609020204030204" pitchFamily="49" charset="0"/>
              </a:rPr>
              <a:t>nr</a:t>
            </a:r>
            <a:r>
              <a:rPr lang="en-US" sz="3200" dirty="0">
                <a:cs typeface="Consolas" panose="020B0609020204030204" pitchFamily="49" charset="0"/>
              </a:rPr>
              <a:t>);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None/>
              <a:tabLst>
                <a:tab pos="450850" algn="l"/>
                <a:tab pos="1165225" algn="l"/>
                <a:tab pos="1371600" algn="l"/>
              </a:tabLst>
            </a:pPr>
            <a:r>
              <a:rPr lang="en-US" sz="3600" dirty="0">
                <a:solidFill>
                  <a:srgbClr val="CC0000"/>
                </a:solidFill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747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696" y="2154344"/>
            <a:ext cx="10642600" cy="650354"/>
          </a:xfrm>
        </p:spPr>
        <p:txBody>
          <a:bodyPr/>
          <a:lstStyle/>
          <a:p>
            <a:pPr algn="ctr"/>
            <a:r>
              <a:rPr lang="en-US" smtClean="0"/>
              <a:t>Demo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8696" y="3036139"/>
            <a:ext cx="10642600" cy="74114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smtClean="0">
                <a:solidFill>
                  <a:srgbClr val="0070C0"/>
                </a:solidFill>
                <a:hlinkClick r:id="rId2"/>
              </a:rPr>
              <a:t>https</a:t>
            </a:r>
            <a:r>
              <a:rPr lang="en-US" sz="2800">
                <a:solidFill>
                  <a:srgbClr val="0070C0"/>
                </a:solidFill>
                <a:hlinkClick r:id="rId2"/>
              </a:rPr>
              <a:t>://www.cs.usfca.edu/~</a:t>
            </a:r>
            <a:r>
              <a:rPr lang="en-US" sz="2800" smtClean="0">
                <a:solidFill>
                  <a:srgbClr val="0070C0"/>
                </a:solidFill>
                <a:hlinkClick r:id="rId2"/>
              </a:rPr>
              <a:t>galles/visualization/BST.html</a:t>
            </a:r>
            <a:endParaRPr lang="en-US" sz="2800" smtClean="0">
              <a:solidFill>
                <a:srgbClr val="0070C0"/>
              </a:solidFill>
            </a:endParaRPr>
          </a:p>
          <a:p>
            <a:pPr marL="0" indent="0" algn="ctr">
              <a:buNone/>
            </a:pPr>
            <a:endParaRPr lang="en-US" sz="2800">
              <a:solidFill>
                <a:srgbClr val="0070C0"/>
              </a:solidFill>
            </a:endParaRPr>
          </a:p>
          <a:p>
            <a:pPr marL="0" indent="0" algn="ctr">
              <a:buNone/>
            </a:pPr>
            <a:endParaRPr lang="en-US" sz="2800" smtClean="0">
              <a:solidFill>
                <a:srgbClr val="0070C0"/>
              </a:solidFill>
            </a:endParaRPr>
          </a:p>
          <a:p>
            <a:pPr marL="0" indent="0" algn="ctr">
              <a:buNone/>
            </a:pPr>
            <a:endParaRPr lang="en-US" sz="280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41</a:t>
            </a:fld>
            <a:endParaRPr lang="en-US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970915" y="856689"/>
            <a:ext cx="9922372" cy="8382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b="1" kern="1200" spc="-50" baseline="0">
                <a:solidFill>
                  <a:srgbClr val="0000C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 7. </a:t>
            </a:r>
            <a:r>
              <a:rPr lang="en-US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CÂY NHỊ PHÂN TÌM KIẾM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1305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53" name="Rectangle 26"/>
          <p:cNvSpPr>
            <a:spLocks noChangeArrowheads="1"/>
          </p:cNvSpPr>
          <p:nvPr/>
        </p:nvSpPr>
        <p:spPr bwMode="auto">
          <a:xfrm>
            <a:off x="6096000" y="4114800"/>
            <a:ext cx="2667000" cy="1676400"/>
          </a:xfrm>
          <a:prstGeom prst="rect">
            <a:avLst/>
          </a:prstGeom>
          <a:gradFill rotWithShape="1">
            <a:gsLst>
              <a:gs pos="0">
                <a:srgbClr val="FF00FF">
                  <a:alpha val="9018"/>
                </a:srgbClr>
              </a:gs>
              <a:gs pos="100000">
                <a:srgbClr val="760076"/>
              </a:gs>
            </a:gsLst>
            <a:path path="shape">
              <a:fillToRect l="50000" t="50000" r="50000" b="50000"/>
            </a:path>
          </a:gradFill>
          <a:ln w="28575" cap="rnd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402452" name="Rectangle 25"/>
          <p:cNvSpPr>
            <a:spLocks noChangeArrowheads="1"/>
          </p:cNvSpPr>
          <p:nvPr/>
        </p:nvSpPr>
        <p:spPr bwMode="auto">
          <a:xfrm>
            <a:off x="3073400" y="4114800"/>
            <a:ext cx="2667000" cy="1676400"/>
          </a:xfrm>
          <a:prstGeom prst="rect">
            <a:avLst/>
          </a:prstGeom>
          <a:gradFill rotWithShape="1">
            <a:gsLst>
              <a:gs pos="0">
                <a:srgbClr val="66FF33"/>
              </a:gs>
              <a:gs pos="100000">
                <a:srgbClr val="2F7618"/>
              </a:gs>
            </a:gsLst>
            <a:path path="shape">
              <a:fillToRect l="50000" t="50000" r="50000" b="50000"/>
            </a:path>
          </a:gradFill>
          <a:ln w="28575" cap="rnd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402454" name="Text Box 27"/>
          <p:cNvSpPr txBox="1">
            <a:spLocks noChangeArrowheads="1"/>
          </p:cNvSpPr>
          <p:nvPr/>
        </p:nvSpPr>
        <p:spPr bwMode="auto">
          <a:xfrm>
            <a:off x="3149600" y="4127500"/>
            <a:ext cx="488950" cy="369888"/>
          </a:xfrm>
          <a:prstGeom prst="rect">
            <a:avLst/>
          </a:prstGeom>
          <a:solidFill>
            <a:srgbClr val="CC00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>
                <a:solidFill>
                  <a:schemeClr val="bg1"/>
                </a:solidFill>
                <a:latin typeface="Times New Roman" pitchFamily="18" charset="0"/>
              </a:rPr>
              <a:t>&lt; 5</a:t>
            </a:r>
          </a:p>
        </p:txBody>
      </p:sp>
      <p:sp>
        <p:nvSpPr>
          <p:cNvPr id="4506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504243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Khái niệm</a:t>
            </a:r>
          </a:p>
        </p:txBody>
      </p:sp>
      <p:sp>
        <p:nvSpPr>
          <p:cNvPr id="45062" name="Rectangle 7"/>
          <p:cNvSpPr>
            <a:spLocks noGrp="1" noChangeArrowheads="1"/>
          </p:cNvSpPr>
          <p:nvPr>
            <p:ph idx="4294967295"/>
          </p:nvPr>
        </p:nvSpPr>
        <p:spPr>
          <a:xfrm>
            <a:off x="1097281" y="1298609"/>
            <a:ext cx="10115202" cy="1905000"/>
          </a:xfrm>
        </p:spPr>
        <p:txBody>
          <a:bodyPr>
            <a:noAutofit/>
          </a:bodyPr>
          <a:lstStyle/>
          <a:p>
            <a:pPr marL="457200" indent="-457200">
              <a:lnSpc>
                <a:spcPct val="130000"/>
              </a:lnSpc>
              <a:buFont typeface="Wingdings" pitchFamily="2" charset="2"/>
              <a:buChar char="§"/>
            </a:pPr>
            <a:r>
              <a:rPr lang="en-US" sz="2800"/>
              <a:t>BST </a:t>
            </a:r>
            <a:r>
              <a:rPr lang="en-US" sz="2800" smtClean="0"/>
              <a:t>(Binary </a:t>
            </a:r>
            <a:r>
              <a:rPr lang="en-US" sz="2800"/>
              <a:t>Search Tree</a:t>
            </a:r>
            <a:r>
              <a:rPr lang="en-US" sz="2800" smtClean="0"/>
              <a:t>) là </a:t>
            </a:r>
            <a:r>
              <a:rPr lang="en-US" sz="2800"/>
              <a:t>cây nhị phân mà mỗi nút thoả:</a:t>
            </a:r>
          </a:p>
          <a:p>
            <a:pPr marL="914400" lvl="1" indent="-457200">
              <a:lnSpc>
                <a:spcPct val="130000"/>
              </a:lnSpc>
              <a:buFont typeface="Arial" charset="0"/>
              <a:buChar char="•"/>
            </a:pPr>
            <a:r>
              <a:rPr lang="en-US" sz="2800"/>
              <a:t>Giá trị của tất cả nút con trái &lt; nút gốc</a:t>
            </a:r>
          </a:p>
          <a:p>
            <a:pPr marL="914400" lvl="1" indent="-457200">
              <a:lnSpc>
                <a:spcPct val="130000"/>
              </a:lnSpc>
              <a:buFont typeface="Arial" charset="0"/>
              <a:buChar char="•"/>
            </a:pPr>
            <a:r>
              <a:rPr lang="en-US" sz="2800"/>
              <a:t>Giá trị của tất cả nút con phải &gt; nút gốc </a:t>
            </a:r>
          </a:p>
        </p:txBody>
      </p:sp>
      <p:sp>
        <p:nvSpPr>
          <p:cNvPr id="45063" name="Oval 8"/>
          <p:cNvSpPr>
            <a:spLocks noChangeArrowheads="1"/>
          </p:cNvSpPr>
          <p:nvPr/>
        </p:nvSpPr>
        <p:spPr bwMode="auto">
          <a:xfrm>
            <a:off x="5664200" y="3276600"/>
            <a:ext cx="5334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800">
                <a:solidFill>
                  <a:schemeClr val="bg1"/>
                </a:solidFill>
                <a:latin typeface="Times New Roman" pitchFamily="18" charset="0"/>
              </a:rPr>
              <a:t>5</a:t>
            </a:r>
          </a:p>
        </p:txBody>
      </p:sp>
      <p:sp>
        <p:nvSpPr>
          <p:cNvPr id="45064" name="Oval 9"/>
          <p:cNvSpPr>
            <a:spLocks noChangeArrowheads="1"/>
          </p:cNvSpPr>
          <p:nvPr/>
        </p:nvSpPr>
        <p:spPr bwMode="auto">
          <a:xfrm>
            <a:off x="4114800" y="4279900"/>
            <a:ext cx="5334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800">
                <a:solidFill>
                  <a:schemeClr val="bg1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45065" name="Oval 11"/>
          <p:cNvSpPr>
            <a:spLocks noChangeArrowheads="1"/>
          </p:cNvSpPr>
          <p:nvPr/>
        </p:nvSpPr>
        <p:spPr bwMode="auto">
          <a:xfrm>
            <a:off x="3289300" y="5118100"/>
            <a:ext cx="5334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800">
                <a:solidFill>
                  <a:schemeClr val="bg1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45066" name="Oval 12"/>
          <p:cNvSpPr>
            <a:spLocks noChangeArrowheads="1"/>
          </p:cNvSpPr>
          <p:nvPr/>
        </p:nvSpPr>
        <p:spPr bwMode="auto">
          <a:xfrm>
            <a:off x="5041900" y="5118100"/>
            <a:ext cx="5334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800">
                <a:solidFill>
                  <a:schemeClr val="bg1"/>
                </a:solidFill>
                <a:latin typeface="Times New Roman" pitchFamily="18" charset="0"/>
              </a:rPr>
              <a:t>4</a:t>
            </a:r>
          </a:p>
        </p:txBody>
      </p:sp>
      <p:sp>
        <p:nvSpPr>
          <p:cNvPr id="45067" name="Oval 13"/>
          <p:cNvSpPr>
            <a:spLocks noChangeArrowheads="1"/>
          </p:cNvSpPr>
          <p:nvPr/>
        </p:nvSpPr>
        <p:spPr bwMode="auto">
          <a:xfrm>
            <a:off x="7162800" y="4279900"/>
            <a:ext cx="5334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800">
                <a:solidFill>
                  <a:schemeClr val="bg1"/>
                </a:solidFill>
                <a:latin typeface="Times New Roman" pitchFamily="18" charset="0"/>
              </a:rPr>
              <a:t>10</a:t>
            </a:r>
          </a:p>
        </p:txBody>
      </p:sp>
      <p:sp>
        <p:nvSpPr>
          <p:cNvPr id="45068" name="Oval 14"/>
          <p:cNvSpPr>
            <a:spLocks noChangeArrowheads="1"/>
          </p:cNvSpPr>
          <p:nvPr/>
        </p:nvSpPr>
        <p:spPr bwMode="auto">
          <a:xfrm>
            <a:off x="6311900" y="5118100"/>
            <a:ext cx="5334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800">
                <a:solidFill>
                  <a:schemeClr val="bg1"/>
                </a:solidFill>
                <a:latin typeface="Times New Roman" pitchFamily="18" charset="0"/>
              </a:rPr>
              <a:t>8</a:t>
            </a:r>
          </a:p>
        </p:txBody>
      </p:sp>
      <p:sp>
        <p:nvSpPr>
          <p:cNvPr id="45069" name="Oval 15"/>
          <p:cNvSpPr>
            <a:spLocks noChangeArrowheads="1"/>
          </p:cNvSpPr>
          <p:nvPr/>
        </p:nvSpPr>
        <p:spPr bwMode="auto">
          <a:xfrm>
            <a:off x="8064500" y="5118100"/>
            <a:ext cx="5334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800">
                <a:solidFill>
                  <a:schemeClr val="bg1"/>
                </a:solidFill>
                <a:latin typeface="Times New Roman" pitchFamily="18" charset="0"/>
              </a:rPr>
              <a:t>20</a:t>
            </a:r>
          </a:p>
        </p:txBody>
      </p:sp>
      <p:sp>
        <p:nvSpPr>
          <p:cNvPr id="45070" name="Line 17"/>
          <p:cNvSpPr>
            <a:spLocks noChangeShapeType="1"/>
          </p:cNvSpPr>
          <p:nvPr/>
        </p:nvSpPr>
        <p:spPr bwMode="auto">
          <a:xfrm flipH="1">
            <a:off x="4419600" y="3746500"/>
            <a:ext cx="1524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5071" name="Line 18"/>
          <p:cNvSpPr>
            <a:spLocks noChangeShapeType="1"/>
          </p:cNvSpPr>
          <p:nvPr/>
        </p:nvSpPr>
        <p:spPr bwMode="auto">
          <a:xfrm>
            <a:off x="5943600" y="3746500"/>
            <a:ext cx="1447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5072" name="Line 19"/>
          <p:cNvSpPr>
            <a:spLocks noChangeShapeType="1"/>
          </p:cNvSpPr>
          <p:nvPr/>
        </p:nvSpPr>
        <p:spPr bwMode="auto">
          <a:xfrm flipH="1">
            <a:off x="3670300" y="47371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5073" name="Line 20"/>
          <p:cNvSpPr>
            <a:spLocks noChangeShapeType="1"/>
          </p:cNvSpPr>
          <p:nvPr/>
        </p:nvSpPr>
        <p:spPr bwMode="auto">
          <a:xfrm>
            <a:off x="4356100" y="4737100"/>
            <a:ext cx="838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5074" name="Line 21"/>
          <p:cNvSpPr>
            <a:spLocks noChangeShapeType="1"/>
          </p:cNvSpPr>
          <p:nvPr/>
        </p:nvSpPr>
        <p:spPr bwMode="auto">
          <a:xfrm flipH="1">
            <a:off x="6616700" y="4737100"/>
            <a:ext cx="838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5075" name="Line 22"/>
          <p:cNvSpPr>
            <a:spLocks noChangeShapeType="1"/>
          </p:cNvSpPr>
          <p:nvPr/>
        </p:nvSpPr>
        <p:spPr bwMode="auto">
          <a:xfrm>
            <a:off x="7454900" y="4737100"/>
            <a:ext cx="838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2455" name="Text Box 28"/>
          <p:cNvSpPr txBox="1">
            <a:spLocks noChangeArrowheads="1"/>
          </p:cNvSpPr>
          <p:nvPr/>
        </p:nvSpPr>
        <p:spPr bwMode="auto">
          <a:xfrm>
            <a:off x="6172200" y="4127500"/>
            <a:ext cx="488950" cy="369888"/>
          </a:xfrm>
          <a:prstGeom prst="rect">
            <a:avLst/>
          </a:prstGeom>
          <a:solidFill>
            <a:srgbClr val="CC00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>
                <a:solidFill>
                  <a:schemeClr val="bg1"/>
                </a:solidFill>
                <a:latin typeface="Times New Roman" pitchFamily="18" charset="0"/>
              </a:rPr>
              <a:t>&gt; 5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1849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513865"/>
            <a:ext cx="10541000" cy="72186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sz="3600"/>
              <a:t>CẤU TRÚC CÂY NHỊ PHÂN TÌM KIẾM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63600" y="1120597"/>
            <a:ext cx="10541000" cy="516299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§"/>
            </a:pPr>
            <a:r>
              <a:rPr lang="en-US" sz="3200"/>
              <a:t>Cấu trúc dữ liệu của cây nhị phân tìm kiếm.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600200" y="1700336"/>
            <a:ext cx="9160086" cy="4832092"/>
            <a:chOff x="1600200" y="1536700"/>
            <a:chExt cx="9160086" cy="4832092"/>
          </a:xfrm>
        </p:grpSpPr>
        <p:sp>
          <p:nvSpPr>
            <p:cNvPr id="20486" name="Text Box 4"/>
            <p:cNvSpPr txBox="1">
              <a:spLocks noChangeArrowheads="1"/>
            </p:cNvSpPr>
            <p:nvPr/>
          </p:nvSpPr>
          <p:spPr bwMode="auto">
            <a:xfrm>
              <a:off x="1600200" y="1536700"/>
              <a:ext cx="5267114" cy="4832092"/>
            </a:xfrm>
            <a:prstGeom prst="rect">
              <a:avLst/>
            </a:prstGeom>
            <a:solidFill>
              <a:srgbClr val="CCFFCC">
                <a:alpha val="14117"/>
              </a:srgbClr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 eaLnBrk="0" hangingPunct="0"/>
              <a:r>
                <a:rPr lang="en-US" sz="2800" dirty="0" err="1">
                  <a:solidFill>
                    <a:srgbClr val="0070C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typedef</a:t>
              </a:r>
              <a:r>
                <a:rPr lang="en-US" sz="2800" dirty="0">
                  <a:solidFill>
                    <a:srgbClr val="00006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2800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en-US" sz="28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2800" dirty="0" err="1">
                  <a:solidFill>
                    <a:srgbClr val="0000CC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ItemType</a:t>
              </a:r>
              <a:r>
                <a:rPr lang="en-US" sz="28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endParaRPr lang="en-US" sz="28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algn="l" eaLnBrk="0" hangingPunct="0"/>
              <a:r>
                <a:rPr lang="en-US" sz="2800" dirty="0" err="1">
                  <a:solidFill>
                    <a:srgbClr val="00006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struct</a:t>
              </a:r>
              <a:r>
                <a:rPr lang="en-US" sz="28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2800" dirty="0" err="1">
                  <a:solidFill>
                    <a:srgbClr val="0000CC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TNode</a:t>
              </a:r>
              <a:endParaRPr lang="en-US" sz="2800" dirty="0">
                <a:solidFill>
                  <a:srgbClr val="0000CC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algn="l" eaLnBrk="0" hangingPunct="0"/>
              <a:r>
                <a:rPr lang="en-US" sz="2800" dirty="0">
                  <a:solidFill>
                    <a:srgbClr val="00006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</a:p>
            <a:p>
              <a:pPr algn="l" eaLnBrk="0" hangingPunct="0"/>
              <a:r>
                <a:rPr lang="en-US" sz="2800" dirty="0">
                  <a:latin typeface="Consolas" panose="020B0609020204030204" pitchFamily="49" charset="0"/>
                  <a:cs typeface="Consolas" panose="020B0609020204030204" pitchFamily="49" charset="0"/>
                </a:rPr>
                <a:t>	</a:t>
              </a:r>
              <a:r>
                <a:rPr lang="en-US" sz="2800" dirty="0" err="1">
                  <a:solidFill>
                    <a:srgbClr val="0000CC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ItemType</a:t>
              </a:r>
              <a:r>
                <a:rPr lang="en-US" sz="28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2800" i="1" dirty="0">
                  <a:solidFill>
                    <a:srgbClr val="FF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Info</a:t>
              </a:r>
              <a:r>
                <a:rPr lang="en-US" sz="28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pPr algn="l" eaLnBrk="0" hangingPunct="0"/>
              <a:r>
                <a:rPr lang="en-US" sz="2800" dirty="0">
                  <a:latin typeface="Consolas" panose="020B0609020204030204" pitchFamily="49" charset="0"/>
                  <a:cs typeface="Consolas" panose="020B0609020204030204" pitchFamily="49" charset="0"/>
                </a:rPr>
                <a:t>	</a:t>
              </a:r>
              <a:r>
                <a:rPr lang="en-US" sz="2800" dirty="0" err="1">
                  <a:solidFill>
                    <a:srgbClr val="0000CC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TNode</a:t>
              </a:r>
              <a:r>
                <a:rPr lang="en-US" sz="2800" dirty="0">
                  <a:solidFill>
                    <a:srgbClr val="FF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* </a:t>
              </a:r>
              <a:r>
                <a:rPr lang="en-US" sz="2800" i="1" dirty="0">
                  <a:solidFill>
                    <a:srgbClr val="FF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Left</a:t>
              </a:r>
              <a:r>
                <a:rPr lang="en-US" sz="28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pPr algn="l" eaLnBrk="0" hangingPunct="0"/>
              <a:r>
                <a:rPr lang="en-US" sz="2800" dirty="0">
                  <a:latin typeface="Consolas" panose="020B0609020204030204" pitchFamily="49" charset="0"/>
                  <a:cs typeface="Consolas" panose="020B0609020204030204" pitchFamily="49" charset="0"/>
                </a:rPr>
                <a:t>	</a:t>
              </a:r>
              <a:r>
                <a:rPr lang="en-US" sz="2800" dirty="0" err="1">
                  <a:solidFill>
                    <a:srgbClr val="0000CC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TNode</a:t>
              </a:r>
              <a:r>
                <a:rPr lang="en-US" sz="2800" dirty="0">
                  <a:solidFill>
                    <a:srgbClr val="FF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* </a:t>
              </a:r>
              <a:r>
                <a:rPr lang="en-US" sz="2800" i="1" dirty="0">
                  <a:solidFill>
                    <a:srgbClr val="FF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Right</a:t>
              </a:r>
              <a:r>
                <a:rPr lang="en-US" sz="28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pPr algn="l" eaLnBrk="0" hangingPunct="0"/>
              <a:r>
                <a:rPr lang="en-US" sz="2800" dirty="0">
                  <a:solidFill>
                    <a:srgbClr val="00006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  <a:r>
                <a:rPr lang="en-US" sz="2800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pPr algn="l" eaLnBrk="0" hangingPunct="0"/>
              <a:r>
                <a:rPr lang="en-US" sz="2800" dirty="0" err="1">
                  <a:solidFill>
                    <a:srgbClr val="00006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struct</a:t>
              </a:r>
              <a:r>
                <a:rPr lang="en-US" sz="2800" dirty="0">
                  <a:solidFill>
                    <a:srgbClr val="00006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2800" dirty="0" err="1">
                  <a:solidFill>
                    <a:srgbClr val="0000CC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BSTree</a:t>
              </a:r>
              <a:endParaRPr lang="en-US" sz="2800" dirty="0">
                <a:solidFill>
                  <a:srgbClr val="0000CC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algn="l" eaLnBrk="0" hangingPunct="0"/>
              <a:r>
                <a:rPr lang="en-US" sz="2800" dirty="0">
                  <a:solidFill>
                    <a:srgbClr val="00006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</a:p>
            <a:p>
              <a:pPr algn="l" eaLnBrk="0" hangingPunct="0"/>
              <a:r>
                <a:rPr lang="en-US" sz="2800" dirty="0">
                  <a:solidFill>
                    <a:srgbClr val="00006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	</a:t>
              </a:r>
              <a:r>
                <a:rPr lang="en-US" sz="2800" dirty="0" err="1">
                  <a:solidFill>
                    <a:srgbClr val="0000CC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TNode</a:t>
              </a:r>
              <a:r>
                <a:rPr lang="en-US" sz="2800" dirty="0">
                  <a:solidFill>
                    <a:srgbClr val="FF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*</a:t>
              </a:r>
              <a:r>
                <a:rPr lang="en-US" sz="2800" dirty="0">
                  <a:solidFill>
                    <a:srgbClr val="00006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2800" i="1" dirty="0">
                  <a:solidFill>
                    <a:srgbClr val="FF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Root</a:t>
              </a:r>
              <a:r>
                <a:rPr lang="en-US" sz="28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pPr algn="l" eaLnBrk="0" hangingPunct="0"/>
              <a:r>
                <a:rPr lang="en-US" sz="2800" dirty="0">
                  <a:solidFill>
                    <a:srgbClr val="00006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  <a:r>
                <a:rPr lang="en-US" sz="2800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</p:txBody>
        </p:sp>
        <p:sp>
          <p:nvSpPr>
            <p:cNvPr id="20489" name="Rectangle 7"/>
            <p:cNvSpPr>
              <a:spLocks noChangeArrowheads="1"/>
            </p:cNvSpPr>
            <p:nvPr/>
          </p:nvSpPr>
          <p:spPr bwMode="auto">
            <a:xfrm>
              <a:off x="2395538" y="2888612"/>
              <a:ext cx="3776662" cy="1404000"/>
            </a:xfrm>
            <a:prstGeom prst="rect">
              <a:avLst/>
            </a:prstGeom>
            <a:solidFill>
              <a:srgbClr val="66FF66">
                <a:alpha val="16078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20490" name="Text Box 8"/>
            <p:cNvSpPr txBox="1">
              <a:spLocks noChangeArrowheads="1"/>
            </p:cNvSpPr>
            <p:nvPr/>
          </p:nvSpPr>
          <p:spPr bwMode="auto">
            <a:xfrm>
              <a:off x="1862138" y="2476781"/>
              <a:ext cx="324326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 eaLnBrk="0" hangingPunct="0"/>
              <a:r>
                <a:rPr lang="en-US" sz="2400" i="1">
                  <a:solidFill>
                    <a:srgbClr val="00B0F0"/>
                  </a:solidFill>
                  <a:latin typeface="Times New Roman" pitchFamily="18" charset="0"/>
                </a:rPr>
                <a:t>//Cấu trúc của một nút</a:t>
              </a:r>
            </a:p>
          </p:txBody>
        </p:sp>
        <p:sp>
          <p:nvSpPr>
            <p:cNvPr id="20491" name="Line 9"/>
            <p:cNvSpPr>
              <a:spLocks noChangeShapeType="1"/>
            </p:cNvSpPr>
            <p:nvPr/>
          </p:nvSpPr>
          <p:spPr bwMode="auto">
            <a:xfrm flipV="1">
              <a:off x="6019800" y="3086099"/>
              <a:ext cx="1092200" cy="1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2" name="Text Box 10"/>
            <p:cNvSpPr txBox="1">
              <a:spLocks noChangeArrowheads="1"/>
            </p:cNvSpPr>
            <p:nvPr/>
          </p:nvSpPr>
          <p:spPr bwMode="auto">
            <a:xfrm>
              <a:off x="7113494" y="2833594"/>
              <a:ext cx="2970212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sz="2400">
                  <a:solidFill>
                    <a:srgbClr val="000066"/>
                  </a:solidFill>
                  <a:latin typeface="Times New Roman" pitchFamily="18" charset="0"/>
                </a:rPr>
                <a:t>Chứa thông tin của nút</a:t>
              </a:r>
            </a:p>
          </p:txBody>
        </p:sp>
        <p:sp>
          <p:nvSpPr>
            <p:cNvPr id="20493" name="Line 11"/>
            <p:cNvSpPr>
              <a:spLocks noChangeShapeType="1"/>
            </p:cNvSpPr>
            <p:nvPr/>
          </p:nvSpPr>
          <p:spPr bwMode="auto">
            <a:xfrm flipV="1">
              <a:off x="6019801" y="4000500"/>
              <a:ext cx="1101725" cy="1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4" name="Text Box 12"/>
            <p:cNvSpPr txBox="1">
              <a:spLocks noChangeArrowheads="1"/>
            </p:cNvSpPr>
            <p:nvPr/>
          </p:nvSpPr>
          <p:spPr bwMode="auto">
            <a:xfrm>
              <a:off x="7121526" y="3695700"/>
              <a:ext cx="2962181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 eaLnBrk="0" hangingPunct="0"/>
              <a:r>
                <a:rPr lang="en-US" sz="2400">
                  <a:solidFill>
                    <a:srgbClr val="000066"/>
                  </a:solidFill>
                  <a:latin typeface="Times New Roman" pitchFamily="18" charset="0"/>
                </a:rPr>
                <a:t>Trỏ đến nút con phải</a:t>
              </a:r>
            </a:p>
          </p:txBody>
        </p:sp>
        <p:sp>
          <p:nvSpPr>
            <p:cNvPr id="20495" name="Line 13"/>
            <p:cNvSpPr>
              <a:spLocks noChangeShapeType="1"/>
            </p:cNvSpPr>
            <p:nvPr/>
          </p:nvSpPr>
          <p:spPr bwMode="auto">
            <a:xfrm>
              <a:off x="6019800" y="3543300"/>
              <a:ext cx="1101726" cy="1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6" name="Text Box 14"/>
            <p:cNvSpPr txBox="1">
              <a:spLocks noChangeArrowheads="1"/>
            </p:cNvSpPr>
            <p:nvPr/>
          </p:nvSpPr>
          <p:spPr bwMode="auto">
            <a:xfrm>
              <a:off x="7112000" y="3314700"/>
              <a:ext cx="2971706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 eaLnBrk="0" hangingPunct="0"/>
              <a:r>
                <a:rPr lang="en-US" sz="2400">
                  <a:solidFill>
                    <a:srgbClr val="000066"/>
                  </a:solidFill>
                  <a:latin typeface="Times New Roman" pitchFamily="18" charset="0"/>
                </a:rPr>
                <a:t>Trỏ đến nút con trái</a:t>
              </a:r>
            </a:p>
          </p:txBody>
        </p:sp>
        <p:sp>
          <p:nvSpPr>
            <p:cNvPr id="2" name="Text Box 8"/>
            <p:cNvSpPr txBox="1">
              <a:spLocks noChangeArrowheads="1"/>
            </p:cNvSpPr>
            <p:nvPr/>
          </p:nvSpPr>
          <p:spPr bwMode="auto">
            <a:xfrm>
              <a:off x="7125958" y="5448301"/>
              <a:ext cx="363432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sz="2400">
                  <a:solidFill>
                    <a:srgbClr val="000066"/>
                  </a:solidFill>
                  <a:latin typeface="Times New Roman" pitchFamily="18" charset="0"/>
                </a:rPr>
                <a:t>Con trỏ đến nút gốc của cây</a:t>
              </a:r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5410200" y="5676900"/>
              <a:ext cx="175260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Box 8"/>
            <p:cNvSpPr txBox="1">
              <a:spLocks noChangeArrowheads="1"/>
            </p:cNvSpPr>
            <p:nvPr/>
          </p:nvSpPr>
          <p:spPr bwMode="auto">
            <a:xfrm>
              <a:off x="1862138" y="5078506"/>
              <a:ext cx="324326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 eaLnBrk="0" hangingPunct="0"/>
              <a:r>
                <a:rPr lang="en-US" sz="2400" i="1">
                  <a:solidFill>
                    <a:srgbClr val="00B0F0"/>
                  </a:solidFill>
                  <a:latin typeface="Times New Roman" pitchFamily="18" charset="0"/>
                </a:rPr>
                <a:t>//Cấu trúc của một cây</a:t>
              </a: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9966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590864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Cây nhị phân tìm kiếm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752600" y="1471058"/>
            <a:ext cx="8763000" cy="54864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§"/>
            </a:pPr>
            <a:r>
              <a:rPr lang="en-US" sz="3600"/>
              <a:t>Xây dựng cây BST</a:t>
            </a:r>
            <a:endParaRPr lang="en-US" sz="4000"/>
          </a:p>
          <a:p>
            <a:pPr marL="914400" lvl="1" indent="-457200">
              <a:buFont typeface="Arial" charset="0"/>
              <a:buChar char="•"/>
            </a:pPr>
            <a:r>
              <a:rPr lang="en-US" sz="3200"/>
              <a:t>Tìm kiếm/ thêm</a:t>
            </a:r>
          </a:p>
          <a:p>
            <a:pPr marL="914400" lvl="1" indent="-457200">
              <a:buFont typeface="Arial" charset="0"/>
              <a:buChar char="•"/>
            </a:pPr>
            <a:r>
              <a:rPr lang="en-US" sz="3200"/>
              <a:t>Xóa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600"/>
              <a:t>Luôn duy trì tính chất</a:t>
            </a:r>
          </a:p>
          <a:p>
            <a:pPr marL="914400" lvl="1" indent="-457200">
              <a:buFont typeface="Arial" charset="0"/>
              <a:buChar char="•"/>
            </a:pPr>
            <a:r>
              <a:rPr lang="en-US" sz="3200"/>
              <a:t>Giá trị nhỏ hơn ở bên cây con trái</a:t>
            </a:r>
          </a:p>
          <a:p>
            <a:pPr marL="914400" lvl="1" indent="-457200">
              <a:buFont typeface="Arial" charset="0"/>
              <a:buChar char="•"/>
            </a:pPr>
            <a:r>
              <a:rPr lang="en-US" sz="3200"/>
              <a:t>Giá trị lớn hơn ở bên cây con phải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061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17090" y="610120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Tìm kiếm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7002" y="1423478"/>
            <a:ext cx="12114998" cy="5029200"/>
          </a:xfrm>
        </p:spPr>
        <p:txBody>
          <a:bodyPr/>
          <a:lstStyle/>
          <a:p>
            <a:pPr marL="457200" indent="-457200">
              <a:lnSpc>
                <a:spcPct val="120000"/>
              </a:lnSpc>
              <a:buFont typeface="Wingdings" pitchFamily="2" charset="2"/>
              <a:buChar char="§"/>
            </a:pPr>
            <a:r>
              <a:rPr lang="en-US" sz="3200" dirty="0"/>
              <a:t>Xuất phát từ gốc</a:t>
            </a:r>
          </a:p>
          <a:p>
            <a:pPr marL="914400" lvl="1" indent="-457200">
              <a:lnSpc>
                <a:spcPct val="120000"/>
              </a:lnSpc>
              <a:buFont typeface="Arial" charset="0"/>
              <a:buChar char="•"/>
            </a:pPr>
            <a:r>
              <a:rPr lang="en-US" sz="3200" dirty="0"/>
              <a:t>Nếu gốc = NULL </a:t>
            </a:r>
            <a:r>
              <a:rPr lang="en-US" sz="3200" dirty="0">
                <a:solidFill>
                  <a:srgbClr val="FF00FF"/>
                </a:solidFill>
              </a:rPr>
              <a:t>=&gt; không tìm thấy</a:t>
            </a:r>
          </a:p>
          <a:p>
            <a:pPr marL="914400" lvl="1" indent="-457200">
              <a:lnSpc>
                <a:spcPct val="120000"/>
              </a:lnSpc>
              <a:buFont typeface="Arial" charset="0"/>
              <a:buChar char="•"/>
            </a:pPr>
            <a:r>
              <a:rPr lang="en-US" sz="3200" dirty="0"/>
              <a:t>Nếu khóa x = khóa nút gốc </a:t>
            </a:r>
            <a:r>
              <a:rPr lang="en-US" sz="3200" dirty="0">
                <a:solidFill>
                  <a:srgbClr val="FF00FF"/>
                </a:solidFill>
              </a:rPr>
              <a:t>=&gt; tìm thấy</a:t>
            </a:r>
          </a:p>
          <a:p>
            <a:pPr marL="914400" lvl="1" indent="-457200">
              <a:lnSpc>
                <a:spcPct val="120000"/>
              </a:lnSpc>
              <a:buFont typeface="Arial" charset="0"/>
              <a:buChar char="•"/>
            </a:pPr>
            <a:r>
              <a:rPr lang="en-US" sz="3200" dirty="0"/>
              <a:t>Ngược lại nếu khóa x &lt; khóa </a:t>
            </a:r>
            <a:r>
              <a:rPr lang="en-US" sz="3200"/>
              <a:t>nút </a:t>
            </a:r>
            <a:r>
              <a:rPr lang="en-US" sz="3200" smtClean="0"/>
              <a:t>gốc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3200">
                <a:solidFill>
                  <a:srgbClr val="FF00FF"/>
                </a:solidFill>
              </a:rPr>
              <a:t>	</a:t>
            </a:r>
            <a:r>
              <a:rPr lang="en-US" sz="3200" smtClean="0">
                <a:solidFill>
                  <a:srgbClr val="FF00FF"/>
                </a:solidFill>
              </a:rPr>
              <a:t>	=&gt; </a:t>
            </a:r>
            <a:r>
              <a:rPr lang="en-US" sz="3200" dirty="0">
                <a:solidFill>
                  <a:srgbClr val="FF00FF"/>
                </a:solidFill>
              </a:rPr>
              <a:t>Tìm trên cây bên trái</a:t>
            </a:r>
          </a:p>
          <a:p>
            <a:pPr marL="914400" lvl="1" indent="-457200">
              <a:lnSpc>
                <a:spcPct val="120000"/>
              </a:lnSpc>
              <a:buFont typeface="Arial" charset="0"/>
              <a:buChar char="•"/>
            </a:pPr>
            <a:r>
              <a:rPr lang="en-US" sz="3200" dirty="0"/>
              <a:t>Ngược </a:t>
            </a:r>
            <a:r>
              <a:rPr lang="en-US" sz="3200"/>
              <a:t>lại </a:t>
            </a:r>
            <a:endParaRPr lang="en-US" sz="3200" smtClean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2800">
                <a:solidFill>
                  <a:srgbClr val="FF00FF"/>
                </a:solidFill>
              </a:rPr>
              <a:t>	</a:t>
            </a:r>
            <a:r>
              <a:rPr lang="en-US" sz="2800" smtClean="0">
                <a:solidFill>
                  <a:srgbClr val="FF00FF"/>
                </a:solidFill>
              </a:rPr>
              <a:t>	</a:t>
            </a:r>
            <a:r>
              <a:rPr lang="en-US" sz="3200" smtClean="0">
                <a:solidFill>
                  <a:srgbClr val="FF00FF"/>
                </a:solidFill>
              </a:rPr>
              <a:t>=&gt; </a:t>
            </a:r>
            <a:r>
              <a:rPr lang="en-US" sz="3200" dirty="0">
                <a:solidFill>
                  <a:srgbClr val="FF00FF"/>
                </a:solidFill>
              </a:rPr>
              <a:t>tìm trên cây bên phải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9359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542746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Ví dụ</a:t>
            </a:r>
          </a:p>
        </p:txBody>
      </p:sp>
      <p:sp>
        <p:nvSpPr>
          <p:cNvPr id="49155" name="Oval 4"/>
          <p:cNvSpPr>
            <a:spLocks noChangeArrowheads="1"/>
          </p:cNvSpPr>
          <p:nvPr/>
        </p:nvSpPr>
        <p:spPr bwMode="auto">
          <a:xfrm>
            <a:off x="2819400" y="2066925"/>
            <a:ext cx="762000" cy="571500"/>
          </a:xfrm>
          <a:prstGeom prst="ellipse">
            <a:avLst/>
          </a:prstGeom>
          <a:noFill/>
          <a:ln w="57150">
            <a:solidFill>
              <a:srgbClr val="008080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49156" name="Oval 5"/>
          <p:cNvSpPr>
            <a:spLocks noChangeArrowheads="1"/>
          </p:cNvSpPr>
          <p:nvPr/>
        </p:nvSpPr>
        <p:spPr bwMode="auto">
          <a:xfrm>
            <a:off x="2286000" y="2857500"/>
            <a:ext cx="762000" cy="571500"/>
          </a:xfrm>
          <a:prstGeom prst="ellipse">
            <a:avLst/>
          </a:prstGeom>
          <a:noFill/>
          <a:ln w="57150">
            <a:solidFill>
              <a:srgbClr val="008080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49157" name="Oval 6"/>
          <p:cNvSpPr>
            <a:spLocks noChangeArrowheads="1"/>
          </p:cNvSpPr>
          <p:nvPr/>
        </p:nvSpPr>
        <p:spPr bwMode="auto">
          <a:xfrm>
            <a:off x="3276600" y="2857500"/>
            <a:ext cx="762000" cy="571500"/>
          </a:xfrm>
          <a:prstGeom prst="ellipse">
            <a:avLst/>
          </a:prstGeom>
          <a:noFill/>
          <a:ln w="57150">
            <a:solidFill>
              <a:srgbClr val="008080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49158" name="Oval 7"/>
          <p:cNvSpPr>
            <a:spLocks noChangeArrowheads="1"/>
          </p:cNvSpPr>
          <p:nvPr/>
        </p:nvSpPr>
        <p:spPr bwMode="auto">
          <a:xfrm>
            <a:off x="1981200" y="3695700"/>
            <a:ext cx="762000" cy="571500"/>
          </a:xfrm>
          <a:prstGeom prst="ellipse">
            <a:avLst/>
          </a:prstGeom>
          <a:noFill/>
          <a:ln w="57150">
            <a:solidFill>
              <a:srgbClr val="008080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49159" name="Oval 8"/>
          <p:cNvSpPr>
            <a:spLocks noChangeArrowheads="1"/>
          </p:cNvSpPr>
          <p:nvPr/>
        </p:nvSpPr>
        <p:spPr bwMode="auto">
          <a:xfrm>
            <a:off x="2895600" y="3695700"/>
            <a:ext cx="762000" cy="571500"/>
          </a:xfrm>
          <a:prstGeom prst="ellipse">
            <a:avLst/>
          </a:prstGeom>
          <a:noFill/>
          <a:ln w="57150">
            <a:solidFill>
              <a:srgbClr val="008080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cxnSp>
        <p:nvCxnSpPr>
          <p:cNvPr id="49160" name="AutoShape 9"/>
          <p:cNvCxnSpPr>
            <a:cxnSpLocks noChangeShapeType="1"/>
            <a:stCxn id="49156" idx="4"/>
            <a:endCxn id="49158" idx="0"/>
          </p:cNvCxnSpPr>
          <p:nvPr/>
        </p:nvCxnSpPr>
        <p:spPr bwMode="auto">
          <a:xfrm flipH="1">
            <a:off x="2362200" y="3457575"/>
            <a:ext cx="304800" cy="209550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49161" name="AutoShape 10"/>
          <p:cNvCxnSpPr>
            <a:cxnSpLocks noChangeShapeType="1"/>
            <a:stCxn id="49157" idx="4"/>
            <a:endCxn id="49159" idx="0"/>
          </p:cNvCxnSpPr>
          <p:nvPr/>
        </p:nvCxnSpPr>
        <p:spPr bwMode="auto">
          <a:xfrm flipH="1">
            <a:off x="3276600" y="3457575"/>
            <a:ext cx="381000" cy="209550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49162" name="AutoShape 11"/>
          <p:cNvCxnSpPr>
            <a:cxnSpLocks noChangeShapeType="1"/>
            <a:stCxn id="49155" idx="4"/>
            <a:endCxn id="49157" idx="0"/>
          </p:cNvCxnSpPr>
          <p:nvPr/>
        </p:nvCxnSpPr>
        <p:spPr bwMode="auto">
          <a:xfrm>
            <a:off x="3200400" y="2667001"/>
            <a:ext cx="457200" cy="161925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49163" name="AutoShape 12"/>
          <p:cNvCxnSpPr>
            <a:cxnSpLocks noChangeShapeType="1"/>
            <a:stCxn id="49155" idx="4"/>
            <a:endCxn id="49156" idx="0"/>
          </p:cNvCxnSpPr>
          <p:nvPr/>
        </p:nvCxnSpPr>
        <p:spPr bwMode="auto">
          <a:xfrm flipH="1">
            <a:off x="2667000" y="2667001"/>
            <a:ext cx="533400" cy="161925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49164" name="AutoShape 13"/>
          <p:cNvCxnSpPr>
            <a:cxnSpLocks noChangeShapeType="1"/>
            <a:stCxn id="49157" idx="4"/>
            <a:endCxn id="49165" idx="0"/>
          </p:cNvCxnSpPr>
          <p:nvPr/>
        </p:nvCxnSpPr>
        <p:spPr bwMode="auto">
          <a:xfrm>
            <a:off x="3657600" y="3457575"/>
            <a:ext cx="533400" cy="209550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49165" name="Oval 14"/>
          <p:cNvSpPr>
            <a:spLocks noChangeArrowheads="1"/>
          </p:cNvSpPr>
          <p:nvPr/>
        </p:nvSpPr>
        <p:spPr bwMode="auto">
          <a:xfrm>
            <a:off x="3810000" y="3695700"/>
            <a:ext cx="762000" cy="571500"/>
          </a:xfrm>
          <a:prstGeom prst="ellipse">
            <a:avLst/>
          </a:prstGeom>
          <a:noFill/>
          <a:ln w="57150">
            <a:solidFill>
              <a:srgbClr val="008080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42001" name="Text Box 15"/>
          <p:cNvSpPr txBox="1">
            <a:spLocks noChangeArrowheads="1"/>
          </p:cNvSpPr>
          <p:nvPr/>
        </p:nvSpPr>
        <p:spPr bwMode="auto">
          <a:xfrm>
            <a:off x="1617046" y="5228126"/>
            <a:ext cx="3660864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2400" b="1">
                <a:solidFill>
                  <a:srgbClr val="002060"/>
                </a:solidFill>
                <a:latin typeface="Arial" charset="0"/>
              </a:rPr>
              <a:t>Binary search </a:t>
            </a:r>
            <a:r>
              <a:rPr lang="en-US" sz="2400" b="1" smtClean="0">
                <a:solidFill>
                  <a:srgbClr val="002060"/>
                </a:solidFill>
                <a:latin typeface="Arial" charset="0"/>
              </a:rPr>
              <a:t>trees</a:t>
            </a:r>
          </a:p>
          <a:p>
            <a:pPr eaLnBrk="0" hangingPunct="0"/>
            <a:r>
              <a:rPr lang="en-US" sz="2400" b="1" smtClean="0">
                <a:solidFill>
                  <a:srgbClr val="002060"/>
                </a:solidFill>
                <a:latin typeface="Arial" charset="0"/>
              </a:rPr>
              <a:t>(Cây nhị phân TK)</a:t>
            </a:r>
            <a:endParaRPr lang="en-US" sz="2400" b="1">
              <a:solidFill>
                <a:srgbClr val="002060"/>
              </a:solidFill>
              <a:latin typeface="Arial" charset="0"/>
            </a:endParaRPr>
          </a:p>
        </p:txBody>
      </p:sp>
      <p:sp>
        <p:nvSpPr>
          <p:cNvPr id="42002" name="Text Box 16"/>
          <p:cNvSpPr txBox="1">
            <a:spLocks noChangeArrowheads="1"/>
          </p:cNvSpPr>
          <p:nvPr/>
        </p:nvSpPr>
        <p:spPr bwMode="auto">
          <a:xfrm>
            <a:off x="7486050" y="5228126"/>
            <a:ext cx="4574406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2400" b="1">
                <a:solidFill>
                  <a:srgbClr val="002060"/>
                </a:solidFill>
                <a:latin typeface="Arial" charset="0"/>
              </a:rPr>
              <a:t>Non-binary search </a:t>
            </a:r>
            <a:r>
              <a:rPr lang="en-US" sz="2400" b="1" smtClean="0">
                <a:solidFill>
                  <a:srgbClr val="002060"/>
                </a:solidFill>
                <a:latin typeface="Arial" charset="0"/>
              </a:rPr>
              <a:t>tree</a:t>
            </a:r>
          </a:p>
          <a:p>
            <a:pPr eaLnBrk="0" hangingPunct="0"/>
            <a:r>
              <a:rPr lang="en-US" sz="2400" b="1" smtClean="0">
                <a:solidFill>
                  <a:srgbClr val="002060"/>
                </a:solidFill>
                <a:latin typeface="Arial" charset="0"/>
              </a:rPr>
              <a:t>(Không phải cây nhi phân TK)</a:t>
            </a:r>
            <a:endParaRPr lang="en-US" sz="2400" b="1">
              <a:solidFill>
                <a:srgbClr val="002060"/>
              </a:solidFill>
              <a:latin typeface="Arial" charset="0"/>
            </a:endParaRPr>
          </a:p>
        </p:txBody>
      </p:sp>
      <p:sp>
        <p:nvSpPr>
          <p:cNvPr id="49168" name="Text Box 17"/>
          <p:cNvSpPr txBox="1">
            <a:spLocks noChangeArrowheads="1"/>
          </p:cNvSpPr>
          <p:nvPr/>
        </p:nvSpPr>
        <p:spPr bwMode="auto">
          <a:xfrm>
            <a:off x="2463800" y="2933700"/>
            <a:ext cx="381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>
                <a:latin typeface="Arial" charset="0"/>
              </a:rPr>
              <a:t>5</a:t>
            </a:r>
          </a:p>
        </p:txBody>
      </p:sp>
      <p:sp>
        <p:nvSpPr>
          <p:cNvPr id="49169" name="Text Box 18"/>
          <p:cNvSpPr txBox="1">
            <a:spLocks noChangeArrowheads="1"/>
          </p:cNvSpPr>
          <p:nvPr/>
        </p:nvSpPr>
        <p:spPr bwMode="auto">
          <a:xfrm>
            <a:off x="2895600" y="20955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>
                <a:latin typeface="Arial" charset="0"/>
              </a:rPr>
              <a:t>10</a:t>
            </a:r>
          </a:p>
        </p:txBody>
      </p:sp>
      <p:sp>
        <p:nvSpPr>
          <p:cNvPr id="49170" name="Text Box 19"/>
          <p:cNvSpPr txBox="1">
            <a:spLocks noChangeArrowheads="1"/>
          </p:cNvSpPr>
          <p:nvPr/>
        </p:nvSpPr>
        <p:spPr bwMode="auto">
          <a:xfrm>
            <a:off x="3365500" y="2921000"/>
            <a:ext cx="609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>
                <a:latin typeface="Arial" charset="0"/>
              </a:rPr>
              <a:t>30</a:t>
            </a:r>
          </a:p>
        </p:txBody>
      </p:sp>
      <p:sp>
        <p:nvSpPr>
          <p:cNvPr id="49171" name="Text Box 20"/>
          <p:cNvSpPr txBox="1">
            <a:spLocks noChangeArrowheads="1"/>
          </p:cNvSpPr>
          <p:nvPr/>
        </p:nvSpPr>
        <p:spPr bwMode="auto">
          <a:xfrm>
            <a:off x="2171700" y="3759200"/>
            <a:ext cx="381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>
                <a:latin typeface="Arial" charset="0"/>
              </a:rPr>
              <a:t>2</a:t>
            </a:r>
          </a:p>
        </p:txBody>
      </p:sp>
      <p:sp>
        <p:nvSpPr>
          <p:cNvPr id="49172" name="Text Box 21"/>
          <p:cNvSpPr txBox="1">
            <a:spLocks noChangeArrowheads="1"/>
          </p:cNvSpPr>
          <p:nvPr/>
        </p:nvSpPr>
        <p:spPr bwMode="auto">
          <a:xfrm>
            <a:off x="2971800" y="3771900"/>
            <a:ext cx="609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>
                <a:latin typeface="Arial" charset="0"/>
              </a:rPr>
              <a:t>25</a:t>
            </a:r>
          </a:p>
        </p:txBody>
      </p:sp>
      <p:sp>
        <p:nvSpPr>
          <p:cNvPr id="49173" name="Text Box 22"/>
          <p:cNvSpPr txBox="1">
            <a:spLocks noChangeArrowheads="1"/>
          </p:cNvSpPr>
          <p:nvPr/>
        </p:nvSpPr>
        <p:spPr bwMode="auto">
          <a:xfrm>
            <a:off x="3924300" y="3771900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>
                <a:latin typeface="Arial" charset="0"/>
              </a:rPr>
              <a:t>45</a:t>
            </a:r>
          </a:p>
        </p:txBody>
      </p:sp>
      <p:sp>
        <p:nvSpPr>
          <p:cNvPr id="49174" name="Oval 23"/>
          <p:cNvSpPr>
            <a:spLocks noChangeArrowheads="1"/>
          </p:cNvSpPr>
          <p:nvPr/>
        </p:nvSpPr>
        <p:spPr bwMode="auto">
          <a:xfrm>
            <a:off x="8229600" y="1600200"/>
            <a:ext cx="762000" cy="571500"/>
          </a:xfrm>
          <a:prstGeom prst="ellipse">
            <a:avLst/>
          </a:prstGeom>
          <a:noFill/>
          <a:ln w="57150">
            <a:solidFill>
              <a:srgbClr val="008080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49175" name="Oval 24"/>
          <p:cNvSpPr>
            <a:spLocks noChangeArrowheads="1"/>
          </p:cNvSpPr>
          <p:nvPr/>
        </p:nvSpPr>
        <p:spPr bwMode="auto">
          <a:xfrm>
            <a:off x="7696200" y="2390775"/>
            <a:ext cx="762000" cy="571500"/>
          </a:xfrm>
          <a:prstGeom prst="ellipse">
            <a:avLst/>
          </a:prstGeom>
          <a:noFill/>
          <a:ln w="57150">
            <a:solidFill>
              <a:srgbClr val="008080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49176" name="Oval 25"/>
          <p:cNvSpPr>
            <a:spLocks noChangeArrowheads="1"/>
          </p:cNvSpPr>
          <p:nvPr/>
        </p:nvSpPr>
        <p:spPr bwMode="auto">
          <a:xfrm>
            <a:off x="8686800" y="2390775"/>
            <a:ext cx="762000" cy="571500"/>
          </a:xfrm>
          <a:prstGeom prst="ellipse">
            <a:avLst/>
          </a:prstGeom>
          <a:noFill/>
          <a:ln w="57150">
            <a:solidFill>
              <a:srgbClr val="008080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49177" name="Oval 26"/>
          <p:cNvSpPr>
            <a:spLocks noChangeArrowheads="1"/>
          </p:cNvSpPr>
          <p:nvPr/>
        </p:nvSpPr>
        <p:spPr bwMode="auto">
          <a:xfrm>
            <a:off x="7391400" y="3228975"/>
            <a:ext cx="762000" cy="571500"/>
          </a:xfrm>
          <a:prstGeom prst="ellipse">
            <a:avLst/>
          </a:prstGeom>
          <a:noFill/>
          <a:ln w="57150">
            <a:solidFill>
              <a:srgbClr val="008080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49178" name="Oval 27"/>
          <p:cNvSpPr>
            <a:spLocks noChangeArrowheads="1"/>
          </p:cNvSpPr>
          <p:nvPr/>
        </p:nvSpPr>
        <p:spPr bwMode="auto">
          <a:xfrm>
            <a:off x="8305800" y="3228975"/>
            <a:ext cx="762000" cy="571500"/>
          </a:xfrm>
          <a:prstGeom prst="ellipse">
            <a:avLst/>
          </a:prstGeom>
          <a:solidFill>
            <a:srgbClr val="FF99FF"/>
          </a:solidFill>
          <a:ln w="57150">
            <a:solidFill>
              <a:srgbClr val="008080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cxnSp>
        <p:nvCxnSpPr>
          <p:cNvPr id="49179" name="AutoShape 28"/>
          <p:cNvCxnSpPr>
            <a:cxnSpLocks noChangeShapeType="1"/>
            <a:stCxn id="49175" idx="4"/>
            <a:endCxn id="49177" idx="0"/>
          </p:cNvCxnSpPr>
          <p:nvPr/>
        </p:nvCxnSpPr>
        <p:spPr bwMode="auto">
          <a:xfrm flipH="1">
            <a:off x="7772400" y="2990850"/>
            <a:ext cx="304800" cy="209550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49180" name="AutoShape 29"/>
          <p:cNvCxnSpPr>
            <a:cxnSpLocks noChangeShapeType="1"/>
            <a:stCxn id="49175" idx="4"/>
            <a:endCxn id="49178" idx="0"/>
          </p:cNvCxnSpPr>
          <p:nvPr/>
        </p:nvCxnSpPr>
        <p:spPr bwMode="auto">
          <a:xfrm>
            <a:off x="8077200" y="2990850"/>
            <a:ext cx="609600" cy="209550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49181" name="AutoShape 30"/>
          <p:cNvCxnSpPr>
            <a:cxnSpLocks noChangeShapeType="1"/>
            <a:stCxn id="49174" idx="4"/>
            <a:endCxn id="49176" idx="0"/>
          </p:cNvCxnSpPr>
          <p:nvPr/>
        </p:nvCxnSpPr>
        <p:spPr bwMode="auto">
          <a:xfrm>
            <a:off x="8610600" y="2200276"/>
            <a:ext cx="457200" cy="161925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49182" name="AutoShape 31"/>
          <p:cNvCxnSpPr>
            <a:cxnSpLocks noChangeShapeType="1"/>
            <a:stCxn id="49174" idx="4"/>
            <a:endCxn id="49175" idx="0"/>
          </p:cNvCxnSpPr>
          <p:nvPr/>
        </p:nvCxnSpPr>
        <p:spPr bwMode="auto">
          <a:xfrm flipH="1">
            <a:off x="8077200" y="2200276"/>
            <a:ext cx="533400" cy="161925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49183" name="AutoShape 32"/>
          <p:cNvCxnSpPr>
            <a:cxnSpLocks noChangeShapeType="1"/>
            <a:stCxn id="49176" idx="4"/>
            <a:endCxn id="49184" idx="0"/>
          </p:cNvCxnSpPr>
          <p:nvPr/>
        </p:nvCxnSpPr>
        <p:spPr bwMode="auto">
          <a:xfrm>
            <a:off x="9067800" y="2990850"/>
            <a:ext cx="533400" cy="209550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49184" name="Oval 33"/>
          <p:cNvSpPr>
            <a:spLocks noChangeArrowheads="1"/>
          </p:cNvSpPr>
          <p:nvPr/>
        </p:nvSpPr>
        <p:spPr bwMode="auto">
          <a:xfrm>
            <a:off x="9220200" y="3228975"/>
            <a:ext cx="762000" cy="571500"/>
          </a:xfrm>
          <a:prstGeom prst="ellipse">
            <a:avLst/>
          </a:prstGeom>
          <a:noFill/>
          <a:ln w="57150">
            <a:solidFill>
              <a:srgbClr val="008080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49185" name="Text Box 34"/>
          <p:cNvSpPr txBox="1">
            <a:spLocks noChangeArrowheads="1"/>
          </p:cNvSpPr>
          <p:nvPr/>
        </p:nvSpPr>
        <p:spPr bwMode="auto">
          <a:xfrm>
            <a:off x="7899400" y="2441575"/>
            <a:ext cx="381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>
                <a:latin typeface="Arial" charset="0"/>
              </a:rPr>
              <a:t>5</a:t>
            </a:r>
          </a:p>
        </p:txBody>
      </p:sp>
      <p:sp>
        <p:nvSpPr>
          <p:cNvPr id="49186" name="Text Box 35"/>
          <p:cNvSpPr txBox="1">
            <a:spLocks noChangeArrowheads="1"/>
          </p:cNvSpPr>
          <p:nvPr/>
        </p:nvSpPr>
        <p:spPr bwMode="auto">
          <a:xfrm>
            <a:off x="8305800" y="1628775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>
                <a:latin typeface="Arial" charset="0"/>
              </a:rPr>
              <a:t>10</a:t>
            </a:r>
          </a:p>
        </p:txBody>
      </p:sp>
      <p:sp>
        <p:nvSpPr>
          <p:cNvPr id="49187" name="Text Box 36"/>
          <p:cNvSpPr txBox="1">
            <a:spLocks noChangeArrowheads="1"/>
          </p:cNvSpPr>
          <p:nvPr/>
        </p:nvSpPr>
        <p:spPr bwMode="auto">
          <a:xfrm>
            <a:off x="8763000" y="2428875"/>
            <a:ext cx="609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>
                <a:latin typeface="Arial" charset="0"/>
              </a:rPr>
              <a:t>45</a:t>
            </a:r>
          </a:p>
        </p:txBody>
      </p:sp>
      <p:sp>
        <p:nvSpPr>
          <p:cNvPr id="49188" name="Text Box 37"/>
          <p:cNvSpPr txBox="1">
            <a:spLocks noChangeArrowheads="1"/>
          </p:cNvSpPr>
          <p:nvPr/>
        </p:nvSpPr>
        <p:spPr bwMode="auto">
          <a:xfrm>
            <a:off x="7594600" y="3279775"/>
            <a:ext cx="381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>
                <a:latin typeface="Arial" charset="0"/>
              </a:rPr>
              <a:t>2</a:t>
            </a:r>
          </a:p>
        </p:txBody>
      </p:sp>
      <p:sp>
        <p:nvSpPr>
          <p:cNvPr id="49189" name="Text Box 38"/>
          <p:cNvSpPr txBox="1">
            <a:spLocks noChangeArrowheads="1"/>
          </p:cNvSpPr>
          <p:nvPr/>
        </p:nvSpPr>
        <p:spPr bwMode="auto">
          <a:xfrm>
            <a:off x="8382000" y="3276600"/>
            <a:ext cx="609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>
                <a:latin typeface="Arial" charset="0"/>
              </a:rPr>
              <a:t>25</a:t>
            </a:r>
          </a:p>
        </p:txBody>
      </p:sp>
      <p:sp>
        <p:nvSpPr>
          <p:cNvPr id="49190" name="Text Box 39"/>
          <p:cNvSpPr txBox="1">
            <a:spLocks noChangeArrowheads="1"/>
          </p:cNvSpPr>
          <p:nvPr/>
        </p:nvSpPr>
        <p:spPr bwMode="auto">
          <a:xfrm>
            <a:off x="9347200" y="3279775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>
                <a:latin typeface="Arial" charset="0"/>
              </a:rPr>
              <a:t>30</a:t>
            </a:r>
          </a:p>
        </p:txBody>
      </p:sp>
      <p:sp>
        <p:nvSpPr>
          <p:cNvPr id="49191" name="Oval 40"/>
          <p:cNvSpPr>
            <a:spLocks noChangeArrowheads="1"/>
          </p:cNvSpPr>
          <p:nvPr/>
        </p:nvSpPr>
        <p:spPr bwMode="auto">
          <a:xfrm>
            <a:off x="5638800" y="1295400"/>
            <a:ext cx="762000" cy="571500"/>
          </a:xfrm>
          <a:prstGeom prst="ellipse">
            <a:avLst/>
          </a:prstGeom>
          <a:noFill/>
          <a:ln w="57150">
            <a:solidFill>
              <a:srgbClr val="008080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49192" name="Oval 41"/>
          <p:cNvSpPr>
            <a:spLocks noChangeArrowheads="1"/>
          </p:cNvSpPr>
          <p:nvPr/>
        </p:nvSpPr>
        <p:spPr bwMode="auto">
          <a:xfrm>
            <a:off x="5105400" y="2085975"/>
            <a:ext cx="762000" cy="571500"/>
          </a:xfrm>
          <a:prstGeom prst="ellipse">
            <a:avLst/>
          </a:prstGeom>
          <a:noFill/>
          <a:ln w="57150">
            <a:solidFill>
              <a:srgbClr val="008080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49193" name="Oval 42"/>
          <p:cNvSpPr>
            <a:spLocks noChangeArrowheads="1"/>
          </p:cNvSpPr>
          <p:nvPr/>
        </p:nvSpPr>
        <p:spPr bwMode="auto">
          <a:xfrm>
            <a:off x="6096000" y="2085975"/>
            <a:ext cx="762000" cy="571500"/>
          </a:xfrm>
          <a:prstGeom prst="ellipse">
            <a:avLst/>
          </a:prstGeom>
          <a:noFill/>
          <a:ln w="57150">
            <a:solidFill>
              <a:srgbClr val="008080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49194" name="Oval 43"/>
          <p:cNvSpPr>
            <a:spLocks noChangeArrowheads="1"/>
          </p:cNvSpPr>
          <p:nvPr/>
        </p:nvSpPr>
        <p:spPr bwMode="auto">
          <a:xfrm>
            <a:off x="5715000" y="2924175"/>
            <a:ext cx="762000" cy="571500"/>
          </a:xfrm>
          <a:prstGeom prst="ellipse">
            <a:avLst/>
          </a:prstGeom>
          <a:noFill/>
          <a:ln w="57150">
            <a:solidFill>
              <a:srgbClr val="008080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cxnSp>
        <p:nvCxnSpPr>
          <p:cNvPr id="49195" name="AutoShape 44"/>
          <p:cNvCxnSpPr>
            <a:cxnSpLocks noChangeShapeType="1"/>
            <a:stCxn id="49193" idx="4"/>
            <a:endCxn id="49194" idx="0"/>
          </p:cNvCxnSpPr>
          <p:nvPr/>
        </p:nvCxnSpPr>
        <p:spPr bwMode="auto">
          <a:xfrm flipH="1">
            <a:off x="6096000" y="2686050"/>
            <a:ext cx="381000" cy="209550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49196" name="AutoShape 45"/>
          <p:cNvCxnSpPr>
            <a:cxnSpLocks noChangeShapeType="1"/>
            <a:stCxn id="49191" idx="4"/>
            <a:endCxn id="49193" idx="0"/>
          </p:cNvCxnSpPr>
          <p:nvPr/>
        </p:nvCxnSpPr>
        <p:spPr bwMode="auto">
          <a:xfrm>
            <a:off x="6019800" y="1895476"/>
            <a:ext cx="457200" cy="161925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49197" name="AutoShape 46"/>
          <p:cNvCxnSpPr>
            <a:cxnSpLocks noChangeShapeType="1"/>
            <a:stCxn id="49191" idx="4"/>
            <a:endCxn id="49192" idx="0"/>
          </p:cNvCxnSpPr>
          <p:nvPr/>
        </p:nvCxnSpPr>
        <p:spPr bwMode="auto">
          <a:xfrm flipH="1">
            <a:off x="5486400" y="1895476"/>
            <a:ext cx="533400" cy="161925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49198" name="AutoShape 47"/>
          <p:cNvCxnSpPr>
            <a:cxnSpLocks noChangeShapeType="1"/>
            <a:stCxn id="49194" idx="4"/>
            <a:endCxn id="49199" idx="0"/>
          </p:cNvCxnSpPr>
          <p:nvPr/>
        </p:nvCxnSpPr>
        <p:spPr bwMode="auto">
          <a:xfrm flipH="1">
            <a:off x="5410200" y="3524250"/>
            <a:ext cx="685800" cy="209550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49199" name="Oval 48"/>
          <p:cNvSpPr>
            <a:spLocks noChangeArrowheads="1"/>
          </p:cNvSpPr>
          <p:nvPr/>
        </p:nvSpPr>
        <p:spPr bwMode="auto">
          <a:xfrm>
            <a:off x="5029200" y="3762375"/>
            <a:ext cx="762000" cy="571500"/>
          </a:xfrm>
          <a:prstGeom prst="ellipse">
            <a:avLst/>
          </a:prstGeom>
          <a:noFill/>
          <a:ln w="57150">
            <a:solidFill>
              <a:srgbClr val="008080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49200" name="Text Box 49"/>
          <p:cNvSpPr txBox="1">
            <a:spLocks noChangeArrowheads="1"/>
          </p:cNvSpPr>
          <p:nvPr/>
        </p:nvSpPr>
        <p:spPr bwMode="auto">
          <a:xfrm>
            <a:off x="5791200" y="1323975"/>
            <a:ext cx="381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>
                <a:latin typeface="Arial" charset="0"/>
              </a:rPr>
              <a:t>5</a:t>
            </a:r>
          </a:p>
        </p:txBody>
      </p:sp>
      <p:sp>
        <p:nvSpPr>
          <p:cNvPr id="49201" name="Text Box 50"/>
          <p:cNvSpPr txBox="1">
            <a:spLocks noChangeArrowheads="1"/>
          </p:cNvSpPr>
          <p:nvPr/>
        </p:nvSpPr>
        <p:spPr bwMode="auto">
          <a:xfrm>
            <a:off x="5118100" y="3787775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>
                <a:latin typeface="Arial" charset="0"/>
              </a:rPr>
              <a:t>10</a:t>
            </a:r>
          </a:p>
        </p:txBody>
      </p:sp>
      <p:sp>
        <p:nvSpPr>
          <p:cNvPr id="49202" name="Text Box 51"/>
          <p:cNvSpPr txBox="1">
            <a:spLocks noChangeArrowheads="1"/>
          </p:cNvSpPr>
          <p:nvPr/>
        </p:nvSpPr>
        <p:spPr bwMode="auto">
          <a:xfrm>
            <a:off x="5791200" y="3000375"/>
            <a:ext cx="609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>
                <a:latin typeface="Arial" charset="0"/>
              </a:rPr>
              <a:t>30</a:t>
            </a:r>
          </a:p>
        </p:txBody>
      </p:sp>
      <p:sp>
        <p:nvSpPr>
          <p:cNvPr id="49203" name="Text Box 52"/>
          <p:cNvSpPr txBox="1">
            <a:spLocks noChangeArrowheads="1"/>
          </p:cNvSpPr>
          <p:nvPr/>
        </p:nvSpPr>
        <p:spPr bwMode="auto">
          <a:xfrm>
            <a:off x="5295900" y="2124075"/>
            <a:ext cx="381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>
                <a:latin typeface="Arial" charset="0"/>
              </a:rPr>
              <a:t>2</a:t>
            </a:r>
          </a:p>
        </p:txBody>
      </p:sp>
      <p:sp>
        <p:nvSpPr>
          <p:cNvPr id="49204" name="Text Box 53"/>
          <p:cNvSpPr txBox="1">
            <a:spLocks noChangeArrowheads="1"/>
          </p:cNvSpPr>
          <p:nvPr/>
        </p:nvSpPr>
        <p:spPr bwMode="auto">
          <a:xfrm>
            <a:off x="5727700" y="4651375"/>
            <a:ext cx="609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>
                <a:latin typeface="Arial" charset="0"/>
              </a:rPr>
              <a:t>25</a:t>
            </a:r>
          </a:p>
        </p:txBody>
      </p:sp>
      <p:sp>
        <p:nvSpPr>
          <p:cNvPr id="49205" name="Text Box 54"/>
          <p:cNvSpPr txBox="1">
            <a:spLocks noChangeArrowheads="1"/>
          </p:cNvSpPr>
          <p:nvPr/>
        </p:nvSpPr>
        <p:spPr bwMode="auto">
          <a:xfrm>
            <a:off x="6172200" y="2085975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>
                <a:latin typeface="Arial" charset="0"/>
              </a:rPr>
              <a:t>45</a:t>
            </a:r>
          </a:p>
        </p:txBody>
      </p:sp>
      <p:sp>
        <p:nvSpPr>
          <p:cNvPr id="49206" name="Oval 55"/>
          <p:cNvSpPr>
            <a:spLocks noChangeArrowheads="1"/>
          </p:cNvSpPr>
          <p:nvPr/>
        </p:nvSpPr>
        <p:spPr bwMode="auto">
          <a:xfrm>
            <a:off x="5638800" y="4600575"/>
            <a:ext cx="762000" cy="571500"/>
          </a:xfrm>
          <a:prstGeom prst="ellipse">
            <a:avLst/>
          </a:prstGeom>
          <a:noFill/>
          <a:ln w="57150">
            <a:solidFill>
              <a:srgbClr val="008080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cxnSp>
        <p:nvCxnSpPr>
          <p:cNvPr id="49207" name="AutoShape 56"/>
          <p:cNvCxnSpPr>
            <a:cxnSpLocks noChangeShapeType="1"/>
            <a:stCxn id="49199" idx="4"/>
            <a:endCxn id="49206" idx="0"/>
          </p:cNvCxnSpPr>
          <p:nvPr/>
        </p:nvCxnSpPr>
        <p:spPr bwMode="auto">
          <a:xfrm>
            <a:off x="5410200" y="4362450"/>
            <a:ext cx="609600" cy="209550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49208" name="Line 57"/>
          <p:cNvSpPr>
            <a:spLocks noChangeShapeType="1"/>
          </p:cNvSpPr>
          <p:nvPr/>
        </p:nvSpPr>
        <p:spPr bwMode="auto">
          <a:xfrm>
            <a:off x="7192477" y="1059598"/>
            <a:ext cx="0" cy="5105400"/>
          </a:xfrm>
          <a:prstGeom prst="line">
            <a:avLst/>
          </a:prstGeom>
          <a:noFill/>
          <a:ln w="28575">
            <a:solidFill>
              <a:srgbClr val="00206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8192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436865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Ví dụ tìm x = 2</a:t>
            </a:r>
          </a:p>
        </p:txBody>
      </p:sp>
      <p:grpSp>
        <p:nvGrpSpPr>
          <p:cNvPr id="50179" name="Group 43"/>
          <p:cNvGrpSpPr>
            <a:grpSpLocks/>
          </p:cNvGrpSpPr>
          <p:nvPr/>
        </p:nvGrpSpPr>
        <p:grpSpPr bwMode="auto">
          <a:xfrm>
            <a:off x="2133600" y="923926"/>
            <a:ext cx="2590800" cy="2200275"/>
            <a:chOff x="609600" y="923925"/>
            <a:chExt cx="2590800" cy="2200275"/>
          </a:xfrm>
        </p:grpSpPr>
        <p:sp>
          <p:nvSpPr>
            <p:cNvPr id="50200" name="Oval 5"/>
            <p:cNvSpPr>
              <a:spLocks noChangeArrowheads="1"/>
            </p:cNvSpPr>
            <p:nvPr/>
          </p:nvSpPr>
          <p:spPr bwMode="auto">
            <a:xfrm>
              <a:off x="1447800" y="923925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50201" name="Oval 6"/>
            <p:cNvSpPr>
              <a:spLocks noChangeArrowheads="1"/>
            </p:cNvSpPr>
            <p:nvPr/>
          </p:nvSpPr>
          <p:spPr bwMode="auto">
            <a:xfrm>
              <a:off x="914400" y="17145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50202" name="Oval 7"/>
            <p:cNvSpPr>
              <a:spLocks noChangeArrowheads="1"/>
            </p:cNvSpPr>
            <p:nvPr/>
          </p:nvSpPr>
          <p:spPr bwMode="auto">
            <a:xfrm>
              <a:off x="1905000" y="17145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50203" name="Oval 8"/>
            <p:cNvSpPr>
              <a:spLocks noChangeArrowheads="1"/>
            </p:cNvSpPr>
            <p:nvPr/>
          </p:nvSpPr>
          <p:spPr bwMode="auto">
            <a:xfrm>
              <a:off x="609600" y="25527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50204" name="Oval 9"/>
            <p:cNvSpPr>
              <a:spLocks noChangeArrowheads="1"/>
            </p:cNvSpPr>
            <p:nvPr/>
          </p:nvSpPr>
          <p:spPr bwMode="auto">
            <a:xfrm>
              <a:off x="1524000" y="25527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cxnSp>
          <p:nvCxnSpPr>
            <p:cNvPr id="50205" name="AutoShape 10"/>
            <p:cNvCxnSpPr>
              <a:cxnSpLocks noChangeShapeType="1"/>
              <a:stCxn id="50201" idx="4"/>
              <a:endCxn id="50203" idx="0"/>
            </p:cNvCxnSpPr>
            <p:nvPr/>
          </p:nvCxnSpPr>
          <p:spPr bwMode="auto">
            <a:xfrm flipH="1">
              <a:off x="990600" y="2314575"/>
              <a:ext cx="304800" cy="2095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50206" name="AutoShape 11"/>
            <p:cNvCxnSpPr>
              <a:cxnSpLocks noChangeShapeType="1"/>
              <a:stCxn id="50202" idx="4"/>
              <a:endCxn id="50204" idx="0"/>
            </p:cNvCxnSpPr>
            <p:nvPr/>
          </p:nvCxnSpPr>
          <p:spPr bwMode="auto">
            <a:xfrm flipH="1">
              <a:off x="1905000" y="2314575"/>
              <a:ext cx="381000" cy="2095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50207" name="AutoShape 12"/>
            <p:cNvCxnSpPr>
              <a:cxnSpLocks noChangeShapeType="1"/>
              <a:stCxn id="50200" idx="4"/>
              <a:endCxn id="50202" idx="0"/>
            </p:cNvCxnSpPr>
            <p:nvPr/>
          </p:nvCxnSpPr>
          <p:spPr bwMode="auto">
            <a:xfrm>
              <a:off x="1828800" y="1524000"/>
              <a:ext cx="457200" cy="161925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50208" name="AutoShape 13"/>
            <p:cNvCxnSpPr>
              <a:cxnSpLocks noChangeShapeType="1"/>
              <a:stCxn id="50200" idx="4"/>
              <a:endCxn id="50201" idx="0"/>
            </p:cNvCxnSpPr>
            <p:nvPr/>
          </p:nvCxnSpPr>
          <p:spPr bwMode="auto">
            <a:xfrm flipH="1">
              <a:off x="1295400" y="1524000"/>
              <a:ext cx="533400" cy="161925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50209" name="AutoShape 14"/>
            <p:cNvCxnSpPr>
              <a:cxnSpLocks noChangeShapeType="1"/>
              <a:stCxn id="50202" idx="4"/>
              <a:endCxn id="50210" idx="0"/>
            </p:cNvCxnSpPr>
            <p:nvPr/>
          </p:nvCxnSpPr>
          <p:spPr bwMode="auto">
            <a:xfrm>
              <a:off x="2286000" y="2314575"/>
              <a:ext cx="533400" cy="2095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sp>
          <p:nvSpPr>
            <p:cNvPr id="50210" name="Oval 15"/>
            <p:cNvSpPr>
              <a:spLocks noChangeArrowheads="1"/>
            </p:cNvSpPr>
            <p:nvPr/>
          </p:nvSpPr>
          <p:spPr bwMode="auto">
            <a:xfrm>
              <a:off x="2438400" y="25527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50211" name="Text Box 16"/>
            <p:cNvSpPr txBox="1">
              <a:spLocks noChangeArrowheads="1"/>
            </p:cNvSpPr>
            <p:nvPr/>
          </p:nvSpPr>
          <p:spPr bwMode="auto">
            <a:xfrm>
              <a:off x="1066800" y="1714500"/>
              <a:ext cx="3810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solidFill>
                    <a:srgbClr val="FF3300"/>
                  </a:solidFill>
                  <a:latin typeface="Arial" charset="0"/>
                </a:rPr>
                <a:t>5</a:t>
              </a:r>
            </a:p>
          </p:txBody>
        </p:sp>
        <p:sp>
          <p:nvSpPr>
            <p:cNvPr id="50212" name="Text Box 17"/>
            <p:cNvSpPr txBox="1">
              <a:spLocks noChangeArrowheads="1"/>
            </p:cNvSpPr>
            <p:nvPr/>
          </p:nvSpPr>
          <p:spPr bwMode="auto">
            <a:xfrm>
              <a:off x="1524000" y="952500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solidFill>
                    <a:srgbClr val="FF3300"/>
                  </a:solidFill>
                  <a:latin typeface="Arial" charset="0"/>
                </a:rPr>
                <a:t>10</a:t>
              </a:r>
            </a:p>
          </p:txBody>
        </p:sp>
        <p:sp>
          <p:nvSpPr>
            <p:cNvPr id="50213" name="Text Box 18"/>
            <p:cNvSpPr txBox="1">
              <a:spLocks noChangeArrowheads="1"/>
            </p:cNvSpPr>
            <p:nvPr/>
          </p:nvSpPr>
          <p:spPr bwMode="auto">
            <a:xfrm>
              <a:off x="1981200" y="1714500"/>
              <a:ext cx="6096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30</a:t>
              </a:r>
            </a:p>
          </p:txBody>
        </p:sp>
        <p:sp>
          <p:nvSpPr>
            <p:cNvPr id="50214" name="Text Box 19"/>
            <p:cNvSpPr txBox="1">
              <a:spLocks noChangeArrowheads="1"/>
            </p:cNvSpPr>
            <p:nvPr/>
          </p:nvSpPr>
          <p:spPr bwMode="auto">
            <a:xfrm>
              <a:off x="762000" y="2628900"/>
              <a:ext cx="3810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solidFill>
                    <a:srgbClr val="FF3300"/>
                  </a:solidFill>
                  <a:latin typeface="Arial" charset="0"/>
                </a:rPr>
                <a:t>2</a:t>
              </a:r>
            </a:p>
          </p:txBody>
        </p:sp>
        <p:sp>
          <p:nvSpPr>
            <p:cNvPr id="50215" name="Text Box 20"/>
            <p:cNvSpPr txBox="1">
              <a:spLocks noChangeArrowheads="1"/>
            </p:cNvSpPr>
            <p:nvPr/>
          </p:nvSpPr>
          <p:spPr bwMode="auto">
            <a:xfrm>
              <a:off x="1600200" y="2628900"/>
              <a:ext cx="6096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25</a:t>
              </a:r>
            </a:p>
          </p:txBody>
        </p:sp>
        <p:sp>
          <p:nvSpPr>
            <p:cNvPr id="50216" name="Text Box 21"/>
            <p:cNvSpPr txBox="1">
              <a:spLocks noChangeArrowheads="1"/>
            </p:cNvSpPr>
            <p:nvPr/>
          </p:nvSpPr>
          <p:spPr bwMode="auto">
            <a:xfrm>
              <a:off x="2590800" y="2628900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45</a:t>
              </a:r>
            </a:p>
          </p:txBody>
        </p:sp>
      </p:grpSp>
      <p:grpSp>
        <p:nvGrpSpPr>
          <p:cNvPr id="50180" name="Group 44"/>
          <p:cNvGrpSpPr>
            <a:grpSpLocks/>
          </p:cNvGrpSpPr>
          <p:nvPr/>
        </p:nvGrpSpPr>
        <p:grpSpPr bwMode="auto">
          <a:xfrm>
            <a:off x="8182275" y="1961951"/>
            <a:ext cx="1828800" cy="3876675"/>
            <a:chOff x="6629400" y="1981200"/>
            <a:chExt cx="1828800" cy="3876675"/>
          </a:xfrm>
        </p:grpSpPr>
        <p:sp>
          <p:nvSpPr>
            <p:cNvPr id="50183" name="Oval 22"/>
            <p:cNvSpPr>
              <a:spLocks noChangeArrowheads="1"/>
            </p:cNvSpPr>
            <p:nvPr/>
          </p:nvSpPr>
          <p:spPr bwMode="auto">
            <a:xfrm>
              <a:off x="7239000" y="19812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50184" name="Oval 23"/>
            <p:cNvSpPr>
              <a:spLocks noChangeArrowheads="1"/>
            </p:cNvSpPr>
            <p:nvPr/>
          </p:nvSpPr>
          <p:spPr bwMode="auto">
            <a:xfrm>
              <a:off x="6705600" y="2771775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50185" name="Oval 24"/>
            <p:cNvSpPr>
              <a:spLocks noChangeArrowheads="1"/>
            </p:cNvSpPr>
            <p:nvPr/>
          </p:nvSpPr>
          <p:spPr bwMode="auto">
            <a:xfrm>
              <a:off x="7696200" y="2771775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50186" name="Oval 25"/>
            <p:cNvSpPr>
              <a:spLocks noChangeArrowheads="1"/>
            </p:cNvSpPr>
            <p:nvPr/>
          </p:nvSpPr>
          <p:spPr bwMode="auto">
            <a:xfrm>
              <a:off x="7315200" y="3609975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cxnSp>
          <p:nvCxnSpPr>
            <p:cNvPr id="50187" name="AutoShape 26"/>
            <p:cNvCxnSpPr>
              <a:cxnSpLocks noChangeShapeType="1"/>
              <a:stCxn id="50185" idx="4"/>
              <a:endCxn id="50186" idx="0"/>
            </p:cNvCxnSpPr>
            <p:nvPr/>
          </p:nvCxnSpPr>
          <p:spPr bwMode="auto">
            <a:xfrm flipH="1">
              <a:off x="7696200" y="3371850"/>
              <a:ext cx="381000" cy="2095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50188" name="AutoShape 27"/>
            <p:cNvCxnSpPr>
              <a:cxnSpLocks noChangeShapeType="1"/>
              <a:stCxn id="50183" idx="4"/>
              <a:endCxn id="50185" idx="0"/>
            </p:cNvCxnSpPr>
            <p:nvPr/>
          </p:nvCxnSpPr>
          <p:spPr bwMode="auto">
            <a:xfrm>
              <a:off x="7620000" y="2581275"/>
              <a:ext cx="457200" cy="161925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50189" name="AutoShape 28"/>
            <p:cNvCxnSpPr>
              <a:cxnSpLocks noChangeShapeType="1"/>
              <a:stCxn id="50183" idx="4"/>
              <a:endCxn id="50184" idx="0"/>
            </p:cNvCxnSpPr>
            <p:nvPr/>
          </p:nvCxnSpPr>
          <p:spPr bwMode="auto">
            <a:xfrm flipH="1">
              <a:off x="7086600" y="2581275"/>
              <a:ext cx="533400" cy="161925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50190" name="AutoShape 29"/>
            <p:cNvCxnSpPr>
              <a:cxnSpLocks noChangeShapeType="1"/>
              <a:stCxn id="50186" idx="4"/>
              <a:endCxn id="50191" idx="0"/>
            </p:cNvCxnSpPr>
            <p:nvPr/>
          </p:nvCxnSpPr>
          <p:spPr bwMode="auto">
            <a:xfrm flipH="1">
              <a:off x="7010400" y="4210050"/>
              <a:ext cx="685800" cy="2095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sp>
          <p:nvSpPr>
            <p:cNvPr id="50191" name="Oval 30"/>
            <p:cNvSpPr>
              <a:spLocks noChangeArrowheads="1"/>
            </p:cNvSpPr>
            <p:nvPr/>
          </p:nvSpPr>
          <p:spPr bwMode="auto">
            <a:xfrm>
              <a:off x="6629400" y="4448175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50192" name="Text Box 31"/>
            <p:cNvSpPr txBox="1">
              <a:spLocks noChangeArrowheads="1"/>
            </p:cNvSpPr>
            <p:nvPr/>
          </p:nvSpPr>
          <p:spPr bwMode="auto">
            <a:xfrm>
              <a:off x="7391400" y="2009775"/>
              <a:ext cx="3810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solidFill>
                    <a:srgbClr val="FF3300"/>
                  </a:solidFill>
                  <a:latin typeface="Arial" charset="0"/>
                </a:rPr>
                <a:t>5</a:t>
              </a:r>
            </a:p>
          </p:txBody>
        </p:sp>
        <p:sp>
          <p:nvSpPr>
            <p:cNvPr id="50193" name="Text Box 32"/>
            <p:cNvSpPr txBox="1">
              <a:spLocks noChangeArrowheads="1"/>
            </p:cNvSpPr>
            <p:nvPr/>
          </p:nvSpPr>
          <p:spPr bwMode="auto">
            <a:xfrm>
              <a:off x="6705600" y="4448175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10</a:t>
              </a:r>
            </a:p>
          </p:txBody>
        </p:sp>
        <p:sp>
          <p:nvSpPr>
            <p:cNvPr id="50194" name="Text Box 33"/>
            <p:cNvSpPr txBox="1">
              <a:spLocks noChangeArrowheads="1"/>
            </p:cNvSpPr>
            <p:nvPr/>
          </p:nvSpPr>
          <p:spPr bwMode="auto">
            <a:xfrm>
              <a:off x="7391400" y="3686175"/>
              <a:ext cx="6096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30</a:t>
              </a:r>
            </a:p>
          </p:txBody>
        </p:sp>
        <p:sp>
          <p:nvSpPr>
            <p:cNvPr id="50195" name="Text Box 34"/>
            <p:cNvSpPr txBox="1">
              <a:spLocks noChangeArrowheads="1"/>
            </p:cNvSpPr>
            <p:nvPr/>
          </p:nvSpPr>
          <p:spPr bwMode="auto">
            <a:xfrm>
              <a:off x="6858000" y="2771775"/>
              <a:ext cx="3810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solidFill>
                    <a:srgbClr val="FF3300"/>
                  </a:solidFill>
                  <a:latin typeface="Arial" charset="0"/>
                </a:rPr>
                <a:t>2</a:t>
              </a:r>
            </a:p>
          </p:txBody>
        </p:sp>
        <p:sp>
          <p:nvSpPr>
            <p:cNvPr id="50196" name="Text Box 35"/>
            <p:cNvSpPr txBox="1">
              <a:spLocks noChangeArrowheads="1"/>
            </p:cNvSpPr>
            <p:nvPr/>
          </p:nvSpPr>
          <p:spPr bwMode="auto">
            <a:xfrm>
              <a:off x="7315200" y="5286375"/>
              <a:ext cx="6096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25</a:t>
              </a:r>
            </a:p>
          </p:txBody>
        </p:sp>
        <p:sp>
          <p:nvSpPr>
            <p:cNvPr id="50197" name="Text Box 36"/>
            <p:cNvSpPr txBox="1">
              <a:spLocks noChangeArrowheads="1"/>
            </p:cNvSpPr>
            <p:nvPr/>
          </p:nvSpPr>
          <p:spPr bwMode="auto">
            <a:xfrm>
              <a:off x="7772400" y="2771775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45</a:t>
              </a:r>
            </a:p>
          </p:txBody>
        </p:sp>
        <p:sp>
          <p:nvSpPr>
            <p:cNvPr id="50198" name="Oval 37"/>
            <p:cNvSpPr>
              <a:spLocks noChangeArrowheads="1"/>
            </p:cNvSpPr>
            <p:nvPr/>
          </p:nvSpPr>
          <p:spPr bwMode="auto">
            <a:xfrm>
              <a:off x="7239000" y="5286375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cxnSp>
          <p:nvCxnSpPr>
            <p:cNvPr id="50199" name="AutoShape 38"/>
            <p:cNvCxnSpPr>
              <a:cxnSpLocks noChangeShapeType="1"/>
              <a:stCxn id="50191" idx="4"/>
              <a:endCxn id="50198" idx="0"/>
            </p:cNvCxnSpPr>
            <p:nvPr/>
          </p:nvCxnSpPr>
          <p:spPr bwMode="auto">
            <a:xfrm>
              <a:off x="7010400" y="5048250"/>
              <a:ext cx="609600" cy="2095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</p:grpSp>
      <p:sp>
        <p:nvSpPr>
          <p:cNvPr id="50181" name="Text Box 39"/>
          <p:cNvSpPr txBox="1">
            <a:spLocks noChangeArrowheads="1"/>
          </p:cNvSpPr>
          <p:nvPr/>
        </p:nvSpPr>
        <p:spPr bwMode="auto">
          <a:xfrm>
            <a:off x="5105400" y="1371600"/>
            <a:ext cx="2286000" cy="15700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sz="2400">
                <a:latin typeface="Arial" charset="0"/>
              </a:rPr>
              <a:t>10 &gt; 2, Left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sz="2400">
                <a:latin typeface="Arial" charset="0"/>
              </a:rPr>
              <a:t>5 &gt; 2, Left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sz="2400">
                <a:latin typeface="Arial" charset="0"/>
              </a:rPr>
              <a:t>2 = 2, </a:t>
            </a:r>
            <a:r>
              <a:rPr lang="en-US" sz="2400">
                <a:latin typeface="Times New Roman" pitchFamily="18" charset="0"/>
              </a:rPr>
              <a:t>Tìm thấy</a:t>
            </a:r>
            <a:endParaRPr lang="en-US" sz="2400">
              <a:latin typeface="Arial" charset="0"/>
            </a:endParaRPr>
          </a:p>
        </p:txBody>
      </p:sp>
      <p:sp>
        <p:nvSpPr>
          <p:cNvPr id="50182" name="Text Box 40"/>
          <p:cNvSpPr txBox="1">
            <a:spLocks noChangeArrowheads="1"/>
          </p:cNvSpPr>
          <p:nvPr/>
        </p:nvSpPr>
        <p:spPr bwMode="auto">
          <a:xfrm>
            <a:off x="5257800" y="4038600"/>
            <a:ext cx="2286000" cy="1016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sz="2400">
                <a:latin typeface="Arial" charset="0"/>
              </a:rPr>
              <a:t>5 &gt; 2, Left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sz="2400">
                <a:latin typeface="Arial" charset="0"/>
              </a:rPr>
              <a:t>2 = 2, </a:t>
            </a:r>
            <a:r>
              <a:rPr lang="en-US" sz="2400">
                <a:latin typeface="Times New Roman" pitchFamily="18" charset="0"/>
              </a:rPr>
              <a:t>Tìm thấy</a:t>
            </a:r>
            <a:endParaRPr lang="en-US" sz="2400">
              <a:latin typeface="Arial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173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40090" y="427234"/>
            <a:ext cx="10541000" cy="721861"/>
          </a:xfrm>
        </p:spPr>
        <p:txBody>
          <a:bodyPr/>
          <a:lstStyle/>
          <a:p>
            <a:pPr eaLnBrk="1" hangingPunct="1"/>
            <a:r>
              <a:rPr lang="en-US" sz="3200"/>
              <a:t>Ví dụ tìm x= 9</a:t>
            </a:r>
          </a:p>
        </p:txBody>
      </p:sp>
      <p:sp>
        <p:nvSpPr>
          <p:cNvPr id="407558" name="Text Box 43"/>
          <p:cNvSpPr txBox="1">
            <a:spLocks noChangeArrowheads="1"/>
          </p:cNvSpPr>
          <p:nvPr/>
        </p:nvSpPr>
        <p:spPr bwMode="auto">
          <a:xfrm>
            <a:off x="8001000" y="1143001"/>
            <a:ext cx="2590800" cy="2227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sz="2800">
                <a:latin typeface="Times New Roman" pitchFamily="18" charset="0"/>
              </a:rPr>
              <a:t>x = 9</a:t>
            </a:r>
          </a:p>
          <a:p>
            <a:pPr algn="l" eaLnBrk="0" hangingPunct="0"/>
            <a:r>
              <a:rPr lang="en-US" sz="2800">
                <a:solidFill>
                  <a:srgbClr val="FF00FF"/>
                </a:solidFill>
                <a:latin typeface="Times New Roman" pitchFamily="18" charset="0"/>
              </a:rPr>
              <a:t>10&gt;9</a:t>
            </a:r>
            <a:r>
              <a:rPr lang="en-US" sz="2800">
                <a:latin typeface="Times New Roman" pitchFamily="18" charset="0"/>
              </a:rPr>
              <a:t>, Left</a:t>
            </a:r>
          </a:p>
          <a:p>
            <a:pPr algn="l" eaLnBrk="0" hangingPunct="0"/>
            <a:r>
              <a:rPr lang="en-US" sz="2800">
                <a:solidFill>
                  <a:srgbClr val="FF00FF"/>
                </a:solidFill>
                <a:latin typeface="Times New Roman" pitchFamily="18" charset="0"/>
              </a:rPr>
              <a:t>5&lt;9</a:t>
            </a:r>
            <a:r>
              <a:rPr lang="en-US" sz="2800">
                <a:latin typeface="Times New Roman" pitchFamily="18" charset="0"/>
              </a:rPr>
              <a:t>, Right</a:t>
            </a:r>
          </a:p>
          <a:p>
            <a:pPr algn="l" eaLnBrk="0" hangingPunct="0"/>
            <a:r>
              <a:rPr lang="en-US" sz="2800">
                <a:solidFill>
                  <a:srgbClr val="FF00FF"/>
                </a:solidFill>
                <a:latin typeface="Times New Roman" pitchFamily="18" charset="0"/>
              </a:rPr>
              <a:t>8&lt;9</a:t>
            </a:r>
            <a:r>
              <a:rPr lang="en-US" sz="2800">
                <a:latin typeface="Times New Roman" pitchFamily="18" charset="0"/>
              </a:rPr>
              <a:t>, Right</a:t>
            </a:r>
          </a:p>
          <a:p>
            <a:pPr algn="l" eaLnBrk="0" hangingPunct="0"/>
            <a:r>
              <a:rPr lang="en-US" sz="2800">
                <a:solidFill>
                  <a:srgbClr val="FF00FF"/>
                </a:solidFill>
                <a:latin typeface="Times New Roman" pitchFamily="18" charset="0"/>
              </a:rPr>
              <a:t>9=9</a:t>
            </a:r>
            <a:r>
              <a:rPr lang="en-US" sz="2800">
                <a:latin typeface="Times New Roman" pitchFamily="18" charset="0"/>
              </a:rPr>
              <a:t>, </a:t>
            </a:r>
            <a:r>
              <a:rPr lang="en-US" sz="2800">
                <a:solidFill>
                  <a:srgbClr val="CC0000"/>
                </a:solidFill>
                <a:latin typeface="Times New Roman" pitchFamily="18" charset="0"/>
              </a:rPr>
              <a:t>Tìm thấy</a:t>
            </a:r>
          </a:p>
        </p:txBody>
      </p:sp>
      <p:grpSp>
        <p:nvGrpSpPr>
          <p:cNvPr id="51204" name="Group 48"/>
          <p:cNvGrpSpPr>
            <a:grpSpLocks/>
          </p:cNvGrpSpPr>
          <p:nvPr/>
        </p:nvGrpSpPr>
        <p:grpSpPr bwMode="auto">
          <a:xfrm>
            <a:off x="1752600" y="1143000"/>
            <a:ext cx="7391400" cy="5105400"/>
            <a:chOff x="685800" y="1562100"/>
            <a:chExt cx="7391400" cy="4114800"/>
          </a:xfrm>
        </p:grpSpPr>
        <p:sp>
          <p:nvSpPr>
            <p:cNvPr id="51209" name="Oval 5"/>
            <p:cNvSpPr>
              <a:spLocks noChangeArrowheads="1"/>
            </p:cNvSpPr>
            <p:nvPr/>
          </p:nvSpPr>
          <p:spPr bwMode="auto">
            <a:xfrm>
              <a:off x="3657600" y="15621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51210" name="Oval 6"/>
            <p:cNvSpPr>
              <a:spLocks noChangeArrowheads="1"/>
            </p:cNvSpPr>
            <p:nvPr/>
          </p:nvSpPr>
          <p:spPr bwMode="auto">
            <a:xfrm>
              <a:off x="1752600" y="27051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51211" name="Oval 7"/>
            <p:cNvSpPr>
              <a:spLocks noChangeArrowheads="1"/>
            </p:cNvSpPr>
            <p:nvPr/>
          </p:nvSpPr>
          <p:spPr bwMode="auto">
            <a:xfrm>
              <a:off x="5486400" y="27051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51212" name="Oval 8"/>
            <p:cNvSpPr>
              <a:spLocks noChangeArrowheads="1"/>
            </p:cNvSpPr>
            <p:nvPr/>
          </p:nvSpPr>
          <p:spPr bwMode="auto">
            <a:xfrm>
              <a:off x="685800" y="36957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51213" name="Oval 9"/>
            <p:cNvSpPr>
              <a:spLocks noChangeArrowheads="1"/>
            </p:cNvSpPr>
            <p:nvPr/>
          </p:nvSpPr>
          <p:spPr bwMode="auto">
            <a:xfrm>
              <a:off x="4724400" y="36195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cxnSp>
          <p:nvCxnSpPr>
            <p:cNvPr id="51214" name="AutoShape 10"/>
            <p:cNvCxnSpPr>
              <a:cxnSpLocks noChangeShapeType="1"/>
              <a:stCxn id="51210" idx="4"/>
              <a:endCxn id="51212" idx="0"/>
            </p:cNvCxnSpPr>
            <p:nvPr/>
          </p:nvCxnSpPr>
          <p:spPr bwMode="auto">
            <a:xfrm flipH="1">
              <a:off x="1066800" y="3305175"/>
              <a:ext cx="1066800" cy="3619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51215" name="AutoShape 11"/>
            <p:cNvCxnSpPr>
              <a:cxnSpLocks noChangeShapeType="1"/>
              <a:stCxn id="51211" idx="4"/>
              <a:endCxn id="51213" idx="0"/>
            </p:cNvCxnSpPr>
            <p:nvPr/>
          </p:nvCxnSpPr>
          <p:spPr bwMode="auto">
            <a:xfrm flipH="1">
              <a:off x="5105400" y="3305175"/>
              <a:ext cx="762000" cy="2857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51216" name="AutoShape 12"/>
            <p:cNvCxnSpPr>
              <a:cxnSpLocks noChangeShapeType="1"/>
              <a:stCxn id="51209" idx="4"/>
              <a:endCxn id="51211" idx="0"/>
            </p:cNvCxnSpPr>
            <p:nvPr/>
          </p:nvCxnSpPr>
          <p:spPr bwMode="auto">
            <a:xfrm>
              <a:off x="4038600" y="2162175"/>
              <a:ext cx="1828800" cy="5143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51217" name="AutoShape 13"/>
            <p:cNvCxnSpPr>
              <a:cxnSpLocks noChangeShapeType="1"/>
              <a:stCxn id="51209" idx="4"/>
              <a:endCxn id="51210" idx="0"/>
            </p:cNvCxnSpPr>
            <p:nvPr/>
          </p:nvCxnSpPr>
          <p:spPr bwMode="auto">
            <a:xfrm flipH="1">
              <a:off x="2133600" y="2162175"/>
              <a:ext cx="1905000" cy="514350"/>
            </a:xfrm>
            <a:prstGeom prst="straightConnector1">
              <a:avLst/>
            </a:prstGeom>
            <a:noFill/>
            <a:ln w="50800">
              <a:solidFill>
                <a:srgbClr val="002060"/>
              </a:solidFill>
              <a:round/>
              <a:headEnd/>
              <a:tailEnd type="triangle" w="med" len="med"/>
            </a:ln>
          </p:spPr>
        </p:cxnSp>
        <p:cxnSp>
          <p:nvCxnSpPr>
            <p:cNvPr id="51218" name="AutoShape 14"/>
            <p:cNvCxnSpPr>
              <a:cxnSpLocks noChangeShapeType="1"/>
              <a:stCxn id="51211" idx="4"/>
              <a:endCxn id="51219" idx="0"/>
            </p:cNvCxnSpPr>
            <p:nvPr/>
          </p:nvCxnSpPr>
          <p:spPr bwMode="auto">
            <a:xfrm>
              <a:off x="5867400" y="3305175"/>
              <a:ext cx="914400" cy="2476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sp>
          <p:nvSpPr>
            <p:cNvPr id="51219" name="Oval 15"/>
            <p:cNvSpPr>
              <a:spLocks noChangeArrowheads="1"/>
            </p:cNvSpPr>
            <p:nvPr/>
          </p:nvSpPr>
          <p:spPr bwMode="auto">
            <a:xfrm>
              <a:off x="6400800" y="35814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51220" name="Text Box 16"/>
            <p:cNvSpPr txBox="1">
              <a:spLocks noChangeArrowheads="1"/>
            </p:cNvSpPr>
            <p:nvPr/>
          </p:nvSpPr>
          <p:spPr bwMode="auto">
            <a:xfrm>
              <a:off x="1905000" y="2705953"/>
              <a:ext cx="381000" cy="36849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5</a:t>
              </a:r>
            </a:p>
          </p:txBody>
        </p:sp>
        <p:sp>
          <p:nvSpPr>
            <p:cNvPr id="51221" name="Text Box 17"/>
            <p:cNvSpPr txBox="1">
              <a:spLocks noChangeArrowheads="1"/>
            </p:cNvSpPr>
            <p:nvPr/>
          </p:nvSpPr>
          <p:spPr bwMode="auto">
            <a:xfrm>
              <a:off x="3733800" y="1600484"/>
              <a:ext cx="533400" cy="36849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10</a:t>
              </a:r>
            </a:p>
          </p:txBody>
        </p:sp>
        <p:sp>
          <p:nvSpPr>
            <p:cNvPr id="51222" name="Text Box 18"/>
            <p:cNvSpPr txBox="1">
              <a:spLocks noChangeArrowheads="1"/>
            </p:cNvSpPr>
            <p:nvPr/>
          </p:nvSpPr>
          <p:spPr bwMode="auto">
            <a:xfrm>
              <a:off x="5562600" y="2705953"/>
              <a:ext cx="609600" cy="36849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30</a:t>
              </a:r>
            </a:p>
          </p:txBody>
        </p:sp>
        <p:sp>
          <p:nvSpPr>
            <p:cNvPr id="51223" name="Text Box 19"/>
            <p:cNvSpPr txBox="1">
              <a:spLocks noChangeArrowheads="1"/>
            </p:cNvSpPr>
            <p:nvPr/>
          </p:nvSpPr>
          <p:spPr bwMode="auto">
            <a:xfrm>
              <a:off x="838200" y="3771758"/>
              <a:ext cx="381000" cy="3720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2</a:t>
              </a:r>
            </a:p>
          </p:txBody>
        </p:sp>
        <p:sp>
          <p:nvSpPr>
            <p:cNvPr id="51224" name="Text Box 20"/>
            <p:cNvSpPr txBox="1">
              <a:spLocks noChangeArrowheads="1"/>
            </p:cNvSpPr>
            <p:nvPr/>
          </p:nvSpPr>
          <p:spPr bwMode="auto">
            <a:xfrm>
              <a:off x="4800600" y="3657884"/>
              <a:ext cx="609600" cy="36849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25</a:t>
              </a:r>
            </a:p>
          </p:txBody>
        </p:sp>
        <p:sp>
          <p:nvSpPr>
            <p:cNvPr id="51225" name="Text Box 21"/>
            <p:cNvSpPr txBox="1">
              <a:spLocks noChangeArrowheads="1"/>
            </p:cNvSpPr>
            <p:nvPr/>
          </p:nvSpPr>
          <p:spPr bwMode="auto">
            <a:xfrm>
              <a:off x="6553200" y="3657884"/>
              <a:ext cx="533400" cy="36849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45</a:t>
              </a:r>
            </a:p>
          </p:txBody>
        </p:sp>
        <p:cxnSp>
          <p:nvCxnSpPr>
            <p:cNvPr id="51226" name="AutoShape 22"/>
            <p:cNvCxnSpPr>
              <a:cxnSpLocks noChangeShapeType="1"/>
              <a:stCxn id="51210" idx="4"/>
              <a:endCxn id="51227" idx="0"/>
            </p:cNvCxnSpPr>
            <p:nvPr/>
          </p:nvCxnSpPr>
          <p:spPr bwMode="auto">
            <a:xfrm>
              <a:off x="2133600" y="3305175"/>
              <a:ext cx="838200" cy="323850"/>
            </a:xfrm>
            <a:prstGeom prst="straightConnector1">
              <a:avLst/>
            </a:prstGeom>
            <a:noFill/>
            <a:ln w="50800">
              <a:solidFill>
                <a:srgbClr val="002060"/>
              </a:solidFill>
              <a:round/>
              <a:headEnd/>
              <a:tailEnd type="triangle" w="med" len="med"/>
            </a:ln>
          </p:spPr>
        </p:cxnSp>
        <p:sp>
          <p:nvSpPr>
            <p:cNvPr id="51227" name="Oval 23"/>
            <p:cNvSpPr>
              <a:spLocks noChangeArrowheads="1"/>
            </p:cNvSpPr>
            <p:nvPr/>
          </p:nvSpPr>
          <p:spPr bwMode="auto">
            <a:xfrm>
              <a:off x="2590800" y="36576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51228" name="Text Box 24"/>
            <p:cNvSpPr txBox="1">
              <a:spLocks noChangeArrowheads="1"/>
            </p:cNvSpPr>
            <p:nvPr/>
          </p:nvSpPr>
          <p:spPr bwMode="auto">
            <a:xfrm>
              <a:off x="2705100" y="3707784"/>
              <a:ext cx="533400" cy="36849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8</a:t>
              </a:r>
            </a:p>
          </p:txBody>
        </p:sp>
        <p:cxnSp>
          <p:nvCxnSpPr>
            <p:cNvPr id="51229" name="AutoShape 25"/>
            <p:cNvCxnSpPr>
              <a:cxnSpLocks noChangeShapeType="1"/>
              <a:stCxn id="51212" idx="4"/>
              <a:endCxn id="51230" idx="0"/>
            </p:cNvCxnSpPr>
            <p:nvPr/>
          </p:nvCxnSpPr>
          <p:spPr bwMode="auto">
            <a:xfrm>
              <a:off x="1066800" y="4295775"/>
              <a:ext cx="304800" cy="7429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sp>
          <p:nvSpPr>
            <p:cNvPr id="51230" name="Oval 26"/>
            <p:cNvSpPr>
              <a:spLocks noChangeArrowheads="1"/>
            </p:cNvSpPr>
            <p:nvPr/>
          </p:nvSpPr>
          <p:spPr bwMode="auto">
            <a:xfrm>
              <a:off x="990600" y="50673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51231" name="Text Box 27"/>
            <p:cNvSpPr txBox="1">
              <a:spLocks noChangeArrowheads="1"/>
            </p:cNvSpPr>
            <p:nvPr/>
          </p:nvSpPr>
          <p:spPr bwMode="auto">
            <a:xfrm>
              <a:off x="1168400" y="5117768"/>
              <a:ext cx="533400" cy="36849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3</a:t>
              </a:r>
            </a:p>
          </p:txBody>
        </p:sp>
        <p:sp>
          <p:nvSpPr>
            <p:cNvPr id="51232" name="Oval 28"/>
            <p:cNvSpPr>
              <a:spLocks noChangeArrowheads="1"/>
            </p:cNvSpPr>
            <p:nvPr/>
          </p:nvSpPr>
          <p:spPr bwMode="auto">
            <a:xfrm>
              <a:off x="1981200" y="50673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cxnSp>
          <p:nvCxnSpPr>
            <p:cNvPr id="51233" name="AutoShape 29"/>
            <p:cNvCxnSpPr>
              <a:cxnSpLocks noChangeShapeType="1"/>
              <a:stCxn id="51227" idx="4"/>
              <a:endCxn id="51232" idx="0"/>
            </p:cNvCxnSpPr>
            <p:nvPr/>
          </p:nvCxnSpPr>
          <p:spPr bwMode="auto">
            <a:xfrm flipH="1">
              <a:off x="2362200" y="4257675"/>
              <a:ext cx="609600" cy="7810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51234" name="AutoShape 30"/>
            <p:cNvCxnSpPr>
              <a:cxnSpLocks noChangeShapeType="1"/>
              <a:stCxn id="51227" idx="4"/>
              <a:endCxn id="51235" idx="0"/>
            </p:cNvCxnSpPr>
            <p:nvPr/>
          </p:nvCxnSpPr>
          <p:spPr bwMode="auto">
            <a:xfrm>
              <a:off x="2971800" y="4257675"/>
              <a:ext cx="609600" cy="781050"/>
            </a:xfrm>
            <a:prstGeom prst="straightConnector1">
              <a:avLst/>
            </a:prstGeom>
            <a:noFill/>
            <a:ln w="50800">
              <a:solidFill>
                <a:srgbClr val="002060"/>
              </a:solidFill>
              <a:round/>
              <a:headEnd/>
              <a:tailEnd type="triangle" w="med" len="med"/>
            </a:ln>
          </p:spPr>
        </p:cxnSp>
        <p:sp>
          <p:nvSpPr>
            <p:cNvPr id="51235" name="Oval 31"/>
            <p:cNvSpPr>
              <a:spLocks noChangeArrowheads="1"/>
            </p:cNvSpPr>
            <p:nvPr/>
          </p:nvSpPr>
          <p:spPr bwMode="auto">
            <a:xfrm>
              <a:off x="3200400" y="50673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51236" name="Text Box 32"/>
            <p:cNvSpPr txBox="1">
              <a:spLocks noChangeArrowheads="1"/>
            </p:cNvSpPr>
            <p:nvPr/>
          </p:nvSpPr>
          <p:spPr bwMode="auto">
            <a:xfrm>
              <a:off x="2057400" y="5143358"/>
              <a:ext cx="609600" cy="3720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6</a:t>
              </a:r>
            </a:p>
          </p:txBody>
        </p:sp>
        <p:sp>
          <p:nvSpPr>
            <p:cNvPr id="51237" name="Text Box 33"/>
            <p:cNvSpPr txBox="1">
              <a:spLocks noChangeArrowheads="1"/>
            </p:cNvSpPr>
            <p:nvPr/>
          </p:nvSpPr>
          <p:spPr bwMode="auto">
            <a:xfrm>
              <a:off x="3352800" y="5143358"/>
              <a:ext cx="533400" cy="3720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9</a:t>
              </a:r>
            </a:p>
          </p:txBody>
        </p:sp>
        <p:sp>
          <p:nvSpPr>
            <p:cNvPr id="51238" name="Oval 34"/>
            <p:cNvSpPr>
              <a:spLocks noChangeArrowheads="1"/>
            </p:cNvSpPr>
            <p:nvPr/>
          </p:nvSpPr>
          <p:spPr bwMode="auto">
            <a:xfrm>
              <a:off x="4191000" y="50673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cxnSp>
          <p:nvCxnSpPr>
            <p:cNvPr id="51239" name="AutoShape 35"/>
            <p:cNvCxnSpPr>
              <a:cxnSpLocks noChangeShapeType="1"/>
              <a:stCxn id="51213" idx="4"/>
              <a:endCxn id="51238" idx="0"/>
            </p:cNvCxnSpPr>
            <p:nvPr/>
          </p:nvCxnSpPr>
          <p:spPr bwMode="auto">
            <a:xfrm flipH="1">
              <a:off x="4572000" y="4219575"/>
              <a:ext cx="533400" cy="8191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sp>
          <p:nvSpPr>
            <p:cNvPr id="51240" name="Text Box 36"/>
            <p:cNvSpPr txBox="1">
              <a:spLocks noChangeArrowheads="1"/>
            </p:cNvSpPr>
            <p:nvPr/>
          </p:nvSpPr>
          <p:spPr bwMode="auto">
            <a:xfrm>
              <a:off x="4267200" y="5143358"/>
              <a:ext cx="609600" cy="3720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14</a:t>
              </a:r>
            </a:p>
          </p:txBody>
        </p:sp>
        <p:sp>
          <p:nvSpPr>
            <p:cNvPr id="51241" name="Oval 37"/>
            <p:cNvSpPr>
              <a:spLocks noChangeArrowheads="1"/>
            </p:cNvSpPr>
            <p:nvPr/>
          </p:nvSpPr>
          <p:spPr bwMode="auto">
            <a:xfrm>
              <a:off x="5638800" y="50673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cxnSp>
          <p:nvCxnSpPr>
            <p:cNvPr id="51242" name="AutoShape 38"/>
            <p:cNvCxnSpPr>
              <a:cxnSpLocks noChangeShapeType="1"/>
              <a:stCxn id="51219" idx="4"/>
              <a:endCxn id="51241" idx="0"/>
            </p:cNvCxnSpPr>
            <p:nvPr/>
          </p:nvCxnSpPr>
          <p:spPr bwMode="auto">
            <a:xfrm flipH="1">
              <a:off x="6019800" y="4181475"/>
              <a:ext cx="762000" cy="8572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51243" name="AutoShape 39"/>
            <p:cNvCxnSpPr>
              <a:cxnSpLocks noChangeShapeType="1"/>
              <a:stCxn id="51219" idx="4"/>
              <a:endCxn id="51244" idx="0"/>
            </p:cNvCxnSpPr>
            <p:nvPr/>
          </p:nvCxnSpPr>
          <p:spPr bwMode="auto">
            <a:xfrm>
              <a:off x="6781800" y="4181475"/>
              <a:ext cx="914400" cy="8953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sp>
          <p:nvSpPr>
            <p:cNvPr id="51244" name="Oval 40"/>
            <p:cNvSpPr>
              <a:spLocks noChangeArrowheads="1"/>
            </p:cNvSpPr>
            <p:nvPr/>
          </p:nvSpPr>
          <p:spPr bwMode="auto">
            <a:xfrm>
              <a:off x="7315200" y="51054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51245" name="Text Box 41"/>
            <p:cNvSpPr txBox="1">
              <a:spLocks noChangeArrowheads="1"/>
            </p:cNvSpPr>
            <p:nvPr/>
          </p:nvSpPr>
          <p:spPr bwMode="auto">
            <a:xfrm>
              <a:off x="5715000" y="5143358"/>
              <a:ext cx="609600" cy="3720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33</a:t>
              </a:r>
            </a:p>
          </p:txBody>
        </p:sp>
        <p:sp>
          <p:nvSpPr>
            <p:cNvPr id="51246" name="Text Box 42"/>
            <p:cNvSpPr txBox="1">
              <a:spLocks noChangeArrowheads="1"/>
            </p:cNvSpPr>
            <p:nvPr/>
          </p:nvSpPr>
          <p:spPr bwMode="auto">
            <a:xfrm>
              <a:off x="7467600" y="5181742"/>
              <a:ext cx="533400" cy="36849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66</a:t>
              </a:r>
            </a:p>
          </p:txBody>
        </p:sp>
        <p:sp>
          <p:nvSpPr>
            <p:cNvPr id="51247" name="Text Box 44"/>
            <p:cNvSpPr txBox="1">
              <a:spLocks noChangeArrowheads="1"/>
            </p:cNvSpPr>
            <p:nvPr/>
          </p:nvSpPr>
          <p:spPr bwMode="auto">
            <a:xfrm>
              <a:off x="1600200" y="2286284"/>
              <a:ext cx="541338" cy="2955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>
                  <a:latin typeface="Times New Roman" pitchFamily="18" charset="0"/>
                </a:rPr>
                <a:t>5&lt;9</a:t>
              </a:r>
            </a:p>
          </p:txBody>
        </p:sp>
        <p:sp>
          <p:nvSpPr>
            <p:cNvPr id="51248" name="Text Box 45"/>
            <p:cNvSpPr txBox="1">
              <a:spLocks noChangeArrowheads="1"/>
            </p:cNvSpPr>
            <p:nvPr/>
          </p:nvSpPr>
          <p:spPr bwMode="auto">
            <a:xfrm>
              <a:off x="2971800" y="3276600"/>
              <a:ext cx="541338" cy="2955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>
                  <a:latin typeface="Times New Roman" pitchFamily="18" charset="0"/>
                </a:rPr>
                <a:t>8&lt;9</a:t>
              </a:r>
            </a:p>
          </p:txBody>
        </p:sp>
        <p:sp>
          <p:nvSpPr>
            <p:cNvPr id="51249" name="Text Box 46"/>
            <p:cNvSpPr txBox="1">
              <a:spLocks noChangeArrowheads="1"/>
            </p:cNvSpPr>
            <p:nvPr/>
          </p:nvSpPr>
          <p:spPr bwMode="auto">
            <a:xfrm>
              <a:off x="3581400" y="4648200"/>
              <a:ext cx="541338" cy="2955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>
                  <a:latin typeface="Times New Roman" pitchFamily="18" charset="0"/>
                </a:rPr>
                <a:t>9=9</a:t>
              </a:r>
            </a:p>
          </p:txBody>
        </p:sp>
      </p:grpSp>
      <p:sp>
        <p:nvSpPr>
          <p:cNvPr id="407601" name="Line 49"/>
          <p:cNvSpPr>
            <a:spLocks noChangeShapeType="1"/>
          </p:cNvSpPr>
          <p:nvPr/>
        </p:nvSpPr>
        <p:spPr bwMode="auto">
          <a:xfrm flipH="1">
            <a:off x="3200400" y="1892300"/>
            <a:ext cx="1905000" cy="622300"/>
          </a:xfrm>
          <a:prstGeom prst="line">
            <a:avLst/>
          </a:prstGeom>
          <a:noFill/>
          <a:ln w="57150">
            <a:solidFill>
              <a:srgbClr val="FF33CC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7602" name="Line 50"/>
          <p:cNvSpPr>
            <a:spLocks noChangeShapeType="1"/>
          </p:cNvSpPr>
          <p:nvPr/>
        </p:nvSpPr>
        <p:spPr bwMode="auto">
          <a:xfrm>
            <a:off x="3200400" y="3276600"/>
            <a:ext cx="838200" cy="457200"/>
          </a:xfrm>
          <a:prstGeom prst="line">
            <a:avLst/>
          </a:prstGeom>
          <a:noFill/>
          <a:ln w="57150">
            <a:solidFill>
              <a:srgbClr val="FF33CC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7603" name="Line 51"/>
          <p:cNvSpPr>
            <a:spLocks noChangeShapeType="1"/>
          </p:cNvSpPr>
          <p:nvPr/>
        </p:nvSpPr>
        <p:spPr bwMode="auto">
          <a:xfrm>
            <a:off x="4038600" y="4495800"/>
            <a:ext cx="609600" cy="990600"/>
          </a:xfrm>
          <a:prstGeom prst="line">
            <a:avLst/>
          </a:prstGeom>
          <a:noFill/>
          <a:ln w="57150">
            <a:solidFill>
              <a:srgbClr val="FF33CC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7604" name="Oval 52"/>
          <p:cNvSpPr>
            <a:spLocks noChangeArrowheads="1"/>
          </p:cNvSpPr>
          <p:nvPr/>
        </p:nvSpPr>
        <p:spPr bwMode="auto">
          <a:xfrm>
            <a:off x="4140200" y="5359400"/>
            <a:ext cx="990600" cy="990600"/>
          </a:xfrm>
          <a:prstGeom prst="ellipse">
            <a:avLst/>
          </a:prstGeom>
          <a:gradFill rotWithShape="1">
            <a:gsLst>
              <a:gs pos="0">
                <a:srgbClr val="66FF33">
                  <a:alpha val="50998"/>
                </a:srgbClr>
              </a:gs>
              <a:gs pos="100000">
                <a:srgbClr val="2F7618">
                  <a:alpha val="50998"/>
                </a:srgbClr>
              </a:gs>
            </a:gsLst>
            <a:path path="shape">
              <a:fillToRect l="50000" t="50000" r="50000" b="50000"/>
            </a:path>
          </a:gradFill>
          <a:ln w="57150" algn="ctr">
            <a:solidFill>
              <a:srgbClr val="FF33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2851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407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407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" presetID="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0" fill="hold"/>
                                        <p:tgtEl>
                                          <p:spTgt spid="4075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0" fill="hold"/>
                                        <p:tgtEl>
                                          <p:spTgt spid="4075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0"/>
                            </p:stCondLst>
                            <p:childTnLst>
                              <p:par>
                                <p:cTn id="15" presetID="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0" fill="hold"/>
                                        <p:tgtEl>
                                          <p:spTgt spid="4075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0" fill="hold"/>
                                        <p:tgtEl>
                                          <p:spTgt spid="4075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0"/>
                            </p:stCondLst>
                            <p:childTnLst>
                              <p:par>
                                <p:cTn id="20" presetID="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0" fill="hold"/>
                                        <p:tgtEl>
                                          <p:spTgt spid="4075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0" fill="hold"/>
                                        <p:tgtEl>
                                          <p:spTgt spid="4075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0"/>
                            </p:stCondLst>
                            <p:childTnLst>
                              <p:par>
                                <p:cTn id="25" presetID="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0" fill="hold"/>
                                        <p:tgtEl>
                                          <p:spTgt spid="4075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0" fill="hold"/>
                                        <p:tgtEl>
                                          <p:spTgt spid="4075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407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407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500"/>
                                        <p:tgtEl>
                                          <p:spTgt spid="407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07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07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07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58" grpId="0" build="p"/>
      <p:bldP spid="407601" grpId="0" animBg="1"/>
      <p:bldP spid="407602" grpId="0" animBg="1"/>
      <p:bldP spid="407603" grpId="0" animBg="1"/>
      <p:bldP spid="40760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436863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Ví dụ tìm x = 25</a:t>
            </a:r>
          </a:p>
        </p:txBody>
      </p:sp>
      <p:grpSp>
        <p:nvGrpSpPr>
          <p:cNvPr id="52227" name="Group 43"/>
          <p:cNvGrpSpPr>
            <a:grpSpLocks/>
          </p:cNvGrpSpPr>
          <p:nvPr/>
        </p:nvGrpSpPr>
        <p:grpSpPr bwMode="auto">
          <a:xfrm>
            <a:off x="1905000" y="1152526"/>
            <a:ext cx="2590800" cy="2200275"/>
            <a:chOff x="609600" y="1000125"/>
            <a:chExt cx="2590800" cy="2200275"/>
          </a:xfrm>
        </p:grpSpPr>
        <p:sp>
          <p:nvSpPr>
            <p:cNvPr id="52248" name="Oval 4"/>
            <p:cNvSpPr>
              <a:spLocks noChangeArrowheads="1"/>
            </p:cNvSpPr>
            <p:nvPr/>
          </p:nvSpPr>
          <p:spPr bwMode="auto">
            <a:xfrm>
              <a:off x="1447800" y="1000125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52249" name="Oval 5"/>
            <p:cNvSpPr>
              <a:spLocks noChangeArrowheads="1"/>
            </p:cNvSpPr>
            <p:nvPr/>
          </p:nvSpPr>
          <p:spPr bwMode="auto">
            <a:xfrm>
              <a:off x="914400" y="17907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52250" name="Oval 6"/>
            <p:cNvSpPr>
              <a:spLocks noChangeArrowheads="1"/>
            </p:cNvSpPr>
            <p:nvPr/>
          </p:nvSpPr>
          <p:spPr bwMode="auto">
            <a:xfrm>
              <a:off x="1905000" y="17907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52251" name="Oval 7"/>
            <p:cNvSpPr>
              <a:spLocks noChangeArrowheads="1"/>
            </p:cNvSpPr>
            <p:nvPr/>
          </p:nvSpPr>
          <p:spPr bwMode="auto">
            <a:xfrm>
              <a:off x="609600" y="26289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52252" name="Oval 8"/>
            <p:cNvSpPr>
              <a:spLocks noChangeArrowheads="1"/>
            </p:cNvSpPr>
            <p:nvPr/>
          </p:nvSpPr>
          <p:spPr bwMode="auto">
            <a:xfrm>
              <a:off x="1524000" y="26289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cxnSp>
          <p:nvCxnSpPr>
            <p:cNvPr id="52253" name="AutoShape 9"/>
            <p:cNvCxnSpPr>
              <a:cxnSpLocks noChangeShapeType="1"/>
              <a:stCxn id="52249" idx="4"/>
              <a:endCxn id="52251" idx="0"/>
            </p:cNvCxnSpPr>
            <p:nvPr/>
          </p:nvCxnSpPr>
          <p:spPr bwMode="auto">
            <a:xfrm flipH="1">
              <a:off x="990600" y="2390775"/>
              <a:ext cx="304800" cy="2095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52254" name="AutoShape 10"/>
            <p:cNvCxnSpPr>
              <a:cxnSpLocks noChangeShapeType="1"/>
              <a:stCxn id="52250" idx="4"/>
              <a:endCxn id="52252" idx="0"/>
            </p:cNvCxnSpPr>
            <p:nvPr/>
          </p:nvCxnSpPr>
          <p:spPr bwMode="auto">
            <a:xfrm flipH="1">
              <a:off x="1905000" y="2390775"/>
              <a:ext cx="381000" cy="2095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52255" name="AutoShape 11"/>
            <p:cNvCxnSpPr>
              <a:cxnSpLocks noChangeShapeType="1"/>
              <a:stCxn id="52248" idx="4"/>
              <a:endCxn id="52250" idx="0"/>
            </p:cNvCxnSpPr>
            <p:nvPr/>
          </p:nvCxnSpPr>
          <p:spPr bwMode="auto">
            <a:xfrm>
              <a:off x="1828800" y="1600200"/>
              <a:ext cx="457200" cy="161925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52256" name="AutoShape 12"/>
            <p:cNvCxnSpPr>
              <a:cxnSpLocks noChangeShapeType="1"/>
              <a:stCxn id="52248" idx="4"/>
              <a:endCxn id="52249" idx="0"/>
            </p:cNvCxnSpPr>
            <p:nvPr/>
          </p:nvCxnSpPr>
          <p:spPr bwMode="auto">
            <a:xfrm flipH="1">
              <a:off x="1295400" y="1600200"/>
              <a:ext cx="533400" cy="161925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52257" name="AutoShape 13"/>
            <p:cNvCxnSpPr>
              <a:cxnSpLocks noChangeShapeType="1"/>
              <a:stCxn id="52250" idx="4"/>
              <a:endCxn id="52258" idx="0"/>
            </p:cNvCxnSpPr>
            <p:nvPr/>
          </p:nvCxnSpPr>
          <p:spPr bwMode="auto">
            <a:xfrm>
              <a:off x="2286000" y="2390775"/>
              <a:ext cx="533400" cy="2095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sp>
          <p:nvSpPr>
            <p:cNvPr id="52258" name="Oval 14"/>
            <p:cNvSpPr>
              <a:spLocks noChangeArrowheads="1"/>
            </p:cNvSpPr>
            <p:nvPr/>
          </p:nvSpPr>
          <p:spPr bwMode="auto">
            <a:xfrm>
              <a:off x="2438400" y="26289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52259" name="Text Box 15"/>
            <p:cNvSpPr txBox="1">
              <a:spLocks noChangeArrowheads="1"/>
            </p:cNvSpPr>
            <p:nvPr/>
          </p:nvSpPr>
          <p:spPr bwMode="auto">
            <a:xfrm>
              <a:off x="1066800" y="1790700"/>
              <a:ext cx="3810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5</a:t>
              </a:r>
            </a:p>
          </p:txBody>
        </p:sp>
        <p:sp>
          <p:nvSpPr>
            <p:cNvPr id="52260" name="Text Box 16"/>
            <p:cNvSpPr txBox="1">
              <a:spLocks noChangeArrowheads="1"/>
            </p:cNvSpPr>
            <p:nvPr/>
          </p:nvSpPr>
          <p:spPr bwMode="auto">
            <a:xfrm>
              <a:off x="1524000" y="1028700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solidFill>
                    <a:srgbClr val="FF3300"/>
                  </a:solidFill>
                  <a:latin typeface="Arial" charset="0"/>
                </a:rPr>
                <a:t>10</a:t>
              </a:r>
            </a:p>
          </p:txBody>
        </p:sp>
        <p:sp>
          <p:nvSpPr>
            <p:cNvPr id="52261" name="Text Box 17"/>
            <p:cNvSpPr txBox="1">
              <a:spLocks noChangeArrowheads="1"/>
            </p:cNvSpPr>
            <p:nvPr/>
          </p:nvSpPr>
          <p:spPr bwMode="auto">
            <a:xfrm>
              <a:off x="1981200" y="1790700"/>
              <a:ext cx="6096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solidFill>
                    <a:srgbClr val="FF3300"/>
                  </a:solidFill>
                  <a:latin typeface="Arial" charset="0"/>
                </a:rPr>
                <a:t>30</a:t>
              </a:r>
            </a:p>
          </p:txBody>
        </p:sp>
        <p:sp>
          <p:nvSpPr>
            <p:cNvPr id="52262" name="Text Box 18"/>
            <p:cNvSpPr txBox="1">
              <a:spLocks noChangeArrowheads="1"/>
            </p:cNvSpPr>
            <p:nvPr/>
          </p:nvSpPr>
          <p:spPr bwMode="auto">
            <a:xfrm>
              <a:off x="762000" y="2705100"/>
              <a:ext cx="3810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2</a:t>
              </a:r>
            </a:p>
          </p:txBody>
        </p:sp>
        <p:sp>
          <p:nvSpPr>
            <p:cNvPr id="52263" name="Text Box 19"/>
            <p:cNvSpPr txBox="1">
              <a:spLocks noChangeArrowheads="1"/>
            </p:cNvSpPr>
            <p:nvPr/>
          </p:nvSpPr>
          <p:spPr bwMode="auto">
            <a:xfrm>
              <a:off x="1600200" y="2705100"/>
              <a:ext cx="6096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solidFill>
                    <a:srgbClr val="FF3300"/>
                  </a:solidFill>
                  <a:latin typeface="Arial" charset="0"/>
                </a:rPr>
                <a:t>25</a:t>
              </a:r>
            </a:p>
          </p:txBody>
        </p:sp>
        <p:sp>
          <p:nvSpPr>
            <p:cNvPr id="52264" name="Text Box 20"/>
            <p:cNvSpPr txBox="1">
              <a:spLocks noChangeArrowheads="1"/>
            </p:cNvSpPr>
            <p:nvPr/>
          </p:nvSpPr>
          <p:spPr bwMode="auto">
            <a:xfrm>
              <a:off x="2590800" y="2705100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45</a:t>
              </a:r>
            </a:p>
          </p:txBody>
        </p:sp>
      </p:grpSp>
      <p:grpSp>
        <p:nvGrpSpPr>
          <p:cNvPr id="52228" name="Group 44"/>
          <p:cNvGrpSpPr>
            <a:grpSpLocks/>
          </p:cNvGrpSpPr>
          <p:nvPr/>
        </p:nvGrpSpPr>
        <p:grpSpPr bwMode="auto">
          <a:xfrm>
            <a:off x="8153400" y="2133601"/>
            <a:ext cx="1828800" cy="3876675"/>
            <a:chOff x="6248400" y="2133600"/>
            <a:chExt cx="1828800" cy="3876675"/>
          </a:xfrm>
        </p:grpSpPr>
        <p:sp>
          <p:nvSpPr>
            <p:cNvPr id="52231" name="Oval 21"/>
            <p:cNvSpPr>
              <a:spLocks noChangeArrowheads="1"/>
            </p:cNvSpPr>
            <p:nvPr/>
          </p:nvSpPr>
          <p:spPr bwMode="auto">
            <a:xfrm>
              <a:off x="6858000" y="21336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52232" name="Oval 22"/>
            <p:cNvSpPr>
              <a:spLocks noChangeArrowheads="1"/>
            </p:cNvSpPr>
            <p:nvPr/>
          </p:nvSpPr>
          <p:spPr bwMode="auto">
            <a:xfrm>
              <a:off x="6324600" y="2924175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52233" name="Oval 23"/>
            <p:cNvSpPr>
              <a:spLocks noChangeArrowheads="1"/>
            </p:cNvSpPr>
            <p:nvPr/>
          </p:nvSpPr>
          <p:spPr bwMode="auto">
            <a:xfrm>
              <a:off x="7315200" y="2924175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52234" name="Oval 24"/>
            <p:cNvSpPr>
              <a:spLocks noChangeArrowheads="1"/>
            </p:cNvSpPr>
            <p:nvPr/>
          </p:nvSpPr>
          <p:spPr bwMode="auto">
            <a:xfrm>
              <a:off x="6934200" y="3762375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cxnSp>
          <p:nvCxnSpPr>
            <p:cNvPr id="52235" name="AutoShape 25"/>
            <p:cNvCxnSpPr>
              <a:cxnSpLocks noChangeShapeType="1"/>
              <a:stCxn id="52233" idx="4"/>
              <a:endCxn id="52234" idx="0"/>
            </p:cNvCxnSpPr>
            <p:nvPr/>
          </p:nvCxnSpPr>
          <p:spPr bwMode="auto">
            <a:xfrm flipH="1">
              <a:off x="7315200" y="3524250"/>
              <a:ext cx="381000" cy="2095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52236" name="AutoShape 26"/>
            <p:cNvCxnSpPr>
              <a:cxnSpLocks noChangeShapeType="1"/>
              <a:stCxn id="52231" idx="4"/>
              <a:endCxn id="52233" idx="0"/>
            </p:cNvCxnSpPr>
            <p:nvPr/>
          </p:nvCxnSpPr>
          <p:spPr bwMode="auto">
            <a:xfrm>
              <a:off x="7239000" y="2733675"/>
              <a:ext cx="457200" cy="161925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52237" name="AutoShape 27"/>
            <p:cNvCxnSpPr>
              <a:cxnSpLocks noChangeShapeType="1"/>
              <a:stCxn id="52231" idx="4"/>
              <a:endCxn id="52232" idx="0"/>
            </p:cNvCxnSpPr>
            <p:nvPr/>
          </p:nvCxnSpPr>
          <p:spPr bwMode="auto">
            <a:xfrm flipH="1">
              <a:off x="6705600" y="2733675"/>
              <a:ext cx="533400" cy="161925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52238" name="AutoShape 28"/>
            <p:cNvCxnSpPr>
              <a:cxnSpLocks noChangeShapeType="1"/>
              <a:stCxn id="52234" idx="4"/>
              <a:endCxn id="52239" idx="0"/>
            </p:cNvCxnSpPr>
            <p:nvPr/>
          </p:nvCxnSpPr>
          <p:spPr bwMode="auto">
            <a:xfrm flipH="1">
              <a:off x="6629400" y="4362450"/>
              <a:ext cx="685800" cy="2095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sp>
          <p:nvSpPr>
            <p:cNvPr id="52239" name="Oval 29"/>
            <p:cNvSpPr>
              <a:spLocks noChangeArrowheads="1"/>
            </p:cNvSpPr>
            <p:nvPr/>
          </p:nvSpPr>
          <p:spPr bwMode="auto">
            <a:xfrm>
              <a:off x="6248400" y="4600575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52240" name="Text Box 30"/>
            <p:cNvSpPr txBox="1">
              <a:spLocks noChangeArrowheads="1"/>
            </p:cNvSpPr>
            <p:nvPr/>
          </p:nvSpPr>
          <p:spPr bwMode="auto">
            <a:xfrm>
              <a:off x="7010400" y="2162175"/>
              <a:ext cx="3810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solidFill>
                    <a:srgbClr val="FF3300"/>
                  </a:solidFill>
                  <a:latin typeface="Arial" charset="0"/>
                </a:rPr>
                <a:t>5</a:t>
              </a:r>
            </a:p>
          </p:txBody>
        </p:sp>
        <p:sp>
          <p:nvSpPr>
            <p:cNvPr id="52241" name="Text Box 31"/>
            <p:cNvSpPr txBox="1">
              <a:spLocks noChangeArrowheads="1"/>
            </p:cNvSpPr>
            <p:nvPr/>
          </p:nvSpPr>
          <p:spPr bwMode="auto">
            <a:xfrm>
              <a:off x="6324600" y="4600575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solidFill>
                    <a:srgbClr val="FF3300"/>
                  </a:solidFill>
                  <a:latin typeface="Arial" charset="0"/>
                </a:rPr>
                <a:t>10</a:t>
              </a:r>
            </a:p>
          </p:txBody>
        </p:sp>
        <p:sp>
          <p:nvSpPr>
            <p:cNvPr id="52242" name="Text Box 32"/>
            <p:cNvSpPr txBox="1">
              <a:spLocks noChangeArrowheads="1"/>
            </p:cNvSpPr>
            <p:nvPr/>
          </p:nvSpPr>
          <p:spPr bwMode="auto">
            <a:xfrm>
              <a:off x="7010400" y="3838575"/>
              <a:ext cx="6096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solidFill>
                    <a:srgbClr val="FF3300"/>
                  </a:solidFill>
                  <a:latin typeface="Arial" charset="0"/>
                </a:rPr>
                <a:t>30</a:t>
              </a:r>
            </a:p>
          </p:txBody>
        </p:sp>
        <p:sp>
          <p:nvSpPr>
            <p:cNvPr id="52243" name="Text Box 33"/>
            <p:cNvSpPr txBox="1">
              <a:spLocks noChangeArrowheads="1"/>
            </p:cNvSpPr>
            <p:nvPr/>
          </p:nvSpPr>
          <p:spPr bwMode="auto">
            <a:xfrm>
              <a:off x="6477000" y="2924175"/>
              <a:ext cx="3810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2</a:t>
              </a:r>
            </a:p>
          </p:txBody>
        </p:sp>
        <p:sp>
          <p:nvSpPr>
            <p:cNvPr id="52244" name="Text Box 34"/>
            <p:cNvSpPr txBox="1">
              <a:spLocks noChangeArrowheads="1"/>
            </p:cNvSpPr>
            <p:nvPr/>
          </p:nvSpPr>
          <p:spPr bwMode="auto">
            <a:xfrm>
              <a:off x="6934200" y="5438775"/>
              <a:ext cx="6096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solidFill>
                    <a:srgbClr val="FF3300"/>
                  </a:solidFill>
                  <a:latin typeface="Arial" charset="0"/>
                </a:rPr>
                <a:t>25</a:t>
              </a:r>
            </a:p>
          </p:txBody>
        </p:sp>
        <p:sp>
          <p:nvSpPr>
            <p:cNvPr id="52245" name="Text Box 35"/>
            <p:cNvSpPr txBox="1">
              <a:spLocks noChangeArrowheads="1"/>
            </p:cNvSpPr>
            <p:nvPr/>
          </p:nvSpPr>
          <p:spPr bwMode="auto">
            <a:xfrm>
              <a:off x="7391400" y="2924175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solidFill>
                    <a:srgbClr val="FF3300"/>
                  </a:solidFill>
                  <a:latin typeface="Arial" charset="0"/>
                </a:rPr>
                <a:t>45</a:t>
              </a:r>
            </a:p>
          </p:txBody>
        </p:sp>
        <p:sp>
          <p:nvSpPr>
            <p:cNvPr id="52246" name="Oval 36"/>
            <p:cNvSpPr>
              <a:spLocks noChangeArrowheads="1"/>
            </p:cNvSpPr>
            <p:nvPr/>
          </p:nvSpPr>
          <p:spPr bwMode="auto">
            <a:xfrm>
              <a:off x="6858000" y="5438775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cxnSp>
          <p:nvCxnSpPr>
            <p:cNvPr id="52247" name="AutoShape 37"/>
            <p:cNvCxnSpPr>
              <a:cxnSpLocks noChangeShapeType="1"/>
              <a:stCxn id="52239" idx="4"/>
              <a:endCxn id="52246" idx="0"/>
            </p:cNvCxnSpPr>
            <p:nvPr/>
          </p:nvCxnSpPr>
          <p:spPr bwMode="auto">
            <a:xfrm>
              <a:off x="6629400" y="5200650"/>
              <a:ext cx="609600" cy="2095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</p:grpSp>
      <p:sp>
        <p:nvSpPr>
          <p:cNvPr id="52229" name="Text Box 38"/>
          <p:cNvSpPr txBox="1">
            <a:spLocks noChangeArrowheads="1"/>
          </p:cNvSpPr>
          <p:nvPr/>
        </p:nvSpPr>
        <p:spPr bwMode="auto">
          <a:xfrm>
            <a:off x="4876800" y="990600"/>
            <a:ext cx="2895600" cy="16462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sz="2400">
                <a:latin typeface="Arial" charset="0"/>
              </a:rPr>
              <a:t>10 &lt; 25, Right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sz="2400">
                <a:latin typeface="Arial" charset="0"/>
              </a:rPr>
              <a:t>30 &gt; 25, Left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sz="2400">
                <a:latin typeface="Arial" charset="0"/>
              </a:rPr>
              <a:t>25 = 25, </a:t>
            </a:r>
            <a:r>
              <a:rPr lang="en-US" sz="2800">
                <a:solidFill>
                  <a:srgbClr val="CC0000"/>
                </a:solidFill>
                <a:latin typeface="Times New Roman" pitchFamily="18" charset="0"/>
              </a:rPr>
              <a:t>Tìm thấy</a:t>
            </a:r>
            <a:endParaRPr lang="en-US" sz="28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52230" name="Text Box 39"/>
          <p:cNvSpPr txBox="1">
            <a:spLocks noChangeArrowheads="1"/>
          </p:cNvSpPr>
          <p:nvPr/>
        </p:nvSpPr>
        <p:spPr bwMode="auto">
          <a:xfrm>
            <a:off x="4876800" y="3200400"/>
            <a:ext cx="2819400" cy="27701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sz="2400">
                <a:latin typeface="Arial" charset="0"/>
              </a:rPr>
              <a:t>5 &lt; 25, Right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sz="2400">
                <a:latin typeface="Arial" charset="0"/>
              </a:rPr>
              <a:t>45 &gt; 25, Left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sz="2400">
                <a:latin typeface="Arial" charset="0"/>
              </a:rPr>
              <a:t>30 &gt; 25, Left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sz="2400">
                <a:latin typeface="Arial" charset="0"/>
              </a:rPr>
              <a:t>10 &lt; 25, Right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sz="2400">
                <a:latin typeface="Arial" charset="0"/>
              </a:rPr>
              <a:t>25 = 25, </a:t>
            </a:r>
            <a:r>
              <a:rPr lang="en-US" sz="2800">
                <a:solidFill>
                  <a:srgbClr val="CC0000"/>
                </a:solidFill>
                <a:latin typeface="Times New Roman" pitchFamily="18" charset="0"/>
              </a:rPr>
              <a:t>Tìm thấy</a:t>
            </a:r>
            <a:endParaRPr lang="en-US" sz="28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1856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456115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Tìm giá trị x (C1)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519518" y="1187382"/>
            <a:ext cx="9220200" cy="5638800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b="0" dirty="0" smtClean="0">
                <a:cs typeface="Consolas" panose="020B0609020204030204" pitchFamily="49" charset="0"/>
              </a:rPr>
              <a:t>TNode*</a:t>
            </a:r>
            <a:r>
              <a:rPr lang="en-US" sz="3200" dirty="0">
                <a:cs typeface="Consolas" panose="020B0609020204030204" pitchFamily="49" charset="0"/>
              </a:rPr>
              <a:t> </a:t>
            </a:r>
            <a:r>
              <a:rPr lang="en-US" sz="3000" dirty="0">
                <a:solidFill>
                  <a:srgbClr val="FF00FF"/>
                </a:solidFill>
                <a:cs typeface="Consolas" panose="020B0609020204030204" pitchFamily="49" charset="0"/>
              </a:rPr>
              <a:t>findTNodeX</a:t>
            </a:r>
            <a:r>
              <a:rPr lang="en-US" sz="3200" dirty="0">
                <a:cs typeface="Consolas" panose="020B0609020204030204" pitchFamily="49" charset="0"/>
              </a:rPr>
              <a:t>(</a:t>
            </a:r>
            <a:r>
              <a:rPr lang="en-US" b="0" dirty="0" smtClean="0">
                <a:cs typeface="Consolas" panose="020B0609020204030204" pitchFamily="49" charset="0"/>
              </a:rPr>
              <a:t>TNode* root</a:t>
            </a:r>
            <a:r>
              <a:rPr lang="en-US" b="0" smtClean="0">
                <a:cs typeface="Consolas" panose="020B0609020204030204" pitchFamily="49" charset="0"/>
              </a:rPr>
              <a:t>, </a:t>
            </a:r>
            <a:r>
              <a:rPr lang="en-US">
                <a:cs typeface="Consolas" panose="020B0609020204030204" pitchFamily="49" charset="0"/>
              </a:rPr>
              <a:t>ItemType </a:t>
            </a:r>
            <a:r>
              <a:rPr lang="en-US" b="0" dirty="0" smtClean="0">
                <a:cs typeface="Consolas" panose="020B0609020204030204" pitchFamily="49" charset="0"/>
              </a:rPr>
              <a:t>x</a:t>
            </a:r>
            <a:r>
              <a:rPr lang="en-US" sz="3200" dirty="0">
                <a:cs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None/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3200" dirty="0">
                <a:cs typeface="Consolas" panose="020B0609020204030204" pitchFamily="49" charset="0"/>
              </a:rPr>
              <a:t>{ </a:t>
            </a:r>
            <a:r>
              <a:rPr lang="en-US" sz="3200" i="1" dirty="0">
                <a:solidFill>
                  <a:srgbClr val="CC0000"/>
                </a:solidFill>
                <a:cs typeface="Consolas" panose="020B0609020204030204" pitchFamily="49" charset="0"/>
              </a:rPr>
              <a:t>// Dùng đệ qui</a:t>
            </a:r>
            <a:r>
              <a:rPr lang="en-US" sz="3200" i="1" dirty="0">
                <a:cs typeface="Consolas" panose="020B0609020204030204" pitchFamily="49" charset="0"/>
              </a:rPr>
              <a:t> </a:t>
            </a:r>
          </a:p>
          <a:p>
            <a:pPr marL="0" indent="0">
              <a:spcBef>
                <a:spcPts val="600"/>
              </a:spcBef>
              <a:buNone/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3200" dirty="0">
                <a:cs typeface="Consolas" panose="020B0609020204030204" pitchFamily="49" charset="0"/>
              </a:rPr>
              <a:t>	if(!root)  </a:t>
            </a:r>
            <a:r>
              <a:rPr lang="en-US" sz="3200" dirty="0">
                <a:solidFill>
                  <a:srgbClr val="0000FF"/>
                </a:solidFill>
                <a:cs typeface="Consolas" panose="020B0609020204030204" pitchFamily="49" charset="0"/>
              </a:rPr>
              <a:t>return</a:t>
            </a:r>
            <a:r>
              <a:rPr lang="en-US" sz="3200" dirty="0">
                <a:cs typeface="Consolas" panose="020B0609020204030204" pitchFamily="49" charset="0"/>
              </a:rPr>
              <a:t> NULL;</a:t>
            </a:r>
          </a:p>
          <a:p>
            <a:pPr marL="0" indent="0">
              <a:spcBef>
                <a:spcPts val="600"/>
              </a:spcBef>
              <a:buNone/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3200" dirty="0">
                <a:cs typeface="Consolas" panose="020B0609020204030204" pitchFamily="49" charset="0"/>
              </a:rPr>
              <a:t>	if(</a:t>
            </a:r>
            <a:r>
              <a:rPr lang="en-US" sz="3200" dirty="0" err="1">
                <a:cs typeface="Consolas" panose="020B0609020204030204" pitchFamily="49" charset="0"/>
              </a:rPr>
              <a:t>root</a:t>
            </a:r>
            <a:r>
              <a:rPr lang="en-US" sz="3200" dirty="0" err="1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200" dirty="0" err="1">
                <a:cs typeface="Consolas" panose="020B0609020204030204" pitchFamily="49" charset="0"/>
              </a:rPr>
              <a:t>Info</a:t>
            </a:r>
            <a:r>
              <a:rPr lang="en-US" sz="3200" dirty="0">
                <a:cs typeface="Consolas" panose="020B0609020204030204" pitchFamily="49" charset="0"/>
              </a:rPr>
              <a:t> == x) </a:t>
            </a:r>
          </a:p>
          <a:p>
            <a:pPr marL="0" indent="0">
              <a:spcBef>
                <a:spcPts val="600"/>
              </a:spcBef>
              <a:buNone/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3200" dirty="0">
                <a:cs typeface="Consolas" panose="020B0609020204030204" pitchFamily="49" charset="0"/>
              </a:rPr>
              <a:t>		</a:t>
            </a:r>
            <a:r>
              <a:rPr lang="en-US" sz="3200" dirty="0">
                <a:solidFill>
                  <a:srgbClr val="0000FF"/>
                </a:solidFill>
                <a:cs typeface="Consolas" panose="020B0609020204030204" pitchFamily="49" charset="0"/>
              </a:rPr>
              <a:t>return</a:t>
            </a:r>
            <a:r>
              <a:rPr lang="en-US" sz="3200" dirty="0">
                <a:cs typeface="Consolas" panose="020B0609020204030204" pitchFamily="49" charset="0"/>
              </a:rPr>
              <a:t> root;</a:t>
            </a:r>
          </a:p>
          <a:p>
            <a:pPr marL="0" indent="0">
              <a:spcBef>
                <a:spcPts val="600"/>
              </a:spcBef>
              <a:buNone/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3200" dirty="0">
                <a:cs typeface="Consolas" panose="020B0609020204030204" pitchFamily="49" charset="0"/>
              </a:rPr>
              <a:t>	if(</a:t>
            </a:r>
            <a:r>
              <a:rPr lang="en-US" sz="3200" dirty="0" err="1">
                <a:cs typeface="Consolas" panose="020B0609020204030204" pitchFamily="49" charset="0"/>
              </a:rPr>
              <a:t>root</a:t>
            </a:r>
            <a:r>
              <a:rPr lang="en-US" sz="3200" dirty="0" err="1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200" dirty="0" err="1">
                <a:cs typeface="Consolas" panose="020B0609020204030204" pitchFamily="49" charset="0"/>
              </a:rPr>
              <a:t>Info</a:t>
            </a:r>
            <a:r>
              <a:rPr lang="en-US" sz="3200" dirty="0">
                <a:cs typeface="Consolas" panose="020B0609020204030204" pitchFamily="49" charset="0"/>
              </a:rPr>
              <a:t> &gt; x)</a:t>
            </a:r>
          </a:p>
          <a:p>
            <a:pPr marL="0" indent="0">
              <a:spcBef>
                <a:spcPts val="600"/>
              </a:spcBef>
              <a:buNone/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3200" dirty="0">
                <a:solidFill>
                  <a:srgbClr val="0000FF"/>
                </a:solidFill>
                <a:cs typeface="Consolas" panose="020B0609020204030204" pitchFamily="49" charset="0"/>
              </a:rPr>
              <a:t>		return</a:t>
            </a:r>
            <a:r>
              <a:rPr lang="en-US" sz="3200" dirty="0">
                <a:cs typeface="Consolas" panose="020B0609020204030204" pitchFamily="49" charset="0"/>
              </a:rPr>
              <a:t> </a:t>
            </a:r>
            <a:r>
              <a:rPr lang="en-US" sz="3200" i="1" dirty="0">
                <a:solidFill>
                  <a:srgbClr val="FF00FF"/>
                </a:solidFill>
                <a:cs typeface="Consolas" panose="020B0609020204030204" pitchFamily="49" charset="0"/>
              </a:rPr>
              <a:t>findTNodeX</a:t>
            </a:r>
            <a:r>
              <a:rPr lang="en-US" sz="3200" dirty="0">
                <a:cs typeface="Consolas" panose="020B0609020204030204" pitchFamily="49" charset="0"/>
              </a:rPr>
              <a:t>(root</a:t>
            </a:r>
            <a:r>
              <a:rPr lang="en-US" sz="3200" dirty="0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200" dirty="0">
                <a:cs typeface="Consolas" panose="020B0609020204030204" pitchFamily="49" charset="0"/>
              </a:rPr>
              <a:t>Left, x);</a:t>
            </a:r>
          </a:p>
          <a:p>
            <a:pPr marL="0" indent="0">
              <a:spcBef>
                <a:spcPts val="600"/>
              </a:spcBef>
              <a:buNone/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3200" dirty="0">
                <a:cs typeface="Consolas" panose="020B0609020204030204" pitchFamily="49" charset="0"/>
              </a:rPr>
              <a:t>	else</a:t>
            </a:r>
          </a:p>
          <a:p>
            <a:pPr marL="0" indent="0">
              <a:spcBef>
                <a:spcPts val="600"/>
              </a:spcBef>
              <a:buNone/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3200" dirty="0">
                <a:solidFill>
                  <a:srgbClr val="0000FF"/>
                </a:solidFill>
                <a:cs typeface="Consolas" panose="020B0609020204030204" pitchFamily="49" charset="0"/>
              </a:rPr>
              <a:t>		return</a:t>
            </a:r>
            <a:r>
              <a:rPr lang="en-US" sz="3200" dirty="0">
                <a:cs typeface="Consolas" panose="020B0609020204030204" pitchFamily="49" charset="0"/>
              </a:rPr>
              <a:t> </a:t>
            </a:r>
            <a:r>
              <a:rPr lang="en-US" sz="3200" i="1" dirty="0">
                <a:solidFill>
                  <a:srgbClr val="FF00FF"/>
                </a:solidFill>
                <a:cs typeface="Consolas" panose="020B0609020204030204" pitchFamily="49" charset="0"/>
              </a:rPr>
              <a:t>findTNodeX</a:t>
            </a:r>
            <a:r>
              <a:rPr lang="en-US" sz="3200" dirty="0">
                <a:cs typeface="Consolas" panose="020B0609020204030204" pitchFamily="49" charset="0"/>
              </a:rPr>
              <a:t>(root</a:t>
            </a:r>
            <a:r>
              <a:rPr lang="en-US" sz="3200" dirty="0"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3200" dirty="0">
                <a:cs typeface="Consolas" panose="020B0609020204030204" pitchFamily="49" charset="0"/>
              </a:rPr>
              <a:t>Right, x);</a:t>
            </a:r>
          </a:p>
          <a:p>
            <a:pPr marL="0" indent="0">
              <a:spcBef>
                <a:spcPts val="600"/>
              </a:spcBef>
              <a:buNone/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3200" dirty="0"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906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523493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Tìm giá trị x (C2)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524000" y="1452614"/>
            <a:ext cx="9220200" cy="53975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  <a:tabLst>
                <a:tab pos="538163" algn="l"/>
                <a:tab pos="1165225" algn="l"/>
              </a:tabLst>
            </a:pPr>
            <a:r>
              <a:rPr lang="en-US" b="0" dirty="0" smtClean="0">
                <a:cs typeface="Consolas" panose="020B0609020204030204" pitchFamily="49" charset="0"/>
              </a:rPr>
              <a:t>TNode*</a:t>
            </a:r>
            <a:r>
              <a:rPr lang="en-US" sz="3200" dirty="0">
                <a:cs typeface="Consolas" panose="020B0609020204030204" pitchFamily="49" charset="0"/>
              </a:rPr>
              <a:t> </a:t>
            </a:r>
            <a:r>
              <a:rPr lang="en-US" sz="3000" dirty="0">
                <a:solidFill>
                  <a:srgbClr val="FF00FF"/>
                </a:solidFill>
                <a:cs typeface="Consolas" panose="020B0609020204030204" pitchFamily="49" charset="0"/>
              </a:rPr>
              <a:t>findTNodeX</a:t>
            </a:r>
            <a:r>
              <a:rPr lang="en-US" sz="3200" dirty="0">
                <a:cs typeface="Consolas" panose="020B0609020204030204" pitchFamily="49" charset="0"/>
              </a:rPr>
              <a:t>(</a:t>
            </a:r>
            <a:r>
              <a:rPr lang="en-US" b="0" dirty="0" smtClean="0">
                <a:cs typeface="Consolas" panose="020B0609020204030204" pitchFamily="49" charset="0"/>
              </a:rPr>
              <a:t>TNode* root, ItemType x</a:t>
            </a:r>
            <a:r>
              <a:rPr lang="en-US" sz="3200" dirty="0">
                <a:cs typeface="Consolas" panose="020B0609020204030204" pitchFamily="49" charset="0"/>
              </a:rPr>
              <a:t>)</a:t>
            </a:r>
          </a:p>
          <a:p>
            <a:pPr marL="0" indent="0">
              <a:buNone/>
              <a:tabLst>
                <a:tab pos="538163" algn="l"/>
                <a:tab pos="1165225" algn="l"/>
              </a:tabLst>
            </a:pPr>
            <a:r>
              <a:rPr lang="en-US" sz="3200" dirty="0">
                <a:cs typeface="Consolas" panose="020B0609020204030204" pitchFamily="49" charset="0"/>
              </a:rPr>
              <a:t>{	</a:t>
            </a:r>
            <a:r>
              <a:rPr lang="en-US" sz="3200" i="1" dirty="0">
                <a:solidFill>
                  <a:srgbClr val="CC0000"/>
                </a:solidFill>
                <a:cs typeface="Consolas" panose="020B0609020204030204" pitchFamily="49" charset="0"/>
              </a:rPr>
              <a:t>//Không dùng đệ qui</a:t>
            </a:r>
          </a:p>
          <a:p>
            <a:pPr marL="0" indent="0">
              <a:spcBef>
                <a:spcPts val="300"/>
              </a:spcBef>
              <a:buNone/>
              <a:tabLst>
                <a:tab pos="538163" algn="l"/>
                <a:tab pos="1165225" algn="l"/>
              </a:tabLst>
            </a:pPr>
            <a:r>
              <a:rPr lang="en-US" sz="3200" dirty="0">
                <a:cs typeface="Consolas" panose="020B0609020204030204" pitchFamily="49" charset="0"/>
              </a:rPr>
              <a:t>	</a:t>
            </a:r>
            <a:r>
              <a:rPr lang="en-US" sz="3200" dirty="0" err="1">
                <a:cs typeface="Consolas" panose="020B0609020204030204" pitchFamily="49" charset="0"/>
              </a:rPr>
              <a:t>TNode</a:t>
            </a:r>
            <a:r>
              <a:rPr lang="en-US" sz="3200" dirty="0">
                <a:cs typeface="Consolas" panose="020B0609020204030204" pitchFamily="49" charset="0"/>
              </a:rPr>
              <a:t>* p = root;</a:t>
            </a:r>
          </a:p>
          <a:p>
            <a:pPr marL="0" indent="0">
              <a:spcBef>
                <a:spcPts val="300"/>
              </a:spcBef>
              <a:buNone/>
              <a:tabLst>
                <a:tab pos="538163" algn="l"/>
                <a:tab pos="1165225" algn="l"/>
              </a:tabLst>
            </a:pPr>
            <a:r>
              <a:rPr lang="en-US" sz="3200" dirty="0">
                <a:cs typeface="Consolas" panose="020B0609020204030204" pitchFamily="49" charset="0"/>
              </a:rPr>
              <a:t>	while( p &amp;&amp;  </a:t>
            </a:r>
            <a:r>
              <a:rPr lang="en-US" sz="3200" dirty="0" err="1">
                <a:cs typeface="Consolas" panose="020B0609020204030204" pitchFamily="49" charset="0"/>
              </a:rPr>
              <a:t>p</a:t>
            </a:r>
            <a:r>
              <a:rPr lang="en-US" sz="3200" dirty="0" err="1">
                <a:cs typeface="Consolas" panose="020B0609020204030204" pitchFamily="49" charset="0"/>
                <a:sym typeface="Wingdings" pitchFamily="2" charset="2"/>
              </a:rPr>
              <a:t>Info</a:t>
            </a:r>
            <a:r>
              <a:rPr lang="en-US" sz="3200" dirty="0">
                <a:cs typeface="Consolas" panose="020B0609020204030204" pitchFamily="49" charset="0"/>
                <a:sym typeface="Wingdings" pitchFamily="2" charset="2"/>
              </a:rPr>
              <a:t> != x </a:t>
            </a:r>
            <a:r>
              <a:rPr lang="en-US" sz="3200" dirty="0">
                <a:cs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  <a:tabLst>
                <a:tab pos="538163" algn="l"/>
                <a:tab pos="1165225" algn="l"/>
              </a:tabLst>
            </a:pPr>
            <a:r>
              <a:rPr lang="en-US" sz="3200" dirty="0">
                <a:cs typeface="Consolas" panose="020B0609020204030204" pitchFamily="49" charset="0"/>
              </a:rPr>
              <a:t>	{	</a:t>
            </a:r>
          </a:p>
          <a:p>
            <a:pPr marL="0" indent="0">
              <a:spcBef>
                <a:spcPts val="300"/>
              </a:spcBef>
              <a:buNone/>
              <a:tabLst>
                <a:tab pos="538163" algn="l"/>
                <a:tab pos="1165225" algn="l"/>
                <a:tab pos="4935538" algn="l"/>
              </a:tabLst>
            </a:pPr>
            <a:r>
              <a:rPr lang="en-US" sz="3200" dirty="0">
                <a:cs typeface="Consolas" panose="020B0609020204030204" pitchFamily="49" charset="0"/>
              </a:rPr>
              <a:t>	  	if( p</a:t>
            </a:r>
            <a:r>
              <a:rPr lang="en-US" sz="3200" dirty="0">
                <a:cs typeface="Consolas" panose="020B0609020204030204" pitchFamily="49" charset="0"/>
                <a:sym typeface="Wingdings" pitchFamily="2" charset="2"/>
              </a:rPr>
              <a:t>Info &gt; x </a:t>
            </a:r>
            <a:r>
              <a:rPr lang="en-US" sz="3200" dirty="0">
                <a:cs typeface="Consolas" panose="020B0609020204030204" pitchFamily="49" charset="0"/>
              </a:rPr>
              <a:t>)</a:t>
            </a:r>
            <a:r>
              <a:rPr lang="en-US" sz="3200">
                <a:cs typeface="Consolas" panose="020B0609020204030204" pitchFamily="49" charset="0"/>
              </a:rPr>
              <a:t>	</a:t>
            </a:r>
            <a:endParaRPr lang="en-US" sz="3200" smtClean="0">
              <a:cs typeface="Consolas" panose="020B0609020204030204" pitchFamily="49" charset="0"/>
            </a:endParaRPr>
          </a:p>
          <a:p>
            <a:pPr marL="0" indent="0">
              <a:spcBef>
                <a:spcPts val="300"/>
              </a:spcBef>
              <a:buNone/>
              <a:tabLst>
                <a:tab pos="538163" algn="l"/>
                <a:tab pos="1165225" algn="l"/>
                <a:tab pos="4935538" algn="l"/>
              </a:tabLst>
            </a:pPr>
            <a:r>
              <a:rPr lang="en-US" sz="3200">
                <a:cs typeface="Consolas" panose="020B0609020204030204" pitchFamily="49" charset="0"/>
              </a:rPr>
              <a:t>	</a:t>
            </a:r>
            <a:r>
              <a:rPr lang="en-US" sz="3200" smtClean="0">
                <a:cs typeface="Consolas" panose="020B0609020204030204" pitchFamily="49" charset="0"/>
              </a:rPr>
              <a:t>	    p </a:t>
            </a:r>
            <a:r>
              <a:rPr lang="en-US" sz="3200" dirty="0">
                <a:cs typeface="Consolas" panose="020B0609020204030204" pitchFamily="49" charset="0"/>
              </a:rPr>
              <a:t>= p</a:t>
            </a:r>
            <a:r>
              <a:rPr lang="en-US" sz="3200" dirty="0">
                <a:cs typeface="Consolas" panose="020B0609020204030204" pitchFamily="49" charset="0"/>
                <a:sym typeface="Wingdings" pitchFamily="2" charset="2"/>
              </a:rPr>
              <a:t>Left;</a:t>
            </a:r>
          </a:p>
          <a:p>
            <a:pPr marL="0" indent="0">
              <a:spcBef>
                <a:spcPts val="300"/>
              </a:spcBef>
              <a:buNone/>
              <a:tabLst>
                <a:tab pos="538163" algn="l"/>
                <a:tab pos="1165225" algn="l"/>
                <a:tab pos="4935538" algn="l"/>
              </a:tabLst>
            </a:pPr>
            <a:r>
              <a:rPr lang="en-US" sz="3200" dirty="0">
                <a:cs typeface="Consolas" panose="020B0609020204030204" pitchFamily="49" charset="0"/>
                <a:sym typeface="Wingdings" pitchFamily="2" charset="2"/>
              </a:rPr>
              <a:t>	  	else  </a:t>
            </a:r>
            <a:r>
              <a:rPr lang="en-US" sz="3200">
                <a:cs typeface="Consolas" panose="020B0609020204030204" pitchFamily="49" charset="0"/>
                <a:sym typeface="Wingdings" pitchFamily="2" charset="2"/>
              </a:rPr>
              <a:t>	</a:t>
            </a:r>
            <a:endParaRPr lang="en-US" sz="3200" smtClean="0">
              <a:cs typeface="Consolas" panose="020B0609020204030204" pitchFamily="49" charset="0"/>
              <a:sym typeface="Wingdings" pitchFamily="2" charset="2"/>
            </a:endParaRPr>
          </a:p>
          <a:p>
            <a:pPr marL="0" indent="0">
              <a:spcBef>
                <a:spcPts val="300"/>
              </a:spcBef>
              <a:buNone/>
              <a:tabLst>
                <a:tab pos="538163" algn="l"/>
                <a:tab pos="1165225" algn="l"/>
                <a:tab pos="4935538" algn="l"/>
              </a:tabLst>
            </a:pPr>
            <a:r>
              <a:rPr lang="en-US" sz="3200">
                <a:cs typeface="Consolas" panose="020B0609020204030204" pitchFamily="49" charset="0"/>
                <a:sym typeface="Wingdings" pitchFamily="2" charset="2"/>
              </a:rPr>
              <a:t>	</a:t>
            </a:r>
            <a:r>
              <a:rPr lang="en-US" sz="3200" smtClean="0">
                <a:cs typeface="Consolas" panose="020B0609020204030204" pitchFamily="49" charset="0"/>
                <a:sym typeface="Wingdings" pitchFamily="2" charset="2"/>
              </a:rPr>
              <a:t>	    p </a:t>
            </a:r>
            <a:r>
              <a:rPr lang="en-US" sz="3200" dirty="0">
                <a:cs typeface="Consolas" panose="020B0609020204030204" pitchFamily="49" charset="0"/>
                <a:sym typeface="Wingdings" pitchFamily="2" charset="2"/>
              </a:rPr>
              <a:t>= pRight;</a:t>
            </a:r>
          </a:p>
          <a:p>
            <a:pPr marL="0" indent="0">
              <a:spcBef>
                <a:spcPts val="300"/>
              </a:spcBef>
              <a:buNone/>
              <a:tabLst>
                <a:tab pos="538163" algn="l"/>
                <a:tab pos="1165225" algn="l"/>
              </a:tabLst>
            </a:pPr>
            <a:r>
              <a:rPr lang="en-US" sz="3200" dirty="0">
                <a:cs typeface="Consolas" panose="020B0609020204030204" pitchFamily="49" charset="0"/>
                <a:sym typeface="Wingdings" pitchFamily="2" charset="2"/>
              </a:rPr>
              <a:t>	}</a:t>
            </a:r>
          </a:p>
          <a:p>
            <a:pPr marL="0" indent="0">
              <a:spcBef>
                <a:spcPts val="300"/>
              </a:spcBef>
              <a:buNone/>
              <a:tabLst>
                <a:tab pos="538163" algn="l"/>
                <a:tab pos="1165225" algn="l"/>
              </a:tabLst>
            </a:pPr>
            <a:r>
              <a:rPr lang="en-US" sz="3200" dirty="0">
                <a:cs typeface="Consolas" panose="020B0609020204030204" pitchFamily="49" charset="0"/>
                <a:sym typeface="Wingdings" pitchFamily="2" charset="2"/>
              </a:rPr>
              <a:t>	return p;</a:t>
            </a:r>
            <a:endParaRPr lang="en-US" sz="3200" dirty="0">
              <a:cs typeface="Consolas" panose="020B0609020204030204" pitchFamily="49" charset="0"/>
            </a:endParaRPr>
          </a:p>
          <a:p>
            <a:pPr marL="0" indent="0">
              <a:buNone/>
              <a:tabLst>
                <a:tab pos="538163" algn="l"/>
                <a:tab pos="1165225" algn="l"/>
              </a:tabLst>
            </a:pPr>
            <a:r>
              <a:rPr lang="en-US" sz="3200" dirty="0"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9498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 idx="4294967295"/>
          </p:nvPr>
        </p:nvSpPr>
        <p:spPr>
          <a:xfrm>
            <a:off x="671483" y="533697"/>
            <a:ext cx="10541000" cy="721861"/>
          </a:xfrm>
        </p:spPr>
        <p:txBody>
          <a:bodyPr/>
          <a:lstStyle/>
          <a:p>
            <a:pPr eaLnBrk="1" hangingPunct="1"/>
            <a:r>
              <a:rPr lang="en-US"/>
              <a:t>Tìm giá trị lớn nhất trên cây </a:t>
            </a:r>
            <a:r>
              <a:rPr lang="en-US" smtClean="0"/>
              <a:t>NPTK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4294967295"/>
          </p:nvPr>
        </p:nvSpPr>
        <p:spPr>
          <a:xfrm>
            <a:off x="315629" y="1564800"/>
            <a:ext cx="11598442" cy="4816746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>
                <a:cs typeface="Consolas" panose="020B0609020204030204" pitchFamily="49" charset="0"/>
              </a:rPr>
              <a:t>TNode* </a:t>
            </a:r>
            <a:r>
              <a:rPr lang="en-US" sz="3600" dirty="0">
                <a:solidFill>
                  <a:srgbClr val="0000FF"/>
                </a:solidFill>
                <a:cs typeface="Consolas" panose="020B0609020204030204" pitchFamily="49" charset="0"/>
              </a:rPr>
              <a:t>maxTNodeBSTree</a:t>
            </a:r>
            <a:r>
              <a:rPr lang="en-US" sz="3600" dirty="0">
                <a:cs typeface="Consolas" panose="020B0609020204030204" pitchFamily="49" charset="0"/>
              </a:rPr>
              <a:t>(TNode* root)</a:t>
            </a:r>
            <a:endParaRPr lang="vi-VN" sz="3600" dirty="0"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600" dirty="0">
                <a:cs typeface="Consolas" panose="020B0609020204030204" pitchFamily="49" charset="0"/>
              </a:rPr>
              <a:t>{</a:t>
            </a:r>
            <a:r>
              <a:rPr lang="en-US" sz="3200" i="1" dirty="0">
                <a:cs typeface="Consolas" panose="020B0609020204030204" pitchFamily="49" charset="0"/>
              </a:rPr>
              <a:t>/</a:t>
            </a:r>
            <a:r>
              <a:rPr lang="en-US" sz="3200" i="1" dirty="0">
                <a:solidFill>
                  <a:srgbClr val="0070C0"/>
                </a:solidFill>
                <a:cs typeface="Consolas" panose="020B0609020204030204" pitchFamily="49" charset="0"/>
              </a:rPr>
              <a:t>/Hàm tìm nút có giá trị lớn nhất trên cây (là nút bên phải nhất)</a:t>
            </a:r>
            <a:endParaRPr lang="vi-VN" sz="3600" dirty="0">
              <a:solidFill>
                <a:srgbClr val="0070C0"/>
              </a:solidFill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600" dirty="0">
                <a:cs typeface="Consolas" panose="020B0609020204030204" pitchFamily="49" charset="0"/>
              </a:rPr>
              <a:t>	</a:t>
            </a:r>
            <a:r>
              <a:rPr lang="en-US" sz="3600" dirty="0" err="1">
                <a:cs typeface="Consolas" panose="020B0609020204030204" pitchFamily="49" charset="0"/>
              </a:rPr>
              <a:t>TNode</a:t>
            </a:r>
            <a:r>
              <a:rPr lang="en-US" sz="3600" dirty="0">
                <a:cs typeface="Consolas" panose="020B0609020204030204" pitchFamily="49" charset="0"/>
              </a:rPr>
              <a:t>* p=root;</a:t>
            </a:r>
            <a:endParaRPr lang="vi-VN" sz="3600" dirty="0"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600" dirty="0">
                <a:cs typeface="Consolas" panose="020B0609020204030204" pitchFamily="49" charset="0"/>
              </a:rPr>
              <a:t>	while(</a:t>
            </a:r>
            <a:r>
              <a:rPr lang="en-US" sz="3600" dirty="0" err="1">
                <a:cs typeface="Consolas" panose="020B0609020204030204" pitchFamily="49" charset="0"/>
              </a:rPr>
              <a:t>p</a:t>
            </a:r>
            <a:r>
              <a:rPr lang="en-US" sz="3600" dirty="0" err="1">
                <a:cs typeface="Consolas" panose="020B0609020204030204" pitchFamily="49" charset="0"/>
                <a:sym typeface="Symbol" panose="05050102010706020507" pitchFamily="18" charset="2"/>
              </a:rPr>
              <a:t></a:t>
            </a:r>
            <a:r>
              <a:rPr lang="en-US" sz="3600" dirty="0" err="1">
                <a:cs typeface="Consolas" panose="020B0609020204030204" pitchFamily="49" charset="0"/>
              </a:rPr>
              <a:t>Right</a:t>
            </a:r>
            <a:r>
              <a:rPr lang="en-US" sz="3600" dirty="0">
                <a:cs typeface="Consolas" panose="020B0609020204030204" pitchFamily="49" charset="0"/>
              </a:rPr>
              <a:t> != NULL)</a:t>
            </a:r>
            <a:endParaRPr lang="vi-VN" sz="3600" dirty="0"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600" dirty="0">
                <a:cs typeface="Consolas" panose="020B0609020204030204" pitchFamily="49" charset="0"/>
              </a:rPr>
              <a:t>		p = </a:t>
            </a:r>
            <a:r>
              <a:rPr lang="en-US" sz="3600" dirty="0" err="1">
                <a:cs typeface="Consolas" panose="020B0609020204030204" pitchFamily="49" charset="0"/>
              </a:rPr>
              <a:t>p</a:t>
            </a:r>
            <a:r>
              <a:rPr lang="en-US" sz="3600" dirty="0" err="1">
                <a:cs typeface="Consolas" panose="020B0609020204030204" pitchFamily="49" charset="0"/>
                <a:sym typeface="Symbol" panose="05050102010706020507" pitchFamily="18" charset="2"/>
              </a:rPr>
              <a:t></a:t>
            </a:r>
            <a:r>
              <a:rPr lang="en-US" sz="3600" dirty="0" err="1">
                <a:cs typeface="Consolas" panose="020B0609020204030204" pitchFamily="49" charset="0"/>
              </a:rPr>
              <a:t>Right</a:t>
            </a:r>
            <a:r>
              <a:rPr lang="en-US" sz="3600" dirty="0">
                <a:cs typeface="Consolas" panose="020B0609020204030204" pitchFamily="49" charset="0"/>
              </a:rPr>
              <a:t>;</a:t>
            </a:r>
            <a:endParaRPr lang="vi-VN" sz="3600" dirty="0"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600" dirty="0">
                <a:cs typeface="Consolas" panose="020B0609020204030204" pitchFamily="49" charset="0"/>
              </a:rPr>
              <a:t>	return (p);</a:t>
            </a:r>
            <a:endParaRPr lang="vi-VN" sz="3600" dirty="0"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600" dirty="0">
                <a:cs typeface="Consolas" panose="020B0609020204030204" pitchFamily="49" charset="0"/>
              </a:rPr>
              <a:t>}</a:t>
            </a:r>
            <a:endParaRPr lang="en-US" b="0" dirty="0" smtClean="0">
              <a:cs typeface="Consolas" panose="020B06090202040302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7081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 idx="4294967295"/>
          </p:nvPr>
        </p:nvSpPr>
        <p:spPr>
          <a:xfrm>
            <a:off x="671483" y="462903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Duyệt cây</a:t>
            </a:r>
          </a:p>
        </p:txBody>
      </p:sp>
      <p:sp>
        <p:nvSpPr>
          <p:cNvPr id="55299" name="Content Placeholder 2"/>
          <p:cNvSpPr>
            <a:spLocks noGrp="1"/>
          </p:cNvSpPr>
          <p:nvPr>
            <p:ph idx="4294967295"/>
          </p:nvPr>
        </p:nvSpPr>
        <p:spPr>
          <a:xfrm>
            <a:off x="308008" y="1066800"/>
            <a:ext cx="11704320" cy="5334000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i="1" u="sng" dirty="0"/>
              <a:t>Lưu ý</a:t>
            </a:r>
            <a:r>
              <a:rPr lang="en-US" sz="3200" dirty="0"/>
              <a:t>: Cây nhị phân tìm kiếm duyệt theo traverseLNR thì thứ tự khóa tăng dần.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b="1" dirty="0">
                <a:solidFill>
                  <a:srgbClr val="0070C0"/>
                </a:solidFill>
              </a:rPr>
              <a:t>Ví dụ:  </a:t>
            </a:r>
            <a:r>
              <a:rPr lang="en-US" sz="3200" dirty="0"/>
              <a:t>Đếm số nút lớn hơn x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319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 idx="4294967295"/>
          </p:nvPr>
        </p:nvSpPr>
        <p:spPr>
          <a:xfrm>
            <a:off x="863600" y="542741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Đếm số phần tử lớn hơn x</a:t>
            </a:r>
          </a:p>
        </p:txBody>
      </p:sp>
      <p:sp>
        <p:nvSpPr>
          <p:cNvPr id="56323" name="Content Placeholder 2"/>
          <p:cNvSpPr>
            <a:spLocks noGrp="1"/>
          </p:cNvSpPr>
          <p:nvPr>
            <p:ph idx="4294967295"/>
          </p:nvPr>
        </p:nvSpPr>
        <p:spPr>
          <a:xfrm>
            <a:off x="863600" y="1254358"/>
            <a:ext cx="10541000" cy="5486400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  <a:tabLst>
                <a:tab pos="342900" algn="l"/>
                <a:tab pos="685800" algn="l"/>
                <a:tab pos="1028700" algn="l"/>
                <a:tab pos="1435100" algn="l"/>
                <a:tab pos="1892300" algn="l"/>
                <a:tab pos="2451100" algn="l"/>
              </a:tabLst>
            </a:pPr>
            <a:r>
              <a:rPr lang="en-US" b="0" dirty="0" smtClean="0">
                <a:cs typeface="Consolas" panose="020B0609020204030204" pitchFamily="49" charset="0"/>
              </a:rPr>
              <a:t>int </a:t>
            </a:r>
            <a:r>
              <a:rPr lang="en-US" sz="3200" dirty="0">
                <a:solidFill>
                  <a:srgbClr val="CC00CC"/>
                </a:solidFill>
                <a:cs typeface="Consolas" panose="020B0609020204030204" pitchFamily="49" charset="0"/>
              </a:rPr>
              <a:t>countGreaterThanX</a:t>
            </a:r>
            <a:r>
              <a:rPr lang="en-US" sz="3200" dirty="0">
                <a:cs typeface="Consolas" panose="020B0609020204030204" pitchFamily="49" charset="0"/>
              </a:rPr>
              <a:t>(</a:t>
            </a:r>
            <a:r>
              <a:rPr lang="en-US" b="0" dirty="0" smtClean="0">
                <a:cs typeface="Consolas" panose="020B0609020204030204" pitchFamily="49" charset="0"/>
              </a:rPr>
              <a:t>TNode* root, ItemType x</a:t>
            </a:r>
            <a:r>
              <a:rPr lang="en-US" sz="3200" dirty="0">
                <a:cs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None/>
              <a:tabLst>
                <a:tab pos="342900" algn="l"/>
                <a:tab pos="685800" algn="l"/>
                <a:tab pos="1028700" algn="l"/>
                <a:tab pos="1435100" algn="l"/>
                <a:tab pos="1892300" algn="l"/>
                <a:tab pos="2451100" algn="l"/>
              </a:tabLst>
            </a:pPr>
            <a:r>
              <a:rPr lang="en-US" b="0" dirty="0" smtClean="0">
                <a:cs typeface="Consolas" panose="020B0609020204030204" pitchFamily="49" charset="0"/>
              </a:rPr>
              <a:t>{	</a:t>
            </a:r>
          </a:p>
          <a:p>
            <a:pPr marL="0" indent="0">
              <a:spcBef>
                <a:spcPts val="600"/>
              </a:spcBef>
              <a:buNone/>
              <a:tabLst>
                <a:tab pos="342900" algn="l"/>
                <a:tab pos="685800" algn="l"/>
                <a:tab pos="1028700" algn="l"/>
                <a:tab pos="1435100" algn="l"/>
                <a:tab pos="1892300" algn="l"/>
                <a:tab pos="2451100" algn="l"/>
              </a:tabLst>
            </a:pPr>
            <a:r>
              <a:rPr lang="en-US" b="0" dirty="0" smtClean="0">
                <a:cs typeface="Consolas" panose="020B0609020204030204" pitchFamily="49" charset="0"/>
              </a:rPr>
              <a:t>	</a:t>
            </a:r>
            <a:r>
              <a:rPr lang="en-US" sz="3000" dirty="0">
                <a:cs typeface="Consolas" panose="020B0609020204030204" pitchFamily="49" charset="0"/>
              </a:rPr>
              <a:t>if(!root)</a:t>
            </a:r>
            <a:r>
              <a:rPr lang="en-US" sz="3000">
                <a:cs typeface="Consolas" panose="020B0609020204030204" pitchFamily="49" charset="0"/>
              </a:rPr>
              <a:t>	</a:t>
            </a:r>
            <a:endParaRPr lang="en-US" sz="3000" smtClean="0"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  <a:tabLst>
                <a:tab pos="342900" algn="l"/>
                <a:tab pos="685800" algn="l"/>
                <a:tab pos="1028700" algn="l"/>
                <a:tab pos="1435100" algn="l"/>
                <a:tab pos="1892300" algn="l"/>
                <a:tab pos="2451100" algn="l"/>
              </a:tabLst>
            </a:pPr>
            <a:r>
              <a:rPr lang="en-US" sz="3000">
                <a:cs typeface="Consolas" panose="020B0609020204030204" pitchFamily="49" charset="0"/>
              </a:rPr>
              <a:t> </a:t>
            </a:r>
            <a:r>
              <a:rPr lang="en-US" sz="3000" smtClean="0">
                <a:cs typeface="Consolas" panose="020B0609020204030204" pitchFamily="49" charset="0"/>
              </a:rPr>
              <a:t>		return  </a:t>
            </a:r>
            <a:r>
              <a:rPr lang="en-US" sz="3000" dirty="0">
                <a:cs typeface="Consolas" panose="020B0609020204030204" pitchFamily="49" charset="0"/>
              </a:rPr>
              <a:t>0;</a:t>
            </a:r>
          </a:p>
          <a:p>
            <a:pPr marL="0" indent="0">
              <a:spcBef>
                <a:spcPts val="600"/>
              </a:spcBef>
              <a:buNone/>
              <a:tabLst>
                <a:tab pos="342900" algn="l"/>
                <a:tab pos="685800" algn="l"/>
                <a:tab pos="1028700" algn="l"/>
                <a:tab pos="1435100" algn="l"/>
                <a:tab pos="1892300" algn="l"/>
                <a:tab pos="2451100" algn="l"/>
              </a:tabLst>
            </a:pPr>
            <a:r>
              <a:rPr lang="en-US" sz="3000" dirty="0">
                <a:cs typeface="Consolas" panose="020B0609020204030204" pitchFamily="49" charset="0"/>
              </a:rPr>
              <a:t>	int </a:t>
            </a:r>
            <a:r>
              <a:rPr lang="en-US" sz="3000" dirty="0">
                <a:solidFill>
                  <a:srgbClr val="C00000"/>
                </a:solidFill>
                <a:cs typeface="Consolas" panose="020B0609020204030204" pitchFamily="49" charset="0"/>
              </a:rPr>
              <a:t>nlx </a:t>
            </a:r>
            <a:r>
              <a:rPr lang="en-US" sz="3000" dirty="0">
                <a:cs typeface="Consolas" panose="020B0609020204030204" pitchFamily="49" charset="0"/>
              </a:rPr>
              <a:t>= </a:t>
            </a:r>
            <a:r>
              <a:rPr lang="en-US" sz="3000" i="1" dirty="0">
                <a:solidFill>
                  <a:srgbClr val="CC00CC"/>
                </a:solidFill>
                <a:cs typeface="Consolas" panose="020B0609020204030204" pitchFamily="49" charset="0"/>
              </a:rPr>
              <a:t>countGreaterThanX</a:t>
            </a:r>
            <a:r>
              <a:rPr lang="en-US" sz="3000" dirty="0">
                <a:cs typeface="Consolas" panose="020B0609020204030204" pitchFamily="49" charset="0"/>
              </a:rPr>
              <a:t>(root</a:t>
            </a:r>
            <a:r>
              <a:rPr lang="en-US" sz="3000" dirty="0">
                <a:cs typeface="Consolas" panose="020B0609020204030204" pitchFamily="49" charset="0"/>
                <a:sym typeface="Wingdings" pitchFamily="2" charset="2"/>
              </a:rPr>
              <a:t>Left, x</a:t>
            </a:r>
            <a:r>
              <a:rPr lang="en-US" sz="3000" dirty="0">
                <a:cs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  <a:tabLst>
                <a:tab pos="342900" algn="l"/>
                <a:tab pos="685800" algn="l"/>
                <a:tab pos="1028700" algn="l"/>
                <a:tab pos="1435100" algn="l"/>
                <a:tab pos="1892300" algn="l"/>
                <a:tab pos="2451100" algn="l"/>
              </a:tabLst>
            </a:pPr>
            <a:r>
              <a:rPr lang="en-US" sz="3000" dirty="0">
                <a:cs typeface="Consolas" panose="020B0609020204030204" pitchFamily="49" charset="0"/>
              </a:rPr>
              <a:t>	int </a:t>
            </a:r>
            <a:r>
              <a:rPr lang="en-US" sz="3000" dirty="0">
                <a:solidFill>
                  <a:srgbClr val="FF0000"/>
                </a:solidFill>
                <a:cs typeface="Consolas" panose="020B0609020204030204" pitchFamily="49" charset="0"/>
              </a:rPr>
              <a:t>nrx </a:t>
            </a:r>
            <a:r>
              <a:rPr lang="en-US" sz="3000" dirty="0">
                <a:cs typeface="Consolas" panose="020B0609020204030204" pitchFamily="49" charset="0"/>
              </a:rPr>
              <a:t>= </a:t>
            </a:r>
            <a:r>
              <a:rPr lang="en-US" sz="3000" i="1" dirty="0">
                <a:solidFill>
                  <a:srgbClr val="CC00CC"/>
                </a:solidFill>
                <a:cs typeface="Consolas" panose="020B0609020204030204" pitchFamily="49" charset="0"/>
              </a:rPr>
              <a:t>countGreaterThanX</a:t>
            </a:r>
            <a:r>
              <a:rPr lang="en-US" sz="3000" dirty="0">
                <a:cs typeface="Consolas" panose="020B0609020204030204" pitchFamily="49" charset="0"/>
              </a:rPr>
              <a:t>(root</a:t>
            </a:r>
            <a:r>
              <a:rPr lang="en-US" sz="3000" dirty="0">
                <a:cs typeface="Consolas" panose="020B0609020204030204" pitchFamily="49" charset="0"/>
                <a:sym typeface="Wingdings" pitchFamily="2" charset="2"/>
              </a:rPr>
              <a:t>Right, x</a:t>
            </a:r>
            <a:r>
              <a:rPr lang="en-US" sz="3000" dirty="0">
                <a:cs typeface="Consolas" panose="020B0609020204030204" pitchFamily="49" charset="0"/>
              </a:rPr>
              <a:t>); </a:t>
            </a:r>
          </a:p>
          <a:p>
            <a:pPr marL="0" indent="0">
              <a:spcBef>
                <a:spcPts val="600"/>
              </a:spcBef>
              <a:buNone/>
              <a:tabLst>
                <a:tab pos="342900" algn="l"/>
                <a:tab pos="685800" algn="l"/>
                <a:tab pos="1028700" algn="l"/>
                <a:tab pos="1435100" algn="l"/>
                <a:tab pos="1892300" algn="l"/>
                <a:tab pos="2451100" algn="l"/>
              </a:tabLst>
            </a:pPr>
            <a:r>
              <a:rPr lang="en-US" sz="3000" dirty="0">
                <a:cs typeface="Consolas" panose="020B0609020204030204" pitchFamily="49" charset="0"/>
              </a:rPr>
              <a:t>	if( </a:t>
            </a:r>
            <a:r>
              <a:rPr lang="en-US" sz="3000" dirty="0" err="1">
                <a:cs typeface="Consolas" panose="020B0609020204030204" pitchFamily="49" charset="0"/>
              </a:rPr>
              <a:t>root</a:t>
            </a:r>
            <a:r>
              <a:rPr lang="en-US" sz="3000" dirty="0" err="1">
                <a:cs typeface="Consolas" panose="020B0609020204030204" pitchFamily="49" charset="0"/>
                <a:sym typeface="Wingdings" pitchFamily="2" charset="2"/>
              </a:rPr>
              <a:t>Info</a:t>
            </a:r>
            <a:r>
              <a:rPr lang="en-US" sz="3000" dirty="0">
                <a:cs typeface="Consolas" panose="020B0609020204030204" pitchFamily="49" charset="0"/>
                <a:sym typeface="Wingdings" pitchFamily="2" charset="2"/>
              </a:rPr>
              <a:t> &gt; x </a:t>
            </a:r>
            <a:r>
              <a:rPr lang="en-US" sz="3000" dirty="0">
                <a:cs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None/>
              <a:tabLst>
                <a:tab pos="342900" algn="l"/>
                <a:tab pos="685800" algn="l"/>
                <a:tab pos="1028700" algn="l"/>
                <a:tab pos="1435100" algn="l"/>
                <a:tab pos="1892300" algn="l"/>
                <a:tab pos="2451100" algn="l"/>
              </a:tabLst>
            </a:pPr>
            <a:r>
              <a:rPr lang="en-US" sz="3000" dirty="0">
                <a:cs typeface="Consolas" panose="020B0609020204030204" pitchFamily="49" charset="0"/>
              </a:rPr>
              <a:t>		return (</a:t>
            </a:r>
            <a:r>
              <a:rPr lang="en-US" sz="3000" dirty="0">
                <a:solidFill>
                  <a:srgbClr val="0000CC"/>
                </a:solidFill>
                <a:cs typeface="Consolas" panose="020B0609020204030204" pitchFamily="49" charset="0"/>
              </a:rPr>
              <a:t>1</a:t>
            </a:r>
            <a:r>
              <a:rPr lang="en-US" sz="3000" dirty="0">
                <a:cs typeface="Consolas" panose="020B0609020204030204" pitchFamily="49" charset="0"/>
              </a:rPr>
              <a:t> + </a:t>
            </a:r>
            <a:r>
              <a:rPr lang="en-US" sz="3000" dirty="0" err="1">
                <a:solidFill>
                  <a:srgbClr val="C00000"/>
                </a:solidFill>
                <a:cs typeface="Consolas" panose="020B0609020204030204" pitchFamily="49" charset="0"/>
              </a:rPr>
              <a:t>nlx</a:t>
            </a:r>
            <a:r>
              <a:rPr lang="en-US" sz="3000" dirty="0">
                <a:cs typeface="Consolas" panose="020B0609020204030204" pitchFamily="49" charset="0"/>
              </a:rPr>
              <a:t> + </a:t>
            </a:r>
            <a:r>
              <a:rPr lang="en-US" sz="3000" dirty="0" err="1">
                <a:solidFill>
                  <a:srgbClr val="FF0000"/>
                </a:solidFill>
                <a:cs typeface="Consolas" panose="020B0609020204030204" pitchFamily="49" charset="0"/>
              </a:rPr>
              <a:t>nrx</a:t>
            </a:r>
            <a:r>
              <a:rPr lang="en-US" sz="3000" dirty="0">
                <a:cs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  <a:tabLst>
                <a:tab pos="342900" algn="l"/>
                <a:tab pos="685800" algn="l"/>
                <a:tab pos="1028700" algn="l"/>
                <a:tab pos="1435100" algn="l"/>
                <a:tab pos="1892300" algn="l"/>
                <a:tab pos="2451100" algn="l"/>
              </a:tabLst>
            </a:pPr>
            <a:r>
              <a:rPr lang="en-US" sz="3000" dirty="0">
                <a:cs typeface="Consolas" panose="020B0609020204030204" pitchFamily="49" charset="0"/>
              </a:rPr>
              <a:t>	return (</a:t>
            </a:r>
            <a:r>
              <a:rPr lang="en-US" sz="3000" dirty="0" err="1">
                <a:solidFill>
                  <a:srgbClr val="C00000"/>
                </a:solidFill>
                <a:cs typeface="Consolas" panose="020B0609020204030204" pitchFamily="49" charset="0"/>
              </a:rPr>
              <a:t>nlx</a:t>
            </a:r>
            <a:r>
              <a:rPr lang="en-US" sz="3000" dirty="0">
                <a:cs typeface="Consolas" panose="020B0609020204030204" pitchFamily="49" charset="0"/>
              </a:rPr>
              <a:t> +</a:t>
            </a:r>
            <a:r>
              <a:rPr lang="en-US" sz="3000" dirty="0">
                <a:solidFill>
                  <a:srgbClr val="CC0000"/>
                </a:solidFill>
                <a:cs typeface="Consolas" panose="020B0609020204030204" pitchFamily="49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cs typeface="Consolas" panose="020B0609020204030204" pitchFamily="49" charset="0"/>
              </a:rPr>
              <a:t>nrx</a:t>
            </a:r>
            <a:r>
              <a:rPr lang="en-US" sz="3000" dirty="0">
                <a:cs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  <a:tabLst>
                <a:tab pos="342900" algn="l"/>
                <a:tab pos="685800" algn="l"/>
                <a:tab pos="1028700" algn="l"/>
                <a:tab pos="1435100" algn="l"/>
                <a:tab pos="1892300" algn="l"/>
                <a:tab pos="2451100" algn="l"/>
              </a:tabLst>
            </a:pPr>
            <a:r>
              <a:rPr lang="en-US" b="0" dirty="0" smtClean="0"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448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05848" y="442295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Thêm x vào cây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752601" y="1345130"/>
            <a:ext cx="6003925" cy="50292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§"/>
            </a:pPr>
            <a:r>
              <a:rPr lang="en-US" sz="3200"/>
              <a:t>Thực hiện tìm kiếm giá trị x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/>
              <a:t>Tìm đến cuối nút y(nếu x không tồn tại trong cây)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/>
              <a:t>Nếu x &lt; y, thêm nút lá x bên trái của y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/>
              <a:t>Nếu x &gt; y, thêm nút lá x bên phải của y</a:t>
            </a:r>
          </a:p>
        </p:txBody>
      </p:sp>
      <p:sp>
        <p:nvSpPr>
          <p:cNvPr id="57348" name="Oval 46"/>
          <p:cNvSpPr>
            <a:spLocks noChangeArrowheads="1"/>
          </p:cNvSpPr>
          <p:nvPr/>
        </p:nvSpPr>
        <p:spPr bwMode="auto">
          <a:xfrm>
            <a:off x="8610600" y="1905000"/>
            <a:ext cx="762000" cy="571500"/>
          </a:xfrm>
          <a:prstGeom prst="ellipse">
            <a:avLst/>
          </a:prstGeom>
          <a:noFill/>
          <a:ln w="57150">
            <a:solidFill>
              <a:srgbClr val="008080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57349" name="Oval 47"/>
          <p:cNvSpPr>
            <a:spLocks noChangeArrowheads="1"/>
          </p:cNvSpPr>
          <p:nvPr/>
        </p:nvSpPr>
        <p:spPr bwMode="auto">
          <a:xfrm>
            <a:off x="8077200" y="2695575"/>
            <a:ext cx="762000" cy="571500"/>
          </a:xfrm>
          <a:prstGeom prst="ellipse">
            <a:avLst/>
          </a:prstGeom>
          <a:noFill/>
          <a:ln w="57150">
            <a:solidFill>
              <a:srgbClr val="008080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57350" name="Oval 48"/>
          <p:cNvSpPr>
            <a:spLocks noChangeArrowheads="1"/>
          </p:cNvSpPr>
          <p:nvPr/>
        </p:nvSpPr>
        <p:spPr bwMode="auto">
          <a:xfrm>
            <a:off x="9067800" y="2695575"/>
            <a:ext cx="762000" cy="571500"/>
          </a:xfrm>
          <a:prstGeom prst="ellipse">
            <a:avLst/>
          </a:prstGeom>
          <a:noFill/>
          <a:ln w="57150">
            <a:solidFill>
              <a:srgbClr val="008080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57351" name="Oval 49"/>
          <p:cNvSpPr>
            <a:spLocks noChangeArrowheads="1"/>
          </p:cNvSpPr>
          <p:nvPr/>
        </p:nvSpPr>
        <p:spPr bwMode="auto">
          <a:xfrm>
            <a:off x="7772400" y="3533775"/>
            <a:ext cx="762000" cy="571500"/>
          </a:xfrm>
          <a:prstGeom prst="ellipse">
            <a:avLst/>
          </a:prstGeom>
          <a:noFill/>
          <a:ln w="57150">
            <a:solidFill>
              <a:srgbClr val="008080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57352" name="Oval 50"/>
          <p:cNvSpPr>
            <a:spLocks noChangeArrowheads="1"/>
          </p:cNvSpPr>
          <p:nvPr/>
        </p:nvSpPr>
        <p:spPr bwMode="auto">
          <a:xfrm>
            <a:off x="8686800" y="3533775"/>
            <a:ext cx="762000" cy="571500"/>
          </a:xfrm>
          <a:prstGeom prst="ellipse">
            <a:avLst/>
          </a:prstGeom>
          <a:noFill/>
          <a:ln w="57150">
            <a:solidFill>
              <a:srgbClr val="008080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cxnSp>
        <p:nvCxnSpPr>
          <p:cNvPr id="57353" name="AutoShape 51"/>
          <p:cNvCxnSpPr>
            <a:cxnSpLocks noChangeShapeType="1"/>
            <a:stCxn id="57349" idx="4"/>
            <a:endCxn id="57351" idx="0"/>
          </p:cNvCxnSpPr>
          <p:nvPr/>
        </p:nvCxnSpPr>
        <p:spPr bwMode="auto">
          <a:xfrm flipH="1">
            <a:off x="8153400" y="3295650"/>
            <a:ext cx="304800" cy="209550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57354" name="AutoShape 52"/>
          <p:cNvCxnSpPr>
            <a:cxnSpLocks noChangeShapeType="1"/>
            <a:stCxn id="57350" idx="4"/>
            <a:endCxn id="57352" idx="0"/>
          </p:cNvCxnSpPr>
          <p:nvPr/>
        </p:nvCxnSpPr>
        <p:spPr bwMode="auto">
          <a:xfrm flipH="1">
            <a:off x="9067800" y="3295650"/>
            <a:ext cx="381000" cy="209550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57355" name="AutoShape 53"/>
          <p:cNvCxnSpPr>
            <a:cxnSpLocks noChangeShapeType="1"/>
            <a:stCxn id="57348" idx="4"/>
            <a:endCxn id="57350" idx="0"/>
          </p:cNvCxnSpPr>
          <p:nvPr/>
        </p:nvCxnSpPr>
        <p:spPr bwMode="auto">
          <a:xfrm>
            <a:off x="8991600" y="2505076"/>
            <a:ext cx="457200" cy="161925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57356" name="AutoShape 54"/>
          <p:cNvCxnSpPr>
            <a:cxnSpLocks noChangeShapeType="1"/>
            <a:stCxn id="57348" idx="4"/>
            <a:endCxn id="57349" idx="0"/>
          </p:cNvCxnSpPr>
          <p:nvPr/>
        </p:nvCxnSpPr>
        <p:spPr bwMode="auto">
          <a:xfrm flipH="1">
            <a:off x="8458200" y="2505076"/>
            <a:ext cx="533400" cy="161925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57357" name="AutoShape 55"/>
          <p:cNvCxnSpPr>
            <a:cxnSpLocks noChangeShapeType="1"/>
            <a:stCxn id="57350" idx="4"/>
            <a:endCxn id="57358" idx="0"/>
          </p:cNvCxnSpPr>
          <p:nvPr/>
        </p:nvCxnSpPr>
        <p:spPr bwMode="auto">
          <a:xfrm>
            <a:off x="9448800" y="3295650"/>
            <a:ext cx="533400" cy="209550"/>
          </a:xfrm>
          <a:prstGeom prst="straightConnector1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57358" name="Oval 56"/>
          <p:cNvSpPr>
            <a:spLocks noChangeArrowheads="1"/>
          </p:cNvSpPr>
          <p:nvPr/>
        </p:nvSpPr>
        <p:spPr bwMode="auto">
          <a:xfrm>
            <a:off x="9601200" y="3533775"/>
            <a:ext cx="762000" cy="571500"/>
          </a:xfrm>
          <a:prstGeom prst="ellipse">
            <a:avLst/>
          </a:prstGeom>
          <a:noFill/>
          <a:ln w="57150">
            <a:solidFill>
              <a:srgbClr val="008080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57359" name="Text Box 57"/>
          <p:cNvSpPr txBox="1">
            <a:spLocks noChangeArrowheads="1"/>
          </p:cNvSpPr>
          <p:nvPr/>
        </p:nvSpPr>
        <p:spPr bwMode="auto">
          <a:xfrm>
            <a:off x="8255000" y="2759075"/>
            <a:ext cx="381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>
                <a:latin typeface="Arial" charset="0"/>
              </a:rPr>
              <a:t>5</a:t>
            </a:r>
          </a:p>
        </p:txBody>
      </p:sp>
      <p:sp>
        <p:nvSpPr>
          <p:cNvPr id="57360" name="Text Box 58"/>
          <p:cNvSpPr txBox="1">
            <a:spLocks noChangeArrowheads="1"/>
          </p:cNvSpPr>
          <p:nvPr/>
        </p:nvSpPr>
        <p:spPr bwMode="auto">
          <a:xfrm>
            <a:off x="8686800" y="1933575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>
                <a:solidFill>
                  <a:srgbClr val="FF3300"/>
                </a:solidFill>
                <a:latin typeface="Arial" charset="0"/>
              </a:rPr>
              <a:t>10</a:t>
            </a:r>
          </a:p>
        </p:txBody>
      </p:sp>
      <p:sp>
        <p:nvSpPr>
          <p:cNvPr id="57361" name="Text Box 59"/>
          <p:cNvSpPr txBox="1">
            <a:spLocks noChangeArrowheads="1"/>
          </p:cNvSpPr>
          <p:nvPr/>
        </p:nvSpPr>
        <p:spPr bwMode="auto">
          <a:xfrm>
            <a:off x="9169400" y="2759075"/>
            <a:ext cx="609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>
                <a:solidFill>
                  <a:srgbClr val="FF3300"/>
                </a:solidFill>
                <a:latin typeface="Arial" charset="0"/>
              </a:rPr>
              <a:t>30</a:t>
            </a:r>
          </a:p>
        </p:txBody>
      </p:sp>
      <p:sp>
        <p:nvSpPr>
          <p:cNvPr id="57362" name="Text Box 60"/>
          <p:cNvSpPr txBox="1">
            <a:spLocks noChangeArrowheads="1"/>
          </p:cNvSpPr>
          <p:nvPr/>
        </p:nvSpPr>
        <p:spPr bwMode="auto">
          <a:xfrm>
            <a:off x="7962900" y="3597275"/>
            <a:ext cx="381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>
                <a:latin typeface="Arial" charset="0"/>
              </a:rPr>
              <a:t>2</a:t>
            </a:r>
          </a:p>
        </p:txBody>
      </p:sp>
      <p:sp>
        <p:nvSpPr>
          <p:cNvPr id="57363" name="Text Box 61"/>
          <p:cNvSpPr txBox="1">
            <a:spLocks noChangeArrowheads="1"/>
          </p:cNvSpPr>
          <p:nvPr/>
        </p:nvSpPr>
        <p:spPr bwMode="auto">
          <a:xfrm>
            <a:off x="8763000" y="3609975"/>
            <a:ext cx="609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>
                <a:solidFill>
                  <a:srgbClr val="FF3300"/>
                </a:solidFill>
                <a:latin typeface="Arial" charset="0"/>
              </a:rPr>
              <a:t>25</a:t>
            </a:r>
          </a:p>
        </p:txBody>
      </p:sp>
      <p:sp>
        <p:nvSpPr>
          <p:cNvPr id="57364" name="Text Box 62"/>
          <p:cNvSpPr txBox="1">
            <a:spLocks noChangeArrowheads="1"/>
          </p:cNvSpPr>
          <p:nvPr/>
        </p:nvSpPr>
        <p:spPr bwMode="auto">
          <a:xfrm>
            <a:off x="9753600" y="3609975"/>
            <a:ext cx="533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>
                <a:latin typeface="Arial" charset="0"/>
              </a:rPr>
              <a:t>45</a:t>
            </a:r>
          </a:p>
        </p:txBody>
      </p:sp>
      <p:sp>
        <p:nvSpPr>
          <p:cNvPr id="57365" name="Oval 63"/>
          <p:cNvSpPr>
            <a:spLocks noChangeArrowheads="1"/>
          </p:cNvSpPr>
          <p:nvPr/>
        </p:nvSpPr>
        <p:spPr bwMode="auto">
          <a:xfrm>
            <a:off x="8077200" y="5257800"/>
            <a:ext cx="762000" cy="571500"/>
          </a:xfrm>
          <a:prstGeom prst="ellipse">
            <a:avLst/>
          </a:prstGeom>
          <a:noFill/>
          <a:ln w="57150">
            <a:solidFill>
              <a:srgbClr val="008080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57366" name="Text Box 64"/>
          <p:cNvSpPr txBox="1">
            <a:spLocks noChangeArrowheads="1"/>
          </p:cNvSpPr>
          <p:nvPr/>
        </p:nvSpPr>
        <p:spPr bwMode="auto">
          <a:xfrm>
            <a:off x="8153400" y="5334000"/>
            <a:ext cx="609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>
                <a:solidFill>
                  <a:srgbClr val="FF3300"/>
                </a:solidFill>
                <a:latin typeface="Arial" charset="0"/>
              </a:rPr>
              <a:t>20</a:t>
            </a:r>
          </a:p>
        </p:txBody>
      </p:sp>
      <p:cxnSp>
        <p:nvCxnSpPr>
          <p:cNvPr id="57367" name="AutoShape 65"/>
          <p:cNvCxnSpPr>
            <a:cxnSpLocks noChangeShapeType="1"/>
            <a:stCxn id="57352" idx="4"/>
            <a:endCxn id="57365" idx="0"/>
          </p:cNvCxnSpPr>
          <p:nvPr/>
        </p:nvCxnSpPr>
        <p:spPr bwMode="auto">
          <a:xfrm flipH="1">
            <a:off x="8458200" y="4133851"/>
            <a:ext cx="609600" cy="1095375"/>
          </a:xfrm>
          <a:prstGeom prst="straightConnector1">
            <a:avLst/>
          </a:prstGeom>
          <a:noFill/>
          <a:ln w="50800">
            <a:solidFill>
              <a:srgbClr val="0000FF"/>
            </a:solidFill>
            <a:prstDash val="sysDot"/>
            <a:round/>
            <a:headEnd/>
            <a:tailEnd type="triangle" w="med" len="med"/>
          </a:ln>
        </p:spPr>
      </p:cxnSp>
      <p:sp>
        <p:nvSpPr>
          <p:cNvPr id="51266" name="Text Box 66"/>
          <p:cNvSpPr txBox="1">
            <a:spLocks noChangeArrowheads="1"/>
          </p:cNvSpPr>
          <p:nvPr/>
        </p:nvSpPr>
        <p:spPr bwMode="auto">
          <a:xfrm>
            <a:off x="9220200" y="4114800"/>
            <a:ext cx="304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0" hangingPunct="0"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y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51267" name="Text Box 67"/>
          <p:cNvSpPr txBox="1">
            <a:spLocks noChangeArrowheads="1"/>
          </p:cNvSpPr>
          <p:nvPr/>
        </p:nvSpPr>
        <p:spPr bwMode="auto">
          <a:xfrm>
            <a:off x="8915400" y="5410201"/>
            <a:ext cx="3810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0" hangingPunct="0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x</a:t>
            </a:r>
          </a:p>
        </p:txBody>
      </p:sp>
      <p:sp>
        <p:nvSpPr>
          <p:cNvPr id="57370" name="AutoShape 68"/>
          <p:cNvSpPr>
            <a:spLocks noChangeArrowheads="1"/>
          </p:cNvSpPr>
          <p:nvPr/>
        </p:nvSpPr>
        <p:spPr bwMode="auto">
          <a:xfrm>
            <a:off x="8610600" y="4953000"/>
            <a:ext cx="914400" cy="457200"/>
          </a:xfrm>
          <a:prstGeom prst="irregularSeal2">
            <a:avLst/>
          </a:prstGeom>
          <a:solidFill>
            <a:schemeClr val="hlink">
              <a:alpha val="34117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>
                <a:solidFill>
                  <a:srgbClr val="002060"/>
                </a:solidFill>
                <a:latin typeface="Times New Roman" pitchFamily="18" charset="0"/>
              </a:rPr>
              <a:t>mới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6538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23509"/>
            <a:ext cx="3770616" cy="759871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sz="3600" smtClean="0"/>
              <a:t>Thêm x vào cây</a:t>
            </a:r>
          </a:p>
        </p:txBody>
      </p:sp>
      <p:sp>
        <p:nvSpPr>
          <p:cNvPr id="58371" name="Text Box 4"/>
          <p:cNvSpPr txBox="1">
            <a:spLocks noChangeArrowheads="1"/>
          </p:cNvSpPr>
          <p:nvPr/>
        </p:nvSpPr>
        <p:spPr bwMode="auto">
          <a:xfrm>
            <a:off x="4077632" y="462010"/>
            <a:ext cx="7994181" cy="6109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nl-NL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int </a:t>
            </a:r>
            <a:r>
              <a:rPr lang="nl-NL" sz="23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insertTNode</a:t>
            </a:r>
            <a:r>
              <a:rPr lang="nl-NL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(TNode* &amp;</a:t>
            </a:r>
            <a:r>
              <a:rPr lang="nl-NL" sz="23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root</a:t>
            </a:r>
            <a:r>
              <a:rPr lang="nl-NL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, TNode* p)</a:t>
            </a:r>
          </a:p>
          <a:p>
            <a:pPr algn="just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vi-VN" sz="230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{</a:t>
            </a:r>
            <a:r>
              <a:rPr lang="en-US" sz="230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</a:t>
            </a:r>
            <a:r>
              <a:rPr lang="vi-VN" sz="2300" i="1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//</a:t>
            </a:r>
            <a:r>
              <a:rPr lang="vi-VN" sz="2300" i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Ham chen 1 nut vao cay NPTK</a:t>
            </a:r>
          </a:p>
          <a:p>
            <a:pPr algn="just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</a:t>
            </a:r>
            <a:r>
              <a:rPr lang="vi-VN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if(p == NULL</a:t>
            </a:r>
            <a:r>
              <a:rPr lang="vi-VN" sz="23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)</a:t>
            </a:r>
            <a:r>
              <a:rPr lang="en-US" sz="23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 </a:t>
            </a:r>
            <a:endParaRPr lang="en-US" sz="2300" smtClean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  <a:cs typeface="Consolas" panose="020B0609020204030204" pitchFamily="49" charset="0"/>
            </a:endParaRPr>
          </a:p>
          <a:p>
            <a:pPr algn="just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23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 </a:t>
            </a:r>
            <a:r>
              <a:rPr lang="en-US" sz="230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	return </a:t>
            </a:r>
            <a:r>
              <a:rPr lang="en-US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0; </a:t>
            </a:r>
            <a:r>
              <a:rPr lang="en-US" sz="2300" i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//Thêm không thành công</a:t>
            </a:r>
          </a:p>
          <a:p>
            <a:pPr algn="just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if(root == NULL</a:t>
            </a:r>
            <a:r>
              <a:rPr lang="en-US" sz="23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)  </a:t>
            </a:r>
            <a:endParaRPr lang="en-US" sz="2300" smtClean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  <a:cs typeface="Consolas" panose="020B0609020204030204" pitchFamily="49" charset="0"/>
            </a:endParaRPr>
          </a:p>
          <a:p>
            <a:pPr algn="just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23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</a:t>
            </a:r>
            <a:r>
              <a:rPr lang="en-US" sz="230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{ </a:t>
            </a:r>
            <a:r>
              <a:rPr lang="en-US" sz="2300" i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//Cây đang rỗng</a:t>
            </a:r>
          </a:p>
          <a:p>
            <a:pPr algn="just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</a:t>
            </a:r>
            <a:r>
              <a:rPr lang="en-US" sz="23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</a:t>
            </a:r>
            <a:r>
              <a:rPr lang="en-US" sz="230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</a:t>
            </a:r>
            <a:r>
              <a:rPr lang="vi-VN" sz="230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root </a:t>
            </a:r>
            <a:r>
              <a:rPr lang="vi-VN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= p;</a:t>
            </a:r>
          </a:p>
          <a:p>
            <a:pPr algn="just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	return 1; </a:t>
            </a:r>
            <a:r>
              <a:rPr lang="en-US" sz="2300" i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//Thêm thành công</a:t>
            </a:r>
          </a:p>
          <a:p>
            <a:pPr algn="just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</a:t>
            </a:r>
            <a:r>
              <a:rPr lang="vi-VN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}</a:t>
            </a:r>
          </a:p>
          <a:p>
            <a:pPr algn="just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</a:t>
            </a:r>
            <a:r>
              <a:rPr lang="vi-VN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if(root</a:t>
            </a:r>
            <a:r>
              <a:rPr lang="vi-VN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  <a:sym typeface="Symbol" panose="05050102010706020507" pitchFamily="18" charset="2"/>
              </a:rPr>
              <a:t></a:t>
            </a:r>
            <a:r>
              <a:rPr lang="vi-VN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Info == p</a:t>
            </a:r>
            <a:r>
              <a:rPr lang="vi-VN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  <a:sym typeface="Symbol" panose="05050102010706020507" pitchFamily="18" charset="2"/>
              </a:rPr>
              <a:t></a:t>
            </a:r>
            <a:r>
              <a:rPr lang="vi-VN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Info)</a:t>
            </a:r>
            <a:r>
              <a:rPr lang="en-US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 </a:t>
            </a:r>
          </a:p>
          <a:p>
            <a:pPr algn="just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	return 0; </a:t>
            </a:r>
            <a:r>
              <a:rPr lang="en-US" sz="2300" i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//Bị trùng khóa nên không thêm nữa</a:t>
            </a:r>
          </a:p>
          <a:p>
            <a:pPr algn="just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</a:t>
            </a:r>
            <a:r>
              <a:rPr lang="vi-VN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if(p</a:t>
            </a:r>
            <a:r>
              <a:rPr lang="vi-VN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  <a:sym typeface="Symbol" panose="05050102010706020507" pitchFamily="18" charset="2"/>
              </a:rPr>
              <a:t></a:t>
            </a:r>
            <a:r>
              <a:rPr lang="vi-VN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Info</a:t>
            </a:r>
            <a:r>
              <a:rPr lang="en-US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 </a:t>
            </a:r>
            <a:r>
              <a:rPr lang="vi-VN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&lt;</a:t>
            </a:r>
            <a:r>
              <a:rPr lang="en-US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 </a:t>
            </a:r>
            <a:r>
              <a:rPr lang="vi-VN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root</a:t>
            </a:r>
            <a:r>
              <a:rPr lang="vi-VN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  <a:sym typeface="Symbol" panose="05050102010706020507" pitchFamily="18" charset="2"/>
              </a:rPr>
              <a:t></a:t>
            </a:r>
            <a:r>
              <a:rPr lang="vi-VN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Info)</a:t>
            </a:r>
          </a:p>
          <a:p>
            <a:pPr algn="just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	</a:t>
            </a:r>
            <a:r>
              <a:rPr lang="vi-VN" sz="23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insertTNode</a:t>
            </a:r>
            <a:r>
              <a:rPr lang="vi-VN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(</a:t>
            </a:r>
            <a:r>
              <a:rPr lang="vi-VN" sz="23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root</a:t>
            </a:r>
            <a:r>
              <a:rPr lang="vi-VN" sz="23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  <a:sym typeface="Symbol" panose="05050102010706020507" pitchFamily="18" charset="2"/>
              </a:rPr>
              <a:t></a:t>
            </a:r>
            <a:r>
              <a:rPr lang="vi-VN" sz="23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Left</a:t>
            </a:r>
            <a:r>
              <a:rPr lang="vi-VN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,</a:t>
            </a:r>
            <a:r>
              <a:rPr lang="en-US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 </a:t>
            </a:r>
            <a:r>
              <a:rPr lang="vi-VN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p);</a:t>
            </a:r>
            <a:r>
              <a:rPr lang="en-US" sz="2300" i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//thêm vào nhánh trái</a:t>
            </a:r>
            <a:endParaRPr lang="vi-VN" sz="2300" i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  <a:cs typeface="Consolas" panose="020B0609020204030204" pitchFamily="49" charset="0"/>
            </a:endParaRPr>
          </a:p>
          <a:p>
            <a:pPr algn="just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</a:t>
            </a:r>
            <a:r>
              <a:rPr lang="vi-VN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else</a:t>
            </a:r>
          </a:p>
          <a:p>
            <a:pPr algn="just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	</a:t>
            </a:r>
            <a:r>
              <a:rPr lang="vi-VN" sz="23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insertTNode</a:t>
            </a:r>
            <a:r>
              <a:rPr lang="vi-VN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(</a:t>
            </a:r>
            <a:r>
              <a:rPr lang="vi-VN" sz="23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root</a:t>
            </a:r>
            <a:r>
              <a:rPr lang="vi-VN" sz="23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  <a:sym typeface="Symbol" panose="05050102010706020507" pitchFamily="18" charset="2"/>
              </a:rPr>
              <a:t></a:t>
            </a:r>
            <a:r>
              <a:rPr lang="vi-VN" sz="23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Right</a:t>
            </a:r>
            <a:r>
              <a:rPr lang="vi-VN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,</a:t>
            </a:r>
            <a:r>
              <a:rPr lang="en-US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 </a:t>
            </a:r>
            <a:r>
              <a:rPr lang="vi-VN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p);</a:t>
            </a:r>
            <a:r>
              <a:rPr lang="en-US" sz="2300" i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//thêm vào nhánh phải</a:t>
            </a:r>
            <a:endParaRPr lang="vi-VN" sz="2300" i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  <a:cs typeface="Consolas" panose="020B0609020204030204" pitchFamily="49" charset="0"/>
            </a:endParaRPr>
          </a:p>
          <a:p>
            <a:pPr algn="just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return 1; </a:t>
            </a:r>
            <a:r>
              <a:rPr lang="en-US" sz="2300" i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//Thêm thành công</a:t>
            </a:r>
          </a:p>
          <a:p>
            <a:pPr algn="just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vi-VN" sz="23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}</a:t>
            </a:r>
            <a:endParaRPr lang="en-US" sz="23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  <a:cs typeface="Consolas" panose="020B06090202040302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687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552360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Xóa phần tử khỏi cây</a:t>
            </a:r>
          </a:p>
        </p:txBody>
      </p:sp>
      <p:sp>
        <p:nvSpPr>
          <p:cNvPr id="41677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905000" y="1460231"/>
            <a:ext cx="8458200" cy="5143500"/>
          </a:xfrm>
        </p:spPr>
        <p:txBody>
          <a:bodyPr/>
          <a:lstStyle/>
          <a:p>
            <a:pPr marL="457200" indent="-457200">
              <a:buNone/>
            </a:pPr>
            <a:r>
              <a:rPr lang="en-US" sz="3200"/>
              <a:t>Xóa nhưng phải đảm bảo vẫn là cây BST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/>
              <a:t>Thực hiện tìm nút có giá trị x.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/>
              <a:t>Nếu nút là nút lá, xóa nút.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/>
              <a:t>Ngược lại</a:t>
            </a:r>
          </a:p>
          <a:p>
            <a:pPr marL="914400" lvl="1" indent="-457200">
              <a:buFont typeface="Courier New" pitchFamily="49" charset="0"/>
              <a:buChar char="o"/>
            </a:pPr>
            <a:r>
              <a:rPr lang="en-US" sz="3000"/>
              <a:t>Thay thế nút bằng một trong hai nút sau.</a:t>
            </a:r>
          </a:p>
          <a:p>
            <a:pPr lvl="6" indent="-457200"/>
            <a:r>
              <a:rPr lang="en-US" sz="2800" b="1" smtClean="0">
                <a:solidFill>
                  <a:srgbClr val="002060"/>
                </a:solidFill>
              </a:rPr>
              <a:t>Y là nút lớn nhất của cây con bên trái</a:t>
            </a:r>
          </a:p>
          <a:p>
            <a:pPr lvl="6" indent="-457200"/>
            <a:r>
              <a:rPr lang="en-US" sz="2800" b="1" smtClean="0">
                <a:solidFill>
                  <a:srgbClr val="002060"/>
                </a:solidFill>
              </a:rPr>
              <a:t>Z là nút nhỏ nhất của cây con bên phải</a:t>
            </a:r>
            <a:endParaRPr lang="en-US" b="1" smtClean="0">
              <a:solidFill>
                <a:srgbClr val="002060"/>
              </a:solidFill>
            </a:endParaRPr>
          </a:p>
          <a:p>
            <a:pPr marL="914400" lvl="1" indent="-457200">
              <a:buFont typeface="Courier New" pitchFamily="49" charset="0"/>
              <a:buChar char="o"/>
            </a:pPr>
            <a:r>
              <a:rPr lang="en-US" sz="3000"/>
              <a:t>Chọn nút Y hoặc Z để thế chỗ.</a:t>
            </a:r>
          </a:p>
          <a:p>
            <a:pPr marL="914400" lvl="1" indent="-457200">
              <a:buFont typeface="Courier New" pitchFamily="49" charset="0"/>
              <a:buChar char="o"/>
            </a:pPr>
            <a:r>
              <a:rPr lang="en-US" sz="3000"/>
              <a:t>Giải phóng nút có giá trị x.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4651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446488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Ví dụ xóa x = 25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676400" y="990600"/>
            <a:ext cx="9902792" cy="63064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§"/>
            </a:pPr>
            <a:r>
              <a:rPr lang="en-US" sz="3200" b="1">
                <a:solidFill>
                  <a:srgbClr val="CC0000"/>
                </a:solidFill>
              </a:rPr>
              <a:t>Trường hợp 1</a:t>
            </a:r>
            <a:r>
              <a:rPr lang="en-US" sz="3200"/>
              <a:t>: nút p là nút lá, xóa bình thường</a:t>
            </a:r>
          </a:p>
        </p:txBody>
      </p:sp>
      <p:grpSp>
        <p:nvGrpSpPr>
          <p:cNvPr id="60420" name="Group 40"/>
          <p:cNvGrpSpPr>
            <a:grpSpLocks/>
          </p:cNvGrpSpPr>
          <p:nvPr/>
        </p:nvGrpSpPr>
        <p:grpSpPr bwMode="auto">
          <a:xfrm>
            <a:off x="2514600" y="2752726"/>
            <a:ext cx="2590800" cy="2200275"/>
            <a:chOff x="990600" y="2752725"/>
            <a:chExt cx="2590800" cy="2200275"/>
          </a:xfrm>
        </p:grpSpPr>
        <p:sp>
          <p:nvSpPr>
            <p:cNvPr id="60438" name="Oval 4"/>
            <p:cNvSpPr>
              <a:spLocks noChangeArrowheads="1"/>
            </p:cNvSpPr>
            <p:nvPr/>
          </p:nvSpPr>
          <p:spPr bwMode="auto">
            <a:xfrm>
              <a:off x="1828800" y="2752725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0439" name="Oval 5"/>
            <p:cNvSpPr>
              <a:spLocks noChangeArrowheads="1"/>
            </p:cNvSpPr>
            <p:nvPr/>
          </p:nvSpPr>
          <p:spPr bwMode="auto">
            <a:xfrm>
              <a:off x="1295400" y="35433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0440" name="Oval 6"/>
            <p:cNvSpPr>
              <a:spLocks noChangeArrowheads="1"/>
            </p:cNvSpPr>
            <p:nvPr/>
          </p:nvSpPr>
          <p:spPr bwMode="auto">
            <a:xfrm>
              <a:off x="2286000" y="35433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0441" name="Oval 7"/>
            <p:cNvSpPr>
              <a:spLocks noChangeArrowheads="1"/>
            </p:cNvSpPr>
            <p:nvPr/>
          </p:nvSpPr>
          <p:spPr bwMode="auto">
            <a:xfrm>
              <a:off x="990600" y="43815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0442" name="Oval 8"/>
            <p:cNvSpPr>
              <a:spLocks noChangeArrowheads="1"/>
            </p:cNvSpPr>
            <p:nvPr/>
          </p:nvSpPr>
          <p:spPr bwMode="auto">
            <a:xfrm>
              <a:off x="1905000" y="43815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cxnSp>
          <p:nvCxnSpPr>
            <p:cNvPr id="60443" name="AutoShape 9"/>
            <p:cNvCxnSpPr>
              <a:cxnSpLocks noChangeShapeType="1"/>
              <a:stCxn id="60439" idx="4"/>
              <a:endCxn id="60441" idx="0"/>
            </p:cNvCxnSpPr>
            <p:nvPr/>
          </p:nvCxnSpPr>
          <p:spPr bwMode="auto">
            <a:xfrm flipH="1">
              <a:off x="1371600" y="4143375"/>
              <a:ext cx="304800" cy="2095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60444" name="AutoShape 10"/>
            <p:cNvCxnSpPr>
              <a:cxnSpLocks noChangeShapeType="1"/>
              <a:stCxn id="60440" idx="4"/>
              <a:endCxn id="60442" idx="0"/>
            </p:cNvCxnSpPr>
            <p:nvPr/>
          </p:nvCxnSpPr>
          <p:spPr bwMode="auto">
            <a:xfrm flipH="1">
              <a:off x="2286000" y="4143375"/>
              <a:ext cx="381000" cy="2095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60445" name="AutoShape 11"/>
            <p:cNvCxnSpPr>
              <a:cxnSpLocks noChangeShapeType="1"/>
              <a:stCxn id="60438" idx="4"/>
              <a:endCxn id="60440" idx="0"/>
            </p:cNvCxnSpPr>
            <p:nvPr/>
          </p:nvCxnSpPr>
          <p:spPr bwMode="auto">
            <a:xfrm>
              <a:off x="2209800" y="3352800"/>
              <a:ext cx="457200" cy="161925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60446" name="AutoShape 12"/>
            <p:cNvCxnSpPr>
              <a:cxnSpLocks noChangeShapeType="1"/>
              <a:stCxn id="60438" idx="4"/>
              <a:endCxn id="60439" idx="0"/>
            </p:cNvCxnSpPr>
            <p:nvPr/>
          </p:nvCxnSpPr>
          <p:spPr bwMode="auto">
            <a:xfrm flipH="1">
              <a:off x="1676400" y="3352800"/>
              <a:ext cx="533400" cy="161925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60447" name="AutoShape 13"/>
            <p:cNvCxnSpPr>
              <a:cxnSpLocks noChangeShapeType="1"/>
              <a:stCxn id="60440" idx="4"/>
              <a:endCxn id="60448" idx="0"/>
            </p:cNvCxnSpPr>
            <p:nvPr/>
          </p:nvCxnSpPr>
          <p:spPr bwMode="auto">
            <a:xfrm>
              <a:off x="2667000" y="4143375"/>
              <a:ext cx="533400" cy="2095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sp>
          <p:nvSpPr>
            <p:cNvPr id="60448" name="Oval 14"/>
            <p:cNvSpPr>
              <a:spLocks noChangeArrowheads="1"/>
            </p:cNvSpPr>
            <p:nvPr/>
          </p:nvSpPr>
          <p:spPr bwMode="auto">
            <a:xfrm>
              <a:off x="2819400" y="43815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0449" name="Text Box 15"/>
            <p:cNvSpPr txBox="1">
              <a:spLocks noChangeArrowheads="1"/>
            </p:cNvSpPr>
            <p:nvPr/>
          </p:nvSpPr>
          <p:spPr bwMode="auto">
            <a:xfrm>
              <a:off x="1485900" y="3594100"/>
              <a:ext cx="3810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5</a:t>
              </a:r>
            </a:p>
          </p:txBody>
        </p:sp>
        <p:sp>
          <p:nvSpPr>
            <p:cNvPr id="60450" name="Text Box 16"/>
            <p:cNvSpPr txBox="1">
              <a:spLocks noChangeArrowheads="1"/>
            </p:cNvSpPr>
            <p:nvPr/>
          </p:nvSpPr>
          <p:spPr bwMode="auto">
            <a:xfrm>
              <a:off x="1905000" y="2781300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solidFill>
                    <a:srgbClr val="FF3300"/>
                  </a:solidFill>
                  <a:latin typeface="Arial" charset="0"/>
                </a:rPr>
                <a:t>10</a:t>
              </a:r>
            </a:p>
          </p:txBody>
        </p:sp>
        <p:sp>
          <p:nvSpPr>
            <p:cNvPr id="60451" name="Text Box 17"/>
            <p:cNvSpPr txBox="1">
              <a:spLocks noChangeArrowheads="1"/>
            </p:cNvSpPr>
            <p:nvPr/>
          </p:nvSpPr>
          <p:spPr bwMode="auto">
            <a:xfrm>
              <a:off x="2374900" y="3594100"/>
              <a:ext cx="6096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solidFill>
                    <a:srgbClr val="FF3300"/>
                  </a:solidFill>
                  <a:latin typeface="Arial" charset="0"/>
                </a:rPr>
                <a:t>30</a:t>
              </a:r>
            </a:p>
          </p:txBody>
        </p:sp>
        <p:sp>
          <p:nvSpPr>
            <p:cNvPr id="60452" name="Text Box 18"/>
            <p:cNvSpPr txBox="1">
              <a:spLocks noChangeArrowheads="1"/>
            </p:cNvSpPr>
            <p:nvPr/>
          </p:nvSpPr>
          <p:spPr bwMode="auto">
            <a:xfrm>
              <a:off x="1181100" y="4432300"/>
              <a:ext cx="3810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2</a:t>
              </a:r>
            </a:p>
          </p:txBody>
        </p:sp>
        <p:sp>
          <p:nvSpPr>
            <p:cNvPr id="60453" name="Text Box 19"/>
            <p:cNvSpPr txBox="1">
              <a:spLocks noChangeArrowheads="1"/>
            </p:cNvSpPr>
            <p:nvPr/>
          </p:nvSpPr>
          <p:spPr bwMode="auto">
            <a:xfrm>
              <a:off x="1981200" y="4457700"/>
              <a:ext cx="6096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solidFill>
                    <a:srgbClr val="FF3300"/>
                  </a:solidFill>
                  <a:latin typeface="Arial" charset="0"/>
                </a:rPr>
                <a:t>25</a:t>
              </a:r>
            </a:p>
          </p:txBody>
        </p:sp>
        <p:sp>
          <p:nvSpPr>
            <p:cNvPr id="60454" name="Text Box 20"/>
            <p:cNvSpPr txBox="1">
              <a:spLocks noChangeArrowheads="1"/>
            </p:cNvSpPr>
            <p:nvPr/>
          </p:nvSpPr>
          <p:spPr bwMode="auto">
            <a:xfrm>
              <a:off x="2971800" y="4457700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45</a:t>
              </a:r>
            </a:p>
          </p:txBody>
        </p:sp>
      </p:grpSp>
      <p:grpSp>
        <p:nvGrpSpPr>
          <p:cNvPr id="60421" name="Group 41"/>
          <p:cNvGrpSpPr>
            <a:grpSpLocks/>
          </p:cNvGrpSpPr>
          <p:nvPr/>
        </p:nvGrpSpPr>
        <p:grpSpPr bwMode="auto">
          <a:xfrm>
            <a:off x="7391400" y="2752726"/>
            <a:ext cx="2590800" cy="2200275"/>
            <a:chOff x="5867400" y="2752725"/>
            <a:chExt cx="2590800" cy="2200275"/>
          </a:xfrm>
        </p:grpSpPr>
        <p:sp>
          <p:nvSpPr>
            <p:cNvPr id="60424" name="Oval 22"/>
            <p:cNvSpPr>
              <a:spLocks noChangeArrowheads="1"/>
            </p:cNvSpPr>
            <p:nvPr/>
          </p:nvSpPr>
          <p:spPr bwMode="auto">
            <a:xfrm>
              <a:off x="6705600" y="2752725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0425" name="Oval 23"/>
            <p:cNvSpPr>
              <a:spLocks noChangeArrowheads="1"/>
            </p:cNvSpPr>
            <p:nvPr/>
          </p:nvSpPr>
          <p:spPr bwMode="auto">
            <a:xfrm>
              <a:off x="6172200" y="35433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0426" name="Oval 24"/>
            <p:cNvSpPr>
              <a:spLocks noChangeArrowheads="1"/>
            </p:cNvSpPr>
            <p:nvPr/>
          </p:nvSpPr>
          <p:spPr bwMode="auto">
            <a:xfrm>
              <a:off x="7162800" y="35433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0427" name="Oval 25"/>
            <p:cNvSpPr>
              <a:spLocks noChangeArrowheads="1"/>
            </p:cNvSpPr>
            <p:nvPr/>
          </p:nvSpPr>
          <p:spPr bwMode="auto">
            <a:xfrm>
              <a:off x="5867400" y="43815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cxnSp>
          <p:nvCxnSpPr>
            <p:cNvPr id="60428" name="AutoShape 26"/>
            <p:cNvCxnSpPr>
              <a:cxnSpLocks noChangeShapeType="1"/>
              <a:stCxn id="60425" idx="4"/>
              <a:endCxn id="60427" idx="0"/>
            </p:cNvCxnSpPr>
            <p:nvPr/>
          </p:nvCxnSpPr>
          <p:spPr bwMode="auto">
            <a:xfrm flipH="1">
              <a:off x="6248400" y="4143375"/>
              <a:ext cx="304800" cy="2095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60429" name="AutoShape 27"/>
            <p:cNvCxnSpPr>
              <a:cxnSpLocks noChangeShapeType="1"/>
              <a:stCxn id="60424" idx="4"/>
              <a:endCxn id="60426" idx="0"/>
            </p:cNvCxnSpPr>
            <p:nvPr/>
          </p:nvCxnSpPr>
          <p:spPr bwMode="auto">
            <a:xfrm>
              <a:off x="7086600" y="3352800"/>
              <a:ext cx="457200" cy="161925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60430" name="AutoShape 28"/>
            <p:cNvCxnSpPr>
              <a:cxnSpLocks noChangeShapeType="1"/>
              <a:stCxn id="60424" idx="4"/>
              <a:endCxn id="60425" idx="0"/>
            </p:cNvCxnSpPr>
            <p:nvPr/>
          </p:nvCxnSpPr>
          <p:spPr bwMode="auto">
            <a:xfrm flipH="1">
              <a:off x="6553200" y="3352800"/>
              <a:ext cx="533400" cy="161925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60431" name="AutoShape 29"/>
            <p:cNvCxnSpPr>
              <a:cxnSpLocks noChangeShapeType="1"/>
              <a:stCxn id="60426" idx="4"/>
              <a:endCxn id="60432" idx="0"/>
            </p:cNvCxnSpPr>
            <p:nvPr/>
          </p:nvCxnSpPr>
          <p:spPr bwMode="auto">
            <a:xfrm>
              <a:off x="7543800" y="4143375"/>
              <a:ext cx="533400" cy="2095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sp>
          <p:nvSpPr>
            <p:cNvPr id="60432" name="Oval 30"/>
            <p:cNvSpPr>
              <a:spLocks noChangeArrowheads="1"/>
            </p:cNvSpPr>
            <p:nvPr/>
          </p:nvSpPr>
          <p:spPr bwMode="auto">
            <a:xfrm>
              <a:off x="7696200" y="43815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0433" name="Text Box 31"/>
            <p:cNvSpPr txBox="1">
              <a:spLocks noChangeArrowheads="1"/>
            </p:cNvSpPr>
            <p:nvPr/>
          </p:nvSpPr>
          <p:spPr bwMode="auto">
            <a:xfrm>
              <a:off x="6362700" y="3594100"/>
              <a:ext cx="3810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5</a:t>
              </a:r>
            </a:p>
          </p:txBody>
        </p:sp>
        <p:sp>
          <p:nvSpPr>
            <p:cNvPr id="60434" name="Text Box 32"/>
            <p:cNvSpPr txBox="1">
              <a:spLocks noChangeArrowheads="1"/>
            </p:cNvSpPr>
            <p:nvPr/>
          </p:nvSpPr>
          <p:spPr bwMode="auto">
            <a:xfrm>
              <a:off x="6781800" y="2781300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solidFill>
                    <a:srgbClr val="FF3300"/>
                  </a:solidFill>
                  <a:latin typeface="Arial" charset="0"/>
                </a:rPr>
                <a:t>10</a:t>
              </a:r>
            </a:p>
          </p:txBody>
        </p:sp>
        <p:sp>
          <p:nvSpPr>
            <p:cNvPr id="60435" name="Text Box 33"/>
            <p:cNvSpPr txBox="1">
              <a:spLocks noChangeArrowheads="1"/>
            </p:cNvSpPr>
            <p:nvPr/>
          </p:nvSpPr>
          <p:spPr bwMode="auto">
            <a:xfrm>
              <a:off x="7239000" y="3594100"/>
              <a:ext cx="6096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solidFill>
                    <a:srgbClr val="FF3300"/>
                  </a:solidFill>
                  <a:latin typeface="Arial" charset="0"/>
                </a:rPr>
                <a:t>30</a:t>
              </a:r>
            </a:p>
          </p:txBody>
        </p:sp>
        <p:sp>
          <p:nvSpPr>
            <p:cNvPr id="60436" name="Text Box 34"/>
            <p:cNvSpPr txBox="1">
              <a:spLocks noChangeArrowheads="1"/>
            </p:cNvSpPr>
            <p:nvPr/>
          </p:nvSpPr>
          <p:spPr bwMode="auto">
            <a:xfrm>
              <a:off x="6070600" y="4457700"/>
              <a:ext cx="3810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2</a:t>
              </a:r>
            </a:p>
          </p:txBody>
        </p:sp>
        <p:sp>
          <p:nvSpPr>
            <p:cNvPr id="60437" name="Text Box 35"/>
            <p:cNvSpPr txBox="1">
              <a:spLocks noChangeArrowheads="1"/>
            </p:cNvSpPr>
            <p:nvPr/>
          </p:nvSpPr>
          <p:spPr bwMode="auto">
            <a:xfrm>
              <a:off x="7823200" y="4445000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45</a:t>
              </a:r>
            </a:p>
          </p:txBody>
        </p:sp>
      </p:grpSp>
      <p:sp>
        <p:nvSpPr>
          <p:cNvPr id="60422" name="Line 36"/>
          <p:cNvSpPr>
            <a:spLocks noChangeShapeType="1"/>
          </p:cNvSpPr>
          <p:nvPr/>
        </p:nvSpPr>
        <p:spPr bwMode="auto">
          <a:xfrm>
            <a:off x="5715000" y="3810000"/>
            <a:ext cx="11430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0423" name="Text Box 37"/>
          <p:cNvSpPr txBox="1">
            <a:spLocks noChangeArrowheads="1"/>
          </p:cNvSpPr>
          <p:nvPr/>
        </p:nvSpPr>
        <p:spPr bwMode="auto">
          <a:xfrm>
            <a:off x="5363930" y="3200400"/>
            <a:ext cx="15859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/>
            <a:r>
              <a:rPr lang="en-US" sz="2400" b="1">
                <a:solidFill>
                  <a:srgbClr val="FF00FF"/>
                </a:solidFill>
                <a:latin typeface="Times New Roman" pitchFamily="18" charset="0"/>
              </a:rPr>
              <a:t>Xóa 25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3142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436862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Ví dụ xóa x = 5</a:t>
            </a:r>
            <a:endParaRPr lang="en-US" sz="2000" smtClean="0">
              <a:solidFill>
                <a:srgbClr val="FF0000"/>
              </a:solidFill>
            </a:endParaRP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00513" y="990600"/>
            <a:ext cx="11348185" cy="23622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§"/>
            </a:pPr>
            <a:r>
              <a:rPr lang="en-US" sz="3200" b="1">
                <a:solidFill>
                  <a:srgbClr val="CC0000"/>
                </a:solidFill>
              </a:rPr>
              <a:t>Trường hợp 2</a:t>
            </a:r>
            <a:r>
              <a:rPr lang="en-US" sz="3200" b="1"/>
              <a:t>: </a:t>
            </a:r>
            <a:r>
              <a:rPr lang="en-US" sz="3200"/>
              <a:t>p chỉ có 1 cây con, cho nút cha của p trỏ tới nút con duy nhất của nó, rồi hủy p</a:t>
            </a:r>
          </a:p>
        </p:txBody>
      </p:sp>
      <p:sp>
        <p:nvSpPr>
          <p:cNvPr id="418823" name="Line 21"/>
          <p:cNvSpPr>
            <a:spLocks noChangeShapeType="1"/>
          </p:cNvSpPr>
          <p:nvPr/>
        </p:nvSpPr>
        <p:spPr bwMode="auto">
          <a:xfrm>
            <a:off x="5715000" y="3801576"/>
            <a:ext cx="11430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8824" name="Text Box 22"/>
          <p:cNvSpPr txBox="1">
            <a:spLocks noChangeArrowheads="1"/>
          </p:cNvSpPr>
          <p:nvPr/>
        </p:nvSpPr>
        <p:spPr bwMode="auto">
          <a:xfrm>
            <a:off x="5803901" y="3230076"/>
            <a:ext cx="938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400">
                <a:solidFill>
                  <a:srgbClr val="FF00FF"/>
                </a:solidFill>
                <a:latin typeface="Times New Roman" pitchFamily="18" charset="0"/>
              </a:rPr>
              <a:t>Xóa 5</a:t>
            </a:r>
          </a:p>
        </p:txBody>
      </p:sp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7239000" y="2553802"/>
            <a:ext cx="2590800" cy="2200275"/>
            <a:chOff x="6019800" y="3276600"/>
            <a:chExt cx="2590800" cy="2200275"/>
          </a:xfrm>
        </p:grpSpPr>
        <p:sp>
          <p:nvSpPr>
            <p:cNvPr id="61466" name="Oval 23"/>
            <p:cNvSpPr>
              <a:spLocks noChangeArrowheads="1"/>
            </p:cNvSpPr>
            <p:nvPr/>
          </p:nvSpPr>
          <p:spPr bwMode="auto">
            <a:xfrm>
              <a:off x="6858000" y="32766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1467" name="Oval 25"/>
            <p:cNvSpPr>
              <a:spLocks noChangeArrowheads="1"/>
            </p:cNvSpPr>
            <p:nvPr/>
          </p:nvSpPr>
          <p:spPr bwMode="auto">
            <a:xfrm>
              <a:off x="7315200" y="4067175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1468" name="Oval 26"/>
            <p:cNvSpPr>
              <a:spLocks noChangeArrowheads="1"/>
            </p:cNvSpPr>
            <p:nvPr/>
          </p:nvSpPr>
          <p:spPr bwMode="auto">
            <a:xfrm>
              <a:off x="6019800" y="4905375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1469" name="Oval 27"/>
            <p:cNvSpPr>
              <a:spLocks noChangeArrowheads="1"/>
            </p:cNvSpPr>
            <p:nvPr/>
          </p:nvSpPr>
          <p:spPr bwMode="auto">
            <a:xfrm>
              <a:off x="6934200" y="4905375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cxnSp>
          <p:nvCxnSpPr>
            <p:cNvPr id="61470" name="AutoShape 29"/>
            <p:cNvCxnSpPr>
              <a:cxnSpLocks noChangeShapeType="1"/>
              <a:stCxn id="61467" idx="4"/>
              <a:endCxn id="61469" idx="0"/>
            </p:cNvCxnSpPr>
            <p:nvPr/>
          </p:nvCxnSpPr>
          <p:spPr bwMode="auto">
            <a:xfrm flipH="1">
              <a:off x="7315200" y="4667250"/>
              <a:ext cx="381000" cy="2095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61471" name="AutoShape 30"/>
            <p:cNvCxnSpPr>
              <a:cxnSpLocks noChangeShapeType="1"/>
              <a:stCxn id="61466" idx="4"/>
              <a:endCxn id="61467" idx="0"/>
            </p:cNvCxnSpPr>
            <p:nvPr/>
          </p:nvCxnSpPr>
          <p:spPr bwMode="auto">
            <a:xfrm>
              <a:off x="7239000" y="3876675"/>
              <a:ext cx="457200" cy="161925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61472" name="AutoShape 31"/>
            <p:cNvCxnSpPr>
              <a:cxnSpLocks noChangeShapeType="1"/>
              <a:stCxn id="61466" idx="4"/>
              <a:endCxn id="61468" idx="0"/>
            </p:cNvCxnSpPr>
            <p:nvPr/>
          </p:nvCxnSpPr>
          <p:spPr bwMode="auto">
            <a:xfrm flipH="1">
              <a:off x="6400800" y="3876675"/>
              <a:ext cx="838200" cy="1000125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61473" name="AutoShape 32"/>
            <p:cNvCxnSpPr>
              <a:cxnSpLocks noChangeShapeType="1"/>
              <a:stCxn id="61467" idx="4"/>
              <a:endCxn id="61474" idx="0"/>
            </p:cNvCxnSpPr>
            <p:nvPr/>
          </p:nvCxnSpPr>
          <p:spPr bwMode="auto">
            <a:xfrm>
              <a:off x="7696200" y="4667250"/>
              <a:ext cx="533400" cy="2095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sp>
          <p:nvSpPr>
            <p:cNvPr id="61474" name="Oval 33"/>
            <p:cNvSpPr>
              <a:spLocks noChangeArrowheads="1"/>
            </p:cNvSpPr>
            <p:nvPr/>
          </p:nvSpPr>
          <p:spPr bwMode="auto">
            <a:xfrm>
              <a:off x="7848600" y="4905375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1475" name="Text Box 35"/>
            <p:cNvSpPr txBox="1">
              <a:spLocks noChangeArrowheads="1"/>
            </p:cNvSpPr>
            <p:nvPr/>
          </p:nvSpPr>
          <p:spPr bwMode="auto">
            <a:xfrm>
              <a:off x="6934200" y="3305175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solidFill>
                    <a:srgbClr val="FF3300"/>
                  </a:solidFill>
                  <a:latin typeface="Arial" charset="0"/>
                </a:rPr>
                <a:t>10</a:t>
              </a:r>
            </a:p>
          </p:txBody>
        </p:sp>
        <p:sp>
          <p:nvSpPr>
            <p:cNvPr id="61476" name="Text Box 36"/>
            <p:cNvSpPr txBox="1">
              <a:spLocks noChangeArrowheads="1"/>
            </p:cNvSpPr>
            <p:nvPr/>
          </p:nvSpPr>
          <p:spPr bwMode="auto">
            <a:xfrm>
              <a:off x="7391400" y="4130675"/>
              <a:ext cx="6096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30</a:t>
              </a:r>
            </a:p>
          </p:txBody>
        </p:sp>
        <p:sp>
          <p:nvSpPr>
            <p:cNvPr id="61477" name="Text Box 37"/>
            <p:cNvSpPr txBox="1">
              <a:spLocks noChangeArrowheads="1"/>
            </p:cNvSpPr>
            <p:nvPr/>
          </p:nvSpPr>
          <p:spPr bwMode="auto">
            <a:xfrm>
              <a:off x="6223000" y="4981575"/>
              <a:ext cx="3810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2</a:t>
              </a:r>
            </a:p>
          </p:txBody>
        </p:sp>
        <p:sp>
          <p:nvSpPr>
            <p:cNvPr id="61478" name="Text Box 38"/>
            <p:cNvSpPr txBox="1">
              <a:spLocks noChangeArrowheads="1"/>
            </p:cNvSpPr>
            <p:nvPr/>
          </p:nvSpPr>
          <p:spPr bwMode="auto">
            <a:xfrm>
              <a:off x="7010400" y="4981575"/>
              <a:ext cx="6096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25</a:t>
              </a:r>
            </a:p>
          </p:txBody>
        </p:sp>
        <p:sp>
          <p:nvSpPr>
            <p:cNvPr id="61479" name="Text Box 39"/>
            <p:cNvSpPr txBox="1">
              <a:spLocks noChangeArrowheads="1"/>
            </p:cNvSpPr>
            <p:nvPr/>
          </p:nvSpPr>
          <p:spPr bwMode="auto">
            <a:xfrm>
              <a:off x="7988300" y="4956175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45</a:t>
              </a:r>
            </a:p>
          </p:txBody>
        </p:sp>
      </p:grpSp>
      <p:grpSp>
        <p:nvGrpSpPr>
          <p:cNvPr id="3" name="Group 41"/>
          <p:cNvGrpSpPr>
            <a:grpSpLocks/>
          </p:cNvGrpSpPr>
          <p:nvPr/>
        </p:nvGrpSpPr>
        <p:grpSpPr bwMode="auto">
          <a:xfrm>
            <a:off x="2311400" y="2553802"/>
            <a:ext cx="2946400" cy="2200275"/>
            <a:chOff x="558800" y="3286125"/>
            <a:chExt cx="2946400" cy="2200275"/>
          </a:xfrm>
        </p:grpSpPr>
        <p:sp>
          <p:nvSpPr>
            <p:cNvPr id="61448" name="Oval 4"/>
            <p:cNvSpPr>
              <a:spLocks noChangeArrowheads="1"/>
            </p:cNvSpPr>
            <p:nvPr/>
          </p:nvSpPr>
          <p:spPr bwMode="auto">
            <a:xfrm>
              <a:off x="1752600" y="3286125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1449" name="Oval 5"/>
            <p:cNvSpPr>
              <a:spLocks noChangeArrowheads="1"/>
            </p:cNvSpPr>
            <p:nvPr/>
          </p:nvSpPr>
          <p:spPr bwMode="auto">
            <a:xfrm>
              <a:off x="1219200" y="40767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1450" name="Oval 6"/>
            <p:cNvSpPr>
              <a:spLocks noChangeArrowheads="1"/>
            </p:cNvSpPr>
            <p:nvPr/>
          </p:nvSpPr>
          <p:spPr bwMode="auto">
            <a:xfrm>
              <a:off x="2209800" y="40767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1451" name="Oval 7"/>
            <p:cNvSpPr>
              <a:spLocks noChangeArrowheads="1"/>
            </p:cNvSpPr>
            <p:nvPr/>
          </p:nvSpPr>
          <p:spPr bwMode="auto">
            <a:xfrm>
              <a:off x="914400" y="49149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1452" name="Oval 8"/>
            <p:cNvSpPr>
              <a:spLocks noChangeArrowheads="1"/>
            </p:cNvSpPr>
            <p:nvPr/>
          </p:nvSpPr>
          <p:spPr bwMode="auto">
            <a:xfrm>
              <a:off x="1828800" y="49149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cxnSp>
          <p:nvCxnSpPr>
            <p:cNvPr id="61453" name="AutoShape 9"/>
            <p:cNvCxnSpPr>
              <a:cxnSpLocks noChangeShapeType="1"/>
              <a:stCxn id="61449" idx="4"/>
              <a:endCxn id="61451" idx="0"/>
            </p:cNvCxnSpPr>
            <p:nvPr/>
          </p:nvCxnSpPr>
          <p:spPr bwMode="auto">
            <a:xfrm flipH="1">
              <a:off x="1295400" y="4676775"/>
              <a:ext cx="304800" cy="2095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61454" name="AutoShape 10"/>
            <p:cNvCxnSpPr>
              <a:cxnSpLocks noChangeShapeType="1"/>
              <a:stCxn id="61450" idx="4"/>
              <a:endCxn id="61452" idx="0"/>
            </p:cNvCxnSpPr>
            <p:nvPr/>
          </p:nvCxnSpPr>
          <p:spPr bwMode="auto">
            <a:xfrm flipH="1">
              <a:off x="2209800" y="4676775"/>
              <a:ext cx="381000" cy="2095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61455" name="AutoShape 11"/>
            <p:cNvCxnSpPr>
              <a:cxnSpLocks noChangeShapeType="1"/>
              <a:stCxn id="61448" idx="4"/>
              <a:endCxn id="61450" idx="0"/>
            </p:cNvCxnSpPr>
            <p:nvPr/>
          </p:nvCxnSpPr>
          <p:spPr bwMode="auto">
            <a:xfrm>
              <a:off x="2133600" y="3886200"/>
              <a:ext cx="457200" cy="161925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61456" name="AutoShape 12"/>
            <p:cNvCxnSpPr>
              <a:cxnSpLocks noChangeShapeType="1"/>
              <a:stCxn id="61448" idx="4"/>
              <a:endCxn id="61449" idx="0"/>
            </p:cNvCxnSpPr>
            <p:nvPr/>
          </p:nvCxnSpPr>
          <p:spPr bwMode="auto">
            <a:xfrm flipH="1">
              <a:off x="1600200" y="3886200"/>
              <a:ext cx="533400" cy="161925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61457" name="AutoShape 13"/>
            <p:cNvCxnSpPr>
              <a:cxnSpLocks noChangeShapeType="1"/>
              <a:stCxn id="61450" idx="4"/>
              <a:endCxn id="61458" idx="0"/>
            </p:cNvCxnSpPr>
            <p:nvPr/>
          </p:nvCxnSpPr>
          <p:spPr bwMode="auto">
            <a:xfrm>
              <a:off x="2590800" y="4676775"/>
              <a:ext cx="533400" cy="2095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sp>
          <p:nvSpPr>
            <p:cNvPr id="61458" name="Oval 14"/>
            <p:cNvSpPr>
              <a:spLocks noChangeArrowheads="1"/>
            </p:cNvSpPr>
            <p:nvPr/>
          </p:nvSpPr>
          <p:spPr bwMode="auto">
            <a:xfrm>
              <a:off x="2743200" y="49149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1459" name="Text Box 15"/>
            <p:cNvSpPr txBox="1">
              <a:spLocks noChangeArrowheads="1"/>
            </p:cNvSpPr>
            <p:nvPr/>
          </p:nvSpPr>
          <p:spPr bwMode="auto">
            <a:xfrm>
              <a:off x="1422400" y="4140200"/>
              <a:ext cx="3810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solidFill>
                    <a:srgbClr val="FF3300"/>
                  </a:solidFill>
                  <a:latin typeface="Arial" charset="0"/>
                </a:rPr>
                <a:t>5</a:t>
              </a:r>
            </a:p>
          </p:txBody>
        </p:sp>
        <p:sp>
          <p:nvSpPr>
            <p:cNvPr id="61460" name="Text Box 16"/>
            <p:cNvSpPr txBox="1">
              <a:spLocks noChangeArrowheads="1"/>
            </p:cNvSpPr>
            <p:nvPr/>
          </p:nvSpPr>
          <p:spPr bwMode="auto">
            <a:xfrm>
              <a:off x="1828800" y="3314700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solidFill>
                    <a:srgbClr val="FF3300"/>
                  </a:solidFill>
                  <a:latin typeface="Arial" charset="0"/>
                </a:rPr>
                <a:t>10</a:t>
              </a:r>
            </a:p>
          </p:txBody>
        </p:sp>
        <p:sp>
          <p:nvSpPr>
            <p:cNvPr id="61461" name="Text Box 17"/>
            <p:cNvSpPr txBox="1">
              <a:spLocks noChangeArrowheads="1"/>
            </p:cNvSpPr>
            <p:nvPr/>
          </p:nvSpPr>
          <p:spPr bwMode="auto">
            <a:xfrm>
              <a:off x="2298700" y="4127500"/>
              <a:ext cx="6096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30</a:t>
              </a:r>
            </a:p>
          </p:txBody>
        </p:sp>
        <p:sp>
          <p:nvSpPr>
            <p:cNvPr id="61462" name="Text Box 18"/>
            <p:cNvSpPr txBox="1">
              <a:spLocks noChangeArrowheads="1"/>
            </p:cNvSpPr>
            <p:nvPr/>
          </p:nvSpPr>
          <p:spPr bwMode="auto">
            <a:xfrm>
              <a:off x="1104900" y="4991100"/>
              <a:ext cx="3810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2</a:t>
              </a:r>
            </a:p>
          </p:txBody>
        </p:sp>
        <p:sp>
          <p:nvSpPr>
            <p:cNvPr id="61463" name="Text Box 19"/>
            <p:cNvSpPr txBox="1">
              <a:spLocks noChangeArrowheads="1"/>
            </p:cNvSpPr>
            <p:nvPr/>
          </p:nvSpPr>
          <p:spPr bwMode="auto">
            <a:xfrm>
              <a:off x="1905000" y="4991100"/>
              <a:ext cx="6096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25</a:t>
              </a:r>
            </a:p>
          </p:txBody>
        </p:sp>
        <p:sp>
          <p:nvSpPr>
            <p:cNvPr id="61464" name="Text Box 20"/>
            <p:cNvSpPr txBox="1">
              <a:spLocks noChangeArrowheads="1"/>
            </p:cNvSpPr>
            <p:nvPr/>
          </p:nvSpPr>
          <p:spPr bwMode="auto">
            <a:xfrm>
              <a:off x="2857500" y="5003800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45</a:t>
              </a:r>
            </a:p>
          </p:txBody>
        </p:sp>
        <p:sp>
          <p:nvSpPr>
            <p:cNvPr id="61465" name="Freeform 40"/>
            <p:cNvSpPr>
              <a:spLocks/>
            </p:cNvSpPr>
            <p:nvPr/>
          </p:nvSpPr>
          <p:spPr bwMode="auto">
            <a:xfrm>
              <a:off x="558800" y="3810000"/>
              <a:ext cx="1574800" cy="1066800"/>
            </a:xfrm>
            <a:custGeom>
              <a:avLst/>
              <a:gdLst>
                <a:gd name="T0" fmla="*/ 2147483647 w 944"/>
                <a:gd name="T1" fmla="*/ 2147483647 h 688"/>
                <a:gd name="T2" fmla="*/ 2147483647 w 944"/>
                <a:gd name="T3" fmla="*/ 2147483647 h 688"/>
                <a:gd name="T4" fmla="*/ 2147483647 w 944"/>
                <a:gd name="T5" fmla="*/ 2147483647 h 688"/>
                <a:gd name="T6" fmla="*/ 0 60000 65536"/>
                <a:gd name="T7" fmla="*/ 0 60000 65536"/>
                <a:gd name="T8" fmla="*/ 0 60000 65536"/>
                <a:gd name="T9" fmla="*/ 0 w 944"/>
                <a:gd name="T10" fmla="*/ 0 h 688"/>
                <a:gd name="T11" fmla="*/ 944 w 944"/>
                <a:gd name="T12" fmla="*/ 688 h 6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44" h="688">
                  <a:moveTo>
                    <a:pt x="944" y="16"/>
                  </a:moveTo>
                  <a:cubicBezTo>
                    <a:pt x="552" y="8"/>
                    <a:pt x="160" y="0"/>
                    <a:pt x="80" y="112"/>
                  </a:cubicBezTo>
                  <a:cubicBezTo>
                    <a:pt x="0" y="224"/>
                    <a:pt x="232" y="456"/>
                    <a:pt x="464" y="688"/>
                  </a:cubicBezTo>
                </a:path>
              </a:pathLst>
            </a:custGeom>
            <a:noFill/>
            <a:ln w="38100">
              <a:solidFill>
                <a:schemeClr val="folHlink"/>
              </a:solidFill>
              <a:prstDash val="sysDot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1803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18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18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823" grpId="0" animBg="1"/>
      <p:bldP spid="418824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AutoShape 18"/>
          <p:cNvSpPr>
            <a:spLocks noChangeArrowheads="1"/>
          </p:cNvSpPr>
          <p:nvPr/>
        </p:nvSpPr>
        <p:spPr bwMode="auto">
          <a:xfrm>
            <a:off x="4000500" y="4978400"/>
            <a:ext cx="533400" cy="304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62467" name="AutoShape 18"/>
          <p:cNvSpPr>
            <a:spLocks noChangeArrowheads="1"/>
          </p:cNvSpPr>
          <p:nvPr/>
        </p:nvSpPr>
        <p:spPr bwMode="auto">
          <a:xfrm>
            <a:off x="7086600" y="4978400"/>
            <a:ext cx="533400" cy="304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6246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6341" y="442377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Ví dụ</a:t>
            </a:r>
          </a:p>
        </p:txBody>
      </p:sp>
      <p:sp>
        <p:nvSpPr>
          <p:cNvPr id="6246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33137" y="1183907"/>
            <a:ext cx="11454063" cy="2136914"/>
          </a:xfrm>
        </p:spPr>
        <p:txBody>
          <a:bodyPr/>
          <a:lstStyle/>
          <a:p>
            <a:pPr marL="457200" indent="-457200">
              <a:buFont typeface="Wingdings" pitchFamily="2" charset="2"/>
              <a:buChar char="§"/>
            </a:pPr>
            <a:r>
              <a:rPr lang="en-US" sz="3200" b="1">
                <a:solidFill>
                  <a:srgbClr val="CC0000"/>
                </a:solidFill>
              </a:rPr>
              <a:t>Trường hợp 3</a:t>
            </a:r>
            <a:r>
              <a:rPr lang="en-US" sz="3200" b="1"/>
              <a:t>: </a:t>
            </a:r>
            <a:r>
              <a:rPr lang="en-US" sz="3200"/>
              <a:t>nút p có 2 cây con, chọn nút thay thế theo 1 trong 2 cách như sau:</a:t>
            </a:r>
          </a:p>
          <a:p>
            <a:pPr marL="914400" lvl="1" indent="-457200">
              <a:buFont typeface="Courier New" pitchFamily="49" charset="0"/>
              <a:buChar char="o"/>
            </a:pPr>
            <a:r>
              <a:rPr lang="en-US" sz="3200"/>
              <a:t>Nút lớn nhất trong cây con bên trái</a:t>
            </a:r>
          </a:p>
          <a:p>
            <a:pPr marL="914400" lvl="1" indent="-457200">
              <a:buFont typeface="Courier New" pitchFamily="49" charset="0"/>
              <a:buChar char="o"/>
            </a:pPr>
            <a:r>
              <a:rPr lang="en-US" sz="3200"/>
              <a:t>Nút nhỏ nhất trong cây con bên phải</a:t>
            </a:r>
          </a:p>
        </p:txBody>
      </p:sp>
      <p:sp>
        <p:nvSpPr>
          <p:cNvPr id="62470" name="AutoShape 5"/>
          <p:cNvSpPr>
            <a:spLocks noChangeArrowheads="1"/>
          </p:cNvSpPr>
          <p:nvPr/>
        </p:nvSpPr>
        <p:spPr bwMode="auto">
          <a:xfrm>
            <a:off x="5638800" y="3225800"/>
            <a:ext cx="533400" cy="3048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62471" name="AutoShape 16"/>
          <p:cNvSpPr>
            <a:spLocks noChangeArrowheads="1"/>
          </p:cNvSpPr>
          <p:nvPr/>
        </p:nvSpPr>
        <p:spPr bwMode="auto">
          <a:xfrm>
            <a:off x="3429000" y="3987800"/>
            <a:ext cx="533400" cy="304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62472" name="AutoShape 18"/>
          <p:cNvSpPr>
            <a:spLocks noChangeArrowheads="1"/>
          </p:cNvSpPr>
          <p:nvPr/>
        </p:nvSpPr>
        <p:spPr bwMode="auto">
          <a:xfrm>
            <a:off x="2743200" y="4978400"/>
            <a:ext cx="533400" cy="304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419850" name="AutoShape 19"/>
          <p:cNvSpPr>
            <a:spLocks noChangeArrowheads="1"/>
          </p:cNvSpPr>
          <p:nvPr/>
        </p:nvSpPr>
        <p:spPr bwMode="auto">
          <a:xfrm>
            <a:off x="4005263" y="4978400"/>
            <a:ext cx="533400" cy="304800"/>
          </a:xfrm>
          <a:prstGeom prst="roundRect">
            <a:avLst>
              <a:gd name="adj" fmla="val 16667"/>
            </a:avLst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62474" name="AutoShape 20"/>
          <p:cNvSpPr>
            <a:spLocks noChangeArrowheads="1"/>
          </p:cNvSpPr>
          <p:nvPr/>
        </p:nvSpPr>
        <p:spPr bwMode="auto">
          <a:xfrm>
            <a:off x="7772400" y="3987800"/>
            <a:ext cx="533400" cy="304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419852" name="AutoShape 21"/>
          <p:cNvSpPr>
            <a:spLocks noChangeArrowheads="1"/>
          </p:cNvSpPr>
          <p:nvPr/>
        </p:nvSpPr>
        <p:spPr bwMode="auto">
          <a:xfrm>
            <a:off x="7086600" y="4978400"/>
            <a:ext cx="533400" cy="304800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62476" name="AutoShape 22"/>
          <p:cNvSpPr>
            <a:spLocks noChangeArrowheads="1"/>
          </p:cNvSpPr>
          <p:nvPr/>
        </p:nvSpPr>
        <p:spPr bwMode="auto">
          <a:xfrm>
            <a:off x="8458200" y="4978400"/>
            <a:ext cx="533400" cy="304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cxnSp>
        <p:nvCxnSpPr>
          <p:cNvPr id="62477" name="AutoShape 30"/>
          <p:cNvCxnSpPr>
            <a:cxnSpLocks noChangeShapeType="1"/>
            <a:stCxn id="62471" idx="0"/>
            <a:endCxn id="62470" idx="2"/>
          </p:cNvCxnSpPr>
          <p:nvPr/>
        </p:nvCxnSpPr>
        <p:spPr bwMode="auto">
          <a:xfrm flipV="1">
            <a:off x="3695700" y="3530600"/>
            <a:ext cx="22098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2478" name="AutoShape 32"/>
          <p:cNvCxnSpPr>
            <a:cxnSpLocks noChangeShapeType="1"/>
            <a:stCxn id="62470" idx="2"/>
            <a:endCxn id="62474" idx="0"/>
          </p:cNvCxnSpPr>
          <p:nvPr/>
        </p:nvCxnSpPr>
        <p:spPr bwMode="auto">
          <a:xfrm>
            <a:off x="5905500" y="3530600"/>
            <a:ext cx="21336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2479" name="AutoShape 33"/>
          <p:cNvCxnSpPr>
            <a:cxnSpLocks noChangeShapeType="1"/>
            <a:stCxn id="62471" idx="2"/>
            <a:endCxn id="62472" idx="0"/>
          </p:cNvCxnSpPr>
          <p:nvPr/>
        </p:nvCxnSpPr>
        <p:spPr bwMode="auto">
          <a:xfrm flipH="1">
            <a:off x="3009900" y="4292600"/>
            <a:ext cx="68580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2480" name="AutoShape 34"/>
          <p:cNvCxnSpPr>
            <a:cxnSpLocks noChangeShapeType="1"/>
            <a:stCxn id="62471" idx="2"/>
            <a:endCxn id="419850" idx="0"/>
          </p:cNvCxnSpPr>
          <p:nvPr/>
        </p:nvCxnSpPr>
        <p:spPr bwMode="auto">
          <a:xfrm>
            <a:off x="3695701" y="4292600"/>
            <a:ext cx="576263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2481" name="AutoShape 35"/>
          <p:cNvCxnSpPr>
            <a:cxnSpLocks noChangeShapeType="1"/>
            <a:stCxn id="62474" idx="2"/>
            <a:endCxn id="419852" idx="0"/>
          </p:cNvCxnSpPr>
          <p:nvPr/>
        </p:nvCxnSpPr>
        <p:spPr bwMode="auto">
          <a:xfrm flipH="1">
            <a:off x="7353300" y="4292600"/>
            <a:ext cx="68580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2482" name="AutoShape 36"/>
          <p:cNvCxnSpPr>
            <a:cxnSpLocks noChangeShapeType="1"/>
            <a:stCxn id="62474" idx="2"/>
            <a:endCxn id="62476" idx="0"/>
          </p:cNvCxnSpPr>
          <p:nvPr/>
        </p:nvCxnSpPr>
        <p:spPr bwMode="auto">
          <a:xfrm>
            <a:off x="8039100" y="4292600"/>
            <a:ext cx="68580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62483" name="AutoShape 37"/>
          <p:cNvSpPr>
            <a:spLocks noChangeArrowheads="1"/>
          </p:cNvSpPr>
          <p:nvPr/>
        </p:nvSpPr>
        <p:spPr bwMode="auto">
          <a:xfrm>
            <a:off x="3352800" y="5816600"/>
            <a:ext cx="533400" cy="304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cxnSp>
        <p:nvCxnSpPr>
          <p:cNvPr id="62484" name="AutoShape 38"/>
          <p:cNvCxnSpPr>
            <a:cxnSpLocks noChangeShapeType="1"/>
            <a:stCxn id="419850" idx="2"/>
            <a:endCxn id="62483" idx="0"/>
          </p:cNvCxnSpPr>
          <p:nvPr/>
        </p:nvCxnSpPr>
        <p:spPr bwMode="auto">
          <a:xfrm flipH="1">
            <a:off x="3619501" y="5283200"/>
            <a:ext cx="652463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62485" name="AutoShape 39"/>
          <p:cNvSpPr>
            <a:spLocks noChangeArrowheads="1"/>
          </p:cNvSpPr>
          <p:nvPr/>
        </p:nvSpPr>
        <p:spPr bwMode="auto">
          <a:xfrm>
            <a:off x="7620000" y="5816600"/>
            <a:ext cx="533400" cy="304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>
              <a:latin typeface="Times New Roman" pitchFamily="18" charset="0"/>
            </a:endParaRPr>
          </a:p>
        </p:txBody>
      </p:sp>
      <p:cxnSp>
        <p:nvCxnSpPr>
          <p:cNvPr id="62486" name="AutoShape 40"/>
          <p:cNvCxnSpPr>
            <a:cxnSpLocks noChangeShapeType="1"/>
            <a:stCxn id="419852" idx="2"/>
            <a:endCxn id="62485" idx="0"/>
          </p:cNvCxnSpPr>
          <p:nvPr/>
        </p:nvCxnSpPr>
        <p:spPr bwMode="auto">
          <a:xfrm>
            <a:off x="7353300" y="5283200"/>
            <a:ext cx="5334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419864" name="Text Box 42"/>
          <p:cNvSpPr txBox="1">
            <a:spLocks noChangeArrowheads="1"/>
          </p:cNvSpPr>
          <p:nvPr/>
        </p:nvSpPr>
        <p:spPr bwMode="auto">
          <a:xfrm>
            <a:off x="4589463" y="4762501"/>
            <a:ext cx="10731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000" b="1">
                <a:solidFill>
                  <a:srgbClr val="CC0000"/>
                </a:solidFill>
                <a:latin typeface="Times New Roman" pitchFamily="18" charset="0"/>
              </a:rPr>
              <a:t>Nút lớn </a:t>
            </a:r>
          </a:p>
          <a:p>
            <a:pPr algn="l" eaLnBrk="0" hangingPunct="0"/>
            <a:r>
              <a:rPr lang="en-US" sz="2000" b="1">
                <a:solidFill>
                  <a:srgbClr val="CC0000"/>
                </a:solidFill>
                <a:latin typeface="Times New Roman" pitchFamily="18" charset="0"/>
              </a:rPr>
              <a:t>bên trái</a:t>
            </a:r>
          </a:p>
        </p:txBody>
      </p:sp>
      <p:sp>
        <p:nvSpPr>
          <p:cNvPr id="419865" name="Text Box 43"/>
          <p:cNvSpPr txBox="1">
            <a:spLocks noChangeArrowheads="1"/>
          </p:cNvSpPr>
          <p:nvPr/>
        </p:nvSpPr>
        <p:spPr bwMode="auto">
          <a:xfrm>
            <a:off x="5943600" y="4749800"/>
            <a:ext cx="114005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000" b="1">
                <a:solidFill>
                  <a:srgbClr val="002060"/>
                </a:solidFill>
                <a:latin typeface="Times New Roman" pitchFamily="18" charset="0"/>
              </a:rPr>
              <a:t>Nút nhỏ </a:t>
            </a:r>
          </a:p>
          <a:p>
            <a:pPr algn="l" eaLnBrk="0" hangingPunct="0"/>
            <a:r>
              <a:rPr lang="en-US" sz="2000" b="1">
                <a:solidFill>
                  <a:srgbClr val="002060"/>
                </a:solidFill>
                <a:latin typeface="Times New Roman" pitchFamily="18" charset="0"/>
              </a:rPr>
              <a:t>bên phải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684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19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19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19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19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50" grpId="0" animBg="1"/>
      <p:bldP spid="419852" grpId="0" animBg="1"/>
      <p:bldP spid="419864" grpId="0"/>
      <p:bldP spid="41986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446485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Ví dụ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752600" y="990600"/>
            <a:ext cx="8763000" cy="703015"/>
          </a:xfrm>
        </p:spPr>
        <p:txBody>
          <a:bodyPr/>
          <a:lstStyle/>
          <a:p>
            <a:pPr marL="457200" indent="-457200">
              <a:buFont typeface="Wingdings" pitchFamily="2" charset="2"/>
              <a:buChar char="§"/>
            </a:pPr>
            <a:r>
              <a:rPr lang="en-US" sz="3200" b="1"/>
              <a:t>Xóa nút 10: </a:t>
            </a:r>
            <a:r>
              <a:rPr lang="en-US" sz="3200" b="1">
                <a:solidFill>
                  <a:srgbClr val="FF0000"/>
                </a:solidFill>
              </a:rPr>
              <a:t>cách 1 </a:t>
            </a:r>
          </a:p>
        </p:txBody>
      </p:sp>
      <p:grpSp>
        <p:nvGrpSpPr>
          <p:cNvPr id="63492" name="Group 57"/>
          <p:cNvGrpSpPr>
            <a:grpSpLocks/>
          </p:cNvGrpSpPr>
          <p:nvPr/>
        </p:nvGrpSpPr>
        <p:grpSpPr bwMode="auto">
          <a:xfrm>
            <a:off x="2209800" y="2019300"/>
            <a:ext cx="3810000" cy="3200400"/>
            <a:chOff x="304800" y="2209800"/>
            <a:chExt cx="3733800" cy="3200400"/>
          </a:xfrm>
        </p:grpSpPr>
        <p:sp>
          <p:nvSpPr>
            <p:cNvPr id="63519" name="Oval 4"/>
            <p:cNvSpPr>
              <a:spLocks noChangeArrowheads="1"/>
            </p:cNvSpPr>
            <p:nvPr/>
          </p:nvSpPr>
          <p:spPr bwMode="auto">
            <a:xfrm>
              <a:off x="1143000" y="3209925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3520" name="Oval 5"/>
            <p:cNvSpPr>
              <a:spLocks noChangeArrowheads="1"/>
            </p:cNvSpPr>
            <p:nvPr/>
          </p:nvSpPr>
          <p:spPr bwMode="auto">
            <a:xfrm>
              <a:off x="609600" y="4000500"/>
              <a:ext cx="762000" cy="571500"/>
            </a:xfrm>
            <a:prstGeom prst="ellipse">
              <a:avLst/>
            </a:prstGeom>
            <a:solidFill>
              <a:srgbClr val="FF99FF"/>
            </a:solidFill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3521" name="Oval 6"/>
            <p:cNvSpPr>
              <a:spLocks noChangeArrowheads="1"/>
            </p:cNvSpPr>
            <p:nvPr/>
          </p:nvSpPr>
          <p:spPr bwMode="auto">
            <a:xfrm>
              <a:off x="1676400" y="39624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3522" name="Oval 7"/>
            <p:cNvSpPr>
              <a:spLocks noChangeArrowheads="1"/>
            </p:cNvSpPr>
            <p:nvPr/>
          </p:nvSpPr>
          <p:spPr bwMode="auto">
            <a:xfrm>
              <a:off x="304800" y="48387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3523" name="Oval 8"/>
            <p:cNvSpPr>
              <a:spLocks noChangeArrowheads="1"/>
            </p:cNvSpPr>
            <p:nvPr/>
          </p:nvSpPr>
          <p:spPr bwMode="auto">
            <a:xfrm>
              <a:off x="1219200" y="48387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cxnSp>
          <p:nvCxnSpPr>
            <p:cNvPr id="63524" name="AutoShape 9"/>
            <p:cNvCxnSpPr>
              <a:cxnSpLocks noChangeShapeType="1"/>
              <a:stCxn id="63520" idx="4"/>
              <a:endCxn id="63522" idx="0"/>
            </p:cNvCxnSpPr>
            <p:nvPr/>
          </p:nvCxnSpPr>
          <p:spPr bwMode="auto">
            <a:xfrm flipH="1">
              <a:off x="685800" y="4600575"/>
              <a:ext cx="304800" cy="2095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63525" name="AutoShape 10"/>
            <p:cNvCxnSpPr>
              <a:cxnSpLocks noChangeShapeType="1"/>
              <a:stCxn id="63521" idx="4"/>
              <a:endCxn id="63523" idx="0"/>
            </p:cNvCxnSpPr>
            <p:nvPr/>
          </p:nvCxnSpPr>
          <p:spPr bwMode="auto">
            <a:xfrm flipH="1">
              <a:off x="1600200" y="4562475"/>
              <a:ext cx="457200" cy="2476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63526" name="AutoShape 11"/>
            <p:cNvCxnSpPr>
              <a:cxnSpLocks noChangeShapeType="1"/>
              <a:stCxn id="63519" idx="4"/>
              <a:endCxn id="63521" idx="0"/>
            </p:cNvCxnSpPr>
            <p:nvPr/>
          </p:nvCxnSpPr>
          <p:spPr bwMode="auto">
            <a:xfrm>
              <a:off x="1524000" y="3810000"/>
              <a:ext cx="533400" cy="123825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63527" name="AutoShape 12"/>
            <p:cNvCxnSpPr>
              <a:cxnSpLocks noChangeShapeType="1"/>
              <a:stCxn id="63519" idx="4"/>
              <a:endCxn id="63520" idx="0"/>
            </p:cNvCxnSpPr>
            <p:nvPr/>
          </p:nvCxnSpPr>
          <p:spPr bwMode="auto">
            <a:xfrm flipH="1">
              <a:off x="990600" y="3810000"/>
              <a:ext cx="533400" cy="161925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63528" name="AutoShape 13"/>
            <p:cNvCxnSpPr>
              <a:cxnSpLocks noChangeShapeType="1"/>
              <a:stCxn id="63521" idx="4"/>
              <a:endCxn id="63529" idx="0"/>
            </p:cNvCxnSpPr>
            <p:nvPr/>
          </p:nvCxnSpPr>
          <p:spPr bwMode="auto">
            <a:xfrm>
              <a:off x="2057400" y="4562475"/>
              <a:ext cx="457200" cy="2476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sp>
          <p:nvSpPr>
            <p:cNvPr id="63529" name="Oval 14"/>
            <p:cNvSpPr>
              <a:spLocks noChangeArrowheads="1"/>
            </p:cNvSpPr>
            <p:nvPr/>
          </p:nvSpPr>
          <p:spPr bwMode="auto">
            <a:xfrm>
              <a:off x="2133600" y="48387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3530" name="Text Box 15"/>
            <p:cNvSpPr txBox="1">
              <a:spLocks noChangeArrowheads="1"/>
            </p:cNvSpPr>
            <p:nvPr/>
          </p:nvSpPr>
          <p:spPr bwMode="auto">
            <a:xfrm>
              <a:off x="812800" y="4064000"/>
              <a:ext cx="3810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5</a:t>
              </a:r>
            </a:p>
          </p:txBody>
        </p:sp>
        <p:sp>
          <p:nvSpPr>
            <p:cNvPr id="63531" name="Text Box 16"/>
            <p:cNvSpPr txBox="1">
              <a:spLocks noChangeArrowheads="1"/>
            </p:cNvSpPr>
            <p:nvPr/>
          </p:nvSpPr>
          <p:spPr bwMode="auto">
            <a:xfrm>
              <a:off x="1219200" y="3238500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solidFill>
                    <a:srgbClr val="FF3300"/>
                  </a:solidFill>
                  <a:latin typeface="Arial" charset="0"/>
                </a:rPr>
                <a:t>10</a:t>
              </a:r>
            </a:p>
          </p:txBody>
        </p:sp>
        <p:sp>
          <p:nvSpPr>
            <p:cNvPr id="63532" name="Text Box 17"/>
            <p:cNvSpPr txBox="1">
              <a:spLocks noChangeArrowheads="1"/>
            </p:cNvSpPr>
            <p:nvPr/>
          </p:nvSpPr>
          <p:spPr bwMode="auto">
            <a:xfrm>
              <a:off x="1752600" y="4038600"/>
              <a:ext cx="6096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30</a:t>
              </a:r>
            </a:p>
          </p:txBody>
        </p:sp>
        <p:sp>
          <p:nvSpPr>
            <p:cNvPr id="63533" name="Text Box 18"/>
            <p:cNvSpPr txBox="1">
              <a:spLocks noChangeArrowheads="1"/>
            </p:cNvSpPr>
            <p:nvPr/>
          </p:nvSpPr>
          <p:spPr bwMode="auto">
            <a:xfrm>
              <a:off x="495300" y="4914900"/>
              <a:ext cx="3810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2</a:t>
              </a:r>
            </a:p>
          </p:txBody>
        </p:sp>
        <p:sp>
          <p:nvSpPr>
            <p:cNvPr id="63534" name="Text Box 19"/>
            <p:cNvSpPr txBox="1">
              <a:spLocks noChangeArrowheads="1"/>
            </p:cNvSpPr>
            <p:nvPr/>
          </p:nvSpPr>
          <p:spPr bwMode="auto">
            <a:xfrm>
              <a:off x="1295400" y="4914900"/>
              <a:ext cx="6096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25</a:t>
              </a:r>
            </a:p>
          </p:txBody>
        </p:sp>
        <p:sp>
          <p:nvSpPr>
            <p:cNvPr id="63535" name="Text Box 20"/>
            <p:cNvSpPr txBox="1">
              <a:spLocks noChangeArrowheads="1"/>
            </p:cNvSpPr>
            <p:nvPr/>
          </p:nvSpPr>
          <p:spPr bwMode="auto">
            <a:xfrm>
              <a:off x="2286000" y="4914900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45</a:t>
              </a:r>
            </a:p>
          </p:txBody>
        </p:sp>
        <p:sp>
          <p:nvSpPr>
            <p:cNvPr id="63536" name="Oval 61"/>
            <p:cNvSpPr>
              <a:spLocks noChangeArrowheads="1"/>
            </p:cNvSpPr>
            <p:nvPr/>
          </p:nvSpPr>
          <p:spPr bwMode="auto">
            <a:xfrm>
              <a:off x="2209800" y="22098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3537" name="Text Box 62"/>
            <p:cNvSpPr txBox="1">
              <a:spLocks noChangeArrowheads="1"/>
            </p:cNvSpPr>
            <p:nvPr/>
          </p:nvSpPr>
          <p:spPr bwMode="auto">
            <a:xfrm>
              <a:off x="2362200" y="2286000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50</a:t>
              </a:r>
            </a:p>
          </p:txBody>
        </p:sp>
        <p:cxnSp>
          <p:nvCxnSpPr>
            <p:cNvPr id="63538" name="AutoShape 63"/>
            <p:cNvCxnSpPr>
              <a:cxnSpLocks noChangeShapeType="1"/>
              <a:stCxn id="63536" idx="4"/>
              <a:endCxn id="63519" idx="0"/>
            </p:cNvCxnSpPr>
            <p:nvPr/>
          </p:nvCxnSpPr>
          <p:spPr bwMode="auto">
            <a:xfrm flipH="1">
              <a:off x="1524000" y="2809875"/>
              <a:ext cx="1066800" cy="371475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63539" name="AutoShape 64"/>
            <p:cNvCxnSpPr>
              <a:cxnSpLocks noChangeShapeType="1"/>
              <a:stCxn id="63536" idx="4"/>
              <a:endCxn id="63540" idx="0"/>
            </p:cNvCxnSpPr>
            <p:nvPr/>
          </p:nvCxnSpPr>
          <p:spPr bwMode="auto">
            <a:xfrm>
              <a:off x="2590800" y="2809875"/>
              <a:ext cx="1066800" cy="2857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sp>
          <p:nvSpPr>
            <p:cNvPr id="63540" name="Oval 65"/>
            <p:cNvSpPr>
              <a:spLocks noChangeArrowheads="1"/>
            </p:cNvSpPr>
            <p:nvPr/>
          </p:nvSpPr>
          <p:spPr bwMode="auto">
            <a:xfrm>
              <a:off x="3276600" y="31242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3541" name="Text Box 66"/>
            <p:cNvSpPr txBox="1">
              <a:spLocks noChangeArrowheads="1"/>
            </p:cNvSpPr>
            <p:nvPr/>
          </p:nvSpPr>
          <p:spPr bwMode="auto">
            <a:xfrm>
              <a:off x="3429000" y="3200400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55</a:t>
              </a:r>
            </a:p>
          </p:txBody>
        </p:sp>
      </p:grpSp>
      <p:grpSp>
        <p:nvGrpSpPr>
          <p:cNvPr id="3" name="Group 54"/>
          <p:cNvGrpSpPr>
            <a:grpSpLocks/>
          </p:cNvGrpSpPr>
          <p:nvPr/>
        </p:nvGrpSpPr>
        <p:grpSpPr bwMode="auto">
          <a:xfrm>
            <a:off x="6477000" y="2019300"/>
            <a:ext cx="3962400" cy="3124200"/>
            <a:chOff x="4953000" y="2209800"/>
            <a:chExt cx="3962400" cy="3200400"/>
          </a:xfrm>
        </p:grpSpPr>
        <p:sp>
          <p:nvSpPr>
            <p:cNvPr id="63499" name="Oval 68"/>
            <p:cNvSpPr>
              <a:spLocks noChangeArrowheads="1"/>
            </p:cNvSpPr>
            <p:nvPr/>
          </p:nvSpPr>
          <p:spPr bwMode="auto">
            <a:xfrm>
              <a:off x="5562600" y="32004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3500" name="Oval 69"/>
            <p:cNvSpPr>
              <a:spLocks noChangeArrowheads="1"/>
            </p:cNvSpPr>
            <p:nvPr/>
          </p:nvSpPr>
          <p:spPr bwMode="auto">
            <a:xfrm>
              <a:off x="6324600" y="39624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3501" name="Oval 70"/>
            <p:cNvSpPr>
              <a:spLocks noChangeArrowheads="1"/>
            </p:cNvSpPr>
            <p:nvPr/>
          </p:nvSpPr>
          <p:spPr bwMode="auto">
            <a:xfrm>
              <a:off x="4953000" y="48387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3502" name="Oval 71"/>
            <p:cNvSpPr>
              <a:spLocks noChangeArrowheads="1"/>
            </p:cNvSpPr>
            <p:nvPr/>
          </p:nvSpPr>
          <p:spPr bwMode="auto">
            <a:xfrm>
              <a:off x="5867400" y="48387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cxnSp>
          <p:nvCxnSpPr>
            <p:cNvPr id="63503" name="AutoShape 72"/>
            <p:cNvCxnSpPr>
              <a:cxnSpLocks noChangeShapeType="1"/>
              <a:stCxn id="63499" idx="4"/>
              <a:endCxn id="63501" idx="0"/>
            </p:cNvCxnSpPr>
            <p:nvPr/>
          </p:nvCxnSpPr>
          <p:spPr bwMode="auto">
            <a:xfrm flipH="1">
              <a:off x="5334000" y="3800475"/>
              <a:ext cx="609600" cy="10096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63504" name="AutoShape 73"/>
            <p:cNvCxnSpPr>
              <a:cxnSpLocks noChangeShapeType="1"/>
              <a:stCxn id="63500" idx="4"/>
              <a:endCxn id="63502" idx="0"/>
            </p:cNvCxnSpPr>
            <p:nvPr/>
          </p:nvCxnSpPr>
          <p:spPr bwMode="auto">
            <a:xfrm flipH="1">
              <a:off x="6248400" y="4562475"/>
              <a:ext cx="457200" cy="2476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63505" name="AutoShape 74"/>
            <p:cNvCxnSpPr>
              <a:cxnSpLocks noChangeShapeType="1"/>
              <a:stCxn id="63499" idx="4"/>
              <a:endCxn id="63500" idx="0"/>
            </p:cNvCxnSpPr>
            <p:nvPr/>
          </p:nvCxnSpPr>
          <p:spPr bwMode="auto">
            <a:xfrm>
              <a:off x="5943600" y="3800475"/>
              <a:ext cx="762000" cy="1333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63506" name="AutoShape 76"/>
            <p:cNvCxnSpPr>
              <a:cxnSpLocks noChangeShapeType="1"/>
              <a:stCxn id="63500" idx="4"/>
              <a:endCxn id="63507" idx="0"/>
            </p:cNvCxnSpPr>
            <p:nvPr/>
          </p:nvCxnSpPr>
          <p:spPr bwMode="auto">
            <a:xfrm>
              <a:off x="6705600" y="4562475"/>
              <a:ext cx="457200" cy="2476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sp>
          <p:nvSpPr>
            <p:cNvPr id="63507" name="Oval 77"/>
            <p:cNvSpPr>
              <a:spLocks noChangeArrowheads="1"/>
            </p:cNvSpPr>
            <p:nvPr/>
          </p:nvSpPr>
          <p:spPr bwMode="auto">
            <a:xfrm>
              <a:off x="6781800" y="48387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3508" name="Text Box 78"/>
            <p:cNvSpPr txBox="1">
              <a:spLocks noChangeArrowheads="1"/>
            </p:cNvSpPr>
            <p:nvPr/>
          </p:nvSpPr>
          <p:spPr bwMode="auto">
            <a:xfrm>
              <a:off x="5765800" y="3276600"/>
              <a:ext cx="381000" cy="4729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5</a:t>
              </a:r>
            </a:p>
          </p:txBody>
        </p:sp>
        <p:sp>
          <p:nvSpPr>
            <p:cNvPr id="63509" name="Text Box 80"/>
            <p:cNvSpPr txBox="1">
              <a:spLocks noChangeArrowheads="1"/>
            </p:cNvSpPr>
            <p:nvPr/>
          </p:nvSpPr>
          <p:spPr bwMode="auto">
            <a:xfrm>
              <a:off x="6413500" y="4025900"/>
              <a:ext cx="609600" cy="4729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30</a:t>
              </a:r>
            </a:p>
          </p:txBody>
        </p:sp>
        <p:sp>
          <p:nvSpPr>
            <p:cNvPr id="63510" name="Text Box 81"/>
            <p:cNvSpPr txBox="1">
              <a:spLocks noChangeArrowheads="1"/>
            </p:cNvSpPr>
            <p:nvPr/>
          </p:nvSpPr>
          <p:spPr bwMode="auto">
            <a:xfrm>
              <a:off x="5143500" y="4914900"/>
              <a:ext cx="381000" cy="4729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2</a:t>
              </a:r>
            </a:p>
          </p:txBody>
        </p:sp>
        <p:sp>
          <p:nvSpPr>
            <p:cNvPr id="63511" name="Text Box 82"/>
            <p:cNvSpPr txBox="1">
              <a:spLocks noChangeArrowheads="1"/>
            </p:cNvSpPr>
            <p:nvPr/>
          </p:nvSpPr>
          <p:spPr bwMode="auto">
            <a:xfrm>
              <a:off x="5943600" y="4914900"/>
              <a:ext cx="609600" cy="4729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25</a:t>
              </a:r>
            </a:p>
          </p:txBody>
        </p:sp>
        <p:sp>
          <p:nvSpPr>
            <p:cNvPr id="63512" name="Text Box 83"/>
            <p:cNvSpPr txBox="1">
              <a:spLocks noChangeArrowheads="1"/>
            </p:cNvSpPr>
            <p:nvPr/>
          </p:nvSpPr>
          <p:spPr bwMode="auto">
            <a:xfrm>
              <a:off x="6934200" y="4914900"/>
              <a:ext cx="533400" cy="4729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45</a:t>
              </a:r>
            </a:p>
          </p:txBody>
        </p:sp>
        <p:sp>
          <p:nvSpPr>
            <p:cNvPr id="63513" name="Oval 84"/>
            <p:cNvSpPr>
              <a:spLocks noChangeArrowheads="1"/>
            </p:cNvSpPr>
            <p:nvPr/>
          </p:nvSpPr>
          <p:spPr bwMode="auto">
            <a:xfrm>
              <a:off x="6858000" y="22098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3514" name="Text Box 85"/>
            <p:cNvSpPr txBox="1">
              <a:spLocks noChangeArrowheads="1"/>
            </p:cNvSpPr>
            <p:nvPr/>
          </p:nvSpPr>
          <p:spPr bwMode="auto">
            <a:xfrm>
              <a:off x="7010400" y="2286000"/>
              <a:ext cx="533400" cy="4729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50</a:t>
              </a:r>
            </a:p>
          </p:txBody>
        </p:sp>
        <p:cxnSp>
          <p:nvCxnSpPr>
            <p:cNvPr id="63515" name="AutoShape 86"/>
            <p:cNvCxnSpPr>
              <a:cxnSpLocks noChangeShapeType="1"/>
              <a:stCxn id="63513" idx="4"/>
              <a:endCxn id="63499" idx="0"/>
            </p:cNvCxnSpPr>
            <p:nvPr/>
          </p:nvCxnSpPr>
          <p:spPr bwMode="auto">
            <a:xfrm flipH="1">
              <a:off x="5943600" y="2809875"/>
              <a:ext cx="1295400" cy="3619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63516" name="AutoShape 87"/>
            <p:cNvCxnSpPr>
              <a:cxnSpLocks noChangeShapeType="1"/>
              <a:stCxn id="63513" idx="4"/>
              <a:endCxn id="63517" idx="0"/>
            </p:cNvCxnSpPr>
            <p:nvPr/>
          </p:nvCxnSpPr>
          <p:spPr bwMode="auto">
            <a:xfrm>
              <a:off x="7239000" y="2809875"/>
              <a:ext cx="1295400" cy="3238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sp>
          <p:nvSpPr>
            <p:cNvPr id="63517" name="Oval 88"/>
            <p:cNvSpPr>
              <a:spLocks noChangeArrowheads="1"/>
            </p:cNvSpPr>
            <p:nvPr/>
          </p:nvSpPr>
          <p:spPr bwMode="auto">
            <a:xfrm>
              <a:off x="8153400" y="31623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3518" name="Text Box 89"/>
            <p:cNvSpPr txBox="1">
              <a:spLocks noChangeArrowheads="1"/>
            </p:cNvSpPr>
            <p:nvPr/>
          </p:nvSpPr>
          <p:spPr bwMode="auto">
            <a:xfrm>
              <a:off x="8305800" y="3238500"/>
              <a:ext cx="533400" cy="4729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55</a:t>
              </a:r>
            </a:p>
          </p:txBody>
        </p:sp>
      </p:grpSp>
      <p:grpSp>
        <p:nvGrpSpPr>
          <p:cNvPr id="4" name="Group 55"/>
          <p:cNvGrpSpPr>
            <a:grpSpLocks/>
          </p:cNvGrpSpPr>
          <p:nvPr/>
        </p:nvGrpSpPr>
        <p:grpSpPr bwMode="auto">
          <a:xfrm>
            <a:off x="5257801" y="3810000"/>
            <a:ext cx="1166813" cy="647700"/>
            <a:chOff x="3429000" y="4000500"/>
            <a:chExt cx="1166813" cy="647700"/>
          </a:xfrm>
        </p:grpSpPr>
        <p:sp>
          <p:nvSpPr>
            <p:cNvPr id="63497" name="Line 90"/>
            <p:cNvSpPr>
              <a:spLocks noChangeShapeType="1"/>
            </p:cNvSpPr>
            <p:nvPr/>
          </p:nvSpPr>
          <p:spPr bwMode="auto">
            <a:xfrm>
              <a:off x="3429000" y="4648200"/>
              <a:ext cx="1143000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498" name="Text Box 91"/>
            <p:cNvSpPr txBox="1">
              <a:spLocks noChangeArrowheads="1"/>
            </p:cNvSpPr>
            <p:nvPr/>
          </p:nvSpPr>
          <p:spPr bwMode="auto">
            <a:xfrm>
              <a:off x="3505200" y="4000500"/>
              <a:ext cx="1090613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sz="2400" b="1">
                  <a:solidFill>
                    <a:srgbClr val="FF00FF"/>
                  </a:solidFill>
                  <a:latin typeface="Times New Roman" pitchFamily="18" charset="0"/>
                </a:rPr>
                <a:t>Xóa 10</a:t>
              </a:r>
            </a:p>
          </p:txBody>
        </p:sp>
      </p:grpSp>
      <p:sp>
        <p:nvSpPr>
          <p:cNvPr id="420919" name="Text Box 92"/>
          <p:cNvSpPr txBox="1">
            <a:spLocks noChangeArrowheads="1"/>
          </p:cNvSpPr>
          <p:nvPr/>
        </p:nvSpPr>
        <p:spPr bwMode="auto">
          <a:xfrm>
            <a:off x="4724400" y="5448301"/>
            <a:ext cx="2590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sz="2400" b="1">
                <a:solidFill>
                  <a:srgbClr val="00CC00"/>
                </a:solidFill>
                <a:latin typeface="Times New Roman" pitchFamily="18" charset="0"/>
              </a:rPr>
              <a:t>Chọn nút có khóa lớn nhất bên trái</a:t>
            </a:r>
          </a:p>
        </p:txBody>
      </p:sp>
      <p:sp>
        <p:nvSpPr>
          <p:cNvPr id="420920" name="Line 93"/>
          <p:cNvSpPr>
            <a:spLocks noChangeShapeType="1"/>
          </p:cNvSpPr>
          <p:nvPr/>
        </p:nvSpPr>
        <p:spPr bwMode="auto">
          <a:xfrm flipH="1" flipV="1">
            <a:off x="3200400" y="4381500"/>
            <a:ext cx="1524000" cy="1447800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7768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20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20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919" grpId="0"/>
      <p:bldP spid="42092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459291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Ví dụ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752600" y="990600"/>
            <a:ext cx="8763000" cy="9144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§"/>
            </a:pPr>
            <a:r>
              <a:rPr lang="en-US" sz="3200" b="1"/>
              <a:t>Xóa nút 10</a:t>
            </a:r>
            <a:r>
              <a:rPr lang="en-US" sz="3200"/>
              <a:t>: </a:t>
            </a:r>
            <a:r>
              <a:rPr lang="en-US" sz="3200" b="1">
                <a:solidFill>
                  <a:srgbClr val="FF0000"/>
                </a:solidFill>
              </a:rPr>
              <a:t>cách 2</a:t>
            </a:r>
          </a:p>
        </p:txBody>
      </p:sp>
      <p:grpSp>
        <p:nvGrpSpPr>
          <p:cNvPr id="64516" name="Group 55"/>
          <p:cNvGrpSpPr>
            <a:grpSpLocks/>
          </p:cNvGrpSpPr>
          <p:nvPr/>
        </p:nvGrpSpPr>
        <p:grpSpPr bwMode="auto">
          <a:xfrm>
            <a:off x="2286000" y="1651000"/>
            <a:ext cx="3733800" cy="3657600"/>
            <a:chOff x="509588" y="2057400"/>
            <a:chExt cx="3733800" cy="3657600"/>
          </a:xfrm>
        </p:grpSpPr>
        <p:sp>
          <p:nvSpPr>
            <p:cNvPr id="64543" name="Oval 4"/>
            <p:cNvSpPr>
              <a:spLocks noChangeArrowheads="1"/>
            </p:cNvSpPr>
            <p:nvPr/>
          </p:nvSpPr>
          <p:spPr bwMode="auto">
            <a:xfrm>
              <a:off x="1347788" y="3209925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4544" name="Oval 5"/>
            <p:cNvSpPr>
              <a:spLocks noChangeArrowheads="1"/>
            </p:cNvSpPr>
            <p:nvPr/>
          </p:nvSpPr>
          <p:spPr bwMode="auto">
            <a:xfrm>
              <a:off x="814388" y="41529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4545" name="Oval 6"/>
            <p:cNvSpPr>
              <a:spLocks noChangeArrowheads="1"/>
            </p:cNvSpPr>
            <p:nvPr/>
          </p:nvSpPr>
          <p:spPr bwMode="auto">
            <a:xfrm>
              <a:off x="1881188" y="41148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4546" name="Oval 7"/>
            <p:cNvSpPr>
              <a:spLocks noChangeArrowheads="1"/>
            </p:cNvSpPr>
            <p:nvPr/>
          </p:nvSpPr>
          <p:spPr bwMode="auto">
            <a:xfrm>
              <a:off x="509588" y="51435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4547" name="Oval 8"/>
            <p:cNvSpPr>
              <a:spLocks noChangeArrowheads="1"/>
            </p:cNvSpPr>
            <p:nvPr/>
          </p:nvSpPr>
          <p:spPr bwMode="auto">
            <a:xfrm>
              <a:off x="1423988" y="5143500"/>
              <a:ext cx="762000" cy="571500"/>
            </a:xfrm>
            <a:prstGeom prst="ellipse">
              <a:avLst/>
            </a:prstGeom>
            <a:solidFill>
              <a:srgbClr val="FF99FF"/>
            </a:solidFill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cxnSp>
          <p:nvCxnSpPr>
            <p:cNvPr id="64548" name="AutoShape 9"/>
            <p:cNvCxnSpPr>
              <a:cxnSpLocks noChangeShapeType="1"/>
              <a:stCxn id="64544" idx="4"/>
              <a:endCxn id="64546" idx="0"/>
            </p:cNvCxnSpPr>
            <p:nvPr/>
          </p:nvCxnSpPr>
          <p:spPr bwMode="auto">
            <a:xfrm flipH="1">
              <a:off x="890588" y="4752975"/>
              <a:ext cx="304800" cy="3619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64549" name="AutoShape 10"/>
            <p:cNvCxnSpPr>
              <a:cxnSpLocks noChangeShapeType="1"/>
              <a:stCxn id="64545" idx="4"/>
              <a:endCxn id="64547" idx="0"/>
            </p:cNvCxnSpPr>
            <p:nvPr/>
          </p:nvCxnSpPr>
          <p:spPr bwMode="auto">
            <a:xfrm flipH="1">
              <a:off x="1804988" y="4714875"/>
              <a:ext cx="457200" cy="4000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64550" name="AutoShape 11"/>
            <p:cNvCxnSpPr>
              <a:cxnSpLocks noChangeShapeType="1"/>
              <a:stCxn id="64543" idx="4"/>
              <a:endCxn id="64545" idx="0"/>
            </p:cNvCxnSpPr>
            <p:nvPr/>
          </p:nvCxnSpPr>
          <p:spPr bwMode="auto">
            <a:xfrm>
              <a:off x="1728788" y="3810000"/>
              <a:ext cx="533400" cy="276225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64551" name="AutoShape 12"/>
            <p:cNvCxnSpPr>
              <a:cxnSpLocks noChangeShapeType="1"/>
              <a:stCxn id="64543" idx="4"/>
              <a:endCxn id="64544" idx="0"/>
            </p:cNvCxnSpPr>
            <p:nvPr/>
          </p:nvCxnSpPr>
          <p:spPr bwMode="auto">
            <a:xfrm flipH="1">
              <a:off x="1195388" y="3810000"/>
              <a:ext cx="533400" cy="314325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64552" name="AutoShape 13"/>
            <p:cNvCxnSpPr>
              <a:cxnSpLocks noChangeShapeType="1"/>
              <a:stCxn id="64545" idx="4"/>
              <a:endCxn id="64553" idx="0"/>
            </p:cNvCxnSpPr>
            <p:nvPr/>
          </p:nvCxnSpPr>
          <p:spPr bwMode="auto">
            <a:xfrm>
              <a:off x="2262188" y="4714875"/>
              <a:ext cx="457200" cy="4000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sp>
          <p:nvSpPr>
            <p:cNvPr id="64553" name="Oval 14"/>
            <p:cNvSpPr>
              <a:spLocks noChangeArrowheads="1"/>
            </p:cNvSpPr>
            <p:nvPr/>
          </p:nvSpPr>
          <p:spPr bwMode="auto">
            <a:xfrm>
              <a:off x="2338388" y="51435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4554" name="Text Box 15"/>
            <p:cNvSpPr txBox="1">
              <a:spLocks noChangeArrowheads="1"/>
            </p:cNvSpPr>
            <p:nvPr/>
          </p:nvSpPr>
          <p:spPr bwMode="auto">
            <a:xfrm>
              <a:off x="1042988" y="4191000"/>
              <a:ext cx="3810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5</a:t>
              </a:r>
            </a:p>
          </p:txBody>
        </p:sp>
        <p:sp>
          <p:nvSpPr>
            <p:cNvPr id="64555" name="Text Box 16"/>
            <p:cNvSpPr txBox="1">
              <a:spLocks noChangeArrowheads="1"/>
            </p:cNvSpPr>
            <p:nvPr/>
          </p:nvSpPr>
          <p:spPr bwMode="auto">
            <a:xfrm>
              <a:off x="1449388" y="3276600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solidFill>
                    <a:srgbClr val="FF3300"/>
                  </a:solidFill>
                  <a:latin typeface="Arial" charset="0"/>
                </a:rPr>
                <a:t>10</a:t>
              </a:r>
            </a:p>
          </p:txBody>
        </p:sp>
        <p:sp>
          <p:nvSpPr>
            <p:cNvPr id="64556" name="Text Box 17"/>
            <p:cNvSpPr txBox="1">
              <a:spLocks noChangeArrowheads="1"/>
            </p:cNvSpPr>
            <p:nvPr/>
          </p:nvSpPr>
          <p:spPr bwMode="auto">
            <a:xfrm>
              <a:off x="1944688" y="4178300"/>
              <a:ext cx="6096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30</a:t>
              </a:r>
            </a:p>
          </p:txBody>
        </p:sp>
        <p:sp>
          <p:nvSpPr>
            <p:cNvPr id="64557" name="Text Box 18"/>
            <p:cNvSpPr txBox="1">
              <a:spLocks noChangeArrowheads="1"/>
            </p:cNvSpPr>
            <p:nvPr/>
          </p:nvSpPr>
          <p:spPr bwMode="auto">
            <a:xfrm>
              <a:off x="712788" y="5219700"/>
              <a:ext cx="3810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2</a:t>
              </a:r>
            </a:p>
          </p:txBody>
        </p:sp>
        <p:sp>
          <p:nvSpPr>
            <p:cNvPr id="64558" name="Text Box 19"/>
            <p:cNvSpPr txBox="1">
              <a:spLocks noChangeArrowheads="1"/>
            </p:cNvSpPr>
            <p:nvPr/>
          </p:nvSpPr>
          <p:spPr bwMode="auto">
            <a:xfrm>
              <a:off x="1500188" y="5219700"/>
              <a:ext cx="6096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25</a:t>
              </a:r>
            </a:p>
          </p:txBody>
        </p:sp>
        <p:sp>
          <p:nvSpPr>
            <p:cNvPr id="64559" name="Text Box 20"/>
            <p:cNvSpPr txBox="1">
              <a:spLocks noChangeArrowheads="1"/>
            </p:cNvSpPr>
            <p:nvPr/>
          </p:nvSpPr>
          <p:spPr bwMode="auto">
            <a:xfrm>
              <a:off x="2490788" y="5219700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45</a:t>
              </a:r>
            </a:p>
          </p:txBody>
        </p:sp>
        <p:sp>
          <p:nvSpPr>
            <p:cNvPr id="64560" name="Oval 21"/>
            <p:cNvSpPr>
              <a:spLocks noChangeArrowheads="1"/>
            </p:cNvSpPr>
            <p:nvPr/>
          </p:nvSpPr>
          <p:spPr bwMode="auto">
            <a:xfrm>
              <a:off x="2414588" y="20574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4561" name="Text Box 22"/>
            <p:cNvSpPr txBox="1">
              <a:spLocks noChangeArrowheads="1"/>
            </p:cNvSpPr>
            <p:nvPr/>
          </p:nvSpPr>
          <p:spPr bwMode="auto">
            <a:xfrm>
              <a:off x="2566988" y="2133600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50</a:t>
              </a:r>
            </a:p>
          </p:txBody>
        </p:sp>
        <p:cxnSp>
          <p:nvCxnSpPr>
            <p:cNvPr id="64562" name="AutoShape 23"/>
            <p:cNvCxnSpPr>
              <a:cxnSpLocks noChangeShapeType="1"/>
              <a:stCxn id="64560" idx="4"/>
              <a:endCxn id="64543" idx="0"/>
            </p:cNvCxnSpPr>
            <p:nvPr/>
          </p:nvCxnSpPr>
          <p:spPr bwMode="auto">
            <a:xfrm flipH="1">
              <a:off x="1728788" y="2657475"/>
              <a:ext cx="1066800" cy="523875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64563" name="AutoShape 24"/>
            <p:cNvCxnSpPr>
              <a:cxnSpLocks noChangeShapeType="1"/>
              <a:stCxn id="64560" idx="4"/>
              <a:endCxn id="64564" idx="0"/>
            </p:cNvCxnSpPr>
            <p:nvPr/>
          </p:nvCxnSpPr>
          <p:spPr bwMode="auto">
            <a:xfrm>
              <a:off x="2795588" y="2657475"/>
              <a:ext cx="1066800" cy="4762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sp>
          <p:nvSpPr>
            <p:cNvPr id="64564" name="Oval 25"/>
            <p:cNvSpPr>
              <a:spLocks noChangeArrowheads="1"/>
            </p:cNvSpPr>
            <p:nvPr/>
          </p:nvSpPr>
          <p:spPr bwMode="auto">
            <a:xfrm>
              <a:off x="3481388" y="31623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4565" name="Text Box 26"/>
            <p:cNvSpPr txBox="1">
              <a:spLocks noChangeArrowheads="1"/>
            </p:cNvSpPr>
            <p:nvPr/>
          </p:nvSpPr>
          <p:spPr bwMode="auto">
            <a:xfrm>
              <a:off x="3633788" y="3238500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55</a:t>
              </a:r>
            </a:p>
          </p:txBody>
        </p:sp>
      </p:grpSp>
      <p:grpSp>
        <p:nvGrpSpPr>
          <p:cNvPr id="3" name="Group 56"/>
          <p:cNvGrpSpPr>
            <a:grpSpLocks/>
          </p:cNvGrpSpPr>
          <p:nvPr/>
        </p:nvGrpSpPr>
        <p:grpSpPr bwMode="auto">
          <a:xfrm>
            <a:off x="5410201" y="3632200"/>
            <a:ext cx="1166813" cy="647700"/>
            <a:chOff x="3633788" y="4000500"/>
            <a:chExt cx="1166812" cy="647700"/>
          </a:xfrm>
        </p:grpSpPr>
        <p:sp>
          <p:nvSpPr>
            <p:cNvPr id="64541" name="Line 27"/>
            <p:cNvSpPr>
              <a:spLocks noChangeShapeType="1"/>
            </p:cNvSpPr>
            <p:nvPr/>
          </p:nvSpPr>
          <p:spPr bwMode="auto">
            <a:xfrm>
              <a:off x="3633788" y="4648200"/>
              <a:ext cx="1143000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542" name="Text Box 28"/>
            <p:cNvSpPr txBox="1">
              <a:spLocks noChangeArrowheads="1"/>
            </p:cNvSpPr>
            <p:nvPr/>
          </p:nvSpPr>
          <p:spPr bwMode="auto">
            <a:xfrm>
              <a:off x="3709988" y="4000500"/>
              <a:ext cx="1090612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sz="2400">
                  <a:solidFill>
                    <a:srgbClr val="FF00FF"/>
                  </a:solidFill>
                  <a:latin typeface="Times New Roman" pitchFamily="18" charset="0"/>
                </a:rPr>
                <a:t>Xóa 10</a:t>
              </a:r>
            </a:p>
          </p:txBody>
        </p:sp>
      </p:grpSp>
      <p:grpSp>
        <p:nvGrpSpPr>
          <p:cNvPr id="4" name="Group 54"/>
          <p:cNvGrpSpPr>
            <a:grpSpLocks/>
          </p:cNvGrpSpPr>
          <p:nvPr/>
        </p:nvGrpSpPr>
        <p:grpSpPr bwMode="auto">
          <a:xfrm>
            <a:off x="6376988" y="1651000"/>
            <a:ext cx="3986212" cy="3657600"/>
            <a:chOff x="4852988" y="2057400"/>
            <a:chExt cx="3986212" cy="3657600"/>
          </a:xfrm>
        </p:grpSpPr>
        <p:sp>
          <p:nvSpPr>
            <p:cNvPr id="64521" name="Oval 29"/>
            <p:cNvSpPr>
              <a:spLocks noChangeArrowheads="1"/>
            </p:cNvSpPr>
            <p:nvPr/>
          </p:nvSpPr>
          <p:spPr bwMode="auto">
            <a:xfrm>
              <a:off x="5943600" y="3209925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4522" name="Oval 30"/>
            <p:cNvSpPr>
              <a:spLocks noChangeArrowheads="1"/>
            </p:cNvSpPr>
            <p:nvPr/>
          </p:nvSpPr>
          <p:spPr bwMode="auto">
            <a:xfrm>
              <a:off x="5410200" y="41529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4523" name="Oval 31"/>
            <p:cNvSpPr>
              <a:spLocks noChangeArrowheads="1"/>
            </p:cNvSpPr>
            <p:nvPr/>
          </p:nvSpPr>
          <p:spPr bwMode="auto">
            <a:xfrm>
              <a:off x="6477000" y="41148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4524" name="Oval 32"/>
            <p:cNvSpPr>
              <a:spLocks noChangeArrowheads="1"/>
            </p:cNvSpPr>
            <p:nvPr/>
          </p:nvSpPr>
          <p:spPr bwMode="auto">
            <a:xfrm>
              <a:off x="4852988" y="51054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cxnSp>
          <p:nvCxnSpPr>
            <p:cNvPr id="64525" name="AutoShape 34"/>
            <p:cNvCxnSpPr>
              <a:cxnSpLocks noChangeShapeType="1"/>
              <a:stCxn id="64522" idx="4"/>
              <a:endCxn id="64524" idx="0"/>
            </p:cNvCxnSpPr>
            <p:nvPr/>
          </p:nvCxnSpPr>
          <p:spPr bwMode="auto">
            <a:xfrm flipH="1">
              <a:off x="5233988" y="4752975"/>
              <a:ext cx="557212" cy="3238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64526" name="AutoShape 36"/>
            <p:cNvCxnSpPr>
              <a:cxnSpLocks noChangeShapeType="1"/>
              <a:stCxn id="64521" idx="4"/>
              <a:endCxn id="64523" idx="0"/>
            </p:cNvCxnSpPr>
            <p:nvPr/>
          </p:nvCxnSpPr>
          <p:spPr bwMode="auto">
            <a:xfrm>
              <a:off x="6324600" y="3810000"/>
              <a:ext cx="533400" cy="276225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64527" name="AutoShape 37"/>
            <p:cNvCxnSpPr>
              <a:cxnSpLocks noChangeShapeType="1"/>
              <a:stCxn id="64521" idx="4"/>
              <a:endCxn id="64522" idx="0"/>
            </p:cNvCxnSpPr>
            <p:nvPr/>
          </p:nvCxnSpPr>
          <p:spPr bwMode="auto">
            <a:xfrm flipH="1">
              <a:off x="5791200" y="3810000"/>
              <a:ext cx="533400" cy="314325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64528" name="AutoShape 38"/>
            <p:cNvCxnSpPr>
              <a:cxnSpLocks noChangeShapeType="1"/>
              <a:stCxn id="64523" idx="4"/>
              <a:endCxn id="64529" idx="0"/>
            </p:cNvCxnSpPr>
            <p:nvPr/>
          </p:nvCxnSpPr>
          <p:spPr bwMode="auto">
            <a:xfrm>
              <a:off x="6858000" y="4714875"/>
              <a:ext cx="533400" cy="4000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sp>
          <p:nvSpPr>
            <p:cNvPr id="64529" name="Oval 39"/>
            <p:cNvSpPr>
              <a:spLocks noChangeArrowheads="1"/>
            </p:cNvSpPr>
            <p:nvPr/>
          </p:nvSpPr>
          <p:spPr bwMode="auto">
            <a:xfrm>
              <a:off x="7010400" y="51435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4530" name="Text Box 40"/>
            <p:cNvSpPr txBox="1">
              <a:spLocks noChangeArrowheads="1"/>
            </p:cNvSpPr>
            <p:nvPr/>
          </p:nvSpPr>
          <p:spPr bwMode="auto">
            <a:xfrm>
              <a:off x="5638800" y="4191000"/>
              <a:ext cx="3810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5</a:t>
              </a:r>
            </a:p>
          </p:txBody>
        </p:sp>
        <p:sp>
          <p:nvSpPr>
            <p:cNvPr id="64531" name="Text Box 41"/>
            <p:cNvSpPr txBox="1">
              <a:spLocks noChangeArrowheads="1"/>
            </p:cNvSpPr>
            <p:nvPr/>
          </p:nvSpPr>
          <p:spPr bwMode="auto">
            <a:xfrm>
              <a:off x="6057900" y="3263900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25</a:t>
              </a:r>
            </a:p>
          </p:txBody>
        </p:sp>
        <p:sp>
          <p:nvSpPr>
            <p:cNvPr id="64532" name="Text Box 42"/>
            <p:cNvSpPr txBox="1">
              <a:spLocks noChangeArrowheads="1"/>
            </p:cNvSpPr>
            <p:nvPr/>
          </p:nvSpPr>
          <p:spPr bwMode="auto">
            <a:xfrm>
              <a:off x="6540500" y="4165600"/>
              <a:ext cx="6096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30</a:t>
              </a:r>
            </a:p>
          </p:txBody>
        </p:sp>
        <p:sp>
          <p:nvSpPr>
            <p:cNvPr id="64533" name="Text Box 43"/>
            <p:cNvSpPr txBox="1">
              <a:spLocks noChangeArrowheads="1"/>
            </p:cNvSpPr>
            <p:nvPr/>
          </p:nvSpPr>
          <p:spPr bwMode="auto">
            <a:xfrm>
              <a:off x="5054600" y="5181600"/>
              <a:ext cx="3810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2</a:t>
              </a:r>
            </a:p>
          </p:txBody>
        </p:sp>
        <p:sp>
          <p:nvSpPr>
            <p:cNvPr id="64534" name="Text Box 45"/>
            <p:cNvSpPr txBox="1">
              <a:spLocks noChangeArrowheads="1"/>
            </p:cNvSpPr>
            <p:nvPr/>
          </p:nvSpPr>
          <p:spPr bwMode="auto">
            <a:xfrm>
              <a:off x="7162800" y="5219700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45</a:t>
              </a:r>
            </a:p>
          </p:txBody>
        </p:sp>
        <p:sp>
          <p:nvSpPr>
            <p:cNvPr id="64535" name="Oval 46"/>
            <p:cNvSpPr>
              <a:spLocks noChangeArrowheads="1"/>
            </p:cNvSpPr>
            <p:nvPr/>
          </p:nvSpPr>
          <p:spPr bwMode="auto">
            <a:xfrm>
              <a:off x="7010400" y="20574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4536" name="Text Box 47"/>
            <p:cNvSpPr txBox="1">
              <a:spLocks noChangeArrowheads="1"/>
            </p:cNvSpPr>
            <p:nvPr/>
          </p:nvSpPr>
          <p:spPr bwMode="auto">
            <a:xfrm>
              <a:off x="7162800" y="2133600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50</a:t>
              </a:r>
            </a:p>
          </p:txBody>
        </p:sp>
        <p:cxnSp>
          <p:nvCxnSpPr>
            <p:cNvPr id="64537" name="AutoShape 48"/>
            <p:cNvCxnSpPr>
              <a:cxnSpLocks noChangeShapeType="1"/>
              <a:stCxn id="64535" idx="4"/>
              <a:endCxn id="64521" idx="0"/>
            </p:cNvCxnSpPr>
            <p:nvPr/>
          </p:nvCxnSpPr>
          <p:spPr bwMode="auto">
            <a:xfrm flipH="1">
              <a:off x="6324600" y="2657475"/>
              <a:ext cx="1066800" cy="523875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64538" name="AutoShape 49"/>
            <p:cNvCxnSpPr>
              <a:cxnSpLocks noChangeShapeType="1"/>
              <a:stCxn id="64535" idx="4"/>
              <a:endCxn id="64539" idx="0"/>
            </p:cNvCxnSpPr>
            <p:nvPr/>
          </p:nvCxnSpPr>
          <p:spPr bwMode="auto">
            <a:xfrm>
              <a:off x="7391400" y="2657475"/>
              <a:ext cx="1066800" cy="476250"/>
            </a:xfrm>
            <a:prstGeom prst="straightConnector1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sp>
          <p:nvSpPr>
            <p:cNvPr id="64539" name="Oval 50"/>
            <p:cNvSpPr>
              <a:spLocks noChangeArrowheads="1"/>
            </p:cNvSpPr>
            <p:nvPr/>
          </p:nvSpPr>
          <p:spPr bwMode="auto">
            <a:xfrm>
              <a:off x="8077200" y="3162300"/>
              <a:ext cx="762000" cy="571500"/>
            </a:xfrm>
            <a:prstGeom prst="ellipse">
              <a:avLst/>
            </a:prstGeom>
            <a:noFill/>
            <a:ln w="57150">
              <a:solidFill>
                <a:srgbClr val="0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hangingPunct="0"/>
              <a:endParaRPr lang="en-US">
                <a:latin typeface="Times New Roman" pitchFamily="18" charset="0"/>
              </a:endParaRPr>
            </a:p>
          </p:txBody>
        </p:sp>
        <p:sp>
          <p:nvSpPr>
            <p:cNvPr id="64540" name="Text Box 51"/>
            <p:cNvSpPr txBox="1">
              <a:spLocks noChangeArrowheads="1"/>
            </p:cNvSpPr>
            <p:nvPr/>
          </p:nvSpPr>
          <p:spPr bwMode="auto">
            <a:xfrm>
              <a:off x="8229600" y="3238500"/>
              <a:ext cx="5334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latin typeface="Arial" charset="0"/>
                </a:rPr>
                <a:t>55</a:t>
              </a:r>
            </a:p>
          </p:txBody>
        </p:sp>
      </p:grpSp>
      <p:sp>
        <p:nvSpPr>
          <p:cNvPr id="421945" name="Text Box 92"/>
          <p:cNvSpPr txBox="1">
            <a:spLocks noChangeArrowheads="1"/>
          </p:cNvSpPr>
          <p:nvPr/>
        </p:nvSpPr>
        <p:spPr bwMode="auto">
          <a:xfrm>
            <a:off x="4724400" y="5461001"/>
            <a:ext cx="266780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sz="2400" b="1">
                <a:solidFill>
                  <a:srgbClr val="00CC00"/>
                </a:solidFill>
                <a:latin typeface="Times New Roman" pitchFamily="18" charset="0"/>
              </a:rPr>
              <a:t>Chọn nút có khóa nhỏ nhất bên phải</a:t>
            </a:r>
          </a:p>
        </p:txBody>
      </p:sp>
      <p:sp>
        <p:nvSpPr>
          <p:cNvPr id="421946" name="Line 93"/>
          <p:cNvSpPr>
            <a:spLocks noChangeShapeType="1"/>
          </p:cNvSpPr>
          <p:nvPr/>
        </p:nvSpPr>
        <p:spPr bwMode="auto">
          <a:xfrm flipH="1" flipV="1">
            <a:off x="3962400" y="5232400"/>
            <a:ext cx="762000" cy="609600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6151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21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21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945" grpId="0"/>
      <p:bldP spid="421946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542809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Ví dụ xóa x = 25</a:t>
            </a:r>
          </a:p>
        </p:txBody>
      </p:sp>
      <p:grpSp>
        <p:nvGrpSpPr>
          <p:cNvPr id="65539" name="Group 8"/>
          <p:cNvGrpSpPr>
            <a:grpSpLocks/>
          </p:cNvGrpSpPr>
          <p:nvPr/>
        </p:nvGrpSpPr>
        <p:grpSpPr bwMode="auto">
          <a:xfrm>
            <a:off x="5791200" y="1866900"/>
            <a:ext cx="685800" cy="381000"/>
            <a:chOff x="1872" y="1824"/>
            <a:chExt cx="432" cy="240"/>
          </a:xfrm>
        </p:grpSpPr>
        <p:sp>
          <p:nvSpPr>
            <p:cNvPr id="65608" name="AutoShape 4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52</a:t>
              </a:r>
            </a:p>
          </p:txBody>
        </p:sp>
        <p:sp>
          <p:nvSpPr>
            <p:cNvPr id="65609" name="Line 5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5610" name="Line 7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5540" name="Group 9"/>
          <p:cNvGrpSpPr>
            <a:grpSpLocks/>
          </p:cNvGrpSpPr>
          <p:nvPr/>
        </p:nvGrpSpPr>
        <p:grpSpPr bwMode="auto">
          <a:xfrm>
            <a:off x="3581400" y="2933700"/>
            <a:ext cx="685800" cy="381000"/>
            <a:chOff x="1872" y="1824"/>
            <a:chExt cx="432" cy="240"/>
          </a:xfrm>
        </p:grpSpPr>
        <p:sp>
          <p:nvSpPr>
            <p:cNvPr id="62474" name="AutoShape 10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24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25</a:t>
              </a:r>
            </a:p>
          </p:txBody>
        </p:sp>
        <p:sp>
          <p:nvSpPr>
            <p:cNvPr id="65606" name="Line 11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5607" name="Line 12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5541" name="Group 13"/>
          <p:cNvGrpSpPr>
            <a:grpSpLocks/>
          </p:cNvGrpSpPr>
          <p:nvPr/>
        </p:nvGrpSpPr>
        <p:grpSpPr bwMode="auto">
          <a:xfrm>
            <a:off x="8077200" y="2933700"/>
            <a:ext cx="685800" cy="381000"/>
            <a:chOff x="1872" y="1824"/>
            <a:chExt cx="432" cy="240"/>
          </a:xfrm>
        </p:grpSpPr>
        <p:sp>
          <p:nvSpPr>
            <p:cNvPr id="65602" name="AutoShape 14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66</a:t>
              </a:r>
            </a:p>
          </p:txBody>
        </p:sp>
        <p:sp>
          <p:nvSpPr>
            <p:cNvPr id="65603" name="Line 15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5604" name="Line 16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5542" name="Group 17"/>
          <p:cNvGrpSpPr>
            <a:grpSpLocks/>
          </p:cNvGrpSpPr>
          <p:nvPr/>
        </p:nvGrpSpPr>
        <p:grpSpPr bwMode="auto">
          <a:xfrm>
            <a:off x="2514600" y="3848100"/>
            <a:ext cx="685800" cy="381000"/>
            <a:chOff x="1872" y="1824"/>
            <a:chExt cx="432" cy="240"/>
          </a:xfrm>
        </p:grpSpPr>
        <p:sp>
          <p:nvSpPr>
            <p:cNvPr id="65599" name="AutoShape 18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15</a:t>
              </a:r>
            </a:p>
          </p:txBody>
        </p:sp>
        <p:sp>
          <p:nvSpPr>
            <p:cNvPr id="65600" name="Line 19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5601" name="Line 20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5543" name="Group 21"/>
          <p:cNvGrpSpPr>
            <a:grpSpLocks/>
          </p:cNvGrpSpPr>
          <p:nvPr/>
        </p:nvGrpSpPr>
        <p:grpSpPr bwMode="auto">
          <a:xfrm>
            <a:off x="4648200" y="3848100"/>
            <a:ext cx="685800" cy="381000"/>
            <a:chOff x="1872" y="1824"/>
            <a:chExt cx="432" cy="240"/>
          </a:xfrm>
        </p:grpSpPr>
        <p:sp>
          <p:nvSpPr>
            <p:cNvPr id="65596" name="AutoShape 22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39</a:t>
              </a:r>
            </a:p>
          </p:txBody>
        </p:sp>
        <p:sp>
          <p:nvSpPr>
            <p:cNvPr id="65597" name="Line 23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5598" name="Line 24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5544" name="Group 25"/>
          <p:cNvGrpSpPr>
            <a:grpSpLocks/>
          </p:cNvGrpSpPr>
          <p:nvPr/>
        </p:nvGrpSpPr>
        <p:grpSpPr bwMode="auto">
          <a:xfrm>
            <a:off x="1981200" y="4686300"/>
            <a:ext cx="685800" cy="381000"/>
            <a:chOff x="1872" y="1824"/>
            <a:chExt cx="432" cy="240"/>
          </a:xfrm>
        </p:grpSpPr>
        <p:sp>
          <p:nvSpPr>
            <p:cNvPr id="65593" name="AutoShape 26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65594" name="Line 27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5595" name="Line 28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5545" name="Group 29"/>
          <p:cNvGrpSpPr>
            <a:grpSpLocks/>
          </p:cNvGrpSpPr>
          <p:nvPr/>
        </p:nvGrpSpPr>
        <p:grpSpPr bwMode="auto">
          <a:xfrm>
            <a:off x="3048000" y="4686300"/>
            <a:ext cx="685800" cy="381000"/>
            <a:chOff x="1872" y="1824"/>
            <a:chExt cx="432" cy="240"/>
          </a:xfrm>
        </p:grpSpPr>
        <p:sp>
          <p:nvSpPr>
            <p:cNvPr id="65590" name="AutoShape 30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19</a:t>
              </a:r>
            </a:p>
          </p:txBody>
        </p:sp>
        <p:sp>
          <p:nvSpPr>
            <p:cNvPr id="65591" name="Line 31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5592" name="Line 32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5546" name="Group 33"/>
          <p:cNvGrpSpPr>
            <a:grpSpLocks/>
          </p:cNvGrpSpPr>
          <p:nvPr/>
        </p:nvGrpSpPr>
        <p:grpSpPr bwMode="auto">
          <a:xfrm>
            <a:off x="4114800" y="4686300"/>
            <a:ext cx="685800" cy="381000"/>
            <a:chOff x="1872" y="1824"/>
            <a:chExt cx="432" cy="240"/>
          </a:xfrm>
        </p:grpSpPr>
        <p:sp>
          <p:nvSpPr>
            <p:cNvPr id="65587" name="AutoShape 34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27</a:t>
              </a:r>
            </a:p>
          </p:txBody>
        </p:sp>
        <p:sp>
          <p:nvSpPr>
            <p:cNvPr id="65588" name="Line 35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5589" name="Line 36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5547" name="Group 37"/>
          <p:cNvGrpSpPr>
            <a:grpSpLocks/>
          </p:cNvGrpSpPr>
          <p:nvPr/>
        </p:nvGrpSpPr>
        <p:grpSpPr bwMode="auto">
          <a:xfrm>
            <a:off x="5181600" y="4686300"/>
            <a:ext cx="685800" cy="381000"/>
            <a:chOff x="1872" y="1824"/>
            <a:chExt cx="432" cy="240"/>
          </a:xfrm>
        </p:grpSpPr>
        <p:sp>
          <p:nvSpPr>
            <p:cNvPr id="65584" name="AutoShape 38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42</a:t>
              </a:r>
            </a:p>
          </p:txBody>
        </p:sp>
        <p:sp>
          <p:nvSpPr>
            <p:cNvPr id="65585" name="Line 39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5586" name="Line 40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5548" name="Group 41"/>
          <p:cNvGrpSpPr>
            <a:grpSpLocks/>
          </p:cNvGrpSpPr>
          <p:nvPr/>
        </p:nvGrpSpPr>
        <p:grpSpPr bwMode="auto">
          <a:xfrm>
            <a:off x="4724400" y="5600700"/>
            <a:ext cx="685800" cy="381000"/>
            <a:chOff x="1872" y="1824"/>
            <a:chExt cx="432" cy="240"/>
          </a:xfrm>
        </p:grpSpPr>
        <p:sp>
          <p:nvSpPr>
            <p:cNvPr id="65581" name="AutoShape 42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31</a:t>
              </a:r>
            </a:p>
          </p:txBody>
        </p:sp>
        <p:sp>
          <p:nvSpPr>
            <p:cNvPr id="65582" name="Line 43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5583" name="Line 44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5549" name="Group 45"/>
          <p:cNvGrpSpPr>
            <a:grpSpLocks/>
          </p:cNvGrpSpPr>
          <p:nvPr/>
        </p:nvGrpSpPr>
        <p:grpSpPr bwMode="auto">
          <a:xfrm>
            <a:off x="7239000" y="3848100"/>
            <a:ext cx="685800" cy="381000"/>
            <a:chOff x="1872" y="1824"/>
            <a:chExt cx="432" cy="240"/>
          </a:xfrm>
        </p:grpSpPr>
        <p:sp>
          <p:nvSpPr>
            <p:cNvPr id="65578" name="AutoShape 46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60</a:t>
              </a:r>
            </a:p>
          </p:txBody>
        </p:sp>
        <p:sp>
          <p:nvSpPr>
            <p:cNvPr id="65579" name="Line 47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5580" name="Line 48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5550" name="Group 49"/>
          <p:cNvGrpSpPr>
            <a:grpSpLocks/>
          </p:cNvGrpSpPr>
          <p:nvPr/>
        </p:nvGrpSpPr>
        <p:grpSpPr bwMode="auto">
          <a:xfrm>
            <a:off x="8991600" y="3848100"/>
            <a:ext cx="685800" cy="381000"/>
            <a:chOff x="1872" y="1824"/>
            <a:chExt cx="432" cy="240"/>
          </a:xfrm>
        </p:grpSpPr>
        <p:sp>
          <p:nvSpPr>
            <p:cNvPr id="65575" name="AutoShape 50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99</a:t>
              </a:r>
            </a:p>
          </p:txBody>
        </p:sp>
        <p:sp>
          <p:nvSpPr>
            <p:cNvPr id="65576" name="Line 51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5577" name="Line 52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5551" name="Group 53"/>
          <p:cNvGrpSpPr>
            <a:grpSpLocks/>
          </p:cNvGrpSpPr>
          <p:nvPr/>
        </p:nvGrpSpPr>
        <p:grpSpPr bwMode="auto">
          <a:xfrm>
            <a:off x="6705600" y="4686300"/>
            <a:ext cx="685800" cy="381000"/>
            <a:chOff x="1872" y="1824"/>
            <a:chExt cx="432" cy="240"/>
          </a:xfrm>
        </p:grpSpPr>
        <p:sp>
          <p:nvSpPr>
            <p:cNvPr id="65572" name="AutoShape 54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58</a:t>
              </a:r>
            </a:p>
          </p:txBody>
        </p:sp>
        <p:sp>
          <p:nvSpPr>
            <p:cNvPr id="65573" name="Line 55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5574" name="Line 56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5552" name="Group 57"/>
          <p:cNvGrpSpPr>
            <a:grpSpLocks/>
          </p:cNvGrpSpPr>
          <p:nvPr/>
        </p:nvGrpSpPr>
        <p:grpSpPr bwMode="auto">
          <a:xfrm>
            <a:off x="7772400" y="4686300"/>
            <a:ext cx="685800" cy="381000"/>
            <a:chOff x="1872" y="1824"/>
            <a:chExt cx="432" cy="240"/>
          </a:xfrm>
        </p:grpSpPr>
        <p:sp>
          <p:nvSpPr>
            <p:cNvPr id="65569" name="AutoShape 58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62</a:t>
              </a:r>
            </a:p>
          </p:txBody>
        </p:sp>
        <p:sp>
          <p:nvSpPr>
            <p:cNvPr id="65570" name="Line 59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5571" name="Line 60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sp>
        <p:nvSpPr>
          <p:cNvPr id="65553" name="Line 62"/>
          <p:cNvSpPr>
            <a:spLocks noChangeShapeType="1"/>
          </p:cNvSpPr>
          <p:nvPr/>
        </p:nvSpPr>
        <p:spPr bwMode="auto">
          <a:xfrm flipH="1">
            <a:off x="3886200" y="2019300"/>
            <a:ext cx="1981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5554" name="Line 63"/>
          <p:cNvSpPr>
            <a:spLocks noChangeShapeType="1"/>
          </p:cNvSpPr>
          <p:nvPr/>
        </p:nvSpPr>
        <p:spPr bwMode="auto">
          <a:xfrm>
            <a:off x="6400800" y="2019300"/>
            <a:ext cx="2057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5555" name="Line 64"/>
          <p:cNvSpPr>
            <a:spLocks noChangeShapeType="1"/>
          </p:cNvSpPr>
          <p:nvPr/>
        </p:nvSpPr>
        <p:spPr bwMode="auto">
          <a:xfrm flipH="1">
            <a:off x="2819400" y="3162300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5556" name="Line 65"/>
          <p:cNvSpPr>
            <a:spLocks noChangeShapeType="1"/>
          </p:cNvSpPr>
          <p:nvPr/>
        </p:nvSpPr>
        <p:spPr bwMode="auto">
          <a:xfrm>
            <a:off x="4191000" y="3162300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5557" name="Line 66"/>
          <p:cNvSpPr>
            <a:spLocks noChangeShapeType="1"/>
          </p:cNvSpPr>
          <p:nvPr/>
        </p:nvSpPr>
        <p:spPr bwMode="auto">
          <a:xfrm flipH="1">
            <a:off x="2362200" y="4000500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5558" name="Line 67"/>
          <p:cNvSpPr>
            <a:spLocks noChangeShapeType="1"/>
          </p:cNvSpPr>
          <p:nvPr/>
        </p:nvSpPr>
        <p:spPr bwMode="auto">
          <a:xfrm>
            <a:off x="3124200" y="4000500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5559" name="Line 68"/>
          <p:cNvSpPr>
            <a:spLocks noChangeShapeType="1"/>
          </p:cNvSpPr>
          <p:nvPr/>
        </p:nvSpPr>
        <p:spPr bwMode="auto">
          <a:xfrm flipH="1">
            <a:off x="4419600" y="4000500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5560" name="Line 69"/>
          <p:cNvSpPr>
            <a:spLocks noChangeShapeType="1"/>
          </p:cNvSpPr>
          <p:nvPr/>
        </p:nvSpPr>
        <p:spPr bwMode="auto">
          <a:xfrm>
            <a:off x="5257800" y="4000500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5561" name="Line 70"/>
          <p:cNvSpPr>
            <a:spLocks noChangeShapeType="1"/>
          </p:cNvSpPr>
          <p:nvPr/>
        </p:nvSpPr>
        <p:spPr bwMode="auto">
          <a:xfrm>
            <a:off x="4724400" y="48387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5562" name="Line 71"/>
          <p:cNvSpPr>
            <a:spLocks noChangeShapeType="1"/>
          </p:cNvSpPr>
          <p:nvPr/>
        </p:nvSpPr>
        <p:spPr bwMode="auto">
          <a:xfrm flipH="1">
            <a:off x="7543800" y="3086100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5563" name="Line 72"/>
          <p:cNvSpPr>
            <a:spLocks noChangeShapeType="1"/>
          </p:cNvSpPr>
          <p:nvPr/>
        </p:nvSpPr>
        <p:spPr bwMode="auto">
          <a:xfrm>
            <a:off x="8686800" y="3086100"/>
            <a:ext cx="685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5564" name="Line 73"/>
          <p:cNvSpPr>
            <a:spLocks noChangeShapeType="1"/>
          </p:cNvSpPr>
          <p:nvPr/>
        </p:nvSpPr>
        <p:spPr bwMode="auto">
          <a:xfrm flipH="1">
            <a:off x="7086600" y="4000500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5565" name="Line 74"/>
          <p:cNvSpPr>
            <a:spLocks noChangeShapeType="1"/>
          </p:cNvSpPr>
          <p:nvPr/>
        </p:nvSpPr>
        <p:spPr bwMode="auto">
          <a:xfrm>
            <a:off x="7848600" y="4000500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5566" name="Rectangle 76"/>
          <p:cNvSpPr>
            <a:spLocks noChangeArrowheads="1"/>
          </p:cNvSpPr>
          <p:nvPr/>
        </p:nvSpPr>
        <p:spPr bwMode="auto">
          <a:xfrm>
            <a:off x="3352800" y="2781300"/>
            <a:ext cx="1143000" cy="6858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65567" name="Freeform 79"/>
          <p:cNvSpPr>
            <a:spLocks/>
          </p:cNvSpPr>
          <p:nvPr/>
        </p:nvSpPr>
        <p:spPr bwMode="auto">
          <a:xfrm>
            <a:off x="2819400" y="2298700"/>
            <a:ext cx="1066800" cy="635000"/>
          </a:xfrm>
          <a:custGeom>
            <a:avLst/>
            <a:gdLst>
              <a:gd name="T0" fmla="*/ 0 w 672"/>
              <a:gd name="T1" fmla="*/ 2147483647 h 400"/>
              <a:gd name="T2" fmla="*/ 2147483647 w 672"/>
              <a:gd name="T3" fmla="*/ 2147483647 h 400"/>
              <a:gd name="T4" fmla="*/ 2147483647 w 672"/>
              <a:gd name="T5" fmla="*/ 2147483647 h 400"/>
              <a:gd name="T6" fmla="*/ 0 60000 65536"/>
              <a:gd name="T7" fmla="*/ 0 60000 65536"/>
              <a:gd name="T8" fmla="*/ 0 60000 65536"/>
              <a:gd name="T9" fmla="*/ 0 w 672"/>
              <a:gd name="T10" fmla="*/ 0 h 400"/>
              <a:gd name="T11" fmla="*/ 672 w 672"/>
              <a:gd name="T12" fmla="*/ 400 h 4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2" h="400">
                <a:moveTo>
                  <a:pt x="0" y="16"/>
                </a:moveTo>
                <a:cubicBezTo>
                  <a:pt x="208" y="8"/>
                  <a:pt x="416" y="0"/>
                  <a:pt x="528" y="64"/>
                </a:cubicBezTo>
                <a:cubicBezTo>
                  <a:pt x="640" y="128"/>
                  <a:pt x="656" y="264"/>
                  <a:pt x="672" y="400"/>
                </a:cubicBezTo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5568" name="Rectangle 80"/>
          <p:cNvSpPr>
            <a:spLocks noChangeArrowheads="1"/>
          </p:cNvSpPr>
          <p:nvPr/>
        </p:nvSpPr>
        <p:spPr bwMode="auto">
          <a:xfrm>
            <a:off x="2438400" y="2019300"/>
            <a:ext cx="381000" cy="609600"/>
          </a:xfrm>
          <a:prstGeom prst="rect">
            <a:avLst/>
          </a:prstGeom>
          <a:solidFill>
            <a:srgbClr val="800080">
              <a:alpha val="54117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chemeClr val="bg1"/>
                </a:solidFill>
                <a:latin typeface="Times New Roman" pitchFamily="18" charset="0"/>
              </a:rPr>
              <a:t>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394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75515" y="459286"/>
            <a:ext cx="5410200" cy="721861"/>
          </a:xfrm>
        </p:spPr>
        <p:txBody>
          <a:bodyPr/>
          <a:lstStyle/>
          <a:p>
            <a:pPr eaLnBrk="1" hangingPunct="1"/>
            <a:r>
              <a:rPr lang="en-US" smtClean="0"/>
              <a:t>Ví dụ xóa x = 25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863600" y="1459746"/>
            <a:ext cx="7696200" cy="4350973"/>
            <a:chOff x="863600" y="1459746"/>
            <a:chExt cx="7696200" cy="4350973"/>
          </a:xfrm>
        </p:grpSpPr>
        <p:grpSp>
          <p:nvGrpSpPr>
            <p:cNvPr id="66563" name="Group 4"/>
            <p:cNvGrpSpPr>
              <a:grpSpLocks/>
            </p:cNvGrpSpPr>
            <p:nvPr/>
          </p:nvGrpSpPr>
          <p:grpSpPr bwMode="auto">
            <a:xfrm>
              <a:off x="4673600" y="1543519"/>
              <a:ext cx="685800" cy="381000"/>
              <a:chOff x="1872" y="1824"/>
              <a:chExt cx="432" cy="240"/>
            </a:xfrm>
          </p:grpSpPr>
          <p:sp>
            <p:nvSpPr>
              <p:cNvPr id="66637" name="AutoShape 5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32" cy="24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400">
                    <a:solidFill>
                      <a:schemeClr val="bg1"/>
                    </a:solidFill>
                    <a:latin typeface="Times New Roman" pitchFamily="18" charset="0"/>
                  </a:rPr>
                  <a:t>52</a:t>
                </a:r>
              </a:p>
            </p:txBody>
          </p:sp>
          <p:sp>
            <p:nvSpPr>
              <p:cNvPr id="66638" name="Line 6"/>
              <p:cNvSpPr>
                <a:spLocks noChangeShapeType="1"/>
              </p:cNvSpPr>
              <p:nvPr/>
            </p:nvSpPr>
            <p:spPr bwMode="auto">
              <a:xfrm>
                <a:off x="196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  <p:sp>
            <p:nvSpPr>
              <p:cNvPr id="66639" name="Line 7"/>
              <p:cNvSpPr>
                <a:spLocks noChangeShapeType="1"/>
              </p:cNvSpPr>
              <p:nvPr/>
            </p:nvSpPr>
            <p:spPr bwMode="auto">
              <a:xfrm>
                <a:off x="220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6564" name="Group 8"/>
            <p:cNvGrpSpPr>
              <a:grpSpLocks/>
            </p:cNvGrpSpPr>
            <p:nvPr/>
          </p:nvGrpSpPr>
          <p:grpSpPr bwMode="auto">
            <a:xfrm>
              <a:off x="2463800" y="2610319"/>
              <a:ext cx="685800" cy="381000"/>
              <a:chOff x="1872" y="1824"/>
              <a:chExt cx="432" cy="240"/>
            </a:xfrm>
          </p:grpSpPr>
          <p:sp>
            <p:nvSpPr>
              <p:cNvPr id="63497" name="AutoShape 9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32" cy="24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240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</a:rPr>
                  <a:t>25</a:t>
                </a:r>
              </a:p>
            </p:txBody>
          </p:sp>
          <p:sp>
            <p:nvSpPr>
              <p:cNvPr id="66635" name="Line 10"/>
              <p:cNvSpPr>
                <a:spLocks noChangeShapeType="1"/>
              </p:cNvSpPr>
              <p:nvPr/>
            </p:nvSpPr>
            <p:spPr bwMode="auto">
              <a:xfrm>
                <a:off x="196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  <p:sp>
            <p:nvSpPr>
              <p:cNvPr id="66636" name="Line 11"/>
              <p:cNvSpPr>
                <a:spLocks noChangeShapeType="1"/>
              </p:cNvSpPr>
              <p:nvPr/>
            </p:nvSpPr>
            <p:spPr bwMode="auto">
              <a:xfrm>
                <a:off x="220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6565" name="Group 12"/>
            <p:cNvGrpSpPr>
              <a:grpSpLocks/>
            </p:cNvGrpSpPr>
            <p:nvPr/>
          </p:nvGrpSpPr>
          <p:grpSpPr bwMode="auto">
            <a:xfrm>
              <a:off x="6959600" y="2610319"/>
              <a:ext cx="685800" cy="381000"/>
              <a:chOff x="1872" y="1824"/>
              <a:chExt cx="432" cy="240"/>
            </a:xfrm>
          </p:grpSpPr>
          <p:sp>
            <p:nvSpPr>
              <p:cNvPr id="66631" name="AutoShape 13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32" cy="24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400">
                    <a:solidFill>
                      <a:schemeClr val="bg1"/>
                    </a:solidFill>
                    <a:latin typeface="Times New Roman" pitchFamily="18" charset="0"/>
                  </a:rPr>
                  <a:t>66</a:t>
                </a:r>
              </a:p>
            </p:txBody>
          </p:sp>
          <p:sp>
            <p:nvSpPr>
              <p:cNvPr id="66632" name="Line 14"/>
              <p:cNvSpPr>
                <a:spLocks noChangeShapeType="1"/>
              </p:cNvSpPr>
              <p:nvPr/>
            </p:nvSpPr>
            <p:spPr bwMode="auto">
              <a:xfrm>
                <a:off x="196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  <p:sp>
            <p:nvSpPr>
              <p:cNvPr id="66633" name="Line 15"/>
              <p:cNvSpPr>
                <a:spLocks noChangeShapeType="1"/>
              </p:cNvSpPr>
              <p:nvPr/>
            </p:nvSpPr>
            <p:spPr bwMode="auto">
              <a:xfrm>
                <a:off x="220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6566" name="Group 16"/>
            <p:cNvGrpSpPr>
              <a:grpSpLocks/>
            </p:cNvGrpSpPr>
            <p:nvPr/>
          </p:nvGrpSpPr>
          <p:grpSpPr bwMode="auto">
            <a:xfrm>
              <a:off x="1397000" y="3524719"/>
              <a:ext cx="685800" cy="381000"/>
              <a:chOff x="1872" y="1824"/>
              <a:chExt cx="432" cy="240"/>
            </a:xfrm>
          </p:grpSpPr>
          <p:sp>
            <p:nvSpPr>
              <p:cNvPr id="66628" name="AutoShape 17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32" cy="24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400">
                    <a:solidFill>
                      <a:schemeClr val="bg1"/>
                    </a:solidFill>
                    <a:latin typeface="Times New Roman" pitchFamily="18" charset="0"/>
                  </a:rPr>
                  <a:t>15</a:t>
                </a:r>
              </a:p>
            </p:txBody>
          </p:sp>
          <p:sp>
            <p:nvSpPr>
              <p:cNvPr id="66629" name="Line 18"/>
              <p:cNvSpPr>
                <a:spLocks noChangeShapeType="1"/>
              </p:cNvSpPr>
              <p:nvPr/>
            </p:nvSpPr>
            <p:spPr bwMode="auto">
              <a:xfrm>
                <a:off x="196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  <p:sp>
            <p:nvSpPr>
              <p:cNvPr id="66630" name="Line 19"/>
              <p:cNvSpPr>
                <a:spLocks noChangeShapeType="1"/>
              </p:cNvSpPr>
              <p:nvPr/>
            </p:nvSpPr>
            <p:spPr bwMode="auto">
              <a:xfrm>
                <a:off x="220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6567" name="Group 20"/>
            <p:cNvGrpSpPr>
              <a:grpSpLocks/>
            </p:cNvGrpSpPr>
            <p:nvPr/>
          </p:nvGrpSpPr>
          <p:grpSpPr bwMode="auto">
            <a:xfrm>
              <a:off x="3530600" y="3524719"/>
              <a:ext cx="685800" cy="381000"/>
              <a:chOff x="1872" y="1824"/>
              <a:chExt cx="432" cy="240"/>
            </a:xfrm>
          </p:grpSpPr>
          <p:sp>
            <p:nvSpPr>
              <p:cNvPr id="66625" name="AutoShape 21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32" cy="24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400">
                    <a:solidFill>
                      <a:schemeClr val="bg1"/>
                    </a:solidFill>
                    <a:latin typeface="Times New Roman" pitchFamily="18" charset="0"/>
                  </a:rPr>
                  <a:t>39</a:t>
                </a:r>
              </a:p>
            </p:txBody>
          </p:sp>
          <p:sp>
            <p:nvSpPr>
              <p:cNvPr id="66626" name="Line 22"/>
              <p:cNvSpPr>
                <a:spLocks noChangeShapeType="1"/>
              </p:cNvSpPr>
              <p:nvPr/>
            </p:nvSpPr>
            <p:spPr bwMode="auto">
              <a:xfrm>
                <a:off x="196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  <p:sp>
            <p:nvSpPr>
              <p:cNvPr id="66627" name="Line 23"/>
              <p:cNvSpPr>
                <a:spLocks noChangeShapeType="1"/>
              </p:cNvSpPr>
              <p:nvPr/>
            </p:nvSpPr>
            <p:spPr bwMode="auto">
              <a:xfrm>
                <a:off x="220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6568" name="Group 24"/>
            <p:cNvGrpSpPr>
              <a:grpSpLocks/>
            </p:cNvGrpSpPr>
            <p:nvPr/>
          </p:nvGrpSpPr>
          <p:grpSpPr bwMode="auto">
            <a:xfrm>
              <a:off x="863600" y="4362919"/>
              <a:ext cx="685800" cy="381000"/>
              <a:chOff x="1872" y="1824"/>
              <a:chExt cx="432" cy="240"/>
            </a:xfrm>
          </p:grpSpPr>
          <p:sp>
            <p:nvSpPr>
              <p:cNvPr id="66622" name="AutoShape 25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32" cy="24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400">
                    <a:solidFill>
                      <a:schemeClr val="bg1"/>
                    </a:solidFill>
                    <a:latin typeface="Times New Roman" pitchFamily="18" charset="0"/>
                  </a:rPr>
                  <a:t>9</a:t>
                </a:r>
              </a:p>
            </p:txBody>
          </p:sp>
          <p:sp>
            <p:nvSpPr>
              <p:cNvPr id="66623" name="Line 26"/>
              <p:cNvSpPr>
                <a:spLocks noChangeShapeType="1"/>
              </p:cNvSpPr>
              <p:nvPr/>
            </p:nvSpPr>
            <p:spPr bwMode="auto">
              <a:xfrm>
                <a:off x="196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  <p:sp>
            <p:nvSpPr>
              <p:cNvPr id="66624" name="Line 27"/>
              <p:cNvSpPr>
                <a:spLocks noChangeShapeType="1"/>
              </p:cNvSpPr>
              <p:nvPr/>
            </p:nvSpPr>
            <p:spPr bwMode="auto">
              <a:xfrm>
                <a:off x="220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6569" name="Group 28"/>
            <p:cNvGrpSpPr>
              <a:grpSpLocks/>
            </p:cNvGrpSpPr>
            <p:nvPr/>
          </p:nvGrpSpPr>
          <p:grpSpPr bwMode="auto">
            <a:xfrm>
              <a:off x="1930400" y="4362919"/>
              <a:ext cx="685800" cy="381000"/>
              <a:chOff x="1872" y="1824"/>
              <a:chExt cx="432" cy="240"/>
            </a:xfrm>
          </p:grpSpPr>
          <p:sp>
            <p:nvSpPr>
              <p:cNvPr id="66619" name="AutoShape 29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32" cy="24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400">
                    <a:solidFill>
                      <a:schemeClr val="bg1"/>
                    </a:solidFill>
                    <a:latin typeface="Times New Roman" pitchFamily="18" charset="0"/>
                  </a:rPr>
                  <a:t>19</a:t>
                </a:r>
              </a:p>
            </p:txBody>
          </p:sp>
          <p:sp>
            <p:nvSpPr>
              <p:cNvPr id="66620" name="Line 30"/>
              <p:cNvSpPr>
                <a:spLocks noChangeShapeType="1"/>
              </p:cNvSpPr>
              <p:nvPr/>
            </p:nvSpPr>
            <p:spPr bwMode="auto">
              <a:xfrm>
                <a:off x="196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  <p:sp>
            <p:nvSpPr>
              <p:cNvPr id="66621" name="Line 31"/>
              <p:cNvSpPr>
                <a:spLocks noChangeShapeType="1"/>
              </p:cNvSpPr>
              <p:nvPr/>
            </p:nvSpPr>
            <p:spPr bwMode="auto">
              <a:xfrm>
                <a:off x="220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6570" name="Group 32"/>
            <p:cNvGrpSpPr>
              <a:grpSpLocks/>
            </p:cNvGrpSpPr>
            <p:nvPr/>
          </p:nvGrpSpPr>
          <p:grpSpPr bwMode="auto">
            <a:xfrm>
              <a:off x="2997200" y="4362919"/>
              <a:ext cx="685800" cy="381000"/>
              <a:chOff x="1872" y="1824"/>
              <a:chExt cx="432" cy="240"/>
            </a:xfrm>
          </p:grpSpPr>
          <p:sp>
            <p:nvSpPr>
              <p:cNvPr id="63521" name="AutoShape 33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32" cy="24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2400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</a:rPr>
                  <a:t>27</a:t>
                </a:r>
              </a:p>
            </p:txBody>
          </p:sp>
          <p:sp>
            <p:nvSpPr>
              <p:cNvPr id="66617" name="Line 34"/>
              <p:cNvSpPr>
                <a:spLocks noChangeShapeType="1"/>
              </p:cNvSpPr>
              <p:nvPr/>
            </p:nvSpPr>
            <p:spPr bwMode="auto">
              <a:xfrm>
                <a:off x="196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  <p:sp>
            <p:nvSpPr>
              <p:cNvPr id="66618" name="Line 35"/>
              <p:cNvSpPr>
                <a:spLocks noChangeShapeType="1"/>
              </p:cNvSpPr>
              <p:nvPr/>
            </p:nvSpPr>
            <p:spPr bwMode="auto">
              <a:xfrm>
                <a:off x="220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6571" name="Group 36"/>
            <p:cNvGrpSpPr>
              <a:grpSpLocks/>
            </p:cNvGrpSpPr>
            <p:nvPr/>
          </p:nvGrpSpPr>
          <p:grpSpPr bwMode="auto">
            <a:xfrm>
              <a:off x="4064000" y="4362919"/>
              <a:ext cx="685800" cy="381000"/>
              <a:chOff x="1872" y="1824"/>
              <a:chExt cx="432" cy="240"/>
            </a:xfrm>
          </p:grpSpPr>
          <p:sp>
            <p:nvSpPr>
              <p:cNvPr id="66613" name="AutoShape 37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32" cy="24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400">
                    <a:solidFill>
                      <a:schemeClr val="bg1"/>
                    </a:solidFill>
                    <a:latin typeface="Times New Roman" pitchFamily="18" charset="0"/>
                  </a:rPr>
                  <a:t>42</a:t>
                </a:r>
              </a:p>
            </p:txBody>
          </p:sp>
          <p:sp>
            <p:nvSpPr>
              <p:cNvPr id="66614" name="Line 38"/>
              <p:cNvSpPr>
                <a:spLocks noChangeShapeType="1"/>
              </p:cNvSpPr>
              <p:nvPr/>
            </p:nvSpPr>
            <p:spPr bwMode="auto">
              <a:xfrm>
                <a:off x="196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  <p:sp>
            <p:nvSpPr>
              <p:cNvPr id="66615" name="Line 39"/>
              <p:cNvSpPr>
                <a:spLocks noChangeShapeType="1"/>
              </p:cNvSpPr>
              <p:nvPr/>
            </p:nvSpPr>
            <p:spPr bwMode="auto">
              <a:xfrm>
                <a:off x="220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6572" name="Group 40"/>
            <p:cNvGrpSpPr>
              <a:grpSpLocks/>
            </p:cNvGrpSpPr>
            <p:nvPr/>
          </p:nvGrpSpPr>
          <p:grpSpPr bwMode="auto">
            <a:xfrm>
              <a:off x="3606800" y="5277319"/>
              <a:ext cx="685800" cy="381000"/>
              <a:chOff x="1872" y="1824"/>
              <a:chExt cx="432" cy="240"/>
            </a:xfrm>
          </p:grpSpPr>
          <p:sp>
            <p:nvSpPr>
              <p:cNvPr id="66610" name="AutoShape 41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32" cy="24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400">
                    <a:solidFill>
                      <a:schemeClr val="bg1"/>
                    </a:solidFill>
                    <a:latin typeface="Times New Roman" pitchFamily="18" charset="0"/>
                  </a:rPr>
                  <a:t>31</a:t>
                </a:r>
              </a:p>
            </p:txBody>
          </p:sp>
          <p:sp>
            <p:nvSpPr>
              <p:cNvPr id="66611" name="Line 42"/>
              <p:cNvSpPr>
                <a:spLocks noChangeShapeType="1"/>
              </p:cNvSpPr>
              <p:nvPr/>
            </p:nvSpPr>
            <p:spPr bwMode="auto">
              <a:xfrm>
                <a:off x="196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  <p:sp>
            <p:nvSpPr>
              <p:cNvPr id="66612" name="Line 43"/>
              <p:cNvSpPr>
                <a:spLocks noChangeShapeType="1"/>
              </p:cNvSpPr>
              <p:nvPr/>
            </p:nvSpPr>
            <p:spPr bwMode="auto">
              <a:xfrm>
                <a:off x="220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6573" name="Group 44"/>
            <p:cNvGrpSpPr>
              <a:grpSpLocks/>
            </p:cNvGrpSpPr>
            <p:nvPr/>
          </p:nvGrpSpPr>
          <p:grpSpPr bwMode="auto">
            <a:xfrm>
              <a:off x="6121400" y="3524719"/>
              <a:ext cx="685800" cy="381000"/>
              <a:chOff x="1872" y="1824"/>
              <a:chExt cx="432" cy="240"/>
            </a:xfrm>
          </p:grpSpPr>
          <p:sp>
            <p:nvSpPr>
              <p:cNvPr id="66607" name="AutoShape 45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32" cy="24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400">
                    <a:solidFill>
                      <a:schemeClr val="bg1"/>
                    </a:solidFill>
                    <a:latin typeface="Times New Roman" pitchFamily="18" charset="0"/>
                  </a:rPr>
                  <a:t>60</a:t>
                </a:r>
              </a:p>
            </p:txBody>
          </p:sp>
          <p:sp>
            <p:nvSpPr>
              <p:cNvPr id="66608" name="Line 46"/>
              <p:cNvSpPr>
                <a:spLocks noChangeShapeType="1"/>
              </p:cNvSpPr>
              <p:nvPr/>
            </p:nvSpPr>
            <p:spPr bwMode="auto">
              <a:xfrm>
                <a:off x="196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  <p:sp>
            <p:nvSpPr>
              <p:cNvPr id="66609" name="Line 47"/>
              <p:cNvSpPr>
                <a:spLocks noChangeShapeType="1"/>
              </p:cNvSpPr>
              <p:nvPr/>
            </p:nvSpPr>
            <p:spPr bwMode="auto">
              <a:xfrm>
                <a:off x="220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6574" name="Group 48"/>
            <p:cNvGrpSpPr>
              <a:grpSpLocks/>
            </p:cNvGrpSpPr>
            <p:nvPr/>
          </p:nvGrpSpPr>
          <p:grpSpPr bwMode="auto">
            <a:xfrm>
              <a:off x="7874000" y="3524719"/>
              <a:ext cx="685800" cy="381000"/>
              <a:chOff x="1872" y="1824"/>
              <a:chExt cx="432" cy="240"/>
            </a:xfrm>
          </p:grpSpPr>
          <p:sp>
            <p:nvSpPr>
              <p:cNvPr id="66604" name="AutoShape 49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32" cy="24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400">
                    <a:solidFill>
                      <a:schemeClr val="bg1"/>
                    </a:solidFill>
                    <a:latin typeface="Times New Roman" pitchFamily="18" charset="0"/>
                  </a:rPr>
                  <a:t>99</a:t>
                </a:r>
              </a:p>
            </p:txBody>
          </p:sp>
          <p:sp>
            <p:nvSpPr>
              <p:cNvPr id="66605" name="Line 50"/>
              <p:cNvSpPr>
                <a:spLocks noChangeShapeType="1"/>
              </p:cNvSpPr>
              <p:nvPr/>
            </p:nvSpPr>
            <p:spPr bwMode="auto">
              <a:xfrm>
                <a:off x="196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  <p:sp>
            <p:nvSpPr>
              <p:cNvPr id="66606" name="Line 51"/>
              <p:cNvSpPr>
                <a:spLocks noChangeShapeType="1"/>
              </p:cNvSpPr>
              <p:nvPr/>
            </p:nvSpPr>
            <p:spPr bwMode="auto">
              <a:xfrm>
                <a:off x="220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6575" name="Group 52"/>
            <p:cNvGrpSpPr>
              <a:grpSpLocks/>
            </p:cNvGrpSpPr>
            <p:nvPr/>
          </p:nvGrpSpPr>
          <p:grpSpPr bwMode="auto">
            <a:xfrm>
              <a:off x="5588000" y="4362919"/>
              <a:ext cx="685800" cy="381000"/>
              <a:chOff x="1872" y="1824"/>
              <a:chExt cx="432" cy="240"/>
            </a:xfrm>
          </p:grpSpPr>
          <p:sp>
            <p:nvSpPr>
              <p:cNvPr id="66601" name="AutoShape 53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32" cy="24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400">
                    <a:solidFill>
                      <a:schemeClr val="bg1"/>
                    </a:solidFill>
                    <a:latin typeface="Times New Roman" pitchFamily="18" charset="0"/>
                  </a:rPr>
                  <a:t>58</a:t>
                </a:r>
              </a:p>
            </p:txBody>
          </p:sp>
          <p:sp>
            <p:nvSpPr>
              <p:cNvPr id="66602" name="Line 54"/>
              <p:cNvSpPr>
                <a:spLocks noChangeShapeType="1"/>
              </p:cNvSpPr>
              <p:nvPr/>
            </p:nvSpPr>
            <p:spPr bwMode="auto">
              <a:xfrm>
                <a:off x="196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  <p:sp>
            <p:nvSpPr>
              <p:cNvPr id="66603" name="Line 55"/>
              <p:cNvSpPr>
                <a:spLocks noChangeShapeType="1"/>
              </p:cNvSpPr>
              <p:nvPr/>
            </p:nvSpPr>
            <p:spPr bwMode="auto">
              <a:xfrm>
                <a:off x="220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6576" name="Group 56"/>
            <p:cNvGrpSpPr>
              <a:grpSpLocks/>
            </p:cNvGrpSpPr>
            <p:nvPr/>
          </p:nvGrpSpPr>
          <p:grpSpPr bwMode="auto">
            <a:xfrm>
              <a:off x="6654800" y="4362919"/>
              <a:ext cx="685800" cy="381000"/>
              <a:chOff x="1872" y="1824"/>
              <a:chExt cx="432" cy="240"/>
            </a:xfrm>
          </p:grpSpPr>
          <p:sp>
            <p:nvSpPr>
              <p:cNvPr id="66598" name="AutoShape 57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32" cy="24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400">
                    <a:solidFill>
                      <a:schemeClr val="bg1"/>
                    </a:solidFill>
                    <a:latin typeface="Times New Roman" pitchFamily="18" charset="0"/>
                  </a:rPr>
                  <a:t>62</a:t>
                </a:r>
              </a:p>
            </p:txBody>
          </p:sp>
          <p:sp>
            <p:nvSpPr>
              <p:cNvPr id="66599" name="Line 58"/>
              <p:cNvSpPr>
                <a:spLocks noChangeShapeType="1"/>
              </p:cNvSpPr>
              <p:nvPr/>
            </p:nvSpPr>
            <p:spPr bwMode="auto">
              <a:xfrm>
                <a:off x="196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  <p:sp>
            <p:nvSpPr>
              <p:cNvPr id="66600" name="Line 59"/>
              <p:cNvSpPr>
                <a:spLocks noChangeShapeType="1"/>
              </p:cNvSpPr>
              <p:nvPr/>
            </p:nvSpPr>
            <p:spPr bwMode="auto">
              <a:xfrm>
                <a:off x="220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</p:grpSp>
        <p:sp>
          <p:nvSpPr>
            <p:cNvPr id="66577" name="Line 60"/>
            <p:cNvSpPr>
              <a:spLocks noChangeShapeType="1"/>
            </p:cNvSpPr>
            <p:nvPr/>
          </p:nvSpPr>
          <p:spPr bwMode="auto">
            <a:xfrm flipH="1">
              <a:off x="2768600" y="1695919"/>
              <a:ext cx="198120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6578" name="Line 61"/>
            <p:cNvSpPr>
              <a:spLocks noChangeShapeType="1"/>
            </p:cNvSpPr>
            <p:nvPr/>
          </p:nvSpPr>
          <p:spPr bwMode="auto">
            <a:xfrm>
              <a:off x="5283200" y="1695919"/>
              <a:ext cx="205740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6579" name="Line 62"/>
            <p:cNvSpPr>
              <a:spLocks noChangeShapeType="1"/>
            </p:cNvSpPr>
            <p:nvPr/>
          </p:nvSpPr>
          <p:spPr bwMode="auto">
            <a:xfrm flipH="1">
              <a:off x="1701800" y="2838919"/>
              <a:ext cx="8382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6580" name="Line 63"/>
            <p:cNvSpPr>
              <a:spLocks noChangeShapeType="1"/>
            </p:cNvSpPr>
            <p:nvPr/>
          </p:nvSpPr>
          <p:spPr bwMode="auto">
            <a:xfrm>
              <a:off x="3073400" y="2838919"/>
              <a:ext cx="8382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6581" name="Line 65"/>
            <p:cNvSpPr>
              <a:spLocks noChangeShapeType="1"/>
            </p:cNvSpPr>
            <p:nvPr/>
          </p:nvSpPr>
          <p:spPr bwMode="auto">
            <a:xfrm>
              <a:off x="2006600" y="3677119"/>
              <a:ext cx="3048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6582" name="Line 66"/>
            <p:cNvSpPr>
              <a:spLocks noChangeShapeType="1"/>
            </p:cNvSpPr>
            <p:nvPr/>
          </p:nvSpPr>
          <p:spPr bwMode="auto">
            <a:xfrm flipH="1">
              <a:off x="3302000" y="3677119"/>
              <a:ext cx="3048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6583" name="Line 67"/>
            <p:cNvSpPr>
              <a:spLocks noChangeShapeType="1"/>
            </p:cNvSpPr>
            <p:nvPr/>
          </p:nvSpPr>
          <p:spPr bwMode="auto">
            <a:xfrm>
              <a:off x="4140200" y="3677119"/>
              <a:ext cx="3048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6584" name="Line 68"/>
            <p:cNvSpPr>
              <a:spLocks noChangeShapeType="1"/>
            </p:cNvSpPr>
            <p:nvPr/>
          </p:nvSpPr>
          <p:spPr bwMode="auto">
            <a:xfrm>
              <a:off x="3606800" y="4515319"/>
              <a:ext cx="3810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6585" name="Line 69"/>
            <p:cNvSpPr>
              <a:spLocks noChangeShapeType="1"/>
            </p:cNvSpPr>
            <p:nvPr/>
          </p:nvSpPr>
          <p:spPr bwMode="auto">
            <a:xfrm flipH="1">
              <a:off x="6426200" y="2762719"/>
              <a:ext cx="6096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6586" name="Line 70"/>
            <p:cNvSpPr>
              <a:spLocks noChangeShapeType="1"/>
            </p:cNvSpPr>
            <p:nvPr/>
          </p:nvSpPr>
          <p:spPr bwMode="auto">
            <a:xfrm>
              <a:off x="7569200" y="2762719"/>
              <a:ext cx="6858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6587" name="Line 71"/>
            <p:cNvSpPr>
              <a:spLocks noChangeShapeType="1"/>
            </p:cNvSpPr>
            <p:nvPr/>
          </p:nvSpPr>
          <p:spPr bwMode="auto">
            <a:xfrm flipH="1">
              <a:off x="5969000" y="3677119"/>
              <a:ext cx="2286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6588" name="Line 72"/>
            <p:cNvSpPr>
              <a:spLocks noChangeShapeType="1"/>
            </p:cNvSpPr>
            <p:nvPr/>
          </p:nvSpPr>
          <p:spPr bwMode="auto">
            <a:xfrm>
              <a:off x="6731000" y="3677119"/>
              <a:ext cx="3048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6589" name="Rectangle 73"/>
            <p:cNvSpPr>
              <a:spLocks noChangeArrowheads="1"/>
            </p:cNvSpPr>
            <p:nvPr/>
          </p:nvSpPr>
          <p:spPr bwMode="auto">
            <a:xfrm>
              <a:off x="2235200" y="2457919"/>
              <a:ext cx="1143000" cy="685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66590" name="Freeform 74"/>
            <p:cNvSpPr>
              <a:spLocks/>
            </p:cNvSpPr>
            <p:nvPr/>
          </p:nvSpPr>
          <p:spPr bwMode="auto">
            <a:xfrm>
              <a:off x="1701800" y="1975319"/>
              <a:ext cx="1066800" cy="635000"/>
            </a:xfrm>
            <a:custGeom>
              <a:avLst/>
              <a:gdLst>
                <a:gd name="T0" fmla="*/ 0 w 672"/>
                <a:gd name="T1" fmla="*/ 2147483647 h 400"/>
                <a:gd name="T2" fmla="*/ 2147483647 w 672"/>
                <a:gd name="T3" fmla="*/ 2147483647 h 400"/>
                <a:gd name="T4" fmla="*/ 2147483647 w 672"/>
                <a:gd name="T5" fmla="*/ 2147483647 h 400"/>
                <a:gd name="T6" fmla="*/ 0 60000 65536"/>
                <a:gd name="T7" fmla="*/ 0 60000 65536"/>
                <a:gd name="T8" fmla="*/ 0 60000 65536"/>
                <a:gd name="T9" fmla="*/ 0 w 672"/>
                <a:gd name="T10" fmla="*/ 0 h 400"/>
                <a:gd name="T11" fmla="*/ 672 w 672"/>
                <a:gd name="T12" fmla="*/ 400 h 4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72" h="400">
                  <a:moveTo>
                    <a:pt x="0" y="16"/>
                  </a:moveTo>
                  <a:cubicBezTo>
                    <a:pt x="208" y="8"/>
                    <a:pt x="416" y="0"/>
                    <a:pt x="528" y="64"/>
                  </a:cubicBezTo>
                  <a:cubicBezTo>
                    <a:pt x="640" y="128"/>
                    <a:pt x="656" y="264"/>
                    <a:pt x="672" y="400"/>
                  </a:cubicBezTo>
                </a:path>
              </a:pathLst>
            </a:cu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6591" name="Rectangle 75"/>
            <p:cNvSpPr>
              <a:spLocks noChangeArrowheads="1"/>
            </p:cNvSpPr>
            <p:nvPr/>
          </p:nvSpPr>
          <p:spPr bwMode="auto">
            <a:xfrm>
              <a:off x="1320800" y="1695919"/>
              <a:ext cx="381000" cy="609600"/>
            </a:xfrm>
            <a:prstGeom prst="rect">
              <a:avLst/>
            </a:prstGeom>
            <a:solidFill>
              <a:srgbClr val="800080">
                <a:alpha val="54117"/>
              </a:srgb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>
                  <a:solidFill>
                    <a:schemeClr val="bg1"/>
                  </a:solidFill>
                  <a:latin typeface="Times New Roman" pitchFamily="18" charset="0"/>
                </a:rPr>
                <a:t>P</a:t>
              </a:r>
            </a:p>
          </p:txBody>
        </p:sp>
        <p:sp>
          <p:nvSpPr>
            <p:cNvPr id="66592" name="Rectangle 76"/>
            <p:cNvSpPr>
              <a:spLocks noChangeArrowheads="1"/>
            </p:cNvSpPr>
            <p:nvPr/>
          </p:nvSpPr>
          <p:spPr bwMode="auto">
            <a:xfrm>
              <a:off x="2768600" y="4210519"/>
              <a:ext cx="1143000" cy="685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66593" name="Rectangle 77"/>
            <p:cNvSpPr>
              <a:spLocks noChangeArrowheads="1"/>
            </p:cNvSpPr>
            <p:nvPr/>
          </p:nvSpPr>
          <p:spPr bwMode="auto">
            <a:xfrm>
              <a:off x="1778000" y="5201119"/>
              <a:ext cx="381000" cy="609600"/>
            </a:xfrm>
            <a:prstGeom prst="rect">
              <a:avLst/>
            </a:prstGeom>
            <a:solidFill>
              <a:srgbClr val="FFFF00">
                <a:alpha val="39999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>
                  <a:latin typeface="Times New Roman" pitchFamily="18" charset="0"/>
                </a:rPr>
                <a:t>rp</a:t>
              </a:r>
            </a:p>
          </p:txBody>
        </p:sp>
        <p:sp>
          <p:nvSpPr>
            <p:cNvPr id="66594" name="Freeform 79"/>
            <p:cNvSpPr>
              <a:spLocks/>
            </p:cNvSpPr>
            <p:nvPr/>
          </p:nvSpPr>
          <p:spPr bwMode="auto">
            <a:xfrm>
              <a:off x="2159000" y="4743919"/>
              <a:ext cx="1143000" cy="889000"/>
            </a:xfrm>
            <a:custGeom>
              <a:avLst/>
              <a:gdLst>
                <a:gd name="T0" fmla="*/ 0 w 720"/>
                <a:gd name="T1" fmla="*/ 2147483647 h 560"/>
                <a:gd name="T2" fmla="*/ 2147483647 w 720"/>
                <a:gd name="T3" fmla="*/ 2147483647 h 560"/>
                <a:gd name="T4" fmla="*/ 2147483647 w 720"/>
                <a:gd name="T5" fmla="*/ 0 h 560"/>
                <a:gd name="T6" fmla="*/ 0 60000 65536"/>
                <a:gd name="T7" fmla="*/ 0 60000 65536"/>
                <a:gd name="T8" fmla="*/ 0 60000 65536"/>
                <a:gd name="T9" fmla="*/ 0 w 720"/>
                <a:gd name="T10" fmla="*/ 0 h 560"/>
                <a:gd name="T11" fmla="*/ 720 w 720"/>
                <a:gd name="T12" fmla="*/ 560 h 5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0" h="560">
                  <a:moveTo>
                    <a:pt x="0" y="480"/>
                  </a:moveTo>
                  <a:cubicBezTo>
                    <a:pt x="108" y="520"/>
                    <a:pt x="216" y="560"/>
                    <a:pt x="336" y="480"/>
                  </a:cubicBezTo>
                  <a:cubicBezTo>
                    <a:pt x="456" y="400"/>
                    <a:pt x="588" y="200"/>
                    <a:pt x="720" y="0"/>
                  </a:cubicBezTo>
                </a:path>
              </a:pathLst>
            </a:cu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6595" name="Rectangle 80"/>
            <p:cNvSpPr>
              <a:spLocks noChangeArrowheads="1"/>
            </p:cNvSpPr>
            <p:nvPr/>
          </p:nvSpPr>
          <p:spPr bwMode="auto">
            <a:xfrm>
              <a:off x="4902200" y="2610319"/>
              <a:ext cx="381000" cy="609600"/>
            </a:xfrm>
            <a:prstGeom prst="rect">
              <a:avLst/>
            </a:prstGeom>
            <a:solidFill>
              <a:srgbClr val="FF99CC">
                <a:alpha val="52156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66596" name="Freeform 81"/>
            <p:cNvSpPr>
              <a:spLocks/>
            </p:cNvSpPr>
            <p:nvPr/>
          </p:nvSpPr>
          <p:spPr bwMode="auto">
            <a:xfrm>
              <a:off x="3911600" y="2889719"/>
              <a:ext cx="990600" cy="635000"/>
            </a:xfrm>
            <a:custGeom>
              <a:avLst/>
              <a:gdLst>
                <a:gd name="T0" fmla="*/ 2147483647 w 624"/>
                <a:gd name="T1" fmla="*/ 2147483647 h 400"/>
                <a:gd name="T2" fmla="*/ 2147483647 w 624"/>
                <a:gd name="T3" fmla="*/ 2147483647 h 400"/>
                <a:gd name="T4" fmla="*/ 2147483647 w 624"/>
                <a:gd name="T5" fmla="*/ 2147483647 h 400"/>
                <a:gd name="T6" fmla="*/ 0 60000 65536"/>
                <a:gd name="T7" fmla="*/ 0 60000 65536"/>
                <a:gd name="T8" fmla="*/ 0 60000 65536"/>
                <a:gd name="T9" fmla="*/ 0 w 624"/>
                <a:gd name="T10" fmla="*/ 0 h 400"/>
                <a:gd name="T11" fmla="*/ 624 w 624"/>
                <a:gd name="T12" fmla="*/ 400 h 4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24" h="400">
                  <a:moveTo>
                    <a:pt x="624" y="16"/>
                  </a:moveTo>
                  <a:cubicBezTo>
                    <a:pt x="408" y="8"/>
                    <a:pt x="192" y="0"/>
                    <a:pt x="96" y="64"/>
                  </a:cubicBezTo>
                  <a:cubicBezTo>
                    <a:pt x="0" y="128"/>
                    <a:pt x="24" y="264"/>
                    <a:pt x="48" y="400"/>
                  </a:cubicBezTo>
                </a:path>
              </a:pathLst>
            </a:cu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6597" name="Line 82"/>
            <p:cNvSpPr>
              <a:spLocks noChangeShapeType="1"/>
            </p:cNvSpPr>
            <p:nvPr/>
          </p:nvSpPr>
          <p:spPr bwMode="auto">
            <a:xfrm flipH="1">
              <a:off x="1244600" y="3677119"/>
              <a:ext cx="2286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85" name="Rectangle 77"/>
            <p:cNvSpPr>
              <a:spLocks noChangeArrowheads="1"/>
            </p:cNvSpPr>
            <p:nvPr/>
          </p:nvSpPr>
          <p:spPr bwMode="auto">
            <a:xfrm>
              <a:off x="6654800" y="1459746"/>
              <a:ext cx="457200" cy="609600"/>
            </a:xfrm>
            <a:prstGeom prst="rect">
              <a:avLst/>
            </a:prstGeom>
            <a:solidFill>
              <a:srgbClr val="FFFF00">
                <a:alpha val="39999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3200" smtClean="0">
                  <a:latin typeface="Times New Roman" pitchFamily="18" charset="0"/>
                </a:rPr>
                <a:t>rp:</a:t>
              </a:r>
              <a:endParaRPr lang="en-US" sz="3200">
                <a:latin typeface="Times New Roman" pitchFamily="18" charset="0"/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64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136063" y="836871"/>
            <a:ext cx="523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smtClean="0">
                <a:solidFill>
                  <a:srgbClr val="0070C0"/>
                </a:solidFill>
              </a:rPr>
              <a:t>Là nút cha của nút thay thế </a:t>
            </a:r>
            <a:endParaRPr lang="en-US" sz="3200" b="1">
              <a:solidFill>
                <a:srgbClr val="0070C0"/>
              </a:solidFill>
            </a:endParaRPr>
          </a:p>
        </p:txBody>
      </p:sp>
      <p:sp>
        <p:nvSpPr>
          <p:cNvPr id="83" name="Rectangle 80"/>
          <p:cNvSpPr>
            <a:spLocks noChangeArrowheads="1"/>
          </p:cNvSpPr>
          <p:nvPr/>
        </p:nvSpPr>
        <p:spPr bwMode="auto">
          <a:xfrm>
            <a:off x="6654800" y="799634"/>
            <a:ext cx="454759" cy="609600"/>
          </a:xfrm>
          <a:prstGeom prst="rect">
            <a:avLst/>
          </a:prstGeom>
          <a:solidFill>
            <a:srgbClr val="FF99CC">
              <a:alpha val="52156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4000" smtClean="0">
                <a:latin typeface="Times New Roman" pitchFamily="18" charset="0"/>
              </a:rPr>
              <a:t>f: </a:t>
            </a:r>
            <a:endParaRPr lang="en-US" sz="4000">
              <a:latin typeface="Times New Roman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7112000" y="1522985"/>
            <a:ext cx="48088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smtClean="0">
                <a:solidFill>
                  <a:srgbClr val="0070C0"/>
                </a:solidFill>
              </a:rPr>
              <a:t>Là nút right P dể thay thế </a:t>
            </a:r>
            <a:endParaRPr lang="en-US" sz="3200" b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3672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20700" y="450434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Ví dụ xóa x = 25</a:t>
            </a:r>
          </a:p>
        </p:txBody>
      </p:sp>
      <p:grpSp>
        <p:nvGrpSpPr>
          <p:cNvPr id="67587" name="Group 4"/>
          <p:cNvGrpSpPr>
            <a:grpSpLocks/>
          </p:cNvGrpSpPr>
          <p:nvPr/>
        </p:nvGrpSpPr>
        <p:grpSpPr bwMode="auto">
          <a:xfrm>
            <a:off x="5791200" y="1371600"/>
            <a:ext cx="685800" cy="381000"/>
            <a:chOff x="1872" y="1824"/>
            <a:chExt cx="432" cy="240"/>
          </a:xfrm>
        </p:grpSpPr>
        <p:sp>
          <p:nvSpPr>
            <p:cNvPr id="67663" name="AutoShape 5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52</a:t>
              </a:r>
            </a:p>
          </p:txBody>
        </p:sp>
        <p:sp>
          <p:nvSpPr>
            <p:cNvPr id="67664" name="Line 6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7665" name="Line 7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7588" name="Group 8"/>
          <p:cNvGrpSpPr>
            <a:grpSpLocks/>
          </p:cNvGrpSpPr>
          <p:nvPr/>
        </p:nvGrpSpPr>
        <p:grpSpPr bwMode="auto">
          <a:xfrm>
            <a:off x="3581400" y="2438400"/>
            <a:ext cx="685800" cy="381000"/>
            <a:chOff x="1872" y="1824"/>
            <a:chExt cx="432" cy="240"/>
          </a:xfrm>
        </p:grpSpPr>
        <p:sp>
          <p:nvSpPr>
            <p:cNvPr id="66569" name="AutoShape 9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24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27</a:t>
              </a:r>
            </a:p>
          </p:txBody>
        </p:sp>
        <p:sp>
          <p:nvSpPr>
            <p:cNvPr id="67661" name="Line 10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67662" name="Line 11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67589" name="Group 12"/>
          <p:cNvGrpSpPr>
            <a:grpSpLocks/>
          </p:cNvGrpSpPr>
          <p:nvPr/>
        </p:nvGrpSpPr>
        <p:grpSpPr bwMode="auto">
          <a:xfrm>
            <a:off x="8077200" y="2438400"/>
            <a:ext cx="685800" cy="381000"/>
            <a:chOff x="1872" y="1824"/>
            <a:chExt cx="432" cy="240"/>
          </a:xfrm>
        </p:grpSpPr>
        <p:sp>
          <p:nvSpPr>
            <p:cNvPr id="67657" name="AutoShape 13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66</a:t>
              </a:r>
            </a:p>
          </p:txBody>
        </p:sp>
        <p:sp>
          <p:nvSpPr>
            <p:cNvPr id="67658" name="Line 14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7659" name="Line 15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7590" name="Group 16"/>
          <p:cNvGrpSpPr>
            <a:grpSpLocks/>
          </p:cNvGrpSpPr>
          <p:nvPr/>
        </p:nvGrpSpPr>
        <p:grpSpPr bwMode="auto">
          <a:xfrm>
            <a:off x="2514600" y="3352800"/>
            <a:ext cx="685800" cy="381000"/>
            <a:chOff x="1872" y="1824"/>
            <a:chExt cx="432" cy="240"/>
          </a:xfrm>
        </p:grpSpPr>
        <p:sp>
          <p:nvSpPr>
            <p:cNvPr id="67654" name="AutoShape 17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15</a:t>
              </a:r>
            </a:p>
          </p:txBody>
        </p:sp>
        <p:sp>
          <p:nvSpPr>
            <p:cNvPr id="67655" name="Line 18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7656" name="Line 19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7591" name="Group 20"/>
          <p:cNvGrpSpPr>
            <a:grpSpLocks/>
          </p:cNvGrpSpPr>
          <p:nvPr/>
        </p:nvGrpSpPr>
        <p:grpSpPr bwMode="auto">
          <a:xfrm>
            <a:off x="4648200" y="3352800"/>
            <a:ext cx="685800" cy="381000"/>
            <a:chOff x="1872" y="1824"/>
            <a:chExt cx="432" cy="240"/>
          </a:xfrm>
        </p:grpSpPr>
        <p:sp>
          <p:nvSpPr>
            <p:cNvPr id="67651" name="AutoShape 21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39</a:t>
              </a:r>
            </a:p>
          </p:txBody>
        </p:sp>
        <p:sp>
          <p:nvSpPr>
            <p:cNvPr id="67652" name="Line 22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7653" name="Line 23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7592" name="Group 24"/>
          <p:cNvGrpSpPr>
            <a:grpSpLocks/>
          </p:cNvGrpSpPr>
          <p:nvPr/>
        </p:nvGrpSpPr>
        <p:grpSpPr bwMode="auto">
          <a:xfrm>
            <a:off x="1981200" y="4191000"/>
            <a:ext cx="685800" cy="381000"/>
            <a:chOff x="1872" y="1824"/>
            <a:chExt cx="432" cy="240"/>
          </a:xfrm>
        </p:grpSpPr>
        <p:sp>
          <p:nvSpPr>
            <p:cNvPr id="67648" name="AutoShape 25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67649" name="Line 26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7650" name="Line 27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7593" name="Group 28"/>
          <p:cNvGrpSpPr>
            <a:grpSpLocks/>
          </p:cNvGrpSpPr>
          <p:nvPr/>
        </p:nvGrpSpPr>
        <p:grpSpPr bwMode="auto">
          <a:xfrm>
            <a:off x="3048000" y="4191000"/>
            <a:ext cx="685800" cy="381000"/>
            <a:chOff x="1872" y="1824"/>
            <a:chExt cx="432" cy="240"/>
          </a:xfrm>
        </p:grpSpPr>
        <p:sp>
          <p:nvSpPr>
            <p:cNvPr id="67645" name="AutoShape 29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19</a:t>
              </a:r>
            </a:p>
          </p:txBody>
        </p:sp>
        <p:sp>
          <p:nvSpPr>
            <p:cNvPr id="67646" name="Line 30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7647" name="Line 31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7594" name="Group 32"/>
          <p:cNvGrpSpPr>
            <a:grpSpLocks/>
          </p:cNvGrpSpPr>
          <p:nvPr/>
        </p:nvGrpSpPr>
        <p:grpSpPr bwMode="auto">
          <a:xfrm>
            <a:off x="4114800" y="4191000"/>
            <a:ext cx="685800" cy="381000"/>
            <a:chOff x="1872" y="1824"/>
            <a:chExt cx="432" cy="240"/>
          </a:xfrm>
        </p:grpSpPr>
        <p:sp>
          <p:nvSpPr>
            <p:cNvPr id="66593" name="AutoShape 33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24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27</a:t>
              </a:r>
            </a:p>
          </p:txBody>
        </p:sp>
        <p:sp>
          <p:nvSpPr>
            <p:cNvPr id="67643" name="Line 34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7644" name="Line 35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7595" name="Group 36"/>
          <p:cNvGrpSpPr>
            <a:grpSpLocks/>
          </p:cNvGrpSpPr>
          <p:nvPr/>
        </p:nvGrpSpPr>
        <p:grpSpPr bwMode="auto">
          <a:xfrm>
            <a:off x="5181600" y="4191000"/>
            <a:ext cx="685800" cy="381000"/>
            <a:chOff x="1872" y="1824"/>
            <a:chExt cx="432" cy="240"/>
          </a:xfrm>
        </p:grpSpPr>
        <p:sp>
          <p:nvSpPr>
            <p:cNvPr id="67639" name="AutoShape 37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42</a:t>
              </a:r>
            </a:p>
          </p:txBody>
        </p:sp>
        <p:sp>
          <p:nvSpPr>
            <p:cNvPr id="67640" name="Line 38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7641" name="Line 39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7596" name="Group 40"/>
          <p:cNvGrpSpPr>
            <a:grpSpLocks/>
          </p:cNvGrpSpPr>
          <p:nvPr/>
        </p:nvGrpSpPr>
        <p:grpSpPr bwMode="auto">
          <a:xfrm>
            <a:off x="4724400" y="5105400"/>
            <a:ext cx="685800" cy="381000"/>
            <a:chOff x="1872" y="1824"/>
            <a:chExt cx="432" cy="240"/>
          </a:xfrm>
        </p:grpSpPr>
        <p:sp>
          <p:nvSpPr>
            <p:cNvPr id="67636" name="AutoShape 41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31</a:t>
              </a:r>
            </a:p>
          </p:txBody>
        </p:sp>
        <p:sp>
          <p:nvSpPr>
            <p:cNvPr id="67637" name="Line 42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7638" name="Line 43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7597" name="Group 44"/>
          <p:cNvGrpSpPr>
            <a:grpSpLocks/>
          </p:cNvGrpSpPr>
          <p:nvPr/>
        </p:nvGrpSpPr>
        <p:grpSpPr bwMode="auto">
          <a:xfrm>
            <a:off x="7239000" y="3352800"/>
            <a:ext cx="685800" cy="381000"/>
            <a:chOff x="1872" y="1824"/>
            <a:chExt cx="432" cy="240"/>
          </a:xfrm>
        </p:grpSpPr>
        <p:sp>
          <p:nvSpPr>
            <p:cNvPr id="67633" name="AutoShape 45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60</a:t>
              </a:r>
            </a:p>
          </p:txBody>
        </p:sp>
        <p:sp>
          <p:nvSpPr>
            <p:cNvPr id="67634" name="Line 46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7635" name="Line 47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7598" name="Group 48"/>
          <p:cNvGrpSpPr>
            <a:grpSpLocks/>
          </p:cNvGrpSpPr>
          <p:nvPr/>
        </p:nvGrpSpPr>
        <p:grpSpPr bwMode="auto">
          <a:xfrm>
            <a:off x="8991600" y="3352800"/>
            <a:ext cx="685800" cy="381000"/>
            <a:chOff x="1872" y="1824"/>
            <a:chExt cx="432" cy="240"/>
          </a:xfrm>
        </p:grpSpPr>
        <p:sp>
          <p:nvSpPr>
            <p:cNvPr id="67630" name="AutoShape 49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99</a:t>
              </a:r>
            </a:p>
          </p:txBody>
        </p:sp>
        <p:sp>
          <p:nvSpPr>
            <p:cNvPr id="67631" name="Line 50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7632" name="Line 51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7599" name="Group 52"/>
          <p:cNvGrpSpPr>
            <a:grpSpLocks/>
          </p:cNvGrpSpPr>
          <p:nvPr/>
        </p:nvGrpSpPr>
        <p:grpSpPr bwMode="auto">
          <a:xfrm>
            <a:off x="6705600" y="4191000"/>
            <a:ext cx="685800" cy="381000"/>
            <a:chOff x="1872" y="1824"/>
            <a:chExt cx="432" cy="240"/>
          </a:xfrm>
        </p:grpSpPr>
        <p:sp>
          <p:nvSpPr>
            <p:cNvPr id="67627" name="AutoShape 53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58</a:t>
              </a:r>
            </a:p>
          </p:txBody>
        </p:sp>
        <p:sp>
          <p:nvSpPr>
            <p:cNvPr id="67628" name="Line 54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7629" name="Line 55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7600" name="Group 56"/>
          <p:cNvGrpSpPr>
            <a:grpSpLocks/>
          </p:cNvGrpSpPr>
          <p:nvPr/>
        </p:nvGrpSpPr>
        <p:grpSpPr bwMode="auto">
          <a:xfrm>
            <a:off x="7772400" y="4191000"/>
            <a:ext cx="685800" cy="381000"/>
            <a:chOff x="1872" y="1824"/>
            <a:chExt cx="432" cy="240"/>
          </a:xfrm>
        </p:grpSpPr>
        <p:sp>
          <p:nvSpPr>
            <p:cNvPr id="67624" name="AutoShape 57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62</a:t>
              </a:r>
            </a:p>
          </p:txBody>
        </p:sp>
        <p:sp>
          <p:nvSpPr>
            <p:cNvPr id="67625" name="Line 58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7626" name="Line 59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sp>
        <p:nvSpPr>
          <p:cNvPr id="67601" name="Line 60"/>
          <p:cNvSpPr>
            <a:spLocks noChangeShapeType="1"/>
          </p:cNvSpPr>
          <p:nvPr/>
        </p:nvSpPr>
        <p:spPr bwMode="auto">
          <a:xfrm flipH="1">
            <a:off x="3886200" y="1524000"/>
            <a:ext cx="1981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7602" name="Line 61"/>
          <p:cNvSpPr>
            <a:spLocks noChangeShapeType="1"/>
          </p:cNvSpPr>
          <p:nvPr/>
        </p:nvSpPr>
        <p:spPr bwMode="auto">
          <a:xfrm>
            <a:off x="6400800" y="1524000"/>
            <a:ext cx="2057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7603" name="Line 62"/>
          <p:cNvSpPr>
            <a:spLocks noChangeShapeType="1"/>
          </p:cNvSpPr>
          <p:nvPr/>
        </p:nvSpPr>
        <p:spPr bwMode="auto">
          <a:xfrm flipH="1">
            <a:off x="2819400" y="2667000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7604" name="Line 63"/>
          <p:cNvSpPr>
            <a:spLocks noChangeShapeType="1"/>
          </p:cNvSpPr>
          <p:nvPr/>
        </p:nvSpPr>
        <p:spPr bwMode="auto">
          <a:xfrm>
            <a:off x="4191000" y="2667000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7605" name="Line 65"/>
          <p:cNvSpPr>
            <a:spLocks noChangeShapeType="1"/>
          </p:cNvSpPr>
          <p:nvPr/>
        </p:nvSpPr>
        <p:spPr bwMode="auto">
          <a:xfrm>
            <a:off x="3124200" y="3505200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7606" name="Line 66"/>
          <p:cNvSpPr>
            <a:spLocks noChangeShapeType="1"/>
          </p:cNvSpPr>
          <p:nvPr/>
        </p:nvSpPr>
        <p:spPr bwMode="auto">
          <a:xfrm flipH="1">
            <a:off x="4419600" y="3505200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7607" name="Line 67"/>
          <p:cNvSpPr>
            <a:spLocks noChangeShapeType="1"/>
          </p:cNvSpPr>
          <p:nvPr/>
        </p:nvSpPr>
        <p:spPr bwMode="auto">
          <a:xfrm>
            <a:off x="5257800" y="3505200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7608" name="Line 68"/>
          <p:cNvSpPr>
            <a:spLocks noChangeShapeType="1"/>
          </p:cNvSpPr>
          <p:nvPr/>
        </p:nvSpPr>
        <p:spPr bwMode="auto">
          <a:xfrm>
            <a:off x="4724400" y="43434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7609" name="Line 69"/>
          <p:cNvSpPr>
            <a:spLocks noChangeShapeType="1"/>
          </p:cNvSpPr>
          <p:nvPr/>
        </p:nvSpPr>
        <p:spPr bwMode="auto">
          <a:xfrm flipH="1">
            <a:off x="7543800" y="2590800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7610" name="Line 70"/>
          <p:cNvSpPr>
            <a:spLocks noChangeShapeType="1"/>
          </p:cNvSpPr>
          <p:nvPr/>
        </p:nvSpPr>
        <p:spPr bwMode="auto">
          <a:xfrm>
            <a:off x="8686800" y="2590800"/>
            <a:ext cx="685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7611" name="Line 71"/>
          <p:cNvSpPr>
            <a:spLocks noChangeShapeType="1"/>
          </p:cNvSpPr>
          <p:nvPr/>
        </p:nvSpPr>
        <p:spPr bwMode="auto">
          <a:xfrm flipH="1">
            <a:off x="7086600" y="3505200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7612" name="Line 72"/>
          <p:cNvSpPr>
            <a:spLocks noChangeShapeType="1"/>
          </p:cNvSpPr>
          <p:nvPr/>
        </p:nvSpPr>
        <p:spPr bwMode="auto">
          <a:xfrm>
            <a:off x="7848600" y="3505200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7613" name="Freeform 74"/>
          <p:cNvSpPr>
            <a:spLocks/>
          </p:cNvSpPr>
          <p:nvPr/>
        </p:nvSpPr>
        <p:spPr bwMode="auto">
          <a:xfrm>
            <a:off x="2819400" y="1803400"/>
            <a:ext cx="1066800" cy="635000"/>
          </a:xfrm>
          <a:custGeom>
            <a:avLst/>
            <a:gdLst>
              <a:gd name="T0" fmla="*/ 0 w 672"/>
              <a:gd name="T1" fmla="*/ 2147483647 h 400"/>
              <a:gd name="T2" fmla="*/ 2147483647 w 672"/>
              <a:gd name="T3" fmla="*/ 2147483647 h 400"/>
              <a:gd name="T4" fmla="*/ 2147483647 w 672"/>
              <a:gd name="T5" fmla="*/ 2147483647 h 400"/>
              <a:gd name="T6" fmla="*/ 0 60000 65536"/>
              <a:gd name="T7" fmla="*/ 0 60000 65536"/>
              <a:gd name="T8" fmla="*/ 0 60000 65536"/>
              <a:gd name="T9" fmla="*/ 0 w 672"/>
              <a:gd name="T10" fmla="*/ 0 h 400"/>
              <a:gd name="T11" fmla="*/ 672 w 672"/>
              <a:gd name="T12" fmla="*/ 400 h 4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2" h="400">
                <a:moveTo>
                  <a:pt x="0" y="16"/>
                </a:moveTo>
                <a:cubicBezTo>
                  <a:pt x="208" y="8"/>
                  <a:pt x="416" y="0"/>
                  <a:pt x="528" y="64"/>
                </a:cubicBezTo>
                <a:cubicBezTo>
                  <a:pt x="640" y="128"/>
                  <a:pt x="656" y="264"/>
                  <a:pt x="672" y="400"/>
                </a:cubicBezTo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7614" name="Rectangle 75"/>
          <p:cNvSpPr>
            <a:spLocks noChangeArrowheads="1"/>
          </p:cNvSpPr>
          <p:nvPr/>
        </p:nvSpPr>
        <p:spPr bwMode="auto">
          <a:xfrm>
            <a:off x="2438400" y="1524000"/>
            <a:ext cx="381000" cy="609600"/>
          </a:xfrm>
          <a:prstGeom prst="rect">
            <a:avLst/>
          </a:prstGeom>
          <a:solidFill>
            <a:srgbClr val="800080">
              <a:alpha val="54117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3200">
                <a:solidFill>
                  <a:schemeClr val="bg1"/>
                </a:solidFill>
                <a:latin typeface="Times New Roman" pitchFamily="18" charset="0"/>
              </a:rPr>
              <a:t>P</a:t>
            </a:r>
          </a:p>
        </p:txBody>
      </p:sp>
      <p:sp>
        <p:nvSpPr>
          <p:cNvPr id="67615" name="Rectangle 76"/>
          <p:cNvSpPr>
            <a:spLocks noChangeArrowheads="1"/>
          </p:cNvSpPr>
          <p:nvPr/>
        </p:nvSpPr>
        <p:spPr bwMode="auto">
          <a:xfrm>
            <a:off x="3886200" y="4038600"/>
            <a:ext cx="1143000" cy="6858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67616" name="Rectangle 77"/>
          <p:cNvSpPr>
            <a:spLocks noChangeArrowheads="1"/>
          </p:cNvSpPr>
          <p:nvPr/>
        </p:nvSpPr>
        <p:spPr bwMode="auto">
          <a:xfrm>
            <a:off x="2895600" y="5029200"/>
            <a:ext cx="381000" cy="609600"/>
          </a:xfrm>
          <a:prstGeom prst="rect">
            <a:avLst/>
          </a:prstGeom>
          <a:solidFill>
            <a:srgbClr val="FFFF00">
              <a:alpha val="39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800">
                <a:latin typeface="Times New Roman" pitchFamily="18" charset="0"/>
              </a:rPr>
              <a:t>rp</a:t>
            </a:r>
          </a:p>
        </p:txBody>
      </p:sp>
      <p:sp>
        <p:nvSpPr>
          <p:cNvPr id="67617" name="Freeform 78"/>
          <p:cNvSpPr>
            <a:spLocks/>
          </p:cNvSpPr>
          <p:nvPr/>
        </p:nvSpPr>
        <p:spPr bwMode="auto">
          <a:xfrm>
            <a:off x="3276600" y="4572000"/>
            <a:ext cx="1143000" cy="889000"/>
          </a:xfrm>
          <a:custGeom>
            <a:avLst/>
            <a:gdLst>
              <a:gd name="T0" fmla="*/ 0 w 720"/>
              <a:gd name="T1" fmla="*/ 2147483647 h 560"/>
              <a:gd name="T2" fmla="*/ 2147483647 w 720"/>
              <a:gd name="T3" fmla="*/ 2147483647 h 560"/>
              <a:gd name="T4" fmla="*/ 2147483647 w 720"/>
              <a:gd name="T5" fmla="*/ 0 h 560"/>
              <a:gd name="T6" fmla="*/ 0 60000 65536"/>
              <a:gd name="T7" fmla="*/ 0 60000 65536"/>
              <a:gd name="T8" fmla="*/ 0 60000 65536"/>
              <a:gd name="T9" fmla="*/ 0 w 720"/>
              <a:gd name="T10" fmla="*/ 0 h 560"/>
              <a:gd name="T11" fmla="*/ 720 w 720"/>
              <a:gd name="T12" fmla="*/ 560 h 5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20" h="560">
                <a:moveTo>
                  <a:pt x="0" y="480"/>
                </a:moveTo>
                <a:cubicBezTo>
                  <a:pt x="108" y="520"/>
                  <a:pt x="216" y="560"/>
                  <a:pt x="336" y="480"/>
                </a:cubicBezTo>
                <a:cubicBezTo>
                  <a:pt x="456" y="400"/>
                  <a:pt x="588" y="200"/>
                  <a:pt x="720" y="0"/>
                </a:cubicBezTo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7618" name="Rectangle 79"/>
          <p:cNvSpPr>
            <a:spLocks noChangeArrowheads="1"/>
          </p:cNvSpPr>
          <p:nvPr/>
        </p:nvSpPr>
        <p:spPr bwMode="auto">
          <a:xfrm>
            <a:off x="6019800" y="2438400"/>
            <a:ext cx="381000" cy="609600"/>
          </a:xfrm>
          <a:prstGeom prst="rect">
            <a:avLst/>
          </a:prstGeom>
          <a:solidFill>
            <a:srgbClr val="FF99CC">
              <a:alpha val="52156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pitchFamily="18" charset="0"/>
              </a:rPr>
              <a:t>f</a:t>
            </a:r>
          </a:p>
        </p:txBody>
      </p:sp>
      <p:sp>
        <p:nvSpPr>
          <p:cNvPr id="67619" name="Freeform 80"/>
          <p:cNvSpPr>
            <a:spLocks/>
          </p:cNvSpPr>
          <p:nvPr/>
        </p:nvSpPr>
        <p:spPr bwMode="auto">
          <a:xfrm>
            <a:off x="5029200" y="2717800"/>
            <a:ext cx="990600" cy="635000"/>
          </a:xfrm>
          <a:custGeom>
            <a:avLst/>
            <a:gdLst>
              <a:gd name="T0" fmla="*/ 2147483647 w 624"/>
              <a:gd name="T1" fmla="*/ 2147483647 h 400"/>
              <a:gd name="T2" fmla="*/ 2147483647 w 624"/>
              <a:gd name="T3" fmla="*/ 2147483647 h 400"/>
              <a:gd name="T4" fmla="*/ 2147483647 w 624"/>
              <a:gd name="T5" fmla="*/ 2147483647 h 400"/>
              <a:gd name="T6" fmla="*/ 0 60000 65536"/>
              <a:gd name="T7" fmla="*/ 0 60000 65536"/>
              <a:gd name="T8" fmla="*/ 0 60000 65536"/>
              <a:gd name="T9" fmla="*/ 0 w 624"/>
              <a:gd name="T10" fmla="*/ 0 h 400"/>
              <a:gd name="T11" fmla="*/ 624 w 624"/>
              <a:gd name="T12" fmla="*/ 400 h 4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24" h="400">
                <a:moveTo>
                  <a:pt x="624" y="16"/>
                </a:moveTo>
                <a:cubicBezTo>
                  <a:pt x="408" y="8"/>
                  <a:pt x="192" y="0"/>
                  <a:pt x="96" y="64"/>
                </a:cubicBezTo>
                <a:cubicBezTo>
                  <a:pt x="0" y="128"/>
                  <a:pt x="24" y="264"/>
                  <a:pt x="48" y="400"/>
                </a:cubicBezTo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7620" name="Freeform 83"/>
          <p:cNvSpPr>
            <a:spLocks/>
          </p:cNvSpPr>
          <p:nvPr/>
        </p:nvSpPr>
        <p:spPr bwMode="auto">
          <a:xfrm>
            <a:off x="4673600" y="3505200"/>
            <a:ext cx="355600" cy="1600200"/>
          </a:xfrm>
          <a:custGeom>
            <a:avLst/>
            <a:gdLst>
              <a:gd name="T0" fmla="*/ 2147483647 w 224"/>
              <a:gd name="T1" fmla="*/ 0 h 960"/>
              <a:gd name="T2" fmla="*/ 2147483647 w 224"/>
              <a:gd name="T3" fmla="*/ 2147483647 h 960"/>
              <a:gd name="T4" fmla="*/ 2147483647 w 224"/>
              <a:gd name="T5" fmla="*/ 2147483647 h 960"/>
              <a:gd name="T6" fmla="*/ 0 60000 65536"/>
              <a:gd name="T7" fmla="*/ 0 60000 65536"/>
              <a:gd name="T8" fmla="*/ 0 60000 65536"/>
              <a:gd name="T9" fmla="*/ 0 w 224"/>
              <a:gd name="T10" fmla="*/ 0 h 960"/>
              <a:gd name="T11" fmla="*/ 224 w 224"/>
              <a:gd name="T12" fmla="*/ 960 h 9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4" h="960">
                <a:moveTo>
                  <a:pt x="32" y="0"/>
                </a:moveTo>
                <a:cubicBezTo>
                  <a:pt x="16" y="208"/>
                  <a:pt x="0" y="416"/>
                  <a:pt x="32" y="576"/>
                </a:cubicBezTo>
                <a:cubicBezTo>
                  <a:pt x="64" y="736"/>
                  <a:pt x="144" y="848"/>
                  <a:pt x="224" y="960"/>
                </a:cubicBezTo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7621" name="AutoShape 84"/>
          <p:cNvSpPr>
            <a:spLocks noChangeArrowheads="1"/>
          </p:cNvSpPr>
          <p:nvPr/>
        </p:nvSpPr>
        <p:spPr bwMode="auto">
          <a:xfrm>
            <a:off x="4114800" y="2209800"/>
            <a:ext cx="1066800" cy="533400"/>
          </a:xfrm>
          <a:prstGeom prst="irregularSeal2">
            <a:avLst/>
          </a:prstGeom>
          <a:solidFill>
            <a:schemeClr val="accent1">
              <a:alpha val="34117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800">
                <a:solidFill>
                  <a:srgbClr val="FF0000"/>
                </a:solidFill>
                <a:latin typeface="Times New Roman" pitchFamily="18" charset="0"/>
              </a:rPr>
              <a:t>mới</a:t>
            </a:r>
          </a:p>
        </p:txBody>
      </p:sp>
      <p:sp>
        <p:nvSpPr>
          <p:cNvPr id="67622" name="Line 85"/>
          <p:cNvSpPr>
            <a:spLocks noChangeShapeType="1"/>
          </p:cNvSpPr>
          <p:nvPr/>
        </p:nvSpPr>
        <p:spPr bwMode="auto">
          <a:xfrm flipH="1">
            <a:off x="2362200" y="3505200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7623" name="AutoShape 86"/>
          <p:cNvSpPr>
            <a:spLocks noChangeArrowheads="1"/>
          </p:cNvSpPr>
          <p:nvPr/>
        </p:nvSpPr>
        <p:spPr bwMode="auto">
          <a:xfrm rot="-7332059">
            <a:off x="3543300" y="3390900"/>
            <a:ext cx="1066800" cy="228600"/>
          </a:xfrm>
          <a:prstGeom prst="lightningBolt">
            <a:avLst/>
          </a:prstGeom>
          <a:solidFill>
            <a:srgbClr val="FF33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137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49300" y="535581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Ví dụ xóa x = 25</a:t>
            </a:r>
          </a:p>
        </p:txBody>
      </p:sp>
      <p:grpSp>
        <p:nvGrpSpPr>
          <p:cNvPr id="68611" name="Group 4"/>
          <p:cNvGrpSpPr>
            <a:grpSpLocks/>
          </p:cNvGrpSpPr>
          <p:nvPr/>
        </p:nvGrpSpPr>
        <p:grpSpPr bwMode="auto">
          <a:xfrm>
            <a:off x="5791200" y="1600200"/>
            <a:ext cx="685800" cy="381000"/>
            <a:chOff x="1872" y="1824"/>
            <a:chExt cx="432" cy="240"/>
          </a:xfrm>
        </p:grpSpPr>
        <p:sp>
          <p:nvSpPr>
            <p:cNvPr id="68684" name="AutoShape 5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52</a:t>
              </a:r>
            </a:p>
          </p:txBody>
        </p:sp>
        <p:sp>
          <p:nvSpPr>
            <p:cNvPr id="68685" name="Line 6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8686" name="Line 7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8612" name="Group 8"/>
          <p:cNvGrpSpPr>
            <a:grpSpLocks/>
          </p:cNvGrpSpPr>
          <p:nvPr/>
        </p:nvGrpSpPr>
        <p:grpSpPr bwMode="auto">
          <a:xfrm>
            <a:off x="3581400" y="2667000"/>
            <a:ext cx="685800" cy="381000"/>
            <a:chOff x="1872" y="1824"/>
            <a:chExt cx="432" cy="240"/>
          </a:xfrm>
        </p:grpSpPr>
        <p:sp>
          <p:nvSpPr>
            <p:cNvPr id="2" name="AutoShape 9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240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27</a:t>
              </a:r>
            </a:p>
          </p:txBody>
        </p:sp>
        <p:sp>
          <p:nvSpPr>
            <p:cNvPr id="68682" name="Line 10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8683" name="Line 11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8613" name="Group 12"/>
          <p:cNvGrpSpPr>
            <a:grpSpLocks/>
          </p:cNvGrpSpPr>
          <p:nvPr/>
        </p:nvGrpSpPr>
        <p:grpSpPr bwMode="auto">
          <a:xfrm>
            <a:off x="8077200" y="2667000"/>
            <a:ext cx="685800" cy="381000"/>
            <a:chOff x="1872" y="1824"/>
            <a:chExt cx="432" cy="240"/>
          </a:xfrm>
        </p:grpSpPr>
        <p:sp>
          <p:nvSpPr>
            <p:cNvPr id="68678" name="AutoShape 13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66</a:t>
              </a:r>
            </a:p>
          </p:txBody>
        </p:sp>
        <p:sp>
          <p:nvSpPr>
            <p:cNvPr id="68679" name="Line 14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8680" name="Line 15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8614" name="Group 16"/>
          <p:cNvGrpSpPr>
            <a:grpSpLocks/>
          </p:cNvGrpSpPr>
          <p:nvPr/>
        </p:nvGrpSpPr>
        <p:grpSpPr bwMode="auto">
          <a:xfrm>
            <a:off x="2514600" y="3581400"/>
            <a:ext cx="685800" cy="381000"/>
            <a:chOff x="1872" y="1824"/>
            <a:chExt cx="432" cy="240"/>
          </a:xfrm>
        </p:grpSpPr>
        <p:sp>
          <p:nvSpPr>
            <p:cNvPr id="68675" name="AutoShape 17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15</a:t>
              </a:r>
            </a:p>
          </p:txBody>
        </p:sp>
        <p:sp>
          <p:nvSpPr>
            <p:cNvPr id="68676" name="Line 18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8677" name="Line 19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8615" name="Group 20"/>
          <p:cNvGrpSpPr>
            <a:grpSpLocks/>
          </p:cNvGrpSpPr>
          <p:nvPr/>
        </p:nvGrpSpPr>
        <p:grpSpPr bwMode="auto">
          <a:xfrm>
            <a:off x="4648200" y="3581400"/>
            <a:ext cx="685800" cy="381000"/>
            <a:chOff x="1872" y="1824"/>
            <a:chExt cx="432" cy="240"/>
          </a:xfrm>
        </p:grpSpPr>
        <p:sp>
          <p:nvSpPr>
            <p:cNvPr id="68672" name="AutoShape 21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39</a:t>
              </a:r>
            </a:p>
          </p:txBody>
        </p:sp>
        <p:sp>
          <p:nvSpPr>
            <p:cNvPr id="68673" name="Line 22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8674" name="Line 23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8616" name="Group 24"/>
          <p:cNvGrpSpPr>
            <a:grpSpLocks/>
          </p:cNvGrpSpPr>
          <p:nvPr/>
        </p:nvGrpSpPr>
        <p:grpSpPr bwMode="auto">
          <a:xfrm>
            <a:off x="1981200" y="4419600"/>
            <a:ext cx="685800" cy="381000"/>
            <a:chOff x="1872" y="1824"/>
            <a:chExt cx="432" cy="240"/>
          </a:xfrm>
        </p:grpSpPr>
        <p:sp>
          <p:nvSpPr>
            <p:cNvPr id="68669" name="AutoShape 25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68670" name="Line 26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8671" name="Line 27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8617" name="Group 28"/>
          <p:cNvGrpSpPr>
            <a:grpSpLocks/>
          </p:cNvGrpSpPr>
          <p:nvPr/>
        </p:nvGrpSpPr>
        <p:grpSpPr bwMode="auto">
          <a:xfrm>
            <a:off x="3048000" y="4419600"/>
            <a:ext cx="685800" cy="381000"/>
            <a:chOff x="1872" y="1824"/>
            <a:chExt cx="432" cy="240"/>
          </a:xfrm>
        </p:grpSpPr>
        <p:sp>
          <p:nvSpPr>
            <p:cNvPr id="68666" name="AutoShape 29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19</a:t>
              </a:r>
            </a:p>
          </p:txBody>
        </p:sp>
        <p:sp>
          <p:nvSpPr>
            <p:cNvPr id="68667" name="Line 30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8668" name="Line 31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8618" name="Group 32"/>
          <p:cNvGrpSpPr>
            <a:grpSpLocks/>
          </p:cNvGrpSpPr>
          <p:nvPr/>
        </p:nvGrpSpPr>
        <p:grpSpPr bwMode="auto">
          <a:xfrm>
            <a:off x="4114800" y="4419600"/>
            <a:ext cx="685800" cy="381000"/>
            <a:chOff x="1872" y="1824"/>
            <a:chExt cx="432" cy="240"/>
          </a:xfrm>
        </p:grpSpPr>
        <p:sp>
          <p:nvSpPr>
            <p:cNvPr id="3" name="AutoShape 33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240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25</a:t>
              </a:r>
            </a:p>
          </p:txBody>
        </p:sp>
        <p:sp>
          <p:nvSpPr>
            <p:cNvPr id="68664" name="Line 34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8665" name="Line 35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8619" name="Group 36"/>
          <p:cNvGrpSpPr>
            <a:grpSpLocks/>
          </p:cNvGrpSpPr>
          <p:nvPr/>
        </p:nvGrpSpPr>
        <p:grpSpPr bwMode="auto">
          <a:xfrm>
            <a:off x="5181600" y="4419600"/>
            <a:ext cx="685800" cy="381000"/>
            <a:chOff x="1872" y="1824"/>
            <a:chExt cx="432" cy="240"/>
          </a:xfrm>
        </p:grpSpPr>
        <p:sp>
          <p:nvSpPr>
            <p:cNvPr id="68660" name="AutoShape 37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42</a:t>
              </a:r>
            </a:p>
          </p:txBody>
        </p:sp>
        <p:sp>
          <p:nvSpPr>
            <p:cNvPr id="68661" name="Line 38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8662" name="Line 39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8620" name="Group 40"/>
          <p:cNvGrpSpPr>
            <a:grpSpLocks/>
          </p:cNvGrpSpPr>
          <p:nvPr/>
        </p:nvGrpSpPr>
        <p:grpSpPr bwMode="auto">
          <a:xfrm>
            <a:off x="4724400" y="5334000"/>
            <a:ext cx="685800" cy="381000"/>
            <a:chOff x="1872" y="1824"/>
            <a:chExt cx="432" cy="240"/>
          </a:xfrm>
        </p:grpSpPr>
        <p:sp>
          <p:nvSpPr>
            <p:cNvPr id="68657" name="AutoShape 41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31</a:t>
              </a:r>
            </a:p>
          </p:txBody>
        </p:sp>
        <p:sp>
          <p:nvSpPr>
            <p:cNvPr id="68658" name="Line 42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8659" name="Line 43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8621" name="Group 44"/>
          <p:cNvGrpSpPr>
            <a:grpSpLocks/>
          </p:cNvGrpSpPr>
          <p:nvPr/>
        </p:nvGrpSpPr>
        <p:grpSpPr bwMode="auto">
          <a:xfrm>
            <a:off x="7239000" y="3581400"/>
            <a:ext cx="685800" cy="381000"/>
            <a:chOff x="1872" y="1824"/>
            <a:chExt cx="432" cy="240"/>
          </a:xfrm>
        </p:grpSpPr>
        <p:sp>
          <p:nvSpPr>
            <p:cNvPr id="68654" name="AutoShape 45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60</a:t>
              </a:r>
            </a:p>
          </p:txBody>
        </p:sp>
        <p:sp>
          <p:nvSpPr>
            <p:cNvPr id="68655" name="Line 46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8656" name="Line 47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8622" name="Group 48"/>
          <p:cNvGrpSpPr>
            <a:grpSpLocks/>
          </p:cNvGrpSpPr>
          <p:nvPr/>
        </p:nvGrpSpPr>
        <p:grpSpPr bwMode="auto">
          <a:xfrm>
            <a:off x="8991600" y="3581400"/>
            <a:ext cx="685800" cy="381000"/>
            <a:chOff x="1872" y="1824"/>
            <a:chExt cx="432" cy="240"/>
          </a:xfrm>
        </p:grpSpPr>
        <p:sp>
          <p:nvSpPr>
            <p:cNvPr id="68651" name="AutoShape 49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99</a:t>
              </a:r>
            </a:p>
          </p:txBody>
        </p:sp>
        <p:sp>
          <p:nvSpPr>
            <p:cNvPr id="68652" name="Line 50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8653" name="Line 51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8623" name="Group 52"/>
          <p:cNvGrpSpPr>
            <a:grpSpLocks/>
          </p:cNvGrpSpPr>
          <p:nvPr/>
        </p:nvGrpSpPr>
        <p:grpSpPr bwMode="auto">
          <a:xfrm>
            <a:off x="6705600" y="4419600"/>
            <a:ext cx="685800" cy="381000"/>
            <a:chOff x="1872" y="1824"/>
            <a:chExt cx="432" cy="240"/>
          </a:xfrm>
        </p:grpSpPr>
        <p:sp>
          <p:nvSpPr>
            <p:cNvPr id="68648" name="AutoShape 53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58</a:t>
              </a:r>
            </a:p>
          </p:txBody>
        </p:sp>
        <p:sp>
          <p:nvSpPr>
            <p:cNvPr id="68649" name="Line 54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8650" name="Line 55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8624" name="Group 56"/>
          <p:cNvGrpSpPr>
            <a:grpSpLocks/>
          </p:cNvGrpSpPr>
          <p:nvPr/>
        </p:nvGrpSpPr>
        <p:grpSpPr bwMode="auto">
          <a:xfrm>
            <a:off x="7772400" y="4419600"/>
            <a:ext cx="685800" cy="381000"/>
            <a:chOff x="1872" y="1824"/>
            <a:chExt cx="432" cy="240"/>
          </a:xfrm>
        </p:grpSpPr>
        <p:sp>
          <p:nvSpPr>
            <p:cNvPr id="68645" name="AutoShape 57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62</a:t>
              </a:r>
            </a:p>
          </p:txBody>
        </p:sp>
        <p:sp>
          <p:nvSpPr>
            <p:cNvPr id="68646" name="Line 58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8647" name="Line 59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sp>
        <p:nvSpPr>
          <p:cNvPr id="68625" name="Line 60"/>
          <p:cNvSpPr>
            <a:spLocks noChangeShapeType="1"/>
          </p:cNvSpPr>
          <p:nvPr/>
        </p:nvSpPr>
        <p:spPr bwMode="auto">
          <a:xfrm flipH="1">
            <a:off x="3886200" y="1752600"/>
            <a:ext cx="1981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8626" name="Line 61"/>
          <p:cNvSpPr>
            <a:spLocks noChangeShapeType="1"/>
          </p:cNvSpPr>
          <p:nvPr/>
        </p:nvSpPr>
        <p:spPr bwMode="auto">
          <a:xfrm>
            <a:off x="6400800" y="1752600"/>
            <a:ext cx="2057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8627" name="Line 62"/>
          <p:cNvSpPr>
            <a:spLocks noChangeShapeType="1"/>
          </p:cNvSpPr>
          <p:nvPr/>
        </p:nvSpPr>
        <p:spPr bwMode="auto">
          <a:xfrm flipH="1">
            <a:off x="2819400" y="2895600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8628" name="Line 63"/>
          <p:cNvSpPr>
            <a:spLocks noChangeShapeType="1"/>
          </p:cNvSpPr>
          <p:nvPr/>
        </p:nvSpPr>
        <p:spPr bwMode="auto">
          <a:xfrm>
            <a:off x="4191000" y="2895600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8629" name="Line 65"/>
          <p:cNvSpPr>
            <a:spLocks noChangeShapeType="1"/>
          </p:cNvSpPr>
          <p:nvPr/>
        </p:nvSpPr>
        <p:spPr bwMode="auto">
          <a:xfrm>
            <a:off x="3124200" y="3733800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8630" name="Line 67"/>
          <p:cNvSpPr>
            <a:spLocks noChangeShapeType="1"/>
          </p:cNvSpPr>
          <p:nvPr/>
        </p:nvSpPr>
        <p:spPr bwMode="auto">
          <a:xfrm>
            <a:off x="5257800" y="3733800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8631" name="Line 69"/>
          <p:cNvSpPr>
            <a:spLocks noChangeShapeType="1"/>
          </p:cNvSpPr>
          <p:nvPr/>
        </p:nvSpPr>
        <p:spPr bwMode="auto">
          <a:xfrm flipH="1">
            <a:off x="7543800" y="2819400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8632" name="Line 70"/>
          <p:cNvSpPr>
            <a:spLocks noChangeShapeType="1"/>
          </p:cNvSpPr>
          <p:nvPr/>
        </p:nvSpPr>
        <p:spPr bwMode="auto">
          <a:xfrm>
            <a:off x="8686800" y="2819400"/>
            <a:ext cx="685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8633" name="Line 71"/>
          <p:cNvSpPr>
            <a:spLocks noChangeShapeType="1"/>
          </p:cNvSpPr>
          <p:nvPr/>
        </p:nvSpPr>
        <p:spPr bwMode="auto">
          <a:xfrm flipH="1">
            <a:off x="7086600" y="3733800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8634" name="Line 72"/>
          <p:cNvSpPr>
            <a:spLocks noChangeShapeType="1"/>
          </p:cNvSpPr>
          <p:nvPr/>
        </p:nvSpPr>
        <p:spPr bwMode="auto">
          <a:xfrm>
            <a:off x="7848600" y="3733800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8635" name="Rectangle 73"/>
          <p:cNvSpPr>
            <a:spLocks noChangeArrowheads="1"/>
          </p:cNvSpPr>
          <p:nvPr/>
        </p:nvSpPr>
        <p:spPr bwMode="auto">
          <a:xfrm>
            <a:off x="2438400" y="1752600"/>
            <a:ext cx="381000" cy="609600"/>
          </a:xfrm>
          <a:prstGeom prst="rect">
            <a:avLst/>
          </a:prstGeom>
          <a:solidFill>
            <a:srgbClr val="800080">
              <a:alpha val="54117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chemeClr val="bg1"/>
                </a:solidFill>
                <a:latin typeface="Times New Roman" pitchFamily="18" charset="0"/>
              </a:rPr>
              <a:t>P</a:t>
            </a:r>
          </a:p>
        </p:txBody>
      </p:sp>
      <p:sp>
        <p:nvSpPr>
          <p:cNvPr id="68636" name="Rectangle 74"/>
          <p:cNvSpPr>
            <a:spLocks noChangeArrowheads="1"/>
          </p:cNvSpPr>
          <p:nvPr/>
        </p:nvSpPr>
        <p:spPr bwMode="auto">
          <a:xfrm>
            <a:off x="3657600" y="4267200"/>
            <a:ext cx="11430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68637" name="Rectangle 77"/>
          <p:cNvSpPr>
            <a:spLocks noChangeArrowheads="1"/>
          </p:cNvSpPr>
          <p:nvPr/>
        </p:nvSpPr>
        <p:spPr bwMode="auto">
          <a:xfrm>
            <a:off x="6019800" y="2667000"/>
            <a:ext cx="381000" cy="609600"/>
          </a:xfrm>
          <a:prstGeom prst="rect">
            <a:avLst/>
          </a:prstGeom>
          <a:solidFill>
            <a:srgbClr val="FF99CC">
              <a:alpha val="52156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pitchFamily="18" charset="0"/>
              </a:rPr>
              <a:t>f</a:t>
            </a:r>
          </a:p>
        </p:txBody>
      </p:sp>
      <p:sp>
        <p:nvSpPr>
          <p:cNvPr id="68638" name="Freeform 78"/>
          <p:cNvSpPr>
            <a:spLocks/>
          </p:cNvSpPr>
          <p:nvPr/>
        </p:nvSpPr>
        <p:spPr bwMode="auto">
          <a:xfrm>
            <a:off x="5029200" y="2946400"/>
            <a:ext cx="990600" cy="635000"/>
          </a:xfrm>
          <a:custGeom>
            <a:avLst/>
            <a:gdLst>
              <a:gd name="T0" fmla="*/ 2147483647 w 624"/>
              <a:gd name="T1" fmla="*/ 2147483647 h 400"/>
              <a:gd name="T2" fmla="*/ 2147483647 w 624"/>
              <a:gd name="T3" fmla="*/ 2147483647 h 400"/>
              <a:gd name="T4" fmla="*/ 2147483647 w 624"/>
              <a:gd name="T5" fmla="*/ 2147483647 h 400"/>
              <a:gd name="T6" fmla="*/ 0 60000 65536"/>
              <a:gd name="T7" fmla="*/ 0 60000 65536"/>
              <a:gd name="T8" fmla="*/ 0 60000 65536"/>
              <a:gd name="T9" fmla="*/ 0 w 624"/>
              <a:gd name="T10" fmla="*/ 0 h 400"/>
              <a:gd name="T11" fmla="*/ 624 w 624"/>
              <a:gd name="T12" fmla="*/ 400 h 4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24" h="400">
                <a:moveTo>
                  <a:pt x="624" y="16"/>
                </a:moveTo>
                <a:cubicBezTo>
                  <a:pt x="408" y="8"/>
                  <a:pt x="192" y="0"/>
                  <a:pt x="96" y="64"/>
                </a:cubicBezTo>
                <a:cubicBezTo>
                  <a:pt x="0" y="128"/>
                  <a:pt x="24" y="264"/>
                  <a:pt x="48" y="400"/>
                </a:cubicBezTo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8639" name="Freeform 81"/>
          <p:cNvSpPr>
            <a:spLocks/>
          </p:cNvSpPr>
          <p:nvPr/>
        </p:nvSpPr>
        <p:spPr bwMode="auto">
          <a:xfrm>
            <a:off x="2819400" y="2032000"/>
            <a:ext cx="1066800" cy="635000"/>
          </a:xfrm>
          <a:custGeom>
            <a:avLst/>
            <a:gdLst>
              <a:gd name="T0" fmla="*/ 0 w 672"/>
              <a:gd name="T1" fmla="*/ 2147483647 h 400"/>
              <a:gd name="T2" fmla="*/ 2147483647 w 672"/>
              <a:gd name="T3" fmla="*/ 2147483647 h 400"/>
              <a:gd name="T4" fmla="*/ 2147483647 w 672"/>
              <a:gd name="T5" fmla="*/ 2147483647 h 400"/>
              <a:gd name="T6" fmla="*/ 0 60000 65536"/>
              <a:gd name="T7" fmla="*/ 0 60000 65536"/>
              <a:gd name="T8" fmla="*/ 0 60000 65536"/>
              <a:gd name="T9" fmla="*/ 0 w 672"/>
              <a:gd name="T10" fmla="*/ 0 h 400"/>
              <a:gd name="T11" fmla="*/ 672 w 672"/>
              <a:gd name="T12" fmla="*/ 400 h 4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2" h="400">
                <a:moveTo>
                  <a:pt x="0" y="16"/>
                </a:moveTo>
                <a:cubicBezTo>
                  <a:pt x="208" y="8"/>
                  <a:pt x="416" y="0"/>
                  <a:pt x="528" y="64"/>
                </a:cubicBezTo>
                <a:cubicBezTo>
                  <a:pt x="640" y="128"/>
                  <a:pt x="656" y="264"/>
                  <a:pt x="672" y="400"/>
                </a:cubicBezTo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8640" name="Rectangle 82"/>
          <p:cNvSpPr>
            <a:spLocks noChangeArrowheads="1"/>
          </p:cNvSpPr>
          <p:nvPr/>
        </p:nvSpPr>
        <p:spPr bwMode="auto">
          <a:xfrm rot="2751306">
            <a:off x="3505200" y="4572000"/>
            <a:ext cx="1524000" cy="152400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68641" name="Rectangle 83"/>
          <p:cNvSpPr>
            <a:spLocks noChangeArrowheads="1"/>
          </p:cNvSpPr>
          <p:nvPr/>
        </p:nvSpPr>
        <p:spPr bwMode="auto">
          <a:xfrm rot="18848694" flipH="1">
            <a:off x="3505200" y="4572000"/>
            <a:ext cx="1524000" cy="152400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68642" name="Freeform 79"/>
          <p:cNvSpPr>
            <a:spLocks/>
          </p:cNvSpPr>
          <p:nvPr/>
        </p:nvSpPr>
        <p:spPr bwMode="auto">
          <a:xfrm>
            <a:off x="4673600" y="3733800"/>
            <a:ext cx="355600" cy="1600200"/>
          </a:xfrm>
          <a:custGeom>
            <a:avLst/>
            <a:gdLst>
              <a:gd name="T0" fmla="*/ 2147483647 w 224"/>
              <a:gd name="T1" fmla="*/ 0 h 960"/>
              <a:gd name="T2" fmla="*/ 2147483647 w 224"/>
              <a:gd name="T3" fmla="*/ 2147483647 h 960"/>
              <a:gd name="T4" fmla="*/ 2147483647 w 224"/>
              <a:gd name="T5" fmla="*/ 2147483647 h 960"/>
              <a:gd name="T6" fmla="*/ 0 60000 65536"/>
              <a:gd name="T7" fmla="*/ 0 60000 65536"/>
              <a:gd name="T8" fmla="*/ 0 60000 65536"/>
              <a:gd name="T9" fmla="*/ 0 w 224"/>
              <a:gd name="T10" fmla="*/ 0 h 960"/>
              <a:gd name="T11" fmla="*/ 224 w 224"/>
              <a:gd name="T12" fmla="*/ 960 h 9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4" h="960">
                <a:moveTo>
                  <a:pt x="32" y="0"/>
                </a:moveTo>
                <a:cubicBezTo>
                  <a:pt x="16" y="208"/>
                  <a:pt x="0" y="416"/>
                  <a:pt x="32" y="576"/>
                </a:cubicBezTo>
                <a:cubicBezTo>
                  <a:pt x="64" y="736"/>
                  <a:pt x="144" y="848"/>
                  <a:pt x="224" y="960"/>
                </a:cubicBezTo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8643" name="Line 84"/>
          <p:cNvSpPr>
            <a:spLocks noChangeShapeType="1"/>
          </p:cNvSpPr>
          <p:nvPr/>
        </p:nvSpPr>
        <p:spPr bwMode="auto">
          <a:xfrm flipH="1">
            <a:off x="2362200" y="3733800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8644" name="AutoShape 84"/>
          <p:cNvSpPr>
            <a:spLocks noChangeArrowheads="1"/>
          </p:cNvSpPr>
          <p:nvPr/>
        </p:nvSpPr>
        <p:spPr bwMode="auto">
          <a:xfrm>
            <a:off x="4114800" y="2438400"/>
            <a:ext cx="1066800" cy="533400"/>
          </a:xfrm>
          <a:prstGeom prst="irregularSeal2">
            <a:avLst/>
          </a:prstGeom>
          <a:solidFill>
            <a:schemeClr val="accent1">
              <a:alpha val="34117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>
                <a:solidFill>
                  <a:srgbClr val="C00000"/>
                </a:solidFill>
                <a:latin typeface="Times New Roman" pitchFamily="18" charset="0"/>
              </a:rPr>
              <a:t>mới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1913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96900" y="649739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Ví dụ xóa x = 25</a:t>
            </a:r>
          </a:p>
        </p:txBody>
      </p:sp>
      <p:grpSp>
        <p:nvGrpSpPr>
          <p:cNvPr id="69635" name="Group 4"/>
          <p:cNvGrpSpPr>
            <a:grpSpLocks/>
          </p:cNvGrpSpPr>
          <p:nvPr/>
        </p:nvGrpSpPr>
        <p:grpSpPr bwMode="auto">
          <a:xfrm>
            <a:off x="5791200" y="2057400"/>
            <a:ext cx="685800" cy="381000"/>
            <a:chOff x="1872" y="1824"/>
            <a:chExt cx="432" cy="240"/>
          </a:xfrm>
        </p:grpSpPr>
        <p:sp>
          <p:nvSpPr>
            <p:cNvPr id="69701" name="AutoShape 5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52</a:t>
              </a:r>
            </a:p>
          </p:txBody>
        </p:sp>
        <p:sp>
          <p:nvSpPr>
            <p:cNvPr id="69702" name="Line 6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9703" name="Line 7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9636" name="Group 8"/>
          <p:cNvGrpSpPr>
            <a:grpSpLocks/>
          </p:cNvGrpSpPr>
          <p:nvPr/>
        </p:nvGrpSpPr>
        <p:grpSpPr bwMode="auto">
          <a:xfrm>
            <a:off x="3581400" y="3124200"/>
            <a:ext cx="685800" cy="381000"/>
            <a:chOff x="1872" y="1824"/>
            <a:chExt cx="432" cy="240"/>
          </a:xfrm>
        </p:grpSpPr>
        <p:sp>
          <p:nvSpPr>
            <p:cNvPr id="2" name="AutoShape 9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240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27</a:t>
              </a:r>
            </a:p>
          </p:txBody>
        </p:sp>
        <p:sp>
          <p:nvSpPr>
            <p:cNvPr id="69699" name="Line 10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9700" name="Line 11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9637" name="Group 12"/>
          <p:cNvGrpSpPr>
            <a:grpSpLocks/>
          </p:cNvGrpSpPr>
          <p:nvPr/>
        </p:nvGrpSpPr>
        <p:grpSpPr bwMode="auto">
          <a:xfrm>
            <a:off x="8077200" y="3124200"/>
            <a:ext cx="685800" cy="381000"/>
            <a:chOff x="1872" y="1824"/>
            <a:chExt cx="432" cy="240"/>
          </a:xfrm>
        </p:grpSpPr>
        <p:sp>
          <p:nvSpPr>
            <p:cNvPr id="69695" name="AutoShape 13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66</a:t>
              </a:r>
            </a:p>
          </p:txBody>
        </p:sp>
        <p:sp>
          <p:nvSpPr>
            <p:cNvPr id="69696" name="Line 14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9697" name="Line 15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9638" name="Group 16"/>
          <p:cNvGrpSpPr>
            <a:grpSpLocks/>
          </p:cNvGrpSpPr>
          <p:nvPr/>
        </p:nvGrpSpPr>
        <p:grpSpPr bwMode="auto">
          <a:xfrm>
            <a:off x="2514600" y="4038600"/>
            <a:ext cx="685800" cy="381000"/>
            <a:chOff x="1872" y="1824"/>
            <a:chExt cx="432" cy="240"/>
          </a:xfrm>
        </p:grpSpPr>
        <p:sp>
          <p:nvSpPr>
            <p:cNvPr id="69692" name="AutoShape 17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15</a:t>
              </a:r>
            </a:p>
          </p:txBody>
        </p:sp>
        <p:sp>
          <p:nvSpPr>
            <p:cNvPr id="69693" name="Line 18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9694" name="Line 19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9639" name="Group 20"/>
          <p:cNvGrpSpPr>
            <a:grpSpLocks/>
          </p:cNvGrpSpPr>
          <p:nvPr/>
        </p:nvGrpSpPr>
        <p:grpSpPr bwMode="auto">
          <a:xfrm>
            <a:off x="4648200" y="4038600"/>
            <a:ext cx="685800" cy="381000"/>
            <a:chOff x="1872" y="1824"/>
            <a:chExt cx="432" cy="240"/>
          </a:xfrm>
        </p:grpSpPr>
        <p:sp>
          <p:nvSpPr>
            <p:cNvPr id="69689" name="AutoShape 21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rgbClr val="FFC000"/>
                  </a:solidFill>
                  <a:latin typeface="Times New Roman" pitchFamily="18" charset="0"/>
                </a:rPr>
                <a:t>39</a:t>
              </a:r>
            </a:p>
          </p:txBody>
        </p:sp>
        <p:sp>
          <p:nvSpPr>
            <p:cNvPr id="69690" name="Line 22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9691" name="Line 23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9640" name="Group 24"/>
          <p:cNvGrpSpPr>
            <a:grpSpLocks/>
          </p:cNvGrpSpPr>
          <p:nvPr/>
        </p:nvGrpSpPr>
        <p:grpSpPr bwMode="auto">
          <a:xfrm>
            <a:off x="1981200" y="4876800"/>
            <a:ext cx="685800" cy="381000"/>
            <a:chOff x="1872" y="1824"/>
            <a:chExt cx="432" cy="240"/>
          </a:xfrm>
        </p:grpSpPr>
        <p:sp>
          <p:nvSpPr>
            <p:cNvPr id="69686" name="AutoShape 25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69687" name="Line 26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9688" name="Line 27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9641" name="Group 28"/>
          <p:cNvGrpSpPr>
            <a:grpSpLocks/>
          </p:cNvGrpSpPr>
          <p:nvPr/>
        </p:nvGrpSpPr>
        <p:grpSpPr bwMode="auto">
          <a:xfrm>
            <a:off x="3048000" y="4876800"/>
            <a:ext cx="685800" cy="381000"/>
            <a:chOff x="1872" y="1824"/>
            <a:chExt cx="432" cy="240"/>
          </a:xfrm>
        </p:grpSpPr>
        <p:sp>
          <p:nvSpPr>
            <p:cNvPr id="69683" name="AutoShape 29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19</a:t>
              </a:r>
            </a:p>
          </p:txBody>
        </p:sp>
        <p:sp>
          <p:nvSpPr>
            <p:cNvPr id="69684" name="Line 30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9685" name="Line 31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9642" name="Group 32"/>
          <p:cNvGrpSpPr>
            <a:grpSpLocks/>
          </p:cNvGrpSpPr>
          <p:nvPr/>
        </p:nvGrpSpPr>
        <p:grpSpPr bwMode="auto">
          <a:xfrm>
            <a:off x="4114800" y="4876800"/>
            <a:ext cx="685800" cy="381000"/>
            <a:chOff x="1872" y="1824"/>
            <a:chExt cx="432" cy="240"/>
          </a:xfrm>
        </p:grpSpPr>
        <p:sp>
          <p:nvSpPr>
            <p:cNvPr id="3" name="AutoShape 33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240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31</a:t>
              </a:r>
            </a:p>
          </p:txBody>
        </p:sp>
        <p:sp>
          <p:nvSpPr>
            <p:cNvPr id="69681" name="Line 34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9682" name="Line 35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9643" name="Group 36"/>
          <p:cNvGrpSpPr>
            <a:grpSpLocks/>
          </p:cNvGrpSpPr>
          <p:nvPr/>
        </p:nvGrpSpPr>
        <p:grpSpPr bwMode="auto">
          <a:xfrm>
            <a:off x="5181600" y="4876800"/>
            <a:ext cx="685800" cy="381000"/>
            <a:chOff x="1872" y="1824"/>
            <a:chExt cx="432" cy="240"/>
          </a:xfrm>
        </p:grpSpPr>
        <p:sp>
          <p:nvSpPr>
            <p:cNvPr id="69677" name="AutoShape 37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42</a:t>
              </a:r>
            </a:p>
          </p:txBody>
        </p:sp>
        <p:sp>
          <p:nvSpPr>
            <p:cNvPr id="69678" name="Line 38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9679" name="Line 39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9644" name="Group 44"/>
          <p:cNvGrpSpPr>
            <a:grpSpLocks/>
          </p:cNvGrpSpPr>
          <p:nvPr/>
        </p:nvGrpSpPr>
        <p:grpSpPr bwMode="auto">
          <a:xfrm>
            <a:off x="7239000" y="4038600"/>
            <a:ext cx="685800" cy="381000"/>
            <a:chOff x="1872" y="1824"/>
            <a:chExt cx="432" cy="240"/>
          </a:xfrm>
        </p:grpSpPr>
        <p:sp>
          <p:nvSpPr>
            <p:cNvPr id="69674" name="AutoShape 45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60</a:t>
              </a:r>
            </a:p>
          </p:txBody>
        </p:sp>
        <p:sp>
          <p:nvSpPr>
            <p:cNvPr id="69675" name="Line 46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9676" name="Line 47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9645" name="Group 48"/>
          <p:cNvGrpSpPr>
            <a:grpSpLocks/>
          </p:cNvGrpSpPr>
          <p:nvPr/>
        </p:nvGrpSpPr>
        <p:grpSpPr bwMode="auto">
          <a:xfrm>
            <a:off x="8991600" y="4038600"/>
            <a:ext cx="685800" cy="381000"/>
            <a:chOff x="1872" y="1824"/>
            <a:chExt cx="432" cy="240"/>
          </a:xfrm>
        </p:grpSpPr>
        <p:sp>
          <p:nvSpPr>
            <p:cNvPr id="69671" name="AutoShape 49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99</a:t>
              </a:r>
            </a:p>
          </p:txBody>
        </p:sp>
        <p:sp>
          <p:nvSpPr>
            <p:cNvPr id="69672" name="Line 50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9673" name="Line 51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9646" name="Group 52"/>
          <p:cNvGrpSpPr>
            <a:grpSpLocks/>
          </p:cNvGrpSpPr>
          <p:nvPr/>
        </p:nvGrpSpPr>
        <p:grpSpPr bwMode="auto">
          <a:xfrm>
            <a:off x="6705600" y="4876800"/>
            <a:ext cx="685800" cy="381000"/>
            <a:chOff x="1872" y="1824"/>
            <a:chExt cx="432" cy="240"/>
          </a:xfrm>
        </p:grpSpPr>
        <p:sp>
          <p:nvSpPr>
            <p:cNvPr id="69668" name="AutoShape 53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58</a:t>
              </a:r>
            </a:p>
          </p:txBody>
        </p:sp>
        <p:sp>
          <p:nvSpPr>
            <p:cNvPr id="69669" name="Line 54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9670" name="Line 55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69647" name="Group 56"/>
          <p:cNvGrpSpPr>
            <a:grpSpLocks/>
          </p:cNvGrpSpPr>
          <p:nvPr/>
        </p:nvGrpSpPr>
        <p:grpSpPr bwMode="auto">
          <a:xfrm>
            <a:off x="7772400" y="4876800"/>
            <a:ext cx="685800" cy="381000"/>
            <a:chOff x="1872" y="1824"/>
            <a:chExt cx="432" cy="240"/>
          </a:xfrm>
        </p:grpSpPr>
        <p:sp>
          <p:nvSpPr>
            <p:cNvPr id="69665" name="AutoShape 57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62</a:t>
              </a:r>
            </a:p>
          </p:txBody>
        </p:sp>
        <p:sp>
          <p:nvSpPr>
            <p:cNvPr id="69666" name="Line 58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69667" name="Line 59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sp>
        <p:nvSpPr>
          <p:cNvPr id="69648" name="Line 60"/>
          <p:cNvSpPr>
            <a:spLocks noChangeShapeType="1"/>
          </p:cNvSpPr>
          <p:nvPr/>
        </p:nvSpPr>
        <p:spPr bwMode="auto">
          <a:xfrm flipH="1">
            <a:off x="3886200" y="2209800"/>
            <a:ext cx="1981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9649" name="Line 61"/>
          <p:cNvSpPr>
            <a:spLocks noChangeShapeType="1"/>
          </p:cNvSpPr>
          <p:nvPr/>
        </p:nvSpPr>
        <p:spPr bwMode="auto">
          <a:xfrm>
            <a:off x="6400800" y="2209800"/>
            <a:ext cx="2057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9650" name="Line 62"/>
          <p:cNvSpPr>
            <a:spLocks noChangeShapeType="1"/>
          </p:cNvSpPr>
          <p:nvPr/>
        </p:nvSpPr>
        <p:spPr bwMode="auto">
          <a:xfrm flipH="1">
            <a:off x="2819400" y="3352800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9651" name="Line 63"/>
          <p:cNvSpPr>
            <a:spLocks noChangeShapeType="1"/>
          </p:cNvSpPr>
          <p:nvPr/>
        </p:nvSpPr>
        <p:spPr bwMode="auto">
          <a:xfrm>
            <a:off x="4191000" y="3352800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9652" name="Line 65"/>
          <p:cNvSpPr>
            <a:spLocks noChangeShapeType="1"/>
          </p:cNvSpPr>
          <p:nvPr/>
        </p:nvSpPr>
        <p:spPr bwMode="auto">
          <a:xfrm>
            <a:off x="3124200" y="4191000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9653" name="Line 66"/>
          <p:cNvSpPr>
            <a:spLocks noChangeShapeType="1"/>
          </p:cNvSpPr>
          <p:nvPr/>
        </p:nvSpPr>
        <p:spPr bwMode="auto">
          <a:xfrm>
            <a:off x="5257800" y="4191000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9654" name="Line 67"/>
          <p:cNvSpPr>
            <a:spLocks noChangeShapeType="1"/>
          </p:cNvSpPr>
          <p:nvPr/>
        </p:nvSpPr>
        <p:spPr bwMode="auto">
          <a:xfrm flipH="1">
            <a:off x="7543800" y="3276600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9655" name="Line 68"/>
          <p:cNvSpPr>
            <a:spLocks noChangeShapeType="1"/>
          </p:cNvSpPr>
          <p:nvPr/>
        </p:nvSpPr>
        <p:spPr bwMode="auto">
          <a:xfrm>
            <a:off x="8686800" y="3276600"/>
            <a:ext cx="685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9656" name="Line 69"/>
          <p:cNvSpPr>
            <a:spLocks noChangeShapeType="1"/>
          </p:cNvSpPr>
          <p:nvPr/>
        </p:nvSpPr>
        <p:spPr bwMode="auto">
          <a:xfrm flipH="1">
            <a:off x="7086600" y="4191000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9657" name="Line 70"/>
          <p:cNvSpPr>
            <a:spLocks noChangeShapeType="1"/>
          </p:cNvSpPr>
          <p:nvPr/>
        </p:nvSpPr>
        <p:spPr bwMode="auto">
          <a:xfrm>
            <a:off x="7848600" y="4191000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9658" name="Rectangle 71"/>
          <p:cNvSpPr>
            <a:spLocks noChangeArrowheads="1"/>
          </p:cNvSpPr>
          <p:nvPr/>
        </p:nvSpPr>
        <p:spPr bwMode="auto">
          <a:xfrm>
            <a:off x="2438400" y="2209800"/>
            <a:ext cx="381000" cy="609600"/>
          </a:xfrm>
          <a:prstGeom prst="rect">
            <a:avLst/>
          </a:prstGeom>
          <a:solidFill>
            <a:srgbClr val="800080">
              <a:alpha val="54117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chemeClr val="bg1"/>
                </a:solidFill>
                <a:latin typeface="Times New Roman" pitchFamily="18" charset="0"/>
              </a:rPr>
              <a:t>P</a:t>
            </a:r>
          </a:p>
        </p:txBody>
      </p:sp>
      <p:sp>
        <p:nvSpPr>
          <p:cNvPr id="69659" name="Rectangle 73"/>
          <p:cNvSpPr>
            <a:spLocks noChangeArrowheads="1"/>
          </p:cNvSpPr>
          <p:nvPr/>
        </p:nvSpPr>
        <p:spPr bwMode="auto">
          <a:xfrm>
            <a:off x="6019800" y="3124200"/>
            <a:ext cx="381000" cy="609600"/>
          </a:xfrm>
          <a:prstGeom prst="rect">
            <a:avLst/>
          </a:prstGeom>
          <a:solidFill>
            <a:srgbClr val="FF99CC">
              <a:alpha val="52156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pitchFamily="18" charset="0"/>
              </a:rPr>
              <a:t>f</a:t>
            </a:r>
          </a:p>
        </p:txBody>
      </p:sp>
      <p:sp>
        <p:nvSpPr>
          <p:cNvPr id="69660" name="Freeform 74"/>
          <p:cNvSpPr>
            <a:spLocks/>
          </p:cNvSpPr>
          <p:nvPr/>
        </p:nvSpPr>
        <p:spPr bwMode="auto">
          <a:xfrm>
            <a:off x="5029200" y="3403600"/>
            <a:ext cx="990600" cy="635000"/>
          </a:xfrm>
          <a:custGeom>
            <a:avLst/>
            <a:gdLst>
              <a:gd name="T0" fmla="*/ 2147483647 w 624"/>
              <a:gd name="T1" fmla="*/ 2147483647 h 400"/>
              <a:gd name="T2" fmla="*/ 2147483647 w 624"/>
              <a:gd name="T3" fmla="*/ 2147483647 h 400"/>
              <a:gd name="T4" fmla="*/ 2147483647 w 624"/>
              <a:gd name="T5" fmla="*/ 2147483647 h 400"/>
              <a:gd name="T6" fmla="*/ 0 60000 65536"/>
              <a:gd name="T7" fmla="*/ 0 60000 65536"/>
              <a:gd name="T8" fmla="*/ 0 60000 65536"/>
              <a:gd name="T9" fmla="*/ 0 w 624"/>
              <a:gd name="T10" fmla="*/ 0 h 400"/>
              <a:gd name="T11" fmla="*/ 624 w 624"/>
              <a:gd name="T12" fmla="*/ 400 h 4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24" h="400">
                <a:moveTo>
                  <a:pt x="624" y="16"/>
                </a:moveTo>
                <a:cubicBezTo>
                  <a:pt x="408" y="8"/>
                  <a:pt x="192" y="0"/>
                  <a:pt x="96" y="64"/>
                </a:cubicBezTo>
                <a:cubicBezTo>
                  <a:pt x="0" y="128"/>
                  <a:pt x="24" y="264"/>
                  <a:pt x="48" y="400"/>
                </a:cubicBezTo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9661" name="Freeform 76"/>
          <p:cNvSpPr>
            <a:spLocks/>
          </p:cNvSpPr>
          <p:nvPr/>
        </p:nvSpPr>
        <p:spPr bwMode="auto">
          <a:xfrm>
            <a:off x="2819400" y="2489200"/>
            <a:ext cx="1066800" cy="635000"/>
          </a:xfrm>
          <a:custGeom>
            <a:avLst/>
            <a:gdLst>
              <a:gd name="T0" fmla="*/ 0 w 672"/>
              <a:gd name="T1" fmla="*/ 2147483647 h 400"/>
              <a:gd name="T2" fmla="*/ 2147483647 w 672"/>
              <a:gd name="T3" fmla="*/ 2147483647 h 400"/>
              <a:gd name="T4" fmla="*/ 2147483647 w 672"/>
              <a:gd name="T5" fmla="*/ 2147483647 h 400"/>
              <a:gd name="T6" fmla="*/ 0 60000 65536"/>
              <a:gd name="T7" fmla="*/ 0 60000 65536"/>
              <a:gd name="T8" fmla="*/ 0 60000 65536"/>
              <a:gd name="T9" fmla="*/ 0 w 672"/>
              <a:gd name="T10" fmla="*/ 0 h 400"/>
              <a:gd name="T11" fmla="*/ 672 w 672"/>
              <a:gd name="T12" fmla="*/ 400 h 4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2" h="400">
                <a:moveTo>
                  <a:pt x="0" y="16"/>
                </a:moveTo>
                <a:cubicBezTo>
                  <a:pt x="208" y="8"/>
                  <a:pt x="416" y="0"/>
                  <a:pt x="528" y="64"/>
                </a:cubicBezTo>
                <a:cubicBezTo>
                  <a:pt x="640" y="128"/>
                  <a:pt x="656" y="264"/>
                  <a:pt x="672" y="400"/>
                </a:cubicBezTo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9662" name="Line 80"/>
          <p:cNvSpPr>
            <a:spLocks noChangeShapeType="1"/>
          </p:cNvSpPr>
          <p:nvPr/>
        </p:nvSpPr>
        <p:spPr bwMode="auto">
          <a:xfrm flipH="1">
            <a:off x="4419600" y="4191000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9663" name="Line 81"/>
          <p:cNvSpPr>
            <a:spLocks noChangeShapeType="1"/>
          </p:cNvSpPr>
          <p:nvPr/>
        </p:nvSpPr>
        <p:spPr bwMode="auto">
          <a:xfrm flipH="1">
            <a:off x="2362200" y="4191000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9664" name="AutoShape 84"/>
          <p:cNvSpPr>
            <a:spLocks noChangeArrowheads="1"/>
          </p:cNvSpPr>
          <p:nvPr/>
        </p:nvSpPr>
        <p:spPr bwMode="auto">
          <a:xfrm>
            <a:off x="4114800" y="2895600"/>
            <a:ext cx="1066800" cy="533400"/>
          </a:xfrm>
          <a:prstGeom prst="irregularSeal2">
            <a:avLst/>
          </a:prstGeom>
          <a:solidFill>
            <a:schemeClr val="accent1">
              <a:alpha val="34117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800">
                <a:solidFill>
                  <a:srgbClr val="C00000"/>
                </a:solidFill>
                <a:latin typeface="Times New Roman" pitchFamily="18" charset="0"/>
              </a:rPr>
              <a:t>mới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1882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1391" y="446772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Ví dụ xóa x = 25</a:t>
            </a:r>
          </a:p>
        </p:txBody>
      </p:sp>
      <p:grpSp>
        <p:nvGrpSpPr>
          <p:cNvPr id="70659" name="Group 3"/>
          <p:cNvGrpSpPr>
            <a:grpSpLocks/>
          </p:cNvGrpSpPr>
          <p:nvPr/>
        </p:nvGrpSpPr>
        <p:grpSpPr bwMode="auto">
          <a:xfrm>
            <a:off x="2309191" y="2511391"/>
            <a:ext cx="685800" cy="381000"/>
            <a:chOff x="1872" y="1824"/>
            <a:chExt cx="432" cy="240"/>
          </a:xfrm>
        </p:grpSpPr>
        <p:sp>
          <p:nvSpPr>
            <p:cNvPr id="77828" name="AutoShape 4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240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25</a:t>
              </a:r>
            </a:p>
          </p:txBody>
        </p:sp>
        <p:sp>
          <p:nvSpPr>
            <p:cNvPr id="70700" name="Line 5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0701" name="Line 6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70660" name="Group 7"/>
          <p:cNvGrpSpPr>
            <a:grpSpLocks/>
          </p:cNvGrpSpPr>
          <p:nvPr/>
        </p:nvGrpSpPr>
        <p:grpSpPr bwMode="auto">
          <a:xfrm>
            <a:off x="1242391" y="3425791"/>
            <a:ext cx="685800" cy="381000"/>
            <a:chOff x="1872" y="1824"/>
            <a:chExt cx="432" cy="240"/>
          </a:xfrm>
        </p:grpSpPr>
        <p:sp>
          <p:nvSpPr>
            <p:cNvPr id="70696" name="AutoShape 8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15</a:t>
              </a:r>
            </a:p>
          </p:txBody>
        </p:sp>
        <p:sp>
          <p:nvSpPr>
            <p:cNvPr id="70697" name="Line 9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0698" name="Line 10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70661" name="Group 11"/>
          <p:cNvGrpSpPr>
            <a:grpSpLocks/>
          </p:cNvGrpSpPr>
          <p:nvPr/>
        </p:nvGrpSpPr>
        <p:grpSpPr bwMode="auto">
          <a:xfrm>
            <a:off x="3375991" y="3425791"/>
            <a:ext cx="685800" cy="381000"/>
            <a:chOff x="1872" y="1824"/>
            <a:chExt cx="432" cy="240"/>
          </a:xfrm>
        </p:grpSpPr>
        <p:sp>
          <p:nvSpPr>
            <p:cNvPr id="70693" name="AutoShape 12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39</a:t>
              </a:r>
            </a:p>
          </p:txBody>
        </p:sp>
        <p:sp>
          <p:nvSpPr>
            <p:cNvPr id="70694" name="Line 13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0695" name="Line 14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70662" name="Group 15"/>
          <p:cNvGrpSpPr>
            <a:grpSpLocks/>
          </p:cNvGrpSpPr>
          <p:nvPr/>
        </p:nvGrpSpPr>
        <p:grpSpPr bwMode="auto">
          <a:xfrm>
            <a:off x="708991" y="4263991"/>
            <a:ext cx="685800" cy="381000"/>
            <a:chOff x="1872" y="1824"/>
            <a:chExt cx="432" cy="240"/>
          </a:xfrm>
        </p:grpSpPr>
        <p:sp>
          <p:nvSpPr>
            <p:cNvPr id="70690" name="AutoShape 16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70691" name="Line 17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0692" name="Line 18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70663" name="Group 19"/>
          <p:cNvGrpSpPr>
            <a:grpSpLocks/>
          </p:cNvGrpSpPr>
          <p:nvPr/>
        </p:nvGrpSpPr>
        <p:grpSpPr bwMode="auto">
          <a:xfrm>
            <a:off x="1775791" y="4263991"/>
            <a:ext cx="685800" cy="381000"/>
            <a:chOff x="1872" y="1824"/>
            <a:chExt cx="432" cy="240"/>
          </a:xfrm>
        </p:grpSpPr>
        <p:sp>
          <p:nvSpPr>
            <p:cNvPr id="70687" name="AutoShape 20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19</a:t>
              </a:r>
            </a:p>
          </p:txBody>
        </p:sp>
        <p:sp>
          <p:nvSpPr>
            <p:cNvPr id="70688" name="Line 21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0689" name="Line 22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70664" name="Group 23"/>
          <p:cNvGrpSpPr>
            <a:grpSpLocks/>
          </p:cNvGrpSpPr>
          <p:nvPr/>
        </p:nvGrpSpPr>
        <p:grpSpPr bwMode="auto">
          <a:xfrm>
            <a:off x="3909391" y="4263991"/>
            <a:ext cx="685800" cy="381000"/>
            <a:chOff x="1872" y="1824"/>
            <a:chExt cx="432" cy="240"/>
          </a:xfrm>
        </p:grpSpPr>
        <p:sp>
          <p:nvSpPr>
            <p:cNvPr id="70684" name="AutoShape 24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42</a:t>
              </a:r>
            </a:p>
          </p:txBody>
        </p:sp>
        <p:sp>
          <p:nvSpPr>
            <p:cNvPr id="70685" name="Line 25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0686" name="Line 26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sp>
        <p:nvSpPr>
          <p:cNvPr id="70665" name="Line 27"/>
          <p:cNvSpPr>
            <a:spLocks noChangeShapeType="1"/>
          </p:cNvSpPr>
          <p:nvPr/>
        </p:nvSpPr>
        <p:spPr bwMode="auto">
          <a:xfrm flipH="1">
            <a:off x="1547191" y="2739991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0666" name="Line 28"/>
          <p:cNvSpPr>
            <a:spLocks noChangeShapeType="1"/>
          </p:cNvSpPr>
          <p:nvPr/>
        </p:nvSpPr>
        <p:spPr bwMode="auto">
          <a:xfrm>
            <a:off x="2918791" y="2739991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0667" name="Line 29"/>
          <p:cNvSpPr>
            <a:spLocks noChangeShapeType="1"/>
          </p:cNvSpPr>
          <p:nvPr/>
        </p:nvSpPr>
        <p:spPr bwMode="auto">
          <a:xfrm>
            <a:off x="1851991" y="3578191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0668" name="Line 30"/>
          <p:cNvSpPr>
            <a:spLocks noChangeShapeType="1"/>
          </p:cNvSpPr>
          <p:nvPr/>
        </p:nvSpPr>
        <p:spPr bwMode="auto">
          <a:xfrm>
            <a:off x="3985591" y="3578191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0669" name="Rectangle 31"/>
          <p:cNvSpPr>
            <a:spLocks noChangeArrowheads="1"/>
          </p:cNvSpPr>
          <p:nvPr/>
        </p:nvSpPr>
        <p:spPr bwMode="auto">
          <a:xfrm>
            <a:off x="2080591" y="2358991"/>
            <a:ext cx="1143000" cy="6858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70670" name="Freeform 32"/>
          <p:cNvSpPr>
            <a:spLocks/>
          </p:cNvSpPr>
          <p:nvPr/>
        </p:nvSpPr>
        <p:spPr bwMode="auto">
          <a:xfrm>
            <a:off x="1547191" y="1876391"/>
            <a:ext cx="1066800" cy="635000"/>
          </a:xfrm>
          <a:custGeom>
            <a:avLst/>
            <a:gdLst>
              <a:gd name="T0" fmla="*/ 0 w 672"/>
              <a:gd name="T1" fmla="*/ 2147483647 h 400"/>
              <a:gd name="T2" fmla="*/ 2147483647 w 672"/>
              <a:gd name="T3" fmla="*/ 2147483647 h 400"/>
              <a:gd name="T4" fmla="*/ 2147483647 w 672"/>
              <a:gd name="T5" fmla="*/ 2147483647 h 400"/>
              <a:gd name="T6" fmla="*/ 0 60000 65536"/>
              <a:gd name="T7" fmla="*/ 0 60000 65536"/>
              <a:gd name="T8" fmla="*/ 0 60000 65536"/>
              <a:gd name="T9" fmla="*/ 0 w 672"/>
              <a:gd name="T10" fmla="*/ 0 h 400"/>
              <a:gd name="T11" fmla="*/ 672 w 672"/>
              <a:gd name="T12" fmla="*/ 400 h 4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2" h="400">
                <a:moveTo>
                  <a:pt x="0" y="16"/>
                </a:moveTo>
                <a:cubicBezTo>
                  <a:pt x="208" y="8"/>
                  <a:pt x="416" y="0"/>
                  <a:pt x="528" y="64"/>
                </a:cubicBezTo>
                <a:cubicBezTo>
                  <a:pt x="640" y="128"/>
                  <a:pt x="656" y="264"/>
                  <a:pt x="672" y="400"/>
                </a:cubicBezTo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0671" name="Rectangle 33"/>
          <p:cNvSpPr>
            <a:spLocks noChangeArrowheads="1"/>
          </p:cNvSpPr>
          <p:nvPr/>
        </p:nvSpPr>
        <p:spPr bwMode="auto">
          <a:xfrm>
            <a:off x="1166191" y="1596991"/>
            <a:ext cx="381000" cy="609600"/>
          </a:xfrm>
          <a:prstGeom prst="rect">
            <a:avLst/>
          </a:prstGeom>
          <a:solidFill>
            <a:srgbClr val="800080">
              <a:alpha val="54117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800">
                <a:solidFill>
                  <a:schemeClr val="bg1"/>
                </a:solidFill>
                <a:latin typeface="Times New Roman" pitchFamily="18" charset="0"/>
              </a:rPr>
              <a:t>P</a:t>
            </a:r>
          </a:p>
        </p:txBody>
      </p:sp>
      <p:sp>
        <p:nvSpPr>
          <p:cNvPr id="70672" name="Rectangle 34"/>
          <p:cNvSpPr>
            <a:spLocks noChangeArrowheads="1"/>
          </p:cNvSpPr>
          <p:nvPr/>
        </p:nvSpPr>
        <p:spPr bwMode="auto">
          <a:xfrm>
            <a:off x="4747591" y="2435191"/>
            <a:ext cx="381000" cy="609600"/>
          </a:xfrm>
          <a:prstGeom prst="rect">
            <a:avLst/>
          </a:prstGeom>
          <a:solidFill>
            <a:srgbClr val="FFFF00">
              <a:alpha val="39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800">
                <a:latin typeface="Times New Roman" pitchFamily="18" charset="0"/>
              </a:rPr>
              <a:t>rp</a:t>
            </a:r>
          </a:p>
        </p:txBody>
      </p:sp>
      <p:sp>
        <p:nvSpPr>
          <p:cNvPr id="70673" name="Freeform 35"/>
          <p:cNvSpPr>
            <a:spLocks/>
          </p:cNvSpPr>
          <p:nvPr/>
        </p:nvSpPr>
        <p:spPr bwMode="auto">
          <a:xfrm>
            <a:off x="3756991" y="2790791"/>
            <a:ext cx="990600" cy="635000"/>
          </a:xfrm>
          <a:custGeom>
            <a:avLst/>
            <a:gdLst>
              <a:gd name="T0" fmla="*/ 2147483647 w 624"/>
              <a:gd name="T1" fmla="*/ 2147483647 h 400"/>
              <a:gd name="T2" fmla="*/ 2147483647 w 624"/>
              <a:gd name="T3" fmla="*/ 2147483647 h 400"/>
              <a:gd name="T4" fmla="*/ 2147483647 w 624"/>
              <a:gd name="T5" fmla="*/ 2147483647 h 400"/>
              <a:gd name="T6" fmla="*/ 0 60000 65536"/>
              <a:gd name="T7" fmla="*/ 0 60000 65536"/>
              <a:gd name="T8" fmla="*/ 0 60000 65536"/>
              <a:gd name="T9" fmla="*/ 0 w 624"/>
              <a:gd name="T10" fmla="*/ 0 h 400"/>
              <a:gd name="T11" fmla="*/ 624 w 624"/>
              <a:gd name="T12" fmla="*/ 400 h 4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24" h="400">
                <a:moveTo>
                  <a:pt x="624" y="16"/>
                </a:moveTo>
                <a:cubicBezTo>
                  <a:pt x="408" y="8"/>
                  <a:pt x="192" y="0"/>
                  <a:pt x="96" y="64"/>
                </a:cubicBezTo>
                <a:cubicBezTo>
                  <a:pt x="0" y="128"/>
                  <a:pt x="24" y="264"/>
                  <a:pt x="48" y="400"/>
                </a:cubicBezTo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0674" name="Line 36"/>
          <p:cNvSpPr>
            <a:spLocks noChangeShapeType="1"/>
          </p:cNvSpPr>
          <p:nvPr/>
        </p:nvSpPr>
        <p:spPr bwMode="auto">
          <a:xfrm flipH="1">
            <a:off x="1089991" y="3578191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0675" name="Rectangle 37"/>
          <p:cNvSpPr>
            <a:spLocks noChangeArrowheads="1"/>
          </p:cNvSpPr>
          <p:nvPr/>
        </p:nvSpPr>
        <p:spPr bwMode="auto">
          <a:xfrm>
            <a:off x="3528391" y="1139791"/>
            <a:ext cx="381000" cy="609600"/>
          </a:xfrm>
          <a:prstGeom prst="rect">
            <a:avLst/>
          </a:prstGeom>
          <a:solidFill>
            <a:srgbClr val="FF99CC">
              <a:alpha val="52156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pitchFamily="18" charset="0"/>
              </a:rPr>
              <a:t>f</a:t>
            </a:r>
          </a:p>
        </p:txBody>
      </p:sp>
      <p:sp>
        <p:nvSpPr>
          <p:cNvPr id="70676" name="Freeform 38"/>
          <p:cNvSpPr>
            <a:spLocks/>
          </p:cNvSpPr>
          <p:nvPr/>
        </p:nvSpPr>
        <p:spPr bwMode="auto">
          <a:xfrm>
            <a:off x="2715591" y="1419191"/>
            <a:ext cx="812800" cy="1092200"/>
          </a:xfrm>
          <a:custGeom>
            <a:avLst/>
            <a:gdLst>
              <a:gd name="T0" fmla="*/ 2147483647 w 512"/>
              <a:gd name="T1" fmla="*/ 2147483647 h 688"/>
              <a:gd name="T2" fmla="*/ 2147483647 w 512"/>
              <a:gd name="T3" fmla="*/ 2147483647 h 688"/>
              <a:gd name="T4" fmla="*/ 2147483647 w 512"/>
              <a:gd name="T5" fmla="*/ 2147483647 h 688"/>
              <a:gd name="T6" fmla="*/ 0 60000 65536"/>
              <a:gd name="T7" fmla="*/ 0 60000 65536"/>
              <a:gd name="T8" fmla="*/ 0 60000 65536"/>
              <a:gd name="T9" fmla="*/ 0 w 512"/>
              <a:gd name="T10" fmla="*/ 0 h 688"/>
              <a:gd name="T11" fmla="*/ 512 w 512"/>
              <a:gd name="T12" fmla="*/ 688 h 6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12" h="688">
                <a:moveTo>
                  <a:pt x="512" y="16"/>
                </a:moveTo>
                <a:cubicBezTo>
                  <a:pt x="336" y="8"/>
                  <a:pt x="160" y="0"/>
                  <a:pt x="80" y="112"/>
                </a:cubicBezTo>
                <a:cubicBezTo>
                  <a:pt x="0" y="224"/>
                  <a:pt x="16" y="456"/>
                  <a:pt x="32" y="688"/>
                </a:cubicBezTo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0677" name="Rectangle 39"/>
          <p:cNvSpPr>
            <a:spLocks noChangeArrowheads="1"/>
          </p:cNvSpPr>
          <p:nvPr/>
        </p:nvSpPr>
        <p:spPr bwMode="auto">
          <a:xfrm>
            <a:off x="3147391" y="3273391"/>
            <a:ext cx="1143000" cy="6858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70678" name="Text Box 40"/>
          <p:cNvSpPr txBox="1">
            <a:spLocks noChangeArrowheads="1"/>
          </p:cNvSpPr>
          <p:nvPr/>
        </p:nvSpPr>
        <p:spPr bwMode="auto">
          <a:xfrm>
            <a:off x="5814391" y="1524001"/>
            <a:ext cx="6130561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en-US" sz="3200">
                <a:latin typeface="Times New Roman" pitchFamily="18" charset="0"/>
              </a:rPr>
              <a:t>Trường hợp đặc biệt:</a:t>
            </a:r>
          </a:p>
          <a:p>
            <a:pPr algn="l" eaLnBrk="0" hangingPunct="0"/>
            <a:r>
              <a:rPr lang="en-US" sz="3200">
                <a:solidFill>
                  <a:srgbClr val="FF3300"/>
                </a:solidFill>
                <a:latin typeface="Times New Roman" pitchFamily="18" charset="0"/>
              </a:rPr>
              <a:t>f </a:t>
            </a:r>
            <a:r>
              <a:rPr lang="en-US" sz="3200" smtClean="0">
                <a:solidFill>
                  <a:srgbClr val="FF3300"/>
                </a:solidFill>
                <a:latin typeface="Times New Roman" pitchFamily="18" charset="0"/>
              </a:rPr>
              <a:t>= </a:t>
            </a:r>
            <a:r>
              <a:rPr lang="en-US" sz="3200">
                <a:solidFill>
                  <a:srgbClr val="FF3300"/>
                </a:solidFill>
                <a:latin typeface="Times New Roman" pitchFamily="18" charset="0"/>
              </a:rPr>
              <a:t>p</a:t>
            </a:r>
          </a:p>
          <a:p>
            <a:pPr algn="l" eaLnBrk="0" hangingPunct="0"/>
            <a:r>
              <a:rPr lang="en-US" sz="3200">
                <a:latin typeface="Times New Roman" pitchFamily="18" charset="0"/>
              </a:rPr>
              <a:t>Nút thế mạng rp là nút con phải của nút p cần xóa</a:t>
            </a:r>
          </a:p>
        </p:txBody>
      </p:sp>
      <p:grpSp>
        <p:nvGrpSpPr>
          <p:cNvPr id="70679" name="Group 41"/>
          <p:cNvGrpSpPr>
            <a:grpSpLocks/>
          </p:cNvGrpSpPr>
          <p:nvPr/>
        </p:nvGrpSpPr>
        <p:grpSpPr bwMode="auto">
          <a:xfrm>
            <a:off x="4290391" y="1444591"/>
            <a:ext cx="685800" cy="381000"/>
            <a:chOff x="1872" y="1824"/>
            <a:chExt cx="432" cy="240"/>
          </a:xfrm>
        </p:grpSpPr>
        <p:sp>
          <p:nvSpPr>
            <p:cNvPr id="70681" name="AutoShape 42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52</a:t>
              </a:r>
            </a:p>
          </p:txBody>
        </p:sp>
        <p:sp>
          <p:nvSpPr>
            <p:cNvPr id="70682" name="Line 43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0683" name="Line 44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sp>
        <p:nvSpPr>
          <p:cNvPr id="70680" name="Line 45"/>
          <p:cNvSpPr>
            <a:spLocks noChangeShapeType="1"/>
          </p:cNvSpPr>
          <p:nvPr/>
        </p:nvSpPr>
        <p:spPr bwMode="auto">
          <a:xfrm flipH="1">
            <a:off x="2690191" y="1596991"/>
            <a:ext cx="1676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4304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84148" y="496681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Ví dụ xóa x = 25</a:t>
            </a:r>
          </a:p>
        </p:txBody>
      </p:sp>
      <p:sp>
        <p:nvSpPr>
          <p:cNvPr id="71702" name="Text Box 40"/>
          <p:cNvSpPr txBox="1">
            <a:spLocks noChangeArrowheads="1"/>
          </p:cNvSpPr>
          <p:nvPr/>
        </p:nvSpPr>
        <p:spPr bwMode="auto">
          <a:xfrm>
            <a:off x="5803232" y="1635949"/>
            <a:ext cx="6173001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en-US" sz="3200">
                <a:latin typeface="Times New Roman" pitchFamily="18" charset="0"/>
              </a:rPr>
              <a:t>Trường hợp đặc biệt:</a:t>
            </a:r>
          </a:p>
          <a:p>
            <a:pPr algn="l" eaLnBrk="0" hangingPunct="0"/>
            <a:r>
              <a:rPr lang="en-US" sz="3200">
                <a:solidFill>
                  <a:srgbClr val="FF3300"/>
                </a:solidFill>
                <a:latin typeface="Times New Roman" pitchFamily="18" charset="0"/>
              </a:rPr>
              <a:t>f </a:t>
            </a:r>
            <a:r>
              <a:rPr lang="en-US" sz="3200" smtClean="0">
                <a:solidFill>
                  <a:srgbClr val="FF3300"/>
                </a:solidFill>
                <a:latin typeface="Times New Roman" pitchFamily="18" charset="0"/>
              </a:rPr>
              <a:t>= </a:t>
            </a:r>
            <a:r>
              <a:rPr lang="en-US" sz="3200">
                <a:solidFill>
                  <a:srgbClr val="FF3300"/>
                </a:solidFill>
                <a:latin typeface="Times New Roman" pitchFamily="18" charset="0"/>
              </a:rPr>
              <a:t>p</a:t>
            </a:r>
          </a:p>
          <a:p>
            <a:pPr algn="l" eaLnBrk="0" hangingPunct="0"/>
            <a:r>
              <a:rPr lang="en-US" sz="3200">
                <a:latin typeface="Times New Roman" pitchFamily="18" charset="0"/>
              </a:rPr>
              <a:t>Nút thế mạng rp là nút con phải của nút p cần xóa</a:t>
            </a:r>
          </a:p>
          <a:p>
            <a:pPr algn="l" eaLnBrk="0" hangingPunct="0"/>
            <a:r>
              <a:rPr lang="en-US" sz="3200">
                <a:latin typeface="Times New Roman" pitchFamily="18" charset="0"/>
              </a:rPr>
              <a:t>- </a:t>
            </a:r>
            <a:r>
              <a:rPr lang="en-US" sz="3200">
                <a:solidFill>
                  <a:srgbClr val="002060"/>
                </a:solidFill>
                <a:latin typeface="Times New Roman" pitchFamily="18" charset="0"/>
              </a:rPr>
              <a:t>Đưa giá trị của nút rp lên nút p</a:t>
            </a:r>
          </a:p>
        </p:txBody>
      </p:sp>
      <p:grpSp>
        <p:nvGrpSpPr>
          <p:cNvPr id="71683" name="Group 3"/>
          <p:cNvGrpSpPr>
            <a:grpSpLocks/>
          </p:cNvGrpSpPr>
          <p:nvPr/>
        </p:nvGrpSpPr>
        <p:grpSpPr bwMode="auto">
          <a:xfrm>
            <a:off x="2221832" y="2437894"/>
            <a:ext cx="685800" cy="381000"/>
            <a:chOff x="1872" y="1824"/>
            <a:chExt cx="432" cy="240"/>
          </a:xfrm>
        </p:grpSpPr>
        <p:sp>
          <p:nvSpPr>
            <p:cNvPr id="79876" name="AutoShape 4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240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39</a:t>
              </a:r>
            </a:p>
          </p:txBody>
        </p:sp>
        <p:sp>
          <p:nvSpPr>
            <p:cNvPr id="71725" name="Line 5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1726" name="Line 6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71684" name="Group 7"/>
          <p:cNvGrpSpPr>
            <a:grpSpLocks/>
          </p:cNvGrpSpPr>
          <p:nvPr/>
        </p:nvGrpSpPr>
        <p:grpSpPr bwMode="auto">
          <a:xfrm>
            <a:off x="1155032" y="3352294"/>
            <a:ext cx="685800" cy="381000"/>
            <a:chOff x="1872" y="1824"/>
            <a:chExt cx="432" cy="240"/>
          </a:xfrm>
        </p:grpSpPr>
        <p:sp>
          <p:nvSpPr>
            <p:cNvPr id="71721" name="AutoShape 8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15</a:t>
              </a:r>
            </a:p>
          </p:txBody>
        </p:sp>
        <p:sp>
          <p:nvSpPr>
            <p:cNvPr id="71722" name="Line 9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1723" name="Line 10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71685" name="Group 11"/>
          <p:cNvGrpSpPr>
            <a:grpSpLocks/>
          </p:cNvGrpSpPr>
          <p:nvPr/>
        </p:nvGrpSpPr>
        <p:grpSpPr bwMode="auto">
          <a:xfrm>
            <a:off x="3288632" y="3352294"/>
            <a:ext cx="685800" cy="381000"/>
            <a:chOff x="1872" y="1824"/>
            <a:chExt cx="432" cy="240"/>
          </a:xfrm>
        </p:grpSpPr>
        <p:sp>
          <p:nvSpPr>
            <p:cNvPr id="71718" name="AutoShape 12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39</a:t>
              </a:r>
            </a:p>
          </p:txBody>
        </p:sp>
        <p:sp>
          <p:nvSpPr>
            <p:cNvPr id="71719" name="Line 13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1720" name="Line 14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71686" name="Group 15"/>
          <p:cNvGrpSpPr>
            <a:grpSpLocks/>
          </p:cNvGrpSpPr>
          <p:nvPr/>
        </p:nvGrpSpPr>
        <p:grpSpPr bwMode="auto">
          <a:xfrm>
            <a:off x="621632" y="4190494"/>
            <a:ext cx="685800" cy="381000"/>
            <a:chOff x="1872" y="1824"/>
            <a:chExt cx="432" cy="240"/>
          </a:xfrm>
        </p:grpSpPr>
        <p:sp>
          <p:nvSpPr>
            <p:cNvPr id="71715" name="AutoShape 16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71716" name="Line 17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1717" name="Line 18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71687" name="Group 19"/>
          <p:cNvGrpSpPr>
            <a:grpSpLocks/>
          </p:cNvGrpSpPr>
          <p:nvPr/>
        </p:nvGrpSpPr>
        <p:grpSpPr bwMode="auto">
          <a:xfrm>
            <a:off x="1688432" y="4190494"/>
            <a:ext cx="685800" cy="381000"/>
            <a:chOff x="1872" y="1824"/>
            <a:chExt cx="432" cy="240"/>
          </a:xfrm>
        </p:grpSpPr>
        <p:sp>
          <p:nvSpPr>
            <p:cNvPr id="71712" name="AutoShape 20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19</a:t>
              </a:r>
            </a:p>
          </p:txBody>
        </p:sp>
        <p:sp>
          <p:nvSpPr>
            <p:cNvPr id="71713" name="Line 21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1714" name="Line 22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71688" name="Group 23"/>
          <p:cNvGrpSpPr>
            <a:grpSpLocks/>
          </p:cNvGrpSpPr>
          <p:nvPr/>
        </p:nvGrpSpPr>
        <p:grpSpPr bwMode="auto">
          <a:xfrm>
            <a:off x="3822032" y="4190494"/>
            <a:ext cx="685800" cy="381000"/>
            <a:chOff x="1872" y="1824"/>
            <a:chExt cx="432" cy="240"/>
          </a:xfrm>
        </p:grpSpPr>
        <p:sp>
          <p:nvSpPr>
            <p:cNvPr id="71709" name="AutoShape 24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42</a:t>
              </a:r>
            </a:p>
          </p:txBody>
        </p:sp>
        <p:sp>
          <p:nvSpPr>
            <p:cNvPr id="71710" name="Line 25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1711" name="Line 26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sp>
        <p:nvSpPr>
          <p:cNvPr id="71689" name="Line 27"/>
          <p:cNvSpPr>
            <a:spLocks noChangeShapeType="1"/>
          </p:cNvSpPr>
          <p:nvPr/>
        </p:nvSpPr>
        <p:spPr bwMode="auto">
          <a:xfrm flipH="1">
            <a:off x="1459832" y="2666494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1690" name="Line 28"/>
          <p:cNvSpPr>
            <a:spLocks noChangeShapeType="1"/>
          </p:cNvSpPr>
          <p:nvPr/>
        </p:nvSpPr>
        <p:spPr bwMode="auto">
          <a:xfrm>
            <a:off x="2831432" y="2666494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1691" name="Line 29"/>
          <p:cNvSpPr>
            <a:spLocks noChangeShapeType="1"/>
          </p:cNvSpPr>
          <p:nvPr/>
        </p:nvSpPr>
        <p:spPr bwMode="auto">
          <a:xfrm>
            <a:off x="1764632" y="3504694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1692" name="Line 30"/>
          <p:cNvSpPr>
            <a:spLocks noChangeShapeType="1"/>
          </p:cNvSpPr>
          <p:nvPr/>
        </p:nvSpPr>
        <p:spPr bwMode="auto">
          <a:xfrm>
            <a:off x="3898232" y="3504694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1693" name="Rectangle 31"/>
          <p:cNvSpPr>
            <a:spLocks noChangeArrowheads="1"/>
          </p:cNvSpPr>
          <p:nvPr/>
        </p:nvSpPr>
        <p:spPr bwMode="auto">
          <a:xfrm>
            <a:off x="1993232" y="2285494"/>
            <a:ext cx="1143000" cy="6858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71694" name="Freeform 32"/>
          <p:cNvSpPr>
            <a:spLocks/>
          </p:cNvSpPr>
          <p:nvPr/>
        </p:nvSpPr>
        <p:spPr bwMode="auto">
          <a:xfrm>
            <a:off x="1459832" y="1802894"/>
            <a:ext cx="1066800" cy="635000"/>
          </a:xfrm>
          <a:custGeom>
            <a:avLst/>
            <a:gdLst>
              <a:gd name="T0" fmla="*/ 0 w 672"/>
              <a:gd name="T1" fmla="*/ 2147483647 h 400"/>
              <a:gd name="T2" fmla="*/ 2147483647 w 672"/>
              <a:gd name="T3" fmla="*/ 2147483647 h 400"/>
              <a:gd name="T4" fmla="*/ 2147483647 w 672"/>
              <a:gd name="T5" fmla="*/ 2147483647 h 400"/>
              <a:gd name="T6" fmla="*/ 0 60000 65536"/>
              <a:gd name="T7" fmla="*/ 0 60000 65536"/>
              <a:gd name="T8" fmla="*/ 0 60000 65536"/>
              <a:gd name="T9" fmla="*/ 0 w 672"/>
              <a:gd name="T10" fmla="*/ 0 h 400"/>
              <a:gd name="T11" fmla="*/ 672 w 672"/>
              <a:gd name="T12" fmla="*/ 400 h 4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2" h="400">
                <a:moveTo>
                  <a:pt x="0" y="16"/>
                </a:moveTo>
                <a:cubicBezTo>
                  <a:pt x="208" y="8"/>
                  <a:pt x="416" y="0"/>
                  <a:pt x="528" y="64"/>
                </a:cubicBezTo>
                <a:cubicBezTo>
                  <a:pt x="640" y="128"/>
                  <a:pt x="656" y="264"/>
                  <a:pt x="672" y="400"/>
                </a:cubicBezTo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1695" name="Rectangle 33"/>
          <p:cNvSpPr>
            <a:spLocks noChangeArrowheads="1"/>
          </p:cNvSpPr>
          <p:nvPr/>
        </p:nvSpPr>
        <p:spPr bwMode="auto">
          <a:xfrm>
            <a:off x="1078832" y="1523494"/>
            <a:ext cx="381000" cy="609600"/>
          </a:xfrm>
          <a:prstGeom prst="rect">
            <a:avLst/>
          </a:prstGeom>
          <a:solidFill>
            <a:srgbClr val="800080">
              <a:alpha val="54117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3600">
                <a:solidFill>
                  <a:schemeClr val="bg1"/>
                </a:solidFill>
                <a:latin typeface="Times New Roman" pitchFamily="18" charset="0"/>
              </a:rPr>
              <a:t>P</a:t>
            </a:r>
          </a:p>
        </p:txBody>
      </p:sp>
      <p:sp>
        <p:nvSpPr>
          <p:cNvPr id="71696" name="Rectangle 34"/>
          <p:cNvSpPr>
            <a:spLocks noChangeArrowheads="1"/>
          </p:cNvSpPr>
          <p:nvPr/>
        </p:nvSpPr>
        <p:spPr bwMode="auto">
          <a:xfrm>
            <a:off x="4660232" y="2361694"/>
            <a:ext cx="381000" cy="609600"/>
          </a:xfrm>
          <a:prstGeom prst="rect">
            <a:avLst/>
          </a:prstGeom>
          <a:solidFill>
            <a:srgbClr val="FFFF00">
              <a:alpha val="39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3200">
                <a:latin typeface="Times New Roman" pitchFamily="18" charset="0"/>
              </a:rPr>
              <a:t>rp</a:t>
            </a:r>
          </a:p>
        </p:txBody>
      </p:sp>
      <p:sp>
        <p:nvSpPr>
          <p:cNvPr id="71697" name="Freeform 35"/>
          <p:cNvSpPr>
            <a:spLocks/>
          </p:cNvSpPr>
          <p:nvPr/>
        </p:nvSpPr>
        <p:spPr bwMode="auto">
          <a:xfrm>
            <a:off x="3669632" y="2717294"/>
            <a:ext cx="990600" cy="635000"/>
          </a:xfrm>
          <a:custGeom>
            <a:avLst/>
            <a:gdLst>
              <a:gd name="T0" fmla="*/ 2147483647 w 624"/>
              <a:gd name="T1" fmla="*/ 2147483647 h 400"/>
              <a:gd name="T2" fmla="*/ 2147483647 w 624"/>
              <a:gd name="T3" fmla="*/ 2147483647 h 400"/>
              <a:gd name="T4" fmla="*/ 2147483647 w 624"/>
              <a:gd name="T5" fmla="*/ 2147483647 h 400"/>
              <a:gd name="T6" fmla="*/ 0 60000 65536"/>
              <a:gd name="T7" fmla="*/ 0 60000 65536"/>
              <a:gd name="T8" fmla="*/ 0 60000 65536"/>
              <a:gd name="T9" fmla="*/ 0 w 624"/>
              <a:gd name="T10" fmla="*/ 0 h 400"/>
              <a:gd name="T11" fmla="*/ 624 w 624"/>
              <a:gd name="T12" fmla="*/ 400 h 4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24" h="400">
                <a:moveTo>
                  <a:pt x="624" y="16"/>
                </a:moveTo>
                <a:cubicBezTo>
                  <a:pt x="408" y="8"/>
                  <a:pt x="192" y="0"/>
                  <a:pt x="96" y="64"/>
                </a:cubicBezTo>
                <a:cubicBezTo>
                  <a:pt x="0" y="128"/>
                  <a:pt x="24" y="264"/>
                  <a:pt x="48" y="400"/>
                </a:cubicBezTo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1698" name="Line 36"/>
          <p:cNvSpPr>
            <a:spLocks noChangeShapeType="1"/>
          </p:cNvSpPr>
          <p:nvPr/>
        </p:nvSpPr>
        <p:spPr bwMode="auto">
          <a:xfrm flipH="1">
            <a:off x="1002632" y="3504694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1699" name="Rectangle 37"/>
          <p:cNvSpPr>
            <a:spLocks noChangeArrowheads="1"/>
          </p:cNvSpPr>
          <p:nvPr/>
        </p:nvSpPr>
        <p:spPr bwMode="auto">
          <a:xfrm>
            <a:off x="3441032" y="1066294"/>
            <a:ext cx="381000" cy="609600"/>
          </a:xfrm>
          <a:prstGeom prst="rect">
            <a:avLst/>
          </a:prstGeom>
          <a:solidFill>
            <a:srgbClr val="FF99CC">
              <a:alpha val="52156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3200" b="1">
                <a:solidFill>
                  <a:srgbClr val="FF0000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71700" name="Freeform 38"/>
          <p:cNvSpPr>
            <a:spLocks/>
          </p:cNvSpPr>
          <p:nvPr/>
        </p:nvSpPr>
        <p:spPr bwMode="auto">
          <a:xfrm>
            <a:off x="2628232" y="1345694"/>
            <a:ext cx="812800" cy="1092200"/>
          </a:xfrm>
          <a:custGeom>
            <a:avLst/>
            <a:gdLst>
              <a:gd name="T0" fmla="*/ 2147483647 w 512"/>
              <a:gd name="T1" fmla="*/ 2147483647 h 688"/>
              <a:gd name="T2" fmla="*/ 2147483647 w 512"/>
              <a:gd name="T3" fmla="*/ 2147483647 h 688"/>
              <a:gd name="T4" fmla="*/ 2147483647 w 512"/>
              <a:gd name="T5" fmla="*/ 2147483647 h 688"/>
              <a:gd name="T6" fmla="*/ 0 60000 65536"/>
              <a:gd name="T7" fmla="*/ 0 60000 65536"/>
              <a:gd name="T8" fmla="*/ 0 60000 65536"/>
              <a:gd name="T9" fmla="*/ 0 w 512"/>
              <a:gd name="T10" fmla="*/ 0 h 688"/>
              <a:gd name="T11" fmla="*/ 512 w 512"/>
              <a:gd name="T12" fmla="*/ 688 h 6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12" h="688">
                <a:moveTo>
                  <a:pt x="512" y="16"/>
                </a:moveTo>
                <a:cubicBezTo>
                  <a:pt x="336" y="8"/>
                  <a:pt x="160" y="0"/>
                  <a:pt x="80" y="112"/>
                </a:cubicBezTo>
                <a:cubicBezTo>
                  <a:pt x="0" y="224"/>
                  <a:pt x="16" y="456"/>
                  <a:pt x="32" y="688"/>
                </a:cubicBezTo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1701" name="Rectangle 39"/>
          <p:cNvSpPr>
            <a:spLocks noChangeArrowheads="1"/>
          </p:cNvSpPr>
          <p:nvPr/>
        </p:nvSpPr>
        <p:spPr bwMode="auto">
          <a:xfrm>
            <a:off x="3060032" y="3199894"/>
            <a:ext cx="1143000" cy="6858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solidFill>
                <a:schemeClr val="bg1"/>
              </a:solidFill>
              <a:latin typeface="Times New Roman" pitchFamily="18" charset="0"/>
            </a:endParaRPr>
          </a:p>
        </p:txBody>
      </p:sp>
      <p:grpSp>
        <p:nvGrpSpPr>
          <p:cNvPr id="71703" name="Group 41"/>
          <p:cNvGrpSpPr>
            <a:grpSpLocks/>
          </p:cNvGrpSpPr>
          <p:nvPr/>
        </p:nvGrpSpPr>
        <p:grpSpPr bwMode="auto">
          <a:xfrm>
            <a:off x="4203032" y="1371094"/>
            <a:ext cx="685800" cy="381000"/>
            <a:chOff x="1872" y="1824"/>
            <a:chExt cx="432" cy="240"/>
          </a:xfrm>
        </p:grpSpPr>
        <p:sp>
          <p:nvSpPr>
            <p:cNvPr id="71706" name="AutoShape 42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52</a:t>
              </a:r>
            </a:p>
          </p:txBody>
        </p:sp>
        <p:sp>
          <p:nvSpPr>
            <p:cNvPr id="71707" name="Line 43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1708" name="Line 44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sp>
        <p:nvSpPr>
          <p:cNvPr id="71704" name="Line 45"/>
          <p:cNvSpPr>
            <a:spLocks noChangeShapeType="1"/>
          </p:cNvSpPr>
          <p:nvPr/>
        </p:nvSpPr>
        <p:spPr bwMode="auto">
          <a:xfrm flipH="1">
            <a:off x="2602832" y="1523494"/>
            <a:ext cx="1676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1705" name="AutoShape 46"/>
          <p:cNvSpPr>
            <a:spLocks noChangeArrowheads="1"/>
          </p:cNvSpPr>
          <p:nvPr/>
        </p:nvSpPr>
        <p:spPr bwMode="auto">
          <a:xfrm rot="-9478617">
            <a:off x="2374232" y="2971294"/>
            <a:ext cx="914400" cy="304800"/>
          </a:xfrm>
          <a:prstGeom prst="lightningBolt">
            <a:avLst/>
          </a:prstGeom>
          <a:solidFill>
            <a:srgbClr val="FF3300">
              <a:alpha val="56078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3331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58253" y="437727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Ví dụ xóa x = 25</a:t>
            </a:r>
          </a:p>
        </p:txBody>
      </p:sp>
      <p:grpSp>
        <p:nvGrpSpPr>
          <p:cNvPr id="72707" name="Group 3"/>
          <p:cNvGrpSpPr>
            <a:grpSpLocks/>
          </p:cNvGrpSpPr>
          <p:nvPr/>
        </p:nvGrpSpPr>
        <p:grpSpPr bwMode="auto">
          <a:xfrm>
            <a:off x="2077453" y="2559518"/>
            <a:ext cx="685800" cy="381000"/>
            <a:chOff x="1872" y="1824"/>
            <a:chExt cx="432" cy="240"/>
          </a:xfrm>
        </p:grpSpPr>
        <p:sp>
          <p:nvSpPr>
            <p:cNvPr id="80900" name="AutoShape 4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24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39</a:t>
              </a:r>
            </a:p>
          </p:txBody>
        </p:sp>
        <p:sp>
          <p:nvSpPr>
            <p:cNvPr id="72748" name="Line 5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2749" name="Line 6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72708" name="Group 7"/>
          <p:cNvGrpSpPr>
            <a:grpSpLocks/>
          </p:cNvGrpSpPr>
          <p:nvPr/>
        </p:nvGrpSpPr>
        <p:grpSpPr bwMode="auto">
          <a:xfrm>
            <a:off x="1010653" y="3473918"/>
            <a:ext cx="685800" cy="381000"/>
            <a:chOff x="1872" y="1824"/>
            <a:chExt cx="432" cy="240"/>
          </a:xfrm>
        </p:grpSpPr>
        <p:sp>
          <p:nvSpPr>
            <p:cNvPr id="72744" name="AutoShape 8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15</a:t>
              </a:r>
            </a:p>
          </p:txBody>
        </p:sp>
        <p:sp>
          <p:nvSpPr>
            <p:cNvPr id="72745" name="Line 9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2746" name="Line 10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72709" name="Group 11"/>
          <p:cNvGrpSpPr>
            <a:grpSpLocks/>
          </p:cNvGrpSpPr>
          <p:nvPr/>
        </p:nvGrpSpPr>
        <p:grpSpPr bwMode="auto">
          <a:xfrm>
            <a:off x="3144253" y="3473918"/>
            <a:ext cx="685800" cy="381000"/>
            <a:chOff x="1872" y="1824"/>
            <a:chExt cx="432" cy="240"/>
          </a:xfrm>
        </p:grpSpPr>
        <p:sp>
          <p:nvSpPr>
            <p:cNvPr id="72741" name="AutoShape 12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39</a:t>
              </a:r>
            </a:p>
          </p:txBody>
        </p:sp>
        <p:sp>
          <p:nvSpPr>
            <p:cNvPr id="72742" name="Line 13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2743" name="Line 14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72710" name="Group 15"/>
          <p:cNvGrpSpPr>
            <a:grpSpLocks/>
          </p:cNvGrpSpPr>
          <p:nvPr/>
        </p:nvGrpSpPr>
        <p:grpSpPr bwMode="auto">
          <a:xfrm>
            <a:off x="477253" y="4312118"/>
            <a:ext cx="685800" cy="381000"/>
            <a:chOff x="1872" y="1824"/>
            <a:chExt cx="432" cy="240"/>
          </a:xfrm>
        </p:grpSpPr>
        <p:sp>
          <p:nvSpPr>
            <p:cNvPr id="72738" name="AutoShape 16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72739" name="Line 17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2740" name="Line 18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72711" name="Group 19"/>
          <p:cNvGrpSpPr>
            <a:grpSpLocks/>
          </p:cNvGrpSpPr>
          <p:nvPr/>
        </p:nvGrpSpPr>
        <p:grpSpPr bwMode="auto">
          <a:xfrm>
            <a:off x="1544053" y="4312118"/>
            <a:ext cx="685800" cy="381000"/>
            <a:chOff x="1872" y="1824"/>
            <a:chExt cx="432" cy="240"/>
          </a:xfrm>
        </p:grpSpPr>
        <p:sp>
          <p:nvSpPr>
            <p:cNvPr id="72735" name="AutoShape 20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19</a:t>
              </a:r>
            </a:p>
          </p:txBody>
        </p:sp>
        <p:sp>
          <p:nvSpPr>
            <p:cNvPr id="72736" name="Line 21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2737" name="Line 22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72712" name="Group 23"/>
          <p:cNvGrpSpPr>
            <a:grpSpLocks/>
          </p:cNvGrpSpPr>
          <p:nvPr/>
        </p:nvGrpSpPr>
        <p:grpSpPr bwMode="auto">
          <a:xfrm>
            <a:off x="3677653" y="4312118"/>
            <a:ext cx="685800" cy="381000"/>
            <a:chOff x="1872" y="1824"/>
            <a:chExt cx="432" cy="240"/>
          </a:xfrm>
        </p:grpSpPr>
        <p:sp>
          <p:nvSpPr>
            <p:cNvPr id="72732" name="AutoShape 24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rgbClr val="FFC000"/>
                  </a:solidFill>
                  <a:latin typeface="Times New Roman" pitchFamily="18" charset="0"/>
                </a:rPr>
                <a:t>42</a:t>
              </a:r>
            </a:p>
          </p:txBody>
        </p:sp>
        <p:sp>
          <p:nvSpPr>
            <p:cNvPr id="72733" name="Line 25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2734" name="Line 26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sp>
        <p:nvSpPr>
          <p:cNvPr id="72713" name="Line 27"/>
          <p:cNvSpPr>
            <a:spLocks noChangeShapeType="1"/>
          </p:cNvSpPr>
          <p:nvPr/>
        </p:nvSpPr>
        <p:spPr bwMode="auto">
          <a:xfrm flipH="1">
            <a:off x="1315453" y="2788118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2714" name="Line 28"/>
          <p:cNvSpPr>
            <a:spLocks noChangeShapeType="1"/>
          </p:cNvSpPr>
          <p:nvPr/>
        </p:nvSpPr>
        <p:spPr bwMode="auto">
          <a:xfrm>
            <a:off x="1620253" y="3626318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2715" name="Line 29"/>
          <p:cNvSpPr>
            <a:spLocks noChangeShapeType="1"/>
          </p:cNvSpPr>
          <p:nvPr/>
        </p:nvSpPr>
        <p:spPr bwMode="auto">
          <a:xfrm>
            <a:off x="3753853" y="3626318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2716" name="Rectangle 30"/>
          <p:cNvSpPr>
            <a:spLocks noChangeArrowheads="1"/>
          </p:cNvSpPr>
          <p:nvPr/>
        </p:nvSpPr>
        <p:spPr bwMode="auto">
          <a:xfrm>
            <a:off x="1848853" y="2407118"/>
            <a:ext cx="1143000" cy="6858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72717" name="Freeform 31"/>
          <p:cNvSpPr>
            <a:spLocks/>
          </p:cNvSpPr>
          <p:nvPr/>
        </p:nvSpPr>
        <p:spPr bwMode="auto">
          <a:xfrm>
            <a:off x="1315453" y="1924518"/>
            <a:ext cx="1066800" cy="635000"/>
          </a:xfrm>
          <a:custGeom>
            <a:avLst/>
            <a:gdLst>
              <a:gd name="T0" fmla="*/ 0 w 672"/>
              <a:gd name="T1" fmla="*/ 2147483647 h 400"/>
              <a:gd name="T2" fmla="*/ 2147483647 w 672"/>
              <a:gd name="T3" fmla="*/ 2147483647 h 400"/>
              <a:gd name="T4" fmla="*/ 2147483647 w 672"/>
              <a:gd name="T5" fmla="*/ 2147483647 h 400"/>
              <a:gd name="T6" fmla="*/ 0 60000 65536"/>
              <a:gd name="T7" fmla="*/ 0 60000 65536"/>
              <a:gd name="T8" fmla="*/ 0 60000 65536"/>
              <a:gd name="T9" fmla="*/ 0 w 672"/>
              <a:gd name="T10" fmla="*/ 0 h 400"/>
              <a:gd name="T11" fmla="*/ 672 w 672"/>
              <a:gd name="T12" fmla="*/ 400 h 4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2" h="400">
                <a:moveTo>
                  <a:pt x="0" y="16"/>
                </a:moveTo>
                <a:cubicBezTo>
                  <a:pt x="208" y="8"/>
                  <a:pt x="416" y="0"/>
                  <a:pt x="528" y="64"/>
                </a:cubicBezTo>
                <a:cubicBezTo>
                  <a:pt x="640" y="128"/>
                  <a:pt x="656" y="264"/>
                  <a:pt x="672" y="400"/>
                </a:cubicBezTo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2718" name="Rectangle 32"/>
          <p:cNvSpPr>
            <a:spLocks noChangeArrowheads="1"/>
          </p:cNvSpPr>
          <p:nvPr/>
        </p:nvSpPr>
        <p:spPr bwMode="auto">
          <a:xfrm>
            <a:off x="934453" y="1645118"/>
            <a:ext cx="381000" cy="609600"/>
          </a:xfrm>
          <a:prstGeom prst="rect">
            <a:avLst/>
          </a:prstGeom>
          <a:solidFill>
            <a:srgbClr val="800080">
              <a:alpha val="54117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chemeClr val="bg1"/>
                </a:solidFill>
                <a:latin typeface="Times New Roman" pitchFamily="18" charset="0"/>
              </a:rPr>
              <a:t>P</a:t>
            </a:r>
          </a:p>
        </p:txBody>
      </p:sp>
      <p:sp>
        <p:nvSpPr>
          <p:cNvPr id="72719" name="Rectangle 33"/>
          <p:cNvSpPr>
            <a:spLocks noChangeArrowheads="1"/>
          </p:cNvSpPr>
          <p:nvPr/>
        </p:nvSpPr>
        <p:spPr bwMode="auto">
          <a:xfrm>
            <a:off x="4515853" y="2483318"/>
            <a:ext cx="381000" cy="609600"/>
          </a:xfrm>
          <a:prstGeom prst="rect">
            <a:avLst/>
          </a:prstGeom>
          <a:solidFill>
            <a:srgbClr val="FFFF00">
              <a:alpha val="39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rgbClr val="002060"/>
                </a:solidFill>
                <a:latin typeface="Times New Roman" pitchFamily="18" charset="0"/>
              </a:rPr>
              <a:t>rp</a:t>
            </a:r>
          </a:p>
        </p:txBody>
      </p:sp>
      <p:sp>
        <p:nvSpPr>
          <p:cNvPr id="72720" name="Freeform 34"/>
          <p:cNvSpPr>
            <a:spLocks/>
          </p:cNvSpPr>
          <p:nvPr/>
        </p:nvSpPr>
        <p:spPr bwMode="auto">
          <a:xfrm>
            <a:off x="3525253" y="2838918"/>
            <a:ext cx="990600" cy="635000"/>
          </a:xfrm>
          <a:custGeom>
            <a:avLst/>
            <a:gdLst>
              <a:gd name="T0" fmla="*/ 2147483647 w 624"/>
              <a:gd name="T1" fmla="*/ 2147483647 h 400"/>
              <a:gd name="T2" fmla="*/ 2147483647 w 624"/>
              <a:gd name="T3" fmla="*/ 2147483647 h 400"/>
              <a:gd name="T4" fmla="*/ 2147483647 w 624"/>
              <a:gd name="T5" fmla="*/ 2147483647 h 400"/>
              <a:gd name="T6" fmla="*/ 0 60000 65536"/>
              <a:gd name="T7" fmla="*/ 0 60000 65536"/>
              <a:gd name="T8" fmla="*/ 0 60000 65536"/>
              <a:gd name="T9" fmla="*/ 0 w 624"/>
              <a:gd name="T10" fmla="*/ 0 h 400"/>
              <a:gd name="T11" fmla="*/ 624 w 624"/>
              <a:gd name="T12" fmla="*/ 400 h 4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24" h="400">
                <a:moveTo>
                  <a:pt x="624" y="16"/>
                </a:moveTo>
                <a:cubicBezTo>
                  <a:pt x="408" y="8"/>
                  <a:pt x="192" y="0"/>
                  <a:pt x="96" y="64"/>
                </a:cubicBezTo>
                <a:cubicBezTo>
                  <a:pt x="0" y="128"/>
                  <a:pt x="24" y="264"/>
                  <a:pt x="48" y="400"/>
                </a:cubicBezTo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2721" name="Line 35"/>
          <p:cNvSpPr>
            <a:spLocks noChangeShapeType="1"/>
          </p:cNvSpPr>
          <p:nvPr/>
        </p:nvSpPr>
        <p:spPr bwMode="auto">
          <a:xfrm flipH="1">
            <a:off x="858253" y="3626318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2722" name="Rectangle 36"/>
          <p:cNvSpPr>
            <a:spLocks noChangeArrowheads="1"/>
          </p:cNvSpPr>
          <p:nvPr/>
        </p:nvSpPr>
        <p:spPr bwMode="auto">
          <a:xfrm>
            <a:off x="3296653" y="1187918"/>
            <a:ext cx="381000" cy="609600"/>
          </a:xfrm>
          <a:prstGeom prst="rect">
            <a:avLst/>
          </a:prstGeom>
          <a:solidFill>
            <a:srgbClr val="FF99CC">
              <a:alpha val="52156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rgbClr val="002060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72723" name="Freeform 37"/>
          <p:cNvSpPr>
            <a:spLocks/>
          </p:cNvSpPr>
          <p:nvPr/>
        </p:nvSpPr>
        <p:spPr bwMode="auto">
          <a:xfrm>
            <a:off x="2483853" y="1467318"/>
            <a:ext cx="812800" cy="1092200"/>
          </a:xfrm>
          <a:custGeom>
            <a:avLst/>
            <a:gdLst>
              <a:gd name="T0" fmla="*/ 2147483647 w 512"/>
              <a:gd name="T1" fmla="*/ 2147483647 h 688"/>
              <a:gd name="T2" fmla="*/ 2147483647 w 512"/>
              <a:gd name="T3" fmla="*/ 2147483647 h 688"/>
              <a:gd name="T4" fmla="*/ 2147483647 w 512"/>
              <a:gd name="T5" fmla="*/ 2147483647 h 688"/>
              <a:gd name="T6" fmla="*/ 0 60000 65536"/>
              <a:gd name="T7" fmla="*/ 0 60000 65536"/>
              <a:gd name="T8" fmla="*/ 0 60000 65536"/>
              <a:gd name="T9" fmla="*/ 0 w 512"/>
              <a:gd name="T10" fmla="*/ 0 h 688"/>
              <a:gd name="T11" fmla="*/ 512 w 512"/>
              <a:gd name="T12" fmla="*/ 688 h 6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12" h="688">
                <a:moveTo>
                  <a:pt x="512" y="16"/>
                </a:moveTo>
                <a:cubicBezTo>
                  <a:pt x="336" y="8"/>
                  <a:pt x="160" y="0"/>
                  <a:pt x="80" y="112"/>
                </a:cubicBezTo>
                <a:cubicBezTo>
                  <a:pt x="0" y="224"/>
                  <a:pt x="16" y="456"/>
                  <a:pt x="32" y="688"/>
                </a:cubicBezTo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2724" name="Rectangle 38"/>
          <p:cNvSpPr>
            <a:spLocks noChangeArrowheads="1"/>
          </p:cNvSpPr>
          <p:nvPr/>
        </p:nvSpPr>
        <p:spPr bwMode="auto">
          <a:xfrm>
            <a:off x="2915653" y="3321518"/>
            <a:ext cx="1143000" cy="6858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72725" name="Text Box 39"/>
          <p:cNvSpPr txBox="1">
            <a:spLocks noChangeArrowheads="1"/>
          </p:cNvSpPr>
          <p:nvPr/>
        </p:nvSpPr>
        <p:spPr bwMode="auto">
          <a:xfrm>
            <a:off x="5862053" y="1524001"/>
            <a:ext cx="6179151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en-US" sz="3200">
                <a:latin typeface="Times New Roman" pitchFamily="18" charset="0"/>
              </a:rPr>
              <a:t>Trường hợp đặc biệt:</a:t>
            </a:r>
          </a:p>
          <a:p>
            <a:pPr algn="l" eaLnBrk="0" hangingPunct="0"/>
            <a:r>
              <a:rPr lang="en-US" sz="3200">
                <a:solidFill>
                  <a:srgbClr val="FF3300"/>
                </a:solidFill>
                <a:latin typeface="Times New Roman" pitchFamily="18" charset="0"/>
              </a:rPr>
              <a:t>f </a:t>
            </a:r>
            <a:r>
              <a:rPr lang="en-US" sz="3200" smtClean="0">
                <a:solidFill>
                  <a:srgbClr val="FF3300"/>
                </a:solidFill>
                <a:latin typeface="Times New Roman" pitchFamily="18" charset="0"/>
              </a:rPr>
              <a:t>= </a:t>
            </a:r>
            <a:r>
              <a:rPr lang="en-US" sz="3200">
                <a:solidFill>
                  <a:srgbClr val="FF3300"/>
                </a:solidFill>
                <a:latin typeface="Times New Roman" pitchFamily="18" charset="0"/>
              </a:rPr>
              <a:t>p</a:t>
            </a:r>
          </a:p>
          <a:p>
            <a:pPr algn="l" eaLnBrk="0" hangingPunct="0"/>
            <a:r>
              <a:rPr lang="en-US" sz="3200">
                <a:latin typeface="Times New Roman" pitchFamily="18" charset="0"/>
              </a:rPr>
              <a:t>Nút thế mạng rp là nút con phải của nút p cần xóa</a:t>
            </a:r>
          </a:p>
          <a:p>
            <a:pPr algn="l" eaLnBrk="0" hangingPunct="0"/>
            <a:r>
              <a:rPr lang="en-US" sz="3200">
                <a:latin typeface="Times New Roman" pitchFamily="18" charset="0"/>
              </a:rPr>
              <a:t>- </a:t>
            </a:r>
            <a:r>
              <a:rPr lang="en-US" sz="3200">
                <a:solidFill>
                  <a:srgbClr val="002060"/>
                </a:solidFill>
                <a:latin typeface="Times New Roman" pitchFamily="18" charset="0"/>
              </a:rPr>
              <a:t>Chuyển liên kết phải của p đến liên kết phải của rp</a:t>
            </a:r>
          </a:p>
        </p:txBody>
      </p:sp>
      <p:grpSp>
        <p:nvGrpSpPr>
          <p:cNvPr id="72726" name="Group 40"/>
          <p:cNvGrpSpPr>
            <a:grpSpLocks/>
          </p:cNvGrpSpPr>
          <p:nvPr/>
        </p:nvGrpSpPr>
        <p:grpSpPr bwMode="auto">
          <a:xfrm>
            <a:off x="4058653" y="1492718"/>
            <a:ext cx="685800" cy="381000"/>
            <a:chOff x="1872" y="1824"/>
            <a:chExt cx="432" cy="240"/>
          </a:xfrm>
        </p:grpSpPr>
        <p:sp>
          <p:nvSpPr>
            <p:cNvPr id="72729" name="AutoShape 41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52</a:t>
              </a:r>
            </a:p>
          </p:txBody>
        </p:sp>
        <p:sp>
          <p:nvSpPr>
            <p:cNvPr id="72730" name="Line 42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2731" name="Line 43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sp>
        <p:nvSpPr>
          <p:cNvPr id="72727" name="Line 44"/>
          <p:cNvSpPr>
            <a:spLocks noChangeShapeType="1"/>
          </p:cNvSpPr>
          <p:nvPr/>
        </p:nvSpPr>
        <p:spPr bwMode="auto">
          <a:xfrm flipH="1">
            <a:off x="2458453" y="1645118"/>
            <a:ext cx="1676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2728" name="Freeform 45"/>
          <p:cNvSpPr>
            <a:spLocks/>
          </p:cNvSpPr>
          <p:nvPr/>
        </p:nvSpPr>
        <p:spPr bwMode="auto">
          <a:xfrm>
            <a:off x="2331453" y="2788118"/>
            <a:ext cx="1574800" cy="1524000"/>
          </a:xfrm>
          <a:custGeom>
            <a:avLst/>
            <a:gdLst>
              <a:gd name="T0" fmla="*/ 2147483647 w 992"/>
              <a:gd name="T1" fmla="*/ 0 h 960"/>
              <a:gd name="T2" fmla="*/ 2147483647 w 992"/>
              <a:gd name="T3" fmla="*/ 2147483647 h 960"/>
              <a:gd name="T4" fmla="*/ 2147483647 w 992"/>
              <a:gd name="T5" fmla="*/ 2147483647 h 960"/>
              <a:gd name="T6" fmla="*/ 0 60000 65536"/>
              <a:gd name="T7" fmla="*/ 0 60000 65536"/>
              <a:gd name="T8" fmla="*/ 0 60000 65536"/>
              <a:gd name="T9" fmla="*/ 0 w 992"/>
              <a:gd name="T10" fmla="*/ 0 h 960"/>
              <a:gd name="T11" fmla="*/ 992 w 992"/>
              <a:gd name="T12" fmla="*/ 960 h 9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2" h="960">
                <a:moveTo>
                  <a:pt x="224" y="0"/>
                </a:moveTo>
                <a:cubicBezTo>
                  <a:pt x="112" y="256"/>
                  <a:pt x="0" y="512"/>
                  <a:pt x="128" y="672"/>
                </a:cubicBezTo>
                <a:cubicBezTo>
                  <a:pt x="256" y="832"/>
                  <a:pt x="624" y="896"/>
                  <a:pt x="992" y="960"/>
                </a:cubicBezTo>
              </a:path>
            </a:pathLst>
          </a:cu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2154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03135" y="455258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Ví dụ xóa x = 25</a:t>
            </a:r>
          </a:p>
        </p:txBody>
      </p:sp>
      <p:sp>
        <p:nvSpPr>
          <p:cNvPr id="73749" name="Text Box 40"/>
          <p:cNvSpPr txBox="1">
            <a:spLocks noChangeArrowheads="1"/>
          </p:cNvSpPr>
          <p:nvPr/>
        </p:nvSpPr>
        <p:spPr bwMode="auto">
          <a:xfrm>
            <a:off x="5779935" y="1524000"/>
            <a:ext cx="6251644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en-US" sz="3200">
                <a:latin typeface="Times New Roman" pitchFamily="18" charset="0"/>
              </a:rPr>
              <a:t>Trường hợp đặc biệt:</a:t>
            </a:r>
          </a:p>
          <a:p>
            <a:pPr algn="l" eaLnBrk="0" hangingPunct="0"/>
            <a:r>
              <a:rPr lang="en-US" sz="3200">
                <a:solidFill>
                  <a:srgbClr val="FF3300"/>
                </a:solidFill>
                <a:latin typeface="Times New Roman" pitchFamily="18" charset="0"/>
              </a:rPr>
              <a:t>f </a:t>
            </a:r>
            <a:r>
              <a:rPr lang="en-US" sz="3200" smtClean="0">
                <a:solidFill>
                  <a:srgbClr val="FF3300"/>
                </a:solidFill>
                <a:latin typeface="Times New Roman" pitchFamily="18" charset="0"/>
              </a:rPr>
              <a:t>= </a:t>
            </a:r>
            <a:r>
              <a:rPr lang="en-US" sz="3200">
                <a:solidFill>
                  <a:srgbClr val="FF3300"/>
                </a:solidFill>
                <a:latin typeface="Times New Roman" pitchFamily="18" charset="0"/>
              </a:rPr>
              <a:t>p</a:t>
            </a:r>
          </a:p>
          <a:p>
            <a:pPr algn="l" eaLnBrk="0" hangingPunct="0"/>
            <a:r>
              <a:rPr lang="en-US" sz="3200">
                <a:latin typeface="Times New Roman" pitchFamily="18" charset="0"/>
              </a:rPr>
              <a:t>Nút thế mạng rp là nút con phải của nút p cần xóa</a:t>
            </a:r>
          </a:p>
          <a:p>
            <a:pPr algn="l" eaLnBrk="0" hangingPunct="0"/>
            <a:r>
              <a:rPr lang="en-US" sz="3200">
                <a:latin typeface="Times New Roman" pitchFamily="18" charset="0"/>
              </a:rPr>
              <a:t>- </a:t>
            </a:r>
            <a:r>
              <a:rPr lang="en-US" sz="3200">
                <a:solidFill>
                  <a:srgbClr val="002060"/>
                </a:solidFill>
                <a:latin typeface="Times New Roman" pitchFamily="18" charset="0"/>
              </a:rPr>
              <a:t>xóa nút rp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903135" y="1294894"/>
            <a:ext cx="4419600" cy="3505200"/>
            <a:chOff x="903135" y="1294894"/>
            <a:chExt cx="4419600" cy="3505200"/>
          </a:xfrm>
        </p:grpSpPr>
        <p:grpSp>
          <p:nvGrpSpPr>
            <p:cNvPr id="73731" name="Group 3"/>
            <p:cNvGrpSpPr>
              <a:grpSpLocks/>
            </p:cNvGrpSpPr>
            <p:nvPr/>
          </p:nvGrpSpPr>
          <p:grpSpPr bwMode="auto">
            <a:xfrm>
              <a:off x="2503335" y="2666494"/>
              <a:ext cx="685800" cy="381000"/>
              <a:chOff x="1872" y="1824"/>
              <a:chExt cx="432" cy="240"/>
            </a:xfrm>
          </p:grpSpPr>
          <p:sp>
            <p:nvSpPr>
              <p:cNvPr id="78852" name="AutoShape 4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32" cy="24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2400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</a:rPr>
                  <a:t>39</a:t>
                </a:r>
              </a:p>
            </p:txBody>
          </p:sp>
          <p:sp>
            <p:nvSpPr>
              <p:cNvPr id="73775" name="Line 5"/>
              <p:cNvSpPr>
                <a:spLocks noChangeShapeType="1"/>
              </p:cNvSpPr>
              <p:nvPr/>
            </p:nvSpPr>
            <p:spPr bwMode="auto">
              <a:xfrm>
                <a:off x="196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  <p:sp>
            <p:nvSpPr>
              <p:cNvPr id="73776" name="Line 6"/>
              <p:cNvSpPr>
                <a:spLocks noChangeShapeType="1"/>
              </p:cNvSpPr>
              <p:nvPr/>
            </p:nvSpPr>
            <p:spPr bwMode="auto">
              <a:xfrm>
                <a:off x="220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3732" name="Group 7"/>
            <p:cNvGrpSpPr>
              <a:grpSpLocks/>
            </p:cNvGrpSpPr>
            <p:nvPr/>
          </p:nvGrpSpPr>
          <p:grpSpPr bwMode="auto">
            <a:xfrm>
              <a:off x="1436535" y="3580894"/>
              <a:ext cx="685800" cy="381000"/>
              <a:chOff x="1872" y="1824"/>
              <a:chExt cx="432" cy="240"/>
            </a:xfrm>
          </p:grpSpPr>
          <p:sp>
            <p:nvSpPr>
              <p:cNvPr id="73771" name="AutoShape 8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32" cy="24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400">
                    <a:solidFill>
                      <a:schemeClr val="bg1"/>
                    </a:solidFill>
                    <a:latin typeface="Times New Roman" pitchFamily="18" charset="0"/>
                  </a:rPr>
                  <a:t>15</a:t>
                </a:r>
              </a:p>
            </p:txBody>
          </p:sp>
          <p:sp>
            <p:nvSpPr>
              <p:cNvPr id="73772" name="Line 9"/>
              <p:cNvSpPr>
                <a:spLocks noChangeShapeType="1"/>
              </p:cNvSpPr>
              <p:nvPr/>
            </p:nvSpPr>
            <p:spPr bwMode="auto">
              <a:xfrm>
                <a:off x="196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  <p:sp>
            <p:nvSpPr>
              <p:cNvPr id="73773" name="Line 10"/>
              <p:cNvSpPr>
                <a:spLocks noChangeShapeType="1"/>
              </p:cNvSpPr>
              <p:nvPr/>
            </p:nvSpPr>
            <p:spPr bwMode="auto">
              <a:xfrm>
                <a:off x="220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3733" name="Group 11"/>
            <p:cNvGrpSpPr>
              <a:grpSpLocks/>
            </p:cNvGrpSpPr>
            <p:nvPr/>
          </p:nvGrpSpPr>
          <p:grpSpPr bwMode="auto">
            <a:xfrm>
              <a:off x="3570135" y="3580894"/>
              <a:ext cx="685800" cy="381000"/>
              <a:chOff x="1872" y="1824"/>
              <a:chExt cx="432" cy="240"/>
            </a:xfrm>
          </p:grpSpPr>
          <p:sp>
            <p:nvSpPr>
              <p:cNvPr id="73768" name="AutoShape 12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32" cy="24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400">
                    <a:solidFill>
                      <a:schemeClr val="bg1"/>
                    </a:solidFill>
                    <a:latin typeface="Times New Roman" pitchFamily="18" charset="0"/>
                  </a:rPr>
                  <a:t>39</a:t>
                </a:r>
              </a:p>
            </p:txBody>
          </p:sp>
          <p:sp>
            <p:nvSpPr>
              <p:cNvPr id="73769" name="Line 13"/>
              <p:cNvSpPr>
                <a:spLocks noChangeShapeType="1"/>
              </p:cNvSpPr>
              <p:nvPr/>
            </p:nvSpPr>
            <p:spPr bwMode="auto">
              <a:xfrm>
                <a:off x="196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  <p:sp>
            <p:nvSpPr>
              <p:cNvPr id="73770" name="Line 14"/>
              <p:cNvSpPr>
                <a:spLocks noChangeShapeType="1"/>
              </p:cNvSpPr>
              <p:nvPr/>
            </p:nvSpPr>
            <p:spPr bwMode="auto">
              <a:xfrm>
                <a:off x="220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3734" name="Group 15"/>
            <p:cNvGrpSpPr>
              <a:grpSpLocks/>
            </p:cNvGrpSpPr>
            <p:nvPr/>
          </p:nvGrpSpPr>
          <p:grpSpPr bwMode="auto">
            <a:xfrm>
              <a:off x="903135" y="4419094"/>
              <a:ext cx="685800" cy="381000"/>
              <a:chOff x="1872" y="1824"/>
              <a:chExt cx="432" cy="240"/>
            </a:xfrm>
          </p:grpSpPr>
          <p:sp>
            <p:nvSpPr>
              <p:cNvPr id="73765" name="AutoShape 16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32" cy="24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400">
                    <a:solidFill>
                      <a:schemeClr val="bg1"/>
                    </a:solidFill>
                    <a:latin typeface="Times New Roman" pitchFamily="18" charset="0"/>
                  </a:rPr>
                  <a:t>9</a:t>
                </a:r>
              </a:p>
            </p:txBody>
          </p:sp>
          <p:sp>
            <p:nvSpPr>
              <p:cNvPr id="73766" name="Line 17"/>
              <p:cNvSpPr>
                <a:spLocks noChangeShapeType="1"/>
              </p:cNvSpPr>
              <p:nvPr/>
            </p:nvSpPr>
            <p:spPr bwMode="auto">
              <a:xfrm>
                <a:off x="196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  <p:sp>
            <p:nvSpPr>
              <p:cNvPr id="73767" name="Line 18"/>
              <p:cNvSpPr>
                <a:spLocks noChangeShapeType="1"/>
              </p:cNvSpPr>
              <p:nvPr/>
            </p:nvSpPr>
            <p:spPr bwMode="auto">
              <a:xfrm>
                <a:off x="220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3735" name="Group 19"/>
            <p:cNvGrpSpPr>
              <a:grpSpLocks/>
            </p:cNvGrpSpPr>
            <p:nvPr/>
          </p:nvGrpSpPr>
          <p:grpSpPr bwMode="auto">
            <a:xfrm>
              <a:off x="1969935" y="4419094"/>
              <a:ext cx="685800" cy="381000"/>
              <a:chOff x="1872" y="1824"/>
              <a:chExt cx="432" cy="240"/>
            </a:xfrm>
          </p:grpSpPr>
          <p:sp>
            <p:nvSpPr>
              <p:cNvPr id="73762" name="AutoShape 20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32" cy="24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400">
                    <a:solidFill>
                      <a:schemeClr val="bg1"/>
                    </a:solidFill>
                    <a:latin typeface="Times New Roman" pitchFamily="18" charset="0"/>
                  </a:rPr>
                  <a:t>19</a:t>
                </a:r>
              </a:p>
            </p:txBody>
          </p:sp>
          <p:sp>
            <p:nvSpPr>
              <p:cNvPr id="73763" name="Line 21"/>
              <p:cNvSpPr>
                <a:spLocks noChangeShapeType="1"/>
              </p:cNvSpPr>
              <p:nvPr/>
            </p:nvSpPr>
            <p:spPr bwMode="auto">
              <a:xfrm>
                <a:off x="196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  <p:sp>
            <p:nvSpPr>
              <p:cNvPr id="73764" name="Line 22"/>
              <p:cNvSpPr>
                <a:spLocks noChangeShapeType="1"/>
              </p:cNvSpPr>
              <p:nvPr/>
            </p:nvSpPr>
            <p:spPr bwMode="auto">
              <a:xfrm>
                <a:off x="220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3736" name="Group 23"/>
            <p:cNvGrpSpPr>
              <a:grpSpLocks/>
            </p:cNvGrpSpPr>
            <p:nvPr/>
          </p:nvGrpSpPr>
          <p:grpSpPr bwMode="auto">
            <a:xfrm>
              <a:off x="4103535" y="4419094"/>
              <a:ext cx="685800" cy="381000"/>
              <a:chOff x="1872" y="1824"/>
              <a:chExt cx="432" cy="240"/>
            </a:xfrm>
          </p:grpSpPr>
          <p:sp>
            <p:nvSpPr>
              <p:cNvPr id="73759" name="AutoShape 24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32" cy="24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400">
                    <a:solidFill>
                      <a:srgbClr val="FFC000"/>
                    </a:solidFill>
                    <a:latin typeface="Times New Roman" pitchFamily="18" charset="0"/>
                  </a:rPr>
                  <a:t>42</a:t>
                </a:r>
              </a:p>
            </p:txBody>
          </p:sp>
          <p:sp>
            <p:nvSpPr>
              <p:cNvPr id="73760" name="Line 25"/>
              <p:cNvSpPr>
                <a:spLocks noChangeShapeType="1"/>
              </p:cNvSpPr>
              <p:nvPr/>
            </p:nvSpPr>
            <p:spPr bwMode="auto">
              <a:xfrm>
                <a:off x="196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  <p:sp>
            <p:nvSpPr>
              <p:cNvPr id="73761" name="Line 26"/>
              <p:cNvSpPr>
                <a:spLocks noChangeShapeType="1"/>
              </p:cNvSpPr>
              <p:nvPr/>
            </p:nvSpPr>
            <p:spPr bwMode="auto">
              <a:xfrm>
                <a:off x="220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</p:grpSp>
        <p:sp>
          <p:nvSpPr>
            <p:cNvPr id="73737" name="Line 27"/>
            <p:cNvSpPr>
              <a:spLocks noChangeShapeType="1"/>
            </p:cNvSpPr>
            <p:nvPr/>
          </p:nvSpPr>
          <p:spPr bwMode="auto">
            <a:xfrm flipH="1">
              <a:off x="1741335" y="2895094"/>
              <a:ext cx="8382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3738" name="Line 29"/>
            <p:cNvSpPr>
              <a:spLocks noChangeShapeType="1"/>
            </p:cNvSpPr>
            <p:nvPr/>
          </p:nvSpPr>
          <p:spPr bwMode="auto">
            <a:xfrm>
              <a:off x="2046135" y="3733294"/>
              <a:ext cx="3048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3739" name="Line 30"/>
            <p:cNvSpPr>
              <a:spLocks noChangeShapeType="1"/>
            </p:cNvSpPr>
            <p:nvPr/>
          </p:nvSpPr>
          <p:spPr bwMode="auto">
            <a:xfrm>
              <a:off x="4179735" y="3733294"/>
              <a:ext cx="3048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3740" name="Rectangle 31"/>
            <p:cNvSpPr>
              <a:spLocks noChangeArrowheads="1"/>
            </p:cNvSpPr>
            <p:nvPr/>
          </p:nvSpPr>
          <p:spPr bwMode="auto">
            <a:xfrm>
              <a:off x="2274735" y="2514094"/>
              <a:ext cx="1143000" cy="685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73741" name="Freeform 32"/>
            <p:cNvSpPr>
              <a:spLocks/>
            </p:cNvSpPr>
            <p:nvPr/>
          </p:nvSpPr>
          <p:spPr bwMode="auto">
            <a:xfrm>
              <a:off x="1741335" y="2031494"/>
              <a:ext cx="1066800" cy="635000"/>
            </a:xfrm>
            <a:custGeom>
              <a:avLst/>
              <a:gdLst>
                <a:gd name="T0" fmla="*/ 0 w 672"/>
                <a:gd name="T1" fmla="*/ 2147483647 h 400"/>
                <a:gd name="T2" fmla="*/ 2147483647 w 672"/>
                <a:gd name="T3" fmla="*/ 2147483647 h 400"/>
                <a:gd name="T4" fmla="*/ 2147483647 w 672"/>
                <a:gd name="T5" fmla="*/ 2147483647 h 400"/>
                <a:gd name="T6" fmla="*/ 0 60000 65536"/>
                <a:gd name="T7" fmla="*/ 0 60000 65536"/>
                <a:gd name="T8" fmla="*/ 0 60000 65536"/>
                <a:gd name="T9" fmla="*/ 0 w 672"/>
                <a:gd name="T10" fmla="*/ 0 h 400"/>
                <a:gd name="T11" fmla="*/ 672 w 672"/>
                <a:gd name="T12" fmla="*/ 400 h 4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72" h="400">
                  <a:moveTo>
                    <a:pt x="0" y="16"/>
                  </a:moveTo>
                  <a:cubicBezTo>
                    <a:pt x="208" y="8"/>
                    <a:pt x="416" y="0"/>
                    <a:pt x="528" y="64"/>
                  </a:cubicBezTo>
                  <a:cubicBezTo>
                    <a:pt x="640" y="128"/>
                    <a:pt x="656" y="264"/>
                    <a:pt x="672" y="400"/>
                  </a:cubicBezTo>
                </a:path>
              </a:pathLst>
            </a:cu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3742" name="Rectangle 33"/>
            <p:cNvSpPr>
              <a:spLocks noChangeArrowheads="1"/>
            </p:cNvSpPr>
            <p:nvPr/>
          </p:nvSpPr>
          <p:spPr bwMode="auto">
            <a:xfrm>
              <a:off x="1360335" y="1752094"/>
              <a:ext cx="381000" cy="609600"/>
            </a:xfrm>
            <a:prstGeom prst="rect">
              <a:avLst/>
            </a:prstGeom>
            <a:solidFill>
              <a:srgbClr val="800080">
                <a:alpha val="54117"/>
              </a:srgb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3600">
                  <a:solidFill>
                    <a:schemeClr val="bg1"/>
                  </a:solidFill>
                  <a:latin typeface="Times New Roman" pitchFamily="18" charset="0"/>
                </a:rPr>
                <a:t>P</a:t>
              </a:r>
            </a:p>
          </p:txBody>
        </p:sp>
        <p:sp>
          <p:nvSpPr>
            <p:cNvPr id="73743" name="Rectangle 34"/>
            <p:cNvSpPr>
              <a:spLocks noChangeArrowheads="1"/>
            </p:cNvSpPr>
            <p:nvPr/>
          </p:nvSpPr>
          <p:spPr bwMode="auto">
            <a:xfrm>
              <a:off x="4941735" y="2590294"/>
              <a:ext cx="381000" cy="609600"/>
            </a:xfrm>
            <a:prstGeom prst="rect">
              <a:avLst/>
            </a:prstGeom>
            <a:solidFill>
              <a:srgbClr val="FFFF00">
                <a:alpha val="39999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3600">
                  <a:latin typeface="Times New Roman" pitchFamily="18" charset="0"/>
                </a:rPr>
                <a:t>rp</a:t>
              </a:r>
            </a:p>
          </p:txBody>
        </p:sp>
        <p:sp>
          <p:nvSpPr>
            <p:cNvPr id="73744" name="Freeform 35"/>
            <p:cNvSpPr>
              <a:spLocks/>
            </p:cNvSpPr>
            <p:nvPr/>
          </p:nvSpPr>
          <p:spPr bwMode="auto">
            <a:xfrm>
              <a:off x="3951135" y="2945894"/>
              <a:ext cx="990600" cy="635000"/>
            </a:xfrm>
            <a:custGeom>
              <a:avLst/>
              <a:gdLst>
                <a:gd name="T0" fmla="*/ 2147483647 w 624"/>
                <a:gd name="T1" fmla="*/ 2147483647 h 400"/>
                <a:gd name="T2" fmla="*/ 2147483647 w 624"/>
                <a:gd name="T3" fmla="*/ 2147483647 h 400"/>
                <a:gd name="T4" fmla="*/ 2147483647 w 624"/>
                <a:gd name="T5" fmla="*/ 2147483647 h 400"/>
                <a:gd name="T6" fmla="*/ 0 60000 65536"/>
                <a:gd name="T7" fmla="*/ 0 60000 65536"/>
                <a:gd name="T8" fmla="*/ 0 60000 65536"/>
                <a:gd name="T9" fmla="*/ 0 w 624"/>
                <a:gd name="T10" fmla="*/ 0 h 400"/>
                <a:gd name="T11" fmla="*/ 624 w 624"/>
                <a:gd name="T12" fmla="*/ 400 h 4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24" h="400">
                  <a:moveTo>
                    <a:pt x="624" y="16"/>
                  </a:moveTo>
                  <a:cubicBezTo>
                    <a:pt x="408" y="8"/>
                    <a:pt x="192" y="0"/>
                    <a:pt x="96" y="64"/>
                  </a:cubicBezTo>
                  <a:cubicBezTo>
                    <a:pt x="0" y="128"/>
                    <a:pt x="24" y="264"/>
                    <a:pt x="48" y="400"/>
                  </a:cubicBezTo>
                </a:path>
              </a:pathLst>
            </a:cu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3745" name="Line 36"/>
            <p:cNvSpPr>
              <a:spLocks noChangeShapeType="1"/>
            </p:cNvSpPr>
            <p:nvPr/>
          </p:nvSpPr>
          <p:spPr bwMode="auto">
            <a:xfrm flipH="1">
              <a:off x="1284135" y="3733294"/>
              <a:ext cx="2286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3746" name="Rectangle 37"/>
            <p:cNvSpPr>
              <a:spLocks noChangeArrowheads="1"/>
            </p:cNvSpPr>
            <p:nvPr/>
          </p:nvSpPr>
          <p:spPr bwMode="auto">
            <a:xfrm>
              <a:off x="3722535" y="1294894"/>
              <a:ext cx="381000" cy="609600"/>
            </a:xfrm>
            <a:prstGeom prst="rect">
              <a:avLst/>
            </a:prstGeom>
            <a:solidFill>
              <a:srgbClr val="FF99CC">
                <a:alpha val="52156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3600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73747" name="Freeform 38"/>
            <p:cNvSpPr>
              <a:spLocks/>
            </p:cNvSpPr>
            <p:nvPr/>
          </p:nvSpPr>
          <p:spPr bwMode="auto">
            <a:xfrm>
              <a:off x="2909735" y="1574294"/>
              <a:ext cx="812800" cy="1092200"/>
            </a:xfrm>
            <a:custGeom>
              <a:avLst/>
              <a:gdLst>
                <a:gd name="T0" fmla="*/ 2147483647 w 512"/>
                <a:gd name="T1" fmla="*/ 2147483647 h 688"/>
                <a:gd name="T2" fmla="*/ 2147483647 w 512"/>
                <a:gd name="T3" fmla="*/ 2147483647 h 688"/>
                <a:gd name="T4" fmla="*/ 2147483647 w 512"/>
                <a:gd name="T5" fmla="*/ 2147483647 h 688"/>
                <a:gd name="T6" fmla="*/ 0 60000 65536"/>
                <a:gd name="T7" fmla="*/ 0 60000 65536"/>
                <a:gd name="T8" fmla="*/ 0 60000 65536"/>
                <a:gd name="T9" fmla="*/ 0 w 512"/>
                <a:gd name="T10" fmla="*/ 0 h 688"/>
                <a:gd name="T11" fmla="*/ 512 w 512"/>
                <a:gd name="T12" fmla="*/ 688 h 6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2" h="688">
                  <a:moveTo>
                    <a:pt x="512" y="16"/>
                  </a:moveTo>
                  <a:cubicBezTo>
                    <a:pt x="336" y="8"/>
                    <a:pt x="160" y="0"/>
                    <a:pt x="80" y="112"/>
                  </a:cubicBezTo>
                  <a:cubicBezTo>
                    <a:pt x="0" y="224"/>
                    <a:pt x="16" y="456"/>
                    <a:pt x="32" y="688"/>
                  </a:cubicBezTo>
                </a:path>
              </a:pathLst>
            </a:cu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3748" name="Rectangle 39"/>
            <p:cNvSpPr>
              <a:spLocks noChangeArrowheads="1"/>
            </p:cNvSpPr>
            <p:nvPr/>
          </p:nvSpPr>
          <p:spPr bwMode="auto">
            <a:xfrm>
              <a:off x="3341535" y="3428494"/>
              <a:ext cx="1143000" cy="685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grpSp>
          <p:nvGrpSpPr>
            <p:cNvPr id="73750" name="Group 41"/>
            <p:cNvGrpSpPr>
              <a:grpSpLocks/>
            </p:cNvGrpSpPr>
            <p:nvPr/>
          </p:nvGrpSpPr>
          <p:grpSpPr bwMode="auto">
            <a:xfrm>
              <a:off x="4484535" y="1599694"/>
              <a:ext cx="685800" cy="381000"/>
              <a:chOff x="1872" y="1824"/>
              <a:chExt cx="432" cy="240"/>
            </a:xfrm>
          </p:grpSpPr>
          <p:sp>
            <p:nvSpPr>
              <p:cNvPr id="73756" name="AutoShape 42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32" cy="24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400">
                    <a:solidFill>
                      <a:schemeClr val="bg1"/>
                    </a:solidFill>
                    <a:latin typeface="Times New Roman" pitchFamily="18" charset="0"/>
                  </a:rPr>
                  <a:t>52</a:t>
                </a:r>
              </a:p>
            </p:txBody>
          </p:sp>
          <p:sp>
            <p:nvSpPr>
              <p:cNvPr id="73757" name="Line 43"/>
              <p:cNvSpPr>
                <a:spLocks noChangeShapeType="1"/>
              </p:cNvSpPr>
              <p:nvPr/>
            </p:nvSpPr>
            <p:spPr bwMode="auto">
              <a:xfrm>
                <a:off x="196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  <p:sp>
            <p:nvSpPr>
              <p:cNvPr id="73758" name="Line 44"/>
              <p:cNvSpPr>
                <a:spLocks noChangeShapeType="1"/>
              </p:cNvSpPr>
              <p:nvPr/>
            </p:nvSpPr>
            <p:spPr bwMode="auto">
              <a:xfrm>
                <a:off x="220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endParaRPr lang="en-US"/>
              </a:p>
            </p:txBody>
          </p:sp>
        </p:grpSp>
        <p:sp>
          <p:nvSpPr>
            <p:cNvPr id="73751" name="Line 45"/>
            <p:cNvSpPr>
              <a:spLocks noChangeShapeType="1"/>
            </p:cNvSpPr>
            <p:nvPr/>
          </p:nvSpPr>
          <p:spPr bwMode="auto">
            <a:xfrm flipH="1">
              <a:off x="2884335" y="1752094"/>
              <a:ext cx="167640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3752" name="Rectangle 47"/>
            <p:cNvSpPr>
              <a:spLocks noChangeArrowheads="1"/>
            </p:cNvSpPr>
            <p:nvPr/>
          </p:nvSpPr>
          <p:spPr bwMode="auto">
            <a:xfrm>
              <a:off x="3341535" y="3428494"/>
              <a:ext cx="1143000" cy="685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73753" name="Rectangle 48"/>
            <p:cNvSpPr>
              <a:spLocks noChangeArrowheads="1"/>
            </p:cNvSpPr>
            <p:nvPr/>
          </p:nvSpPr>
          <p:spPr bwMode="auto">
            <a:xfrm rot="2751306">
              <a:off x="3189135" y="3733294"/>
              <a:ext cx="1524000" cy="1524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73754" name="Rectangle 49"/>
            <p:cNvSpPr>
              <a:spLocks noChangeArrowheads="1"/>
            </p:cNvSpPr>
            <p:nvPr/>
          </p:nvSpPr>
          <p:spPr bwMode="auto">
            <a:xfrm rot="18848694" flipH="1">
              <a:off x="3189135" y="3733294"/>
              <a:ext cx="1524000" cy="1524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73755" name="Freeform 46"/>
            <p:cNvSpPr>
              <a:spLocks/>
            </p:cNvSpPr>
            <p:nvPr/>
          </p:nvSpPr>
          <p:spPr bwMode="auto">
            <a:xfrm>
              <a:off x="2757335" y="2895094"/>
              <a:ext cx="1574800" cy="1524000"/>
            </a:xfrm>
            <a:custGeom>
              <a:avLst/>
              <a:gdLst>
                <a:gd name="T0" fmla="*/ 2147483647 w 992"/>
                <a:gd name="T1" fmla="*/ 0 h 960"/>
                <a:gd name="T2" fmla="*/ 2147483647 w 992"/>
                <a:gd name="T3" fmla="*/ 2147483647 h 960"/>
                <a:gd name="T4" fmla="*/ 2147483647 w 992"/>
                <a:gd name="T5" fmla="*/ 2147483647 h 960"/>
                <a:gd name="T6" fmla="*/ 0 60000 65536"/>
                <a:gd name="T7" fmla="*/ 0 60000 65536"/>
                <a:gd name="T8" fmla="*/ 0 60000 65536"/>
                <a:gd name="T9" fmla="*/ 0 w 992"/>
                <a:gd name="T10" fmla="*/ 0 h 960"/>
                <a:gd name="T11" fmla="*/ 992 w 992"/>
                <a:gd name="T12" fmla="*/ 960 h 9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92" h="960">
                  <a:moveTo>
                    <a:pt x="224" y="0"/>
                  </a:moveTo>
                  <a:cubicBezTo>
                    <a:pt x="112" y="256"/>
                    <a:pt x="0" y="512"/>
                    <a:pt x="128" y="672"/>
                  </a:cubicBezTo>
                  <a:cubicBezTo>
                    <a:pt x="256" y="832"/>
                    <a:pt x="624" y="896"/>
                    <a:pt x="992" y="960"/>
                  </a:cubicBezTo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4011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32314" y="440640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Ví dụ xóa x = 25</a:t>
            </a:r>
          </a:p>
        </p:txBody>
      </p:sp>
      <p:grpSp>
        <p:nvGrpSpPr>
          <p:cNvPr id="74755" name="Group 3"/>
          <p:cNvGrpSpPr>
            <a:grpSpLocks/>
          </p:cNvGrpSpPr>
          <p:nvPr/>
        </p:nvGrpSpPr>
        <p:grpSpPr bwMode="auto">
          <a:xfrm>
            <a:off x="2385461" y="2655771"/>
            <a:ext cx="685800" cy="381000"/>
            <a:chOff x="1872" y="1824"/>
            <a:chExt cx="432" cy="240"/>
          </a:xfrm>
        </p:grpSpPr>
        <p:sp>
          <p:nvSpPr>
            <p:cNvPr id="81924" name="AutoShape 4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24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39</a:t>
              </a:r>
            </a:p>
          </p:txBody>
        </p:sp>
        <p:sp>
          <p:nvSpPr>
            <p:cNvPr id="74788" name="Line 5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4789" name="Line 6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74756" name="Group 7"/>
          <p:cNvGrpSpPr>
            <a:grpSpLocks/>
          </p:cNvGrpSpPr>
          <p:nvPr/>
        </p:nvGrpSpPr>
        <p:grpSpPr bwMode="auto">
          <a:xfrm>
            <a:off x="1318661" y="3570171"/>
            <a:ext cx="685800" cy="381000"/>
            <a:chOff x="1872" y="1824"/>
            <a:chExt cx="432" cy="240"/>
          </a:xfrm>
        </p:grpSpPr>
        <p:sp>
          <p:nvSpPr>
            <p:cNvPr id="74784" name="AutoShape 8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15</a:t>
              </a:r>
            </a:p>
          </p:txBody>
        </p:sp>
        <p:sp>
          <p:nvSpPr>
            <p:cNvPr id="74785" name="Line 9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4786" name="Line 10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74757" name="Group 15"/>
          <p:cNvGrpSpPr>
            <a:grpSpLocks/>
          </p:cNvGrpSpPr>
          <p:nvPr/>
        </p:nvGrpSpPr>
        <p:grpSpPr bwMode="auto">
          <a:xfrm>
            <a:off x="785261" y="4408371"/>
            <a:ext cx="685800" cy="381000"/>
            <a:chOff x="1872" y="1824"/>
            <a:chExt cx="432" cy="240"/>
          </a:xfrm>
        </p:grpSpPr>
        <p:sp>
          <p:nvSpPr>
            <p:cNvPr id="74781" name="AutoShape 16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74782" name="Line 17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4783" name="Line 18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74758" name="Group 19"/>
          <p:cNvGrpSpPr>
            <a:grpSpLocks/>
          </p:cNvGrpSpPr>
          <p:nvPr/>
        </p:nvGrpSpPr>
        <p:grpSpPr bwMode="auto">
          <a:xfrm>
            <a:off x="1852061" y="4408371"/>
            <a:ext cx="685800" cy="381000"/>
            <a:chOff x="1872" y="1824"/>
            <a:chExt cx="432" cy="240"/>
          </a:xfrm>
        </p:grpSpPr>
        <p:sp>
          <p:nvSpPr>
            <p:cNvPr id="74778" name="AutoShape 20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19</a:t>
              </a:r>
            </a:p>
          </p:txBody>
        </p:sp>
        <p:sp>
          <p:nvSpPr>
            <p:cNvPr id="74779" name="Line 21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4780" name="Line 22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grpSp>
        <p:nvGrpSpPr>
          <p:cNvPr id="74759" name="Group 23"/>
          <p:cNvGrpSpPr>
            <a:grpSpLocks/>
          </p:cNvGrpSpPr>
          <p:nvPr/>
        </p:nvGrpSpPr>
        <p:grpSpPr bwMode="auto">
          <a:xfrm>
            <a:off x="3223661" y="3570171"/>
            <a:ext cx="685800" cy="381000"/>
            <a:chOff x="1872" y="1824"/>
            <a:chExt cx="432" cy="240"/>
          </a:xfrm>
        </p:grpSpPr>
        <p:sp>
          <p:nvSpPr>
            <p:cNvPr id="74775" name="AutoShape 24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42</a:t>
              </a:r>
            </a:p>
          </p:txBody>
        </p:sp>
        <p:sp>
          <p:nvSpPr>
            <p:cNvPr id="74776" name="Line 25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4777" name="Line 26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sp>
        <p:nvSpPr>
          <p:cNvPr id="74760" name="Line 27"/>
          <p:cNvSpPr>
            <a:spLocks noChangeShapeType="1"/>
          </p:cNvSpPr>
          <p:nvPr/>
        </p:nvSpPr>
        <p:spPr bwMode="auto">
          <a:xfrm flipH="1">
            <a:off x="1623461" y="2884371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4761" name="Line 28"/>
          <p:cNvSpPr>
            <a:spLocks noChangeShapeType="1"/>
          </p:cNvSpPr>
          <p:nvPr/>
        </p:nvSpPr>
        <p:spPr bwMode="auto">
          <a:xfrm>
            <a:off x="1928261" y="3722571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4762" name="Rectangle 30"/>
          <p:cNvSpPr>
            <a:spLocks noChangeArrowheads="1"/>
          </p:cNvSpPr>
          <p:nvPr/>
        </p:nvSpPr>
        <p:spPr bwMode="auto">
          <a:xfrm>
            <a:off x="2156861" y="2503371"/>
            <a:ext cx="1143000" cy="6858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74763" name="Freeform 31"/>
          <p:cNvSpPr>
            <a:spLocks/>
          </p:cNvSpPr>
          <p:nvPr/>
        </p:nvSpPr>
        <p:spPr bwMode="auto">
          <a:xfrm>
            <a:off x="1623461" y="2020771"/>
            <a:ext cx="1066800" cy="635000"/>
          </a:xfrm>
          <a:custGeom>
            <a:avLst/>
            <a:gdLst>
              <a:gd name="T0" fmla="*/ 0 w 672"/>
              <a:gd name="T1" fmla="*/ 2147483647 h 400"/>
              <a:gd name="T2" fmla="*/ 2147483647 w 672"/>
              <a:gd name="T3" fmla="*/ 2147483647 h 400"/>
              <a:gd name="T4" fmla="*/ 2147483647 w 672"/>
              <a:gd name="T5" fmla="*/ 2147483647 h 400"/>
              <a:gd name="T6" fmla="*/ 0 60000 65536"/>
              <a:gd name="T7" fmla="*/ 0 60000 65536"/>
              <a:gd name="T8" fmla="*/ 0 60000 65536"/>
              <a:gd name="T9" fmla="*/ 0 w 672"/>
              <a:gd name="T10" fmla="*/ 0 h 400"/>
              <a:gd name="T11" fmla="*/ 672 w 672"/>
              <a:gd name="T12" fmla="*/ 400 h 4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2" h="400">
                <a:moveTo>
                  <a:pt x="0" y="16"/>
                </a:moveTo>
                <a:cubicBezTo>
                  <a:pt x="208" y="8"/>
                  <a:pt x="416" y="0"/>
                  <a:pt x="528" y="64"/>
                </a:cubicBezTo>
                <a:cubicBezTo>
                  <a:pt x="640" y="128"/>
                  <a:pt x="656" y="264"/>
                  <a:pt x="672" y="400"/>
                </a:cubicBezTo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4764" name="Rectangle 32"/>
          <p:cNvSpPr>
            <a:spLocks noChangeArrowheads="1"/>
          </p:cNvSpPr>
          <p:nvPr/>
        </p:nvSpPr>
        <p:spPr bwMode="auto">
          <a:xfrm>
            <a:off x="1242461" y="1741371"/>
            <a:ext cx="381000" cy="609600"/>
          </a:xfrm>
          <a:prstGeom prst="rect">
            <a:avLst/>
          </a:prstGeom>
          <a:solidFill>
            <a:srgbClr val="800080">
              <a:alpha val="54117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4400">
                <a:solidFill>
                  <a:schemeClr val="bg1"/>
                </a:solidFill>
                <a:latin typeface="Times New Roman" pitchFamily="18" charset="0"/>
              </a:rPr>
              <a:t>P</a:t>
            </a:r>
          </a:p>
        </p:txBody>
      </p:sp>
      <p:sp>
        <p:nvSpPr>
          <p:cNvPr id="74765" name="Line 35"/>
          <p:cNvSpPr>
            <a:spLocks noChangeShapeType="1"/>
          </p:cNvSpPr>
          <p:nvPr/>
        </p:nvSpPr>
        <p:spPr bwMode="auto">
          <a:xfrm flipH="1">
            <a:off x="1166261" y="3722571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4766" name="Rectangle 36"/>
          <p:cNvSpPr>
            <a:spLocks noChangeArrowheads="1"/>
          </p:cNvSpPr>
          <p:nvPr/>
        </p:nvSpPr>
        <p:spPr bwMode="auto">
          <a:xfrm>
            <a:off x="3604661" y="1284171"/>
            <a:ext cx="381000" cy="609600"/>
          </a:xfrm>
          <a:prstGeom prst="rect">
            <a:avLst/>
          </a:prstGeom>
          <a:solidFill>
            <a:srgbClr val="FF99CC">
              <a:alpha val="52156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4400">
                <a:solidFill>
                  <a:srgbClr val="002060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74767" name="Freeform 37"/>
          <p:cNvSpPr>
            <a:spLocks/>
          </p:cNvSpPr>
          <p:nvPr/>
        </p:nvSpPr>
        <p:spPr bwMode="auto">
          <a:xfrm>
            <a:off x="2791861" y="1563571"/>
            <a:ext cx="812800" cy="1092200"/>
          </a:xfrm>
          <a:custGeom>
            <a:avLst/>
            <a:gdLst>
              <a:gd name="T0" fmla="*/ 2147483647 w 512"/>
              <a:gd name="T1" fmla="*/ 2147483647 h 688"/>
              <a:gd name="T2" fmla="*/ 2147483647 w 512"/>
              <a:gd name="T3" fmla="*/ 2147483647 h 688"/>
              <a:gd name="T4" fmla="*/ 2147483647 w 512"/>
              <a:gd name="T5" fmla="*/ 2147483647 h 688"/>
              <a:gd name="T6" fmla="*/ 0 60000 65536"/>
              <a:gd name="T7" fmla="*/ 0 60000 65536"/>
              <a:gd name="T8" fmla="*/ 0 60000 65536"/>
              <a:gd name="T9" fmla="*/ 0 w 512"/>
              <a:gd name="T10" fmla="*/ 0 h 688"/>
              <a:gd name="T11" fmla="*/ 512 w 512"/>
              <a:gd name="T12" fmla="*/ 688 h 6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12" h="688">
                <a:moveTo>
                  <a:pt x="512" y="16"/>
                </a:moveTo>
                <a:cubicBezTo>
                  <a:pt x="336" y="8"/>
                  <a:pt x="160" y="0"/>
                  <a:pt x="80" y="112"/>
                </a:cubicBezTo>
                <a:cubicBezTo>
                  <a:pt x="0" y="224"/>
                  <a:pt x="16" y="456"/>
                  <a:pt x="32" y="688"/>
                </a:cubicBezTo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4768" name="Text Box 39"/>
          <p:cNvSpPr txBox="1">
            <a:spLocks noChangeArrowheads="1"/>
          </p:cNvSpPr>
          <p:nvPr/>
        </p:nvSpPr>
        <p:spPr bwMode="auto">
          <a:xfrm>
            <a:off x="5611261" y="1524000"/>
            <a:ext cx="5862053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en-US" sz="3000">
                <a:latin typeface="Times New Roman" pitchFamily="18" charset="0"/>
              </a:rPr>
              <a:t>Trường hợp đặc biệt:</a:t>
            </a:r>
          </a:p>
          <a:p>
            <a:pPr algn="l" eaLnBrk="0" hangingPunct="0"/>
            <a:r>
              <a:rPr lang="en-US" sz="3000">
                <a:solidFill>
                  <a:srgbClr val="FF3300"/>
                </a:solidFill>
                <a:latin typeface="Times New Roman" pitchFamily="18" charset="0"/>
              </a:rPr>
              <a:t>f </a:t>
            </a:r>
            <a:r>
              <a:rPr lang="en-US" sz="3000" smtClean="0">
                <a:solidFill>
                  <a:srgbClr val="FF3300"/>
                </a:solidFill>
                <a:latin typeface="Times New Roman" pitchFamily="18" charset="0"/>
              </a:rPr>
              <a:t>= </a:t>
            </a:r>
            <a:r>
              <a:rPr lang="en-US" sz="3000">
                <a:solidFill>
                  <a:srgbClr val="FF3300"/>
                </a:solidFill>
                <a:latin typeface="Times New Roman" pitchFamily="18" charset="0"/>
              </a:rPr>
              <a:t>p</a:t>
            </a:r>
          </a:p>
          <a:p>
            <a:pPr algn="l" eaLnBrk="0" hangingPunct="0"/>
            <a:r>
              <a:rPr lang="en-US" sz="3000">
                <a:latin typeface="Times New Roman" pitchFamily="18" charset="0"/>
              </a:rPr>
              <a:t>Nút thế mạng rp là nút con phải của nút p cần xóa</a:t>
            </a:r>
          </a:p>
          <a:p>
            <a:pPr algn="l" eaLnBrk="0" hangingPunct="0"/>
            <a:r>
              <a:rPr lang="en-US" sz="3000">
                <a:latin typeface="Times New Roman" pitchFamily="18" charset="0"/>
              </a:rPr>
              <a:t>- </a:t>
            </a:r>
            <a:r>
              <a:rPr lang="en-US" sz="3000">
                <a:solidFill>
                  <a:srgbClr val="002060"/>
                </a:solidFill>
                <a:latin typeface="Times New Roman" pitchFamily="18" charset="0"/>
              </a:rPr>
              <a:t>Sau khi xóa</a:t>
            </a:r>
          </a:p>
        </p:txBody>
      </p:sp>
      <p:grpSp>
        <p:nvGrpSpPr>
          <p:cNvPr id="74769" name="Group 40"/>
          <p:cNvGrpSpPr>
            <a:grpSpLocks/>
          </p:cNvGrpSpPr>
          <p:nvPr/>
        </p:nvGrpSpPr>
        <p:grpSpPr bwMode="auto">
          <a:xfrm>
            <a:off x="4366661" y="1588971"/>
            <a:ext cx="685800" cy="381000"/>
            <a:chOff x="1872" y="1824"/>
            <a:chExt cx="432" cy="240"/>
          </a:xfrm>
        </p:grpSpPr>
        <p:sp>
          <p:nvSpPr>
            <p:cNvPr id="74772" name="AutoShape 41"/>
            <p:cNvSpPr>
              <a:spLocks noChangeArrowheads="1"/>
            </p:cNvSpPr>
            <p:nvPr/>
          </p:nvSpPr>
          <p:spPr bwMode="auto">
            <a:xfrm>
              <a:off x="1872" y="1824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solidFill>
                    <a:schemeClr val="bg1"/>
                  </a:solidFill>
                  <a:latin typeface="Times New Roman" pitchFamily="18" charset="0"/>
                </a:rPr>
                <a:t>52</a:t>
              </a:r>
            </a:p>
          </p:txBody>
        </p:sp>
        <p:sp>
          <p:nvSpPr>
            <p:cNvPr id="74773" name="Line 42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4774" name="Line 43"/>
            <p:cNvSpPr>
              <a:spLocks noChangeShapeType="1"/>
            </p:cNvSpPr>
            <p:nvPr/>
          </p:nvSpPr>
          <p:spPr bwMode="auto">
            <a:xfrm>
              <a:off x="2208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</p:txBody>
        </p:sp>
      </p:grpSp>
      <p:sp>
        <p:nvSpPr>
          <p:cNvPr id="74770" name="Line 44"/>
          <p:cNvSpPr>
            <a:spLocks noChangeShapeType="1"/>
          </p:cNvSpPr>
          <p:nvPr/>
        </p:nvSpPr>
        <p:spPr bwMode="auto">
          <a:xfrm flipH="1">
            <a:off x="2766461" y="1741371"/>
            <a:ext cx="1676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4771" name="Line 49"/>
          <p:cNvSpPr>
            <a:spLocks noChangeShapeType="1"/>
          </p:cNvSpPr>
          <p:nvPr/>
        </p:nvSpPr>
        <p:spPr bwMode="auto">
          <a:xfrm>
            <a:off x="2995061" y="2884371"/>
            <a:ext cx="533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199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/>
          <p:cNvSpPr>
            <a:spLocks noGrp="1"/>
          </p:cNvSpPr>
          <p:nvPr>
            <p:ph type="title" idx="4294967295"/>
          </p:nvPr>
        </p:nvSpPr>
        <p:spPr>
          <a:xfrm>
            <a:off x="979104" y="485751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Giải thuật</a:t>
            </a:r>
          </a:p>
        </p:txBody>
      </p:sp>
      <p:sp>
        <p:nvSpPr>
          <p:cNvPr id="75779" name="Content Placeholder 2"/>
          <p:cNvSpPr>
            <a:spLocks noGrp="1"/>
          </p:cNvSpPr>
          <p:nvPr>
            <p:ph idx="4294967295"/>
          </p:nvPr>
        </p:nvSpPr>
        <p:spPr>
          <a:xfrm>
            <a:off x="1637097" y="1338510"/>
            <a:ext cx="8763000" cy="5486400"/>
          </a:xfrm>
        </p:spPr>
        <p:txBody>
          <a:bodyPr/>
          <a:lstStyle/>
          <a:p>
            <a:pPr marL="457200" indent="-457200">
              <a:buNone/>
            </a:pPr>
            <a:r>
              <a:rPr lang="en-US" sz="3200" dirty="0"/>
              <a:t>Nếu T = NULL </a:t>
            </a:r>
            <a:r>
              <a:rPr lang="en-US" sz="3200" dirty="0">
                <a:sym typeface="Symbol" pitchFamily="18" charset="2"/>
              </a:rPr>
              <a:t> thoát</a:t>
            </a:r>
          </a:p>
          <a:p>
            <a:pPr marL="457200" indent="-457200">
              <a:buNone/>
            </a:pPr>
            <a:r>
              <a:rPr lang="en-US" sz="3200" dirty="0">
                <a:sym typeface="Symbol" pitchFamily="18" charset="2"/>
              </a:rPr>
              <a:t>Nếu T</a:t>
            </a:r>
            <a:r>
              <a:rPr lang="en-US" sz="3200" dirty="0"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3200" dirty="0">
                <a:sym typeface="Symbol" pitchFamily="18" charset="2"/>
              </a:rPr>
              <a:t>Info &gt; x  Xoa(T</a:t>
            </a:r>
            <a:r>
              <a:rPr lang="en-US" sz="3200" dirty="0"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3200" dirty="0">
                <a:sym typeface="Symbol" pitchFamily="18" charset="2"/>
              </a:rPr>
              <a:t>Left, x)</a:t>
            </a:r>
          </a:p>
          <a:p>
            <a:pPr marL="457200" indent="-457200">
              <a:buNone/>
            </a:pPr>
            <a:r>
              <a:rPr lang="en-US" sz="3200" dirty="0">
                <a:sym typeface="Symbol" pitchFamily="18" charset="2"/>
              </a:rPr>
              <a:t>Nếu T</a:t>
            </a:r>
            <a:r>
              <a:rPr lang="en-US" sz="3200" dirty="0"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3200" dirty="0">
                <a:sym typeface="Symbol" pitchFamily="18" charset="2"/>
              </a:rPr>
              <a:t>Info &lt;x  Xoa(T</a:t>
            </a:r>
            <a:r>
              <a:rPr lang="en-US" sz="3200" dirty="0"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3200" dirty="0">
                <a:sym typeface="Symbol" pitchFamily="18" charset="2"/>
              </a:rPr>
              <a:t>Right, x)</a:t>
            </a:r>
          </a:p>
          <a:p>
            <a:pPr marL="457200" indent="-457200">
              <a:buNone/>
            </a:pPr>
            <a:r>
              <a:rPr lang="en-US" sz="3200" dirty="0">
                <a:sym typeface="Symbol" pitchFamily="18" charset="2"/>
              </a:rPr>
              <a:t>Nếu T</a:t>
            </a:r>
            <a:r>
              <a:rPr lang="en-US" sz="3200" dirty="0"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3200" dirty="0">
                <a:sym typeface="Symbol" pitchFamily="18" charset="2"/>
              </a:rPr>
              <a:t>Info = x</a:t>
            </a:r>
          </a:p>
          <a:p>
            <a:pPr marL="914400" lvl="1" indent="-457200">
              <a:buNone/>
            </a:pPr>
            <a:r>
              <a:rPr lang="en-US" sz="2800" dirty="0" smtClean="0">
                <a:sym typeface="Symbol" pitchFamily="18" charset="2"/>
              </a:rPr>
              <a:t>p = T </a:t>
            </a:r>
          </a:p>
          <a:p>
            <a:pPr marL="914400" lvl="1" indent="-457200">
              <a:buNone/>
            </a:pPr>
            <a:r>
              <a:rPr lang="en-US" sz="2800" dirty="0" smtClean="0">
                <a:sym typeface="Symbol" pitchFamily="18" charset="2"/>
              </a:rPr>
              <a:t>Nếu T có 1 nút con thì T trỏ đến nút con đó</a:t>
            </a:r>
            <a:endParaRPr lang="en-US" sz="2800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088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 idx="4294967295"/>
          </p:nvPr>
        </p:nvSpPr>
        <p:spPr>
          <a:xfrm>
            <a:off x="315016" y="483101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Giải thuật</a:t>
            </a:r>
            <a:endParaRPr lang="en-US" smtClean="0">
              <a:solidFill>
                <a:srgbClr val="FF0000"/>
              </a:solidFill>
            </a:endParaRPr>
          </a:p>
        </p:txBody>
      </p:sp>
      <p:sp>
        <p:nvSpPr>
          <p:cNvPr id="76803" name="Content Placeholder 2"/>
          <p:cNvSpPr>
            <a:spLocks noGrp="1"/>
          </p:cNvSpPr>
          <p:nvPr>
            <p:ph idx="4294967295"/>
          </p:nvPr>
        </p:nvSpPr>
        <p:spPr>
          <a:xfrm>
            <a:off x="1162517" y="1081332"/>
            <a:ext cx="9817100" cy="5486400"/>
          </a:xfrm>
        </p:spPr>
        <p:txBody>
          <a:bodyPr/>
          <a:lstStyle/>
          <a:p>
            <a:pPr marL="457200" indent="-457200">
              <a:buNone/>
            </a:pPr>
            <a:r>
              <a:rPr lang="en-US" sz="3200">
                <a:sym typeface="Symbol" pitchFamily="18" charset="2"/>
              </a:rPr>
              <a:t>Ngược lại có 2 con</a:t>
            </a:r>
          </a:p>
          <a:p>
            <a:pPr marL="914400" lvl="1" indent="-457200">
              <a:buNone/>
            </a:pPr>
            <a:r>
              <a:rPr lang="en-US" sz="2800" smtClean="0">
                <a:sym typeface="Symbol" pitchFamily="18" charset="2"/>
              </a:rPr>
              <a:t>Gọi f = p và rp = p</a:t>
            </a:r>
            <a:r>
              <a:rPr lang="en-US" sz="2800" smtClean="0"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800" smtClean="0">
                <a:sym typeface="Symbol" pitchFamily="18" charset="2"/>
              </a:rPr>
              <a:t>Right;</a:t>
            </a:r>
          </a:p>
          <a:p>
            <a:pPr marL="914400" lvl="1" indent="-457200">
              <a:buNone/>
            </a:pPr>
            <a:r>
              <a:rPr lang="en-US" sz="2800" smtClean="0">
                <a:sym typeface="Symbol" pitchFamily="18" charset="2"/>
              </a:rPr>
              <a:t>Tìm nút rp: rp</a:t>
            </a:r>
            <a:r>
              <a:rPr lang="en-US" sz="2800" smtClean="0"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800" smtClean="0">
                <a:sym typeface="Symbol" pitchFamily="18" charset="2"/>
              </a:rPr>
              <a:t>Left = NULL và nút f là nút cha nút rp</a:t>
            </a:r>
          </a:p>
          <a:p>
            <a:pPr marL="914400" lvl="1" indent="-457200">
              <a:buNone/>
            </a:pPr>
            <a:r>
              <a:rPr lang="en-US" sz="2800" smtClean="0">
                <a:sym typeface="Symbol" pitchFamily="18" charset="2"/>
              </a:rPr>
              <a:t>Thay đổi giá trị nội dung của p và rp</a:t>
            </a:r>
          </a:p>
          <a:p>
            <a:pPr marL="914400" lvl="1" indent="-457200">
              <a:buNone/>
            </a:pPr>
            <a:r>
              <a:rPr lang="en-US" sz="2800" smtClean="0">
                <a:sym typeface="Symbol" pitchFamily="18" charset="2"/>
              </a:rPr>
              <a:t>Nếu </a:t>
            </a:r>
            <a:r>
              <a:rPr lang="en-US" sz="2800" b="1" smtClean="0">
                <a:solidFill>
                  <a:srgbClr val="FF3300"/>
                </a:solidFill>
                <a:sym typeface="Symbol" pitchFamily="18" charset="2"/>
              </a:rPr>
              <a:t>f = p </a:t>
            </a:r>
            <a:r>
              <a:rPr lang="en-US" sz="2800" smtClean="0">
                <a:sym typeface="Symbol" pitchFamily="18" charset="2"/>
              </a:rPr>
              <a:t>(trường hợp đặc biệt</a:t>
            </a:r>
            <a:r>
              <a:rPr lang="en-US" sz="4400">
                <a:sym typeface="Symbol" pitchFamily="18" charset="2"/>
              </a:rPr>
              <a:t>) </a:t>
            </a:r>
            <a:r>
              <a:rPr lang="en-US" sz="2800" smtClean="0">
                <a:sym typeface="Symbol" pitchFamily="18" charset="2"/>
              </a:rPr>
              <a:t>thì:</a:t>
            </a:r>
          </a:p>
          <a:p>
            <a:pPr marL="914400" lvl="1" indent="-457200">
              <a:buNone/>
            </a:pPr>
            <a:r>
              <a:rPr lang="en-US" sz="2800" smtClean="0">
                <a:sym typeface="Symbol" pitchFamily="18" charset="2"/>
              </a:rPr>
              <a:t>	 f</a:t>
            </a:r>
            <a:r>
              <a:rPr lang="en-US" sz="2800" smtClean="0"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800" smtClean="0">
                <a:sym typeface="Symbol" pitchFamily="18" charset="2"/>
              </a:rPr>
              <a:t>Right = rp</a:t>
            </a:r>
            <a:r>
              <a:rPr lang="en-US" sz="2800" smtClean="0"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800" smtClean="0">
                <a:sym typeface="Symbol" pitchFamily="18" charset="2"/>
              </a:rPr>
              <a:t>Right;</a:t>
            </a:r>
          </a:p>
          <a:p>
            <a:pPr marL="914400" lvl="1" indent="-457200">
              <a:buNone/>
            </a:pPr>
            <a:r>
              <a:rPr lang="en-US" sz="2800" smtClean="0">
                <a:sym typeface="Symbol" pitchFamily="18" charset="2"/>
              </a:rPr>
              <a:t>Ngược lại: </a:t>
            </a:r>
          </a:p>
          <a:p>
            <a:pPr marL="914400" lvl="1" indent="-457200">
              <a:buNone/>
            </a:pPr>
            <a:r>
              <a:rPr lang="en-US" sz="2800">
                <a:sym typeface="Symbol" pitchFamily="18" charset="2"/>
              </a:rPr>
              <a:t>	</a:t>
            </a:r>
            <a:r>
              <a:rPr lang="en-US" sz="2800" smtClean="0">
                <a:sym typeface="Symbol" pitchFamily="18" charset="2"/>
              </a:rPr>
              <a:t>f</a:t>
            </a:r>
            <a:r>
              <a:rPr lang="en-US" sz="2800" smtClean="0"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800" smtClean="0">
                <a:sym typeface="Symbol" pitchFamily="18" charset="2"/>
              </a:rPr>
              <a:t>Left = rp</a:t>
            </a:r>
            <a:r>
              <a:rPr lang="en-US" sz="2800" smtClean="0"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800" smtClean="0">
                <a:sym typeface="Symbol" pitchFamily="18" charset="2"/>
              </a:rPr>
              <a:t>Right;</a:t>
            </a:r>
          </a:p>
          <a:p>
            <a:pPr marL="914400" lvl="1" indent="-457200">
              <a:buNone/>
            </a:pPr>
            <a:r>
              <a:rPr lang="en-US" sz="2800">
                <a:sym typeface="Symbol" pitchFamily="18" charset="2"/>
              </a:rPr>
              <a:t>Xóa </a:t>
            </a:r>
            <a:r>
              <a:rPr lang="en-US" sz="2800" smtClean="0">
                <a:sym typeface="Symbol" pitchFamily="18" charset="2"/>
              </a:rPr>
              <a:t>rp; // xóa nút thế mạng rp</a:t>
            </a:r>
            <a:endParaRPr lang="en-US" sz="4400">
              <a:sym typeface="Symbol" pitchFamily="18" charset="2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945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446488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Xóa nút có giá trị là x</a:t>
            </a:r>
          </a:p>
        </p:txBody>
      </p:sp>
      <p:sp>
        <p:nvSpPr>
          <p:cNvPr id="77827" name="Text Box 4"/>
          <p:cNvSpPr txBox="1">
            <a:spLocks noChangeArrowheads="1"/>
          </p:cNvSpPr>
          <p:nvPr/>
        </p:nvSpPr>
        <p:spPr bwMode="auto">
          <a:xfrm>
            <a:off x="41308" y="1139475"/>
            <a:ext cx="5994132" cy="4222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tabLst>
                <a:tab pos="342900" algn="l"/>
                <a:tab pos="685800" algn="l"/>
                <a:tab pos="1028700" algn="l"/>
                <a:tab pos="1371600" algn="l"/>
              </a:tabLst>
            </a:pP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deleteTNode</a:t>
            </a:r>
            <a:r>
              <a:rPr lang="en-US" sz="28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TNode* &amp;root, ItemType x</a:t>
            </a:r>
            <a:r>
              <a:rPr lang="en-US" sz="28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 </a:t>
            </a:r>
          </a:p>
          <a:p>
            <a:pPr eaLnBrk="0" hangingPunct="0">
              <a:lnSpc>
                <a:spcPct val="110000"/>
              </a:lnSpc>
              <a:tabLst>
                <a:tab pos="342900" algn="l"/>
                <a:tab pos="685800" algn="l"/>
                <a:tab pos="1028700" algn="l"/>
                <a:tab pos="1371600" algn="l"/>
              </a:tabLst>
            </a:pP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{	</a:t>
            </a:r>
          </a:p>
          <a:p>
            <a:pPr eaLnBrk="0" hangingPunct="0">
              <a:lnSpc>
                <a:spcPct val="110000"/>
              </a:lnSpc>
              <a:tabLst>
                <a:tab pos="342900" algn="l"/>
                <a:tab pos="685800" algn="l"/>
                <a:tab pos="1028700" algn="l"/>
                <a:tab pos="1371600" algn="l"/>
              </a:tabLst>
            </a:pP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if(!root)  return 0; </a:t>
            </a:r>
          </a:p>
          <a:p>
            <a:pPr eaLnBrk="0" hangingPunct="0">
              <a:lnSpc>
                <a:spcPct val="110000"/>
              </a:lnSpc>
              <a:tabLst>
                <a:tab pos="342900" algn="l"/>
                <a:tab pos="685800" algn="l"/>
                <a:tab pos="1028700" algn="l"/>
                <a:tab pos="1371600" algn="l"/>
              </a:tabLst>
            </a:pP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if(</a:t>
            </a:r>
            <a:r>
              <a:rPr lang="en-US" sz="2400" dirty="0" err="1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root</a:t>
            </a:r>
            <a:r>
              <a:rPr lang="en-US" sz="2400" dirty="0" err="1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2400" dirty="0" err="1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Info</a:t>
            </a: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 &gt; x) </a:t>
            </a:r>
            <a:r>
              <a:rPr lang="en-US" sz="2000" i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//tìm bên trái</a:t>
            </a:r>
            <a:endParaRPr lang="en-US" sz="2400" i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  <a:cs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tabLst>
                <a:tab pos="342900" algn="l"/>
                <a:tab pos="685800" algn="l"/>
                <a:tab pos="1028700" algn="l"/>
                <a:tab pos="1371600" algn="l"/>
              </a:tabLst>
            </a:pP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	return </a:t>
            </a:r>
            <a:r>
              <a:rPr lang="en-US" sz="2400" i="1" dirty="0">
                <a:solidFill>
                  <a:srgbClr val="CC00CC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deleteTNode</a:t>
            </a: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(root</a:t>
            </a: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Left, x); </a:t>
            </a:r>
          </a:p>
          <a:p>
            <a:pPr eaLnBrk="0" hangingPunct="0">
              <a:lnSpc>
                <a:spcPct val="110000"/>
              </a:lnSpc>
              <a:tabLst>
                <a:tab pos="342900" algn="l"/>
                <a:tab pos="685800" algn="l"/>
                <a:tab pos="1028700" algn="l"/>
                <a:tab pos="1371600" algn="l"/>
              </a:tabLst>
            </a:pP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else if(</a:t>
            </a:r>
            <a:r>
              <a:rPr lang="en-US" sz="2400" dirty="0" err="1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root</a:t>
            </a:r>
            <a:r>
              <a:rPr lang="en-US" sz="2400" dirty="0" err="1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2400" dirty="0" err="1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Info</a:t>
            </a: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 &lt; x) </a:t>
            </a:r>
            <a:r>
              <a:rPr lang="en-US" sz="2000" i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//tìm bên phải</a:t>
            </a:r>
            <a:endParaRPr lang="en-US" sz="2400" i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  <a:cs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tabLst>
                <a:tab pos="342900" algn="l"/>
                <a:tab pos="685800" algn="l"/>
                <a:tab pos="1028700" algn="l"/>
                <a:tab pos="1371600" algn="l"/>
              </a:tabLst>
            </a:pP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	return  </a:t>
            </a:r>
            <a:r>
              <a:rPr lang="en-US" sz="2400" i="1" dirty="0">
                <a:solidFill>
                  <a:srgbClr val="CC00CC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deleteTNode</a:t>
            </a: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(root</a:t>
            </a: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Right, x);</a:t>
            </a:r>
          </a:p>
          <a:p>
            <a:pPr eaLnBrk="0" hangingPunct="0">
              <a:lnSpc>
                <a:spcPct val="110000"/>
              </a:lnSpc>
              <a:tabLst>
                <a:tab pos="342900" algn="l"/>
                <a:tab pos="685800" algn="l"/>
                <a:tab pos="1028700" algn="l"/>
                <a:tab pos="1371600" algn="l"/>
              </a:tabLst>
            </a:pP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else</a:t>
            </a:r>
          </a:p>
          <a:p>
            <a:pPr eaLnBrk="0" hangingPunct="0">
              <a:lnSpc>
                <a:spcPct val="110000"/>
              </a:lnSpc>
              <a:tabLst>
                <a:tab pos="342900" algn="l"/>
                <a:tab pos="685800" algn="l"/>
                <a:tab pos="1028700" algn="l"/>
                <a:tab pos="1371600" algn="l"/>
              </a:tabLst>
            </a:pP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{ </a:t>
            </a:r>
          </a:p>
          <a:p>
            <a:pPr eaLnBrk="0" hangingPunct="0">
              <a:lnSpc>
                <a:spcPct val="110000"/>
              </a:lnSpc>
              <a:tabLst>
                <a:tab pos="342900" algn="l"/>
                <a:tab pos="685800" algn="l"/>
                <a:tab pos="1028700" algn="l"/>
                <a:tab pos="1371600" algn="l"/>
              </a:tabLst>
            </a:pP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	</a:t>
            </a:r>
            <a:r>
              <a:rPr lang="en-US" sz="2400" dirty="0" err="1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TNode</a:t>
            </a: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* p = root;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75</a:t>
            </a:fld>
            <a:endParaRPr lang="en-US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786152" y="1139475"/>
            <a:ext cx="6405848" cy="5386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tabLst>
                <a:tab pos="463550" algn="l"/>
                <a:tab pos="914400" algn="l"/>
                <a:tab pos="1377950" algn="l"/>
                <a:tab pos="1828800" algn="l"/>
              </a:tabLst>
              <a:defRPr/>
            </a:pP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	if(!</a:t>
            </a:r>
            <a:r>
              <a:rPr lang="en-US" sz="2400" dirty="0" err="1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root</a:t>
            </a:r>
            <a:r>
              <a:rPr lang="en-US" sz="2400" dirty="0" err="1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400" dirty="0" err="1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Left</a:t>
            </a: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)</a:t>
            </a:r>
            <a:r>
              <a:rPr lang="en-US" i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//khi cay con </a:t>
            </a:r>
            <a:r>
              <a:rPr lang="en-US" i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khong</a:t>
            </a:r>
            <a:r>
              <a:rPr lang="en-US" i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 co nhanh trai</a:t>
            </a:r>
            <a:endParaRPr lang="en-US" sz="2000" i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  <a:cs typeface="Consolas" panose="020B0609020204030204" pitchFamily="49" charset="0"/>
            </a:endParaRPr>
          </a:p>
          <a:p>
            <a:pPr eaLnBrk="0" hangingPunct="0">
              <a:tabLst>
                <a:tab pos="463550" algn="l"/>
                <a:tab pos="914400" algn="l"/>
                <a:tab pos="1377950" algn="l"/>
                <a:tab pos="1828800" algn="l"/>
              </a:tabLst>
              <a:defRPr/>
            </a:pP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		</a:t>
            </a:r>
            <a:r>
              <a:rPr lang="vi-VN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root</a:t>
            </a: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 </a:t>
            </a:r>
            <a:r>
              <a:rPr lang="vi-VN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 </a:t>
            </a:r>
            <a:r>
              <a:rPr lang="vi-VN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root</a:t>
            </a: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vi-VN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Right;</a:t>
            </a:r>
          </a:p>
          <a:p>
            <a:pPr eaLnBrk="0" hangingPunct="0">
              <a:tabLst>
                <a:tab pos="463550" algn="l"/>
                <a:tab pos="914400" algn="l"/>
                <a:tab pos="1377950" algn="l"/>
                <a:tab pos="1828800" algn="l"/>
              </a:tabLst>
              <a:defRPr/>
            </a:pP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	else if(!</a:t>
            </a:r>
            <a:r>
              <a:rPr lang="en-US" sz="2400" dirty="0" err="1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root</a:t>
            </a:r>
            <a:r>
              <a:rPr lang="en-US" sz="2400" dirty="0" err="1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400" dirty="0" err="1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Right</a:t>
            </a: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)</a:t>
            </a:r>
            <a:r>
              <a:rPr lang="en-US" sz="1600" i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//khi cay con </a:t>
            </a:r>
            <a:r>
              <a:rPr lang="en-US" sz="1600" i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khong</a:t>
            </a:r>
            <a:r>
              <a:rPr lang="en-US" sz="1600" i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 co </a:t>
            </a:r>
            <a:r>
              <a:rPr lang="en-US" sz="1600" i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nhanh </a:t>
            </a:r>
            <a:r>
              <a:rPr lang="en-US" sz="1600" i="1" smtClean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							phai</a:t>
            </a:r>
            <a:endParaRPr lang="en-US" sz="2400" i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  <a:cs typeface="Consolas" panose="020B0609020204030204" pitchFamily="49" charset="0"/>
            </a:endParaRPr>
          </a:p>
          <a:p>
            <a:pPr eaLnBrk="0" hangingPunct="0">
              <a:tabLst>
                <a:tab pos="463550" algn="l"/>
                <a:tab pos="914400" algn="l"/>
                <a:tab pos="1377950" algn="l"/>
                <a:tab pos="1828800" algn="l"/>
              </a:tabLst>
              <a:defRPr/>
            </a:pP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		</a:t>
            </a:r>
            <a:r>
              <a:rPr lang="vi-VN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root</a:t>
            </a: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 </a:t>
            </a:r>
            <a:r>
              <a:rPr lang="vi-VN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 </a:t>
            </a:r>
            <a:r>
              <a:rPr lang="vi-VN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root</a:t>
            </a: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vi-VN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Left;</a:t>
            </a:r>
            <a:endParaRPr lang="en-US" sz="2400" dirty="0">
              <a:solidFill>
                <a:srgbClr val="000066"/>
              </a:solidFill>
              <a:latin typeface="Cambria" panose="02040503050406030204" pitchFamily="18" charset="0"/>
              <a:ea typeface="Cambria" panose="02040503050406030204" pitchFamily="18" charset="0"/>
              <a:cs typeface="Consolas" panose="020B0609020204030204" pitchFamily="49" charset="0"/>
            </a:endParaRPr>
          </a:p>
          <a:p>
            <a:pPr eaLnBrk="0" hangingPunct="0">
              <a:tabLst>
                <a:tab pos="463550" algn="l"/>
                <a:tab pos="914400" algn="l"/>
                <a:tab pos="1377950" algn="l"/>
                <a:tab pos="1828800" algn="l"/>
              </a:tabLst>
              <a:defRPr/>
            </a:pP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	</a:t>
            </a:r>
            <a:r>
              <a:rPr lang="vi-VN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else</a:t>
            </a:r>
            <a:endParaRPr lang="vi-VN" sz="1600" dirty="0">
              <a:solidFill>
                <a:srgbClr val="000066"/>
              </a:solidFill>
              <a:latin typeface="Cambria" panose="02040503050406030204" pitchFamily="18" charset="0"/>
              <a:ea typeface="Cambria" panose="02040503050406030204" pitchFamily="18" charset="0"/>
              <a:cs typeface="Consolas" panose="020B0609020204030204" pitchFamily="49" charset="0"/>
            </a:endParaRPr>
          </a:p>
          <a:p>
            <a:pPr algn="just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	</a:t>
            </a:r>
            <a:r>
              <a:rPr lang="vi-VN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{</a:t>
            </a:r>
            <a:r>
              <a:rPr lang="vi-VN" sz="1600" i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//khi cay con co ca 2 nhanh, chon min cua nhanh phai de </a:t>
            </a:r>
            <a:r>
              <a:rPr lang="vi-VN" sz="1600" i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the </a:t>
            </a:r>
            <a:r>
              <a:rPr lang="en-US" sz="1600" i="1" smtClean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							</a:t>
            </a:r>
            <a:r>
              <a:rPr lang="vi-VN" sz="1600" i="1" smtClean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mang</a:t>
            </a:r>
            <a:endParaRPr lang="vi-VN" sz="1600" i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  <a:cs typeface="Consolas" panose="020B0609020204030204" pitchFamily="49" charset="0"/>
            </a:endParaRPr>
          </a:p>
          <a:p>
            <a:pPr algn="just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		</a:t>
            </a:r>
            <a:r>
              <a:rPr lang="vi-VN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TNode* p</a:t>
            </a: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 </a:t>
            </a:r>
            <a:r>
              <a:rPr lang="vi-VN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 </a:t>
            </a:r>
            <a:r>
              <a:rPr lang="vi-VN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root;</a:t>
            </a:r>
          </a:p>
          <a:p>
            <a:pPr algn="just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		</a:t>
            </a:r>
            <a:r>
              <a:rPr lang="vi-VN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TNode* </a:t>
            </a:r>
            <a:r>
              <a:rPr lang="en-US" sz="2400" dirty="0" err="1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rp</a:t>
            </a: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 </a:t>
            </a:r>
            <a:r>
              <a:rPr lang="vi-VN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 </a:t>
            </a:r>
            <a:r>
              <a:rPr lang="vi-VN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findTNodeReplace(p);</a:t>
            </a:r>
          </a:p>
          <a:p>
            <a:pPr algn="just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		</a:t>
            </a:r>
            <a:r>
              <a:rPr lang="vi-VN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deleteTNode(</a:t>
            </a:r>
            <a:r>
              <a:rPr lang="en-US" sz="2400" dirty="0" err="1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rp</a:t>
            </a:r>
            <a:r>
              <a:rPr lang="vi-VN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);</a:t>
            </a:r>
          </a:p>
          <a:p>
            <a:pPr algn="just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	</a:t>
            </a:r>
            <a:r>
              <a:rPr lang="vi-VN" sz="2400" dirty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}</a:t>
            </a:r>
            <a:endParaRPr lang="en-US" sz="2400" dirty="0">
              <a:solidFill>
                <a:srgbClr val="000066"/>
              </a:solidFill>
              <a:latin typeface="Cambria" panose="02040503050406030204" pitchFamily="18" charset="0"/>
              <a:ea typeface="Cambria" panose="02040503050406030204" pitchFamily="18" charset="0"/>
              <a:cs typeface="Consolas" panose="020B0609020204030204" pitchFamily="49" charset="0"/>
            </a:endParaRPr>
          </a:p>
          <a:p>
            <a:pPr algn="just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240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	</a:t>
            </a:r>
            <a:r>
              <a:rPr lang="en-US" sz="2400" smtClean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     }</a:t>
            </a:r>
            <a:endParaRPr lang="en-US" sz="2400" dirty="0">
              <a:solidFill>
                <a:srgbClr val="000066"/>
              </a:solidFill>
              <a:latin typeface="Cambria" panose="02040503050406030204" pitchFamily="18" charset="0"/>
              <a:ea typeface="Cambria" panose="02040503050406030204" pitchFamily="18" charset="0"/>
              <a:cs typeface="Consolas" panose="020B0609020204030204" pitchFamily="49" charset="0"/>
            </a:endParaRPr>
          </a:p>
          <a:p>
            <a:pPr algn="just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2400" smtClean="0">
                <a:solidFill>
                  <a:srgbClr val="000066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anose="020B0609020204030204" pitchFamily="49" charset="0"/>
              </a:rPr>
              <a:t>         }</a:t>
            </a:r>
            <a:endParaRPr lang="en-US" sz="2400" dirty="0">
              <a:solidFill>
                <a:srgbClr val="000066"/>
              </a:solidFill>
              <a:latin typeface="Cambria" panose="02040503050406030204" pitchFamily="18" charset="0"/>
              <a:ea typeface="Cambria" panose="02040503050406030204" pitchFamily="18" charset="0"/>
              <a:cs typeface="Consolas" panose="020B0609020204030204" pitchFamily="49" charset="0"/>
            </a:endParaRPr>
          </a:p>
          <a:p>
            <a:pPr algn="just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endParaRPr lang="en-US" sz="2400" dirty="0">
              <a:solidFill>
                <a:srgbClr val="000066"/>
              </a:solidFill>
              <a:latin typeface="Cambria" panose="02040503050406030204" pitchFamily="18" charset="0"/>
              <a:ea typeface="Cambria" panose="02040503050406030204" pitchFamily="18" charset="0"/>
              <a:cs typeface="Consolas" panose="020B0609020204030204" pitchFamily="49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6211100" y="1149105"/>
            <a:ext cx="0" cy="519394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5855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 idx="4294967295"/>
          </p:nvPr>
        </p:nvSpPr>
        <p:spPr>
          <a:xfrm>
            <a:off x="863600" y="533114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Tìm nút thế mạng cho nút bị xóa</a:t>
            </a:r>
          </a:p>
        </p:txBody>
      </p:sp>
      <p:sp>
        <p:nvSpPr>
          <p:cNvPr id="79875" name="Content Placeholder 2"/>
          <p:cNvSpPr>
            <a:spLocks noGrp="1"/>
          </p:cNvSpPr>
          <p:nvPr>
            <p:ph idx="4294967295"/>
          </p:nvPr>
        </p:nvSpPr>
        <p:spPr>
          <a:xfrm>
            <a:off x="2086583" y="1254975"/>
            <a:ext cx="8763000" cy="5486400"/>
          </a:xfrm>
        </p:spPr>
        <p:txBody>
          <a:bodyPr>
            <a:normAutofit fontScale="92500"/>
          </a:bodyPr>
          <a:lstStyle/>
          <a:p>
            <a:pPr marL="0" indent="0">
              <a:spcBef>
                <a:spcPts val="0"/>
              </a:spcBef>
              <a:buNone/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vi-VN" sz="2600" dirty="0">
                <a:cs typeface="Consolas" panose="020B0609020204030204" pitchFamily="49" charset="0"/>
              </a:rPr>
              <a:t>TNode* </a:t>
            </a:r>
            <a:r>
              <a:rPr lang="vi-VN" sz="2600" dirty="0">
                <a:solidFill>
                  <a:srgbClr val="0000FF"/>
                </a:solidFill>
                <a:cs typeface="Consolas" panose="020B0609020204030204" pitchFamily="49" charset="0"/>
              </a:rPr>
              <a:t>findTNodeReplace</a:t>
            </a:r>
            <a:r>
              <a:rPr lang="vi-VN" sz="2600" dirty="0">
                <a:cs typeface="Consolas" panose="020B0609020204030204" pitchFamily="49" charset="0"/>
              </a:rPr>
              <a:t>(TNode* &amp;p)</a:t>
            </a:r>
          </a:p>
          <a:p>
            <a:pPr marL="0" indent="0">
              <a:spcBef>
                <a:spcPts val="0"/>
              </a:spcBef>
              <a:buNone/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vi-VN" sz="2600" dirty="0">
                <a:cs typeface="Consolas" panose="020B0609020204030204" pitchFamily="49" charset="0"/>
              </a:rPr>
              <a:t>{</a:t>
            </a:r>
            <a:r>
              <a:rPr lang="vi-VN" sz="1800" i="1" dirty="0">
                <a:solidFill>
                  <a:schemeClr val="tx2">
                    <a:lumMod val="60000"/>
                    <a:lumOff val="40000"/>
                  </a:schemeClr>
                </a:solidFill>
                <a:cs typeface="Consolas" panose="020B0609020204030204" pitchFamily="49" charset="0"/>
              </a:rPr>
              <a:t>//Ham tim nut </a:t>
            </a:r>
            <a:r>
              <a:rPr lang="en-US" sz="1800" i="1" dirty="0" err="1">
                <a:solidFill>
                  <a:srgbClr val="FF0000"/>
                </a:solidFill>
                <a:cs typeface="Consolas" panose="020B0609020204030204" pitchFamily="49" charset="0"/>
              </a:rPr>
              <a:t>rp</a:t>
            </a:r>
            <a:r>
              <a:rPr lang="vi-VN" sz="1800" i="1" dirty="0">
                <a:solidFill>
                  <a:schemeClr val="tx2">
                    <a:lumMod val="60000"/>
                    <a:lumOff val="40000"/>
                  </a:schemeClr>
                </a:solidFill>
                <a:cs typeface="Consolas" panose="020B0609020204030204" pitchFamily="49" charset="0"/>
              </a:rPr>
              <a:t> nho nhat tren cay con phai de the mang cho nut </a:t>
            </a:r>
            <a:r>
              <a:rPr lang="vi-VN" sz="1800" i="1" dirty="0">
                <a:solidFill>
                  <a:srgbClr val="FF0000"/>
                </a:solidFill>
                <a:cs typeface="Consolas" panose="020B0609020204030204" pitchFamily="49" charset="0"/>
              </a:rPr>
              <a:t>p</a:t>
            </a:r>
            <a:endParaRPr lang="vi-VN" sz="2600" i="1" dirty="0">
              <a:solidFill>
                <a:srgbClr val="FF0000"/>
              </a:solidFill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2600" dirty="0">
                <a:cs typeface="Consolas" panose="020B0609020204030204" pitchFamily="49" charset="0"/>
              </a:rPr>
              <a:t>	</a:t>
            </a:r>
            <a:r>
              <a:rPr lang="vi-VN" sz="2600" dirty="0">
                <a:cs typeface="Consolas" panose="020B0609020204030204" pitchFamily="49" charset="0"/>
              </a:rPr>
              <a:t>T</a:t>
            </a:r>
            <a:r>
              <a:rPr lang="en-US" sz="2600" dirty="0">
                <a:cs typeface="Consolas" panose="020B0609020204030204" pitchFamily="49" charset="0"/>
              </a:rPr>
              <a:t>N</a:t>
            </a:r>
            <a:r>
              <a:rPr lang="vi-VN" sz="2600" dirty="0">
                <a:cs typeface="Consolas" panose="020B0609020204030204" pitchFamily="49" charset="0"/>
              </a:rPr>
              <a:t>ode</a:t>
            </a:r>
            <a:r>
              <a:rPr lang="en-US" sz="2600" dirty="0">
                <a:cs typeface="Consolas" panose="020B0609020204030204" pitchFamily="49" charset="0"/>
              </a:rPr>
              <a:t>* </a:t>
            </a:r>
            <a:r>
              <a:rPr lang="vi-VN" sz="2600" dirty="0">
                <a:cs typeface="Consolas" panose="020B0609020204030204" pitchFamily="49" charset="0"/>
              </a:rPr>
              <a:t>f</a:t>
            </a:r>
            <a:r>
              <a:rPr lang="en-US" sz="2600" dirty="0">
                <a:cs typeface="Consolas" panose="020B0609020204030204" pitchFamily="49" charset="0"/>
              </a:rPr>
              <a:t> </a:t>
            </a:r>
            <a:r>
              <a:rPr lang="vi-VN" sz="2600" dirty="0">
                <a:cs typeface="Consolas" panose="020B0609020204030204" pitchFamily="49" charset="0"/>
              </a:rPr>
              <a:t>=</a:t>
            </a:r>
            <a:r>
              <a:rPr lang="en-US" sz="2600" dirty="0">
                <a:cs typeface="Consolas" panose="020B0609020204030204" pitchFamily="49" charset="0"/>
              </a:rPr>
              <a:t> </a:t>
            </a:r>
            <a:r>
              <a:rPr lang="vi-VN" sz="2600" dirty="0">
                <a:cs typeface="Consolas" panose="020B0609020204030204" pitchFamily="49" charset="0"/>
              </a:rPr>
              <a:t>p</a:t>
            </a:r>
            <a:r>
              <a:rPr lang="en-US" sz="2600" dirty="0">
                <a:cs typeface="Consolas" panose="020B0609020204030204" pitchFamily="49" charset="0"/>
              </a:rPr>
              <a:t>,* </a:t>
            </a:r>
            <a:r>
              <a:rPr lang="en-US" sz="2600" dirty="0" err="1">
                <a:cs typeface="Consolas" panose="020B0609020204030204" pitchFamily="49" charset="0"/>
              </a:rPr>
              <a:t>rp</a:t>
            </a:r>
            <a:r>
              <a:rPr lang="en-US" sz="2600" dirty="0">
                <a:cs typeface="Consolas" panose="020B0609020204030204" pitchFamily="49" charset="0"/>
              </a:rPr>
              <a:t> </a:t>
            </a:r>
            <a:r>
              <a:rPr lang="vi-VN" sz="2600" dirty="0">
                <a:cs typeface="Consolas" panose="020B0609020204030204" pitchFamily="49" charset="0"/>
              </a:rPr>
              <a:t>=</a:t>
            </a:r>
            <a:r>
              <a:rPr lang="en-US" sz="2600" dirty="0">
                <a:cs typeface="Consolas" panose="020B0609020204030204" pitchFamily="49" charset="0"/>
              </a:rPr>
              <a:t> </a:t>
            </a:r>
            <a:r>
              <a:rPr lang="vi-VN" sz="2600" dirty="0">
                <a:cs typeface="Consolas" panose="020B0609020204030204" pitchFamily="49" charset="0"/>
              </a:rPr>
              <a:t>p</a:t>
            </a:r>
            <a:r>
              <a:rPr lang="en-US" sz="2600" dirty="0"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vi-VN" sz="2600" dirty="0">
                <a:cs typeface="Consolas" panose="020B0609020204030204" pitchFamily="49" charset="0"/>
              </a:rPr>
              <a:t>Right;</a:t>
            </a:r>
          </a:p>
          <a:p>
            <a:pPr marL="0" indent="0">
              <a:spcBef>
                <a:spcPts val="0"/>
              </a:spcBef>
              <a:buNone/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2600" dirty="0">
                <a:cs typeface="Consolas" panose="020B0609020204030204" pitchFamily="49" charset="0"/>
              </a:rPr>
              <a:t>	</a:t>
            </a:r>
            <a:r>
              <a:rPr lang="vi-VN" sz="2600" dirty="0">
                <a:cs typeface="Consolas" panose="020B0609020204030204" pitchFamily="49" charset="0"/>
              </a:rPr>
              <a:t>while(</a:t>
            </a:r>
            <a:r>
              <a:rPr lang="en-US" sz="2600" dirty="0" err="1">
                <a:cs typeface="Consolas" panose="020B0609020204030204" pitchFamily="49" charset="0"/>
              </a:rPr>
              <a:t>rp</a:t>
            </a:r>
            <a:r>
              <a:rPr lang="en-US" sz="2600" dirty="0"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vi-VN" sz="2600" dirty="0">
                <a:cs typeface="Consolas" panose="020B0609020204030204" pitchFamily="49" charset="0"/>
              </a:rPr>
              <a:t>Left</a:t>
            </a:r>
            <a:r>
              <a:rPr lang="en-US" sz="2600" dirty="0">
                <a:cs typeface="Consolas" panose="020B0609020204030204" pitchFamily="49" charset="0"/>
              </a:rPr>
              <a:t> </a:t>
            </a:r>
            <a:r>
              <a:rPr lang="vi-VN" sz="2600" dirty="0">
                <a:cs typeface="Consolas" panose="020B0609020204030204" pitchFamily="49" charset="0"/>
              </a:rPr>
              <a:t>!=</a:t>
            </a:r>
            <a:r>
              <a:rPr lang="en-US" sz="2600" dirty="0">
                <a:cs typeface="Consolas" panose="020B0609020204030204" pitchFamily="49" charset="0"/>
              </a:rPr>
              <a:t> </a:t>
            </a:r>
            <a:r>
              <a:rPr lang="vi-VN" sz="2600" dirty="0">
                <a:cs typeface="Consolas" panose="020B0609020204030204" pitchFamily="49" charset="0"/>
              </a:rPr>
              <a:t>NULL)</a:t>
            </a:r>
            <a:r>
              <a:rPr lang="en-US" sz="2600" dirty="0">
                <a:cs typeface="Consolas" panose="020B0609020204030204" pitchFamily="49" charset="0"/>
              </a:rPr>
              <a:t> </a:t>
            </a:r>
            <a:r>
              <a:rPr lang="vi-VN" sz="2600" dirty="0">
                <a:cs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2600" dirty="0">
                <a:cs typeface="Consolas" panose="020B0609020204030204" pitchFamily="49" charset="0"/>
              </a:rPr>
              <a:t>		</a:t>
            </a:r>
            <a:r>
              <a:rPr lang="vi-VN" sz="2600" dirty="0">
                <a:cs typeface="Consolas" panose="020B0609020204030204" pitchFamily="49" charset="0"/>
              </a:rPr>
              <a:t>f</a:t>
            </a:r>
            <a:r>
              <a:rPr lang="en-US" sz="2600" dirty="0">
                <a:cs typeface="Consolas" panose="020B0609020204030204" pitchFamily="49" charset="0"/>
              </a:rPr>
              <a:t> </a:t>
            </a:r>
            <a:r>
              <a:rPr lang="vi-VN" sz="2600" dirty="0">
                <a:cs typeface="Consolas" panose="020B0609020204030204" pitchFamily="49" charset="0"/>
              </a:rPr>
              <a:t>=</a:t>
            </a:r>
            <a:r>
              <a:rPr lang="en-US" sz="2600" dirty="0">
                <a:cs typeface="Consolas" panose="020B0609020204030204" pitchFamily="49" charset="0"/>
              </a:rPr>
              <a:t> </a:t>
            </a:r>
            <a:r>
              <a:rPr lang="vi-VN" sz="2600" dirty="0">
                <a:cs typeface="Consolas" panose="020B0609020204030204" pitchFamily="49" charset="0"/>
              </a:rPr>
              <a:t>rp</a:t>
            </a:r>
            <a:r>
              <a:rPr lang="vi-VN" sz="2600">
                <a:cs typeface="Consolas" panose="020B0609020204030204" pitchFamily="49" charset="0"/>
              </a:rPr>
              <a:t>; </a:t>
            </a:r>
            <a:r>
              <a:rPr lang="en-US" sz="2600" smtClean="0">
                <a:cs typeface="Consolas" panose="020B0609020204030204" pitchFamily="49" charset="0"/>
              </a:rPr>
              <a:t> </a:t>
            </a:r>
            <a:r>
              <a:rPr lang="vi-VN" sz="2600" smtClean="0">
                <a:solidFill>
                  <a:srgbClr val="002060"/>
                </a:solidFill>
                <a:cs typeface="Consolas" panose="020B0609020204030204" pitchFamily="49" charset="0"/>
              </a:rPr>
              <a:t>//</a:t>
            </a:r>
            <a:r>
              <a:rPr lang="vi-VN" sz="2600" dirty="0">
                <a:solidFill>
                  <a:srgbClr val="002060"/>
                </a:solidFill>
                <a:cs typeface="Consolas" panose="020B0609020204030204" pitchFamily="49" charset="0"/>
              </a:rPr>
              <a:t>Luu cha cua rp</a:t>
            </a:r>
          </a:p>
          <a:p>
            <a:pPr marL="0" indent="0">
              <a:spcBef>
                <a:spcPts val="0"/>
              </a:spcBef>
              <a:buNone/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2600" dirty="0">
                <a:cs typeface="Consolas" panose="020B0609020204030204" pitchFamily="49" charset="0"/>
              </a:rPr>
              <a:t>		</a:t>
            </a:r>
            <a:r>
              <a:rPr lang="vi-VN" sz="2600" dirty="0">
                <a:cs typeface="Consolas" panose="020B0609020204030204" pitchFamily="49" charset="0"/>
              </a:rPr>
              <a:t>rp</a:t>
            </a:r>
            <a:r>
              <a:rPr lang="en-US" sz="2600" dirty="0">
                <a:cs typeface="Consolas" panose="020B0609020204030204" pitchFamily="49" charset="0"/>
              </a:rPr>
              <a:t> </a:t>
            </a:r>
            <a:r>
              <a:rPr lang="vi-VN" sz="2600" dirty="0">
                <a:cs typeface="Consolas" panose="020B0609020204030204" pitchFamily="49" charset="0"/>
              </a:rPr>
              <a:t>=</a:t>
            </a:r>
            <a:r>
              <a:rPr lang="en-US" sz="2600" dirty="0">
                <a:cs typeface="Consolas" panose="020B0609020204030204" pitchFamily="49" charset="0"/>
              </a:rPr>
              <a:t> </a:t>
            </a:r>
            <a:r>
              <a:rPr lang="vi-VN" sz="2600" dirty="0">
                <a:cs typeface="Consolas" panose="020B0609020204030204" pitchFamily="49" charset="0"/>
              </a:rPr>
              <a:t>rp</a:t>
            </a:r>
            <a:r>
              <a:rPr lang="en-US" sz="2600" dirty="0"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vi-VN" sz="2600" dirty="0">
                <a:cs typeface="Consolas" panose="020B0609020204030204" pitchFamily="49" charset="0"/>
              </a:rPr>
              <a:t>Left</a:t>
            </a:r>
            <a:r>
              <a:rPr lang="vi-VN" sz="2600">
                <a:cs typeface="Consolas" panose="020B0609020204030204" pitchFamily="49" charset="0"/>
              </a:rPr>
              <a:t>; </a:t>
            </a:r>
            <a:r>
              <a:rPr lang="en-US" sz="2600" smtClean="0">
                <a:cs typeface="Consolas" panose="020B0609020204030204" pitchFamily="49" charset="0"/>
              </a:rPr>
              <a:t> </a:t>
            </a:r>
            <a:r>
              <a:rPr lang="vi-VN" i="1" smtClean="0">
                <a:solidFill>
                  <a:schemeClr val="tx2">
                    <a:lumMod val="60000"/>
                    <a:lumOff val="40000"/>
                  </a:schemeClr>
                </a:solidFill>
                <a:cs typeface="Consolas" panose="020B0609020204030204" pitchFamily="49" charset="0"/>
              </a:rPr>
              <a:t>//</a:t>
            </a:r>
            <a:r>
              <a:rPr lang="vi-VN" i="1" dirty="0">
                <a:solidFill>
                  <a:schemeClr val="tx2">
                    <a:lumMod val="60000"/>
                    <a:lumOff val="40000"/>
                  </a:schemeClr>
                </a:solidFill>
                <a:cs typeface="Consolas" panose="020B0609020204030204" pitchFamily="49" charset="0"/>
              </a:rPr>
              <a:t>rp qua ben trai</a:t>
            </a:r>
            <a:endParaRPr lang="vi-VN" sz="2600" i="1" dirty="0">
              <a:solidFill>
                <a:schemeClr val="tx2">
                  <a:lumMod val="60000"/>
                  <a:lumOff val="40000"/>
                </a:schemeClr>
              </a:solidFill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2600" dirty="0">
                <a:cs typeface="Consolas" panose="020B0609020204030204" pitchFamily="49" charset="0"/>
              </a:rPr>
              <a:t>	</a:t>
            </a:r>
            <a:r>
              <a:rPr lang="vi-VN" sz="2600" dirty="0">
                <a:cs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2600" dirty="0">
                <a:cs typeface="Consolas" panose="020B0609020204030204" pitchFamily="49" charset="0"/>
              </a:rPr>
              <a:t>	</a:t>
            </a:r>
            <a:r>
              <a:rPr lang="vi-VN" sz="2600" dirty="0">
                <a:cs typeface="Consolas" panose="020B0609020204030204" pitchFamily="49" charset="0"/>
              </a:rPr>
              <a:t>p</a:t>
            </a:r>
            <a:r>
              <a:rPr lang="en-US" sz="2600" dirty="0"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vi-VN" sz="2600" dirty="0">
                <a:cs typeface="Consolas" panose="020B0609020204030204" pitchFamily="49" charset="0"/>
              </a:rPr>
              <a:t>Info</a:t>
            </a:r>
            <a:r>
              <a:rPr lang="en-US" sz="2600" dirty="0">
                <a:cs typeface="Consolas" panose="020B0609020204030204" pitchFamily="49" charset="0"/>
              </a:rPr>
              <a:t> </a:t>
            </a:r>
            <a:r>
              <a:rPr lang="vi-VN" sz="2600" dirty="0">
                <a:cs typeface="Consolas" panose="020B0609020204030204" pitchFamily="49" charset="0"/>
              </a:rPr>
              <a:t>=</a:t>
            </a:r>
            <a:r>
              <a:rPr lang="en-US" sz="2600" dirty="0">
                <a:cs typeface="Consolas" panose="020B0609020204030204" pitchFamily="49" charset="0"/>
              </a:rPr>
              <a:t> </a:t>
            </a:r>
            <a:r>
              <a:rPr lang="vi-VN" sz="2600" dirty="0">
                <a:cs typeface="Consolas" panose="020B0609020204030204" pitchFamily="49" charset="0"/>
              </a:rPr>
              <a:t>rp</a:t>
            </a:r>
            <a:r>
              <a:rPr lang="en-US" sz="2600" dirty="0"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vi-VN" sz="2600" dirty="0">
                <a:cs typeface="Consolas" panose="020B0609020204030204" pitchFamily="49" charset="0"/>
              </a:rPr>
              <a:t>Info;</a:t>
            </a:r>
            <a:r>
              <a:rPr lang="en-US" sz="2600" dirty="0">
                <a:cs typeface="Consolas" panose="020B0609020204030204" pitchFamily="49" charset="0"/>
              </a:rPr>
              <a:t> </a:t>
            </a:r>
            <a:r>
              <a:rPr lang="vi-VN" sz="18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//tim du</a:t>
            </a:r>
            <a:r>
              <a:rPr lang="en-US" sz="18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</a:t>
            </a:r>
            <a:r>
              <a:rPr lang="vi-VN" sz="18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 phan tu the mang cho p la rp</a:t>
            </a:r>
            <a:endParaRPr lang="vi-VN" sz="2600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spcBef>
                <a:spcPts val="0"/>
              </a:spcBef>
              <a:buNone/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fr-FR" sz="2600" dirty="0">
                <a:cs typeface="Consolas" panose="020B0609020204030204" pitchFamily="49" charset="0"/>
              </a:rPr>
              <a:t>	if(f == p) </a:t>
            </a:r>
            <a:r>
              <a:rPr lang="fr-FR" i="1" dirty="0">
                <a:solidFill>
                  <a:schemeClr val="tx2">
                    <a:lumMod val="60000"/>
                    <a:lumOff val="40000"/>
                  </a:schemeClr>
                </a:solidFill>
                <a:cs typeface="Consolas" panose="020B0609020204030204" pitchFamily="49" charset="0"/>
              </a:rPr>
              <a:t>//</a:t>
            </a:r>
            <a:r>
              <a:rPr lang="fr-FR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Consolas" panose="020B0609020204030204" pitchFamily="49" charset="0"/>
              </a:rPr>
              <a:t>neu</a:t>
            </a:r>
            <a:r>
              <a:rPr lang="fr-FR" i="1" dirty="0">
                <a:solidFill>
                  <a:schemeClr val="tx2">
                    <a:lumMod val="60000"/>
                    <a:lumOff val="40000"/>
                  </a:schemeClr>
                </a:solidFill>
                <a:cs typeface="Consolas" panose="020B0609020204030204" pitchFamily="49" charset="0"/>
              </a:rPr>
              <a:t> cha cua </a:t>
            </a:r>
            <a:r>
              <a:rPr lang="fr-FR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Consolas" panose="020B0609020204030204" pitchFamily="49" charset="0"/>
              </a:rPr>
              <a:t>rp</a:t>
            </a:r>
            <a:r>
              <a:rPr lang="fr-FR" i="1" dirty="0">
                <a:solidFill>
                  <a:schemeClr val="tx2">
                    <a:lumMod val="60000"/>
                    <a:lumOff val="40000"/>
                  </a:schemeClr>
                </a:solidFill>
                <a:cs typeface="Consolas" panose="020B0609020204030204" pitchFamily="49" charset="0"/>
              </a:rPr>
              <a:t> la p</a:t>
            </a:r>
            <a:endParaRPr lang="fr-FR" sz="2600" i="1" dirty="0">
              <a:solidFill>
                <a:schemeClr val="tx2">
                  <a:lumMod val="60000"/>
                  <a:lumOff val="40000"/>
                </a:schemeClr>
              </a:solidFill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2600" dirty="0">
                <a:cs typeface="Consolas" panose="020B0609020204030204" pitchFamily="49" charset="0"/>
              </a:rPr>
              <a:t>		</a:t>
            </a:r>
            <a:r>
              <a:rPr lang="vi-VN" sz="2600" dirty="0">
                <a:cs typeface="Consolas" panose="020B0609020204030204" pitchFamily="49" charset="0"/>
              </a:rPr>
              <a:t>f</a:t>
            </a:r>
            <a:r>
              <a:rPr lang="en-US" sz="2600" dirty="0"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vi-VN" sz="2600" dirty="0">
                <a:cs typeface="Consolas" panose="020B0609020204030204" pitchFamily="49" charset="0"/>
              </a:rPr>
              <a:t>Right</a:t>
            </a:r>
            <a:r>
              <a:rPr lang="en-US" sz="2600" dirty="0">
                <a:cs typeface="Consolas" panose="020B0609020204030204" pitchFamily="49" charset="0"/>
              </a:rPr>
              <a:t> </a:t>
            </a:r>
            <a:r>
              <a:rPr lang="vi-VN" sz="2600" dirty="0">
                <a:cs typeface="Consolas" panose="020B0609020204030204" pitchFamily="49" charset="0"/>
              </a:rPr>
              <a:t>=</a:t>
            </a:r>
            <a:r>
              <a:rPr lang="en-US" sz="2600" dirty="0">
                <a:cs typeface="Consolas" panose="020B0609020204030204" pitchFamily="49" charset="0"/>
              </a:rPr>
              <a:t> </a:t>
            </a:r>
            <a:r>
              <a:rPr lang="vi-VN" sz="2600" dirty="0">
                <a:cs typeface="Consolas" panose="020B0609020204030204" pitchFamily="49" charset="0"/>
              </a:rPr>
              <a:t>rp</a:t>
            </a:r>
            <a:r>
              <a:rPr lang="en-US" sz="2600" dirty="0"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vi-VN" sz="2600" dirty="0">
                <a:cs typeface="Consolas" panose="020B0609020204030204" pitchFamily="49" charset="0"/>
              </a:rPr>
              <a:t>Right;</a:t>
            </a:r>
          </a:p>
          <a:p>
            <a:pPr marL="0" indent="0">
              <a:spcBef>
                <a:spcPts val="0"/>
              </a:spcBef>
              <a:buNone/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2600" dirty="0">
                <a:cs typeface="Consolas" panose="020B0609020204030204" pitchFamily="49" charset="0"/>
              </a:rPr>
              <a:t>	</a:t>
            </a:r>
            <a:r>
              <a:rPr lang="vi-VN" sz="2600" dirty="0">
                <a:cs typeface="Consolas" panose="020B0609020204030204" pitchFamily="49" charset="0"/>
              </a:rPr>
              <a:t>else</a:t>
            </a:r>
          </a:p>
          <a:p>
            <a:pPr marL="0" indent="0">
              <a:spcBef>
                <a:spcPts val="0"/>
              </a:spcBef>
              <a:buNone/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2600" dirty="0">
                <a:cs typeface="Consolas" panose="020B0609020204030204" pitchFamily="49" charset="0"/>
              </a:rPr>
              <a:t>		</a:t>
            </a:r>
            <a:r>
              <a:rPr lang="vi-VN" sz="2600" dirty="0">
                <a:cs typeface="Consolas" panose="020B0609020204030204" pitchFamily="49" charset="0"/>
              </a:rPr>
              <a:t>f</a:t>
            </a:r>
            <a:r>
              <a:rPr lang="en-US" sz="2600" dirty="0"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vi-VN" sz="2600" dirty="0">
                <a:cs typeface="Consolas" panose="020B0609020204030204" pitchFamily="49" charset="0"/>
              </a:rPr>
              <a:t>Left</a:t>
            </a:r>
            <a:r>
              <a:rPr lang="en-US" sz="2600" dirty="0">
                <a:cs typeface="Consolas" panose="020B0609020204030204" pitchFamily="49" charset="0"/>
              </a:rPr>
              <a:t> </a:t>
            </a:r>
            <a:r>
              <a:rPr lang="vi-VN" sz="2600" dirty="0">
                <a:cs typeface="Consolas" panose="020B0609020204030204" pitchFamily="49" charset="0"/>
              </a:rPr>
              <a:t>=</a:t>
            </a:r>
            <a:r>
              <a:rPr lang="en-US" sz="2600" dirty="0">
                <a:cs typeface="Consolas" panose="020B0609020204030204" pitchFamily="49" charset="0"/>
              </a:rPr>
              <a:t> </a:t>
            </a:r>
            <a:r>
              <a:rPr lang="vi-VN" sz="2600" dirty="0">
                <a:cs typeface="Consolas" panose="020B0609020204030204" pitchFamily="49" charset="0"/>
              </a:rPr>
              <a:t>rp</a:t>
            </a:r>
            <a:r>
              <a:rPr lang="en-US" sz="2600" dirty="0"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vi-VN" sz="2600" dirty="0">
                <a:cs typeface="Consolas" panose="020B0609020204030204" pitchFamily="49" charset="0"/>
              </a:rPr>
              <a:t>Right;</a:t>
            </a:r>
          </a:p>
          <a:p>
            <a:pPr marL="0" indent="0">
              <a:spcBef>
                <a:spcPts val="0"/>
              </a:spcBef>
              <a:buNone/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sz="2600" dirty="0">
                <a:cs typeface="Consolas" panose="020B0609020204030204" pitchFamily="49" charset="0"/>
              </a:rPr>
              <a:t>	</a:t>
            </a:r>
            <a:r>
              <a:rPr lang="en-US" sz="2600" dirty="0">
                <a:solidFill>
                  <a:srgbClr val="FF0000"/>
                </a:solidFill>
                <a:cs typeface="Consolas" panose="020B0609020204030204" pitchFamily="49" charset="0"/>
              </a:rPr>
              <a:t>return</a:t>
            </a:r>
            <a:r>
              <a:rPr lang="en-US" sz="2600" dirty="0">
                <a:cs typeface="Consolas" panose="020B0609020204030204" pitchFamily="49" charset="0"/>
              </a:rPr>
              <a:t> </a:t>
            </a:r>
            <a:r>
              <a:rPr lang="en-US" sz="2600" dirty="0" err="1">
                <a:cs typeface="Consolas" panose="020B0609020204030204" pitchFamily="49" charset="0"/>
              </a:rPr>
              <a:t>rp</a:t>
            </a:r>
            <a:r>
              <a:rPr lang="en-US" sz="2600" dirty="0">
                <a:cs typeface="Consolas" panose="020B0609020204030204" pitchFamily="49" charset="0"/>
              </a:rPr>
              <a:t>; </a:t>
            </a:r>
            <a:r>
              <a:rPr lang="en-US" i="1" dirty="0">
                <a:solidFill>
                  <a:schemeClr val="tx2">
                    <a:lumMod val="60000"/>
                    <a:lumOff val="40000"/>
                  </a:schemeClr>
                </a:solidFill>
                <a:cs typeface="Consolas" panose="020B0609020204030204" pitchFamily="49" charset="0"/>
              </a:rPr>
              <a:t>//Tra ve nut </a:t>
            </a:r>
            <a:r>
              <a:rPr lang="en-US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Consolas" panose="020B0609020204030204" pitchFamily="49" charset="0"/>
              </a:rPr>
              <a:t>rp</a:t>
            </a:r>
            <a:r>
              <a:rPr lang="en-US" i="1" dirty="0">
                <a:solidFill>
                  <a:schemeClr val="tx2">
                    <a:lumMod val="60000"/>
                    <a:lumOff val="40000"/>
                  </a:schemeClr>
                </a:solidFill>
                <a:cs typeface="Consolas" panose="020B0609020204030204" pitchFamily="49" charset="0"/>
              </a:rPr>
              <a:t> la nut the mang cho p</a:t>
            </a:r>
            <a:endParaRPr lang="en-US" sz="2600" i="1" dirty="0">
              <a:solidFill>
                <a:schemeClr val="tx2">
                  <a:lumMod val="60000"/>
                  <a:lumOff val="40000"/>
                </a:schemeClr>
              </a:solidFill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vi-VN" sz="2600" dirty="0">
                <a:cs typeface="Consolas" panose="020B0609020204030204" pitchFamily="49" charset="0"/>
              </a:rPr>
              <a:t>}</a:t>
            </a:r>
            <a:endParaRPr lang="en-US" sz="2600" dirty="0">
              <a:cs typeface="Consolas" panose="020B06090202040302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763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40477" y="715133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/>
              <a:t>Bài tập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981200" y="1828800"/>
            <a:ext cx="8382000" cy="2590800"/>
          </a:xfrm>
        </p:spPr>
        <p:txBody>
          <a:bodyPr/>
          <a:lstStyle/>
          <a:p>
            <a:pPr marL="457200" indent="-4508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/>
              <a:t>Tìm phần tử max âm trên cây.</a:t>
            </a:r>
          </a:p>
          <a:p>
            <a:pPr marL="457200" indent="-4508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/>
              <a:t>Đếm có bao nhiêu phần tử chẵn trên </a:t>
            </a:r>
            <a:r>
              <a:rPr lang="en-US" sz="3200" smtClean="0"/>
              <a:t>cây.</a:t>
            </a:r>
          </a:p>
          <a:p>
            <a:pPr marL="457200" indent="-450850">
              <a:lnSpc>
                <a:spcPct val="80000"/>
              </a:lnSpc>
              <a:buNone/>
            </a:pPr>
            <a:endParaRPr lang="en-US" sz="32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7267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BM Công nghệ phần mềm</a:t>
            </a:r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774700" y="1302021"/>
            <a:ext cx="10642600" cy="5384800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en-US" sz="3000" dirty="0"/>
              <a:t>P</a:t>
            </a:r>
            <a:r>
              <a:rPr lang="vi-VN" sz="3000" dirty="0"/>
              <a:t>hương pháp </a:t>
            </a:r>
            <a:r>
              <a:rPr lang="en-US" sz="3000" dirty="0"/>
              <a:t>thêm</a:t>
            </a:r>
            <a:r>
              <a:rPr lang="vi-VN" sz="3000" dirty="0"/>
              <a:t> </a:t>
            </a:r>
            <a:r>
              <a:rPr lang="en-US" sz="3000" dirty="0"/>
              <a:t>trên Cây NPTK </a:t>
            </a:r>
            <a:r>
              <a:rPr lang="vi-VN" sz="3000" dirty="0"/>
              <a:t>có thể có những biến dạng mất cân đối nghiêm trọng</a:t>
            </a:r>
            <a:endParaRPr lang="en-US" sz="3000" dirty="0"/>
          </a:p>
          <a:p>
            <a:pPr lvl="1">
              <a:lnSpc>
                <a:spcPct val="110000"/>
              </a:lnSpc>
              <a:spcBef>
                <a:spcPts val="300"/>
              </a:spcBef>
            </a:pPr>
            <a:r>
              <a:rPr lang="en-US" sz="2400" b="1" dirty="0" smtClean="0"/>
              <a:t>C</a:t>
            </a:r>
            <a:r>
              <a:rPr lang="vi-VN" sz="2400" b="1" dirty="0" smtClean="0"/>
              <a:t>hi phí cho việc tìm kiếm </a:t>
            </a:r>
            <a:r>
              <a:rPr lang="vi-VN" sz="2400" dirty="0" smtClean="0"/>
              <a:t>trong trường hợp xấu nhất đạt tới </a:t>
            </a:r>
            <a:r>
              <a:rPr lang="vi-VN" sz="2400" b="1" dirty="0" smtClean="0"/>
              <a:t>n</a:t>
            </a:r>
            <a:endParaRPr lang="en-US" sz="2400" b="1" dirty="0" smtClean="0"/>
          </a:p>
          <a:p>
            <a:pPr lvl="1">
              <a:lnSpc>
                <a:spcPct val="110000"/>
              </a:lnSpc>
              <a:spcBef>
                <a:spcPts val="300"/>
              </a:spcBef>
            </a:pPr>
            <a:r>
              <a:rPr lang="en-US" sz="2400" dirty="0" smtClean="0"/>
              <a:t>VD: 1 </a:t>
            </a:r>
            <a:r>
              <a:rPr lang="vi-VN" sz="2400" dirty="0" smtClean="0"/>
              <a:t>triệu </a:t>
            </a:r>
            <a:r>
              <a:rPr lang="en-US" sz="2400" dirty="0" smtClean="0"/>
              <a:t>nút </a:t>
            </a:r>
            <a:r>
              <a:rPr lang="vi-VN" sz="2400" dirty="0" smtClean="0"/>
              <a:t>⇒ </a:t>
            </a:r>
            <a:r>
              <a:rPr lang="en-US" sz="2400" dirty="0" smtClean="0"/>
              <a:t>chi phí tìm kiếm =</a:t>
            </a:r>
            <a:r>
              <a:rPr lang="vi-VN" sz="2400" dirty="0" smtClean="0"/>
              <a:t> </a:t>
            </a:r>
            <a:r>
              <a:rPr lang="en-US" sz="2400" dirty="0" smtClean="0"/>
              <a:t>1.000.000 nút</a:t>
            </a:r>
            <a:endParaRPr lang="en-US" sz="2000" dirty="0" smtClean="0"/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vi-VN" sz="3000" dirty="0"/>
              <a:t>Nếu có một cây tìm kiếm nhị phân cân bằng hoàn toàn, </a:t>
            </a:r>
            <a:r>
              <a:rPr lang="vi-VN" sz="3000" b="1" dirty="0"/>
              <a:t>chi phí cho việc tìm kiếm </a:t>
            </a:r>
            <a:r>
              <a:rPr lang="vi-VN" sz="3000" dirty="0"/>
              <a:t>chỉ xấp </a:t>
            </a:r>
            <a:r>
              <a:rPr lang="vi-VN" sz="3000"/>
              <a:t>xỉ </a:t>
            </a:r>
            <a:r>
              <a:rPr lang="vi-VN" sz="3000" b="1" smtClean="0">
                <a:solidFill>
                  <a:srgbClr val="0000FF"/>
                </a:solidFill>
              </a:rPr>
              <a:t>log</a:t>
            </a:r>
            <a:r>
              <a:rPr lang="vi-VN" sz="3000" b="1" baseline="-25000" smtClean="0">
                <a:solidFill>
                  <a:srgbClr val="0000FF"/>
                </a:solidFill>
              </a:rPr>
              <a:t>2</a:t>
            </a:r>
            <a:r>
              <a:rPr lang="vi-VN" sz="3000" b="1" smtClean="0">
                <a:solidFill>
                  <a:srgbClr val="0000FF"/>
                </a:solidFill>
              </a:rPr>
              <a:t>n</a:t>
            </a:r>
            <a:r>
              <a:rPr lang="en-US" sz="3000" b="1" smtClean="0">
                <a:solidFill>
                  <a:srgbClr val="0000FF"/>
                </a:solidFill>
              </a:rPr>
              <a:t> </a:t>
            </a:r>
            <a:endParaRPr lang="en-US" sz="3000" b="1" dirty="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  <a:spcBef>
                <a:spcPts val="300"/>
              </a:spcBef>
            </a:pPr>
            <a:r>
              <a:rPr lang="en-US" sz="2400" dirty="0" smtClean="0"/>
              <a:t>VD: 1 </a:t>
            </a:r>
            <a:r>
              <a:rPr lang="vi-VN" sz="2400" dirty="0" smtClean="0"/>
              <a:t>triệu </a:t>
            </a:r>
            <a:r>
              <a:rPr lang="en-US" sz="2400" dirty="0" smtClean="0"/>
              <a:t>nút </a:t>
            </a:r>
            <a:r>
              <a:rPr lang="vi-VN" sz="2400" dirty="0" smtClean="0"/>
              <a:t>⇒ </a:t>
            </a:r>
            <a:r>
              <a:rPr lang="en-US" sz="2400" dirty="0" smtClean="0"/>
              <a:t>chi phí tìm kiếm =</a:t>
            </a:r>
            <a:r>
              <a:rPr lang="vi-VN" sz="2400" dirty="0" smtClean="0"/>
              <a:t> log</a:t>
            </a:r>
            <a:r>
              <a:rPr lang="vi-VN" sz="2400" baseline="-25000" dirty="0" smtClean="0"/>
              <a:t>2</a:t>
            </a:r>
            <a:r>
              <a:rPr lang="en-US" sz="2400" dirty="0" smtClean="0"/>
              <a:t>1.000.000 ≈ </a:t>
            </a:r>
            <a:r>
              <a:rPr lang="en-US" sz="2400" smtClean="0"/>
              <a:t>20 (Node) nút</a:t>
            </a:r>
            <a:endParaRPr lang="en-US" sz="2400" dirty="0" smtClean="0"/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en-US" sz="3000" smtClean="0"/>
              <a:t>2 ông: </a:t>
            </a:r>
            <a:r>
              <a:rPr lang="vi-VN" sz="3000" smtClean="0"/>
              <a:t>G.M</a:t>
            </a:r>
            <a:r>
              <a:rPr lang="vi-VN" sz="3000" dirty="0"/>
              <a:t>. </a:t>
            </a:r>
            <a:r>
              <a:rPr lang="vi-VN" sz="3000" b="1" dirty="0">
                <a:solidFill>
                  <a:srgbClr val="FF0000"/>
                </a:solidFill>
              </a:rPr>
              <a:t>A</a:t>
            </a:r>
            <a:r>
              <a:rPr lang="vi-VN" sz="3000" dirty="0"/>
              <a:t>delson</a:t>
            </a:r>
            <a:r>
              <a:rPr lang="en-US" sz="3000" dirty="0"/>
              <a:t> </a:t>
            </a:r>
            <a:r>
              <a:rPr lang="vi-VN" sz="3000" dirty="0"/>
              <a:t>-</a:t>
            </a:r>
            <a:r>
              <a:rPr lang="en-US" sz="3000" dirty="0"/>
              <a:t> </a:t>
            </a:r>
            <a:r>
              <a:rPr lang="vi-VN" sz="3000" b="1" dirty="0">
                <a:solidFill>
                  <a:srgbClr val="FF0000"/>
                </a:solidFill>
              </a:rPr>
              <a:t>V</a:t>
            </a:r>
            <a:r>
              <a:rPr lang="vi-VN" sz="3000" dirty="0"/>
              <a:t>elsky và E.M. </a:t>
            </a:r>
            <a:r>
              <a:rPr lang="vi-VN" sz="3000" b="1" dirty="0">
                <a:solidFill>
                  <a:srgbClr val="FF0000"/>
                </a:solidFill>
              </a:rPr>
              <a:t>L</a:t>
            </a:r>
            <a:r>
              <a:rPr lang="vi-VN" sz="3000" dirty="0"/>
              <a:t>andis đã đề xuất một tiêu chuẩn cân bằng (gọi là cân bằng </a:t>
            </a:r>
            <a:r>
              <a:rPr lang="vi-VN" sz="3000" b="1" dirty="0">
                <a:solidFill>
                  <a:srgbClr val="FF0000"/>
                </a:solidFill>
              </a:rPr>
              <a:t>AVL</a:t>
            </a:r>
            <a:r>
              <a:rPr lang="vi-VN" sz="3000" dirty="0"/>
              <a:t>)</a:t>
            </a:r>
            <a:endParaRPr lang="en-US" sz="3000" dirty="0"/>
          </a:p>
          <a:p>
            <a:pPr lvl="1">
              <a:lnSpc>
                <a:spcPct val="110000"/>
              </a:lnSpc>
              <a:spcBef>
                <a:spcPts val="300"/>
              </a:spcBef>
            </a:pPr>
            <a:r>
              <a:rPr lang="en-US" sz="2400" dirty="0" smtClean="0"/>
              <a:t>Cây AVL có chiều cao </a:t>
            </a:r>
            <a:r>
              <a:rPr lang="en-US" sz="3600" b="1" dirty="0">
                <a:solidFill>
                  <a:srgbClr val="FF0000"/>
                </a:solidFill>
              </a:rPr>
              <a:t>O</a:t>
            </a:r>
            <a:r>
              <a:rPr lang="en-US" sz="3200" b="1" dirty="0" smtClean="0">
                <a:solidFill>
                  <a:srgbClr val="0000FF"/>
                </a:solidFill>
              </a:rPr>
              <a:t>(log</a:t>
            </a:r>
            <a:r>
              <a:rPr lang="en-US" sz="3200" b="1" baseline="-25000" dirty="0" smtClean="0">
                <a:solidFill>
                  <a:srgbClr val="0000FF"/>
                </a:solidFill>
              </a:rPr>
              <a:t>2</a:t>
            </a:r>
            <a:r>
              <a:rPr lang="en-US" sz="3200" b="1" dirty="0" smtClean="0">
                <a:solidFill>
                  <a:srgbClr val="0000FF"/>
                </a:solidFill>
              </a:rPr>
              <a:t>(n))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88843" y="612221"/>
            <a:ext cx="10258297" cy="703747"/>
          </a:xfrm>
        </p:spPr>
        <p:txBody>
          <a:bodyPr>
            <a:normAutofit fontScale="90000"/>
          </a:bodyPr>
          <a:lstStyle/>
          <a:p>
            <a:pPr algn="l">
              <a:lnSpc>
                <a:spcPct val="100000"/>
              </a:lnSpc>
            </a:pPr>
            <a:r>
              <a:rPr lang="en-US" smtClean="0"/>
              <a:t>			Cây nhi phân cân bằng (AVL Tree) </a:t>
            </a:r>
            <a:br>
              <a:rPr lang="en-US" smtClean="0"/>
            </a:br>
            <a:endParaRPr lang="en-US" sz="310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78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6175" y="4849287"/>
            <a:ext cx="11096090" cy="175802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46651" y="805069"/>
            <a:ext cx="31010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0070C0"/>
                </a:solidFill>
              </a:rPr>
              <a:t>1. Giới thiệu:</a:t>
            </a:r>
          </a:p>
        </p:txBody>
      </p:sp>
    </p:spTree>
    <p:extLst>
      <p:ext uri="{BB962C8B-B14F-4D97-AF65-F5344CB8AC3E}">
        <p14:creationId xmlns:p14="http://schemas.microsoft.com/office/powerpoint/2010/main" val="565138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78" y="1481260"/>
            <a:ext cx="10642600" cy="703747"/>
          </a:xfrm>
        </p:spPr>
        <p:txBody>
          <a:bodyPr/>
          <a:lstStyle/>
          <a:p>
            <a:pPr algn="ctr"/>
            <a:r>
              <a:rPr lang="en-US" smtClean="0"/>
              <a:t>Demo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3878" y="2363056"/>
            <a:ext cx="10642600" cy="84248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>
                <a:solidFill>
                  <a:srgbClr val="0070C0"/>
                </a:solidFill>
                <a:hlinkClick r:id="rId2"/>
              </a:rPr>
              <a:t>https://www.cs.usfca.edu/~</a:t>
            </a:r>
            <a:r>
              <a:rPr lang="en-US" sz="2800" smtClean="0">
                <a:solidFill>
                  <a:srgbClr val="0070C0"/>
                </a:solidFill>
                <a:hlinkClick r:id="rId2"/>
              </a:rPr>
              <a:t>galles/visualization/AVLtree.html</a:t>
            </a:r>
            <a:endParaRPr lang="en-US" sz="2800" smtClean="0">
              <a:solidFill>
                <a:srgbClr val="0070C0"/>
              </a:solidFill>
            </a:endParaRPr>
          </a:p>
          <a:p>
            <a:pPr marL="0" indent="0" algn="ctr">
              <a:buNone/>
            </a:pPr>
            <a:endParaRPr lang="en-US" sz="2800" smtClean="0">
              <a:solidFill>
                <a:srgbClr val="0070C0"/>
              </a:solidFill>
            </a:endParaRPr>
          </a:p>
          <a:p>
            <a:pPr marL="0" indent="0" algn="ctr">
              <a:buNone/>
            </a:pPr>
            <a:endParaRPr lang="en-US" sz="2800" smtClean="0">
              <a:solidFill>
                <a:srgbClr val="0070C0"/>
              </a:solidFill>
            </a:endParaRPr>
          </a:p>
          <a:p>
            <a:pPr marL="0" indent="0" algn="ctr">
              <a:buNone/>
            </a:pPr>
            <a:endParaRPr lang="en-US" sz="2800">
              <a:solidFill>
                <a:srgbClr val="0070C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BM Công nghệ phần mềm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479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29" name="Text Box 25"/>
          <p:cNvSpPr txBox="1">
            <a:spLocks noChangeArrowheads="1"/>
          </p:cNvSpPr>
          <p:nvPr/>
        </p:nvSpPr>
        <p:spPr bwMode="auto">
          <a:xfrm>
            <a:off x="790548" y="2166355"/>
            <a:ext cx="295116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b="1"/>
              <a:t>Ví dụ</a:t>
            </a:r>
            <a:r>
              <a:rPr lang="en-US" sz="3600"/>
              <a:t>: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634429" y="1987738"/>
            <a:ext cx="7478712" cy="4439999"/>
            <a:chOff x="1123129" y="2225211"/>
            <a:chExt cx="7478712" cy="4439999"/>
          </a:xfrm>
        </p:grpSpPr>
        <p:sp>
          <p:nvSpPr>
            <p:cNvPr id="251932" name="AutoShape 28"/>
            <p:cNvSpPr>
              <a:spLocks noChangeArrowheads="1"/>
            </p:cNvSpPr>
            <p:nvPr/>
          </p:nvSpPr>
          <p:spPr bwMode="auto">
            <a:xfrm>
              <a:off x="4606104" y="2225211"/>
              <a:ext cx="668337" cy="439737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69FF69">
                    <a:gamma/>
                    <a:tint val="0"/>
                    <a:invGamma/>
                  </a:srgbClr>
                </a:gs>
                <a:gs pos="100000">
                  <a:srgbClr val="69FF69">
                    <a:alpha val="60001"/>
                  </a:srgbClr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b="1">
                  <a:latin typeface="VNI-Helve" pitchFamily="2" charset="0"/>
                </a:rPr>
                <a:t>44</a:t>
              </a:r>
            </a:p>
          </p:txBody>
        </p:sp>
        <p:sp>
          <p:nvSpPr>
            <p:cNvPr id="251933" name="Line 29"/>
            <p:cNvSpPr>
              <a:spLocks noChangeShapeType="1"/>
            </p:cNvSpPr>
            <p:nvPr/>
          </p:nvSpPr>
          <p:spPr bwMode="auto">
            <a:xfrm flipH="1">
              <a:off x="2613791" y="2661775"/>
              <a:ext cx="2306638" cy="931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251934" name="Line 30"/>
            <p:cNvSpPr>
              <a:spLocks noChangeShapeType="1"/>
            </p:cNvSpPr>
            <p:nvPr/>
          </p:nvSpPr>
          <p:spPr bwMode="auto">
            <a:xfrm>
              <a:off x="2613791" y="4046073"/>
              <a:ext cx="1071563" cy="869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251935" name="Line 31"/>
            <p:cNvSpPr>
              <a:spLocks noChangeShapeType="1"/>
            </p:cNvSpPr>
            <p:nvPr/>
          </p:nvSpPr>
          <p:spPr bwMode="auto">
            <a:xfrm flipH="1">
              <a:off x="1439041" y="4042898"/>
              <a:ext cx="1158875" cy="860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251936" name="Line 32"/>
            <p:cNvSpPr>
              <a:spLocks noChangeShapeType="1"/>
            </p:cNvSpPr>
            <p:nvPr/>
          </p:nvSpPr>
          <p:spPr bwMode="auto">
            <a:xfrm>
              <a:off x="4920429" y="2664949"/>
              <a:ext cx="2605087" cy="9286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251937" name="Line 33"/>
            <p:cNvSpPr>
              <a:spLocks noChangeShapeType="1"/>
            </p:cNvSpPr>
            <p:nvPr/>
          </p:nvSpPr>
          <p:spPr bwMode="auto">
            <a:xfrm flipH="1">
              <a:off x="6677790" y="4058773"/>
              <a:ext cx="847725" cy="844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251938" name="Line 34"/>
            <p:cNvSpPr>
              <a:spLocks noChangeShapeType="1"/>
            </p:cNvSpPr>
            <p:nvPr/>
          </p:nvSpPr>
          <p:spPr bwMode="auto">
            <a:xfrm>
              <a:off x="7525516" y="4042898"/>
              <a:ext cx="758826" cy="860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251939" name="AutoShape 35"/>
            <p:cNvSpPr>
              <a:spLocks noChangeArrowheads="1"/>
            </p:cNvSpPr>
            <p:nvPr/>
          </p:nvSpPr>
          <p:spPr bwMode="auto">
            <a:xfrm>
              <a:off x="2283591" y="3604748"/>
              <a:ext cx="704850" cy="44267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69FF69">
                    <a:gamma/>
                    <a:tint val="0"/>
                    <a:invGamma/>
                  </a:srgbClr>
                </a:gs>
                <a:gs pos="100000">
                  <a:srgbClr val="69FF69">
                    <a:alpha val="60001"/>
                  </a:srgbClr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b="1">
                  <a:latin typeface="VNI-Helve" pitchFamily="2" charset="0"/>
                </a:rPr>
                <a:t>23</a:t>
              </a:r>
            </a:p>
          </p:txBody>
        </p:sp>
        <p:sp>
          <p:nvSpPr>
            <p:cNvPr id="251940" name="AutoShape 36"/>
            <p:cNvSpPr>
              <a:spLocks noChangeArrowheads="1"/>
            </p:cNvSpPr>
            <p:nvPr/>
          </p:nvSpPr>
          <p:spPr bwMode="auto">
            <a:xfrm>
              <a:off x="7166741" y="3606336"/>
              <a:ext cx="666750" cy="439737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69FF69">
                    <a:gamma/>
                    <a:tint val="0"/>
                    <a:invGamma/>
                  </a:srgbClr>
                </a:gs>
                <a:gs pos="100000">
                  <a:srgbClr val="69FF69">
                    <a:alpha val="60001"/>
                  </a:srgbClr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b="1">
                  <a:latin typeface="VNI-Helve" pitchFamily="2" charset="0"/>
                </a:rPr>
                <a:t>88</a:t>
              </a:r>
            </a:p>
          </p:txBody>
        </p:sp>
        <p:sp>
          <p:nvSpPr>
            <p:cNvPr id="251941" name="AutoShape 37"/>
            <p:cNvSpPr>
              <a:spLocks noChangeArrowheads="1"/>
            </p:cNvSpPr>
            <p:nvPr/>
          </p:nvSpPr>
          <p:spPr bwMode="auto">
            <a:xfrm>
              <a:off x="1123129" y="4912848"/>
              <a:ext cx="704850" cy="44267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69FF69">
                    <a:gamma/>
                    <a:tint val="0"/>
                    <a:invGamma/>
                  </a:srgbClr>
                </a:gs>
                <a:gs pos="100000">
                  <a:srgbClr val="69FF69">
                    <a:alpha val="60001"/>
                  </a:srgbClr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b="1">
                  <a:latin typeface="VNI-Helve" pitchFamily="2" charset="0"/>
                </a:rPr>
                <a:t>13</a:t>
              </a:r>
            </a:p>
          </p:txBody>
        </p:sp>
        <p:sp>
          <p:nvSpPr>
            <p:cNvPr id="251942" name="AutoShape 38"/>
            <p:cNvSpPr>
              <a:spLocks noChangeArrowheads="1"/>
            </p:cNvSpPr>
            <p:nvPr/>
          </p:nvSpPr>
          <p:spPr bwMode="auto">
            <a:xfrm>
              <a:off x="3266254" y="4912848"/>
              <a:ext cx="704850" cy="44267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69FF69">
                    <a:gamma/>
                    <a:tint val="0"/>
                    <a:invGamma/>
                  </a:srgbClr>
                </a:gs>
                <a:gs pos="100000">
                  <a:srgbClr val="69FF69">
                    <a:alpha val="60001"/>
                  </a:srgbClr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b="1">
                  <a:latin typeface="VNI-Helve" pitchFamily="2" charset="0"/>
                </a:rPr>
                <a:t>37</a:t>
              </a:r>
            </a:p>
          </p:txBody>
        </p:sp>
        <p:sp>
          <p:nvSpPr>
            <p:cNvPr id="251943" name="AutoShape 39"/>
            <p:cNvSpPr>
              <a:spLocks noChangeArrowheads="1"/>
            </p:cNvSpPr>
            <p:nvPr/>
          </p:nvSpPr>
          <p:spPr bwMode="auto">
            <a:xfrm>
              <a:off x="6333304" y="4901736"/>
              <a:ext cx="668337" cy="439737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69FF69">
                    <a:gamma/>
                    <a:tint val="0"/>
                    <a:invGamma/>
                  </a:srgbClr>
                </a:gs>
                <a:gs pos="100000">
                  <a:srgbClr val="69FF69">
                    <a:alpha val="60001"/>
                  </a:srgbClr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b="1">
                  <a:latin typeface="VNI-Helve" pitchFamily="2" charset="0"/>
                </a:rPr>
                <a:t>59</a:t>
              </a:r>
            </a:p>
          </p:txBody>
        </p:sp>
        <p:sp>
          <p:nvSpPr>
            <p:cNvPr id="251944" name="AutoShape 40"/>
            <p:cNvSpPr>
              <a:spLocks noChangeArrowheads="1"/>
            </p:cNvSpPr>
            <p:nvPr/>
          </p:nvSpPr>
          <p:spPr bwMode="auto">
            <a:xfrm>
              <a:off x="7944616" y="4908086"/>
              <a:ext cx="657225" cy="4064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69FF69">
                    <a:gamma/>
                    <a:tint val="0"/>
                    <a:invGamma/>
                  </a:srgbClr>
                </a:gs>
                <a:gs pos="100000">
                  <a:srgbClr val="69FF69">
                    <a:alpha val="60001"/>
                  </a:srgbClr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b="1">
                  <a:latin typeface="VNI-Helve" pitchFamily="2" charset="0"/>
                </a:rPr>
                <a:t>108</a:t>
              </a:r>
            </a:p>
          </p:txBody>
        </p:sp>
        <p:sp>
          <p:nvSpPr>
            <p:cNvPr id="251945" name="Line 41"/>
            <p:cNvSpPr>
              <a:spLocks noChangeShapeType="1"/>
            </p:cNvSpPr>
            <p:nvPr/>
          </p:nvSpPr>
          <p:spPr bwMode="auto">
            <a:xfrm>
              <a:off x="3628204" y="5349411"/>
              <a:ext cx="623888" cy="874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251946" name="Line 42"/>
            <p:cNvSpPr>
              <a:spLocks noChangeShapeType="1"/>
            </p:cNvSpPr>
            <p:nvPr/>
          </p:nvSpPr>
          <p:spPr bwMode="auto">
            <a:xfrm flipH="1">
              <a:off x="2926528" y="5349411"/>
              <a:ext cx="701675" cy="8622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251948" name="Line 44"/>
            <p:cNvSpPr>
              <a:spLocks noChangeShapeType="1"/>
            </p:cNvSpPr>
            <p:nvPr/>
          </p:nvSpPr>
          <p:spPr bwMode="auto">
            <a:xfrm>
              <a:off x="6677790" y="5368459"/>
              <a:ext cx="639764" cy="8556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251949" name="Line 45"/>
            <p:cNvSpPr>
              <a:spLocks noChangeShapeType="1"/>
            </p:cNvSpPr>
            <p:nvPr/>
          </p:nvSpPr>
          <p:spPr bwMode="auto">
            <a:xfrm flipH="1">
              <a:off x="5991991" y="5360523"/>
              <a:ext cx="685799" cy="8504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251950" name="Line 46"/>
            <p:cNvSpPr>
              <a:spLocks noChangeShapeType="1"/>
            </p:cNvSpPr>
            <p:nvPr/>
          </p:nvSpPr>
          <p:spPr bwMode="auto">
            <a:xfrm>
              <a:off x="1439041" y="5360523"/>
              <a:ext cx="684213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251951" name="AutoShape 47"/>
            <p:cNvSpPr>
              <a:spLocks noChangeArrowheads="1"/>
            </p:cNvSpPr>
            <p:nvPr/>
          </p:nvSpPr>
          <p:spPr bwMode="auto">
            <a:xfrm>
              <a:off x="1761304" y="6222536"/>
              <a:ext cx="706437" cy="44267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69FF69">
                    <a:gamma/>
                    <a:tint val="0"/>
                    <a:invGamma/>
                  </a:srgbClr>
                </a:gs>
                <a:gs pos="100000">
                  <a:srgbClr val="69FF69">
                    <a:alpha val="60001"/>
                  </a:srgbClr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b="1">
                  <a:latin typeface="VNI-Helve" pitchFamily="2" charset="0"/>
                </a:rPr>
                <a:t>15</a:t>
              </a:r>
            </a:p>
          </p:txBody>
        </p:sp>
        <p:sp>
          <p:nvSpPr>
            <p:cNvPr id="251952" name="AutoShape 48"/>
            <p:cNvSpPr>
              <a:spLocks noChangeArrowheads="1"/>
            </p:cNvSpPr>
            <p:nvPr/>
          </p:nvSpPr>
          <p:spPr bwMode="auto">
            <a:xfrm>
              <a:off x="2597916" y="6222536"/>
              <a:ext cx="701675" cy="44267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69FF69">
                    <a:gamma/>
                    <a:tint val="0"/>
                    <a:invGamma/>
                  </a:srgbClr>
                </a:gs>
                <a:gs pos="100000">
                  <a:srgbClr val="69FF69">
                    <a:alpha val="60001"/>
                  </a:srgbClr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b="1">
                  <a:latin typeface="VNI-Helve" pitchFamily="2" charset="0"/>
                </a:rPr>
                <a:t>30</a:t>
              </a:r>
            </a:p>
          </p:txBody>
        </p:sp>
        <p:sp>
          <p:nvSpPr>
            <p:cNvPr id="251953" name="AutoShape 49"/>
            <p:cNvSpPr>
              <a:spLocks noChangeArrowheads="1"/>
            </p:cNvSpPr>
            <p:nvPr/>
          </p:nvSpPr>
          <p:spPr bwMode="auto">
            <a:xfrm>
              <a:off x="3863154" y="6222536"/>
              <a:ext cx="701675" cy="44267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69FF69">
                    <a:gamma/>
                    <a:tint val="0"/>
                    <a:invGamma/>
                  </a:srgbClr>
                </a:gs>
                <a:gs pos="100000">
                  <a:srgbClr val="69FF69">
                    <a:alpha val="60001"/>
                  </a:srgbClr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b="1">
                  <a:latin typeface="VNI-Helve" pitchFamily="2" charset="0"/>
                </a:rPr>
                <a:t>40</a:t>
              </a:r>
            </a:p>
          </p:txBody>
        </p:sp>
        <p:sp>
          <p:nvSpPr>
            <p:cNvPr id="251954" name="AutoShape 50"/>
            <p:cNvSpPr>
              <a:spLocks noChangeArrowheads="1"/>
            </p:cNvSpPr>
            <p:nvPr/>
          </p:nvSpPr>
          <p:spPr bwMode="auto">
            <a:xfrm>
              <a:off x="5631629" y="6222536"/>
              <a:ext cx="704850" cy="44267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69FF69">
                    <a:gamma/>
                    <a:tint val="0"/>
                    <a:invGamma/>
                  </a:srgbClr>
                </a:gs>
                <a:gs pos="100000">
                  <a:srgbClr val="69FF69">
                    <a:alpha val="60001"/>
                  </a:srgbClr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b="1">
                  <a:latin typeface="VNI-Helve" pitchFamily="2" charset="0"/>
                </a:rPr>
                <a:t>55</a:t>
              </a:r>
            </a:p>
          </p:txBody>
        </p:sp>
        <p:sp>
          <p:nvSpPr>
            <p:cNvPr id="251955" name="AutoShape 51"/>
            <p:cNvSpPr>
              <a:spLocks noChangeArrowheads="1"/>
            </p:cNvSpPr>
            <p:nvPr/>
          </p:nvSpPr>
          <p:spPr bwMode="auto">
            <a:xfrm>
              <a:off x="6941316" y="6222536"/>
              <a:ext cx="704850" cy="44267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69FF69">
                    <a:gamma/>
                    <a:tint val="0"/>
                    <a:invGamma/>
                  </a:srgbClr>
                </a:gs>
                <a:gs pos="100000">
                  <a:srgbClr val="69FF69">
                    <a:alpha val="60001"/>
                  </a:srgbClr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b="1">
                  <a:latin typeface="VNI-Helve" pitchFamily="2" charset="0"/>
                </a:rPr>
                <a:t>71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BM Công nghệ phần mềm</a:t>
            </a:r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03991" y="472904"/>
            <a:ext cx="10642600" cy="703747"/>
          </a:xfrm>
        </p:spPr>
        <p:txBody>
          <a:bodyPr>
            <a:normAutofit/>
          </a:bodyPr>
          <a:lstStyle/>
          <a:p>
            <a:pPr algn="l"/>
            <a:r>
              <a:rPr lang="en-US" sz="3200" smtClean="0"/>
              <a:t>2. AVL </a:t>
            </a:r>
            <a:r>
              <a:rPr lang="en-US" sz="3200"/>
              <a:t>Tree - Ðịnh </a:t>
            </a:r>
            <a:r>
              <a:rPr lang="en-US" sz="3200" smtClean="0"/>
              <a:t>nghĩa</a:t>
            </a:r>
            <a:endParaRPr lang="en-US" sz="3200">
              <a:solidFill>
                <a:srgbClr val="FF0000"/>
              </a:solidFill>
            </a:endParaRPr>
          </a:p>
        </p:txBody>
      </p:sp>
      <p:sp>
        <p:nvSpPr>
          <p:cNvPr id="34" name="Rectangle 3"/>
          <p:cNvSpPr>
            <a:spLocks noGrp="1" noChangeArrowheads="1"/>
          </p:cNvSpPr>
          <p:nvPr>
            <p:ph idx="1"/>
          </p:nvPr>
        </p:nvSpPr>
        <p:spPr>
          <a:xfrm>
            <a:off x="774700" y="1043607"/>
            <a:ext cx="10642600" cy="5384800"/>
          </a:xfrm>
        </p:spPr>
        <p:txBody>
          <a:bodyPr/>
          <a:lstStyle/>
          <a:p>
            <a:pPr>
              <a:spcBef>
                <a:spcPts val="0"/>
              </a:spcBef>
              <a:buFont typeface="Wingdings" pitchFamily="2" charset="2"/>
              <a:buChar char="Ø"/>
            </a:pPr>
            <a:r>
              <a:rPr lang="en-US" sz="2800">
                <a:solidFill>
                  <a:srgbClr val="080808"/>
                </a:solidFill>
                <a:cs typeface="Times New Roman" pitchFamily="18" charset="0"/>
              </a:rPr>
              <a:t>Cây nhị phân tìm kiếm cân bằng là cây</a:t>
            </a:r>
            <a:r>
              <a:rPr lang="en-US" sz="2800"/>
              <a:t> </a:t>
            </a:r>
            <a:r>
              <a:rPr lang="en-US" sz="2800">
                <a:solidFill>
                  <a:srgbClr val="080808"/>
                </a:solidFill>
                <a:cs typeface="Times New Roman" pitchFamily="18" charset="0"/>
              </a:rPr>
              <a:t>mà </a:t>
            </a:r>
            <a:r>
              <a:rPr lang="en-US" sz="2800" b="1">
                <a:solidFill>
                  <a:srgbClr val="0000FF"/>
                </a:solidFill>
                <a:cs typeface="Times New Roman" pitchFamily="18" charset="0"/>
              </a:rPr>
              <a:t>tại mỗi nút</a:t>
            </a:r>
            <a:r>
              <a:rPr lang="en-US" sz="2800">
                <a:solidFill>
                  <a:srgbClr val="080808"/>
                </a:solidFill>
                <a:cs typeface="Times New Roman" pitchFamily="18" charset="0"/>
              </a:rPr>
              <a:t> của nó </a:t>
            </a:r>
            <a:r>
              <a:rPr lang="en-US" sz="2800" b="1">
                <a:solidFill>
                  <a:srgbClr val="0000FF"/>
                </a:solidFill>
                <a:cs typeface="Times New Roman" pitchFamily="18" charset="0"/>
              </a:rPr>
              <a:t>độ cao</a:t>
            </a:r>
            <a:r>
              <a:rPr lang="en-US" sz="2800">
                <a:solidFill>
                  <a:srgbClr val="080808"/>
                </a:solidFill>
                <a:cs typeface="Times New Roman" pitchFamily="18" charset="0"/>
              </a:rPr>
              <a:t> của cây con trái và của cây con phải </a:t>
            </a:r>
            <a:r>
              <a:rPr lang="en-US" sz="2800" b="1">
                <a:solidFill>
                  <a:srgbClr val="0000FF"/>
                </a:solidFill>
                <a:cs typeface="Times New Roman" pitchFamily="18" charset="0"/>
              </a:rPr>
              <a:t>chênh lệch nhau không quá một</a:t>
            </a:r>
            <a:r>
              <a:rPr lang="en-US" sz="2800">
                <a:solidFill>
                  <a:srgbClr val="080808"/>
                </a:solidFill>
              </a:rPr>
              <a:t>.</a:t>
            </a:r>
            <a:endParaRPr lang="en-US" sz="28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00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318742" y="1249085"/>
            <a:ext cx="10272371" cy="5300190"/>
            <a:chOff x="1318742" y="980728"/>
            <a:chExt cx="10272371" cy="5300190"/>
          </a:xfrm>
        </p:grpSpPr>
        <p:grpSp>
          <p:nvGrpSpPr>
            <p:cNvPr id="8" name="Group 7"/>
            <p:cNvGrpSpPr/>
            <p:nvPr/>
          </p:nvGrpSpPr>
          <p:grpSpPr>
            <a:xfrm>
              <a:off x="1318742" y="1131679"/>
              <a:ext cx="10272371" cy="5149239"/>
              <a:chOff x="1318742" y="1052167"/>
              <a:chExt cx="10272371" cy="5149239"/>
            </a:xfrm>
          </p:grpSpPr>
          <p:pic>
            <p:nvPicPr>
              <p:cNvPr id="12292" name="Picture 6" descr="AVL1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31584" y="1971304"/>
                <a:ext cx="4059616" cy="34019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293" name="Picture 7" descr="AVL1a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96226" y="1988841"/>
                <a:ext cx="4320255" cy="42125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294" name="AutoShape 8"/>
              <p:cNvSpPr>
                <a:spLocks noChangeArrowheads="1"/>
              </p:cNvSpPr>
              <p:nvPr/>
            </p:nvSpPr>
            <p:spPr bwMode="auto">
              <a:xfrm>
                <a:off x="3431704" y="1052167"/>
                <a:ext cx="1797214" cy="510778"/>
              </a:xfrm>
              <a:prstGeom prst="roundRect">
                <a:avLst>
                  <a:gd name="adj" fmla="val 16667"/>
                </a:avLst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2400" b="1"/>
                  <a:t>AVL Tree ?</a:t>
                </a:r>
                <a:endParaRPr lang="en-US" sz="2400"/>
              </a:p>
            </p:txBody>
          </p:sp>
          <p:sp>
            <p:nvSpPr>
              <p:cNvPr id="12295" name="AutoShape 9"/>
              <p:cNvSpPr>
                <a:spLocks noChangeArrowheads="1"/>
              </p:cNvSpPr>
              <p:nvPr/>
            </p:nvSpPr>
            <p:spPr bwMode="auto">
              <a:xfrm>
                <a:off x="8113574" y="1052167"/>
                <a:ext cx="1726842" cy="510778"/>
              </a:xfrm>
              <a:prstGeom prst="roundRect">
                <a:avLst>
                  <a:gd name="adj" fmla="val 16667"/>
                </a:avLst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2400" b="1"/>
                  <a:t>AVL Tree?</a:t>
                </a:r>
                <a:endParaRPr lang="en-US" sz="2400"/>
              </a:p>
            </p:txBody>
          </p:sp>
          <p:cxnSp>
            <p:nvCxnSpPr>
              <p:cNvPr id="5" name="Straight Connector 4"/>
              <p:cNvCxnSpPr/>
              <p:nvPr/>
            </p:nvCxnSpPr>
            <p:spPr>
              <a:xfrm>
                <a:off x="1356189" y="2291137"/>
                <a:ext cx="10161141" cy="0"/>
              </a:xfrm>
              <a:prstGeom prst="line">
                <a:avLst/>
              </a:prstGeom>
              <a:ln w="3810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1335641" y="3184988"/>
                <a:ext cx="10161141" cy="0"/>
              </a:xfrm>
              <a:prstGeom prst="line">
                <a:avLst/>
              </a:prstGeom>
              <a:ln w="3810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1318742" y="4037744"/>
                <a:ext cx="10161141" cy="0"/>
              </a:xfrm>
              <a:prstGeom prst="line">
                <a:avLst/>
              </a:prstGeom>
              <a:ln w="3810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1369839" y="4900773"/>
                <a:ext cx="10161141" cy="0"/>
              </a:xfrm>
              <a:prstGeom prst="line">
                <a:avLst/>
              </a:prstGeom>
              <a:ln w="3810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5917915" y="5732979"/>
                <a:ext cx="5258881" cy="0"/>
              </a:xfrm>
              <a:prstGeom prst="line">
                <a:avLst/>
              </a:prstGeom>
              <a:ln w="3810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TextBox 6"/>
              <p:cNvSpPr txBox="1"/>
              <p:nvPr/>
            </p:nvSpPr>
            <p:spPr>
              <a:xfrm>
                <a:off x="1318742" y="1634959"/>
                <a:ext cx="104431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smtClean="0"/>
                  <a:t>0</a:t>
                </a:r>
                <a:endParaRPr lang="en-US" sz="4000"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1318742" y="2544401"/>
                <a:ext cx="104431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/>
                  <a:t>1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1318742" y="3402293"/>
                <a:ext cx="104431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/>
                  <a:t>2</a:t>
                </a: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1318742" y="4223153"/>
                <a:ext cx="104431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/>
                  <a:t>3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10521758" y="1683665"/>
                <a:ext cx="104431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smtClean="0"/>
                  <a:t>0</a:t>
                </a:r>
                <a:endParaRPr lang="en-US" sz="4000"/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10521758" y="2593107"/>
                <a:ext cx="104431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/>
                  <a:t>1</a:t>
                </a: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10521758" y="3450999"/>
                <a:ext cx="104431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/>
                  <a:t>2</a:t>
                </a: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10521758" y="4271859"/>
                <a:ext cx="104431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/>
                  <a:t>3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10546799" y="5055916"/>
                <a:ext cx="104431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smtClean="0"/>
                  <a:t>4</a:t>
                </a:r>
                <a:endParaRPr lang="en-US" sz="4000"/>
              </a:p>
            </p:txBody>
          </p:sp>
        </p:grpSp>
        <p:sp>
          <p:nvSpPr>
            <p:cNvPr id="117768" name="Line 10"/>
            <p:cNvSpPr>
              <a:spLocks noChangeShapeType="1"/>
            </p:cNvSpPr>
            <p:nvPr/>
          </p:nvSpPr>
          <p:spPr bwMode="auto">
            <a:xfrm flipH="1">
              <a:off x="8376918" y="980728"/>
              <a:ext cx="1219200" cy="685800"/>
            </a:xfrm>
            <a:prstGeom prst="line">
              <a:avLst/>
            </a:prstGeom>
            <a:noFill/>
            <a:ln w="38100">
              <a:solidFill>
                <a:srgbClr val="FC012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>
              <a:off x="8376920" y="990669"/>
              <a:ext cx="1223963" cy="695325"/>
            </a:xfrm>
            <a:prstGeom prst="line">
              <a:avLst/>
            </a:prstGeom>
            <a:noFill/>
            <a:ln w="38100">
              <a:solidFill>
                <a:srgbClr val="FC012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BM Công nghệ phần mềm</a:t>
            </a:r>
            <a:endParaRPr lang="en-US"/>
          </a:p>
        </p:txBody>
      </p:sp>
      <p:sp>
        <p:nvSpPr>
          <p:cNvPr id="11" name="Title 5"/>
          <p:cNvSpPr>
            <a:spLocks noGrp="1"/>
          </p:cNvSpPr>
          <p:nvPr>
            <p:ph type="title"/>
          </p:nvPr>
        </p:nvSpPr>
        <p:spPr>
          <a:xfrm>
            <a:off x="774926" y="509454"/>
            <a:ext cx="10642600" cy="703747"/>
          </a:xfrm>
        </p:spPr>
        <p:txBody>
          <a:bodyPr/>
          <a:lstStyle/>
          <a:p>
            <a:r>
              <a:rPr lang="en-US" smtClean="0"/>
              <a:t>AVL Tree – Ví dụ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013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BM Công nghệ phần mềm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82</a:t>
            </a:fld>
            <a:endParaRPr lang="en-US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655430" y="559258"/>
            <a:ext cx="10642600" cy="7037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mtClean="0"/>
              <a:t>3. Tổ </a:t>
            </a:r>
            <a:r>
              <a:rPr lang="en-US"/>
              <a:t>chức dữ liệu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idx="1"/>
          </p:nvPr>
        </p:nvSpPr>
        <p:spPr>
          <a:xfrm>
            <a:off x="0" y="1109589"/>
            <a:ext cx="11722812" cy="5384800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b="1" dirty="0"/>
              <a:t>Chỉ số cân bằng của một nút: 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sz="2800" b="1" u="sng" dirty="0">
                <a:solidFill>
                  <a:srgbClr val="002060"/>
                </a:solidFill>
              </a:rPr>
              <a:t>Định nghĩa</a:t>
            </a:r>
            <a:r>
              <a:rPr lang="en-US" sz="2800" b="1" dirty="0">
                <a:solidFill>
                  <a:srgbClr val="002060"/>
                </a:solidFill>
              </a:rPr>
              <a:t>: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b="1" dirty="0">
                <a:solidFill>
                  <a:srgbClr val="0070C0"/>
                </a:solidFill>
              </a:rPr>
              <a:t>Chỉ số cân bằng của một nút là </a:t>
            </a:r>
            <a:r>
              <a:rPr lang="en-US" sz="2800" b="1" dirty="0">
                <a:solidFill>
                  <a:srgbClr val="C00000"/>
                </a:solidFill>
              </a:rPr>
              <a:t>hiệu</a:t>
            </a:r>
            <a:r>
              <a:rPr lang="en-US" sz="2800" b="1" dirty="0">
                <a:solidFill>
                  <a:srgbClr val="0070C0"/>
                </a:solidFill>
              </a:rPr>
              <a:t> của chiều cao cây con phải và cây con trái của </a:t>
            </a:r>
            <a:r>
              <a:rPr lang="en-US" sz="2800" b="1" dirty="0" smtClean="0">
                <a:solidFill>
                  <a:srgbClr val="0070C0"/>
                </a:solidFill>
              </a:rPr>
              <a:t>nó.</a:t>
            </a:r>
            <a:endParaRPr lang="en-US" sz="2800" b="1" dirty="0">
              <a:solidFill>
                <a:srgbClr val="0070C0"/>
              </a:solidFill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sz="2800" dirty="0"/>
              <a:t>Đối với một cây cân bằng, chỉ số cân bằng (</a:t>
            </a:r>
            <a:r>
              <a:rPr lang="en-US" sz="2800" b="1" dirty="0"/>
              <a:t>CSCB</a:t>
            </a:r>
            <a:r>
              <a:rPr lang="en-US" sz="2800" dirty="0"/>
              <a:t>) của mỗi nút chỉ có thể mang một trong ba giá </a:t>
            </a:r>
            <a:r>
              <a:rPr lang="en-US" sz="2800" dirty="0" smtClean="0"/>
              <a:t>trị: </a:t>
            </a:r>
            <a:r>
              <a:rPr lang="en-US" sz="2800" b="1" dirty="0" smtClean="0">
                <a:solidFill>
                  <a:srgbClr val="C00000"/>
                </a:solidFill>
              </a:rPr>
              <a:t>-1, 0, </a:t>
            </a:r>
            <a:r>
              <a:rPr lang="en-US" sz="2800" dirty="0" smtClean="0"/>
              <a:t>và </a:t>
            </a:r>
            <a:r>
              <a:rPr lang="en-US" sz="2800" b="1" dirty="0" smtClean="0">
                <a:solidFill>
                  <a:srgbClr val="C00000"/>
                </a:solidFill>
              </a:rPr>
              <a:t>1</a:t>
            </a:r>
            <a:r>
              <a:rPr lang="en-US" sz="2800" dirty="0" smtClean="0"/>
              <a:t>: </a:t>
            </a:r>
            <a:endParaRPr lang="en-US" sz="2800" b="1" dirty="0" smtClean="0">
              <a:solidFill>
                <a:srgbClr val="080808"/>
              </a:solidFill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b="1" dirty="0" smtClean="0">
                <a:solidFill>
                  <a:srgbClr val="080808"/>
                </a:solidFill>
              </a:rPr>
              <a:t>Các giá trị hợp lệ:</a:t>
            </a:r>
          </a:p>
          <a:p>
            <a:pPr marL="565150" lvl="1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800" b="1" smtClean="0">
                <a:solidFill>
                  <a:srgbClr val="080808"/>
                </a:solidFill>
              </a:rPr>
              <a:t>CSCB(p) = </a:t>
            </a:r>
            <a:r>
              <a:rPr lang="en-US" sz="2800" b="1" smtClean="0">
                <a:solidFill>
                  <a:srgbClr val="FF0000"/>
                </a:solidFill>
              </a:rPr>
              <a:t>0 </a:t>
            </a:r>
            <a:r>
              <a:rPr lang="en-US" sz="2800" dirty="0" smtClean="0">
                <a:solidFill>
                  <a:srgbClr val="080808"/>
                </a:solidFill>
                <a:sym typeface="Symbol" pitchFamily="18" charset="2"/>
              </a:rPr>
              <a:t> </a:t>
            </a:r>
            <a:r>
              <a:rPr lang="en-US" sz="2800" dirty="0" smtClean="0">
                <a:solidFill>
                  <a:srgbClr val="080808"/>
                </a:solidFill>
              </a:rPr>
              <a:t>Độ cao cây trái (</a:t>
            </a:r>
            <a:r>
              <a:rPr lang="en-US" sz="2800" smtClean="0">
                <a:solidFill>
                  <a:srgbClr val="080808"/>
                </a:solidFill>
              </a:rPr>
              <a:t>p) </a:t>
            </a:r>
            <a:r>
              <a:rPr lang="en-US" sz="2800" b="1" smtClean="0">
                <a:solidFill>
                  <a:srgbClr val="0000FF"/>
                </a:solidFill>
              </a:rPr>
              <a:t>= </a:t>
            </a:r>
            <a:r>
              <a:rPr lang="en-US" sz="2800" smtClean="0">
                <a:solidFill>
                  <a:srgbClr val="080808"/>
                </a:solidFill>
              </a:rPr>
              <a:t>Độ </a:t>
            </a:r>
            <a:r>
              <a:rPr lang="en-US" sz="2800" dirty="0" smtClean="0">
                <a:solidFill>
                  <a:srgbClr val="080808"/>
                </a:solidFill>
              </a:rPr>
              <a:t>cao cây phải (p)</a:t>
            </a:r>
          </a:p>
          <a:p>
            <a:pPr marL="565150" lvl="1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800" b="1" smtClean="0">
                <a:solidFill>
                  <a:srgbClr val="080808"/>
                </a:solidFill>
              </a:rPr>
              <a:t>CSCB(p) = </a:t>
            </a:r>
            <a:r>
              <a:rPr lang="en-US" sz="2800" b="1" smtClean="0">
                <a:solidFill>
                  <a:srgbClr val="FF0000"/>
                </a:solidFill>
              </a:rPr>
              <a:t>1 </a:t>
            </a:r>
            <a:r>
              <a:rPr lang="en-US" sz="2800" dirty="0" smtClean="0">
                <a:solidFill>
                  <a:srgbClr val="080808"/>
                </a:solidFill>
                <a:sym typeface="Symbol" pitchFamily="18" charset="2"/>
              </a:rPr>
              <a:t> </a:t>
            </a:r>
            <a:r>
              <a:rPr lang="en-US" sz="2800" dirty="0" smtClean="0">
                <a:solidFill>
                  <a:srgbClr val="080808"/>
                </a:solidFill>
              </a:rPr>
              <a:t>Độ </a:t>
            </a:r>
            <a:r>
              <a:rPr lang="en-US" sz="2800" dirty="0">
                <a:solidFill>
                  <a:srgbClr val="080808"/>
                </a:solidFill>
              </a:rPr>
              <a:t>cao cây trái (</a:t>
            </a:r>
            <a:r>
              <a:rPr lang="en-US" sz="2800">
                <a:solidFill>
                  <a:srgbClr val="080808"/>
                </a:solidFill>
              </a:rPr>
              <a:t>p</a:t>
            </a:r>
            <a:r>
              <a:rPr lang="en-US" sz="2800" smtClean="0">
                <a:solidFill>
                  <a:srgbClr val="080808"/>
                </a:solidFill>
              </a:rPr>
              <a:t>) </a:t>
            </a:r>
            <a:r>
              <a:rPr lang="en-US" sz="2800" b="1" smtClean="0">
                <a:solidFill>
                  <a:srgbClr val="0000FF"/>
                </a:solidFill>
              </a:rPr>
              <a:t>&lt; </a:t>
            </a:r>
            <a:r>
              <a:rPr lang="en-US" sz="2800" smtClean="0">
                <a:solidFill>
                  <a:srgbClr val="080808"/>
                </a:solidFill>
              </a:rPr>
              <a:t>Độ </a:t>
            </a:r>
            <a:r>
              <a:rPr lang="en-US" sz="2800" dirty="0">
                <a:solidFill>
                  <a:srgbClr val="080808"/>
                </a:solidFill>
              </a:rPr>
              <a:t>cao cây phải (p)</a:t>
            </a:r>
          </a:p>
          <a:p>
            <a:pPr marL="565150" lvl="1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800" b="1">
                <a:solidFill>
                  <a:srgbClr val="080808"/>
                </a:solidFill>
              </a:rPr>
              <a:t>CSCB(p</a:t>
            </a:r>
            <a:r>
              <a:rPr lang="en-US" sz="2800" b="1" smtClean="0">
                <a:solidFill>
                  <a:srgbClr val="080808"/>
                </a:solidFill>
              </a:rPr>
              <a:t>) =</a:t>
            </a:r>
            <a:r>
              <a:rPr lang="en-US" sz="2800" b="1" smtClean="0">
                <a:solidFill>
                  <a:srgbClr val="FF0000"/>
                </a:solidFill>
              </a:rPr>
              <a:t>-</a:t>
            </a:r>
            <a:r>
              <a:rPr lang="en-US" sz="2800" b="1" dirty="0" smtClean="0">
                <a:solidFill>
                  <a:srgbClr val="FF0000"/>
                </a:solidFill>
              </a:rPr>
              <a:t>1 </a:t>
            </a:r>
            <a:r>
              <a:rPr lang="en-US" sz="2800" dirty="0" smtClean="0">
                <a:solidFill>
                  <a:srgbClr val="080808"/>
                </a:solidFill>
                <a:sym typeface="Symbol" pitchFamily="18" charset="2"/>
              </a:rPr>
              <a:t> </a:t>
            </a:r>
            <a:r>
              <a:rPr lang="en-US" sz="2800" dirty="0" smtClean="0">
                <a:solidFill>
                  <a:srgbClr val="080808"/>
                </a:solidFill>
              </a:rPr>
              <a:t>Độ </a:t>
            </a:r>
            <a:r>
              <a:rPr lang="en-US" sz="2800" dirty="0">
                <a:solidFill>
                  <a:srgbClr val="080808"/>
                </a:solidFill>
              </a:rPr>
              <a:t>cao cây trái (</a:t>
            </a:r>
            <a:r>
              <a:rPr lang="en-US" sz="2800">
                <a:solidFill>
                  <a:srgbClr val="080808"/>
                </a:solidFill>
              </a:rPr>
              <a:t>p</a:t>
            </a:r>
            <a:r>
              <a:rPr lang="en-US" sz="2800" smtClean="0">
                <a:solidFill>
                  <a:srgbClr val="080808"/>
                </a:solidFill>
              </a:rPr>
              <a:t>) </a:t>
            </a:r>
            <a:r>
              <a:rPr lang="en-US" sz="2800" b="1" smtClean="0">
                <a:solidFill>
                  <a:srgbClr val="0000FF"/>
                </a:solidFill>
              </a:rPr>
              <a:t>&gt; </a:t>
            </a:r>
            <a:r>
              <a:rPr lang="en-US" sz="2800" smtClean="0">
                <a:solidFill>
                  <a:srgbClr val="080808"/>
                </a:solidFill>
              </a:rPr>
              <a:t>Độ </a:t>
            </a:r>
            <a:r>
              <a:rPr lang="en-US" sz="2800" dirty="0">
                <a:solidFill>
                  <a:srgbClr val="080808"/>
                </a:solidFill>
              </a:rPr>
              <a:t>cao cây phải (p</a:t>
            </a:r>
            <a:r>
              <a:rPr lang="en-US" sz="2800" dirty="0" smtClean="0">
                <a:solidFill>
                  <a:srgbClr val="080808"/>
                </a:solidFill>
              </a:rPr>
              <a:t>)</a:t>
            </a:r>
            <a:endParaRPr lang="en-US" sz="2800" dirty="0">
              <a:solidFill>
                <a:srgbClr val="080808"/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9739901" y="3452665"/>
            <a:ext cx="2400726" cy="2630017"/>
            <a:chOff x="9616613" y="2732926"/>
            <a:chExt cx="2400726" cy="2630017"/>
          </a:xfrm>
        </p:grpSpPr>
        <p:pic>
          <p:nvPicPr>
            <p:cNvPr id="6" name="Picture 6" descr="AVL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11820" y="2866490"/>
              <a:ext cx="2205519" cy="2496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5" name="Straight Connector 4"/>
            <p:cNvCxnSpPr/>
            <p:nvPr/>
          </p:nvCxnSpPr>
          <p:spPr>
            <a:xfrm>
              <a:off x="9780998" y="2907590"/>
              <a:ext cx="2178121" cy="0"/>
            </a:xfrm>
            <a:prstGeom prst="line">
              <a:avLst/>
            </a:prstGeom>
            <a:ln w="381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9780997" y="3462394"/>
              <a:ext cx="2178121" cy="0"/>
            </a:xfrm>
            <a:prstGeom prst="line">
              <a:avLst/>
            </a:prstGeom>
            <a:ln w="381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9811820" y="4145541"/>
              <a:ext cx="2178121" cy="0"/>
            </a:xfrm>
            <a:prstGeom prst="line">
              <a:avLst/>
            </a:prstGeom>
            <a:ln w="381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9839218" y="4792813"/>
              <a:ext cx="2178121" cy="0"/>
            </a:xfrm>
            <a:prstGeom prst="line">
              <a:avLst/>
            </a:prstGeom>
            <a:ln w="381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9616613" y="2732926"/>
              <a:ext cx="5034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>
                  <a:solidFill>
                    <a:srgbClr val="C00000"/>
                  </a:solidFill>
                </a:rPr>
                <a:t>0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626888" y="3285689"/>
              <a:ext cx="5034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>
                  <a:solidFill>
                    <a:srgbClr val="C00000"/>
                  </a:solidFill>
                </a:rPr>
                <a:t>1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633737" y="4015157"/>
              <a:ext cx="5034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>
                  <a:solidFill>
                    <a:srgbClr val="C00000"/>
                  </a:solidFill>
                </a:rPr>
                <a:t>2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648741" y="4631180"/>
              <a:ext cx="5034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smtClean="0">
                  <a:solidFill>
                    <a:srgbClr val="C00000"/>
                  </a:solidFill>
                </a:rPr>
                <a:t>3</a:t>
              </a:r>
              <a:endParaRPr lang="en-US" sz="3200" b="1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757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3" name="Text Box 43"/>
          <p:cNvSpPr txBox="1">
            <a:spLocks noChangeArrowheads="1"/>
          </p:cNvSpPr>
          <p:nvPr/>
        </p:nvSpPr>
        <p:spPr bwMode="auto">
          <a:xfrm>
            <a:off x="1717126" y="5421176"/>
            <a:ext cx="892547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ko-KR" sz="2800" smtClean="0">
                <a:solidFill>
                  <a:srgbClr val="0000FF"/>
                </a:solidFill>
                <a:cs typeface="HY얕은샘물M"/>
              </a:rPr>
              <a:t> Hãy </a:t>
            </a:r>
            <a:r>
              <a:rPr lang="en-US" altLang="ko-KR" sz="2800">
                <a:solidFill>
                  <a:srgbClr val="0000FF"/>
                </a:solidFill>
                <a:cs typeface="HY얕은샘물M"/>
              </a:rPr>
              <a:t>cho biết chỉ số cân bằng của mỗi nút trên cây?</a:t>
            </a:r>
          </a:p>
          <a:p>
            <a:pPr eaLnBrk="1" hangingPunct="1">
              <a:buFontTx/>
              <a:buChar char="•"/>
            </a:pPr>
            <a:r>
              <a:rPr lang="en-US" altLang="ko-KR" sz="2800" smtClean="0">
                <a:solidFill>
                  <a:srgbClr val="0000FF"/>
                </a:solidFill>
                <a:cs typeface="HY얕은샘물M"/>
              </a:rPr>
              <a:t> Đây </a:t>
            </a:r>
            <a:r>
              <a:rPr lang="en-US" altLang="ko-KR" sz="2800">
                <a:solidFill>
                  <a:srgbClr val="0000FF"/>
                </a:solidFill>
                <a:cs typeface="HY얕은샘물M"/>
              </a:rPr>
              <a:t>có phải là cây AVL không? </a:t>
            </a:r>
          </a:p>
        </p:txBody>
      </p:sp>
      <p:grpSp>
        <p:nvGrpSpPr>
          <p:cNvPr id="2" name="Group 83"/>
          <p:cNvGrpSpPr>
            <a:grpSpLocks/>
          </p:cNvGrpSpPr>
          <p:nvPr/>
        </p:nvGrpSpPr>
        <p:grpSpPr bwMode="auto">
          <a:xfrm>
            <a:off x="1717126" y="895115"/>
            <a:ext cx="8086283" cy="4356627"/>
            <a:chOff x="479" y="998"/>
            <a:chExt cx="4526" cy="2036"/>
          </a:xfrm>
        </p:grpSpPr>
        <p:sp>
          <p:nvSpPr>
            <p:cNvPr id="14367" name="Text Box 53"/>
            <p:cNvSpPr txBox="1">
              <a:spLocks noChangeArrowheads="1"/>
            </p:cNvSpPr>
            <p:nvPr/>
          </p:nvSpPr>
          <p:spPr bwMode="auto">
            <a:xfrm>
              <a:off x="2705" y="998"/>
              <a:ext cx="189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2000" b="1">
                  <a:solidFill>
                    <a:srgbClr val="FF33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HY얕은샘물M"/>
                </a:rPr>
                <a:t>1</a:t>
              </a:r>
            </a:p>
          </p:txBody>
        </p:sp>
        <p:sp>
          <p:nvSpPr>
            <p:cNvPr id="14368" name="Text Box 54"/>
            <p:cNvSpPr txBox="1">
              <a:spLocks noChangeArrowheads="1"/>
            </p:cNvSpPr>
            <p:nvPr/>
          </p:nvSpPr>
          <p:spPr bwMode="auto">
            <a:xfrm>
              <a:off x="1467" y="1448"/>
              <a:ext cx="237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2000" b="1">
                  <a:solidFill>
                    <a:srgbClr val="FF33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HY얕은샘물M"/>
                </a:rPr>
                <a:t>-1</a:t>
              </a:r>
            </a:p>
          </p:txBody>
        </p:sp>
        <p:sp>
          <p:nvSpPr>
            <p:cNvPr id="14369" name="Text Box 55"/>
            <p:cNvSpPr txBox="1">
              <a:spLocks noChangeArrowheads="1"/>
            </p:cNvSpPr>
            <p:nvPr/>
          </p:nvSpPr>
          <p:spPr bwMode="auto">
            <a:xfrm>
              <a:off x="889" y="1875"/>
              <a:ext cx="189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2000" b="1">
                  <a:solidFill>
                    <a:srgbClr val="FF33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HY얕은샘물M"/>
                </a:rPr>
                <a:t>0</a:t>
              </a:r>
            </a:p>
          </p:txBody>
        </p:sp>
        <p:sp>
          <p:nvSpPr>
            <p:cNvPr id="14370" name="Text Box 56"/>
            <p:cNvSpPr txBox="1">
              <a:spLocks noChangeArrowheads="1"/>
            </p:cNvSpPr>
            <p:nvPr/>
          </p:nvSpPr>
          <p:spPr bwMode="auto">
            <a:xfrm>
              <a:off x="479" y="2334"/>
              <a:ext cx="189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2000" b="1">
                  <a:solidFill>
                    <a:srgbClr val="FF33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HY얕은샘물M"/>
                </a:rPr>
                <a:t>0</a:t>
              </a:r>
            </a:p>
          </p:txBody>
        </p:sp>
        <p:sp>
          <p:nvSpPr>
            <p:cNvPr id="14371" name="Text Box 57"/>
            <p:cNvSpPr txBox="1">
              <a:spLocks noChangeArrowheads="1"/>
            </p:cNvSpPr>
            <p:nvPr/>
          </p:nvSpPr>
          <p:spPr bwMode="auto">
            <a:xfrm>
              <a:off x="1228" y="2341"/>
              <a:ext cx="189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2000" b="1">
                  <a:solidFill>
                    <a:srgbClr val="FF33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HY얕은샘물M"/>
                </a:rPr>
                <a:t>0</a:t>
              </a:r>
            </a:p>
          </p:txBody>
        </p:sp>
        <p:sp>
          <p:nvSpPr>
            <p:cNvPr id="14372" name="Text Box 58"/>
            <p:cNvSpPr txBox="1">
              <a:spLocks noChangeArrowheads="1"/>
            </p:cNvSpPr>
            <p:nvPr/>
          </p:nvSpPr>
          <p:spPr bwMode="auto">
            <a:xfrm>
              <a:off x="2100" y="1872"/>
              <a:ext cx="189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2000" b="1">
                  <a:solidFill>
                    <a:srgbClr val="FF33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HY얕은샘물M"/>
                </a:rPr>
                <a:t>0</a:t>
              </a:r>
            </a:p>
          </p:txBody>
        </p:sp>
        <p:sp>
          <p:nvSpPr>
            <p:cNvPr id="14373" name="Text Box 59"/>
            <p:cNvSpPr txBox="1">
              <a:spLocks noChangeArrowheads="1"/>
            </p:cNvSpPr>
            <p:nvPr/>
          </p:nvSpPr>
          <p:spPr bwMode="auto">
            <a:xfrm>
              <a:off x="3690" y="1460"/>
              <a:ext cx="237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2000" b="1">
                  <a:solidFill>
                    <a:srgbClr val="FF33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HY얕은샘물M"/>
                </a:rPr>
                <a:t>-1</a:t>
              </a:r>
            </a:p>
          </p:txBody>
        </p:sp>
        <p:sp>
          <p:nvSpPr>
            <p:cNvPr id="14374" name="Text Box 60"/>
            <p:cNvSpPr txBox="1">
              <a:spLocks noChangeArrowheads="1"/>
            </p:cNvSpPr>
            <p:nvPr/>
          </p:nvSpPr>
          <p:spPr bwMode="auto">
            <a:xfrm>
              <a:off x="3236" y="1904"/>
              <a:ext cx="237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2000" b="1">
                  <a:solidFill>
                    <a:srgbClr val="FF33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HY얕은샘물M"/>
                </a:rPr>
                <a:t>-1</a:t>
              </a:r>
            </a:p>
          </p:txBody>
        </p:sp>
        <p:sp>
          <p:nvSpPr>
            <p:cNvPr id="14375" name="Text Box 61"/>
            <p:cNvSpPr txBox="1">
              <a:spLocks noChangeArrowheads="1"/>
            </p:cNvSpPr>
            <p:nvPr/>
          </p:nvSpPr>
          <p:spPr bwMode="auto">
            <a:xfrm>
              <a:off x="3012" y="2356"/>
              <a:ext cx="189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2000" b="1">
                  <a:solidFill>
                    <a:srgbClr val="FF33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HY얕은샘물M"/>
                </a:rPr>
                <a:t>1</a:t>
              </a:r>
            </a:p>
          </p:txBody>
        </p:sp>
        <p:sp>
          <p:nvSpPr>
            <p:cNvPr id="14376" name="Text Box 62"/>
            <p:cNvSpPr txBox="1">
              <a:spLocks noChangeArrowheads="1"/>
            </p:cNvSpPr>
            <p:nvPr/>
          </p:nvSpPr>
          <p:spPr bwMode="auto">
            <a:xfrm>
              <a:off x="3736" y="2379"/>
              <a:ext cx="189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2000" b="1">
                  <a:solidFill>
                    <a:srgbClr val="FF33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HY얕은샘물M"/>
                </a:rPr>
                <a:t>0</a:t>
              </a:r>
            </a:p>
          </p:txBody>
        </p:sp>
        <p:sp>
          <p:nvSpPr>
            <p:cNvPr id="14377" name="Text Box 64"/>
            <p:cNvSpPr txBox="1">
              <a:spLocks noChangeArrowheads="1"/>
            </p:cNvSpPr>
            <p:nvPr/>
          </p:nvSpPr>
          <p:spPr bwMode="auto">
            <a:xfrm>
              <a:off x="4338" y="1929"/>
              <a:ext cx="189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2000" b="1">
                  <a:solidFill>
                    <a:srgbClr val="FF33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HY얕은샘물M"/>
                </a:rPr>
                <a:t>1</a:t>
              </a:r>
            </a:p>
          </p:txBody>
        </p:sp>
        <p:sp>
          <p:nvSpPr>
            <p:cNvPr id="14378" name="Text Box 66"/>
            <p:cNvSpPr txBox="1">
              <a:spLocks noChangeArrowheads="1"/>
            </p:cNvSpPr>
            <p:nvPr/>
          </p:nvSpPr>
          <p:spPr bwMode="auto">
            <a:xfrm>
              <a:off x="4772" y="2352"/>
              <a:ext cx="233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2000" b="1">
                  <a:solidFill>
                    <a:srgbClr val="FF33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HY얕은샘물M"/>
                </a:rPr>
                <a:t>0</a:t>
              </a:r>
            </a:p>
          </p:txBody>
        </p:sp>
        <p:sp>
          <p:nvSpPr>
            <p:cNvPr id="14379" name="Text Box 68"/>
            <p:cNvSpPr txBox="1">
              <a:spLocks noChangeArrowheads="1"/>
            </p:cNvSpPr>
            <p:nvPr/>
          </p:nvSpPr>
          <p:spPr bwMode="auto">
            <a:xfrm>
              <a:off x="3423" y="2847"/>
              <a:ext cx="189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2000" b="1">
                  <a:solidFill>
                    <a:srgbClr val="FF33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HY얕은샘물M"/>
                </a:rPr>
                <a:t>0</a:t>
              </a:r>
            </a:p>
          </p:txBody>
        </p:sp>
      </p:grpSp>
      <p:grpSp>
        <p:nvGrpSpPr>
          <p:cNvPr id="14341" name="Group 85"/>
          <p:cNvGrpSpPr>
            <a:grpSpLocks/>
          </p:cNvGrpSpPr>
          <p:nvPr/>
        </p:nvGrpSpPr>
        <p:grpSpPr bwMode="auto">
          <a:xfrm>
            <a:off x="1991544" y="998171"/>
            <a:ext cx="8230114" cy="4455445"/>
            <a:chOff x="981" y="1148"/>
            <a:chExt cx="3800" cy="1924"/>
          </a:xfrm>
        </p:grpSpPr>
        <p:sp>
          <p:nvSpPr>
            <p:cNvPr id="14342" name="Line 86"/>
            <p:cNvSpPr>
              <a:spLocks noChangeShapeType="1"/>
            </p:cNvSpPr>
            <p:nvPr/>
          </p:nvSpPr>
          <p:spPr bwMode="auto">
            <a:xfrm flipH="1">
              <a:off x="2006" y="1329"/>
              <a:ext cx="939" cy="2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vi-VN" b="1"/>
            </a:p>
          </p:txBody>
        </p:sp>
        <p:sp>
          <p:nvSpPr>
            <p:cNvPr id="14343" name="Line 87"/>
            <p:cNvSpPr>
              <a:spLocks noChangeShapeType="1"/>
            </p:cNvSpPr>
            <p:nvPr/>
          </p:nvSpPr>
          <p:spPr bwMode="auto">
            <a:xfrm>
              <a:off x="2945" y="1329"/>
              <a:ext cx="896" cy="2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vi-VN" b="1"/>
            </a:p>
          </p:txBody>
        </p:sp>
        <p:sp>
          <p:nvSpPr>
            <p:cNvPr id="14344" name="Line 88"/>
            <p:cNvSpPr>
              <a:spLocks noChangeShapeType="1"/>
            </p:cNvSpPr>
            <p:nvPr/>
          </p:nvSpPr>
          <p:spPr bwMode="auto">
            <a:xfrm flipH="1">
              <a:off x="1451" y="1765"/>
              <a:ext cx="512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vi-VN" b="1"/>
            </a:p>
          </p:txBody>
        </p:sp>
        <p:sp>
          <p:nvSpPr>
            <p:cNvPr id="14345" name="Line 89"/>
            <p:cNvSpPr>
              <a:spLocks noChangeShapeType="1"/>
            </p:cNvSpPr>
            <p:nvPr/>
          </p:nvSpPr>
          <p:spPr bwMode="auto">
            <a:xfrm>
              <a:off x="2006" y="1765"/>
              <a:ext cx="427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vi-VN" b="1"/>
            </a:p>
          </p:txBody>
        </p:sp>
        <p:sp>
          <p:nvSpPr>
            <p:cNvPr id="14346" name="Line 90"/>
            <p:cNvSpPr>
              <a:spLocks noChangeShapeType="1"/>
            </p:cNvSpPr>
            <p:nvPr/>
          </p:nvSpPr>
          <p:spPr bwMode="auto">
            <a:xfrm flipH="1">
              <a:off x="3457" y="1765"/>
              <a:ext cx="384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vi-VN" b="1"/>
            </a:p>
          </p:txBody>
        </p:sp>
        <p:sp>
          <p:nvSpPr>
            <p:cNvPr id="14347" name="Line 91"/>
            <p:cNvSpPr>
              <a:spLocks noChangeShapeType="1"/>
            </p:cNvSpPr>
            <p:nvPr/>
          </p:nvSpPr>
          <p:spPr bwMode="auto">
            <a:xfrm flipH="1">
              <a:off x="1067" y="2201"/>
              <a:ext cx="341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vi-VN" b="1"/>
            </a:p>
          </p:txBody>
        </p:sp>
        <p:sp>
          <p:nvSpPr>
            <p:cNvPr id="14348" name="Line 92"/>
            <p:cNvSpPr>
              <a:spLocks noChangeShapeType="1"/>
            </p:cNvSpPr>
            <p:nvPr/>
          </p:nvSpPr>
          <p:spPr bwMode="auto">
            <a:xfrm>
              <a:off x="1451" y="2201"/>
              <a:ext cx="256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vi-VN" b="1"/>
            </a:p>
          </p:txBody>
        </p:sp>
        <p:sp>
          <p:nvSpPr>
            <p:cNvPr id="14349" name="Line 93"/>
            <p:cNvSpPr>
              <a:spLocks noChangeShapeType="1"/>
            </p:cNvSpPr>
            <p:nvPr/>
          </p:nvSpPr>
          <p:spPr bwMode="auto">
            <a:xfrm flipH="1">
              <a:off x="3201" y="2201"/>
              <a:ext cx="256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vi-VN" b="1"/>
            </a:p>
          </p:txBody>
        </p:sp>
        <p:sp>
          <p:nvSpPr>
            <p:cNvPr id="14350" name="Line 94"/>
            <p:cNvSpPr>
              <a:spLocks noChangeShapeType="1"/>
            </p:cNvSpPr>
            <p:nvPr/>
          </p:nvSpPr>
          <p:spPr bwMode="auto">
            <a:xfrm>
              <a:off x="3500" y="2201"/>
              <a:ext cx="299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vi-VN" b="1"/>
            </a:p>
          </p:txBody>
        </p:sp>
        <p:sp>
          <p:nvSpPr>
            <p:cNvPr id="14351" name="Line 95"/>
            <p:cNvSpPr>
              <a:spLocks noChangeShapeType="1"/>
            </p:cNvSpPr>
            <p:nvPr/>
          </p:nvSpPr>
          <p:spPr bwMode="auto">
            <a:xfrm>
              <a:off x="3884" y="1765"/>
              <a:ext cx="427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vi-VN" b="1"/>
            </a:p>
          </p:txBody>
        </p:sp>
        <p:sp>
          <p:nvSpPr>
            <p:cNvPr id="14352" name="Line 96"/>
            <p:cNvSpPr>
              <a:spLocks noChangeShapeType="1"/>
            </p:cNvSpPr>
            <p:nvPr/>
          </p:nvSpPr>
          <p:spPr bwMode="auto">
            <a:xfrm>
              <a:off x="4354" y="2201"/>
              <a:ext cx="298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vi-VN" b="1"/>
            </a:p>
          </p:txBody>
        </p:sp>
        <p:sp>
          <p:nvSpPr>
            <p:cNvPr id="14353" name="Line 97"/>
            <p:cNvSpPr>
              <a:spLocks noChangeShapeType="1"/>
            </p:cNvSpPr>
            <p:nvPr/>
          </p:nvSpPr>
          <p:spPr bwMode="auto">
            <a:xfrm>
              <a:off x="3244" y="2636"/>
              <a:ext cx="299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vi-VN" b="1"/>
            </a:p>
          </p:txBody>
        </p:sp>
        <p:sp>
          <p:nvSpPr>
            <p:cNvPr id="14354" name="Oval 98"/>
            <p:cNvSpPr>
              <a:spLocks noChangeArrowheads="1"/>
            </p:cNvSpPr>
            <p:nvPr/>
          </p:nvSpPr>
          <p:spPr bwMode="auto">
            <a:xfrm>
              <a:off x="2817" y="1148"/>
              <a:ext cx="256" cy="181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2000" b="1">
                  <a:latin typeface="+mj-lt"/>
                  <a:cs typeface="HY얕은샘물M"/>
                </a:rPr>
                <a:t>10</a:t>
              </a:r>
            </a:p>
          </p:txBody>
        </p:sp>
        <p:sp>
          <p:nvSpPr>
            <p:cNvPr id="14355" name="Oval 99"/>
            <p:cNvSpPr>
              <a:spLocks noChangeArrowheads="1"/>
            </p:cNvSpPr>
            <p:nvPr/>
          </p:nvSpPr>
          <p:spPr bwMode="auto">
            <a:xfrm>
              <a:off x="3713" y="1584"/>
              <a:ext cx="256" cy="181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2000" b="1">
                  <a:latin typeface="+mj-lt"/>
                  <a:cs typeface="HY얕은샘물M"/>
                </a:rPr>
                <a:t>40</a:t>
              </a:r>
            </a:p>
          </p:txBody>
        </p:sp>
        <p:sp>
          <p:nvSpPr>
            <p:cNvPr id="14356" name="Oval 100"/>
            <p:cNvSpPr>
              <a:spLocks noChangeArrowheads="1"/>
            </p:cNvSpPr>
            <p:nvPr/>
          </p:nvSpPr>
          <p:spPr bwMode="auto">
            <a:xfrm>
              <a:off x="3329" y="2019"/>
              <a:ext cx="256" cy="182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2000" b="1">
                  <a:latin typeface="+mj-lt"/>
                  <a:cs typeface="HY얕은샘물M"/>
                </a:rPr>
                <a:t>30</a:t>
              </a:r>
            </a:p>
          </p:txBody>
        </p:sp>
        <p:sp>
          <p:nvSpPr>
            <p:cNvPr id="14357" name="Oval 101"/>
            <p:cNvSpPr>
              <a:spLocks noChangeArrowheads="1"/>
            </p:cNvSpPr>
            <p:nvPr/>
          </p:nvSpPr>
          <p:spPr bwMode="auto">
            <a:xfrm>
              <a:off x="4183" y="2019"/>
              <a:ext cx="256" cy="182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2000" b="1">
                  <a:latin typeface="+mj-lt"/>
                  <a:cs typeface="HY얕은샘물M"/>
                </a:rPr>
                <a:t>45</a:t>
              </a:r>
            </a:p>
          </p:txBody>
        </p:sp>
        <p:sp>
          <p:nvSpPr>
            <p:cNvPr id="14358" name="Oval 102"/>
            <p:cNvSpPr>
              <a:spLocks noChangeArrowheads="1"/>
            </p:cNvSpPr>
            <p:nvPr/>
          </p:nvSpPr>
          <p:spPr bwMode="auto">
            <a:xfrm>
              <a:off x="3073" y="2455"/>
              <a:ext cx="256" cy="181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2000" b="1">
                  <a:latin typeface="+mj-lt"/>
                  <a:cs typeface="HY얕은샘물M"/>
                </a:rPr>
                <a:t>20</a:t>
              </a:r>
            </a:p>
          </p:txBody>
        </p:sp>
        <p:sp>
          <p:nvSpPr>
            <p:cNvPr id="14359" name="Oval 103"/>
            <p:cNvSpPr>
              <a:spLocks noChangeArrowheads="1"/>
            </p:cNvSpPr>
            <p:nvPr/>
          </p:nvSpPr>
          <p:spPr bwMode="auto">
            <a:xfrm>
              <a:off x="3671" y="2455"/>
              <a:ext cx="256" cy="181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2000" b="1">
                  <a:latin typeface="+mj-lt"/>
                  <a:cs typeface="HY얕은샘물M"/>
                </a:rPr>
                <a:t>35</a:t>
              </a:r>
            </a:p>
          </p:txBody>
        </p:sp>
        <p:sp>
          <p:nvSpPr>
            <p:cNvPr id="14360" name="Oval 104"/>
            <p:cNvSpPr>
              <a:spLocks noChangeArrowheads="1"/>
            </p:cNvSpPr>
            <p:nvPr/>
          </p:nvSpPr>
          <p:spPr bwMode="auto">
            <a:xfrm>
              <a:off x="3415" y="2890"/>
              <a:ext cx="256" cy="182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2000" b="1">
                  <a:latin typeface="+mj-lt"/>
                  <a:cs typeface="HY얕은샘물M"/>
                </a:rPr>
                <a:t>25</a:t>
              </a:r>
            </a:p>
          </p:txBody>
        </p:sp>
        <p:sp>
          <p:nvSpPr>
            <p:cNvPr id="14361" name="Oval 105"/>
            <p:cNvSpPr>
              <a:spLocks noChangeArrowheads="1"/>
            </p:cNvSpPr>
            <p:nvPr/>
          </p:nvSpPr>
          <p:spPr bwMode="auto">
            <a:xfrm>
              <a:off x="4524" y="2455"/>
              <a:ext cx="257" cy="181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2000" b="1">
                  <a:latin typeface="+mj-lt"/>
                  <a:cs typeface="HY얕은샘물M"/>
                </a:rPr>
                <a:t>60</a:t>
              </a:r>
            </a:p>
          </p:txBody>
        </p:sp>
        <p:sp>
          <p:nvSpPr>
            <p:cNvPr id="14362" name="Oval 106"/>
            <p:cNvSpPr>
              <a:spLocks noChangeArrowheads="1"/>
            </p:cNvSpPr>
            <p:nvPr/>
          </p:nvSpPr>
          <p:spPr bwMode="auto">
            <a:xfrm>
              <a:off x="1878" y="1584"/>
              <a:ext cx="256" cy="181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2000" b="1">
                  <a:latin typeface="+mj-lt"/>
                  <a:cs typeface="HY얕은샘물M"/>
                </a:rPr>
                <a:t>7</a:t>
              </a:r>
            </a:p>
          </p:txBody>
        </p:sp>
        <p:sp>
          <p:nvSpPr>
            <p:cNvPr id="14363" name="Oval 107"/>
            <p:cNvSpPr>
              <a:spLocks noChangeArrowheads="1"/>
            </p:cNvSpPr>
            <p:nvPr/>
          </p:nvSpPr>
          <p:spPr bwMode="auto">
            <a:xfrm>
              <a:off x="1323" y="2019"/>
              <a:ext cx="256" cy="182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2000" b="1">
                  <a:latin typeface="+mj-lt"/>
                  <a:cs typeface="HY얕은샘물M"/>
                </a:rPr>
                <a:t>3</a:t>
              </a:r>
            </a:p>
          </p:txBody>
        </p:sp>
        <p:sp>
          <p:nvSpPr>
            <p:cNvPr id="14364" name="Oval 108"/>
            <p:cNvSpPr>
              <a:spLocks noChangeArrowheads="1"/>
            </p:cNvSpPr>
            <p:nvPr/>
          </p:nvSpPr>
          <p:spPr bwMode="auto">
            <a:xfrm>
              <a:off x="2305" y="2019"/>
              <a:ext cx="256" cy="182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2000" b="1">
                  <a:latin typeface="+mj-lt"/>
                  <a:cs typeface="HY얕은샘물M"/>
                </a:rPr>
                <a:t>8</a:t>
              </a:r>
            </a:p>
          </p:txBody>
        </p:sp>
        <p:sp>
          <p:nvSpPr>
            <p:cNvPr id="14365" name="Oval 109"/>
            <p:cNvSpPr>
              <a:spLocks noChangeArrowheads="1"/>
            </p:cNvSpPr>
            <p:nvPr/>
          </p:nvSpPr>
          <p:spPr bwMode="auto">
            <a:xfrm>
              <a:off x="981" y="2455"/>
              <a:ext cx="257" cy="181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2000" b="1">
                  <a:latin typeface="+mj-lt"/>
                  <a:cs typeface="HY얕은샘물M"/>
                </a:rPr>
                <a:t>1</a:t>
              </a:r>
            </a:p>
          </p:txBody>
        </p:sp>
        <p:sp>
          <p:nvSpPr>
            <p:cNvPr id="14366" name="Oval 110"/>
            <p:cNvSpPr>
              <a:spLocks noChangeArrowheads="1"/>
            </p:cNvSpPr>
            <p:nvPr/>
          </p:nvSpPr>
          <p:spPr bwMode="auto">
            <a:xfrm>
              <a:off x="1579" y="2455"/>
              <a:ext cx="256" cy="181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2000" b="1">
                  <a:latin typeface="+mj-lt"/>
                  <a:cs typeface="HY얕은샘물M"/>
                </a:rPr>
                <a:t>5</a:t>
              </a:r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BM Công nghệ phần mềm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83</a:t>
            </a:fld>
            <a:endParaRPr lang="en-US"/>
          </a:p>
        </p:txBody>
      </p:sp>
      <p:sp>
        <p:nvSpPr>
          <p:cNvPr id="47" name="Rectangle 2"/>
          <p:cNvSpPr>
            <a:spLocks noGrp="1" noChangeArrowheads="1"/>
          </p:cNvSpPr>
          <p:nvPr>
            <p:ph type="title"/>
          </p:nvPr>
        </p:nvSpPr>
        <p:spPr>
          <a:xfrm>
            <a:off x="569883" y="470027"/>
            <a:ext cx="10642600" cy="70374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3200" smtClean="0">
                <a:cs typeface="HY얕은샘물M"/>
              </a:rPr>
              <a:t>Ví dụ - Chỉ số cân bằng của nút</a:t>
            </a:r>
          </a:p>
        </p:txBody>
      </p:sp>
    </p:spTree>
    <p:extLst>
      <p:ext uri="{BB962C8B-B14F-4D97-AF65-F5344CB8AC3E}">
        <p14:creationId xmlns:p14="http://schemas.microsoft.com/office/powerpoint/2010/main" val="42303348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2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2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23" grpId="0" build="p" autoUpdateAnimBg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BM Công nghệ phần mềm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84</a:t>
            </a:fld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16891" y="539500"/>
            <a:ext cx="10642600" cy="7037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Tổ chức dữ liệu (tt)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774700" y="1074985"/>
            <a:ext cx="10642600" cy="53848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  <a:tabLst>
                <a:tab pos="577850" algn="l"/>
                <a:tab pos="1263650" algn="l"/>
                <a:tab pos="1949450" algn="l"/>
                <a:tab pos="2971800" algn="l"/>
              </a:tabLst>
            </a:pPr>
            <a:r>
              <a:rPr lang="en-US" sz="2400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#define </a:t>
            </a:r>
            <a:r>
              <a:rPr lang="en-US" sz="2400" b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LH</a:t>
            </a:r>
            <a:r>
              <a:rPr lang="en-US" sz="2400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-1	</a:t>
            </a:r>
            <a:r>
              <a:rPr lang="en-US" sz="2400" i="1" smtClean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//cây con trái cao hơn</a:t>
            </a:r>
          </a:p>
          <a:p>
            <a:pPr marL="0" indent="0">
              <a:spcBef>
                <a:spcPts val="0"/>
              </a:spcBef>
              <a:buNone/>
              <a:tabLst>
                <a:tab pos="577850" algn="l"/>
                <a:tab pos="1263650" algn="l"/>
                <a:tab pos="1949450" algn="l"/>
                <a:tab pos="2971800" algn="l"/>
              </a:tabLst>
            </a:pPr>
            <a:r>
              <a:rPr lang="en-US" sz="2400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#define </a:t>
            </a:r>
            <a:r>
              <a:rPr lang="en-US" sz="2400" b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EH</a:t>
            </a:r>
            <a:r>
              <a:rPr lang="en-US" sz="2400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0	</a:t>
            </a:r>
            <a:r>
              <a:rPr lang="en-US" sz="2400" i="1" smtClean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//cây con trái bằng cây con phải</a:t>
            </a:r>
          </a:p>
          <a:p>
            <a:pPr marL="0" indent="0">
              <a:spcBef>
                <a:spcPts val="0"/>
              </a:spcBef>
              <a:buNone/>
              <a:tabLst>
                <a:tab pos="577850" algn="l"/>
                <a:tab pos="1263650" algn="l"/>
                <a:tab pos="1949450" algn="l"/>
                <a:tab pos="2971800" algn="l"/>
              </a:tabLst>
            </a:pPr>
            <a:r>
              <a:rPr lang="en-US" sz="2400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#define </a:t>
            </a:r>
            <a:r>
              <a:rPr lang="en-US" sz="2400" b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RH</a:t>
            </a:r>
            <a:r>
              <a:rPr lang="en-US" sz="2400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1	</a:t>
            </a:r>
            <a:r>
              <a:rPr lang="en-US" sz="2400" i="1" smtClean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//cây con phải cao hơn</a:t>
            </a:r>
          </a:p>
          <a:p>
            <a:pPr marL="0" indent="0">
              <a:spcBef>
                <a:spcPts val="0"/>
              </a:spcBef>
              <a:buNone/>
              <a:tabLst>
                <a:tab pos="577850" algn="l"/>
                <a:tab pos="1263650" algn="l"/>
                <a:tab pos="1949450" algn="l"/>
              </a:tabLst>
            </a:pPr>
            <a:r>
              <a:rPr lang="en-US" sz="2400" smtClean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typedef</a:t>
            </a:r>
            <a:r>
              <a:rPr lang="en-US" sz="2400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i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&lt;Kiểu dữ liệu của nút&gt;</a:t>
            </a:r>
            <a:r>
              <a:rPr lang="en-US" sz="2400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ItemType</a:t>
            </a:r>
            <a:r>
              <a:rPr lang="en-US" sz="2400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  <a:tabLst>
                <a:tab pos="577850" algn="l"/>
                <a:tab pos="1263650" algn="l"/>
                <a:tab pos="1949450" algn="l"/>
              </a:tabLst>
            </a:pPr>
            <a:r>
              <a:rPr lang="en-US" sz="2400" smtClean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sz="2400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AVLNode</a:t>
            </a:r>
            <a:r>
              <a:rPr lang="en-US" sz="2400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pPr marL="0" indent="0">
              <a:spcBef>
                <a:spcPts val="0"/>
              </a:spcBef>
              <a:buNone/>
              <a:tabLst>
                <a:tab pos="577850" algn="l"/>
                <a:tab pos="1263650" algn="l"/>
                <a:tab pos="1949450" algn="l"/>
              </a:tabLst>
            </a:pPr>
            <a:r>
              <a:rPr lang="en-US" sz="2400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400" i="1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pPr marL="0" indent="0">
              <a:spcBef>
                <a:spcPts val="0"/>
              </a:spcBef>
              <a:buNone/>
              <a:tabLst>
                <a:tab pos="577850" algn="l"/>
                <a:tab pos="1263650" algn="l"/>
                <a:tab pos="1949450" algn="l"/>
                <a:tab pos="2971800" algn="l"/>
              </a:tabLst>
            </a:pPr>
            <a:r>
              <a:rPr lang="en-US" sz="2400" i="1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400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b="1" smtClean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balFactor</a:t>
            </a:r>
            <a:r>
              <a:rPr lang="en-US" sz="2400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sz="2400" i="1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i="1" smtClean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//chỉ số cân bằng của cây</a:t>
            </a:r>
          </a:p>
          <a:p>
            <a:pPr marL="0" indent="0">
              <a:spcBef>
                <a:spcPts val="0"/>
              </a:spcBef>
              <a:buNone/>
              <a:tabLst>
                <a:tab pos="577850" algn="l"/>
                <a:tab pos="1263650" algn="l"/>
                <a:tab pos="1949450" algn="l"/>
              </a:tabLst>
            </a:pPr>
            <a:r>
              <a:rPr lang="en-US" sz="2400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400" b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ItemType </a:t>
            </a:r>
            <a:r>
              <a:rPr lang="en-US" sz="2400" b="1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Info</a:t>
            </a:r>
            <a:r>
              <a:rPr lang="en-US" sz="2400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  <a:tabLst>
                <a:tab pos="577850" algn="l"/>
                <a:tab pos="1263650" algn="l"/>
                <a:tab pos="1949450" algn="l"/>
              </a:tabLst>
            </a:pPr>
            <a:r>
              <a:rPr lang="en-US" sz="2400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AVLNode* </a:t>
            </a:r>
            <a:r>
              <a:rPr lang="en-US" sz="2400" b="1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Left</a:t>
            </a:r>
            <a:r>
              <a:rPr lang="en-US" sz="2400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  <a:tabLst>
                <a:tab pos="577850" algn="l"/>
                <a:tab pos="1263650" algn="l"/>
                <a:tab pos="1949450" algn="l"/>
              </a:tabLst>
            </a:pPr>
            <a:r>
              <a:rPr lang="en-US" sz="2400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AVLNode* </a:t>
            </a:r>
            <a:r>
              <a:rPr lang="en-US" sz="2400" b="1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Right</a:t>
            </a:r>
            <a:r>
              <a:rPr lang="en-US" sz="2400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  <a:tabLst>
                <a:tab pos="577850" algn="l"/>
                <a:tab pos="1263650" algn="l"/>
                <a:tab pos="1949450" algn="l"/>
              </a:tabLst>
            </a:pPr>
            <a:r>
              <a:rPr lang="en-US" sz="2400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400" b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  <a:tabLst>
                <a:tab pos="577850" algn="l"/>
                <a:tab pos="1263650" algn="l"/>
                <a:tab pos="1949450" algn="l"/>
              </a:tabLst>
            </a:pPr>
            <a:r>
              <a:rPr lang="en-US" sz="2400" smtClean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sz="2400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AVLTree</a:t>
            </a:r>
          </a:p>
          <a:p>
            <a:pPr marL="0" indent="0">
              <a:spcBef>
                <a:spcPts val="0"/>
              </a:spcBef>
              <a:buNone/>
              <a:tabLst>
                <a:tab pos="577850" algn="l"/>
                <a:tab pos="1263650" algn="l"/>
                <a:tab pos="1949450" algn="l"/>
              </a:tabLst>
            </a:pPr>
            <a:r>
              <a:rPr lang="en-US" sz="2400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	</a:t>
            </a:r>
          </a:p>
          <a:p>
            <a:pPr marL="0" indent="0">
              <a:spcBef>
                <a:spcPts val="0"/>
              </a:spcBef>
              <a:buNone/>
              <a:tabLst>
                <a:tab pos="577850" algn="l"/>
                <a:tab pos="1263650" algn="l"/>
                <a:tab pos="1949450" algn="l"/>
              </a:tabLst>
            </a:pPr>
            <a:r>
              <a:rPr lang="en-US" sz="2400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AVLNode* </a:t>
            </a:r>
            <a:r>
              <a:rPr lang="en-US" sz="2400" b="1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Root</a:t>
            </a:r>
            <a:r>
              <a:rPr lang="en-US" sz="2400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pPr marL="0" indent="0">
              <a:spcBef>
                <a:spcPts val="0"/>
              </a:spcBef>
              <a:buNone/>
              <a:tabLst>
                <a:tab pos="577850" algn="l"/>
                <a:tab pos="1263650" algn="l"/>
                <a:tab pos="1949450" algn="l"/>
              </a:tabLst>
            </a:pPr>
            <a:r>
              <a:rPr lang="en-US" sz="2400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400" b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  <a:tabLst>
                <a:tab pos="577850" algn="l"/>
                <a:tab pos="1263650" algn="l"/>
                <a:tab pos="1949450" algn="l"/>
              </a:tabLst>
            </a:pP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786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BM Công nghệ phần mềm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85</a:t>
            </a:fld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774700" y="599128"/>
            <a:ext cx="10642600" cy="7037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Cấp phát nút mới cho cây AVL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idx="1"/>
          </p:nvPr>
        </p:nvSpPr>
        <p:spPr>
          <a:xfrm>
            <a:off x="774700" y="1522020"/>
            <a:ext cx="10642600" cy="5384800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0"/>
              </a:spcBef>
              <a:buNone/>
              <a:tabLst>
                <a:tab pos="536575" algn="l"/>
                <a:tab pos="1074738" algn="l"/>
                <a:tab pos="1611313" algn="l"/>
              </a:tabLst>
            </a:pPr>
            <a:r>
              <a:rPr lang="vi-VN" sz="28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AVLNode</a:t>
            </a:r>
            <a:r>
              <a:rPr lang="vi-VN" sz="2800" dirty="0">
                <a:latin typeface="Consolas" panose="020B0609020204030204" pitchFamily="49" charset="0"/>
                <a:cs typeface="Consolas" panose="020B0609020204030204" pitchFamily="49" charset="0"/>
              </a:rPr>
              <a:t>* </a:t>
            </a:r>
            <a:r>
              <a:rPr lang="vi-VN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createAVLNode</a:t>
            </a:r>
            <a:r>
              <a:rPr lang="vi-VN" sz="2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vi-VN" sz="28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ItemType</a:t>
            </a:r>
            <a:r>
              <a:rPr lang="vi-VN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vi-VN" sz="280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sz="280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  <a:tabLst>
                <a:tab pos="536575" algn="l"/>
                <a:tab pos="1074738" algn="l"/>
                <a:tab pos="1611313" algn="l"/>
              </a:tabLst>
            </a:pPr>
            <a:r>
              <a:rPr lang="vi-VN" b="1" smtClean="0">
                <a:solidFill>
                  <a:srgbClr val="FF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vi-VN" sz="2800" b="1" dirty="0">
              <a:solidFill>
                <a:srgbClr val="FF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  <a:tabLst>
                <a:tab pos="536575" algn="l"/>
                <a:tab pos="1074738" algn="l"/>
                <a:tab pos="1611313" algn="l"/>
              </a:tabLst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vi-VN" sz="28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AVLNode</a:t>
            </a:r>
            <a:r>
              <a:rPr lang="vi-VN" sz="2800" dirty="0">
                <a:latin typeface="Consolas" panose="020B0609020204030204" pitchFamily="49" charset="0"/>
                <a:cs typeface="Consolas" panose="020B0609020204030204" pitchFamily="49" charset="0"/>
              </a:rPr>
              <a:t>* p = </a:t>
            </a:r>
            <a:r>
              <a:rPr lang="vi-VN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vi-VN" sz="28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AVLNode</a:t>
            </a:r>
            <a:r>
              <a:rPr lang="vi-VN" sz="2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  <a:tabLst>
                <a:tab pos="536575" algn="l"/>
                <a:tab pos="1074738" algn="l"/>
                <a:tab pos="1611313" algn="l"/>
              </a:tabLst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vi-VN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vi-VN" sz="2800" dirty="0">
                <a:latin typeface="Consolas" panose="020B0609020204030204" pitchFamily="49" charset="0"/>
                <a:cs typeface="Consolas" panose="020B0609020204030204" pitchFamily="49" charset="0"/>
              </a:rPr>
              <a:t>(p == </a:t>
            </a:r>
            <a:r>
              <a:rPr lang="vi-VN" sz="2800" b="1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vi-VN" sz="2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vi-VN" sz="28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  <a:tabLst>
                <a:tab pos="536575" algn="l"/>
                <a:tab pos="1074738" algn="l"/>
                <a:tab pos="1611313" algn="l"/>
              </a:tabLst>
            </a:pPr>
            <a:r>
              <a:rPr lang="fr-FR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fr-F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fr-FR" sz="2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FR" sz="2300" dirty="0">
                <a:latin typeface="Consolas" panose="020B0609020204030204" pitchFamily="49" charset="0"/>
                <a:cs typeface="Consolas" panose="020B0609020204030204" pitchFamily="49" charset="0"/>
              </a:rPr>
              <a:t>"\</a:t>
            </a:r>
            <a:r>
              <a:rPr lang="fr-FR" sz="2300" dirty="0" err="1">
                <a:latin typeface="Consolas" panose="020B0609020204030204" pitchFamily="49" charset="0"/>
                <a:cs typeface="Consolas" panose="020B0609020204030204" pitchFamily="49" charset="0"/>
              </a:rPr>
              <a:t>nKhong</a:t>
            </a:r>
            <a:r>
              <a:rPr lang="fr-FR" sz="2300" dirty="0">
                <a:latin typeface="Consolas" panose="020B0609020204030204" pitchFamily="49" charset="0"/>
                <a:cs typeface="Consolas" panose="020B0609020204030204" pitchFamily="49" charset="0"/>
              </a:rPr>
              <a:t> du bo nho cap </a:t>
            </a:r>
            <a:r>
              <a:rPr lang="fr-FR" sz="2300" dirty="0" err="1">
                <a:latin typeface="Consolas" panose="020B0609020204030204" pitchFamily="49" charset="0"/>
                <a:cs typeface="Consolas" panose="020B0609020204030204" pitchFamily="49" charset="0"/>
              </a:rPr>
              <a:t>phat</a:t>
            </a:r>
            <a:r>
              <a:rPr lang="fr-FR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FR" sz="2300" dirty="0" err="1">
                <a:latin typeface="Consolas" panose="020B0609020204030204" pitchFamily="49" charset="0"/>
                <a:cs typeface="Consolas" panose="020B0609020204030204" pitchFamily="49" charset="0"/>
              </a:rPr>
              <a:t>nut</a:t>
            </a:r>
            <a:r>
              <a:rPr lang="fr-FR" sz="2300" dirty="0">
                <a:latin typeface="Consolas" panose="020B0609020204030204" pitchFamily="49" charset="0"/>
                <a:cs typeface="Consolas" panose="020B0609020204030204" pitchFamily="49" charset="0"/>
              </a:rPr>
              <a:t> moi!"</a:t>
            </a:r>
            <a:r>
              <a:rPr lang="fr-FR" sz="28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  <a:tabLst>
                <a:tab pos="536575" algn="l"/>
                <a:tab pos="1074738" algn="l"/>
                <a:tab pos="1611313" algn="l"/>
              </a:tabLst>
            </a:pP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vi-VN" sz="2800" dirty="0">
                <a:latin typeface="Consolas" panose="020B0609020204030204" pitchFamily="49" charset="0"/>
                <a:cs typeface="Consolas" panose="020B0609020204030204" pitchFamily="49" charset="0"/>
              </a:rPr>
              <a:t>getch();</a:t>
            </a:r>
          </a:p>
          <a:p>
            <a:pPr marL="0" indent="0">
              <a:spcBef>
                <a:spcPts val="0"/>
              </a:spcBef>
              <a:buNone/>
              <a:tabLst>
                <a:tab pos="536575" algn="l"/>
                <a:tab pos="1074738" algn="l"/>
                <a:tab pos="1611313" algn="l"/>
              </a:tabLst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vi-VN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vi-VN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vi-VN" sz="2800" b="1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vi-VN" sz="2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  <a:tabLst>
                <a:tab pos="536575" algn="l"/>
                <a:tab pos="1074738" algn="l"/>
                <a:tab pos="1611313" algn="l"/>
              </a:tabLst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vi-VN" sz="28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  <a:tabLst>
                <a:tab pos="536575" algn="l"/>
                <a:tab pos="1074738" algn="l"/>
                <a:tab pos="1611313" algn="l"/>
              </a:tabLst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vi-VN" sz="28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vi-VN" sz="28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</a:t>
            </a:r>
            <a:r>
              <a:rPr lang="vi-VN" sz="2800" dirty="0">
                <a:latin typeface="Consolas" panose="020B0609020204030204" pitchFamily="49" charset="0"/>
                <a:cs typeface="Consolas" panose="020B0609020204030204" pitchFamily="49" charset="0"/>
              </a:rPr>
              <a:t>balFactor = 0;</a:t>
            </a:r>
          </a:p>
          <a:p>
            <a:pPr marL="0" indent="0">
              <a:spcBef>
                <a:spcPts val="0"/>
              </a:spcBef>
              <a:buNone/>
              <a:tabLst>
                <a:tab pos="536575" algn="l"/>
                <a:tab pos="1074738" algn="l"/>
                <a:tab pos="1611313" algn="l"/>
              </a:tabLst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vi-VN" sz="28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vi-VN" sz="28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</a:t>
            </a:r>
            <a:r>
              <a:rPr lang="vi-VN" sz="2800" dirty="0">
                <a:latin typeface="Consolas" panose="020B0609020204030204" pitchFamily="49" charset="0"/>
                <a:cs typeface="Consolas" panose="020B0609020204030204" pitchFamily="49" charset="0"/>
              </a:rPr>
              <a:t>Info = </a:t>
            </a:r>
            <a:r>
              <a:rPr lang="vi-V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vi-VN" sz="2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  <a:tabLst>
                <a:tab pos="536575" algn="l"/>
                <a:tab pos="1074738" algn="l"/>
                <a:tab pos="1611313" algn="l"/>
              </a:tabLst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vi-VN" sz="28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vi-VN" sz="28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</a:t>
            </a:r>
            <a:r>
              <a:rPr lang="vi-VN" sz="2800" dirty="0">
                <a:latin typeface="Consolas" panose="020B0609020204030204" pitchFamily="49" charset="0"/>
                <a:cs typeface="Consolas" panose="020B0609020204030204" pitchFamily="49" charset="0"/>
              </a:rPr>
              <a:t>Left = </a:t>
            </a:r>
            <a:r>
              <a:rPr lang="vi-VN" sz="2800" b="1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vi-VN" sz="2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  <a:tabLst>
                <a:tab pos="536575" algn="l"/>
                <a:tab pos="1074738" algn="l"/>
                <a:tab pos="1611313" algn="l"/>
              </a:tabLst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vi-VN" sz="28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vi-VN" sz="28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</a:t>
            </a:r>
            <a:r>
              <a:rPr lang="vi-VN" sz="2800" dirty="0">
                <a:latin typeface="Consolas" panose="020B0609020204030204" pitchFamily="49" charset="0"/>
                <a:cs typeface="Consolas" panose="020B0609020204030204" pitchFamily="49" charset="0"/>
              </a:rPr>
              <a:t>Right = </a:t>
            </a:r>
            <a:r>
              <a:rPr lang="vi-VN" sz="2800" b="1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vi-VN" sz="2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  <a:tabLst>
                <a:tab pos="536575" algn="l"/>
                <a:tab pos="1074738" algn="l"/>
                <a:tab pos="1611313" algn="l"/>
              </a:tabLst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vi-VN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vi-VN" sz="2800" dirty="0">
                <a:latin typeface="Consolas" panose="020B0609020204030204" pitchFamily="49" charset="0"/>
                <a:cs typeface="Consolas" panose="020B0609020204030204" pitchFamily="49" charset="0"/>
              </a:rPr>
              <a:t> p;</a:t>
            </a:r>
          </a:p>
          <a:p>
            <a:pPr marL="0" indent="0">
              <a:spcBef>
                <a:spcPts val="0"/>
              </a:spcBef>
              <a:buNone/>
              <a:tabLst>
                <a:tab pos="536575" algn="l"/>
                <a:tab pos="1074738" algn="l"/>
                <a:tab pos="1611313" algn="l"/>
              </a:tabLst>
            </a:pPr>
            <a:r>
              <a:rPr lang="vi-VN" b="1" dirty="0">
                <a:solidFill>
                  <a:srgbClr val="FF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vi-VN" sz="4000" b="1" dirty="0">
              <a:solidFill>
                <a:srgbClr val="FF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538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0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BM Công nghệ phần mềm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86</a:t>
            </a:fld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774700" y="549437"/>
            <a:ext cx="10642600" cy="7037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Khởi tạo cây AVL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774700" y="1431233"/>
            <a:ext cx="10642600" cy="5384800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  <a:tabLst>
                <a:tab pos="577850" algn="l"/>
                <a:tab pos="1263650" algn="l"/>
                <a:tab pos="1949450" algn="l"/>
              </a:tabLst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  <a:tabLst>
                <a:tab pos="577850" algn="l"/>
                <a:tab pos="1263650" algn="l"/>
                <a:tab pos="1949450" algn="l"/>
              </a:tabLst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initAVLTree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(AVLTree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avl)</a:t>
            </a:r>
          </a:p>
          <a:p>
            <a:pPr marL="0" indent="0">
              <a:spcBef>
                <a:spcPts val="0"/>
              </a:spcBef>
              <a:buNone/>
              <a:tabLst>
                <a:tab pos="577850" algn="l"/>
                <a:tab pos="1263650" algn="l"/>
                <a:tab pos="1949450" algn="l"/>
              </a:tabLst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  <a:tabLst>
                <a:tab pos="577850" algn="l"/>
                <a:tab pos="1263650" algn="l"/>
                <a:tab pos="1949450" algn="l"/>
              </a:tabLst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avl.Root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NULL;</a:t>
            </a:r>
          </a:p>
          <a:p>
            <a:pPr marL="0" indent="0">
              <a:spcBef>
                <a:spcPts val="0"/>
              </a:spcBef>
              <a:buNone/>
              <a:tabLst>
                <a:tab pos="577850" algn="l"/>
                <a:tab pos="1263650" algn="l"/>
                <a:tab pos="1949450" algn="l"/>
              </a:tabLst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43291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BM Công nghệ phần mềm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87</a:t>
            </a:fld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774700" y="549440"/>
            <a:ext cx="10642600" cy="703747"/>
          </a:xfrm>
        </p:spPr>
        <p:txBody>
          <a:bodyPr/>
          <a:lstStyle/>
          <a:p>
            <a:pPr eaLnBrk="1" hangingPunct="1"/>
            <a:r>
              <a:rPr lang="en-US" smtClean="0"/>
              <a:t>AVL Tree – Biểu diễn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774700" y="1431236"/>
            <a:ext cx="10642600" cy="5384800"/>
          </a:xfrm>
        </p:spPr>
        <p:txBody>
          <a:bodyPr>
            <a:normAutofit/>
          </a:bodyPr>
          <a:lstStyle/>
          <a:p>
            <a:pPr>
              <a:lnSpc>
                <a:spcPts val="3200"/>
              </a:lnSpc>
              <a:spcBef>
                <a:spcPts val="600"/>
              </a:spcBef>
            </a:pPr>
            <a:r>
              <a:rPr lang="en-US" sz="3000" dirty="0"/>
              <a:t>Các thao tác đặc trưng của cây AVL:</a:t>
            </a:r>
          </a:p>
          <a:p>
            <a:pPr lvl="1">
              <a:lnSpc>
                <a:spcPts val="3200"/>
              </a:lnSpc>
              <a:spcBef>
                <a:spcPts val="600"/>
              </a:spcBef>
            </a:pPr>
            <a:r>
              <a:rPr lang="en-US" sz="2600" b="1" dirty="0"/>
              <a:t>Thêm</a:t>
            </a:r>
            <a:r>
              <a:rPr lang="en-US" sz="2600" dirty="0"/>
              <a:t> một phần tử vào cây AVL</a:t>
            </a:r>
          </a:p>
          <a:p>
            <a:pPr lvl="1">
              <a:lnSpc>
                <a:spcPts val="3200"/>
              </a:lnSpc>
              <a:spcBef>
                <a:spcPts val="600"/>
              </a:spcBef>
            </a:pPr>
            <a:r>
              <a:rPr lang="en-US" sz="2600" b="1" dirty="0"/>
              <a:t>Xóa</a:t>
            </a:r>
            <a:r>
              <a:rPr lang="en-US" sz="2600" dirty="0"/>
              <a:t> một phần tử trên cây AVL</a:t>
            </a:r>
          </a:p>
          <a:p>
            <a:pPr lvl="1">
              <a:lnSpc>
                <a:spcPts val="3200"/>
              </a:lnSpc>
              <a:spcBef>
                <a:spcPts val="600"/>
              </a:spcBef>
            </a:pPr>
            <a:r>
              <a:rPr lang="en-US" sz="2600" b="1" dirty="0"/>
              <a:t>Cân bằng lại </a:t>
            </a:r>
            <a:r>
              <a:rPr lang="en-US" sz="2600" dirty="0"/>
              <a:t>một cây vừa bị mất cân bằng (</a:t>
            </a:r>
            <a:r>
              <a:rPr lang="en-US" sz="2600" b="1" dirty="0">
                <a:solidFill>
                  <a:srgbClr val="0000FF"/>
                </a:solidFill>
              </a:rPr>
              <a:t>Rotation</a:t>
            </a:r>
            <a:r>
              <a:rPr lang="en-US" sz="2600" dirty="0"/>
              <a:t>)</a:t>
            </a:r>
          </a:p>
          <a:p>
            <a:pPr>
              <a:lnSpc>
                <a:spcPts val="3200"/>
              </a:lnSpc>
              <a:spcBef>
                <a:spcPts val="600"/>
              </a:spcBef>
            </a:pPr>
            <a:r>
              <a:rPr lang="en-US" sz="3000" dirty="0"/>
              <a:t>Trường hợp </a:t>
            </a:r>
            <a:r>
              <a:rPr lang="en-US" sz="3000" b="1" dirty="0"/>
              <a:t>thêm </a:t>
            </a:r>
            <a:r>
              <a:rPr lang="en-US" sz="3000" dirty="0"/>
              <a:t>một phần tử trên cây AVL được thực hiện giống như thêm trên cây NPTK, tuy nhiên sau khi thêm phải cân bằng lại cây.</a:t>
            </a:r>
          </a:p>
          <a:p>
            <a:pPr>
              <a:lnSpc>
                <a:spcPts val="3200"/>
              </a:lnSpc>
              <a:spcBef>
                <a:spcPts val="600"/>
              </a:spcBef>
            </a:pPr>
            <a:r>
              <a:rPr lang="en-US" sz="3000" dirty="0"/>
              <a:t>Trường hợp </a:t>
            </a:r>
            <a:r>
              <a:rPr lang="en-US" sz="3000" b="1" dirty="0"/>
              <a:t>xóa</a:t>
            </a:r>
            <a:r>
              <a:rPr lang="en-US" sz="3000" dirty="0"/>
              <a:t> một phần tử trên cây AVL được thực hiện giống như hủy trên cây NPTK và cũng phải cân bằng lại cây.</a:t>
            </a:r>
          </a:p>
          <a:p>
            <a:pPr>
              <a:lnSpc>
                <a:spcPts val="3200"/>
              </a:lnSpc>
              <a:spcBef>
                <a:spcPts val="600"/>
              </a:spcBef>
            </a:pPr>
            <a:r>
              <a:rPr lang="en-US" sz="3000" dirty="0"/>
              <a:t>Việc </a:t>
            </a:r>
            <a:r>
              <a:rPr lang="en-US" sz="3000" b="1" dirty="0"/>
              <a:t>cân bằng lại </a:t>
            </a:r>
            <a:r>
              <a:rPr lang="en-US" sz="3000" dirty="0"/>
              <a:t>một</a:t>
            </a:r>
            <a:r>
              <a:rPr lang="en-US" sz="3000" b="1" dirty="0"/>
              <a:t> </a:t>
            </a:r>
            <a:r>
              <a:rPr lang="en-US" sz="3000" dirty="0"/>
              <a:t>cây</a:t>
            </a:r>
            <a:r>
              <a:rPr lang="en-US" sz="3000" b="1" dirty="0"/>
              <a:t> </a:t>
            </a:r>
            <a:r>
              <a:rPr lang="en-US" sz="3000" dirty="0"/>
              <a:t>sẽ phải thực hiện sao cho chỉ ảnh hưởng tối thiểu đến cây nhằm giảm thiểu chi phí cân bằng</a:t>
            </a:r>
          </a:p>
          <a:p>
            <a:pPr algn="just" eaLnBrk="1" hangingPunct="1">
              <a:lnSpc>
                <a:spcPct val="90000"/>
              </a:lnSpc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451587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BM Công nghệ phần mềm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88</a:t>
            </a:fld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774700" y="499741"/>
            <a:ext cx="10642600" cy="70374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/>
              <a:t>Các trường hợp mất cân bằng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774700" y="1381537"/>
            <a:ext cx="10642600" cy="53848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mtClean="0"/>
              <a:t>Không khảo sát tính cân bằng của 1 cây nhị phân bất kỳ mà chỉ quan tâm đến khả năng mất cân bằng xảy ra khi </a:t>
            </a:r>
            <a:r>
              <a:rPr lang="en-US" b="1" smtClean="0"/>
              <a:t>thêm </a:t>
            </a:r>
            <a:r>
              <a:rPr lang="en-US" smtClean="0"/>
              <a:t>hoặc </a:t>
            </a:r>
            <a:r>
              <a:rPr lang="en-US" b="1" smtClean="0"/>
              <a:t>xóa </a:t>
            </a:r>
            <a:r>
              <a:rPr lang="en-US" smtClean="0"/>
              <a:t>một nút trên cây AVL.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mtClean="0"/>
              <a:t>Các trường hợp mất cân bằng:</a:t>
            </a:r>
            <a:endParaRPr lang="en-US" sz="2800"/>
          </a:p>
          <a:p>
            <a:pPr marL="685800" lvl="1" indent="-34290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vi-VN" sz="2800"/>
              <a:t>Sau khi thêm</a:t>
            </a:r>
            <a:r>
              <a:rPr lang="en-US" sz="2800"/>
              <a:t> (xóa)</a:t>
            </a:r>
            <a:r>
              <a:rPr lang="vi-VN" sz="2800"/>
              <a:t> cây con </a:t>
            </a:r>
            <a:r>
              <a:rPr lang="vi-VN" sz="2800">
                <a:solidFill>
                  <a:srgbClr val="0066FF"/>
                </a:solidFill>
              </a:rPr>
              <a:t>trái lệch trái </a:t>
            </a:r>
            <a:r>
              <a:rPr lang="vi-VN" sz="2800"/>
              <a:t>(</a:t>
            </a:r>
            <a:r>
              <a:rPr lang="en-US" sz="2800"/>
              <a:t>left of left</a:t>
            </a:r>
            <a:r>
              <a:rPr lang="vi-VN" sz="2800"/>
              <a:t>)</a:t>
            </a:r>
          </a:p>
          <a:p>
            <a:pPr marL="685800" lvl="1" indent="-34290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vi-VN" sz="2800"/>
              <a:t>Sau khi thêm</a:t>
            </a:r>
            <a:r>
              <a:rPr lang="en-US" sz="2800"/>
              <a:t> (xóa)</a:t>
            </a:r>
            <a:r>
              <a:rPr lang="vi-VN" sz="2800"/>
              <a:t> cây con </a:t>
            </a:r>
            <a:r>
              <a:rPr lang="vi-VN" sz="2800">
                <a:solidFill>
                  <a:srgbClr val="0066FF"/>
                </a:solidFill>
              </a:rPr>
              <a:t>trái lệch phải </a:t>
            </a:r>
            <a:r>
              <a:rPr lang="vi-VN" sz="2800"/>
              <a:t>(</a:t>
            </a:r>
            <a:r>
              <a:rPr lang="en-US" sz="2800"/>
              <a:t>right of left</a:t>
            </a:r>
            <a:r>
              <a:rPr lang="vi-VN" sz="2800"/>
              <a:t>)</a:t>
            </a:r>
          </a:p>
          <a:p>
            <a:pPr marL="685800" lvl="1" indent="-34290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vi-VN" sz="2800"/>
              <a:t>Sau khi thêm</a:t>
            </a:r>
            <a:r>
              <a:rPr lang="en-US" sz="2800"/>
              <a:t> (xóa)</a:t>
            </a:r>
            <a:r>
              <a:rPr lang="vi-VN" sz="2800"/>
              <a:t> cây con </a:t>
            </a:r>
            <a:r>
              <a:rPr lang="vi-VN" sz="2800">
                <a:solidFill>
                  <a:srgbClr val="0066FF"/>
                </a:solidFill>
              </a:rPr>
              <a:t>phải lệch phải </a:t>
            </a:r>
            <a:r>
              <a:rPr lang="vi-VN" sz="2800"/>
              <a:t>(</a:t>
            </a:r>
            <a:r>
              <a:rPr lang="en-US" sz="2800"/>
              <a:t>right of right</a:t>
            </a:r>
            <a:r>
              <a:rPr lang="vi-VN" sz="2800"/>
              <a:t>)</a:t>
            </a:r>
          </a:p>
          <a:p>
            <a:pPr marL="685800" lvl="1" indent="-34290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vi-VN" sz="2800"/>
              <a:t>Sau khi thêm </a:t>
            </a:r>
            <a:r>
              <a:rPr lang="en-US" sz="2800"/>
              <a:t>(xóa)</a:t>
            </a:r>
            <a:r>
              <a:rPr lang="vi-VN" sz="2800"/>
              <a:t> cây con </a:t>
            </a:r>
            <a:r>
              <a:rPr lang="vi-VN" sz="2800">
                <a:solidFill>
                  <a:srgbClr val="0066FF"/>
                </a:solidFill>
              </a:rPr>
              <a:t>phải lệch trái </a:t>
            </a:r>
            <a:r>
              <a:rPr lang="vi-VN" sz="2800"/>
              <a:t>(</a:t>
            </a:r>
            <a:r>
              <a:rPr lang="en-US" sz="2800"/>
              <a:t>left of right</a:t>
            </a:r>
            <a:r>
              <a:rPr lang="vi-VN" sz="2800"/>
              <a:t>)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endParaRPr lang="en-US" sz="2400"/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872570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BM Công nghệ phần mềm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89</a:t>
            </a:fld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774700" y="549437"/>
            <a:ext cx="10642600" cy="70374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Các thao tác trên cây cân bằng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774700" y="1431233"/>
            <a:ext cx="10642600" cy="53848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20000"/>
              </a:lnSpc>
            </a:pPr>
            <a:r>
              <a:rPr lang="en-US" smtClean="0">
                <a:solidFill>
                  <a:srgbClr val="080808"/>
                </a:solidFill>
              </a:rPr>
              <a:t>Cây </a:t>
            </a:r>
            <a:r>
              <a:rPr lang="en-US" dirty="0" err="1">
                <a:solidFill>
                  <a:srgbClr val="080808"/>
                </a:solidFill>
              </a:rPr>
              <a:t>có</a:t>
            </a:r>
            <a:r>
              <a:rPr lang="en-US" dirty="0">
                <a:solidFill>
                  <a:srgbClr val="080808"/>
                </a:solidFill>
              </a:rPr>
              <a:t> </a:t>
            </a:r>
            <a:r>
              <a:rPr lang="en-US" dirty="0" err="1">
                <a:solidFill>
                  <a:srgbClr val="080808"/>
                </a:solidFill>
              </a:rPr>
              <a:t>khả</a:t>
            </a:r>
            <a:r>
              <a:rPr lang="en-US" dirty="0">
                <a:solidFill>
                  <a:srgbClr val="080808"/>
                </a:solidFill>
              </a:rPr>
              <a:t> </a:t>
            </a:r>
            <a:r>
              <a:rPr lang="en-US" dirty="0" err="1">
                <a:solidFill>
                  <a:srgbClr val="080808"/>
                </a:solidFill>
              </a:rPr>
              <a:t>năng</a:t>
            </a:r>
            <a:r>
              <a:rPr lang="en-US" dirty="0">
                <a:solidFill>
                  <a:srgbClr val="080808"/>
                </a:solidFill>
              </a:rPr>
              <a:t> </a:t>
            </a:r>
            <a:r>
              <a:rPr lang="en-US" dirty="0" err="1">
                <a:solidFill>
                  <a:srgbClr val="080808"/>
                </a:solidFill>
              </a:rPr>
              <a:t>mất</a:t>
            </a:r>
            <a:r>
              <a:rPr lang="en-US" dirty="0">
                <a:solidFill>
                  <a:srgbClr val="080808"/>
                </a:solidFill>
              </a:rPr>
              <a:t> </a:t>
            </a:r>
            <a:r>
              <a:rPr lang="en-US" dirty="0" err="1">
                <a:solidFill>
                  <a:srgbClr val="080808"/>
                </a:solidFill>
              </a:rPr>
              <a:t>cân</a:t>
            </a:r>
            <a:r>
              <a:rPr lang="en-US" dirty="0">
                <a:solidFill>
                  <a:srgbClr val="080808"/>
                </a:solidFill>
              </a:rPr>
              <a:t> </a:t>
            </a:r>
            <a:r>
              <a:rPr lang="en-US" dirty="0" err="1">
                <a:solidFill>
                  <a:srgbClr val="080808"/>
                </a:solidFill>
              </a:rPr>
              <a:t>bằng</a:t>
            </a:r>
            <a:r>
              <a:rPr lang="en-US" dirty="0">
                <a:solidFill>
                  <a:srgbClr val="080808"/>
                </a:solidFill>
              </a:rPr>
              <a:t> </a:t>
            </a:r>
            <a:r>
              <a:rPr lang="en-US" dirty="0" err="1">
                <a:solidFill>
                  <a:srgbClr val="080808"/>
                </a:solidFill>
              </a:rPr>
              <a:t>khi</a:t>
            </a:r>
            <a:r>
              <a:rPr lang="en-US" dirty="0">
                <a:solidFill>
                  <a:srgbClr val="080808"/>
                </a:solidFill>
              </a:rPr>
              <a:t> </a:t>
            </a:r>
            <a:r>
              <a:rPr lang="en-US" dirty="0" err="1">
                <a:solidFill>
                  <a:srgbClr val="080808"/>
                </a:solidFill>
              </a:rPr>
              <a:t>thay</a:t>
            </a:r>
            <a:r>
              <a:rPr lang="en-US" dirty="0">
                <a:solidFill>
                  <a:srgbClr val="080808"/>
                </a:solidFill>
              </a:rPr>
              <a:t> </a:t>
            </a:r>
            <a:r>
              <a:rPr lang="en-US" dirty="0" err="1">
                <a:solidFill>
                  <a:srgbClr val="080808"/>
                </a:solidFill>
              </a:rPr>
              <a:t>đổi</a:t>
            </a:r>
            <a:r>
              <a:rPr lang="en-US" dirty="0">
                <a:solidFill>
                  <a:srgbClr val="080808"/>
                </a:solidFill>
              </a:rPr>
              <a:t> </a:t>
            </a:r>
            <a:r>
              <a:rPr lang="en-US" dirty="0" err="1">
                <a:solidFill>
                  <a:srgbClr val="080808"/>
                </a:solidFill>
              </a:rPr>
              <a:t>chiều</a:t>
            </a:r>
            <a:r>
              <a:rPr lang="en-US" dirty="0">
                <a:solidFill>
                  <a:srgbClr val="080808"/>
                </a:solidFill>
              </a:rPr>
              <a:t> </a:t>
            </a:r>
            <a:r>
              <a:rPr lang="en-US" dirty="0" err="1">
                <a:solidFill>
                  <a:srgbClr val="080808"/>
                </a:solidFill>
              </a:rPr>
              <a:t>cao</a:t>
            </a:r>
            <a:r>
              <a:rPr lang="en-US" dirty="0">
                <a:solidFill>
                  <a:srgbClr val="080808"/>
                </a:solidFill>
              </a:rPr>
              <a:t>:</a:t>
            </a:r>
            <a:endParaRPr lang="en-US" sz="2800" dirty="0">
              <a:solidFill>
                <a:srgbClr val="080808"/>
              </a:solidFill>
            </a:endParaRPr>
          </a:p>
          <a:p>
            <a:pPr lvl="2">
              <a:lnSpc>
                <a:spcPct val="120000"/>
              </a:lnSpc>
              <a:buFont typeface="Wingdings" pitchFamily="2" charset="2"/>
              <a:buChar char="§"/>
            </a:pPr>
            <a:r>
              <a:rPr lang="en-US">
                <a:solidFill>
                  <a:srgbClr val="080808"/>
                </a:solidFill>
              </a:rPr>
              <a:t>Thêm bên trái </a:t>
            </a:r>
            <a:r>
              <a:rPr lang="en-US">
                <a:solidFill>
                  <a:srgbClr val="080808"/>
                </a:solidFill>
                <a:sym typeface="Wingdings" panose="05000000000000000000" pitchFamily="2" charset="2"/>
              </a:rPr>
              <a:t> </a:t>
            </a:r>
            <a:r>
              <a:rPr lang="en-US">
                <a:solidFill>
                  <a:srgbClr val="080808"/>
                </a:solidFill>
              </a:rPr>
              <a:t>Lệch </a:t>
            </a:r>
            <a:r>
              <a:rPr lang="en-US" err="1">
                <a:solidFill>
                  <a:srgbClr val="080808"/>
                </a:solidFill>
              </a:rPr>
              <a:t>nhánh</a:t>
            </a:r>
            <a:r>
              <a:rPr lang="en-US">
                <a:solidFill>
                  <a:srgbClr val="080808"/>
                </a:solidFill>
              </a:rPr>
              <a:t> trái</a:t>
            </a:r>
            <a:endParaRPr lang="en-US" dirty="0">
              <a:solidFill>
                <a:srgbClr val="080808"/>
              </a:solidFill>
            </a:endParaRPr>
          </a:p>
          <a:p>
            <a:pPr lvl="2">
              <a:lnSpc>
                <a:spcPct val="120000"/>
              </a:lnSpc>
              <a:buFont typeface="Wingdings" pitchFamily="2" charset="2"/>
              <a:buChar char="§"/>
            </a:pPr>
            <a:r>
              <a:rPr lang="en-US">
                <a:solidFill>
                  <a:srgbClr val="080808"/>
                </a:solidFill>
              </a:rPr>
              <a:t>Thêm bên phải </a:t>
            </a:r>
            <a:r>
              <a:rPr lang="en-US">
                <a:solidFill>
                  <a:srgbClr val="080808"/>
                </a:solidFill>
                <a:sym typeface="Wingdings" panose="05000000000000000000" pitchFamily="2" charset="2"/>
              </a:rPr>
              <a:t> </a:t>
            </a:r>
            <a:r>
              <a:rPr lang="en-US">
                <a:solidFill>
                  <a:srgbClr val="080808"/>
                </a:solidFill>
              </a:rPr>
              <a:t>Lệch </a:t>
            </a:r>
            <a:r>
              <a:rPr lang="en-US" err="1">
                <a:solidFill>
                  <a:srgbClr val="080808"/>
                </a:solidFill>
              </a:rPr>
              <a:t>nhánh</a:t>
            </a:r>
            <a:r>
              <a:rPr lang="en-US">
                <a:solidFill>
                  <a:srgbClr val="080808"/>
                </a:solidFill>
              </a:rPr>
              <a:t> phải</a:t>
            </a:r>
            <a:endParaRPr lang="en-US" dirty="0">
              <a:solidFill>
                <a:srgbClr val="080808"/>
              </a:solidFill>
            </a:endParaRPr>
          </a:p>
          <a:p>
            <a:pPr lvl="2">
              <a:lnSpc>
                <a:spcPct val="120000"/>
              </a:lnSpc>
              <a:buFont typeface="Wingdings" pitchFamily="2" charset="2"/>
              <a:buChar char="§"/>
            </a:pPr>
            <a:r>
              <a:rPr lang="en-US">
                <a:solidFill>
                  <a:srgbClr val="080808"/>
                </a:solidFill>
              </a:rPr>
              <a:t>Hủy bên phải </a:t>
            </a:r>
            <a:r>
              <a:rPr lang="en-US">
                <a:solidFill>
                  <a:srgbClr val="080808"/>
                </a:solidFill>
                <a:sym typeface="Wingdings" panose="05000000000000000000" pitchFamily="2" charset="2"/>
              </a:rPr>
              <a:t> </a:t>
            </a:r>
            <a:r>
              <a:rPr lang="en-US">
                <a:solidFill>
                  <a:srgbClr val="080808"/>
                </a:solidFill>
              </a:rPr>
              <a:t>Lệch </a:t>
            </a:r>
            <a:r>
              <a:rPr lang="en-US" err="1">
                <a:solidFill>
                  <a:srgbClr val="080808"/>
                </a:solidFill>
              </a:rPr>
              <a:t>nhánh</a:t>
            </a:r>
            <a:r>
              <a:rPr lang="en-US">
                <a:solidFill>
                  <a:srgbClr val="080808"/>
                </a:solidFill>
              </a:rPr>
              <a:t> trái</a:t>
            </a:r>
            <a:endParaRPr lang="en-US" dirty="0">
              <a:solidFill>
                <a:srgbClr val="080808"/>
              </a:solidFill>
            </a:endParaRPr>
          </a:p>
          <a:p>
            <a:pPr lvl="2">
              <a:lnSpc>
                <a:spcPct val="120000"/>
              </a:lnSpc>
              <a:buFont typeface="Wingdings" pitchFamily="2" charset="2"/>
              <a:buChar char="§"/>
            </a:pPr>
            <a:r>
              <a:rPr lang="en-US">
                <a:solidFill>
                  <a:srgbClr val="080808"/>
                </a:solidFill>
              </a:rPr>
              <a:t>Hủy bên trái </a:t>
            </a:r>
            <a:r>
              <a:rPr lang="en-US">
                <a:solidFill>
                  <a:srgbClr val="080808"/>
                </a:solidFill>
                <a:sym typeface="Wingdings" panose="05000000000000000000" pitchFamily="2" charset="2"/>
              </a:rPr>
              <a:t> </a:t>
            </a:r>
            <a:r>
              <a:rPr lang="en-US">
                <a:solidFill>
                  <a:srgbClr val="080808"/>
                </a:solidFill>
              </a:rPr>
              <a:t>Lệch </a:t>
            </a:r>
            <a:r>
              <a:rPr lang="en-US" err="1">
                <a:solidFill>
                  <a:srgbClr val="080808"/>
                </a:solidFill>
              </a:rPr>
              <a:t>nhánh</a:t>
            </a:r>
            <a:r>
              <a:rPr lang="en-US">
                <a:solidFill>
                  <a:srgbClr val="080808"/>
                </a:solidFill>
              </a:rPr>
              <a:t> phải</a:t>
            </a:r>
            <a:endParaRPr lang="en-US" dirty="0">
              <a:solidFill>
                <a:srgbClr val="080808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b="1" dirty="0" err="1">
                <a:solidFill>
                  <a:srgbClr val="080808"/>
                </a:solidFill>
              </a:rPr>
              <a:t>Cân</a:t>
            </a:r>
            <a:r>
              <a:rPr lang="en-US" b="1" dirty="0">
                <a:solidFill>
                  <a:srgbClr val="080808"/>
                </a:solidFill>
              </a:rPr>
              <a:t> </a:t>
            </a:r>
            <a:r>
              <a:rPr lang="en-US" b="1" dirty="0" err="1">
                <a:solidFill>
                  <a:srgbClr val="080808"/>
                </a:solidFill>
              </a:rPr>
              <a:t>bằng</a:t>
            </a:r>
            <a:r>
              <a:rPr lang="en-US" b="1" dirty="0">
                <a:solidFill>
                  <a:srgbClr val="080808"/>
                </a:solidFill>
              </a:rPr>
              <a:t> </a:t>
            </a:r>
            <a:r>
              <a:rPr lang="en-US" b="1" dirty="0" err="1">
                <a:solidFill>
                  <a:srgbClr val="080808"/>
                </a:solidFill>
              </a:rPr>
              <a:t>lại</a:t>
            </a:r>
            <a:r>
              <a:rPr lang="en-US" b="1" dirty="0">
                <a:solidFill>
                  <a:srgbClr val="080808"/>
                </a:solidFill>
              </a:rPr>
              <a:t> </a:t>
            </a:r>
            <a:r>
              <a:rPr lang="en-US" b="1" dirty="0" err="1" smtClean="0">
                <a:solidFill>
                  <a:srgbClr val="080808"/>
                </a:solidFill>
              </a:rPr>
              <a:t>cây</a:t>
            </a:r>
            <a:r>
              <a:rPr lang="en-US" b="1" dirty="0" smtClean="0">
                <a:solidFill>
                  <a:srgbClr val="080808"/>
                </a:solidFill>
              </a:rPr>
              <a:t>: </a:t>
            </a:r>
            <a:r>
              <a:rPr lang="en-US" dirty="0" err="1">
                <a:solidFill>
                  <a:srgbClr val="080808"/>
                </a:solidFill>
              </a:rPr>
              <a:t>tìm</a:t>
            </a:r>
            <a:r>
              <a:rPr lang="en-US" dirty="0">
                <a:solidFill>
                  <a:srgbClr val="080808"/>
                </a:solidFill>
              </a:rPr>
              <a:t> </a:t>
            </a:r>
            <a:r>
              <a:rPr lang="en-US" dirty="0" err="1">
                <a:solidFill>
                  <a:srgbClr val="080808"/>
                </a:solidFill>
              </a:rPr>
              <a:t>cách</a:t>
            </a:r>
            <a:r>
              <a:rPr lang="en-US" dirty="0">
                <a:solidFill>
                  <a:srgbClr val="080808"/>
                </a:solidFill>
              </a:rPr>
              <a:t> </a:t>
            </a:r>
            <a:r>
              <a:rPr lang="en-US" dirty="0" err="1">
                <a:solidFill>
                  <a:srgbClr val="080808"/>
                </a:solidFill>
              </a:rPr>
              <a:t>bố</a:t>
            </a:r>
            <a:r>
              <a:rPr lang="en-US" dirty="0">
                <a:solidFill>
                  <a:srgbClr val="080808"/>
                </a:solidFill>
              </a:rPr>
              <a:t> </a:t>
            </a:r>
            <a:r>
              <a:rPr lang="en-US" dirty="0" err="1">
                <a:solidFill>
                  <a:srgbClr val="080808"/>
                </a:solidFill>
              </a:rPr>
              <a:t>trí</a:t>
            </a:r>
            <a:r>
              <a:rPr lang="en-US" dirty="0">
                <a:solidFill>
                  <a:srgbClr val="080808"/>
                </a:solidFill>
              </a:rPr>
              <a:t> </a:t>
            </a:r>
            <a:r>
              <a:rPr lang="en-US" dirty="0" err="1">
                <a:solidFill>
                  <a:srgbClr val="080808"/>
                </a:solidFill>
              </a:rPr>
              <a:t>lại</a:t>
            </a:r>
            <a:r>
              <a:rPr lang="en-US" dirty="0">
                <a:solidFill>
                  <a:srgbClr val="080808"/>
                </a:solidFill>
              </a:rPr>
              <a:t> </a:t>
            </a:r>
            <a:r>
              <a:rPr lang="en-US" dirty="0" err="1">
                <a:solidFill>
                  <a:srgbClr val="080808"/>
                </a:solidFill>
              </a:rPr>
              <a:t>cây</a:t>
            </a:r>
            <a:r>
              <a:rPr lang="en-US" dirty="0">
                <a:solidFill>
                  <a:srgbClr val="080808"/>
                </a:solidFill>
              </a:rPr>
              <a:t> </a:t>
            </a:r>
            <a:r>
              <a:rPr lang="en-US" dirty="0" err="1">
                <a:solidFill>
                  <a:srgbClr val="080808"/>
                </a:solidFill>
              </a:rPr>
              <a:t>sao</a:t>
            </a:r>
            <a:r>
              <a:rPr lang="en-US" dirty="0">
                <a:solidFill>
                  <a:srgbClr val="080808"/>
                </a:solidFill>
              </a:rPr>
              <a:t> </a:t>
            </a:r>
            <a:r>
              <a:rPr lang="en-US" dirty="0" err="1">
                <a:solidFill>
                  <a:srgbClr val="080808"/>
                </a:solidFill>
              </a:rPr>
              <a:t>cho</a:t>
            </a:r>
            <a:r>
              <a:rPr lang="en-US" dirty="0">
                <a:solidFill>
                  <a:srgbClr val="080808"/>
                </a:solidFill>
              </a:rPr>
              <a:t> </a:t>
            </a:r>
            <a:r>
              <a:rPr lang="en-US" dirty="0" err="1">
                <a:solidFill>
                  <a:srgbClr val="080808"/>
                </a:solidFill>
              </a:rPr>
              <a:t>chiều</a:t>
            </a:r>
            <a:r>
              <a:rPr lang="en-US" dirty="0">
                <a:solidFill>
                  <a:srgbClr val="080808"/>
                </a:solidFill>
              </a:rPr>
              <a:t> </a:t>
            </a:r>
            <a:r>
              <a:rPr lang="en-US" dirty="0" err="1">
                <a:solidFill>
                  <a:srgbClr val="080808"/>
                </a:solidFill>
              </a:rPr>
              <a:t>cao</a:t>
            </a:r>
            <a:r>
              <a:rPr lang="en-US" dirty="0">
                <a:solidFill>
                  <a:srgbClr val="080808"/>
                </a:solidFill>
              </a:rPr>
              <a:t> 2 </a:t>
            </a:r>
            <a:r>
              <a:rPr lang="en-US" dirty="0" err="1">
                <a:solidFill>
                  <a:srgbClr val="080808"/>
                </a:solidFill>
              </a:rPr>
              <a:t>cây</a:t>
            </a:r>
            <a:r>
              <a:rPr lang="en-US" dirty="0">
                <a:solidFill>
                  <a:srgbClr val="080808"/>
                </a:solidFill>
              </a:rPr>
              <a:t> con </a:t>
            </a:r>
            <a:r>
              <a:rPr lang="en-US" dirty="0" err="1">
                <a:solidFill>
                  <a:srgbClr val="080808"/>
                </a:solidFill>
              </a:rPr>
              <a:t>cân</a:t>
            </a:r>
            <a:r>
              <a:rPr lang="en-US" dirty="0">
                <a:solidFill>
                  <a:srgbClr val="080808"/>
                </a:solidFill>
              </a:rPr>
              <a:t> </a:t>
            </a:r>
            <a:r>
              <a:rPr lang="en-US" dirty="0" err="1">
                <a:solidFill>
                  <a:srgbClr val="080808"/>
                </a:solidFill>
              </a:rPr>
              <a:t>đối</a:t>
            </a:r>
            <a:r>
              <a:rPr lang="en-US" dirty="0">
                <a:solidFill>
                  <a:srgbClr val="080808"/>
                </a:solidFill>
              </a:rPr>
              <a:t>:</a:t>
            </a:r>
            <a:endParaRPr lang="en-US" sz="2800" dirty="0">
              <a:solidFill>
                <a:srgbClr val="080808"/>
              </a:solidFill>
            </a:endParaRPr>
          </a:p>
          <a:p>
            <a:pPr lvl="2">
              <a:lnSpc>
                <a:spcPct val="120000"/>
              </a:lnSpc>
              <a:buFont typeface="Wingdings" pitchFamily="2" charset="2"/>
              <a:buChar char="§"/>
            </a:pPr>
            <a:r>
              <a:rPr lang="en-US" dirty="0" err="1">
                <a:solidFill>
                  <a:srgbClr val="080808"/>
                </a:solidFill>
              </a:rPr>
              <a:t>Kéo</a:t>
            </a:r>
            <a:r>
              <a:rPr lang="en-US" dirty="0">
                <a:solidFill>
                  <a:srgbClr val="080808"/>
                </a:solidFill>
              </a:rPr>
              <a:t> </a:t>
            </a:r>
            <a:r>
              <a:rPr lang="en-US" dirty="0" err="1">
                <a:solidFill>
                  <a:srgbClr val="080808"/>
                </a:solidFill>
              </a:rPr>
              <a:t>nhánh</a:t>
            </a:r>
            <a:r>
              <a:rPr lang="en-US" dirty="0">
                <a:solidFill>
                  <a:srgbClr val="080808"/>
                </a:solidFill>
              </a:rPr>
              <a:t> </a:t>
            </a:r>
            <a:r>
              <a:rPr lang="en-US" dirty="0" err="1">
                <a:solidFill>
                  <a:srgbClr val="080808"/>
                </a:solidFill>
              </a:rPr>
              <a:t>cao</a:t>
            </a:r>
            <a:r>
              <a:rPr lang="en-US" dirty="0">
                <a:solidFill>
                  <a:srgbClr val="080808"/>
                </a:solidFill>
              </a:rPr>
              <a:t> </a:t>
            </a:r>
            <a:r>
              <a:rPr lang="en-US" dirty="0" err="1">
                <a:solidFill>
                  <a:srgbClr val="080808"/>
                </a:solidFill>
              </a:rPr>
              <a:t>bù</a:t>
            </a:r>
            <a:r>
              <a:rPr lang="en-US" dirty="0">
                <a:solidFill>
                  <a:srgbClr val="080808"/>
                </a:solidFill>
              </a:rPr>
              <a:t> </a:t>
            </a:r>
            <a:r>
              <a:rPr lang="en-US" dirty="0" err="1">
                <a:solidFill>
                  <a:srgbClr val="080808"/>
                </a:solidFill>
              </a:rPr>
              <a:t>cho</a:t>
            </a:r>
            <a:r>
              <a:rPr lang="en-US" dirty="0">
                <a:solidFill>
                  <a:srgbClr val="080808"/>
                </a:solidFill>
              </a:rPr>
              <a:t> </a:t>
            </a:r>
            <a:r>
              <a:rPr lang="en-US" dirty="0" err="1">
                <a:solidFill>
                  <a:srgbClr val="080808"/>
                </a:solidFill>
              </a:rPr>
              <a:t>nhánh</a:t>
            </a:r>
            <a:r>
              <a:rPr lang="en-US" dirty="0">
                <a:solidFill>
                  <a:srgbClr val="080808"/>
                </a:solidFill>
              </a:rPr>
              <a:t> </a:t>
            </a:r>
            <a:r>
              <a:rPr lang="en-US" dirty="0" err="1">
                <a:solidFill>
                  <a:srgbClr val="080808"/>
                </a:solidFill>
              </a:rPr>
              <a:t>thấp</a:t>
            </a:r>
            <a:endParaRPr lang="en-US" dirty="0">
              <a:solidFill>
                <a:srgbClr val="080808"/>
              </a:solidFill>
            </a:endParaRPr>
          </a:p>
          <a:p>
            <a:pPr lvl="2">
              <a:lnSpc>
                <a:spcPct val="120000"/>
              </a:lnSpc>
              <a:buFont typeface="Wingdings" pitchFamily="2" charset="2"/>
              <a:buChar char="§"/>
            </a:pPr>
            <a:r>
              <a:rPr lang="en-US" dirty="0" err="1">
                <a:solidFill>
                  <a:srgbClr val="080808"/>
                </a:solidFill>
              </a:rPr>
              <a:t>Phải</a:t>
            </a:r>
            <a:r>
              <a:rPr lang="en-US" dirty="0">
                <a:solidFill>
                  <a:srgbClr val="080808"/>
                </a:solidFill>
              </a:rPr>
              <a:t> </a:t>
            </a:r>
            <a:r>
              <a:rPr lang="en-US" dirty="0" err="1">
                <a:solidFill>
                  <a:srgbClr val="080808"/>
                </a:solidFill>
              </a:rPr>
              <a:t>bảo</a:t>
            </a:r>
            <a:r>
              <a:rPr lang="en-US" dirty="0">
                <a:solidFill>
                  <a:srgbClr val="080808"/>
                </a:solidFill>
              </a:rPr>
              <a:t> </a:t>
            </a:r>
            <a:r>
              <a:rPr lang="en-US" dirty="0" err="1">
                <a:solidFill>
                  <a:srgbClr val="080808"/>
                </a:solidFill>
              </a:rPr>
              <a:t>đảm</a:t>
            </a:r>
            <a:r>
              <a:rPr lang="en-US" dirty="0">
                <a:solidFill>
                  <a:srgbClr val="080808"/>
                </a:solidFill>
              </a:rPr>
              <a:t> </a:t>
            </a:r>
            <a:r>
              <a:rPr lang="en-US" dirty="0" err="1">
                <a:solidFill>
                  <a:srgbClr val="080808"/>
                </a:solidFill>
              </a:rPr>
              <a:t>cây</a:t>
            </a:r>
            <a:r>
              <a:rPr lang="en-US" dirty="0">
                <a:solidFill>
                  <a:srgbClr val="080808"/>
                </a:solidFill>
              </a:rPr>
              <a:t> </a:t>
            </a:r>
            <a:r>
              <a:rPr lang="en-US" dirty="0" err="1">
                <a:solidFill>
                  <a:srgbClr val="080808"/>
                </a:solidFill>
              </a:rPr>
              <a:t>vẫn</a:t>
            </a:r>
            <a:r>
              <a:rPr lang="en-US" dirty="0">
                <a:solidFill>
                  <a:srgbClr val="080808"/>
                </a:solidFill>
              </a:rPr>
              <a:t> </a:t>
            </a:r>
            <a:r>
              <a:rPr lang="en-US" err="1">
                <a:solidFill>
                  <a:srgbClr val="080808"/>
                </a:solidFill>
              </a:rPr>
              <a:t>là</a:t>
            </a:r>
            <a:r>
              <a:rPr lang="en-US">
                <a:solidFill>
                  <a:srgbClr val="080808"/>
                </a:solidFill>
              </a:rPr>
              <a:t> cây AVL.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62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847528" y="1493839"/>
            <a:ext cx="4378650" cy="4745039"/>
            <a:chOff x="1847528" y="1493839"/>
            <a:chExt cx="4378650" cy="4745039"/>
          </a:xfrm>
        </p:grpSpPr>
        <p:grpSp>
          <p:nvGrpSpPr>
            <p:cNvPr id="282682" name="Group 58"/>
            <p:cNvGrpSpPr>
              <a:grpSpLocks/>
            </p:cNvGrpSpPr>
            <p:nvPr/>
          </p:nvGrpSpPr>
          <p:grpSpPr bwMode="auto">
            <a:xfrm>
              <a:off x="1919289" y="1493839"/>
              <a:ext cx="4306889" cy="4745039"/>
              <a:chOff x="353" y="527"/>
              <a:chExt cx="2713" cy="2989"/>
            </a:xfrm>
          </p:grpSpPr>
          <p:sp>
            <p:nvSpPr>
              <p:cNvPr id="282683" name="Oval 59"/>
              <p:cNvSpPr>
                <a:spLocks noChangeArrowheads="1"/>
              </p:cNvSpPr>
              <p:nvPr/>
            </p:nvSpPr>
            <p:spPr bwMode="auto">
              <a:xfrm>
                <a:off x="1881" y="527"/>
                <a:ext cx="461" cy="403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/>
                  <a:t>T</a:t>
                </a:r>
              </a:p>
            </p:txBody>
          </p:sp>
          <p:sp>
            <p:nvSpPr>
              <p:cNvPr id="282684" name="Oval 60"/>
              <p:cNvSpPr>
                <a:spLocks noChangeArrowheads="1"/>
              </p:cNvSpPr>
              <p:nvPr/>
            </p:nvSpPr>
            <p:spPr bwMode="auto">
              <a:xfrm>
                <a:off x="2605" y="1253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/>
                  <a:t>R</a:t>
                </a:r>
              </a:p>
            </p:txBody>
          </p:sp>
          <p:sp>
            <p:nvSpPr>
              <p:cNvPr id="282685" name="Oval 61"/>
              <p:cNvSpPr>
                <a:spLocks noChangeArrowheads="1"/>
              </p:cNvSpPr>
              <p:nvPr/>
            </p:nvSpPr>
            <p:spPr bwMode="auto">
              <a:xfrm>
                <a:off x="1191" y="1253"/>
                <a:ext cx="461" cy="403"/>
              </a:xfrm>
              <a:prstGeom prst="ellipse">
                <a:avLst/>
              </a:prstGeom>
              <a:solidFill>
                <a:srgbClr val="FFFF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/>
                  <a:t>T1</a:t>
                </a:r>
              </a:p>
            </p:txBody>
          </p:sp>
          <p:sp>
            <p:nvSpPr>
              <p:cNvPr id="282686" name="Oval 62"/>
              <p:cNvSpPr>
                <a:spLocks noChangeArrowheads="1"/>
              </p:cNvSpPr>
              <p:nvPr/>
            </p:nvSpPr>
            <p:spPr bwMode="auto">
              <a:xfrm>
                <a:off x="1674" y="2149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/>
                  <a:t>R1</a:t>
                </a:r>
              </a:p>
            </p:txBody>
          </p:sp>
          <p:sp>
            <p:nvSpPr>
              <p:cNvPr id="282687" name="Oval 63"/>
              <p:cNvSpPr>
                <a:spLocks noChangeArrowheads="1"/>
              </p:cNvSpPr>
              <p:nvPr/>
            </p:nvSpPr>
            <p:spPr bwMode="auto">
              <a:xfrm>
                <a:off x="677" y="2152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/>
                  <a:t>L1</a:t>
                </a:r>
              </a:p>
            </p:txBody>
          </p:sp>
          <p:sp>
            <p:nvSpPr>
              <p:cNvPr id="282688" name="Oval 64"/>
              <p:cNvSpPr>
                <a:spLocks noChangeArrowheads="1"/>
              </p:cNvSpPr>
              <p:nvPr/>
            </p:nvSpPr>
            <p:spPr bwMode="auto">
              <a:xfrm>
                <a:off x="1026" y="3113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/>
                  <a:t>R12</a:t>
                </a:r>
              </a:p>
            </p:txBody>
          </p:sp>
          <p:sp>
            <p:nvSpPr>
              <p:cNvPr id="282689" name="Oval 65"/>
              <p:cNvSpPr>
                <a:spLocks noChangeArrowheads="1"/>
              </p:cNvSpPr>
              <p:nvPr/>
            </p:nvSpPr>
            <p:spPr bwMode="auto">
              <a:xfrm>
                <a:off x="353" y="3113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/>
                  <a:t>L12</a:t>
                </a:r>
              </a:p>
            </p:txBody>
          </p:sp>
          <p:sp>
            <p:nvSpPr>
              <p:cNvPr id="282690" name="Line 66"/>
              <p:cNvSpPr>
                <a:spLocks noChangeShapeType="1"/>
              </p:cNvSpPr>
              <p:nvPr/>
            </p:nvSpPr>
            <p:spPr bwMode="auto">
              <a:xfrm flipH="1">
                <a:off x="1561" y="935"/>
                <a:ext cx="561" cy="3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2691" name="Line 67"/>
              <p:cNvSpPr>
                <a:spLocks noChangeShapeType="1"/>
              </p:cNvSpPr>
              <p:nvPr/>
            </p:nvSpPr>
            <p:spPr bwMode="auto">
              <a:xfrm>
                <a:off x="2122" y="935"/>
                <a:ext cx="590" cy="3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2692" name="Line 68"/>
              <p:cNvSpPr>
                <a:spLocks noChangeShapeType="1"/>
              </p:cNvSpPr>
              <p:nvPr/>
            </p:nvSpPr>
            <p:spPr bwMode="auto">
              <a:xfrm>
                <a:off x="1441" y="1661"/>
                <a:ext cx="440" cy="47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2693" name="Line 69"/>
              <p:cNvSpPr>
                <a:spLocks noChangeShapeType="1"/>
              </p:cNvSpPr>
              <p:nvPr/>
            </p:nvSpPr>
            <p:spPr bwMode="auto">
              <a:xfrm flipH="1">
                <a:off x="987" y="1661"/>
                <a:ext cx="454" cy="5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2694" name="Line 70"/>
              <p:cNvSpPr>
                <a:spLocks noChangeShapeType="1"/>
              </p:cNvSpPr>
              <p:nvPr/>
            </p:nvSpPr>
            <p:spPr bwMode="auto">
              <a:xfrm flipH="1">
                <a:off x="625" y="2563"/>
                <a:ext cx="272" cy="5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2695" name="Line 71"/>
              <p:cNvSpPr>
                <a:spLocks noChangeShapeType="1"/>
              </p:cNvSpPr>
              <p:nvPr/>
            </p:nvSpPr>
            <p:spPr bwMode="auto">
              <a:xfrm>
                <a:off x="897" y="2563"/>
                <a:ext cx="317" cy="5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82711" name="Text Box 87"/>
            <p:cNvSpPr txBox="1">
              <a:spLocks noChangeArrowheads="1"/>
            </p:cNvSpPr>
            <p:nvPr/>
          </p:nvSpPr>
          <p:spPr bwMode="auto">
            <a:xfrm>
              <a:off x="1847528" y="1556792"/>
              <a:ext cx="2304802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 dirty="0">
                  <a:solidFill>
                    <a:srgbClr val="FF0000"/>
                  </a:solidFill>
                </a:rPr>
                <a:t>TH1: Left-Left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740525" y="1337797"/>
            <a:ext cx="3865564" cy="4899492"/>
            <a:chOff x="6740525" y="1337797"/>
            <a:chExt cx="3865564" cy="4899492"/>
          </a:xfrm>
        </p:grpSpPr>
        <p:grpSp>
          <p:nvGrpSpPr>
            <p:cNvPr id="282696" name="Group 72"/>
            <p:cNvGrpSpPr>
              <a:grpSpLocks/>
            </p:cNvGrpSpPr>
            <p:nvPr/>
          </p:nvGrpSpPr>
          <p:grpSpPr bwMode="auto">
            <a:xfrm>
              <a:off x="6740525" y="1793876"/>
              <a:ext cx="3865564" cy="4443413"/>
              <a:chOff x="623" y="535"/>
              <a:chExt cx="2435" cy="2799"/>
            </a:xfrm>
          </p:grpSpPr>
          <p:sp>
            <p:nvSpPr>
              <p:cNvPr id="282697" name="Oval 73"/>
              <p:cNvSpPr>
                <a:spLocks noChangeArrowheads="1"/>
              </p:cNvSpPr>
              <p:nvPr/>
            </p:nvSpPr>
            <p:spPr bwMode="auto">
              <a:xfrm>
                <a:off x="1881" y="535"/>
                <a:ext cx="461" cy="403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/>
                  <a:t>T</a:t>
                </a:r>
              </a:p>
            </p:txBody>
          </p:sp>
          <p:sp>
            <p:nvSpPr>
              <p:cNvPr id="282698" name="Oval 74"/>
              <p:cNvSpPr>
                <a:spLocks noChangeArrowheads="1"/>
              </p:cNvSpPr>
              <p:nvPr/>
            </p:nvSpPr>
            <p:spPr bwMode="auto">
              <a:xfrm>
                <a:off x="2597" y="1261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/>
                  <a:t>R</a:t>
                </a:r>
              </a:p>
            </p:txBody>
          </p:sp>
          <p:sp>
            <p:nvSpPr>
              <p:cNvPr id="282699" name="Oval 75"/>
              <p:cNvSpPr>
                <a:spLocks noChangeArrowheads="1"/>
              </p:cNvSpPr>
              <p:nvPr/>
            </p:nvSpPr>
            <p:spPr bwMode="auto">
              <a:xfrm>
                <a:off x="1191" y="1261"/>
                <a:ext cx="461" cy="403"/>
              </a:xfrm>
              <a:prstGeom prst="ellipse">
                <a:avLst/>
              </a:prstGeom>
              <a:solidFill>
                <a:srgbClr val="FFFF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/>
                  <a:t>T1</a:t>
                </a:r>
              </a:p>
            </p:txBody>
          </p:sp>
          <p:sp>
            <p:nvSpPr>
              <p:cNvPr id="282700" name="Oval 76"/>
              <p:cNvSpPr>
                <a:spLocks noChangeArrowheads="1"/>
              </p:cNvSpPr>
              <p:nvPr/>
            </p:nvSpPr>
            <p:spPr bwMode="auto">
              <a:xfrm>
                <a:off x="1666" y="2123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/>
                  <a:t>T2</a:t>
                </a:r>
              </a:p>
            </p:txBody>
          </p:sp>
          <p:sp>
            <p:nvSpPr>
              <p:cNvPr id="282701" name="Oval 77"/>
              <p:cNvSpPr>
                <a:spLocks noChangeArrowheads="1"/>
              </p:cNvSpPr>
              <p:nvPr/>
            </p:nvSpPr>
            <p:spPr bwMode="auto">
              <a:xfrm>
                <a:off x="623" y="2168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/>
                  <a:t>L1</a:t>
                </a:r>
              </a:p>
            </p:txBody>
          </p:sp>
          <p:sp>
            <p:nvSpPr>
              <p:cNvPr id="282702" name="Oval 78"/>
              <p:cNvSpPr>
                <a:spLocks noChangeArrowheads="1"/>
              </p:cNvSpPr>
              <p:nvPr/>
            </p:nvSpPr>
            <p:spPr bwMode="auto">
              <a:xfrm>
                <a:off x="2122" y="2928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/>
                  <a:t>R21</a:t>
                </a:r>
              </a:p>
            </p:txBody>
          </p:sp>
          <p:sp>
            <p:nvSpPr>
              <p:cNvPr id="282703" name="Oval 79"/>
              <p:cNvSpPr>
                <a:spLocks noChangeArrowheads="1"/>
              </p:cNvSpPr>
              <p:nvPr/>
            </p:nvSpPr>
            <p:spPr bwMode="auto">
              <a:xfrm>
                <a:off x="1306" y="2931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/>
                  <a:t>L21</a:t>
                </a:r>
              </a:p>
            </p:txBody>
          </p:sp>
          <p:sp>
            <p:nvSpPr>
              <p:cNvPr id="282704" name="Line 80"/>
              <p:cNvSpPr>
                <a:spLocks noChangeShapeType="1"/>
              </p:cNvSpPr>
              <p:nvPr/>
            </p:nvSpPr>
            <p:spPr bwMode="auto">
              <a:xfrm flipH="1">
                <a:off x="1442" y="935"/>
                <a:ext cx="680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2705" name="Line 81"/>
              <p:cNvSpPr>
                <a:spLocks noChangeShapeType="1"/>
              </p:cNvSpPr>
              <p:nvPr/>
            </p:nvSpPr>
            <p:spPr bwMode="auto">
              <a:xfrm>
                <a:off x="2122" y="935"/>
                <a:ext cx="680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2706" name="Line 82"/>
              <p:cNvSpPr>
                <a:spLocks noChangeShapeType="1"/>
              </p:cNvSpPr>
              <p:nvPr/>
            </p:nvSpPr>
            <p:spPr bwMode="auto">
              <a:xfrm>
                <a:off x="1417" y="1661"/>
                <a:ext cx="454" cy="4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2707" name="Line 83"/>
              <p:cNvSpPr>
                <a:spLocks noChangeShapeType="1"/>
              </p:cNvSpPr>
              <p:nvPr/>
            </p:nvSpPr>
            <p:spPr bwMode="auto">
              <a:xfrm flipH="1">
                <a:off x="873" y="1661"/>
                <a:ext cx="544" cy="4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2708" name="Line 84"/>
              <p:cNvSpPr>
                <a:spLocks noChangeShapeType="1"/>
              </p:cNvSpPr>
              <p:nvPr/>
            </p:nvSpPr>
            <p:spPr bwMode="auto">
              <a:xfrm flipH="1">
                <a:off x="1578" y="2515"/>
                <a:ext cx="329" cy="4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2709" name="Line 85"/>
              <p:cNvSpPr>
                <a:spLocks noChangeShapeType="1"/>
              </p:cNvSpPr>
              <p:nvPr/>
            </p:nvSpPr>
            <p:spPr bwMode="auto">
              <a:xfrm>
                <a:off x="1895" y="2515"/>
                <a:ext cx="412" cy="4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82712" name="Text Box 88"/>
            <p:cNvSpPr txBox="1">
              <a:spLocks noChangeArrowheads="1"/>
            </p:cNvSpPr>
            <p:nvPr/>
          </p:nvSpPr>
          <p:spPr bwMode="auto">
            <a:xfrm>
              <a:off x="7790707" y="1337797"/>
              <a:ext cx="2592288" cy="8996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 dirty="0">
                  <a:solidFill>
                    <a:srgbClr val="FF0000"/>
                  </a:solidFill>
                </a:rPr>
                <a:t>TH2: Left-Right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BM Công nghệ phần mềm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90</a:t>
            </a:fld>
            <a:endParaRPr lang="en-US"/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>
          <a:xfrm>
            <a:off x="774700" y="459984"/>
            <a:ext cx="10642600" cy="70374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200"/>
              <a:t>Các trường hợp mất cân bằng do lệch trái</a:t>
            </a:r>
          </a:p>
        </p:txBody>
      </p:sp>
      <p:sp>
        <p:nvSpPr>
          <p:cNvPr id="38" name="Text Box 86"/>
          <p:cNvSpPr txBox="1">
            <a:spLocks noChangeArrowheads="1"/>
          </p:cNvSpPr>
          <p:nvPr/>
        </p:nvSpPr>
        <p:spPr bwMode="auto">
          <a:xfrm>
            <a:off x="777083" y="921527"/>
            <a:ext cx="61198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en-US" sz="2800" b="1">
                <a:solidFill>
                  <a:srgbClr val="0000FF"/>
                </a:solidFill>
              </a:rPr>
              <a:t>Cây mất cân bằng tại nút T</a:t>
            </a:r>
          </a:p>
        </p:txBody>
      </p:sp>
    </p:spTree>
    <p:extLst>
      <p:ext uri="{BB962C8B-B14F-4D97-AF65-F5344CB8AC3E}">
        <p14:creationId xmlns:p14="http://schemas.microsoft.com/office/powerpoint/2010/main" val="2403157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706" name="Group 58"/>
          <p:cNvGrpSpPr>
            <a:grpSpLocks/>
          </p:cNvGrpSpPr>
          <p:nvPr/>
        </p:nvGrpSpPr>
        <p:grpSpPr bwMode="auto">
          <a:xfrm>
            <a:off x="1210533" y="2019301"/>
            <a:ext cx="4203700" cy="4264027"/>
            <a:chOff x="451" y="535"/>
            <a:chExt cx="2648" cy="2686"/>
          </a:xfrm>
        </p:grpSpPr>
        <p:sp>
          <p:nvSpPr>
            <p:cNvPr id="283707" name="Oval 59"/>
            <p:cNvSpPr>
              <a:spLocks noChangeArrowheads="1"/>
            </p:cNvSpPr>
            <p:nvPr/>
          </p:nvSpPr>
          <p:spPr bwMode="auto">
            <a:xfrm>
              <a:off x="1127" y="535"/>
              <a:ext cx="461" cy="403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/>
                <a:t>T</a:t>
              </a:r>
            </a:p>
          </p:txBody>
        </p:sp>
        <p:sp>
          <p:nvSpPr>
            <p:cNvPr id="283708" name="Oval 60"/>
            <p:cNvSpPr>
              <a:spLocks noChangeArrowheads="1"/>
            </p:cNvSpPr>
            <p:nvPr/>
          </p:nvSpPr>
          <p:spPr bwMode="auto">
            <a:xfrm>
              <a:off x="1706" y="1163"/>
              <a:ext cx="461" cy="403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/>
                <a:t>T1</a:t>
              </a:r>
            </a:p>
          </p:txBody>
        </p:sp>
        <p:sp>
          <p:nvSpPr>
            <p:cNvPr id="283709" name="Oval 61"/>
            <p:cNvSpPr>
              <a:spLocks noChangeArrowheads="1"/>
            </p:cNvSpPr>
            <p:nvPr/>
          </p:nvSpPr>
          <p:spPr bwMode="auto">
            <a:xfrm>
              <a:off x="451" y="1125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L</a:t>
              </a:r>
            </a:p>
          </p:txBody>
        </p:sp>
        <p:sp>
          <p:nvSpPr>
            <p:cNvPr id="283710" name="Oval 62"/>
            <p:cNvSpPr>
              <a:spLocks noChangeArrowheads="1"/>
            </p:cNvSpPr>
            <p:nvPr/>
          </p:nvSpPr>
          <p:spPr bwMode="auto">
            <a:xfrm>
              <a:off x="2165" y="1986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/>
                <a:t>R1</a:t>
              </a:r>
            </a:p>
          </p:txBody>
        </p:sp>
        <p:sp>
          <p:nvSpPr>
            <p:cNvPr id="283711" name="Oval 63"/>
            <p:cNvSpPr>
              <a:spLocks noChangeArrowheads="1"/>
            </p:cNvSpPr>
            <p:nvPr/>
          </p:nvSpPr>
          <p:spPr bwMode="auto">
            <a:xfrm>
              <a:off x="1230" y="1986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/>
                <a:t>L1</a:t>
              </a:r>
            </a:p>
          </p:txBody>
        </p:sp>
        <p:sp>
          <p:nvSpPr>
            <p:cNvPr id="283712" name="Oval 64"/>
            <p:cNvSpPr>
              <a:spLocks noChangeArrowheads="1"/>
            </p:cNvSpPr>
            <p:nvPr/>
          </p:nvSpPr>
          <p:spPr bwMode="auto">
            <a:xfrm>
              <a:off x="2638" y="2810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R12</a:t>
              </a:r>
            </a:p>
          </p:txBody>
        </p:sp>
        <p:sp>
          <p:nvSpPr>
            <p:cNvPr id="283713" name="Oval 65"/>
            <p:cNvSpPr>
              <a:spLocks noChangeArrowheads="1"/>
            </p:cNvSpPr>
            <p:nvPr/>
          </p:nvSpPr>
          <p:spPr bwMode="auto">
            <a:xfrm>
              <a:off x="1714" y="2818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L12</a:t>
              </a:r>
            </a:p>
          </p:txBody>
        </p:sp>
        <p:sp>
          <p:nvSpPr>
            <p:cNvPr id="283714" name="Line 66"/>
            <p:cNvSpPr>
              <a:spLocks noChangeShapeType="1"/>
            </p:cNvSpPr>
            <p:nvPr/>
          </p:nvSpPr>
          <p:spPr bwMode="auto">
            <a:xfrm flipH="1">
              <a:off x="820" y="935"/>
              <a:ext cx="576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3715" name="Line 67"/>
            <p:cNvSpPr>
              <a:spLocks noChangeShapeType="1"/>
            </p:cNvSpPr>
            <p:nvPr/>
          </p:nvSpPr>
          <p:spPr bwMode="auto">
            <a:xfrm>
              <a:off x="1352" y="935"/>
              <a:ext cx="491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3716" name="Line 68"/>
            <p:cNvSpPr>
              <a:spLocks noChangeShapeType="1"/>
            </p:cNvSpPr>
            <p:nvPr/>
          </p:nvSpPr>
          <p:spPr bwMode="auto">
            <a:xfrm>
              <a:off x="1946" y="1570"/>
              <a:ext cx="354" cy="4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3717" name="Line 69"/>
            <p:cNvSpPr>
              <a:spLocks noChangeShapeType="1"/>
            </p:cNvSpPr>
            <p:nvPr/>
          </p:nvSpPr>
          <p:spPr bwMode="auto">
            <a:xfrm flipH="1">
              <a:off x="1488" y="1570"/>
              <a:ext cx="458" cy="4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3718" name="Line 70"/>
            <p:cNvSpPr>
              <a:spLocks noChangeShapeType="1"/>
            </p:cNvSpPr>
            <p:nvPr/>
          </p:nvSpPr>
          <p:spPr bwMode="auto">
            <a:xfrm flipH="1">
              <a:off x="2043" y="2391"/>
              <a:ext cx="357" cy="4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3719" name="Line 71"/>
            <p:cNvSpPr>
              <a:spLocks noChangeShapeType="1"/>
            </p:cNvSpPr>
            <p:nvPr/>
          </p:nvSpPr>
          <p:spPr bwMode="auto">
            <a:xfrm>
              <a:off x="2400" y="2391"/>
              <a:ext cx="401" cy="4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83720" name="Group 72"/>
          <p:cNvGrpSpPr>
            <a:grpSpLocks/>
          </p:cNvGrpSpPr>
          <p:nvPr/>
        </p:nvGrpSpPr>
        <p:grpSpPr bwMode="auto">
          <a:xfrm>
            <a:off x="7172325" y="1946276"/>
            <a:ext cx="3400425" cy="4321177"/>
            <a:chOff x="444" y="535"/>
            <a:chExt cx="2142" cy="2722"/>
          </a:xfrm>
        </p:grpSpPr>
        <p:sp>
          <p:nvSpPr>
            <p:cNvPr id="283721" name="Oval 73"/>
            <p:cNvSpPr>
              <a:spLocks noChangeArrowheads="1"/>
            </p:cNvSpPr>
            <p:nvPr/>
          </p:nvSpPr>
          <p:spPr bwMode="auto">
            <a:xfrm>
              <a:off x="1135" y="535"/>
              <a:ext cx="461" cy="403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/>
                <a:t>T</a:t>
              </a:r>
            </a:p>
          </p:txBody>
        </p:sp>
        <p:sp>
          <p:nvSpPr>
            <p:cNvPr id="283722" name="Oval 74"/>
            <p:cNvSpPr>
              <a:spLocks noChangeArrowheads="1"/>
            </p:cNvSpPr>
            <p:nvPr/>
          </p:nvSpPr>
          <p:spPr bwMode="auto">
            <a:xfrm>
              <a:off x="1682" y="1179"/>
              <a:ext cx="461" cy="403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/>
                <a:t>T1</a:t>
              </a:r>
            </a:p>
          </p:txBody>
        </p:sp>
        <p:sp>
          <p:nvSpPr>
            <p:cNvPr id="283723" name="Oval 75"/>
            <p:cNvSpPr>
              <a:spLocks noChangeArrowheads="1"/>
            </p:cNvSpPr>
            <p:nvPr/>
          </p:nvSpPr>
          <p:spPr bwMode="auto">
            <a:xfrm>
              <a:off x="444" y="1133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L</a:t>
              </a:r>
            </a:p>
          </p:txBody>
        </p:sp>
        <p:sp>
          <p:nvSpPr>
            <p:cNvPr id="283724" name="Oval 76"/>
            <p:cNvSpPr>
              <a:spLocks noChangeArrowheads="1"/>
            </p:cNvSpPr>
            <p:nvPr/>
          </p:nvSpPr>
          <p:spPr bwMode="auto">
            <a:xfrm>
              <a:off x="2125" y="2008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R1</a:t>
              </a:r>
            </a:p>
          </p:txBody>
        </p:sp>
        <p:sp>
          <p:nvSpPr>
            <p:cNvPr id="283725" name="Oval 77"/>
            <p:cNvSpPr>
              <a:spLocks noChangeArrowheads="1"/>
            </p:cNvSpPr>
            <p:nvPr/>
          </p:nvSpPr>
          <p:spPr bwMode="auto">
            <a:xfrm>
              <a:off x="1118" y="2000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T2</a:t>
              </a:r>
            </a:p>
          </p:txBody>
        </p:sp>
        <p:sp>
          <p:nvSpPr>
            <p:cNvPr id="283726" name="Oval 78"/>
            <p:cNvSpPr>
              <a:spLocks noChangeArrowheads="1"/>
            </p:cNvSpPr>
            <p:nvPr/>
          </p:nvSpPr>
          <p:spPr bwMode="auto">
            <a:xfrm>
              <a:off x="1610" y="2822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/>
                <a:t>R21</a:t>
              </a:r>
            </a:p>
          </p:txBody>
        </p:sp>
        <p:sp>
          <p:nvSpPr>
            <p:cNvPr id="283727" name="Oval 79"/>
            <p:cNvSpPr>
              <a:spLocks noChangeArrowheads="1"/>
            </p:cNvSpPr>
            <p:nvPr/>
          </p:nvSpPr>
          <p:spPr bwMode="auto">
            <a:xfrm>
              <a:off x="697" y="2854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L21</a:t>
              </a:r>
            </a:p>
          </p:txBody>
        </p:sp>
        <p:sp>
          <p:nvSpPr>
            <p:cNvPr id="283728" name="Line 80"/>
            <p:cNvSpPr>
              <a:spLocks noChangeShapeType="1"/>
            </p:cNvSpPr>
            <p:nvPr/>
          </p:nvSpPr>
          <p:spPr bwMode="auto">
            <a:xfrm flipH="1">
              <a:off x="789" y="935"/>
              <a:ext cx="607" cy="2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3729" name="Line 81"/>
            <p:cNvSpPr>
              <a:spLocks noChangeShapeType="1"/>
            </p:cNvSpPr>
            <p:nvPr/>
          </p:nvSpPr>
          <p:spPr bwMode="auto">
            <a:xfrm>
              <a:off x="1352" y="935"/>
              <a:ext cx="453" cy="2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3730" name="Line 82"/>
            <p:cNvSpPr>
              <a:spLocks noChangeShapeType="1"/>
            </p:cNvSpPr>
            <p:nvPr/>
          </p:nvSpPr>
          <p:spPr bwMode="auto">
            <a:xfrm>
              <a:off x="1925" y="1584"/>
              <a:ext cx="383" cy="4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3731" name="Line 83"/>
            <p:cNvSpPr>
              <a:spLocks noChangeShapeType="1"/>
            </p:cNvSpPr>
            <p:nvPr/>
          </p:nvSpPr>
          <p:spPr bwMode="auto">
            <a:xfrm flipH="1">
              <a:off x="1401" y="1584"/>
              <a:ext cx="524" cy="4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3732" name="Line 84"/>
            <p:cNvSpPr>
              <a:spLocks noChangeShapeType="1"/>
            </p:cNvSpPr>
            <p:nvPr/>
          </p:nvSpPr>
          <p:spPr bwMode="auto">
            <a:xfrm flipH="1">
              <a:off x="977" y="2408"/>
              <a:ext cx="351" cy="4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3733" name="Line 85"/>
            <p:cNvSpPr>
              <a:spLocks noChangeShapeType="1"/>
            </p:cNvSpPr>
            <p:nvPr/>
          </p:nvSpPr>
          <p:spPr bwMode="auto">
            <a:xfrm>
              <a:off x="1344" y="2408"/>
              <a:ext cx="386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3734" name="Text Box 86"/>
          <p:cNvSpPr txBox="1">
            <a:spLocks noChangeArrowheads="1"/>
          </p:cNvSpPr>
          <p:nvPr/>
        </p:nvSpPr>
        <p:spPr bwMode="auto">
          <a:xfrm>
            <a:off x="746126" y="962719"/>
            <a:ext cx="72723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en-US" sz="2800" b="1">
                <a:solidFill>
                  <a:srgbClr val="0000FF"/>
                </a:solidFill>
              </a:rPr>
              <a:t>Cây mất cân bằng tại nút T</a:t>
            </a:r>
          </a:p>
        </p:txBody>
      </p:sp>
      <p:sp>
        <p:nvSpPr>
          <p:cNvPr id="283735" name="Text Box 87"/>
          <p:cNvSpPr txBox="1">
            <a:spLocks noChangeArrowheads="1"/>
          </p:cNvSpPr>
          <p:nvPr/>
        </p:nvSpPr>
        <p:spPr bwMode="auto">
          <a:xfrm>
            <a:off x="1844674" y="1429792"/>
            <a:ext cx="2807419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FF0000"/>
                </a:solidFill>
              </a:rPr>
              <a:t>TH3: Right-Right</a:t>
            </a:r>
          </a:p>
        </p:txBody>
      </p:sp>
      <p:sp>
        <p:nvSpPr>
          <p:cNvPr id="283736" name="Text Box 88"/>
          <p:cNvSpPr txBox="1">
            <a:spLocks noChangeArrowheads="1"/>
          </p:cNvSpPr>
          <p:nvPr/>
        </p:nvSpPr>
        <p:spPr bwMode="auto">
          <a:xfrm>
            <a:off x="7242563" y="1440066"/>
            <a:ext cx="259285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FF0000"/>
                </a:solidFill>
              </a:rPr>
              <a:t>TH4: Right-Left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BM Công nghệ phần mềm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91</a:t>
            </a:fld>
            <a:endParaRPr lang="en-US"/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>
          <a:xfrm>
            <a:off x="774700" y="430164"/>
            <a:ext cx="10642600" cy="70374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600"/>
              <a:t>Các trường hợp mất cân bằng do lệch phải</a:t>
            </a:r>
          </a:p>
        </p:txBody>
      </p:sp>
    </p:spTree>
    <p:extLst>
      <p:ext uri="{BB962C8B-B14F-4D97-AF65-F5344CB8AC3E}">
        <p14:creationId xmlns:p14="http://schemas.microsoft.com/office/powerpoint/2010/main" val="2793428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8"/>
          <p:cNvGrpSpPr>
            <a:grpSpLocks/>
          </p:cNvGrpSpPr>
          <p:nvPr/>
        </p:nvGrpSpPr>
        <p:grpSpPr bwMode="auto">
          <a:xfrm>
            <a:off x="604447" y="2000398"/>
            <a:ext cx="4352928" cy="4211639"/>
            <a:chOff x="640" y="552"/>
            <a:chExt cx="2742" cy="2653"/>
          </a:xfrm>
        </p:grpSpPr>
        <p:sp>
          <p:nvSpPr>
            <p:cNvPr id="283707" name="Oval 59"/>
            <p:cNvSpPr>
              <a:spLocks noChangeArrowheads="1"/>
            </p:cNvSpPr>
            <p:nvPr/>
          </p:nvSpPr>
          <p:spPr bwMode="auto">
            <a:xfrm>
              <a:off x="2412" y="552"/>
              <a:ext cx="461" cy="403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/>
                <a:t>T</a:t>
              </a:r>
            </a:p>
          </p:txBody>
        </p:sp>
        <p:sp>
          <p:nvSpPr>
            <p:cNvPr id="283708" name="Oval 60"/>
            <p:cNvSpPr>
              <a:spLocks noChangeArrowheads="1"/>
            </p:cNvSpPr>
            <p:nvPr/>
          </p:nvSpPr>
          <p:spPr bwMode="auto">
            <a:xfrm>
              <a:off x="2921" y="1204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T1</a:t>
              </a:r>
            </a:p>
          </p:txBody>
        </p:sp>
        <p:sp>
          <p:nvSpPr>
            <p:cNvPr id="283709" name="Oval 61"/>
            <p:cNvSpPr>
              <a:spLocks noChangeArrowheads="1"/>
            </p:cNvSpPr>
            <p:nvPr/>
          </p:nvSpPr>
          <p:spPr bwMode="auto">
            <a:xfrm>
              <a:off x="1782" y="1201"/>
              <a:ext cx="461" cy="403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L</a:t>
              </a:r>
            </a:p>
          </p:txBody>
        </p:sp>
        <p:sp>
          <p:nvSpPr>
            <p:cNvPr id="283710" name="Oval 62"/>
            <p:cNvSpPr>
              <a:spLocks noChangeArrowheads="1"/>
            </p:cNvSpPr>
            <p:nvPr/>
          </p:nvSpPr>
          <p:spPr bwMode="auto">
            <a:xfrm>
              <a:off x="2261" y="2021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/>
                <a:t>R1</a:t>
              </a:r>
            </a:p>
          </p:txBody>
        </p:sp>
        <p:sp>
          <p:nvSpPr>
            <p:cNvPr id="283711" name="Oval 63"/>
            <p:cNvSpPr>
              <a:spLocks noChangeArrowheads="1"/>
            </p:cNvSpPr>
            <p:nvPr/>
          </p:nvSpPr>
          <p:spPr bwMode="auto">
            <a:xfrm>
              <a:off x="1158" y="2021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/>
                <a:t>L1</a:t>
              </a:r>
            </a:p>
          </p:txBody>
        </p:sp>
        <p:sp>
          <p:nvSpPr>
            <p:cNvPr id="283712" name="Oval 64"/>
            <p:cNvSpPr>
              <a:spLocks noChangeArrowheads="1"/>
            </p:cNvSpPr>
            <p:nvPr/>
          </p:nvSpPr>
          <p:spPr bwMode="auto">
            <a:xfrm>
              <a:off x="2620" y="2794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R12</a:t>
              </a:r>
            </a:p>
          </p:txBody>
        </p:sp>
        <p:sp>
          <p:nvSpPr>
            <p:cNvPr id="283713" name="Oval 65"/>
            <p:cNvSpPr>
              <a:spLocks noChangeArrowheads="1"/>
            </p:cNvSpPr>
            <p:nvPr/>
          </p:nvSpPr>
          <p:spPr bwMode="auto">
            <a:xfrm>
              <a:off x="1961" y="2802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L12</a:t>
              </a:r>
            </a:p>
          </p:txBody>
        </p:sp>
        <p:sp>
          <p:nvSpPr>
            <p:cNvPr id="283714" name="Line 66"/>
            <p:cNvSpPr>
              <a:spLocks noChangeShapeType="1"/>
            </p:cNvSpPr>
            <p:nvPr/>
          </p:nvSpPr>
          <p:spPr bwMode="auto">
            <a:xfrm flipH="1">
              <a:off x="2126" y="952"/>
              <a:ext cx="555" cy="2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3715" name="Line 67"/>
            <p:cNvSpPr>
              <a:spLocks noChangeShapeType="1"/>
            </p:cNvSpPr>
            <p:nvPr/>
          </p:nvSpPr>
          <p:spPr bwMode="auto">
            <a:xfrm>
              <a:off x="2637" y="952"/>
              <a:ext cx="393" cy="2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3716" name="Line 68"/>
            <p:cNvSpPr>
              <a:spLocks noChangeShapeType="1"/>
            </p:cNvSpPr>
            <p:nvPr/>
          </p:nvSpPr>
          <p:spPr bwMode="auto">
            <a:xfrm>
              <a:off x="2007" y="1613"/>
              <a:ext cx="383" cy="4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3717" name="Line 69"/>
            <p:cNvSpPr>
              <a:spLocks noChangeShapeType="1"/>
            </p:cNvSpPr>
            <p:nvPr/>
          </p:nvSpPr>
          <p:spPr bwMode="auto">
            <a:xfrm flipH="1">
              <a:off x="1488" y="1613"/>
              <a:ext cx="519" cy="4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3718" name="Line 70"/>
            <p:cNvSpPr>
              <a:spLocks noChangeShapeType="1"/>
            </p:cNvSpPr>
            <p:nvPr/>
          </p:nvSpPr>
          <p:spPr bwMode="auto">
            <a:xfrm flipH="1">
              <a:off x="2249" y="2436"/>
              <a:ext cx="221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3719" name="Line 71"/>
            <p:cNvSpPr>
              <a:spLocks noChangeShapeType="1"/>
            </p:cNvSpPr>
            <p:nvPr/>
          </p:nvSpPr>
          <p:spPr bwMode="auto">
            <a:xfrm>
              <a:off x="2470" y="2421"/>
              <a:ext cx="339" cy="3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Oval 64"/>
            <p:cNvSpPr>
              <a:spLocks noChangeArrowheads="1"/>
            </p:cNvSpPr>
            <p:nvPr/>
          </p:nvSpPr>
          <p:spPr bwMode="auto">
            <a:xfrm>
              <a:off x="1379" y="2794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R11</a:t>
              </a:r>
            </a:p>
          </p:txBody>
        </p:sp>
        <p:sp>
          <p:nvSpPr>
            <p:cNvPr id="35" name="Oval 65"/>
            <p:cNvSpPr>
              <a:spLocks noChangeArrowheads="1"/>
            </p:cNvSpPr>
            <p:nvPr/>
          </p:nvSpPr>
          <p:spPr bwMode="auto">
            <a:xfrm>
              <a:off x="640" y="2802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L11</a:t>
              </a:r>
            </a:p>
          </p:txBody>
        </p:sp>
        <p:sp>
          <p:nvSpPr>
            <p:cNvPr id="36" name="Line 70"/>
            <p:cNvSpPr>
              <a:spLocks noChangeShapeType="1"/>
            </p:cNvSpPr>
            <p:nvPr/>
          </p:nvSpPr>
          <p:spPr bwMode="auto">
            <a:xfrm flipH="1">
              <a:off x="890" y="2424"/>
              <a:ext cx="473" cy="3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71"/>
            <p:cNvSpPr>
              <a:spLocks noChangeShapeType="1"/>
            </p:cNvSpPr>
            <p:nvPr/>
          </p:nvSpPr>
          <p:spPr bwMode="auto">
            <a:xfrm>
              <a:off x="1363" y="2436"/>
              <a:ext cx="214" cy="3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72"/>
          <p:cNvGrpSpPr>
            <a:grpSpLocks/>
          </p:cNvGrpSpPr>
          <p:nvPr/>
        </p:nvGrpSpPr>
        <p:grpSpPr bwMode="auto">
          <a:xfrm>
            <a:off x="7370881" y="1962868"/>
            <a:ext cx="4032250" cy="4305301"/>
            <a:chOff x="620" y="535"/>
            <a:chExt cx="2540" cy="2712"/>
          </a:xfrm>
        </p:grpSpPr>
        <p:sp>
          <p:nvSpPr>
            <p:cNvPr id="283721" name="Oval 73"/>
            <p:cNvSpPr>
              <a:spLocks noChangeArrowheads="1"/>
            </p:cNvSpPr>
            <p:nvPr/>
          </p:nvSpPr>
          <p:spPr bwMode="auto">
            <a:xfrm>
              <a:off x="1135" y="535"/>
              <a:ext cx="461" cy="403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/>
                <a:t>T</a:t>
              </a:r>
            </a:p>
          </p:txBody>
        </p:sp>
        <p:sp>
          <p:nvSpPr>
            <p:cNvPr id="283722" name="Oval 74"/>
            <p:cNvSpPr>
              <a:spLocks noChangeArrowheads="1"/>
            </p:cNvSpPr>
            <p:nvPr/>
          </p:nvSpPr>
          <p:spPr bwMode="auto">
            <a:xfrm>
              <a:off x="1682" y="1179"/>
              <a:ext cx="461" cy="403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/>
                <a:t>T1</a:t>
              </a:r>
            </a:p>
          </p:txBody>
        </p:sp>
        <p:sp>
          <p:nvSpPr>
            <p:cNvPr id="283723" name="Oval 75"/>
            <p:cNvSpPr>
              <a:spLocks noChangeArrowheads="1"/>
            </p:cNvSpPr>
            <p:nvPr/>
          </p:nvSpPr>
          <p:spPr bwMode="auto">
            <a:xfrm>
              <a:off x="691" y="1178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L</a:t>
              </a:r>
            </a:p>
          </p:txBody>
        </p:sp>
        <p:sp>
          <p:nvSpPr>
            <p:cNvPr id="283724" name="Oval 76"/>
            <p:cNvSpPr>
              <a:spLocks noChangeArrowheads="1"/>
            </p:cNvSpPr>
            <p:nvPr/>
          </p:nvSpPr>
          <p:spPr bwMode="auto">
            <a:xfrm>
              <a:off x="2208" y="2008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R1</a:t>
              </a:r>
            </a:p>
          </p:txBody>
        </p:sp>
        <p:sp>
          <p:nvSpPr>
            <p:cNvPr id="283725" name="Oval 77"/>
            <p:cNvSpPr>
              <a:spLocks noChangeArrowheads="1"/>
            </p:cNvSpPr>
            <p:nvPr/>
          </p:nvSpPr>
          <p:spPr bwMode="auto">
            <a:xfrm>
              <a:off x="1070" y="2008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T2</a:t>
              </a:r>
            </a:p>
          </p:txBody>
        </p:sp>
        <p:sp>
          <p:nvSpPr>
            <p:cNvPr id="283726" name="Oval 78"/>
            <p:cNvSpPr>
              <a:spLocks noChangeArrowheads="1"/>
            </p:cNvSpPr>
            <p:nvPr/>
          </p:nvSpPr>
          <p:spPr bwMode="auto">
            <a:xfrm>
              <a:off x="1343" y="2840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R21</a:t>
              </a:r>
            </a:p>
          </p:txBody>
        </p:sp>
        <p:sp>
          <p:nvSpPr>
            <p:cNvPr id="283727" name="Oval 79"/>
            <p:cNvSpPr>
              <a:spLocks noChangeArrowheads="1"/>
            </p:cNvSpPr>
            <p:nvPr/>
          </p:nvSpPr>
          <p:spPr bwMode="auto">
            <a:xfrm>
              <a:off x="620" y="2833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L21</a:t>
              </a:r>
            </a:p>
          </p:txBody>
        </p:sp>
        <p:sp>
          <p:nvSpPr>
            <p:cNvPr id="283728" name="Line 80"/>
            <p:cNvSpPr>
              <a:spLocks noChangeShapeType="1"/>
            </p:cNvSpPr>
            <p:nvPr/>
          </p:nvSpPr>
          <p:spPr bwMode="auto">
            <a:xfrm flipH="1">
              <a:off x="1007" y="935"/>
              <a:ext cx="389" cy="2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3729" name="Line 81"/>
            <p:cNvSpPr>
              <a:spLocks noChangeShapeType="1"/>
            </p:cNvSpPr>
            <p:nvPr/>
          </p:nvSpPr>
          <p:spPr bwMode="auto">
            <a:xfrm>
              <a:off x="1352" y="935"/>
              <a:ext cx="478" cy="2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3730" name="Line 82"/>
            <p:cNvSpPr>
              <a:spLocks noChangeShapeType="1"/>
            </p:cNvSpPr>
            <p:nvPr/>
          </p:nvSpPr>
          <p:spPr bwMode="auto">
            <a:xfrm>
              <a:off x="1925" y="1584"/>
              <a:ext cx="389" cy="4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3731" name="Line 83"/>
            <p:cNvSpPr>
              <a:spLocks noChangeShapeType="1"/>
            </p:cNvSpPr>
            <p:nvPr/>
          </p:nvSpPr>
          <p:spPr bwMode="auto">
            <a:xfrm flipH="1">
              <a:off x="1396" y="1584"/>
              <a:ext cx="529" cy="4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3732" name="Line 84"/>
            <p:cNvSpPr>
              <a:spLocks noChangeShapeType="1"/>
            </p:cNvSpPr>
            <p:nvPr/>
          </p:nvSpPr>
          <p:spPr bwMode="auto">
            <a:xfrm flipH="1">
              <a:off x="905" y="2416"/>
              <a:ext cx="375" cy="4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3733" name="Line 85"/>
            <p:cNvSpPr>
              <a:spLocks noChangeShapeType="1"/>
            </p:cNvSpPr>
            <p:nvPr/>
          </p:nvSpPr>
          <p:spPr bwMode="auto">
            <a:xfrm>
              <a:off x="1280" y="2416"/>
              <a:ext cx="255" cy="3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Oval 78"/>
            <p:cNvSpPr>
              <a:spLocks noChangeArrowheads="1"/>
            </p:cNvSpPr>
            <p:nvPr/>
          </p:nvSpPr>
          <p:spPr bwMode="auto">
            <a:xfrm>
              <a:off x="2699" y="2814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R12</a:t>
              </a:r>
            </a:p>
          </p:txBody>
        </p:sp>
        <p:sp>
          <p:nvSpPr>
            <p:cNvPr id="39" name="Oval 79"/>
            <p:cNvSpPr>
              <a:spLocks noChangeArrowheads="1"/>
            </p:cNvSpPr>
            <p:nvPr/>
          </p:nvSpPr>
          <p:spPr bwMode="auto">
            <a:xfrm>
              <a:off x="2035" y="2844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L12</a:t>
              </a:r>
            </a:p>
          </p:txBody>
        </p:sp>
        <p:sp>
          <p:nvSpPr>
            <p:cNvPr id="40" name="Line 84"/>
            <p:cNvSpPr>
              <a:spLocks noChangeShapeType="1"/>
            </p:cNvSpPr>
            <p:nvPr/>
          </p:nvSpPr>
          <p:spPr bwMode="auto">
            <a:xfrm flipH="1">
              <a:off x="2314" y="2408"/>
              <a:ext cx="167" cy="4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Line 85"/>
            <p:cNvSpPr>
              <a:spLocks noChangeShapeType="1"/>
            </p:cNvSpPr>
            <p:nvPr/>
          </p:nvSpPr>
          <p:spPr bwMode="auto">
            <a:xfrm>
              <a:off x="2481" y="2408"/>
              <a:ext cx="423" cy="3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3734" name="Text Box 86"/>
          <p:cNvSpPr txBox="1">
            <a:spLocks noChangeArrowheads="1"/>
          </p:cNvSpPr>
          <p:nvPr/>
        </p:nvSpPr>
        <p:spPr bwMode="auto">
          <a:xfrm>
            <a:off x="774700" y="969437"/>
            <a:ext cx="72723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en-US" sz="2800" b="1">
                <a:solidFill>
                  <a:srgbClr val="0000FF"/>
                </a:solidFill>
              </a:rPr>
              <a:t>Cây mất cân bằng tại nút T</a:t>
            </a:r>
          </a:p>
        </p:txBody>
      </p:sp>
      <p:sp>
        <p:nvSpPr>
          <p:cNvPr id="283735" name="Text Box 87"/>
          <p:cNvSpPr txBox="1">
            <a:spLocks noChangeArrowheads="1"/>
          </p:cNvSpPr>
          <p:nvPr/>
        </p:nvSpPr>
        <p:spPr bwMode="auto">
          <a:xfrm>
            <a:off x="1848420" y="1493293"/>
            <a:ext cx="39160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FF0000"/>
                </a:solidFill>
              </a:rPr>
              <a:t>TH5</a:t>
            </a:r>
            <a:r>
              <a:rPr lang="en-US" sz="2400" b="1">
                <a:solidFill>
                  <a:srgbClr val="FF0000"/>
                </a:solidFill>
              </a:rPr>
              <a:t>: Left-Balance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83736" name="Text Box 88"/>
          <p:cNvSpPr txBox="1">
            <a:spLocks noChangeArrowheads="1"/>
          </p:cNvSpPr>
          <p:nvPr/>
        </p:nvSpPr>
        <p:spPr bwMode="auto">
          <a:xfrm>
            <a:off x="6239446" y="1493293"/>
            <a:ext cx="434669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FF0000"/>
                </a:solidFill>
              </a:rPr>
              <a:t>TH6</a:t>
            </a:r>
            <a:r>
              <a:rPr lang="en-US" sz="2400" b="1">
                <a:solidFill>
                  <a:srgbClr val="FF0000"/>
                </a:solidFill>
              </a:rPr>
              <a:t>: Right-Balance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BM Công nghệ phần mềm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92</a:t>
            </a:fld>
            <a:endParaRPr lang="en-US"/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>
          <a:xfrm>
            <a:off x="774700" y="478639"/>
            <a:ext cx="10642600" cy="70374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600"/>
              <a:t>Các trường hợp mất cân bằng do xóa</a:t>
            </a:r>
          </a:p>
        </p:txBody>
      </p:sp>
    </p:spTree>
    <p:extLst>
      <p:ext uri="{BB962C8B-B14F-4D97-AF65-F5344CB8AC3E}">
        <p14:creationId xmlns:p14="http://schemas.microsoft.com/office/powerpoint/2010/main" val="2685825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936" name="Group 48"/>
          <p:cNvGrpSpPr>
            <a:grpSpLocks/>
          </p:cNvGrpSpPr>
          <p:nvPr/>
        </p:nvGrpSpPr>
        <p:grpSpPr bwMode="auto">
          <a:xfrm>
            <a:off x="928937" y="1052737"/>
            <a:ext cx="4154489" cy="4757739"/>
            <a:chOff x="449" y="527"/>
            <a:chExt cx="2617" cy="2997"/>
          </a:xfrm>
        </p:grpSpPr>
        <p:sp>
          <p:nvSpPr>
            <p:cNvPr id="293892" name="Oval 4"/>
            <p:cNvSpPr>
              <a:spLocks noChangeArrowheads="1"/>
            </p:cNvSpPr>
            <p:nvPr/>
          </p:nvSpPr>
          <p:spPr bwMode="auto">
            <a:xfrm>
              <a:off x="1889" y="527"/>
              <a:ext cx="461" cy="403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T</a:t>
              </a:r>
            </a:p>
          </p:txBody>
        </p:sp>
        <p:sp>
          <p:nvSpPr>
            <p:cNvPr id="293893" name="Oval 5"/>
            <p:cNvSpPr>
              <a:spLocks noChangeArrowheads="1"/>
            </p:cNvSpPr>
            <p:nvPr/>
          </p:nvSpPr>
          <p:spPr bwMode="auto">
            <a:xfrm>
              <a:off x="2605" y="1253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/>
                <a:t>R</a:t>
              </a:r>
            </a:p>
          </p:txBody>
        </p:sp>
        <p:sp>
          <p:nvSpPr>
            <p:cNvPr id="293898" name="Oval 10"/>
            <p:cNvSpPr>
              <a:spLocks noChangeArrowheads="1"/>
            </p:cNvSpPr>
            <p:nvPr/>
          </p:nvSpPr>
          <p:spPr bwMode="auto">
            <a:xfrm>
              <a:off x="1199" y="1253"/>
              <a:ext cx="461" cy="403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T1</a:t>
              </a:r>
            </a:p>
          </p:txBody>
        </p:sp>
        <p:sp>
          <p:nvSpPr>
            <p:cNvPr id="293899" name="Oval 11"/>
            <p:cNvSpPr>
              <a:spLocks noChangeArrowheads="1"/>
            </p:cNvSpPr>
            <p:nvPr/>
          </p:nvSpPr>
          <p:spPr bwMode="auto">
            <a:xfrm>
              <a:off x="1698" y="2115"/>
              <a:ext cx="461" cy="403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>
                  <a:solidFill>
                    <a:srgbClr val="000099"/>
                  </a:solidFill>
                </a:rPr>
                <a:t>R1</a:t>
              </a:r>
            </a:p>
          </p:txBody>
        </p:sp>
        <p:sp>
          <p:nvSpPr>
            <p:cNvPr id="293900" name="Oval 12"/>
            <p:cNvSpPr>
              <a:spLocks noChangeArrowheads="1"/>
            </p:cNvSpPr>
            <p:nvPr/>
          </p:nvSpPr>
          <p:spPr bwMode="auto">
            <a:xfrm>
              <a:off x="655" y="2160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/>
                <a:t>L1</a:t>
              </a:r>
            </a:p>
          </p:txBody>
        </p:sp>
        <p:sp>
          <p:nvSpPr>
            <p:cNvPr id="293901" name="Oval 13"/>
            <p:cNvSpPr>
              <a:spLocks noChangeArrowheads="1"/>
            </p:cNvSpPr>
            <p:nvPr/>
          </p:nvSpPr>
          <p:spPr bwMode="auto">
            <a:xfrm>
              <a:off x="1108" y="3121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R12</a:t>
              </a:r>
            </a:p>
          </p:txBody>
        </p:sp>
        <p:sp>
          <p:nvSpPr>
            <p:cNvPr id="293902" name="Oval 14"/>
            <p:cNvSpPr>
              <a:spLocks noChangeArrowheads="1"/>
            </p:cNvSpPr>
            <p:nvPr/>
          </p:nvSpPr>
          <p:spPr bwMode="auto">
            <a:xfrm>
              <a:off x="449" y="3121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L12</a:t>
              </a:r>
            </a:p>
          </p:txBody>
        </p:sp>
        <p:sp>
          <p:nvSpPr>
            <p:cNvPr id="293903" name="Line 15"/>
            <p:cNvSpPr>
              <a:spLocks noChangeShapeType="1"/>
            </p:cNvSpPr>
            <p:nvPr/>
          </p:nvSpPr>
          <p:spPr bwMode="auto">
            <a:xfrm flipH="1">
              <a:off x="1442" y="935"/>
              <a:ext cx="68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904" name="Line 16"/>
            <p:cNvSpPr>
              <a:spLocks noChangeShapeType="1"/>
            </p:cNvSpPr>
            <p:nvPr/>
          </p:nvSpPr>
          <p:spPr bwMode="auto">
            <a:xfrm>
              <a:off x="2122" y="935"/>
              <a:ext cx="68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905" name="Line 17"/>
            <p:cNvSpPr>
              <a:spLocks noChangeShapeType="1"/>
            </p:cNvSpPr>
            <p:nvPr/>
          </p:nvSpPr>
          <p:spPr bwMode="auto">
            <a:xfrm>
              <a:off x="1441" y="1661"/>
              <a:ext cx="454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906" name="Line 18"/>
            <p:cNvSpPr>
              <a:spLocks noChangeShapeType="1"/>
            </p:cNvSpPr>
            <p:nvPr/>
          </p:nvSpPr>
          <p:spPr bwMode="auto">
            <a:xfrm flipH="1">
              <a:off x="897" y="1661"/>
              <a:ext cx="544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907" name="Line 19"/>
            <p:cNvSpPr>
              <a:spLocks noChangeShapeType="1"/>
            </p:cNvSpPr>
            <p:nvPr/>
          </p:nvSpPr>
          <p:spPr bwMode="auto">
            <a:xfrm flipH="1">
              <a:off x="671" y="2568"/>
              <a:ext cx="226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908" name="Line 20"/>
            <p:cNvSpPr>
              <a:spLocks noChangeShapeType="1"/>
            </p:cNvSpPr>
            <p:nvPr/>
          </p:nvSpPr>
          <p:spPr bwMode="auto">
            <a:xfrm>
              <a:off x="897" y="2568"/>
              <a:ext cx="409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93937" name="Group 49"/>
          <p:cNvGrpSpPr>
            <a:grpSpLocks/>
          </p:cNvGrpSpPr>
          <p:nvPr/>
        </p:nvGrpSpPr>
        <p:grpSpPr bwMode="auto">
          <a:xfrm>
            <a:off x="6327900" y="980728"/>
            <a:ext cx="4960936" cy="3448048"/>
            <a:chOff x="3005" y="850"/>
            <a:chExt cx="3125" cy="2172"/>
          </a:xfrm>
        </p:grpSpPr>
        <p:sp>
          <p:nvSpPr>
            <p:cNvPr id="293922" name="Oval 34"/>
            <p:cNvSpPr>
              <a:spLocks noChangeArrowheads="1"/>
            </p:cNvSpPr>
            <p:nvPr/>
          </p:nvSpPr>
          <p:spPr bwMode="auto">
            <a:xfrm>
              <a:off x="4989" y="1711"/>
              <a:ext cx="461" cy="403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T</a:t>
              </a:r>
            </a:p>
          </p:txBody>
        </p:sp>
        <p:sp>
          <p:nvSpPr>
            <p:cNvPr id="293923" name="Oval 35"/>
            <p:cNvSpPr>
              <a:spLocks noChangeArrowheads="1"/>
            </p:cNvSpPr>
            <p:nvPr/>
          </p:nvSpPr>
          <p:spPr bwMode="auto">
            <a:xfrm>
              <a:off x="5669" y="2528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/>
                <a:t>R</a:t>
              </a:r>
            </a:p>
          </p:txBody>
        </p:sp>
        <p:sp>
          <p:nvSpPr>
            <p:cNvPr id="293924" name="Oval 36"/>
            <p:cNvSpPr>
              <a:spLocks noChangeArrowheads="1"/>
            </p:cNvSpPr>
            <p:nvPr/>
          </p:nvSpPr>
          <p:spPr bwMode="auto">
            <a:xfrm>
              <a:off x="4366" y="850"/>
              <a:ext cx="461" cy="403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T1</a:t>
              </a:r>
            </a:p>
          </p:txBody>
        </p:sp>
        <p:sp>
          <p:nvSpPr>
            <p:cNvPr id="293925" name="Oval 37"/>
            <p:cNvSpPr>
              <a:spLocks noChangeArrowheads="1"/>
            </p:cNvSpPr>
            <p:nvPr/>
          </p:nvSpPr>
          <p:spPr bwMode="auto">
            <a:xfrm>
              <a:off x="4490" y="2573"/>
              <a:ext cx="461" cy="403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>
                  <a:solidFill>
                    <a:srgbClr val="000099"/>
                  </a:solidFill>
                </a:rPr>
                <a:t>R1</a:t>
              </a:r>
            </a:p>
          </p:txBody>
        </p:sp>
        <p:sp>
          <p:nvSpPr>
            <p:cNvPr id="293926" name="Oval 38"/>
            <p:cNvSpPr>
              <a:spLocks noChangeArrowheads="1"/>
            </p:cNvSpPr>
            <p:nvPr/>
          </p:nvSpPr>
          <p:spPr bwMode="auto">
            <a:xfrm>
              <a:off x="3467" y="1749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/>
                <a:t>L1</a:t>
              </a:r>
            </a:p>
          </p:txBody>
        </p:sp>
        <p:sp>
          <p:nvSpPr>
            <p:cNvPr id="293927" name="Oval 39"/>
            <p:cNvSpPr>
              <a:spLocks noChangeArrowheads="1"/>
            </p:cNvSpPr>
            <p:nvPr/>
          </p:nvSpPr>
          <p:spPr bwMode="auto">
            <a:xfrm>
              <a:off x="3897" y="2573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R12</a:t>
              </a:r>
            </a:p>
          </p:txBody>
        </p:sp>
        <p:sp>
          <p:nvSpPr>
            <p:cNvPr id="293928" name="Oval 40"/>
            <p:cNvSpPr>
              <a:spLocks noChangeArrowheads="1"/>
            </p:cNvSpPr>
            <p:nvPr/>
          </p:nvSpPr>
          <p:spPr bwMode="auto">
            <a:xfrm>
              <a:off x="3005" y="2619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L12</a:t>
              </a:r>
            </a:p>
          </p:txBody>
        </p:sp>
        <p:sp>
          <p:nvSpPr>
            <p:cNvPr id="293929" name="Line 41"/>
            <p:cNvSpPr>
              <a:spLocks noChangeShapeType="1"/>
            </p:cNvSpPr>
            <p:nvPr/>
          </p:nvSpPr>
          <p:spPr bwMode="auto">
            <a:xfrm>
              <a:off x="4617" y="1253"/>
              <a:ext cx="59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930" name="Line 42"/>
            <p:cNvSpPr>
              <a:spLocks noChangeShapeType="1"/>
            </p:cNvSpPr>
            <p:nvPr/>
          </p:nvSpPr>
          <p:spPr bwMode="auto">
            <a:xfrm>
              <a:off x="5240" y="2115"/>
              <a:ext cx="635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931" name="Line 43"/>
            <p:cNvSpPr>
              <a:spLocks noChangeShapeType="1"/>
            </p:cNvSpPr>
            <p:nvPr/>
          </p:nvSpPr>
          <p:spPr bwMode="auto">
            <a:xfrm flipH="1">
              <a:off x="4786" y="2115"/>
              <a:ext cx="453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932" name="Line 44"/>
            <p:cNvSpPr>
              <a:spLocks noChangeShapeType="1"/>
            </p:cNvSpPr>
            <p:nvPr/>
          </p:nvSpPr>
          <p:spPr bwMode="auto">
            <a:xfrm flipH="1">
              <a:off x="3755" y="1253"/>
              <a:ext cx="817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933" name="Line 45"/>
            <p:cNvSpPr>
              <a:spLocks noChangeShapeType="1"/>
            </p:cNvSpPr>
            <p:nvPr/>
          </p:nvSpPr>
          <p:spPr bwMode="auto">
            <a:xfrm flipH="1">
              <a:off x="3256" y="2160"/>
              <a:ext cx="408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934" name="Line 46"/>
            <p:cNvSpPr>
              <a:spLocks noChangeShapeType="1"/>
            </p:cNvSpPr>
            <p:nvPr/>
          </p:nvSpPr>
          <p:spPr bwMode="auto">
            <a:xfrm>
              <a:off x="3710" y="2160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3935" name="AutoShape 47"/>
          <p:cNvSpPr>
            <a:spLocks noChangeArrowheads="1"/>
          </p:cNvSpPr>
          <p:nvPr/>
        </p:nvSpPr>
        <p:spPr bwMode="auto">
          <a:xfrm rot="21025229">
            <a:off x="5447943" y="1337531"/>
            <a:ext cx="2053042" cy="433538"/>
          </a:xfrm>
          <a:prstGeom prst="rightArrow">
            <a:avLst>
              <a:gd name="adj1" fmla="val 50000"/>
              <a:gd name="adj2" fmla="val 41667"/>
            </a:avLst>
          </a:prstGeom>
          <a:solidFill>
            <a:srgbClr val="FFFF00"/>
          </a:solidFill>
          <a:ln w="57150" algn="ctr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Arc 1"/>
          <p:cNvSpPr/>
          <p:nvPr/>
        </p:nvSpPr>
        <p:spPr bwMode="auto">
          <a:xfrm rot="19091530">
            <a:off x="2915006" y="1976796"/>
            <a:ext cx="1496077" cy="1496077"/>
          </a:xfrm>
          <a:prstGeom prst="arc">
            <a:avLst>
              <a:gd name="adj1" fmla="val 8622056"/>
              <a:gd name="adj2" fmla="val 0"/>
            </a:avLst>
          </a:prstGeom>
          <a:noFill/>
          <a:ln w="76200" cap="flat" cmpd="sng" algn="ctr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vi-VN">
              <a:latin typeface="Arial" charset="0"/>
              <a:cs typeface="Arial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BM Công nghệ phần mềm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93</a:t>
            </a:fld>
            <a:endParaRPr lang="en-US"/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>
          <a:xfrm>
            <a:off x="-192709" y="469930"/>
            <a:ext cx="10642600" cy="70374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600"/>
              <a:t>Cân bằng lại trường </a:t>
            </a:r>
            <a:r>
              <a:rPr lang="en-US" sz="3600" smtClean="0"/>
              <a:t>hợp</a:t>
            </a:r>
            <a:endParaRPr lang="en-US" sz="36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7771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3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93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935" grpId="0" animBg="1"/>
      <p:bldP spid="2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BM Công nghệ phần mềm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94</a:t>
            </a:fld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75948" y="450434"/>
            <a:ext cx="10642600" cy="70374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200"/>
              <a:t>Cài đặt cân bằng lại cho trường hợp 1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774700" y="983973"/>
            <a:ext cx="10642600" cy="5384800"/>
          </a:xfrm>
        </p:spPr>
        <p:txBody>
          <a:bodyPr>
            <a:normAutofit lnSpcReduction="10000"/>
          </a:bodyPr>
          <a:lstStyle/>
          <a:p>
            <a:pPr marL="0" lvl="1" indent="0">
              <a:spcBef>
                <a:spcPts val="0"/>
              </a:spcBef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sz="2600" b="1" dirty="0" smtClean="0">
                <a:solidFill>
                  <a:srgbClr val="00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rotateLL</a:t>
            </a:r>
            <a:r>
              <a:rPr lang="en-US" sz="26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(AVLTree 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en-US" sz="2600" b="1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2600" b="1" smtClean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endParaRPr lang="en-US" sz="2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1" indent="0">
              <a:spcBef>
                <a:spcPts val="0"/>
              </a:spcBef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	AVLNode *</a:t>
            </a:r>
            <a:r>
              <a:rPr lang="en-US" sz="26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T1 = T</a:t>
            </a:r>
            <a:r>
              <a:rPr lang="en-US" sz="2600" b="1" dirty="0" smtClean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6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Left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1" indent="0">
              <a:spcBef>
                <a:spcPts val="0"/>
              </a:spcBef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6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2600" b="1" dirty="0" smtClean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6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Left 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26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T1</a:t>
            </a:r>
            <a:r>
              <a:rPr lang="en-US" sz="2600" b="1" dirty="0" smtClean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6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Right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1" indent="0">
              <a:spcBef>
                <a:spcPts val="0"/>
              </a:spcBef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6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T1</a:t>
            </a:r>
            <a:r>
              <a:rPr lang="en-US" sz="2600" b="1" dirty="0" smtClean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6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Right = T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1" indent="0">
              <a:spcBef>
                <a:spcPts val="0"/>
              </a:spcBef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6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switch(T1</a:t>
            </a:r>
            <a:r>
              <a:rPr lang="en-US" sz="2600" b="1" dirty="0" smtClean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600" b="1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balFactor</a:t>
            </a:r>
            <a:r>
              <a:rPr lang="en-US" sz="2600" b="1" smtClean="0">
                <a:latin typeface="Consolas" panose="020B0609020204030204" pitchFamily="49" charset="0"/>
                <a:cs typeface="Consolas" panose="020B0609020204030204" pitchFamily="49" charset="0"/>
              </a:rPr>
              <a:t>) { </a:t>
            </a:r>
            <a:endParaRPr lang="en-US" sz="2600" b="1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1" indent="0">
              <a:spcBef>
                <a:spcPts val="0"/>
              </a:spcBef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6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	case 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LH</a:t>
            </a:r>
            <a:r>
              <a:rPr lang="en-US" sz="2600" b="1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600" b="1" smtClean="0">
                <a:latin typeface="Consolas" panose="020B0609020204030204" pitchFamily="49" charset="0"/>
                <a:cs typeface="Consolas" panose="020B0609020204030204" pitchFamily="49" charset="0"/>
              </a:rPr>
              <a:t>	T</a:t>
            </a:r>
            <a:r>
              <a:rPr lang="en-US" sz="2600" b="1" dirty="0" smtClean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600" b="1" dirty="0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balFactor = EH</a:t>
            </a:r>
            <a:r>
              <a:rPr lang="en-US" sz="2600" b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pPr marL="0" lvl="1" indent="0">
              <a:spcBef>
                <a:spcPts val="0"/>
              </a:spcBef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600" b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sz="2600" b="1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600" b="1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T1</a:t>
            </a:r>
            <a:r>
              <a:rPr lang="en-US" sz="2600" b="1" dirty="0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600" b="1" dirty="0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balFactor = EH</a:t>
            </a:r>
            <a:r>
              <a:rPr lang="en-US" sz="2600" b="1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endParaRPr lang="en-US" sz="2600" b="1" smtClean="0">
              <a:solidFill>
                <a:srgbClr val="080808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1" indent="0">
              <a:spcBef>
                <a:spcPts val="0"/>
              </a:spcBef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600" b="1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600" b="1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	break</a:t>
            </a:r>
            <a:r>
              <a:rPr lang="en-US" sz="2600" b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1" indent="0">
              <a:spcBef>
                <a:spcPts val="0"/>
              </a:spcBef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600" b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case EH:</a:t>
            </a:r>
            <a:r>
              <a:rPr lang="en-US" sz="2600" b="1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600" b="1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2600" b="1" dirty="0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600" b="1" dirty="0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balFactor = LH</a:t>
            </a:r>
            <a:r>
              <a:rPr lang="en-US" sz="2600" b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1" indent="0">
              <a:spcBef>
                <a:spcPts val="0"/>
              </a:spcBef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sz="2600" b="1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600" b="1" smtClean="0">
                <a:latin typeface="Consolas" panose="020B0609020204030204" pitchFamily="49" charset="0"/>
                <a:cs typeface="Consolas" panose="020B0609020204030204" pitchFamily="49" charset="0"/>
              </a:rPr>
              <a:t>		T1</a:t>
            </a:r>
            <a:r>
              <a:rPr lang="en-US" sz="2600" b="1" dirty="0" smtClean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600" b="1" dirty="0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balFactor = RH</a:t>
            </a:r>
            <a:r>
              <a:rPr lang="en-US" sz="2600" b="1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endParaRPr lang="en-US" sz="2600" b="1" smtClean="0">
              <a:solidFill>
                <a:srgbClr val="080808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1" indent="0">
              <a:spcBef>
                <a:spcPts val="0"/>
              </a:spcBef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600" b="1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600" b="1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	break</a:t>
            </a:r>
            <a:r>
              <a:rPr lang="en-US" sz="2600" b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2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1" indent="0">
              <a:spcBef>
                <a:spcPts val="0"/>
              </a:spcBef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0" lvl="1" indent="0">
              <a:spcBef>
                <a:spcPts val="0"/>
              </a:spcBef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6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T = T1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1" indent="0">
              <a:spcBef>
                <a:spcPts val="0"/>
              </a:spcBef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24" name="Group 48"/>
          <p:cNvGrpSpPr>
            <a:grpSpLocks/>
          </p:cNvGrpSpPr>
          <p:nvPr/>
        </p:nvGrpSpPr>
        <p:grpSpPr bwMode="auto">
          <a:xfrm>
            <a:off x="7504397" y="896936"/>
            <a:ext cx="2944420" cy="3041150"/>
            <a:chOff x="449" y="527"/>
            <a:chExt cx="2617" cy="2997"/>
          </a:xfrm>
        </p:grpSpPr>
        <p:sp>
          <p:nvSpPr>
            <p:cNvPr id="25" name="Oval 4"/>
            <p:cNvSpPr>
              <a:spLocks noChangeArrowheads="1"/>
            </p:cNvSpPr>
            <p:nvPr/>
          </p:nvSpPr>
          <p:spPr bwMode="auto">
            <a:xfrm>
              <a:off x="1889" y="527"/>
              <a:ext cx="461" cy="403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b="1">
                  <a:solidFill>
                    <a:schemeClr val="bg1"/>
                  </a:solidFill>
                </a:rPr>
                <a:t>T</a:t>
              </a:r>
            </a:p>
          </p:txBody>
        </p:sp>
        <p:sp>
          <p:nvSpPr>
            <p:cNvPr id="26" name="Oval 5"/>
            <p:cNvSpPr>
              <a:spLocks noChangeArrowheads="1"/>
            </p:cNvSpPr>
            <p:nvPr/>
          </p:nvSpPr>
          <p:spPr bwMode="auto">
            <a:xfrm>
              <a:off x="2605" y="1253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b="1"/>
                <a:t>R</a:t>
              </a:r>
            </a:p>
          </p:txBody>
        </p:sp>
        <p:sp>
          <p:nvSpPr>
            <p:cNvPr id="27" name="Oval 10"/>
            <p:cNvSpPr>
              <a:spLocks noChangeArrowheads="1"/>
            </p:cNvSpPr>
            <p:nvPr/>
          </p:nvSpPr>
          <p:spPr bwMode="auto">
            <a:xfrm>
              <a:off x="1199" y="1253"/>
              <a:ext cx="461" cy="403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T1</a:t>
              </a:r>
            </a:p>
          </p:txBody>
        </p:sp>
        <p:sp>
          <p:nvSpPr>
            <p:cNvPr id="28" name="Oval 11"/>
            <p:cNvSpPr>
              <a:spLocks noChangeArrowheads="1"/>
            </p:cNvSpPr>
            <p:nvPr/>
          </p:nvSpPr>
          <p:spPr bwMode="auto">
            <a:xfrm>
              <a:off x="1698" y="2115"/>
              <a:ext cx="461" cy="403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b="1">
                  <a:solidFill>
                    <a:srgbClr val="000099"/>
                  </a:solidFill>
                </a:rPr>
                <a:t>R1</a:t>
              </a:r>
            </a:p>
          </p:txBody>
        </p:sp>
        <p:sp>
          <p:nvSpPr>
            <p:cNvPr id="29" name="Oval 12"/>
            <p:cNvSpPr>
              <a:spLocks noChangeArrowheads="1"/>
            </p:cNvSpPr>
            <p:nvPr/>
          </p:nvSpPr>
          <p:spPr bwMode="auto">
            <a:xfrm>
              <a:off x="655" y="2160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b="1"/>
                <a:t>L1</a:t>
              </a:r>
            </a:p>
          </p:txBody>
        </p:sp>
        <p:sp>
          <p:nvSpPr>
            <p:cNvPr id="30" name="Oval 13"/>
            <p:cNvSpPr>
              <a:spLocks noChangeArrowheads="1"/>
            </p:cNvSpPr>
            <p:nvPr/>
          </p:nvSpPr>
          <p:spPr bwMode="auto">
            <a:xfrm>
              <a:off x="1108" y="3121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b="1" dirty="0"/>
                <a:t>R12</a:t>
              </a:r>
            </a:p>
          </p:txBody>
        </p:sp>
        <p:sp>
          <p:nvSpPr>
            <p:cNvPr id="31" name="Oval 14"/>
            <p:cNvSpPr>
              <a:spLocks noChangeArrowheads="1"/>
            </p:cNvSpPr>
            <p:nvPr/>
          </p:nvSpPr>
          <p:spPr bwMode="auto">
            <a:xfrm>
              <a:off x="449" y="3121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b="1" dirty="0"/>
                <a:t>L12</a:t>
              </a:r>
            </a:p>
          </p:txBody>
        </p:sp>
        <p:sp>
          <p:nvSpPr>
            <p:cNvPr id="32" name="Line 15"/>
            <p:cNvSpPr>
              <a:spLocks noChangeShapeType="1"/>
            </p:cNvSpPr>
            <p:nvPr/>
          </p:nvSpPr>
          <p:spPr bwMode="auto">
            <a:xfrm flipH="1">
              <a:off x="1442" y="935"/>
              <a:ext cx="68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</p:spPr>
          <p:txBody>
            <a:bodyPr wrap="none" anchor="ctr"/>
            <a:lstStyle/>
            <a:p>
              <a:endParaRPr lang="en-US" sz="1200" b="1"/>
            </a:p>
          </p:txBody>
        </p:sp>
        <p:sp>
          <p:nvSpPr>
            <p:cNvPr id="33" name="Line 16"/>
            <p:cNvSpPr>
              <a:spLocks noChangeShapeType="1"/>
            </p:cNvSpPr>
            <p:nvPr/>
          </p:nvSpPr>
          <p:spPr bwMode="auto">
            <a:xfrm>
              <a:off x="2122" y="935"/>
              <a:ext cx="68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200" b="1"/>
            </a:p>
          </p:txBody>
        </p:sp>
        <p:sp>
          <p:nvSpPr>
            <p:cNvPr id="34" name="Line 17"/>
            <p:cNvSpPr>
              <a:spLocks noChangeShapeType="1"/>
            </p:cNvSpPr>
            <p:nvPr/>
          </p:nvSpPr>
          <p:spPr bwMode="auto">
            <a:xfrm>
              <a:off x="1441" y="1661"/>
              <a:ext cx="454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200" b="1"/>
            </a:p>
          </p:txBody>
        </p:sp>
        <p:sp>
          <p:nvSpPr>
            <p:cNvPr id="35" name="Line 18"/>
            <p:cNvSpPr>
              <a:spLocks noChangeShapeType="1"/>
            </p:cNvSpPr>
            <p:nvPr/>
          </p:nvSpPr>
          <p:spPr bwMode="auto">
            <a:xfrm flipH="1">
              <a:off x="897" y="1661"/>
              <a:ext cx="544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200" b="1"/>
            </a:p>
          </p:txBody>
        </p:sp>
        <p:sp>
          <p:nvSpPr>
            <p:cNvPr id="36" name="Line 19"/>
            <p:cNvSpPr>
              <a:spLocks noChangeShapeType="1"/>
            </p:cNvSpPr>
            <p:nvPr/>
          </p:nvSpPr>
          <p:spPr bwMode="auto">
            <a:xfrm flipH="1">
              <a:off x="671" y="2568"/>
              <a:ext cx="226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200" b="1"/>
            </a:p>
          </p:txBody>
        </p:sp>
        <p:sp>
          <p:nvSpPr>
            <p:cNvPr id="37" name="Line 20"/>
            <p:cNvSpPr>
              <a:spLocks noChangeShapeType="1"/>
            </p:cNvSpPr>
            <p:nvPr/>
          </p:nvSpPr>
          <p:spPr bwMode="auto">
            <a:xfrm>
              <a:off x="897" y="2568"/>
              <a:ext cx="409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200" b="1"/>
            </a:p>
          </p:txBody>
        </p:sp>
      </p:grpSp>
      <p:grpSp>
        <p:nvGrpSpPr>
          <p:cNvPr id="38" name="Group 49"/>
          <p:cNvGrpSpPr>
            <a:grpSpLocks/>
          </p:cNvGrpSpPr>
          <p:nvPr/>
        </p:nvGrpSpPr>
        <p:grpSpPr bwMode="auto">
          <a:xfrm>
            <a:off x="9131310" y="3791964"/>
            <a:ext cx="2820217" cy="1989662"/>
            <a:chOff x="3005" y="850"/>
            <a:chExt cx="3125" cy="2172"/>
          </a:xfrm>
        </p:grpSpPr>
        <p:sp>
          <p:nvSpPr>
            <p:cNvPr id="39" name="Oval 34"/>
            <p:cNvSpPr>
              <a:spLocks noChangeArrowheads="1"/>
            </p:cNvSpPr>
            <p:nvPr/>
          </p:nvSpPr>
          <p:spPr bwMode="auto">
            <a:xfrm>
              <a:off x="4989" y="1711"/>
              <a:ext cx="461" cy="403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T</a:t>
              </a:r>
            </a:p>
          </p:txBody>
        </p:sp>
        <p:sp>
          <p:nvSpPr>
            <p:cNvPr id="40" name="Oval 35"/>
            <p:cNvSpPr>
              <a:spLocks noChangeArrowheads="1"/>
            </p:cNvSpPr>
            <p:nvPr/>
          </p:nvSpPr>
          <p:spPr bwMode="auto">
            <a:xfrm>
              <a:off x="5669" y="2528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/>
                <a:t>R</a:t>
              </a:r>
            </a:p>
          </p:txBody>
        </p:sp>
        <p:sp>
          <p:nvSpPr>
            <p:cNvPr id="41" name="Oval 36"/>
            <p:cNvSpPr>
              <a:spLocks noChangeArrowheads="1"/>
            </p:cNvSpPr>
            <p:nvPr/>
          </p:nvSpPr>
          <p:spPr bwMode="auto">
            <a:xfrm>
              <a:off x="4366" y="850"/>
              <a:ext cx="461" cy="403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T1</a:t>
              </a:r>
            </a:p>
          </p:txBody>
        </p:sp>
        <p:sp>
          <p:nvSpPr>
            <p:cNvPr id="42" name="Oval 37"/>
            <p:cNvSpPr>
              <a:spLocks noChangeArrowheads="1"/>
            </p:cNvSpPr>
            <p:nvPr/>
          </p:nvSpPr>
          <p:spPr bwMode="auto">
            <a:xfrm>
              <a:off x="4490" y="2573"/>
              <a:ext cx="461" cy="403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rgbClr val="000099"/>
                  </a:solidFill>
                </a:rPr>
                <a:t>R1</a:t>
              </a:r>
            </a:p>
          </p:txBody>
        </p:sp>
        <p:sp>
          <p:nvSpPr>
            <p:cNvPr id="43" name="Oval 38"/>
            <p:cNvSpPr>
              <a:spLocks noChangeArrowheads="1"/>
            </p:cNvSpPr>
            <p:nvPr/>
          </p:nvSpPr>
          <p:spPr bwMode="auto">
            <a:xfrm>
              <a:off x="3467" y="1749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/>
                <a:t>L1</a:t>
              </a:r>
            </a:p>
          </p:txBody>
        </p:sp>
        <p:sp>
          <p:nvSpPr>
            <p:cNvPr id="44" name="Oval 39"/>
            <p:cNvSpPr>
              <a:spLocks noChangeArrowheads="1"/>
            </p:cNvSpPr>
            <p:nvPr/>
          </p:nvSpPr>
          <p:spPr bwMode="auto">
            <a:xfrm>
              <a:off x="3897" y="2573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 dirty="0"/>
                <a:t>R12</a:t>
              </a:r>
            </a:p>
          </p:txBody>
        </p:sp>
        <p:sp>
          <p:nvSpPr>
            <p:cNvPr id="45" name="Oval 40"/>
            <p:cNvSpPr>
              <a:spLocks noChangeArrowheads="1"/>
            </p:cNvSpPr>
            <p:nvPr/>
          </p:nvSpPr>
          <p:spPr bwMode="auto">
            <a:xfrm>
              <a:off x="3005" y="2619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 dirty="0"/>
                <a:t>L12</a:t>
              </a:r>
            </a:p>
          </p:txBody>
        </p:sp>
        <p:sp>
          <p:nvSpPr>
            <p:cNvPr id="46" name="Line 41"/>
            <p:cNvSpPr>
              <a:spLocks noChangeShapeType="1"/>
            </p:cNvSpPr>
            <p:nvPr/>
          </p:nvSpPr>
          <p:spPr bwMode="auto">
            <a:xfrm>
              <a:off x="4617" y="1253"/>
              <a:ext cx="59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</p:spPr>
          <p:txBody>
            <a:bodyPr wrap="none" anchor="ctr"/>
            <a:lstStyle/>
            <a:p>
              <a:endParaRPr lang="en-US" sz="1100" b="1"/>
            </a:p>
          </p:txBody>
        </p:sp>
        <p:sp>
          <p:nvSpPr>
            <p:cNvPr id="47" name="Line 42"/>
            <p:cNvSpPr>
              <a:spLocks noChangeShapeType="1"/>
            </p:cNvSpPr>
            <p:nvPr/>
          </p:nvSpPr>
          <p:spPr bwMode="auto">
            <a:xfrm>
              <a:off x="5240" y="2115"/>
              <a:ext cx="635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100" b="1"/>
            </a:p>
          </p:txBody>
        </p:sp>
        <p:sp>
          <p:nvSpPr>
            <p:cNvPr id="48" name="Line 43"/>
            <p:cNvSpPr>
              <a:spLocks noChangeShapeType="1"/>
            </p:cNvSpPr>
            <p:nvPr/>
          </p:nvSpPr>
          <p:spPr bwMode="auto">
            <a:xfrm flipH="1">
              <a:off x="4786" y="2115"/>
              <a:ext cx="453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100" b="1"/>
            </a:p>
          </p:txBody>
        </p:sp>
        <p:sp>
          <p:nvSpPr>
            <p:cNvPr id="49" name="Line 44"/>
            <p:cNvSpPr>
              <a:spLocks noChangeShapeType="1"/>
            </p:cNvSpPr>
            <p:nvPr/>
          </p:nvSpPr>
          <p:spPr bwMode="auto">
            <a:xfrm flipH="1">
              <a:off x="3755" y="1253"/>
              <a:ext cx="817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100" b="1"/>
            </a:p>
          </p:txBody>
        </p:sp>
        <p:sp>
          <p:nvSpPr>
            <p:cNvPr id="50" name="Line 45"/>
            <p:cNvSpPr>
              <a:spLocks noChangeShapeType="1"/>
            </p:cNvSpPr>
            <p:nvPr/>
          </p:nvSpPr>
          <p:spPr bwMode="auto">
            <a:xfrm flipH="1">
              <a:off x="3256" y="2160"/>
              <a:ext cx="408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100" b="1"/>
            </a:p>
          </p:txBody>
        </p:sp>
        <p:sp>
          <p:nvSpPr>
            <p:cNvPr id="51" name="Line 46"/>
            <p:cNvSpPr>
              <a:spLocks noChangeShapeType="1"/>
            </p:cNvSpPr>
            <p:nvPr/>
          </p:nvSpPr>
          <p:spPr bwMode="auto">
            <a:xfrm>
              <a:off x="3710" y="2160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100" b="1"/>
            </a:p>
          </p:txBody>
        </p:sp>
      </p:grpSp>
      <p:sp>
        <p:nvSpPr>
          <p:cNvPr id="53" name="Curved Left Arrow 52"/>
          <p:cNvSpPr/>
          <p:nvPr/>
        </p:nvSpPr>
        <p:spPr>
          <a:xfrm>
            <a:off x="11029102" y="1633631"/>
            <a:ext cx="1074627" cy="2306041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Arc 53"/>
          <p:cNvSpPr/>
          <p:nvPr/>
        </p:nvSpPr>
        <p:spPr bwMode="auto">
          <a:xfrm rot="19091530">
            <a:off x="9008366" y="1567356"/>
            <a:ext cx="836525" cy="810464"/>
          </a:xfrm>
          <a:prstGeom prst="arc">
            <a:avLst>
              <a:gd name="adj1" fmla="val 8622056"/>
              <a:gd name="adj2" fmla="val 0"/>
            </a:avLst>
          </a:prstGeom>
          <a:noFill/>
          <a:ln w="76200" cap="flat" cmpd="sng" algn="ctr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vi-VN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914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42" name="AutoShape 30"/>
          <p:cNvSpPr>
            <a:spLocks noChangeArrowheads="1"/>
          </p:cNvSpPr>
          <p:nvPr/>
        </p:nvSpPr>
        <p:spPr bwMode="auto">
          <a:xfrm>
            <a:off x="5646500" y="1406218"/>
            <a:ext cx="1798511" cy="460844"/>
          </a:xfrm>
          <a:prstGeom prst="rightArrow">
            <a:avLst>
              <a:gd name="adj1" fmla="val 50000"/>
              <a:gd name="adj2" fmla="val 41667"/>
            </a:avLst>
          </a:prstGeom>
          <a:solidFill>
            <a:srgbClr val="FFFF00"/>
          </a:solidFill>
          <a:ln w="57150" algn="ctr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963291" y="988939"/>
            <a:ext cx="10294812" cy="4479930"/>
            <a:chOff x="963291" y="988939"/>
            <a:chExt cx="10294812" cy="4479930"/>
          </a:xfrm>
        </p:grpSpPr>
        <p:grpSp>
          <p:nvGrpSpPr>
            <p:cNvPr id="294943" name="Group 31"/>
            <p:cNvGrpSpPr>
              <a:grpSpLocks/>
            </p:cNvGrpSpPr>
            <p:nvPr/>
          </p:nvGrpSpPr>
          <p:grpSpPr bwMode="auto">
            <a:xfrm>
              <a:off x="963291" y="988939"/>
              <a:ext cx="3937002" cy="4479930"/>
              <a:chOff x="413" y="527"/>
              <a:chExt cx="2480" cy="2822"/>
            </a:xfrm>
          </p:grpSpPr>
          <p:sp>
            <p:nvSpPr>
              <p:cNvPr id="294916" name="Oval 4"/>
              <p:cNvSpPr>
                <a:spLocks noChangeArrowheads="1"/>
              </p:cNvSpPr>
              <p:nvPr/>
            </p:nvSpPr>
            <p:spPr bwMode="auto">
              <a:xfrm>
                <a:off x="1716" y="527"/>
                <a:ext cx="461" cy="403"/>
              </a:xfrm>
              <a:prstGeom prst="ellipse">
                <a:avLst/>
              </a:prstGeom>
              <a:solidFill>
                <a:srgbClr val="0000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>
                    <a:solidFill>
                      <a:schemeClr val="bg1"/>
                    </a:solidFill>
                  </a:rPr>
                  <a:t>T</a:t>
                </a:r>
              </a:p>
            </p:txBody>
          </p:sp>
          <p:sp>
            <p:nvSpPr>
              <p:cNvPr id="294917" name="Oval 5"/>
              <p:cNvSpPr>
                <a:spLocks noChangeArrowheads="1"/>
              </p:cNvSpPr>
              <p:nvPr/>
            </p:nvSpPr>
            <p:spPr bwMode="auto">
              <a:xfrm>
                <a:off x="2432" y="1253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/>
                  <a:t>R</a:t>
                </a:r>
              </a:p>
            </p:txBody>
          </p:sp>
          <p:sp>
            <p:nvSpPr>
              <p:cNvPr id="294918" name="Oval 6"/>
              <p:cNvSpPr>
                <a:spLocks noChangeArrowheads="1"/>
              </p:cNvSpPr>
              <p:nvPr/>
            </p:nvSpPr>
            <p:spPr bwMode="auto">
              <a:xfrm>
                <a:off x="1026" y="1253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/>
                  <a:t>T1</a:t>
                </a:r>
              </a:p>
            </p:txBody>
          </p:sp>
          <p:sp>
            <p:nvSpPr>
              <p:cNvPr id="294919" name="Oval 7"/>
              <p:cNvSpPr>
                <a:spLocks noChangeArrowheads="1"/>
              </p:cNvSpPr>
              <p:nvPr/>
            </p:nvSpPr>
            <p:spPr bwMode="auto">
              <a:xfrm>
                <a:off x="1737" y="2119"/>
                <a:ext cx="461" cy="403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>
                    <a:solidFill>
                      <a:schemeClr val="bg1"/>
                    </a:solidFill>
                  </a:rPr>
                  <a:t>T2</a:t>
                </a:r>
              </a:p>
            </p:txBody>
          </p:sp>
          <p:sp>
            <p:nvSpPr>
              <p:cNvPr id="294920" name="Oval 8"/>
              <p:cNvSpPr>
                <a:spLocks noChangeArrowheads="1"/>
              </p:cNvSpPr>
              <p:nvPr/>
            </p:nvSpPr>
            <p:spPr bwMode="auto">
              <a:xfrm>
                <a:off x="413" y="2116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/>
                  <a:t>L1</a:t>
                </a:r>
              </a:p>
            </p:txBody>
          </p:sp>
          <p:sp>
            <p:nvSpPr>
              <p:cNvPr id="294921" name="Oval 9"/>
              <p:cNvSpPr>
                <a:spLocks noChangeArrowheads="1"/>
              </p:cNvSpPr>
              <p:nvPr/>
            </p:nvSpPr>
            <p:spPr bwMode="auto">
              <a:xfrm>
                <a:off x="2178" y="2924"/>
                <a:ext cx="461" cy="403"/>
              </a:xfrm>
              <a:prstGeom prst="ellipse">
                <a:avLst/>
              </a:prstGeom>
              <a:solidFill>
                <a:srgbClr val="FFFF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>
                    <a:solidFill>
                      <a:srgbClr val="000099"/>
                    </a:solidFill>
                  </a:rPr>
                  <a:t>R21</a:t>
                </a:r>
              </a:p>
            </p:txBody>
          </p:sp>
          <p:sp>
            <p:nvSpPr>
              <p:cNvPr id="294922" name="Oval 10"/>
              <p:cNvSpPr>
                <a:spLocks noChangeArrowheads="1"/>
              </p:cNvSpPr>
              <p:nvPr/>
            </p:nvSpPr>
            <p:spPr bwMode="auto">
              <a:xfrm>
                <a:off x="1295" y="2946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/>
                  <a:t>L21</a:t>
                </a:r>
              </a:p>
            </p:txBody>
          </p:sp>
          <p:sp>
            <p:nvSpPr>
              <p:cNvPr id="294923" name="Line 11"/>
              <p:cNvSpPr>
                <a:spLocks noChangeShapeType="1"/>
              </p:cNvSpPr>
              <p:nvPr/>
            </p:nvSpPr>
            <p:spPr bwMode="auto">
              <a:xfrm flipH="1">
                <a:off x="1260" y="935"/>
                <a:ext cx="680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4924" name="Line 12"/>
              <p:cNvSpPr>
                <a:spLocks noChangeShapeType="1"/>
              </p:cNvSpPr>
              <p:nvPr/>
            </p:nvSpPr>
            <p:spPr bwMode="auto">
              <a:xfrm>
                <a:off x="1940" y="935"/>
                <a:ext cx="680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4925" name="Line 13"/>
              <p:cNvSpPr>
                <a:spLocks noChangeShapeType="1"/>
              </p:cNvSpPr>
              <p:nvPr/>
            </p:nvSpPr>
            <p:spPr bwMode="auto">
              <a:xfrm>
                <a:off x="1257" y="1666"/>
                <a:ext cx="614" cy="4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4926" name="Line 14"/>
              <p:cNvSpPr>
                <a:spLocks noChangeShapeType="1"/>
              </p:cNvSpPr>
              <p:nvPr/>
            </p:nvSpPr>
            <p:spPr bwMode="auto">
              <a:xfrm flipH="1">
                <a:off x="772" y="1653"/>
                <a:ext cx="488" cy="46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4927" name="Line 15"/>
              <p:cNvSpPr>
                <a:spLocks noChangeShapeType="1"/>
              </p:cNvSpPr>
              <p:nvPr/>
            </p:nvSpPr>
            <p:spPr bwMode="auto">
              <a:xfrm flipH="1">
                <a:off x="1618" y="2519"/>
                <a:ext cx="348" cy="4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4928" name="Line 16"/>
              <p:cNvSpPr>
                <a:spLocks noChangeShapeType="1"/>
              </p:cNvSpPr>
              <p:nvPr/>
            </p:nvSpPr>
            <p:spPr bwMode="auto">
              <a:xfrm>
                <a:off x="1949" y="2519"/>
                <a:ext cx="380" cy="4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94944" name="Group 32"/>
            <p:cNvGrpSpPr>
              <a:grpSpLocks/>
            </p:cNvGrpSpPr>
            <p:nvPr/>
          </p:nvGrpSpPr>
          <p:grpSpPr bwMode="auto">
            <a:xfrm>
              <a:off x="6855965" y="2098780"/>
              <a:ext cx="4402138" cy="3308344"/>
              <a:chOff x="3113" y="681"/>
              <a:chExt cx="2773" cy="2084"/>
            </a:xfrm>
          </p:grpSpPr>
          <p:sp>
            <p:nvSpPr>
              <p:cNvPr id="294929" name="Oval 17"/>
              <p:cNvSpPr>
                <a:spLocks noChangeArrowheads="1"/>
              </p:cNvSpPr>
              <p:nvPr/>
            </p:nvSpPr>
            <p:spPr bwMode="auto">
              <a:xfrm>
                <a:off x="4260" y="681"/>
                <a:ext cx="461" cy="403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>
                    <a:solidFill>
                      <a:schemeClr val="bg1"/>
                    </a:solidFill>
                  </a:rPr>
                  <a:t>T2</a:t>
                </a:r>
              </a:p>
            </p:txBody>
          </p:sp>
          <p:sp>
            <p:nvSpPr>
              <p:cNvPr id="294930" name="Oval 18"/>
              <p:cNvSpPr>
                <a:spLocks noChangeArrowheads="1"/>
              </p:cNvSpPr>
              <p:nvPr/>
            </p:nvSpPr>
            <p:spPr bwMode="auto">
              <a:xfrm>
                <a:off x="4964" y="1534"/>
                <a:ext cx="461" cy="403"/>
              </a:xfrm>
              <a:prstGeom prst="ellipse">
                <a:avLst/>
              </a:prstGeom>
              <a:solidFill>
                <a:srgbClr val="0000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>
                    <a:solidFill>
                      <a:schemeClr val="bg1"/>
                    </a:solidFill>
                  </a:rPr>
                  <a:t>T</a:t>
                </a:r>
              </a:p>
            </p:txBody>
          </p:sp>
          <p:sp>
            <p:nvSpPr>
              <p:cNvPr id="294931" name="Oval 19"/>
              <p:cNvSpPr>
                <a:spLocks noChangeArrowheads="1"/>
              </p:cNvSpPr>
              <p:nvPr/>
            </p:nvSpPr>
            <p:spPr bwMode="auto">
              <a:xfrm>
                <a:off x="3573" y="1542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/>
                  <a:t>T1</a:t>
                </a:r>
              </a:p>
            </p:txBody>
          </p:sp>
          <p:sp>
            <p:nvSpPr>
              <p:cNvPr id="294932" name="Oval 20"/>
              <p:cNvSpPr>
                <a:spLocks noChangeArrowheads="1"/>
              </p:cNvSpPr>
              <p:nvPr/>
            </p:nvSpPr>
            <p:spPr bwMode="auto">
              <a:xfrm>
                <a:off x="3970" y="2362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/>
                  <a:t>L21</a:t>
                </a:r>
              </a:p>
            </p:txBody>
          </p:sp>
          <p:sp>
            <p:nvSpPr>
              <p:cNvPr id="294933" name="Oval 21"/>
              <p:cNvSpPr>
                <a:spLocks noChangeArrowheads="1"/>
              </p:cNvSpPr>
              <p:nvPr/>
            </p:nvSpPr>
            <p:spPr bwMode="auto">
              <a:xfrm>
                <a:off x="3113" y="2351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/>
                  <a:t>L1</a:t>
                </a:r>
              </a:p>
            </p:txBody>
          </p:sp>
          <p:sp>
            <p:nvSpPr>
              <p:cNvPr id="294934" name="Oval 22"/>
              <p:cNvSpPr>
                <a:spLocks noChangeArrowheads="1"/>
              </p:cNvSpPr>
              <p:nvPr/>
            </p:nvSpPr>
            <p:spPr bwMode="auto">
              <a:xfrm>
                <a:off x="5425" y="2359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/>
                  <a:t>R</a:t>
                </a:r>
              </a:p>
            </p:txBody>
          </p:sp>
          <p:sp>
            <p:nvSpPr>
              <p:cNvPr id="294935" name="Oval 23"/>
              <p:cNvSpPr>
                <a:spLocks noChangeArrowheads="1"/>
              </p:cNvSpPr>
              <p:nvPr/>
            </p:nvSpPr>
            <p:spPr bwMode="auto">
              <a:xfrm>
                <a:off x="4665" y="2359"/>
                <a:ext cx="461" cy="403"/>
              </a:xfrm>
              <a:prstGeom prst="ellipse">
                <a:avLst/>
              </a:prstGeom>
              <a:solidFill>
                <a:srgbClr val="FFFF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>
                    <a:solidFill>
                      <a:srgbClr val="000099"/>
                    </a:solidFill>
                  </a:rPr>
                  <a:t>R21</a:t>
                </a:r>
              </a:p>
            </p:txBody>
          </p:sp>
          <p:sp>
            <p:nvSpPr>
              <p:cNvPr id="294936" name="Line 24"/>
              <p:cNvSpPr>
                <a:spLocks noChangeShapeType="1"/>
              </p:cNvSpPr>
              <p:nvPr/>
            </p:nvSpPr>
            <p:spPr bwMode="auto">
              <a:xfrm flipH="1">
                <a:off x="3904" y="1084"/>
                <a:ext cx="582" cy="4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4937" name="Line 25"/>
              <p:cNvSpPr>
                <a:spLocks noChangeShapeType="1"/>
              </p:cNvSpPr>
              <p:nvPr/>
            </p:nvSpPr>
            <p:spPr bwMode="auto">
              <a:xfrm>
                <a:off x="4486" y="1084"/>
                <a:ext cx="613" cy="4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4938" name="Line 26"/>
              <p:cNvSpPr>
                <a:spLocks noChangeShapeType="1"/>
              </p:cNvSpPr>
              <p:nvPr/>
            </p:nvSpPr>
            <p:spPr bwMode="auto">
              <a:xfrm>
                <a:off x="3799" y="1945"/>
                <a:ext cx="288" cy="4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4939" name="Line 27"/>
              <p:cNvSpPr>
                <a:spLocks noChangeShapeType="1"/>
              </p:cNvSpPr>
              <p:nvPr/>
            </p:nvSpPr>
            <p:spPr bwMode="auto">
              <a:xfrm flipH="1">
                <a:off x="3479" y="1950"/>
                <a:ext cx="320" cy="4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4940" name="Line 28"/>
              <p:cNvSpPr>
                <a:spLocks noChangeShapeType="1"/>
              </p:cNvSpPr>
              <p:nvPr/>
            </p:nvSpPr>
            <p:spPr bwMode="auto">
              <a:xfrm flipH="1">
                <a:off x="4953" y="1937"/>
                <a:ext cx="230" cy="4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4941" name="Line 29"/>
              <p:cNvSpPr>
                <a:spLocks noChangeShapeType="1"/>
              </p:cNvSpPr>
              <p:nvPr/>
            </p:nvSpPr>
            <p:spPr bwMode="auto">
              <a:xfrm>
                <a:off x="5183" y="1937"/>
                <a:ext cx="383" cy="4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2" name="Arc 31"/>
            <p:cNvSpPr/>
            <p:nvPr/>
          </p:nvSpPr>
          <p:spPr bwMode="auto">
            <a:xfrm rot="2508470" flipH="1">
              <a:off x="1903992" y="3148182"/>
              <a:ext cx="1074090" cy="1074090"/>
            </a:xfrm>
            <a:prstGeom prst="arc">
              <a:avLst>
                <a:gd name="adj1" fmla="val 8622056"/>
                <a:gd name="adj2" fmla="val 0"/>
              </a:avLst>
            </a:prstGeom>
            <a:noFill/>
            <a:ln w="76200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  <a:effectLst>
              <a:innerShdw blurRad="63500" dist="50800" dir="54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vi-VN">
                <a:latin typeface="Arial" charset="0"/>
                <a:cs typeface="Arial" charset="0"/>
              </a:endParaRPr>
            </a:p>
          </p:txBody>
        </p:sp>
        <p:sp>
          <p:nvSpPr>
            <p:cNvPr id="33" name="Arc 32"/>
            <p:cNvSpPr/>
            <p:nvPr/>
          </p:nvSpPr>
          <p:spPr bwMode="auto">
            <a:xfrm rot="19091530">
              <a:off x="8461581" y="3092396"/>
              <a:ext cx="1174353" cy="1174353"/>
            </a:xfrm>
            <a:prstGeom prst="arc">
              <a:avLst>
                <a:gd name="adj1" fmla="val 8622056"/>
                <a:gd name="adj2" fmla="val 0"/>
              </a:avLst>
            </a:prstGeom>
            <a:noFill/>
            <a:ln w="76200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  <a:effectLst>
              <a:innerShdw blurRad="63500" dist="50800" dir="54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vi-VN">
                <a:latin typeface="Arial" charset="0"/>
                <a:cs typeface="Arial" charset="0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08945" y="5702717"/>
            <a:ext cx="3777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0070C0"/>
                </a:solidFill>
              </a:rPr>
              <a:t>Xoay trái tại nút </a:t>
            </a:r>
            <a:r>
              <a:rPr lang="en-US" sz="2800" b="1">
                <a:solidFill>
                  <a:srgbClr val="0000FF"/>
                </a:solidFill>
              </a:rPr>
              <a:t>T</a:t>
            </a:r>
            <a:r>
              <a:rPr lang="en-US" sz="2800" b="1" baseline="-25000">
                <a:solidFill>
                  <a:srgbClr val="0000FF"/>
                </a:solidFill>
              </a:rPr>
              <a:t>1</a:t>
            </a:r>
            <a:endParaRPr lang="vi-VN" sz="2800" b="1" baseline="-25000">
              <a:solidFill>
                <a:srgbClr val="0000FF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152251" y="5702717"/>
            <a:ext cx="3777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0070C0"/>
                </a:solidFill>
              </a:rPr>
              <a:t>Xoay phải tại nút </a:t>
            </a:r>
            <a:r>
              <a:rPr lang="en-US" sz="2800" b="1">
                <a:solidFill>
                  <a:srgbClr val="0000FF"/>
                </a:solidFill>
              </a:rPr>
              <a:t>T</a:t>
            </a:r>
            <a:r>
              <a:rPr lang="en-US" sz="2800" b="1" baseline="-25000">
                <a:solidFill>
                  <a:srgbClr val="0000FF"/>
                </a:solidFill>
              </a:rPr>
              <a:t>2</a:t>
            </a:r>
            <a:endParaRPr lang="vi-VN" sz="2800" b="1" baseline="-25000">
              <a:solidFill>
                <a:srgbClr val="0000FF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BM Công nghệ phần mềm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95</a:t>
            </a:fld>
            <a:endParaRPr lang="en-US"/>
          </a:p>
        </p:txBody>
      </p:sp>
      <p:sp>
        <p:nvSpPr>
          <p:cNvPr id="39" name="Rectangle 2"/>
          <p:cNvSpPr>
            <a:spLocks noGrp="1" noChangeArrowheads="1"/>
          </p:cNvSpPr>
          <p:nvPr>
            <p:ph type="title"/>
          </p:nvPr>
        </p:nvSpPr>
        <p:spPr>
          <a:xfrm>
            <a:off x="774700" y="448549"/>
            <a:ext cx="10642600" cy="70374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600"/>
              <a:t>Cân bằng lại trường hợp 2</a:t>
            </a:r>
          </a:p>
        </p:txBody>
      </p:sp>
    </p:spTree>
    <p:extLst>
      <p:ext uri="{BB962C8B-B14F-4D97-AF65-F5344CB8AC3E}">
        <p14:creationId xmlns:p14="http://schemas.microsoft.com/office/powerpoint/2010/main" val="3697892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94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42" grpId="0" animBg="1"/>
      <p:bldP spid="2" grpId="0"/>
      <p:bldP spid="35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BM Công nghệ phần mềm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96</a:t>
            </a:fld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860512" y="478986"/>
            <a:ext cx="10642600" cy="70374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Cài đặt cân bằng lại cho trường hợp 2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774700" y="1123119"/>
            <a:ext cx="10642600" cy="5384800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80000"/>
              </a:lnSpc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sz="2800" b="1" dirty="0">
                <a:solidFill>
                  <a:srgbClr val="00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rotateLR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(AVLTree &amp;</a:t>
            </a:r>
            <a:r>
              <a:rPr lang="en-US" sz="2600" b="1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2600" b="1" smtClean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80000"/>
              </a:lnSpc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600" b="1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600" b="1" smtClean="0">
                <a:latin typeface="Consolas" panose="020B0609020204030204" pitchFamily="49" charset="0"/>
                <a:cs typeface="Consolas" panose="020B0609020204030204" pitchFamily="49" charset="0"/>
              </a:rPr>
              <a:t>AVLNode 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*T1 = T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Left;</a:t>
            </a:r>
          </a:p>
          <a:p>
            <a:pPr marL="0" indent="0">
              <a:lnSpc>
                <a:spcPct val="80000"/>
              </a:lnSpc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	AVLNode *T2 = T1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Right;</a:t>
            </a:r>
          </a:p>
          <a:p>
            <a:pPr marL="0" indent="0">
              <a:lnSpc>
                <a:spcPct val="80000"/>
              </a:lnSpc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	T1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Right = T2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Left;	T2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Left = T1;</a:t>
            </a:r>
          </a:p>
          <a:p>
            <a:pPr marL="0" indent="0">
              <a:lnSpc>
                <a:spcPct val="80000"/>
              </a:lnSpc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	T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Left = T2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Right; 	T2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Right = T;	</a:t>
            </a:r>
          </a:p>
          <a:p>
            <a:pPr marL="0" indent="0">
              <a:lnSpc>
                <a:spcPct val="80000"/>
              </a:lnSpc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	switch(T2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600" b="1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balFactor</a:t>
            </a:r>
            <a:r>
              <a:rPr lang="en-US" sz="2600" b="1" smtClean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80000"/>
              </a:lnSpc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600" b="1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600" b="1" smtClean="0">
                <a:latin typeface="Consolas" panose="020B0609020204030204" pitchFamily="49" charset="0"/>
                <a:cs typeface="Consolas" panose="020B0609020204030204" pitchFamily="49" charset="0"/>
              </a:rPr>
              <a:t>	case 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LH: 	T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600" b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balFactor = RH; </a:t>
            </a:r>
          </a:p>
          <a:p>
            <a:pPr marL="0" indent="0">
              <a:lnSpc>
                <a:spcPct val="80000"/>
              </a:lnSpc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sz="2600" b="1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600" b="1" smtClean="0">
                <a:latin typeface="Consolas" panose="020B0609020204030204" pitchFamily="49" charset="0"/>
                <a:cs typeface="Consolas" panose="020B0609020204030204" pitchFamily="49" charset="0"/>
              </a:rPr>
              <a:t>	T1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600" b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balFactor = EH</a:t>
            </a:r>
            <a:r>
              <a:rPr lang="en-US" sz="2600" b="1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2600" b="1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break</a:t>
            </a:r>
            <a:r>
              <a:rPr lang="en-US" sz="2600" b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80000"/>
              </a:lnSpc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		case EH: 	T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600" b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balFactor = EH; </a:t>
            </a:r>
          </a:p>
          <a:p>
            <a:pPr marL="0" indent="0">
              <a:lnSpc>
                <a:spcPct val="80000"/>
              </a:lnSpc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sz="2600" b="1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600" b="1" smtClean="0">
                <a:latin typeface="Consolas" panose="020B0609020204030204" pitchFamily="49" charset="0"/>
                <a:cs typeface="Consolas" panose="020B0609020204030204" pitchFamily="49" charset="0"/>
              </a:rPr>
              <a:t>	T1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600" b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balFactor = EH</a:t>
            </a:r>
            <a:r>
              <a:rPr lang="en-US" sz="2600" b="1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2600" b="1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break</a:t>
            </a:r>
            <a:r>
              <a:rPr lang="en-US" sz="2600" b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80000"/>
              </a:lnSpc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		case RH: 	T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600" b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balFactor = EH; </a:t>
            </a:r>
          </a:p>
          <a:p>
            <a:pPr marL="0" indent="0">
              <a:lnSpc>
                <a:spcPct val="80000"/>
              </a:lnSpc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sz="2600" b="1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600" b="1" smtClean="0">
                <a:latin typeface="Consolas" panose="020B0609020204030204" pitchFamily="49" charset="0"/>
                <a:cs typeface="Consolas" panose="020B0609020204030204" pitchFamily="49" charset="0"/>
              </a:rPr>
              <a:t>	T1</a:t>
            </a: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600" b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balFactor = LH; break;</a:t>
            </a:r>
            <a:endParaRPr lang="en-US" sz="2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0" indent="0">
              <a:lnSpc>
                <a:spcPct val="80000"/>
              </a:lnSpc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T2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400" b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balFactor = EH</a:t>
            </a:r>
            <a:r>
              <a:rPr lang="en-US" sz="2400" b="1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2400" b="1" smtClean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 </a:t>
            </a:r>
            <a:r>
              <a:rPr lang="en-US" sz="2400" b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T2;</a:t>
            </a:r>
          </a:p>
          <a:p>
            <a:pPr marL="0" indent="0">
              <a:lnSpc>
                <a:spcPct val="80000"/>
              </a:lnSpc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795683" y="990398"/>
            <a:ext cx="2938410" cy="3236361"/>
            <a:chOff x="1448546" y="2024008"/>
            <a:chExt cx="2938410" cy="3236361"/>
          </a:xfrm>
        </p:grpSpPr>
        <p:grpSp>
          <p:nvGrpSpPr>
            <p:cNvPr id="38" name="Group 31"/>
            <p:cNvGrpSpPr>
              <a:grpSpLocks/>
            </p:cNvGrpSpPr>
            <p:nvPr/>
          </p:nvGrpSpPr>
          <p:grpSpPr bwMode="auto">
            <a:xfrm>
              <a:off x="1448546" y="2024008"/>
              <a:ext cx="2938410" cy="3236361"/>
              <a:chOff x="413" y="527"/>
              <a:chExt cx="2480" cy="2822"/>
            </a:xfrm>
          </p:grpSpPr>
          <p:sp>
            <p:nvSpPr>
              <p:cNvPr id="39" name="Oval 4"/>
              <p:cNvSpPr>
                <a:spLocks noChangeArrowheads="1"/>
              </p:cNvSpPr>
              <p:nvPr/>
            </p:nvSpPr>
            <p:spPr bwMode="auto">
              <a:xfrm>
                <a:off x="1716" y="527"/>
                <a:ext cx="461" cy="403"/>
              </a:xfrm>
              <a:prstGeom prst="ellipse">
                <a:avLst/>
              </a:prstGeom>
              <a:solidFill>
                <a:srgbClr val="0000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000" b="1">
                    <a:solidFill>
                      <a:schemeClr val="bg1"/>
                    </a:solidFill>
                  </a:rPr>
                  <a:t>T</a:t>
                </a:r>
              </a:p>
            </p:txBody>
          </p:sp>
          <p:sp>
            <p:nvSpPr>
              <p:cNvPr id="40" name="Oval 5"/>
              <p:cNvSpPr>
                <a:spLocks noChangeArrowheads="1"/>
              </p:cNvSpPr>
              <p:nvPr/>
            </p:nvSpPr>
            <p:spPr bwMode="auto">
              <a:xfrm>
                <a:off x="2432" y="1253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000" b="1"/>
                  <a:t>R</a:t>
                </a:r>
              </a:p>
            </p:txBody>
          </p:sp>
          <p:sp>
            <p:nvSpPr>
              <p:cNvPr id="41" name="Oval 6"/>
              <p:cNvSpPr>
                <a:spLocks noChangeArrowheads="1"/>
              </p:cNvSpPr>
              <p:nvPr/>
            </p:nvSpPr>
            <p:spPr bwMode="auto">
              <a:xfrm>
                <a:off x="1026" y="1253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000" b="1"/>
                  <a:t>T1</a:t>
                </a:r>
              </a:p>
            </p:txBody>
          </p:sp>
          <p:sp>
            <p:nvSpPr>
              <p:cNvPr id="42" name="Oval 7"/>
              <p:cNvSpPr>
                <a:spLocks noChangeArrowheads="1"/>
              </p:cNvSpPr>
              <p:nvPr/>
            </p:nvSpPr>
            <p:spPr bwMode="auto">
              <a:xfrm>
                <a:off x="1737" y="2119"/>
                <a:ext cx="461" cy="403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000" b="1">
                    <a:solidFill>
                      <a:schemeClr val="bg1"/>
                    </a:solidFill>
                  </a:rPr>
                  <a:t>T2</a:t>
                </a:r>
              </a:p>
            </p:txBody>
          </p:sp>
          <p:sp>
            <p:nvSpPr>
              <p:cNvPr id="43" name="Oval 8"/>
              <p:cNvSpPr>
                <a:spLocks noChangeArrowheads="1"/>
              </p:cNvSpPr>
              <p:nvPr/>
            </p:nvSpPr>
            <p:spPr bwMode="auto">
              <a:xfrm>
                <a:off x="413" y="2116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000" b="1"/>
                  <a:t>L1</a:t>
                </a:r>
              </a:p>
            </p:txBody>
          </p:sp>
          <p:sp>
            <p:nvSpPr>
              <p:cNvPr id="44" name="Oval 9"/>
              <p:cNvSpPr>
                <a:spLocks noChangeArrowheads="1"/>
              </p:cNvSpPr>
              <p:nvPr/>
            </p:nvSpPr>
            <p:spPr bwMode="auto">
              <a:xfrm>
                <a:off x="2178" y="2924"/>
                <a:ext cx="461" cy="403"/>
              </a:xfrm>
              <a:prstGeom prst="ellipse">
                <a:avLst/>
              </a:prstGeom>
              <a:solidFill>
                <a:srgbClr val="FFFF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000" b="1" dirty="0">
                    <a:solidFill>
                      <a:srgbClr val="000099"/>
                    </a:solidFill>
                  </a:rPr>
                  <a:t>R21</a:t>
                </a:r>
              </a:p>
            </p:txBody>
          </p:sp>
          <p:sp>
            <p:nvSpPr>
              <p:cNvPr id="45" name="Oval 10"/>
              <p:cNvSpPr>
                <a:spLocks noChangeArrowheads="1"/>
              </p:cNvSpPr>
              <p:nvPr/>
            </p:nvSpPr>
            <p:spPr bwMode="auto">
              <a:xfrm>
                <a:off x="1295" y="2946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000" b="1"/>
                  <a:t>L21</a:t>
                </a:r>
              </a:p>
            </p:txBody>
          </p:sp>
          <p:sp>
            <p:nvSpPr>
              <p:cNvPr id="46" name="Line 11"/>
              <p:cNvSpPr>
                <a:spLocks noChangeShapeType="1"/>
              </p:cNvSpPr>
              <p:nvPr/>
            </p:nvSpPr>
            <p:spPr bwMode="auto">
              <a:xfrm flipH="1">
                <a:off x="1260" y="935"/>
                <a:ext cx="680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47" name="Line 12"/>
              <p:cNvSpPr>
                <a:spLocks noChangeShapeType="1"/>
              </p:cNvSpPr>
              <p:nvPr/>
            </p:nvSpPr>
            <p:spPr bwMode="auto">
              <a:xfrm>
                <a:off x="1940" y="935"/>
                <a:ext cx="680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48" name="Line 13"/>
              <p:cNvSpPr>
                <a:spLocks noChangeShapeType="1"/>
              </p:cNvSpPr>
              <p:nvPr/>
            </p:nvSpPr>
            <p:spPr bwMode="auto">
              <a:xfrm>
                <a:off x="1257" y="1666"/>
                <a:ext cx="614" cy="4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49" name="Line 14"/>
              <p:cNvSpPr>
                <a:spLocks noChangeShapeType="1"/>
              </p:cNvSpPr>
              <p:nvPr/>
            </p:nvSpPr>
            <p:spPr bwMode="auto">
              <a:xfrm flipH="1">
                <a:off x="772" y="1653"/>
                <a:ext cx="488" cy="46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50" name="Line 15"/>
              <p:cNvSpPr>
                <a:spLocks noChangeShapeType="1"/>
              </p:cNvSpPr>
              <p:nvPr/>
            </p:nvSpPr>
            <p:spPr bwMode="auto">
              <a:xfrm flipH="1">
                <a:off x="1618" y="2519"/>
                <a:ext cx="348" cy="4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51" name="Line 16"/>
              <p:cNvSpPr>
                <a:spLocks noChangeShapeType="1"/>
              </p:cNvSpPr>
              <p:nvPr/>
            </p:nvSpPr>
            <p:spPr bwMode="auto">
              <a:xfrm>
                <a:off x="1949" y="2519"/>
                <a:ext cx="380" cy="4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600"/>
              </a:p>
            </p:txBody>
          </p:sp>
        </p:grpSp>
        <p:sp>
          <p:nvSpPr>
            <p:cNvPr id="66" name="Arc 65"/>
            <p:cNvSpPr/>
            <p:nvPr/>
          </p:nvSpPr>
          <p:spPr bwMode="auto">
            <a:xfrm rot="2508470" flipH="1">
              <a:off x="2120764" y="3575344"/>
              <a:ext cx="694167" cy="729722"/>
            </a:xfrm>
            <a:prstGeom prst="arc">
              <a:avLst>
                <a:gd name="adj1" fmla="val 8622056"/>
                <a:gd name="adj2" fmla="val 0"/>
              </a:avLst>
            </a:prstGeom>
            <a:noFill/>
            <a:ln w="76200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  <a:effectLst>
              <a:innerShdw blurRad="63500" dist="50800" dir="54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vi-VN" sz="1600">
                <a:latin typeface="Arial" charset="0"/>
                <a:cs typeface="Arial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9325789" y="3595607"/>
            <a:ext cx="2461361" cy="2375480"/>
            <a:chOff x="7206621" y="2206794"/>
            <a:chExt cx="4402138" cy="3308344"/>
          </a:xfrm>
        </p:grpSpPr>
        <p:grpSp>
          <p:nvGrpSpPr>
            <p:cNvPr id="52" name="Group 32"/>
            <p:cNvGrpSpPr>
              <a:grpSpLocks/>
            </p:cNvGrpSpPr>
            <p:nvPr/>
          </p:nvGrpSpPr>
          <p:grpSpPr bwMode="auto">
            <a:xfrm>
              <a:off x="7206621" y="2206794"/>
              <a:ext cx="4402138" cy="3308344"/>
              <a:chOff x="3113" y="681"/>
              <a:chExt cx="2773" cy="2084"/>
            </a:xfrm>
          </p:grpSpPr>
          <p:sp>
            <p:nvSpPr>
              <p:cNvPr id="53" name="Oval 17"/>
              <p:cNvSpPr>
                <a:spLocks noChangeArrowheads="1"/>
              </p:cNvSpPr>
              <p:nvPr/>
            </p:nvSpPr>
            <p:spPr bwMode="auto">
              <a:xfrm>
                <a:off x="4260" y="681"/>
                <a:ext cx="461" cy="403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</a:rPr>
                  <a:t>T2</a:t>
                </a:r>
              </a:p>
            </p:txBody>
          </p:sp>
          <p:sp>
            <p:nvSpPr>
              <p:cNvPr id="54" name="Oval 18"/>
              <p:cNvSpPr>
                <a:spLocks noChangeArrowheads="1"/>
              </p:cNvSpPr>
              <p:nvPr/>
            </p:nvSpPr>
            <p:spPr bwMode="auto">
              <a:xfrm>
                <a:off x="4964" y="1534"/>
                <a:ext cx="461" cy="403"/>
              </a:xfrm>
              <a:prstGeom prst="ellipse">
                <a:avLst/>
              </a:prstGeom>
              <a:solidFill>
                <a:srgbClr val="0000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000" b="1">
                    <a:solidFill>
                      <a:schemeClr val="bg1"/>
                    </a:solidFill>
                  </a:rPr>
                  <a:t>T</a:t>
                </a:r>
              </a:p>
            </p:txBody>
          </p:sp>
          <p:sp>
            <p:nvSpPr>
              <p:cNvPr id="55" name="Oval 19"/>
              <p:cNvSpPr>
                <a:spLocks noChangeArrowheads="1"/>
              </p:cNvSpPr>
              <p:nvPr/>
            </p:nvSpPr>
            <p:spPr bwMode="auto">
              <a:xfrm>
                <a:off x="3573" y="1542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000" b="1"/>
                  <a:t>T1</a:t>
                </a:r>
              </a:p>
            </p:txBody>
          </p:sp>
          <p:sp>
            <p:nvSpPr>
              <p:cNvPr id="56" name="Oval 20"/>
              <p:cNvSpPr>
                <a:spLocks noChangeArrowheads="1"/>
              </p:cNvSpPr>
              <p:nvPr/>
            </p:nvSpPr>
            <p:spPr bwMode="auto">
              <a:xfrm>
                <a:off x="3970" y="2362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000" b="1"/>
                  <a:t>L21</a:t>
                </a:r>
              </a:p>
            </p:txBody>
          </p:sp>
          <p:sp>
            <p:nvSpPr>
              <p:cNvPr id="57" name="Oval 21"/>
              <p:cNvSpPr>
                <a:spLocks noChangeArrowheads="1"/>
              </p:cNvSpPr>
              <p:nvPr/>
            </p:nvSpPr>
            <p:spPr bwMode="auto">
              <a:xfrm>
                <a:off x="3113" y="2351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000" b="1"/>
                  <a:t>L1</a:t>
                </a:r>
              </a:p>
            </p:txBody>
          </p:sp>
          <p:sp>
            <p:nvSpPr>
              <p:cNvPr id="58" name="Oval 22"/>
              <p:cNvSpPr>
                <a:spLocks noChangeArrowheads="1"/>
              </p:cNvSpPr>
              <p:nvPr/>
            </p:nvSpPr>
            <p:spPr bwMode="auto">
              <a:xfrm>
                <a:off x="5425" y="2359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000" b="1"/>
                  <a:t>R</a:t>
                </a:r>
              </a:p>
            </p:txBody>
          </p:sp>
          <p:sp>
            <p:nvSpPr>
              <p:cNvPr id="59" name="Oval 23"/>
              <p:cNvSpPr>
                <a:spLocks noChangeArrowheads="1"/>
              </p:cNvSpPr>
              <p:nvPr/>
            </p:nvSpPr>
            <p:spPr bwMode="auto">
              <a:xfrm>
                <a:off x="4665" y="2359"/>
                <a:ext cx="461" cy="403"/>
              </a:xfrm>
              <a:prstGeom prst="ellipse">
                <a:avLst/>
              </a:prstGeom>
              <a:solidFill>
                <a:srgbClr val="FFFF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000" b="1" dirty="0">
                    <a:solidFill>
                      <a:srgbClr val="000099"/>
                    </a:solidFill>
                  </a:rPr>
                  <a:t>R21</a:t>
                </a:r>
              </a:p>
            </p:txBody>
          </p:sp>
          <p:sp>
            <p:nvSpPr>
              <p:cNvPr id="60" name="Line 24"/>
              <p:cNvSpPr>
                <a:spLocks noChangeShapeType="1"/>
              </p:cNvSpPr>
              <p:nvPr/>
            </p:nvSpPr>
            <p:spPr bwMode="auto">
              <a:xfrm flipH="1">
                <a:off x="3904" y="1084"/>
                <a:ext cx="582" cy="4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</p:spPr>
            <p:txBody>
              <a:bodyPr wrap="none" anchor="ctr"/>
              <a:lstStyle/>
              <a:p>
                <a:endParaRPr lang="en-US" sz="1600" b="1"/>
              </a:p>
            </p:txBody>
          </p:sp>
          <p:sp>
            <p:nvSpPr>
              <p:cNvPr id="61" name="Line 25"/>
              <p:cNvSpPr>
                <a:spLocks noChangeShapeType="1"/>
              </p:cNvSpPr>
              <p:nvPr/>
            </p:nvSpPr>
            <p:spPr bwMode="auto">
              <a:xfrm>
                <a:off x="4486" y="1084"/>
                <a:ext cx="613" cy="4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600" b="1"/>
              </a:p>
            </p:txBody>
          </p:sp>
          <p:sp>
            <p:nvSpPr>
              <p:cNvPr id="62" name="Line 26"/>
              <p:cNvSpPr>
                <a:spLocks noChangeShapeType="1"/>
              </p:cNvSpPr>
              <p:nvPr/>
            </p:nvSpPr>
            <p:spPr bwMode="auto">
              <a:xfrm>
                <a:off x="3799" y="1945"/>
                <a:ext cx="288" cy="4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600" b="1"/>
              </a:p>
            </p:txBody>
          </p:sp>
          <p:sp>
            <p:nvSpPr>
              <p:cNvPr id="63" name="Line 27"/>
              <p:cNvSpPr>
                <a:spLocks noChangeShapeType="1"/>
              </p:cNvSpPr>
              <p:nvPr/>
            </p:nvSpPr>
            <p:spPr bwMode="auto">
              <a:xfrm flipH="1">
                <a:off x="3479" y="1950"/>
                <a:ext cx="320" cy="4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600" b="1"/>
              </a:p>
            </p:txBody>
          </p:sp>
          <p:sp>
            <p:nvSpPr>
              <p:cNvPr id="64" name="Line 28"/>
              <p:cNvSpPr>
                <a:spLocks noChangeShapeType="1"/>
              </p:cNvSpPr>
              <p:nvPr/>
            </p:nvSpPr>
            <p:spPr bwMode="auto">
              <a:xfrm flipH="1">
                <a:off x="4953" y="1937"/>
                <a:ext cx="230" cy="4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600" b="1"/>
              </a:p>
            </p:txBody>
          </p:sp>
          <p:sp>
            <p:nvSpPr>
              <p:cNvPr id="65" name="Line 29"/>
              <p:cNvSpPr>
                <a:spLocks noChangeShapeType="1"/>
              </p:cNvSpPr>
              <p:nvPr/>
            </p:nvSpPr>
            <p:spPr bwMode="auto">
              <a:xfrm>
                <a:off x="5183" y="1937"/>
                <a:ext cx="383" cy="4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600" b="1"/>
              </a:p>
            </p:txBody>
          </p:sp>
        </p:grpSp>
        <p:sp>
          <p:nvSpPr>
            <p:cNvPr id="67" name="Arc 66"/>
            <p:cNvSpPr/>
            <p:nvPr/>
          </p:nvSpPr>
          <p:spPr bwMode="auto">
            <a:xfrm rot="19091530">
              <a:off x="8932231" y="3166265"/>
              <a:ext cx="1174352" cy="1174353"/>
            </a:xfrm>
            <a:prstGeom prst="arc">
              <a:avLst>
                <a:gd name="adj1" fmla="val 8622056"/>
                <a:gd name="adj2" fmla="val 0"/>
              </a:avLst>
            </a:prstGeom>
            <a:noFill/>
            <a:ln w="76200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  <a:effectLst>
              <a:innerShdw blurRad="63500" dist="50800" dir="54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vi-VN" sz="1600" b="1">
                <a:latin typeface="Arial" charset="0"/>
                <a:cs typeface="Arial" charset="0"/>
              </a:endParaRPr>
            </a:p>
          </p:txBody>
        </p:sp>
      </p:grpSp>
      <p:sp>
        <p:nvSpPr>
          <p:cNvPr id="68" name="Curved Left Arrow 67"/>
          <p:cNvSpPr/>
          <p:nvPr/>
        </p:nvSpPr>
        <p:spPr>
          <a:xfrm rot="19921018">
            <a:off x="10616424" y="1295948"/>
            <a:ext cx="1074627" cy="2306041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092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968" name="Group 32"/>
          <p:cNvGrpSpPr>
            <a:grpSpLocks/>
          </p:cNvGrpSpPr>
          <p:nvPr/>
        </p:nvGrpSpPr>
        <p:grpSpPr bwMode="auto">
          <a:xfrm>
            <a:off x="6275359" y="1373064"/>
            <a:ext cx="4937124" cy="3071814"/>
            <a:chOff x="2986" y="732"/>
            <a:chExt cx="3110" cy="1935"/>
          </a:xfrm>
        </p:grpSpPr>
        <p:sp>
          <p:nvSpPr>
            <p:cNvPr id="295953" name="Oval 17"/>
            <p:cNvSpPr>
              <a:spLocks noChangeArrowheads="1"/>
            </p:cNvSpPr>
            <p:nvPr/>
          </p:nvSpPr>
          <p:spPr bwMode="auto">
            <a:xfrm>
              <a:off x="5116" y="1389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/>
                <a:t>R1</a:t>
              </a:r>
            </a:p>
          </p:txBody>
        </p:sp>
        <p:sp>
          <p:nvSpPr>
            <p:cNvPr id="295954" name="Oval 18"/>
            <p:cNvSpPr>
              <a:spLocks noChangeArrowheads="1"/>
            </p:cNvSpPr>
            <p:nvPr/>
          </p:nvSpPr>
          <p:spPr bwMode="auto">
            <a:xfrm>
              <a:off x="5635" y="2239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R12</a:t>
              </a:r>
            </a:p>
          </p:txBody>
        </p:sp>
        <p:sp>
          <p:nvSpPr>
            <p:cNvPr id="295955" name="Oval 19"/>
            <p:cNvSpPr>
              <a:spLocks noChangeArrowheads="1"/>
            </p:cNvSpPr>
            <p:nvPr/>
          </p:nvSpPr>
          <p:spPr bwMode="auto">
            <a:xfrm>
              <a:off x="4274" y="732"/>
              <a:ext cx="461" cy="403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T1</a:t>
              </a:r>
            </a:p>
          </p:txBody>
        </p:sp>
        <p:sp>
          <p:nvSpPr>
            <p:cNvPr id="295956" name="Oval 20"/>
            <p:cNvSpPr>
              <a:spLocks noChangeArrowheads="1"/>
            </p:cNvSpPr>
            <p:nvPr/>
          </p:nvSpPr>
          <p:spPr bwMode="auto">
            <a:xfrm>
              <a:off x="4687" y="2251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L12</a:t>
              </a:r>
            </a:p>
          </p:txBody>
        </p:sp>
        <p:sp>
          <p:nvSpPr>
            <p:cNvPr id="295957" name="Oval 21"/>
            <p:cNvSpPr>
              <a:spLocks noChangeArrowheads="1"/>
            </p:cNvSpPr>
            <p:nvPr/>
          </p:nvSpPr>
          <p:spPr bwMode="auto">
            <a:xfrm>
              <a:off x="3438" y="1426"/>
              <a:ext cx="461" cy="403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T</a:t>
              </a:r>
            </a:p>
          </p:txBody>
        </p:sp>
        <p:sp>
          <p:nvSpPr>
            <p:cNvPr id="295958" name="Oval 22"/>
            <p:cNvSpPr>
              <a:spLocks noChangeArrowheads="1"/>
            </p:cNvSpPr>
            <p:nvPr/>
          </p:nvSpPr>
          <p:spPr bwMode="auto">
            <a:xfrm>
              <a:off x="2986" y="2251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/>
                <a:t>L</a:t>
              </a:r>
            </a:p>
          </p:txBody>
        </p:sp>
        <p:sp>
          <p:nvSpPr>
            <p:cNvPr id="295959" name="Oval 23"/>
            <p:cNvSpPr>
              <a:spLocks noChangeArrowheads="1"/>
            </p:cNvSpPr>
            <p:nvPr/>
          </p:nvSpPr>
          <p:spPr bwMode="auto">
            <a:xfrm>
              <a:off x="3836" y="2264"/>
              <a:ext cx="461" cy="403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/>
                <a:t>L1</a:t>
              </a:r>
            </a:p>
          </p:txBody>
        </p:sp>
        <p:sp>
          <p:nvSpPr>
            <p:cNvPr id="295960" name="Line 24"/>
            <p:cNvSpPr>
              <a:spLocks noChangeShapeType="1"/>
            </p:cNvSpPr>
            <p:nvPr/>
          </p:nvSpPr>
          <p:spPr bwMode="auto">
            <a:xfrm>
              <a:off x="4510" y="1146"/>
              <a:ext cx="697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5961" name="Line 25"/>
            <p:cNvSpPr>
              <a:spLocks noChangeShapeType="1"/>
            </p:cNvSpPr>
            <p:nvPr/>
          </p:nvSpPr>
          <p:spPr bwMode="auto">
            <a:xfrm>
              <a:off x="5343" y="1798"/>
              <a:ext cx="438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5962" name="Line 26"/>
            <p:cNvSpPr>
              <a:spLocks noChangeShapeType="1"/>
            </p:cNvSpPr>
            <p:nvPr/>
          </p:nvSpPr>
          <p:spPr bwMode="auto">
            <a:xfrm flipH="1">
              <a:off x="4980" y="1798"/>
              <a:ext cx="362" cy="4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5963" name="Line 27"/>
            <p:cNvSpPr>
              <a:spLocks noChangeShapeType="1"/>
            </p:cNvSpPr>
            <p:nvPr/>
          </p:nvSpPr>
          <p:spPr bwMode="auto">
            <a:xfrm flipH="1">
              <a:off x="3779" y="1146"/>
              <a:ext cx="726" cy="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5964" name="Line 28"/>
            <p:cNvSpPr>
              <a:spLocks noChangeShapeType="1"/>
            </p:cNvSpPr>
            <p:nvPr/>
          </p:nvSpPr>
          <p:spPr bwMode="auto">
            <a:xfrm flipH="1">
              <a:off x="3301" y="1842"/>
              <a:ext cx="363" cy="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5965" name="Line 29"/>
            <p:cNvSpPr>
              <a:spLocks noChangeShapeType="1"/>
            </p:cNvSpPr>
            <p:nvPr/>
          </p:nvSpPr>
          <p:spPr bwMode="auto">
            <a:xfrm>
              <a:off x="3667" y="1842"/>
              <a:ext cx="360" cy="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5966" name="AutoShape 30"/>
          <p:cNvSpPr>
            <a:spLocks noChangeArrowheads="1"/>
          </p:cNvSpPr>
          <p:nvPr/>
        </p:nvSpPr>
        <p:spPr bwMode="auto">
          <a:xfrm rot="20843623">
            <a:off x="4617540" y="1847531"/>
            <a:ext cx="2273705" cy="497791"/>
          </a:xfrm>
          <a:prstGeom prst="rightArrow">
            <a:avLst>
              <a:gd name="adj1" fmla="val 50000"/>
              <a:gd name="adj2" fmla="val 41667"/>
            </a:avLst>
          </a:prstGeom>
          <a:solidFill>
            <a:srgbClr val="FFFF00"/>
          </a:solidFill>
          <a:ln w="57150" algn="ctr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1049617" y="1268546"/>
            <a:ext cx="3433454" cy="4371965"/>
            <a:chOff x="1049616" y="1268547"/>
            <a:chExt cx="4191001" cy="4343398"/>
          </a:xfrm>
        </p:grpSpPr>
        <p:grpSp>
          <p:nvGrpSpPr>
            <p:cNvPr id="295967" name="Group 31"/>
            <p:cNvGrpSpPr>
              <a:grpSpLocks/>
            </p:cNvGrpSpPr>
            <p:nvPr/>
          </p:nvGrpSpPr>
          <p:grpSpPr bwMode="auto">
            <a:xfrm>
              <a:off x="1049616" y="1268547"/>
              <a:ext cx="4191001" cy="4343398"/>
              <a:chOff x="443" y="519"/>
              <a:chExt cx="2640" cy="2736"/>
            </a:xfrm>
          </p:grpSpPr>
          <p:sp>
            <p:nvSpPr>
              <p:cNvPr id="295940" name="Oval 4"/>
              <p:cNvSpPr>
                <a:spLocks noChangeArrowheads="1"/>
              </p:cNvSpPr>
              <p:nvPr/>
            </p:nvSpPr>
            <p:spPr bwMode="auto">
              <a:xfrm>
                <a:off x="1121" y="519"/>
                <a:ext cx="461" cy="403"/>
              </a:xfrm>
              <a:prstGeom prst="ellipse">
                <a:avLst/>
              </a:prstGeom>
              <a:solidFill>
                <a:srgbClr val="0000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</a:rPr>
                  <a:t>T</a:t>
                </a:r>
              </a:p>
            </p:txBody>
          </p:sp>
          <p:sp>
            <p:nvSpPr>
              <p:cNvPr id="295941" name="Oval 5"/>
              <p:cNvSpPr>
                <a:spLocks noChangeArrowheads="1"/>
              </p:cNvSpPr>
              <p:nvPr/>
            </p:nvSpPr>
            <p:spPr bwMode="auto">
              <a:xfrm>
                <a:off x="1666" y="1185"/>
                <a:ext cx="461" cy="397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000" b="1">
                    <a:solidFill>
                      <a:schemeClr val="bg1"/>
                    </a:solidFill>
                  </a:rPr>
                  <a:t>T1</a:t>
                </a:r>
              </a:p>
            </p:txBody>
          </p:sp>
          <p:sp>
            <p:nvSpPr>
              <p:cNvPr id="295942" name="Oval 6"/>
              <p:cNvSpPr>
                <a:spLocks noChangeArrowheads="1"/>
              </p:cNvSpPr>
              <p:nvPr/>
            </p:nvSpPr>
            <p:spPr bwMode="auto">
              <a:xfrm>
                <a:off x="443" y="1162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000" b="1" dirty="0"/>
                  <a:t>L</a:t>
                </a:r>
              </a:p>
            </p:txBody>
          </p:sp>
          <p:sp>
            <p:nvSpPr>
              <p:cNvPr id="295943" name="Oval 7"/>
              <p:cNvSpPr>
                <a:spLocks noChangeArrowheads="1"/>
              </p:cNvSpPr>
              <p:nvPr/>
            </p:nvSpPr>
            <p:spPr bwMode="auto">
              <a:xfrm>
                <a:off x="2126" y="1986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000" b="1"/>
                  <a:t>R1</a:t>
                </a:r>
              </a:p>
            </p:txBody>
          </p:sp>
          <p:sp>
            <p:nvSpPr>
              <p:cNvPr id="295944" name="Oval 8"/>
              <p:cNvSpPr>
                <a:spLocks noChangeArrowheads="1"/>
              </p:cNvSpPr>
              <p:nvPr/>
            </p:nvSpPr>
            <p:spPr bwMode="auto">
              <a:xfrm>
                <a:off x="1084" y="1986"/>
                <a:ext cx="461" cy="403"/>
              </a:xfrm>
              <a:prstGeom prst="ellipse">
                <a:avLst/>
              </a:prstGeom>
              <a:solidFill>
                <a:srgbClr val="FFFF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000" b="1"/>
                  <a:t>L1</a:t>
                </a:r>
              </a:p>
            </p:txBody>
          </p:sp>
          <p:sp>
            <p:nvSpPr>
              <p:cNvPr id="295945" name="Oval 9"/>
              <p:cNvSpPr>
                <a:spLocks noChangeArrowheads="1"/>
              </p:cNvSpPr>
              <p:nvPr/>
            </p:nvSpPr>
            <p:spPr bwMode="auto">
              <a:xfrm>
                <a:off x="2622" y="2852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000" b="1" dirty="0"/>
                  <a:t>R12</a:t>
                </a:r>
              </a:p>
            </p:txBody>
          </p:sp>
          <p:sp>
            <p:nvSpPr>
              <p:cNvPr id="295946" name="Oval 10"/>
              <p:cNvSpPr>
                <a:spLocks noChangeArrowheads="1"/>
              </p:cNvSpPr>
              <p:nvPr/>
            </p:nvSpPr>
            <p:spPr bwMode="auto">
              <a:xfrm>
                <a:off x="1627" y="2848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000" b="1" dirty="0"/>
                  <a:t>L12</a:t>
                </a:r>
              </a:p>
            </p:txBody>
          </p:sp>
          <p:sp>
            <p:nvSpPr>
              <p:cNvPr id="295947" name="Line 11"/>
              <p:cNvSpPr>
                <a:spLocks noChangeShapeType="1"/>
              </p:cNvSpPr>
              <p:nvPr/>
            </p:nvSpPr>
            <p:spPr bwMode="auto">
              <a:xfrm flipH="1">
                <a:off x="741" y="930"/>
                <a:ext cx="614" cy="2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295948" name="Line 12"/>
              <p:cNvSpPr>
                <a:spLocks noChangeShapeType="1"/>
              </p:cNvSpPr>
              <p:nvPr/>
            </p:nvSpPr>
            <p:spPr bwMode="auto">
              <a:xfrm>
                <a:off x="1360" y="930"/>
                <a:ext cx="471" cy="2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295949" name="Line 13"/>
              <p:cNvSpPr>
                <a:spLocks noChangeShapeType="1"/>
              </p:cNvSpPr>
              <p:nvPr/>
            </p:nvSpPr>
            <p:spPr bwMode="auto">
              <a:xfrm>
                <a:off x="1899" y="1578"/>
                <a:ext cx="499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295950" name="Line 14"/>
              <p:cNvSpPr>
                <a:spLocks noChangeShapeType="1"/>
              </p:cNvSpPr>
              <p:nvPr/>
            </p:nvSpPr>
            <p:spPr bwMode="auto">
              <a:xfrm flipH="1">
                <a:off x="1355" y="1578"/>
                <a:ext cx="544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295951" name="Line 15"/>
              <p:cNvSpPr>
                <a:spLocks noChangeShapeType="1"/>
              </p:cNvSpPr>
              <p:nvPr/>
            </p:nvSpPr>
            <p:spPr bwMode="auto">
              <a:xfrm flipH="1">
                <a:off x="1854" y="2394"/>
                <a:ext cx="499" cy="4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295952" name="Line 16"/>
              <p:cNvSpPr>
                <a:spLocks noChangeShapeType="1"/>
              </p:cNvSpPr>
              <p:nvPr/>
            </p:nvSpPr>
            <p:spPr bwMode="auto">
              <a:xfrm>
                <a:off x="2353" y="2394"/>
                <a:ext cx="448" cy="45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600"/>
              </a:p>
            </p:txBody>
          </p:sp>
        </p:grpSp>
        <p:sp>
          <p:nvSpPr>
            <p:cNvPr id="32" name="Arc 31"/>
            <p:cNvSpPr/>
            <p:nvPr/>
          </p:nvSpPr>
          <p:spPr bwMode="auto">
            <a:xfrm rot="2508470" flipH="1">
              <a:off x="1629236" y="2217137"/>
              <a:ext cx="1225235" cy="1225235"/>
            </a:xfrm>
            <a:prstGeom prst="arc">
              <a:avLst>
                <a:gd name="adj1" fmla="val 8622056"/>
                <a:gd name="adj2" fmla="val 0"/>
              </a:avLst>
            </a:prstGeom>
            <a:noFill/>
            <a:ln w="76200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  <a:effectLst>
              <a:innerShdw blurRad="63500" dist="50800" dir="54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vi-VN" sz="1600">
                <a:latin typeface="Arial" charset="0"/>
                <a:cs typeface="Arial" charset="0"/>
              </a:endParaRP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BM Công nghệ phần mềm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97</a:t>
            </a:fld>
            <a:endParaRPr lang="en-US"/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248" y="558407"/>
            <a:ext cx="10642600" cy="70374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Cân bằng lại trường hợp 3</a:t>
            </a:r>
          </a:p>
        </p:txBody>
      </p:sp>
    </p:spTree>
    <p:extLst>
      <p:ext uri="{BB962C8B-B14F-4D97-AF65-F5344CB8AC3E}">
        <p14:creationId xmlns:p14="http://schemas.microsoft.com/office/powerpoint/2010/main" val="1820975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95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95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66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BM Công nghệ phần mềm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98</a:t>
            </a:fld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669838" y="461988"/>
            <a:ext cx="10642600" cy="70374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600"/>
              <a:t>Cài đặt cân bằng lại cho trường hợp 3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240444" y="1084570"/>
            <a:ext cx="10642600" cy="538480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80000"/>
              </a:lnSpc>
              <a:spcBef>
                <a:spcPct val="30000"/>
              </a:spcBef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sz="2800" b="1" dirty="0">
                <a:solidFill>
                  <a:srgbClr val="00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rotateRR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(AVLTree &amp;</a:t>
            </a:r>
            <a:r>
              <a:rPr lang="en-US" sz="2800" b="1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2800" b="1" smtClean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pPr marL="0" indent="0">
              <a:lnSpc>
                <a:spcPct val="80000"/>
              </a:lnSpc>
              <a:spcBef>
                <a:spcPct val="30000"/>
              </a:spcBef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AVLNode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*T1 = </a:t>
            </a:r>
            <a:r>
              <a:rPr lang="en-US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2800" b="1" dirty="0" err="1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Right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80000"/>
              </a:lnSpc>
              <a:spcBef>
                <a:spcPct val="30000"/>
              </a:spcBef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2800" b="1" dirty="0" err="1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Right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= T1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Left; </a:t>
            </a:r>
            <a:r>
              <a:rPr lang="en-US" sz="2800" b="1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en-US" sz="2800" b="1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spcBef>
                <a:spcPct val="30000"/>
              </a:spcBef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800" b="1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800" b="1" smtClean="0">
                <a:latin typeface="Consolas" panose="020B0609020204030204" pitchFamily="49" charset="0"/>
                <a:cs typeface="Consolas" panose="020B0609020204030204" pitchFamily="49" charset="0"/>
              </a:rPr>
              <a:t>T1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Left = T;</a:t>
            </a:r>
          </a:p>
          <a:p>
            <a:pPr marL="0" indent="0">
              <a:lnSpc>
                <a:spcPct val="80000"/>
              </a:lnSpc>
              <a:spcBef>
                <a:spcPct val="30000"/>
              </a:spcBef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switch(T1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800" b="1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balFactor</a:t>
            </a:r>
            <a:r>
              <a:rPr lang="en-US" sz="2800" b="1" smtClean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endParaRPr lang="en-US" sz="28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spcBef>
                <a:spcPct val="30000"/>
              </a:spcBef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	case RH: 	</a:t>
            </a:r>
            <a:r>
              <a:rPr lang="en-US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2800" b="1" dirty="0" err="1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800" b="1" dirty="0" err="1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balFactor</a:t>
            </a:r>
            <a:r>
              <a:rPr lang="en-US" sz="2800" b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EH;</a:t>
            </a:r>
          </a:p>
          <a:p>
            <a:pPr marL="0" indent="0">
              <a:lnSpc>
                <a:spcPct val="80000"/>
              </a:lnSpc>
              <a:spcBef>
                <a:spcPct val="30000"/>
              </a:spcBef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sz="2800" b="1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800" b="1" smtClean="0">
                <a:latin typeface="Consolas" panose="020B0609020204030204" pitchFamily="49" charset="0"/>
                <a:cs typeface="Consolas" panose="020B0609020204030204" pitchFamily="49" charset="0"/>
              </a:rPr>
              <a:t>		T</a:t>
            </a:r>
            <a:r>
              <a:rPr lang="en-US" sz="2800" b="1" dirty="0" err="1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800" b="1" dirty="0" err="1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balFactor</a:t>
            </a:r>
            <a:r>
              <a:rPr lang="en-US" sz="2800" b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EH; break;</a:t>
            </a:r>
          </a:p>
          <a:p>
            <a:pPr marL="0" indent="0">
              <a:lnSpc>
                <a:spcPct val="80000"/>
              </a:lnSpc>
              <a:spcBef>
                <a:spcPct val="30000"/>
              </a:spcBef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	case EH: 	</a:t>
            </a:r>
            <a:r>
              <a:rPr lang="en-US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2800" b="1" dirty="0" err="1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800" b="1" dirty="0" err="1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balFactor</a:t>
            </a:r>
            <a:r>
              <a:rPr lang="en-US" sz="2800" b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RH; </a:t>
            </a:r>
          </a:p>
          <a:p>
            <a:pPr marL="0" indent="0">
              <a:lnSpc>
                <a:spcPct val="80000"/>
              </a:lnSpc>
              <a:spcBef>
                <a:spcPct val="30000"/>
              </a:spcBef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sz="2800" b="1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800" b="1" smtClean="0">
                <a:latin typeface="Consolas" panose="020B0609020204030204" pitchFamily="49" charset="0"/>
                <a:cs typeface="Consolas" panose="020B0609020204030204" pitchFamily="49" charset="0"/>
              </a:rPr>
              <a:t>		T1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800" b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balFactor = LH; break;</a:t>
            </a:r>
            <a:endParaRPr lang="en-US" sz="28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spcBef>
                <a:spcPct val="30000"/>
              </a:spcBef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0" indent="0">
              <a:lnSpc>
                <a:spcPct val="80000"/>
              </a:lnSpc>
              <a:spcBef>
                <a:spcPct val="30000"/>
              </a:spcBef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T = T1;</a:t>
            </a:r>
          </a:p>
          <a:p>
            <a:pPr marL="0" indent="0">
              <a:lnSpc>
                <a:spcPct val="80000"/>
              </a:lnSpc>
              <a:spcBef>
                <a:spcPct val="30000"/>
              </a:spcBef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7890553" y="895375"/>
            <a:ext cx="2469336" cy="2845940"/>
            <a:chOff x="1049616" y="1268547"/>
            <a:chExt cx="4191001" cy="4343398"/>
          </a:xfrm>
        </p:grpSpPr>
        <p:grpSp>
          <p:nvGrpSpPr>
            <p:cNvPr id="8" name="Group 31"/>
            <p:cNvGrpSpPr>
              <a:grpSpLocks/>
            </p:cNvGrpSpPr>
            <p:nvPr/>
          </p:nvGrpSpPr>
          <p:grpSpPr bwMode="auto">
            <a:xfrm>
              <a:off x="1049616" y="1268547"/>
              <a:ext cx="4191001" cy="4343398"/>
              <a:chOff x="443" y="519"/>
              <a:chExt cx="2640" cy="2736"/>
            </a:xfrm>
          </p:grpSpPr>
          <p:sp>
            <p:nvSpPr>
              <p:cNvPr id="11" name="Oval 4"/>
              <p:cNvSpPr>
                <a:spLocks noChangeArrowheads="1"/>
              </p:cNvSpPr>
              <p:nvPr/>
            </p:nvSpPr>
            <p:spPr bwMode="auto">
              <a:xfrm>
                <a:off x="1121" y="519"/>
                <a:ext cx="461" cy="403"/>
              </a:xfrm>
              <a:prstGeom prst="ellipse">
                <a:avLst/>
              </a:prstGeom>
              <a:solidFill>
                <a:srgbClr val="0000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T</a:t>
                </a:r>
              </a:p>
            </p:txBody>
          </p:sp>
          <p:sp>
            <p:nvSpPr>
              <p:cNvPr id="12" name="Oval 5"/>
              <p:cNvSpPr>
                <a:spLocks noChangeArrowheads="1"/>
              </p:cNvSpPr>
              <p:nvPr/>
            </p:nvSpPr>
            <p:spPr bwMode="auto">
              <a:xfrm>
                <a:off x="1666" y="1185"/>
                <a:ext cx="461" cy="397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>
                    <a:solidFill>
                      <a:schemeClr val="bg1"/>
                    </a:solidFill>
                  </a:rPr>
                  <a:t>T1</a:t>
                </a:r>
              </a:p>
            </p:txBody>
          </p:sp>
          <p:sp>
            <p:nvSpPr>
              <p:cNvPr id="13" name="Oval 6"/>
              <p:cNvSpPr>
                <a:spLocks noChangeArrowheads="1"/>
              </p:cNvSpPr>
              <p:nvPr/>
            </p:nvSpPr>
            <p:spPr bwMode="auto">
              <a:xfrm>
                <a:off x="443" y="1162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 dirty="0"/>
                  <a:t>L</a:t>
                </a:r>
              </a:p>
            </p:txBody>
          </p:sp>
          <p:sp>
            <p:nvSpPr>
              <p:cNvPr id="14" name="Oval 7"/>
              <p:cNvSpPr>
                <a:spLocks noChangeArrowheads="1"/>
              </p:cNvSpPr>
              <p:nvPr/>
            </p:nvSpPr>
            <p:spPr bwMode="auto">
              <a:xfrm>
                <a:off x="2126" y="1986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/>
                  <a:t>R1</a:t>
                </a:r>
              </a:p>
            </p:txBody>
          </p:sp>
          <p:sp>
            <p:nvSpPr>
              <p:cNvPr id="15" name="Oval 8"/>
              <p:cNvSpPr>
                <a:spLocks noChangeArrowheads="1"/>
              </p:cNvSpPr>
              <p:nvPr/>
            </p:nvSpPr>
            <p:spPr bwMode="auto">
              <a:xfrm>
                <a:off x="1084" y="1986"/>
                <a:ext cx="461" cy="403"/>
              </a:xfrm>
              <a:prstGeom prst="ellipse">
                <a:avLst/>
              </a:prstGeom>
              <a:solidFill>
                <a:srgbClr val="FFFF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/>
                  <a:t>L1</a:t>
                </a:r>
              </a:p>
            </p:txBody>
          </p:sp>
          <p:sp>
            <p:nvSpPr>
              <p:cNvPr id="16" name="Oval 9"/>
              <p:cNvSpPr>
                <a:spLocks noChangeArrowheads="1"/>
              </p:cNvSpPr>
              <p:nvPr/>
            </p:nvSpPr>
            <p:spPr bwMode="auto">
              <a:xfrm>
                <a:off x="2622" y="2852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 dirty="0"/>
                  <a:t>R12</a:t>
                </a:r>
              </a:p>
            </p:txBody>
          </p:sp>
          <p:sp>
            <p:nvSpPr>
              <p:cNvPr id="17" name="Oval 10"/>
              <p:cNvSpPr>
                <a:spLocks noChangeArrowheads="1"/>
              </p:cNvSpPr>
              <p:nvPr/>
            </p:nvSpPr>
            <p:spPr bwMode="auto">
              <a:xfrm>
                <a:off x="1627" y="2848"/>
                <a:ext cx="461" cy="40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 dirty="0"/>
                  <a:t>L12</a:t>
                </a:r>
              </a:p>
            </p:txBody>
          </p:sp>
          <p:sp>
            <p:nvSpPr>
              <p:cNvPr id="18" name="Line 11"/>
              <p:cNvSpPr>
                <a:spLocks noChangeShapeType="1"/>
              </p:cNvSpPr>
              <p:nvPr/>
            </p:nvSpPr>
            <p:spPr bwMode="auto">
              <a:xfrm flipH="1">
                <a:off x="741" y="930"/>
                <a:ext cx="614" cy="2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19" name="Line 12"/>
              <p:cNvSpPr>
                <a:spLocks noChangeShapeType="1"/>
              </p:cNvSpPr>
              <p:nvPr/>
            </p:nvSpPr>
            <p:spPr bwMode="auto">
              <a:xfrm>
                <a:off x="1360" y="930"/>
                <a:ext cx="471" cy="2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20" name="Line 13"/>
              <p:cNvSpPr>
                <a:spLocks noChangeShapeType="1"/>
              </p:cNvSpPr>
              <p:nvPr/>
            </p:nvSpPr>
            <p:spPr bwMode="auto">
              <a:xfrm>
                <a:off x="1899" y="1578"/>
                <a:ext cx="499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21" name="Line 14"/>
              <p:cNvSpPr>
                <a:spLocks noChangeShapeType="1"/>
              </p:cNvSpPr>
              <p:nvPr/>
            </p:nvSpPr>
            <p:spPr bwMode="auto">
              <a:xfrm flipH="1">
                <a:off x="1355" y="1578"/>
                <a:ext cx="544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22" name="Line 15"/>
              <p:cNvSpPr>
                <a:spLocks noChangeShapeType="1"/>
              </p:cNvSpPr>
              <p:nvPr/>
            </p:nvSpPr>
            <p:spPr bwMode="auto">
              <a:xfrm flipH="1">
                <a:off x="1854" y="2394"/>
                <a:ext cx="499" cy="4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23" name="Line 16"/>
              <p:cNvSpPr>
                <a:spLocks noChangeShapeType="1"/>
              </p:cNvSpPr>
              <p:nvPr/>
            </p:nvSpPr>
            <p:spPr bwMode="auto">
              <a:xfrm>
                <a:off x="2353" y="2394"/>
                <a:ext cx="448" cy="45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400" b="1"/>
              </a:p>
            </p:txBody>
          </p:sp>
        </p:grpSp>
        <p:sp>
          <p:nvSpPr>
            <p:cNvPr id="10" name="Arc 9"/>
            <p:cNvSpPr/>
            <p:nvPr/>
          </p:nvSpPr>
          <p:spPr bwMode="auto">
            <a:xfrm rot="2508470" flipH="1">
              <a:off x="1629236" y="2217137"/>
              <a:ext cx="1225235" cy="1225235"/>
            </a:xfrm>
            <a:prstGeom prst="arc">
              <a:avLst>
                <a:gd name="adj1" fmla="val 8622056"/>
                <a:gd name="adj2" fmla="val 0"/>
              </a:avLst>
            </a:prstGeom>
            <a:noFill/>
            <a:ln w="76200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  <a:effectLst>
              <a:innerShdw blurRad="63500" dist="50800" dir="54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vi-VN" sz="1400" b="1">
                <a:latin typeface="Arial" charset="0"/>
                <a:cs typeface="Arial" charset="0"/>
              </a:endParaRPr>
            </a:p>
          </p:txBody>
        </p:sp>
      </p:grpSp>
      <p:grpSp>
        <p:nvGrpSpPr>
          <p:cNvPr id="24" name="Group 32"/>
          <p:cNvGrpSpPr>
            <a:grpSpLocks/>
          </p:cNvGrpSpPr>
          <p:nvPr/>
        </p:nvGrpSpPr>
        <p:grpSpPr bwMode="auto">
          <a:xfrm>
            <a:off x="9250091" y="3839734"/>
            <a:ext cx="2722368" cy="1932702"/>
            <a:chOff x="2986" y="732"/>
            <a:chExt cx="3110" cy="1935"/>
          </a:xfrm>
        </p:grpSpPr>
        <p:sp>
          <p:nvSpPr>
            <p:cNvPr id="25" name="Oval 17"/>
            <p:cNvSpPr>
              <a:spLocks noChangeArrowheads="1"/>
            </p:cNvSpPr>
            <p:nvPr/>
          </p:nvSpPr>
          <p:spPr bwMode="auto">
            <a:xfrm>
              <a:off x="5116" y="1389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R1</a:t>
              </a:r>
            </a:p>
          </p:txBody>
        </p:sp>
        <p:sp>
          <p:nvSpPr>
            <p:cNvPr id="26" name="Oval 18"/>
            <p:cNvSpPr>
              <a:spLocks noChangeArrowheads="1"/>
            </p:cNvSpPr>
            <p:nvPr/>
          </p:nvSpPr>
          <p:spPr bwMode="auto">
            <a:xfrm>
              <a:off x="5635" y="2239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 dirty="0"/>
                <a:t>R12</a:t>
              </a:r>
            </a:p>
          </p:txBody>
        </p:sp>
        <p:sp>
          <p:nvSpPr>
            <p:cNvPr id="27" name="Oval 19"/>
            <p:cNvSpPr>
              <a:spLocks noChangeArrowheads="1"/>
            </p:cNvSpPr>
            <p:nvPr/>
          </p:nvSpPr>
          <p:spPr bwMode="auto">
            <a:xfrm>
              <a:off x="4274" y="732"/>
              <a:ext cx="461" cy="403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T1</a:t>
              </a:r>
            </a:p>
          </p:txBody>
        </p:sp>
        <p:sp>
          <p:nvSpPr>
            <p:cNvPr id="28" name="Oval 20"/>
            <p:cNvSpPr>
              <a:spLocks noChangeArrowheads="1"/>
            </p:cNvSpPr>
            <p:nvPr/>
          </p:nvSpPr>
          <p:spPr bwMode="auto">
            <a:xfrm>
              <a:off x="4687" y="2251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 dirty="0"/>
                <a:t>L12</a:t>
              </a:r>
            </a:p>
          </p:txBody>
        </p:sp>
        <p:sp>
          <p:nvSpPr>
            <p:cNvPr id="29" name="Oval 21"/>
            <p:cNvSpPr>
              <a:spLocks noChangeArrowheads="1"/>
            </p:cNvSpPr>
            <p:nvPr/>
          </p:nvSpPr>
          <p:spPr bwMode="auto">
            <a:xfrm>
              <a:off x="3438" y="1426"/>
              <a:ext cx="461" cy="403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T</a:t>
              </a:r>
            </a:p>
          </p:txBody>
        </p:sp>
        <p:sp>
          <p:nvSpPr>
            <p:cNvPr id="30" name="Oval 22"/>
            <p:cNvSpPr>
              <a:spLocks noChangeArrowheads="1"/>
            </p:cNvSpPr>
            <p:nvPr/>
          </p:nvSpPr>
          <p:spPr bwMode="auto">
            <a:xfrm>
              <a:off x="2986" y="2251"/>
              <a:ext cx="461" cy="40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L</a:t>
              </a:r>
            </a:p>
          </p:txBody>
        </p:sp>
        <p:sp>
          <p:nvSpPr>
            <p:cNvPr id="31" name="Oval 23"/>
            <p:cNvSpPr>
              <a:spLocks noChangeArrowheads="1"/>
            </p:cNvSpPr>
            <p:nvPr/>
          </p:nvSpPr>
          <p:spPr bwMode="auto">
            <a:xfrm>
              <a:off x="3836" y="2264"/>
              <a:ext cx="461" cy="403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L1</a:t>
              </a:r>
            </a:p>
          </p:txBody>
        </p:sp>
        <p:sp>
          <p:nvSpPr>
            <p:cNvPr id="32" name="Line 24"/>
            <p:cNvSpPr>
              <a:spLocks noChangeShapeType="1"/>
            </p:cNvSpPr>
            <p:nvPr/>
          </p:nvSpPr>
          <p:spPr bwMode="auto">
            <a:xfrm>
              <a:off x="4510" y="1146"/>
              <a:ext cx="697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33" name="Line 25"/>
            <p:cNvSpPr>
              <a:spLocks noChangeShapeType="1"/>
            </p:cNvSpPr>
            <p:nvPr/>
          </p:nvSpPr>
          <p:spPr bwMode="auto">
            <a:xfrm>
              <a:off x="5343" y="1798"/>
              <a:ext cx="438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34" name="Line 26"/>
            <p:cNvSpPr>
              <a:spLocks noChangeShapeType="1"/>
            </p:cNvSpPr>
            <p:nvPr/>
          </p:nvSpPr>
          <p:spPr bwMode="auto">
            <a:xfrm flipH="1">
              <a:off x="4980" y="1798"/>
              <a:ext cx="362" cy="4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35" name="Line 27"/>
            <p:cNvSpPr>
              <a:spLocks noChangeShapeType="1"/>
            </p:cNvSpPr>
            <p:nvPr/>
          </p:nvSpPr>
          <p:spPr bwMode="auto">
            <a:xfrm flipH="1">
              <a:off x="3779" y="1146"/>
              <a:ext cx="726" cy="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36" name="Line 28"/>
            <p:cNvSpPr>
              <a:spLocks noChangeShapeType="1"/>
            </p:cNvSpPr>
            <p:nvPr/>
          </p:nvSpPr>
          <p:spPr bwMode="auto">
            <a:xfrm flipH="1">
              <a:off x="3301" y="1842"/>
              <a:ext cx="363" cy="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37" name="Line 29"/>
            <p:cNvSpPr>
              <a:spLocks noChangeShapeType="1"/>
            </p:cNvSpPr>
            <p:nvPr/>
          </p:nvSpPr>
          <p:spPr bwMode="auto">
            <a:xfrm>
              <a:off x="3667" y="1842"/>
              <a:ext cx="360" cy="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400" b="1"/>
            </a:p>
          </p:txBody>
        </p:sp>
      </p:grpSp>
      <p:sp>
        <p:nvSpPr>
          <p:cNvPr id="38" name="Curved Left Arrow 37"/>
          <p:cNvSpPr/>
          <p:nvPr/>
        </p:nvSpPr>
        <p:spPr>
          <a:xfrm rot="19921018">
            <a:off x="10967702" y="2066611"/>
            <a:ext cx="1074627" cy="2306041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6727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0" name="AutoShape 30"/>
          <p:cNvSpPr>
            <a:spLocks noChangeArrowheads="1"/>
          </p:cNvSpPr>
          <p:nvPr/>
        </p:nvSpPr>
        <p:spPr bwMode="auto">
          <a:xfrm>
            <a:off x="5128591" y="2168086"/>
            <a:ext cx="1714144" cy="490238"/>
          </a:xfrm>
          <a:prstGeom prst="rightArrow">
            <a:avLst>
              <a:gd name="adj1" fmla="val 50000"/>
              <a:gd name="adj2" fmla="val 41667"/>
            </a:avLst>
          </a:prstGeom>
          <a:solidFill>
            <a:srgbClr val="FFFF00"/>
          </a:solidFill>
          <a:ln w="57150" algn="ctr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1299236" y="1068366"/>
            <a:ext cx="3700463" cy="4246562"/>
            <a:chOff x="1299236" y="1068366"/>
            <a:chExt cx="3700463" cy="4246562"/>
          </a:xfrm>
        </p:grpSpPr>
        <p:grpSp>
          <p:nvGrpSpPr>
            <p:cNvPr id="296991" name="Group 31"/>
            <p:cNvGrpSpPr>
              <a:grpSpLocks/>
            </p:cNvGrpSpPr>
            <p:nvPr/>
          </p:nvGrpSpPr>
          <p:grpSpPr bwMode="auto">
            <a:xfrm>
              <a:off x="1299236" y="1068366"/>
              <a:ext cx="3700463" cy="4246562"/>
              <a:chOff x="444" y="527"/>
              <a:chExt cx="2331" cy="2675"/>
            </a:xfrm>
          </p:grpSpPr>
          <p:sp>
            <p:nvSpPr>
              <p:cNvPr id="296964" name="Oval 4"/>
              <p:cNvSpPr>
                <a:spLocks noChangeArrowheads="1"/>
              </p:cNvSpPr>
              <p:nvPr/>
            </p:nvSpPr>
            <p:spPr bwMode="auto">
              <a:xfrm>
                <a:off x="1135" y="527"/>
                <a:ext cx="453" cy="408"/>
              </a:xfrm>
              <a:prstGeom prst="ellipse">
                <a:avLst/>
              </a:prstGeom>
              <a:solidFill>
                <a:srgbClr val="0000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>
                    <a:solidFill>
                      <a:schemeClr val="bg1"/>
                    </a:solidFill>
                  </a:rPr>
                  <a:t>T</a:t>
                </a:r>
              </a:p>
            </p:txBody>
          </p:sp>
          <p:sp>
            <p:nvSpPr>
              <p:cNvPr id="296965" name="Oval 5"/>
              <p:cNvSpPr>
                <a:spLocks noChangeArrowheads="1"/>
              </p:cNvSpPr>
              <p:nvPr/>
            </p:nvSpPr>
            <p:spPr bwMode="auto">
              <a:xfrm>
                <a:off x="1714" y="1163"/>
                <a:ext cx="455" cy="409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/>
                  <a:t>T1</a:t>
                </a:r>
              </a:p>
            </p:txBody>
          </p:sp>
          <p:sp>
            <p:nvSpPr>
              <p:cNvPr id="296966" name="Oval 6"/>
              <p:cNvSpPr>
                <a:spLocks noChangeArrowheads="1"/>
              </p:cNvSpPr>
              <p:nvPr/>
            </p:nvSpPr>
            <p:spPr bwMode="auto">
              <a:xfrm>
                <a:off x="444" y="1117"/>
                <a:ext cx="453" cy="408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/>
                  <a:t>L</a:t>
                </a:r>
              </a:p>
            </p:txBody>
          </p:sp>
          <p:sp>
            <p:nvSpPr>
              <p:cNvPr id="296967" name="Oval 7"/>
              <p:cNvSpPr>
                <a:spLocks noChangeArrowheads="1"/>
              </p:cNvSpPr>
              <p:nvPr/>
            </p:nvSpPr>
            <p:spPr bwMode="auto">
              <a:xfrm>
                <a:off x="2322" y="1985"/>
                <a:ext cx="453" cy="408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/>
                  <a:t>R1</a:t>
                </a:r>
              </a:p>
            </p:txBody>
          </p:sp>
          <p:sp>
            <p:nvSpPr>
              <p:cNvPr id="296968" name="Oval 8"/>
              <p:cNvSpPr>
                <a:spLocks noChangeArrowheads="1"/>
              </p:cNvSpPr>
              <p:nvPr/>
            </p:nvSpPr>
            <p:spPr bwMode="auto">
              <a:xfrm>
                <a:off x="1123" y="1978"/>
                <a:ext cx="453" cy="408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>
                    <a:solidFill>
                      <a:schemeClr val="bg1"/>
                    </a:solidFill>
                  </a:rPr>
                  <a:t>T2</a:t>
                </a:r>
              </a:p>
            </p:txBody>
          </p:sp>
          <p:sp>
            <p:nvSpPr>
              <p:cNvPr id="296969" name="Oval 9"/>
              <p:cNvSpPr>
                <a:spLocks noChangeArrowheads="1"/>
              </p:cNvSpPr>
              <p:nvPr/>
            </p:nvSpPr>
            <p:spPr bwMode="auto">
              <a:xfrm>
                <a:off x="1666" y="2794"/>
                <a:ext cx="453" cy="408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/>
                  <a:t>R21</a:t>
                </a:r>
              </a:p>
            </p:txBody>
          </p:sp>
          <p:sp>
            <p:nvSpPr>
              <p:cNvPr id="296970" name="Oval 10"/>
              <p:cNvSpPr>
                <a:spLocks noChangeArrowheads="1"/>
              </p:cNvSpPr>
              <p:nvPr/>
            </p:nvSpPr>
            <p:spPr bwMode="auto">
              <a:xfrm>
                <a:off x="623" y="2794"/>
                <a:ext cx="453" cy="408"/>
              </a:xfrm>
              <a:prstGeom prst="ellipse">
                <a:avLst/>
              </a:prstGeom>
              <a:solidFill>
                <a:srgbClr val="FFFF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/>
                  <a:t>L21</a:t>
                </a:r>
              </a:p>
            </p:txBody>
          </p:sp>
          <p:sp>
            <p:nvSpPr>
              <p:cNvPr id="296971" name="Line 11"/>
              <p:cNvSpPr>
                <a:spLocks noChangeShapeType="1"/>
              </p:cNvSpPr>
              <p:nvPr/>
            </p:nvSpPr>
            <p:spPr bwMode="auto">
              <a:xfrm flipH="1">
                <a:off x="671" y="935"/>
                <a:ext cx="725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6972" name="Line 12"/>
              <p:cNvSpPr>
                <a:spLocks noChangeShapeType="1"/>
              </p:cNvSpPr>
              <p:nvPr/>
            </p:nvSpPr>
            <p:spPr bwMode="auto">
              <a:xfrm>
                <a:off x="1352" y="935"/>
                <a:ext cx="543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6973" name="Line 13"/>
              <p:cNvSpPr>
                <a:spLocks noChangeShapeType="1"/>
              </p:cNvSpPr>
              <p:nvPr/>
            </p:nvSpPr>
            <p:spPr bwMode="auto">
              <a:xfrm>
                <a:off x="1938" y="1570"/>
                <a:ext cx="533" cy="41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6974" name="Line 14"/>
              <p:cNvSpPr>
                <a:spLocks noChangeShapeType="1"/>
              </p:cNvSpPr>
              <p:nvPr/>
            </p:nvSpPr>
            <p:spPr bwMode="auto">
              <a:xfrm flipH="1">
                <a:off x="1394" y="1570"/>
                <a:ext cx="544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6975" name="Line 15"/>
              <p:cNvSpPr>
                <a:spLocks noChangeShapeType="1"/>
              </p:cNvSpPr>
              <p:nvPr/>
            </p:nvSpPr>
            <p:spPr bwMode="auto">
              <a:xfrm flipH="1">
                <a:off x="890" y="2386"/>
                <a:ext cx="459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6976" name="Line 16"/>
              <p:cNvSpPr>
                <a:spLocks noChangeShapeType="1"/>
              </p:cNvSpPr>
              <p:nvPr/>
            </p:nvSpPr>
            <p:spPr bwMode="auto">
              <a:xfrm>
                <a:off x="1349" y="2386"/>
                <a:ext cx="499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3" name="Arc 32"/>
            <p:cNvSpPr/>
            <p:nvPr/>
          </p:nvSpPr>
          <p:spPr bwMode="auto">
            <a:xfrm rot="20346236">
              <a:off x="3171143" y="3049376"/>
              <a:ext cx="1080910" cy="1101966"/>
            </a:xfrm>
            <a:prstGeom prst="arc">
              <a:avLst>
                <a:gd name="adj1" fmla="val 8622056"/>
                <a:gd name="adj2" fmla="val 0"/>
              </a:avLst>
            </a:prstGeom>
            <a:noFill/>
            <a:ln w="76200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  <a:effectLst>
              <a:innerShdw blurRad="63500" dist="50800" dir="54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vi-VN">
                <a:latin typeface="Arial" charset="0"/>
                <a:cs typeface="Arial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234173" y="2004991"/>
            <a:ext cx="4924423" cy="3240089"/>
            <a:chOff x="6234173" y="2004991"/>
            <a:chExt cx="4924423" cy="3240089"/>
          </a:xfrm>
        </p:grpSpPr>
        <p:grpSp>
          <p:nvGrpSpPr>
            <p:cNvPr id="296992" name="Group 32"/>
            <p:cNvGrpSpPr>
              <a:grpSpLocks/>
            </p:cNvGrpSpPr>
            <p:nvPr/>
          </p:nvGrpSpPr>
          <p:grpSpPr bwMode="auto">
            <a:xfrm>
              <a:off x="6234173" y="2004991"/>
              <a:ext cx="4924423" cy="3240089"/>
              <a:chOff x="3012" y="720"/>
              <a:chExt cx="3102" cy="2041"/>
            </a:xfrm>
          </p:grpSpPr>
          <p:sp>
            <p:nvSpPr>
              <p:cNvPr id="296977" name="Oval 17"/>
              <p:cNvSpPr>
                <a:spLocks noChangeArrowheads="1"/>
              </p:cNvSpPr>
              <p:nvPr/>
            </p:nvSpPr>
            <p:spPr bwMode="auto">
              <a:xfrm>
                <a:off x="5115" y="1543"/>
                <a:ext cx="453" cy="408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/>
                  <a:t>T1</a:t>
                </a:r>
              </a:p>
            </p:txBody>
          </p:sp>
          <p:sp>
            <p:nvSpPr>
              <p:cNvPr id="296978" name="Oval 18"/>
              <p:cNvSpPr>
                <a:spLocks noChangeArrowheads="1"/>
              </p:cNvSpPr>
              <p:nvPr/>
            </p:nvSpPr>
            <p:spPr bwMode="auto">
              <a:xfrm>
                <a:off x="5659" y="2352"/>
                <a:ext cx="455" cy="409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/>
                  <a:t>R1</a:t>
                </a:r>
              </a:p>
            </p:txBody>
          </p:sp>
          <p:sp>
            <p:nvSpPr>
              <p:cNvPr id="296979" name="Oval 19"/>
              <p:cNvSpPr>
                <a:spLocks noChangeArrowheads="1"/>
              </p:cNvSpPr>
              <p:nvPr/>
            </p:nvSpPr>
            <p:spPr bwMode="auto">
              <a:xfrm>
                <a:off x="4193" y="720"/>
                <a:ext cx="453" cy="408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>
                    <a:solidFill>
                      <a:schemeClr val="bg1"/>
                    </a:solidFill>
                  </a:rPr>
                  <a:t>T2</a:t>
                </a:r>
              </a:p>
            </p:txBody>
          </p:sp>
          <p:sp>
            <p:nvSpPr>
              <p:cNvPr id="296980" name="Oval 20"/>
              <p:cNvSpPr>
                <a:spLocks noChangeArrowheads="1"/>
              </p:cNvSpPr>
              <p:nvPr/>
            </p:nvSpPr>
            <p:spPr bwMode="auto">
              <a:xfrm>
                <a:off x="4702" y="2352"/>
                <a:ext cx="453" cy="408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/>
                  <a:t>R21</a:t>
                </a:r>
              </a:p>
            </p:txBody>
          </p:sp>
          <p:sp>
            <p:nvSpPr>
              <p:cNvPr id="296981" name="Oval 21"/>
              <p:cNvSpPr>
                <a:spLocks noChangeArrowheads="1"/>
              </p:cNvSpPr>
              <p:nvPr/>
            </p:nvSpPr>
            <p:spPr bwMode="auto">
              <a:xfrm>
                <a:off x="3488" y="1544"/>
                <a:ext cx="453" cy="408"/>
              </a:xfrm>
              <a:prstGeom prst="ellipse">
                <a:avLst/>
              </a:prstGeom>
              <a:solidFill>
                <a:srgbClr val="0000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>
                    <a:solidFill>
                      <a:schemeClr val="bg1"/>
                    </a:solidFill>
                  </a:rPr>
                  <a:t>T</a:t>
                </a:r>
              </a:p>
            </p:txBody>
          </p:sp>
          <p:sp>
            <p:nvSpPr>
              <p:cNvPr id="296982" name="Oval 22"/>
              <p:cNvSpPr>
                <a:spLocks noChangeArrowheads="1"/>
              </p:cNvSpPr>
              <p:nvPr/>
            </p:nvSpPr>
            <p:spPr bwMode="auto">
              <a:xfrm>
                <a:off x="3012" y="2352"/>
                <a:ext cx="422" cy="408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/>
                  <a:t>L</a:t>
                </a:r>
              </a:p>
            </p:txBody>
          </p:sp>
          <p:sp>
            <p:nvSpPr>
              <p:cNvPr id="296983" name="Oval 23"/>
              <p:cNvSpPr>
                <a:spLocks noChangeArrowheads="1"/>
              </p:cNvSpPr>
              <p:nvPr/>
            </p:nvSpPr>
            <p:spPr bwMode="auto">
              <a:xfrm>
                <a:off x="3955" y="2352"/>
                <a:ext cx="453" cy="408"/>
              </a:xfrm>
              <a:prstGeom prst="ellipse">
                <a:avLst/>
              </a:prstGeom>
              <a:solidFill>
                <a:srgbClr val="FFFF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/>
                  <a:t>L21</a:t>
                </a:r>
              </a:p>
            </p:txBody>
          </p:sp>
          <p:sp>
            <p:nvSpPr>
              <p:cNvPr id="296984" name="Line 24"/>
              <p:cNvSpPr>
                <a:spLocks noChangeShapeType="1"/>
              </p:cNvSpPr>
              <p:nvPr/>
            </p:nvSpPr>
            <p:spPr bwMode="auto">
              <a:xfrm>
                <a:off x="4436" y="1129"/>
                <a:ext cx="832" cy="41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6985" name="Line 25"/>
              <p:cNvSpPr>
                <a:spLocks noChangeShapeType="1"/>
              </p:cNvSpPr>
              <p:nvPr/>
            </p:nvSpPr>
            <p:spPr bwMode="auto">
              <a:xfrm>
                <a:off x="5343" y="1951"/>
                <a:ext cx="488" cy="4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6986" name="Line 26"/>
              <p:cNvSpPr>
                <a:spLocks noChangeShapeType="1"/>
              </p:cNvSpPr>
              <p:nvPr/>
            </p:nvSpPr>
            <p:spPr bwMode="auto">
              <a:xfrm flipH="1">
                <a:off x="4971" y="1951"/>
                <a:ext cx="372" cy="4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6987" name="Line 27"/>
              <p:cNvSpPr>
                <a:spLocks noChangeShapeType="1"/>
              </p:cNvSpPr>
              <p:nvPr/>
            </p:nvSpPr>
            <p:spPr bwMode="auto">
              <a:xfrm flipH="1">
                <a:off x="3788" y="1130"/>
                <a:ext cx="648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6988" name="Line 28"/>
              <p:cNvSpPr>
                <a:spLocks noChangeShapeType="1"/>
              </p:cNvSpPr>
              <p:nvPr/>
            </p:nvSpPr>
            <p:spPr bwMode="auto">
              <a:xfrm flipH="1">
                <a:off x="3263" y="1951"/>
                <a:ext cx="461" cy="4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6989" name="Line 29"/>
              <p:cNvSpPr>
                <a:spLocks noChangeShapeType="1"/>
              </p:cNvSpPr>
              <p:nvPr/>
            </p:nvSpPr>
            <p:spPr bwMode="auto">
              <a:xfrm>
                <a:off x="3724" y="1958"/>
                <a:ext cx="469" cy="4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4" name="Arc 33"/>
            <p:cNvSpPr/>
            <p:nvPr/>
          </p:nvSpPr>
          <p:spPr bwMode="auto">
            <a:xfrm rot="1380022" flipH="1">
              <a:off x="8043879" y="2933783"/>
              <a:ext cx="1135749" cy="1135749"/>
            </a:xfrm>
            <a:prstGeom prst="arc">
              <a:avLst>
                <a:gd name="adj1" fmla="val 8622056"/>
                <a:gd name="adj2" fmla="val 581507"/>
              </a:avLst>
            </a:prstGeom>
            <a:noFill/>
            <a:ln w="76200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  <a:effectLst>
              <a:innerShdw blurRad="63500" dist="50800" dir="54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vi-VN">
                <a:latin typeface="Arial" charset="0"/>
                <a:cs typeface="Arial" charset="0"/>
              </a:endParaRP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1272342" y="5604549"/>
            <a:ext cx="3777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0070C0"/>
                </a:solidFill>
              </a:rPr>
              <a:t>Xoay phải tại nút </a:t>
            </a:r>
            <a:r>
              <a:rPr lang="en-US" sz="2800" b="1">
                <a:solidFill>
                  <a:srgbClr val="0000FF"/>
                </a:solidFill>
              </a:rPr>
              <a:t>T</a:t>
            </a:r>
            <a:r>
              <a:rPr lang="en-US" sz="2800" b="1" baseline="-25000">
                <a:solidFill>
                  <a:srgbClr val="0000FF"/>
                </a:solidFill>
              </a:rPr>
              <a:t>1</a:t>
            </a:r>
            <a:endParaRPr lang="vi-VN" sz="2800" b="1" baseline="-25000">
              <a:solidFill>
                <a:srgbClr val="0000FF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932415" y="5533111"/>
            <a:ext cx="3777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0070C0"/>
                </a:solidFill>
              </a:rPr>
              <a:t>Xoay trái tại nút </a:t>
            </a:r>
            <a:r>
              <a:rPr lang="en-US" sz="2800" b="1">
                <a:solidFill>
                  <a:srgbClr val="0000FF"/>
                </a:solidFill>
              </a:rPr>
              <a:t>T</a:t>
            </a:r>
            <a:r>
              <a:rPr lang="en-US" sz="2800" b="1" baseline="-25000">
                <a:solidFill>
                  <a:srgbClr val="0000FF"/>
                </a:solidFill>
              </a:rPr>
              <a:t>2</a:t>
            </a:r>
            <a:endParaRPr lang="vi-VN" sz="2800" b="1" baseline="-25000">
              <a:solidFill>
                <a:srgbClr val="0000FF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BM Công nghệ phần mềm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99</a:t>
            </a:fld>
            <a:endParaRPr lang="en-US"/>
          </a:p>
        </p:txBody>
      </p:sp>
      <p:sp>
        <p:nvSpPr>
          <p:cNvPr id="39" name="Rectangle 2"/>
          <p:cNvSpPr>
            <a:spLocks noGrp="1" noChangeArrowheads="1"/>
          </p:cNvSpPr>
          <p:nvPr>
            <p:ph type="title"/>
          </p:nvPr>
        </p:nvSpPr>
        <p:spPr>
          <a:xfrm>
            <a:off x="834335" y="538133"/>
            <a:ext cx="10642600" cy="70374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Cân bằng lại trường hợp 4</a:t>
            </a:r>
          </a:p>
        </p:txBody>
      </p:sp>
    </p:spTree>
    <p:extLst>
      <p:ext uri="{BB962C8B-B14F-4D97-AF65-F5344CB8AC3E}">
        <p14:creationId xmlns:p14="http://schemas.microsoft.com/office/powerpoint/2010/main" val="2480564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BM Công nghệ phần mềm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100</a:t>
            </a:fld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774700" y="579754"/>
            <a:ext cx="10642600" cy="70374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Cài đặt cân bằng lại cho trường hợp 4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774700" y="1181649"/>
            <a:ext cx="10642600" cy="5384800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spcBef>
                <a:spcPts val="600"/>
              </a:spcBef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</a:pP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sz="2200" b="1" dirty="0">
                <a:solidFill>
                  <a:srgbClr val="00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rotateRL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(AVLTree &amp;</a:t>
            </a:r>
            <a:r>
              <a:rPr lang="en-US" sz="2200" b="1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2200" b="1" smtClean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80000"/>
              </a:lnSpc>
              <a:spcBef>
                <a:spcPts val="600"/>
              </a:spcBef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</a:pPr>
            <a:r>
              <a:rPr lang="en-US" sz="2200" b="1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200" b="1" smtClean="0">
                <a:latin typeface="Consolas" panose="020B0609020204030204" pitchFamily="49" charset="0"/>
                <a:cs typeface="Consolas" panose="020B0609020204030204" pitchFamily="49" charset="0"/>
              </a:rPr>
              <a:t>AVLNode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*T1 = 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Right;</a:t>
            </a:r>
          </a:p>
          <a:p>
            <a:pPr marL="0" indent="0">
              <a:lnSpc>
                <a:spcPct val="80000"/>
              </a:lnSpc>
              <a:spcBef>
                <a:spcPts val="600"/>
              </a:spcBef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</a:pP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	AVLNode *T2 = T1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Left;</a:t>
            </a:r>
          </a:p>
          <a:p>
            <a:pPr marL="0" indent="0">
              <a:lnSpc>
                <a:spcPct val="80000"/>
              </a:lnSpc>
              <a:spcBef>
                <a:spcPts val="600"/>
              </a:spcBef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</a:pP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	T1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Left = T2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Right;	T2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Right = T1;</a:t>
            </a:r>
          </a:p>
          <a:p>
            <a:pPr marL="0" indent="0">
              <a:lnSpc>
                <a:spcPct val="80000"/>
              </a:lnSpc>
              <a:spcBef>
                <a:spcPts val="600"/>
              </a:spcBef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</a:pP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	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Right = T2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Left;	T2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Left = T;</a:t>
            </a:r>
          </a:p>
          <a:p>
            <a:pPr marL="0" indent="0">
              <a:lnSpc>
                <a:spcPct val="80000"/>
              </a:lnSpc>
              <a:spcBef>
                <a:spcPts val="600"/>
              </a:spcBef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</a:pP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	switch(T2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200" b="1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balFactor</a:t>
            </a:r>
            <a:r>
              <a:rPr lang="en-US" sz="2200" b="1" smtClean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80000"/>
              </a:lnSpc>
              <a:spcBef>
                <a:spcPts val="600"/>
              </a:spcBef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</a:pPr>
            <a:r>
              <a:rPr lang="en-US" sz="2200" b="1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200" b="1" smtClean="0">
                <a:latin typeface="Consolas" panose="020B0609020204030204" pitchFamily="49" charset="0"/>
                <a:cs typeface="Consolas" panose="020B0609020204030204" pitchFamily="49" charset="0"/>
              </a:rPr>
              <a:t>	case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RH: 	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200" b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balFactor = LH;</a:t>
            </a:r>
          </a:p>
          <a:p>
            <a:pPr marL="0" indent="0">
              <a:lnSpc>
                <a:spcPct val="80000"/>
              </a:lnSpc>
              <a:spcBef>
                <a:spcPts val="600"/>
              </a:spcBef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</a:pP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sz="2200" b="1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200" b="1" smtClean="0">
                <a:latin typeface="Consolas" panose="020B0609020204030204" pitchFamily="49" charset="0"/>
                <a:cs typeface="Consolas" panose="020B0609020204030204" pitchFamily="49" charset="0"/>
              </a:rPr>
              <a:t>	T1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200" b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balFactor = EH; break;</a:t>
            </a:r>
          </a:p>
          <a:p>
            <a:pPr marL="0" indent="0">
              <a:lnSpc>
                <a:spcPct val="80000"/>
              </a:lnSpc>
              <a:spcBef>
                <a:spcPts val="600"/>
              </a:spcBef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</a:pP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		case EH: 	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200" b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balFactor = EH; </a:t>
            </a:r>
          </a:p>
          <a:p>
            <a:pPr marL="0" indent="0">
              <a:lnSpc>
                <a:spcPct val="80000"/>
              </a:lnSpc>
              <a:spcBef>
                <a:spcPts val="600"/>
              </a:spcBef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</a:pP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sz="2200" b="1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200" b="1" smtClean="0">
                <a:latin typeface="Consolas" panose="020B0609020204030204" pitchFamily="49" charset="0"/>
                <a:cs typeface="Consolas" panose="020B0609020204030204" pitchFamily="49" charset="0"/>
              </a:rPr>
              <a:t>	T1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200" b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balFactor = EH; break;</a:t>
            </a:r>
          </a:p>
          <a:p>
            <a:pPr marL="0" indent="0">
              <a:lnSpc>
                <a:spcPct val="80000"/>
              </a:lnSpc>
              <a:spcBef>
                <a:spcPts val="600"/>
              </a:spcBef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</a:pP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		case LH:	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200" b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balFactor = EH; </a:t>
            </a:r>
          </a:p>
          <a:p>
            <a:pPr marL="0" indent="0">
              <a:lnSpc>
                <a:spcPct val="80000"/>
              </a:lnSpc>
              <a:spcBef>
                <a:spcPts val="600"/>
              </a:spcBef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</a:pP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sz="2200" b="1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200" b="1" smtClean="0">
                <a:latin typeface="Consolas" panose="020B0609020204030204" pitchFamily="49" charset="0"/>
                <a:cs typeface="Consolas" panose="020B0609020204030204" pitchFamily="49" charset="0"/>
              </a:rPr>
              <a:t>	T1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200" b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balFactor = RH; break;</a:t>
            </a:r>
            <a:endParaRPr lang="en-US" sz="2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600"/>
              </a:spcBef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</a:pP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0" indent="0">
              <a:lnSpc>
                <a:spcPct val="80000"/>
              </a:lnSpc>
              <a:spcBef>
                <a:spcPts val="600"/>
              </a:spcBef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</a:pP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	T2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200" b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balFactor = EH; T = T2;</a:t>
            </a:r>
          </a:p>
          <a:p>
            <a:pPr marL="0" indent="0">
              <a:lnSpc>
                <a:spcPct val="80000"/>
              </a:lnSpc>
              <a:spcBef>
                <a:spcPts val="600"/>
              </a:spcBef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</a:pP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8054940" y="1148209"/>
            <a:ext cx="2092112" cy="2725840"/>
            <a:chOff x="1299236" y="1068366"/>
            <a:chExt cx="3700463" cy="4246562"/>
          </a:xfrm>
        </p:grpSpPr>
        <p:grpSp>
          <p:nvGrpSpPr>
            <p:cNvPr id="25" name="Group 31"/>
            <p:cNvGrpSpPr>
              <a:grpSpLocks/>
            </p:cNvGrpSpPr>
            <p:nvPr/>
          </p:nvGrpSpPr>
          <p:grpSpPr bwMode="auto">
            <a:xfrm>
              <a:off x="1299236" y="1068366"/>
              <a:ext cx="3700463" cy="4246562"/>
              <a:chOff x="444" y="527"/>
              <a:chExt cx="2331" cy="2675"/>
            </a:xfrm>
          </p:grpSpPr>
          <p:sp>
            <p:nvSpPr>
              <p:cNvPr id="27" name="Oval 4"/>
              <p:cNvSpPr>
                <a:spLocks noChangeArrowheads="1"/>
              </p:cNvSpPr>
              <p:nvPr/>
            </p:nvSpPr>
            <p:spPr bwMode="auto">
              <a:xfrm>
                <a:off x="1135" y="527"/>
                <a:ext cx="453" cy="408"/>
              </a:xfrm>
              <a:prstGeom prst="ellipse">
                <a:avLst/>
              </a:prstGeom>
              <a:solidFill>
                <a:srgbClr val="0000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>
                    <a:solidFill>
                      <a:schemeClr val="bg1"/>
                    </a:solidFill>
                  </a:rPr>
                  <a:t>T</a:t>
                </a:r>
              </a:p>
            </p:txBody>
          </p:sp>
          <p:sp>
            <p:nvSpPr>
              <p:cNvPr id="28" name="Oval 5"/>
              <p:cNvSpPr>
                <a:spLocks noChangeArrowheads="1"/>
              </p:cNvSpPr>
              <p:nvPr/>
            </p:nvSpPr>
            <p:spPr bwMode="auto">
              <a:xfrm>
                <a:off x="1714" y="1163"/>
                <a:ext cx="455" cy="409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/>
                  <a:t>T1</a:t>
                </a:r>
              </a:p>
            </p:txBody>
          </p:sp>
          <p:sp>
            <p:nvSpPr>
              <p:cNvPr id="29" name="Oval 6"/>
              <p:cNvSpPr>
                <a:spLocks noChangeArrowheads="1"/>
              </p:cNvSpPr>
              <p:nvPr/>
            </p:nvSpPr>
            <p:spPr bwMode="auto">
              <a:xfrm>
                <a:off x="444" y="1117"/>
                <a:ext cx="453" cy="408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/>
                  <a:t>L</a:t>
                </a:r>
              </a:p>
            </p:txBody>
          </p:sp>
          <p:sp>
            <p:nvSpPr>
              <p:cNvPr id="30" name="Oval 7"/>
              <p:cNvSpPr>
                <a:spLocks noChangeArrowheads="1"/>
              </p:cNvSpPr>
              <p:nvPr/>
            </p:nvSpPr>
            <p:spPr bwMode="auto">
              <a:xfrm>
                <a:off x="2322" y="1985"/>
                <a:ext cx="453" cy="408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/>
                  <a:t>R1</a:t>
                </a:r>
              </a:p>
            </p:txBody>
          </p:sp>
          <p:sp>
            <p:nvSpPr>
              <p:cNvPr id="31" name="Oval 8"/>
              <p:cNvSpPr>
                <a:spLocks noChangeArrowheads="1"/>
              </p:cNvSpPr>
              <p:nvPr/>
            </p:nvSpPr>
            <p:spPr bwMode="auto">
              <a:xfrm>
                <a:off x="1123" y="1978"/>
                <a:ext cx="453" cy="408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>
                    <a:solidFill>
                      <a:schemeClr val="bg1"/>
                    </a:solidFill>
                  </a:rPr>
                  <a:t>T2</a:t>
                </a:r>
              </a:p>
            </p:txBody>
          </p:sp>
          <p:sp>
            <p:nvSpPr>
              <p:cNvPr id="32" name="Oval 9"/>
              <p:cNvSpPr>
                <a:spLocks noChangeArrowheads="1"/>
              </p:cNvSpPr>
              <p:nvPr/>
            </p:nvSpPr>
            <p:spPr bwMode="auto">
              <a:xfrm>
                <a:off x="1666" y="2794"/>
                <a:ext cx="453" cy="408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/>
                  <a:t>R21</a:t>
                </a:r>
              </a:p>
            </p:txBody>
          </p:sp>
          <p:sp>
            <p:nvSpPr>
              <p:cNvPr id="33" name="Oval 10"/>
              <p:cNvSpPr>
                <a:spLocks noChangeArrowheads="1"/>
              </p:cNvSpPr>
              <p:nvPr/>
            </p:nvSpPr>
            <p:spPr bwMode="auto">
              <a:xfrm>
                <a:off x="623" y="2794"/>
                <a:ext cx="453" cy="408"/>
              </a:xfrm>
              <a:prstGeom prst="ellipse">
                <a:avLst/>
              </a:prstGeom>
              <a:solidFill>
                <a:srgbClr val="FFFF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/>
                  <a:t>L21</a:t>
                </a:r>
              </a:p>
            </p:txBody>
          </p:sp>
          <p:sp>
            <p:nvSpPr>
              <p:cNvPr id="34" name="Line 11"/>
              <p:cNvSpPr>
                <a:spLocks noChangeShapeType="1"/>
              </p:cNvSpPr>
              <p:nvPr/>
            </p:nvSpPr>
            <p:spPr bwMode="auto">
              <a:xfrm flipH="1">
                <a:off x="671" y="935"/>
                <a:ext cx="725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35" name="Line 12"/>
              <p:cNvSpPr>
                <a:spLocks noChangeShapeType="1"/>
              </p:cNvSpPr>
              <p:nvPr/>
            </p:nvSpPr>
            <p:spPr bwMode="auto">
              <a:xfrm>
                <a:off x="1352" y="935"/>
                <a:ext cx="543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36" name="Line 13"/>
              <p:cNvSpPr>
                <a:spLocks noChangeShapeType="1"/>
              </p:cNvSpPr>
              <p:nvPr/>
            </p:nvSpPr>
            <p:spPr bwMode="auto">
              <a:xfrm>
                <a:off x="1938" y="1570"/>
                <a:ext cx="533" cy="41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37" name="Line 14"/>
              <p:cNvSpPr>
                <a:spLocks noChangeShapeType="1"/>
              </p:cNvSpPr>
              <p:nvPr/>
            </p:nvSpPr>
            <p:spPr bwMode="auto">
              <a:xfrm flipH="1">
                <a:off x="1394" y="1570"/>
                <a:ext cx="544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38" name="Line 15"/>
              <p:cNvSpPr>
                <a:spLocks noChangeShapeType="1"/>
              </p:cNvSpPr>
              <p:nvPr/>
            </p:nvSpPr>
            <p:spPr bwMode="auto">
              <a:xfrm flipH="1">
                <a:off x="890" y="2386"/>
                <a:ext cx="459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39" name="Line 16"/>
              <p:cNvSpPr>
                <a:spLocks noChangeShapeType="1"/>
              </p:cNvSpPr>
              <p:nvPr/>
            </p:nvSpPr>
            <p:spPr bwMode="auto">
              <a:xfrm>
                <a:off x="1349" y="2386"/>
                <a:ext cx="499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400" b="1"/>
              </a:p>
            </p:txBody>
          </p:sp>
        </p:grpSp>
        <p:sp>
          <p:nvSpPr>
            <p:cNvPr id="26" name="Arc 25"/>
            <p:cNvSpPr/>
            <p:nvPr/>
          </p:nvSpPr>
          <p:spPr bwMode="auto">
            <a:xfrm rot="20346236">
              <a:off x="3171143" y="3049376"/>
              <a:ext cx="1080910" cy="1101966"/>
            </a:xfrm>
            <a:prstGeom prst="arc">
              <a:avLst>
                <a:gd name="adj1" fmla="val 8622056"/>
                <a:gd name="adj2" fmla="val 0"/>
              </a:avLst>
            </a:prstGeom>
            <a:noFill/>
            <a:ln w="76200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  <a:effectLst>
              <a:innerShdw blurRad="63500" dist="50800" dir="54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vi-VN" sz="1400" b="1">
                <a:latin typeface="Arial" charset="0"/>
                <a:cs typeface="Arial" charset="0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9315054" y="3726272"/>
            <a:ext cx="2703363" cy="2090569"/>
            <a:chOff x="6234173" y="2004991"/>
            <a:chExt cx="4924423" cy="3240089"/>
          </a:xfrm>
        </p:grpSpPr>
        <p:grpSp>
          <p:nvGrpSpPr>
            <p:cNvPr id="41" name="Group 32"/>
            <p:cNvGrpSpPr>
              <a:grpSpLocks/>
            </p:cNvGrpSpPr>
            <p:nvPr/>
          </p:nvGrpSpPr>
          <p:grpSpPr bwMode="auto">
            <a:xfrm>
              <a:off x="6234173" y="2004991"/>
              <a:ext cx="4924423" cy="3240089"/>
              <a:chOff x="3012" y="720"/>
              <a:chExt cx="3102" cy="2041"/>
            </a:xfrm>
          </p:grpSpPr>
          <p:sp>
            <p:nvSpPr>
              <p:cNvPr id="43" name="Oval 17"/>
              <p:cNvSpPr>
                <a:spLocks noChangeArrowheads="1"/>
              </p:cNvSpPr>
              <p:nvPr/>
            </p:nvSpPr>
            <p:spPr bwMode="auto">
              <a:xfrm>
                <a:off x="5115" y="1543"/>
                <a:ext cx="453" cy="408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/>
                  <a:t>T1</a:t>
                </a:r>
              </a:p>
            </p:txBody>
          </p:sp>
          <p:sp>
            <p:nvSpPr>
              <p:cNvPr id="44" name="Oval 18"/>
              <p:cNvSpPr>
                <a:spLocks noChangeArrowheads="1"/>
              </p:cNvSpPr>
              <p:nvPr/>
            </p:nvSpPr>
            <p:spPr bwMode="auto">
              <a:xfrm>
                <a:off x="5659" y="2352"/>
                <a:ext cx="455" cy="409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/>
                  <a:t>R1</a:t>
                </a:r>
              </a:p>
            </p:txBody>
          </p:sp>
          <p:sp>
            <p:nvSpPr>
              <p:cNvPr id="45" name="Oval 19"/>
              <p:cNvSpPr>
                <a:spLocks noChangeArrowheads="1"/>
              </p:cNvSpPr>
              <p:nvPr/>
            </p:nvSpPr>
            <p:spPr bwMode="auto">
              <a:xfrm>
                <a:off x="4193" y="720"/>
                <a:ext cx="453" cy="408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>
                    <a:solidFill>
                      <a:schemeClr val="bg1"/>
                    </a:solidFill>
                  </a:rPr>
                  <a:t>T2</a:t>
                </a:r>
              </a:p>
            </p:txBody>
          </p:sp>
          <p:sp>
            <p:nvSpPr>
              <p:cNvPr id="46" name="Oval 20"/>
              <p:cNvSpPr>
                <a:spLocks noChangeArrowheads="1"/>
              </p:cNvSpPr>
              <p:nvPr/>
            </p:nvSpPr>
            <p:spPr bwMode="auto">
              <a:xfrm>
                <a:off x="4702" y="2352"/>
                <a:ext cx="453" cy="408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/>
                  <a:t>R21</a:t>
                </a:r>
              </a:p>
            </p:txBody>
          </p:sp>
          <p:sp>
            <p:nvSpPr>
              <p:cNvPr id="47" name="Oval 21"/>
              <p:cNvSpPr>
                <a:spLocks noChangeArrowheads="1"/>
              </p:cNvSpPr>
              <p:nvPr/>
            </p:nvSpPr>
            <p:spPr bwMode="auto">
              <a:xfrm>
                <a:off x="3488" y="1544"/>
                <a:ext cx="453" cy="408"/>
              </a:xfrm>
              <a:prstGeom prst="ellipse">
                <a:avLst/>
              </a:prstGeom>
              <a:solidFill>
                <a:srgbClr val="0000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>
                    <a:solidFill>
                      <a:schemeClr val="bg1"/>
                    </a:solidFill>
                  </a:rPr>
                  <a:t>T</a:t>
                </a:r>
              </a:p>
            </p:txBody>
          </p:sp>
          <p:sp>
            <p:nvSpPr>
              <p:cNvPr id="48" name="Oval 22"/>
              <p:cNvSpPr>
                <a:spLocks noChangeArrowheads="1"/>
              </p:cNvSpPr>
              <p:nvPr/>
            </p:nvSpPr>
            <p:spPr bwMode="auto">
              <a:xfrm>
                <a:off x="3012" y="2352"/>
                <a:ext cx="422" cy="408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CC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/>
                  <a:t>L</a:t>
                </a:r>
              </a:p>
            </p:txBody>
          </p:sp>
          <p:sp>
            <p:nvSpPr>
              <p:cNvPr id="49" name="Oval 23"/>
              <p:cNvSpPr>
                <a:spLocks noChangeArrowheads="1"/>
              </p:cNvSpPr>
              <p:nvPr/>
            </p:nvSpPr>
            <p:spPr bwMode="auto">
              <a:xfrm>
                <a:off x="3955" y="2352"/>
                <a:ext cx="453" cy="408"/>
              </a:xfrm>
              <a:prstGeom prst="ellipse">
                <a:avLst/>
              </a:prstGeom>
              <a:solidFill>
                <a:srgbClr val="FFFF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/>
                  <a:t>L21</a:t>
                </a:r>
              </a:p>
            </p:txBody>
          </p:sp>
          <p:sp>
            <p:nvSpPr>
              <p:cNvPr id="50" name="Line 24"/>
              <p:cNvSpPr>
                <a:spLocks noChangeShapeType="1"/>
              </p:cNvSpPr>
              <p:nvPr/>
            </p:nvSpPr>
            <p:spPr bwMode="auto">
              <a:xfrm>
                <a:off x="4436" y="1129"/>
                <a:ext cx="832" cy="41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51" name="Line 25"/>
              <p:cNvSpPr>
                <a:spLocks noChangeShapeType="1"/>
              </p:cNvSpPr>
              <p:nvPr/>
            </p:nvSpPr>
            <p:spPr bwMode="auto">
              <a:xfrm>
                <a:off x="5343" y="1951"/>
                <a:ext cx="488" cy="4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52" name="Line 26"/>
              <p:cNvSpPr>
                <a:spLocks noChangeShapeType="1"/>
              </p:cNvSpPr>
              <p:nvPr/>
            </p:nvSpPr>
            <p:spPr bwMode="auto">
              <a:xfrm flipH="1">
                <a:off x="4971" y="1951"/>
                <a:ext cx="372" cy="4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53" name="Line 27"/>
              <p:cNvSpPr>
                <a:spLocks noChangeShapeType="1"/>
              </p:cNvSpPr>
              <p:nvPr/>
            </p:nvSpPr>
            <p:spPr bwMode="auto">
              <a:xfrm flipH="1">
                <a:off x="3788" y="1130"/>
                <a:ext cx="648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54" name="Line 28"/>
              <p:cNvSpPr>
                <a:spLocks noChangeShapeType="1"/>
              </p:cNvSpPr>
              <p:nvPr/>
            </p:nvSpPr>
            <p:spPr bwMode="auto">
              <a:xfrm flipH="1">
                <a:off x="3263" y="1951"/>
                <a:ext cx="461" cy="4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400" b="1"/>
              </a:p>
            </p:txBody>
          </p:sp>
          <p:sp>
            <p:nvSpPr>
              <p:cNvPr id="55" name="Line 29"/>
              <p:cNvSpPr>
                <a:spLocks noChangeShapeType="1"/>
              </p:cNvSpPr>
              <p:nvPr/>
            </p:nvSpPr>
            <p:spPr bwMode="auto">
              <a:xfrm>
                <a:off x="3724" y="1958"/>
                <a:ext cx="469" cy="4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400" b="1"/>
              </a:p>
            </p:txBody>
          </p:sp>
        </p:grpSp>
        <p:sp>
          <p:nvSpPr>
            <p:cNvPr id="42" name="Arc 41"/>
            <p:cNvSpPr/>
            <p:nvPr/>
          </p:nvSpPr>
          <p:spPr bwMode="auto">
            <a:xfrm rot="1380022" flipH="1">
              <a:off x="8043879" y="2933783"/>
              <a:ext cx="1135749" cy="1135749"/>
            </a:xfrm>
            <a:prstGeom prst="arc">
              <a:avLst>
                <a:gd name="adj1" fmla="val 8622056"/>
                <a:gd name="adj2" fmla="val 581507"/>
              </a:avLst>
            </a:prstGeom>
            <a:noFill/>
            <a:ln w="76200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  <a:effectLst>
              <a:innerShdw blurRad="63500" dist="50800" dir="54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vi-VN" sz="1400" b="1">
                <a:latin typeface="Arial" charset="0"/>
                <a:cs typeface="Arial" charset="0"/>
              </a:endParaRPr>
            </a:p>
          </p:txBody>
        </p:sp>
      </p:grpSp>
      <p:sp>
        <p:nvSpPr>
          <p:cNvPr id="56" name="Curved Left Arrow 55"/>
          <p:cNvSpPr/>
          <p:nvPr/>
        </p:nvSpPr>
        <p:spPr>
          <a:xfrm rot="19921018">
            <a:off x="10734023" y="1548683"/>
            <a:ext cx="1074627" cy="2306041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5399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7" name="Rectangle 39"/>
          <p:cNvSpPr>
            <a:spLocks noChangeArrowheads="1"/>
          </p:cNvSpPr>
          <p:nvPr/>
        </p:nvSpPr>
        <p:spPr bwMode="auto">
          <a:xfrm>
            <a:off x="1143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2049" name="Group 1"/>
          <p:cNvGrpSpPr>
            <a:grpSpLocks/>
          </p:cNvGrpSpPr>
          <p:nvPr/>
        </p:nvGrpSpPr>
        <p:grpSpPr bwMode="auto">
          <a:xfrm>
            <a:off x="1523504" y="1131697"/>
            <a:ext cx="9144992" cy="4929110"/>
            <a:chOff x="2004" y="9635"/>
            <a:chExt cx="9343" cy="4844"/>
          </a:xfrm>
        </p:grpSpPr>
        <p:sp>
          <p:nvSpPr>
            <p:cNvPr id="2086" name="AutoShape 38"/>
            <p:cNvSpPr>
              <a:spLocks noChangeArrowheads="1"/>
            </p:cNvSpPr>
            <p:nvPr/>
          </p:nvSpPr>
          <p:spPr bwMode="auto">
            <a:xfrm>
              <a:off x="5661" y="9920"/>
              <a:ext cx="1700" cy="438"/>
            </a:xfrm>
            <a:prstGeom prst="rightArrow">
              <a:avLst>
                <a:gd name="adj1" fmla="val 50000"/>
                <a:gd name="adj2" fmla="val 31107"/>
              </a:avLst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5" name="Text Box 37"/>
            <p:cNvSpPr txBox="1">
              <a:spLocks noChangeArrowheads="1"/>
            </p:cNvSpPr>
            <p:nvPr/>
          </p:nvSpPr>
          <p:spPr bwMode="auto">
            <a:xfrm>
              <a:off x="5603" y="9635"/>
              <a:ext cx="1788" cy="4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 sz="2400" b="1" dirty="0">
                  <a:solidFill>
                    <a:srgbClr val="FF3300"/>
                  </a:solidFill>
                  <a:latin typeface="Arial" pitchFamily="34" charset="0"/>
                  <a:ea typeface="Times New Roman" pitchFamily="18" charset="0"/>
                  <a:cs typeface="Mangal" pitchFamily="18" charset="0"/>
                </a:rPr>
                <a:t>LB</a:t>
              </a:r>
              <a:endParaRPr lang="hi-IN" sz="36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84" name="AutoShape 36"/>
            <p:cNvSpPr>
              <a:spLocks noChangeArrowheads="1"/>
            </p:cNvSpPr>
            <p:nvPr/>
          </p:nvSpPr>
          <p:spPr bwMode="auto">
            <a:xfrm>
              <a:off x="2004" y="12231"/>
              <a:ext cx="724" cy="1088"/>
            </a:xfrm>
            <a:prstGeom prst="flowChartExtra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00FF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 sz="2000" b="1">
                  <a:latin typeface="Arial" pitchFamily="34" charset="0"/>
                  <a:ea typeface="Times New Roman" pitchFamily="18" charset="0"/>
                  <a:cs typeface="Mangal" pitchFamily="18" charset="0"/>
                </a:rPr>
                <a:t>L</a:t>
              </a:r>
              <a:r>
                <a:rPr lang="hi-IN" sz="2000" b="1" baseline="-30000">
                  <a:latin typeface="Arial" pitchFamily="34" charset="0"/>
                  <a:ea typeface="Times New Roman" pitchFamily="18" charset="0"/>
                  <a:cs typeface="Mangal" pitchFamily="18" charset="0"/>
                </a:rPr>
                <a:t>1</a:t>
              </a:r>
              <a:endParaRPr lang="hi-IN" sz="20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83" name="AutoShape 35"/>
            <p:cNvSpPr>
              <a:spLocks noChangeArrowheads="1"/>
            </p:cNvSpPr>
            <p:nvPr/>
          </p:nvSpPr>
          <p:spPr bwMode="auto">
            <a:xfrm>
              <a:off x="3682" y="12214"/>
              <a:ext cx="725" cy="1105"/>
            </a:xfrm>
            <a:prstGeom prst="flowChartExtra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00FF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 sz="2000" b="1">
                  <a:latin typeface="Arial" pitchFamily="34" charset="0"/>
                  <a:ea typeface="Times New Roman" pitchFamily="18" charset="0"/>
                  <a:cs typeface="Mangal" pitchFamily="18" charset="0"/>
                </a:rPr>
                <a:t>R</a:t>
              </a:r>
              <a:r>
                <a:rPr lang="hi-IN" sz="2000" b="1" baseline="-30000">
                  <a:latin typeface="Arial" pitchFamily="34" charset="0"/>
                  <a:ea typeface="Times New Roman" pitchFamily="18" charset="0"/>
                  <a:cs typeface="Mangal" pitchFamily="18" charset="0"/>
                </a:rPr>
                <a:t>1</a:t>
              </a:r>
              <a:endParaRPr lang="hi-IN" sz="20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82" name="Line 34"/>
            <p:cNvSpPr>
              <a:spLocks noChangeShapeType="1"/>
            </p:cNvSpPr>
            <p:nvPr/>
          </p:nvSpPr>
          <p:spPr bwMode="auto">
            <a:xfrm flipH="1">
              <a:off x="3408" y="10272"/>
              <a:ext cx="831" cy="791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dash"/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1" name="Line 33"/>
            <p:cNvSpPr>
              <a:spLocks noChangeShapeType="1"/>
            </p:cNvSpPr>
            <p:nvPr/>
          </p:nvSpPr>
          <p:spPr bwMode="auto">
            <a:xfrm>
              <a:off x="4528" y="10340"/>
              <a:ext cx="907" cy="6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0" name="Line 32"/>
            <p:cNvSpPr>
              <a:spLocks noChangeShapeType="1"/>
            </p:cNvSpPr>
            <p:nvPr/>
          </p:nvSpPr>
          <p:spPr bwMode="auto">
            <a:xfrm flipH="1">
              <a:off x="2336" y="11358"/>
              <a:ext cx="726" cy="87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9" name="Line 31"/>
            <p:cNvSpPr>
              <a:spLocks noChangeShapeType="1"/>
            </p:cNvSpPr>
            <p:nvPr/>
          </p:nvSpPr>
          <p:spPr bwMode="auto">
            <a:xfrm>
              <a:off x="3349" y="11340"/>
              <a:ext cx="680" cy="855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dash"/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8" name="Text Box 30"/>
            <p:cNvSpPr txBox="1">
              <a:spLocks noChangeArrowheads="1"/>
            </p:cNvSpPr>
            <p:nvPr/>
          </p:nvSpPr>
          <p:spPr bwMode="auto">
            <a:xfrm>
              <a:off x="2816" y="12662"/>
              <a:ext cx="374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>
                  <a:latin typeface="Arial" pitchFamily="34" charset="0"/>
                  <a:ea typeface="Times New Roman" pitchFamily="18" charset="0"/>
                  <a:cs typeface="Mangal" pitchFamily="18" charset="0"/>
                </a:rPr>
                <a:t>h</a:t>
              </a:r>
              <a:endParaRPr lang="hi-IN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77" name="Text Box 29"/>
            <p:cNvSpPr txBox="1">
              <a:spLocks noChangeArrowheads="1"/>
            </p:cNvSpPr>
            <p:nvPr/>
          </p:nvSpPr>
          <p:spPr bwMode="auto">
            <a:xfrm>
              <a:off x="4519" y="12662"/>
              <a:ext cx="374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>
                  <a:latin typeface="Arial" pitchFamily="34" charset="0"/>
                  <a:ea typeface="Times New Roman" pitchFamily="18" charset="0"/>
                  <a:cs typeface="Mangal" pitchFamily="18" charset="0"/>
                </a:rPr>
                <a:t>h</a:t>
              </a:r>
              <a:endParaRPr lang="hi-IN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76" name="Freeform 28"/>
            <p:cNvSpPr>
              <a:spLocks/>
            </p:cNvSpPr>
            <p:nvPr/>
          </p:nvSpPr>
          <p:spPr bwMode="auto">
            <a:xfrm>
              <a:off x="3447" y="9781"/>
              <a:ext cx="806" cy="1784"/>
            </a:xfrm>
            <a:custGeom>
              <a:avLst/>
              <a:gdLst>
                <a:gd name="connsiteX0" fmla="*/ 0 w 10103"/>
                <a:gd name="connsiteY0" fmla="*/ 11875 h 11875"/>
                <a:gd name="connsiteX1" fmla="*/ 3436 w 10103"/>
                <a:gd name="connsiteY1" fmla="*/ 826 h 11875"/>
                <a:gd name="connsiteX2" fmla="*/ 10103 w 10103"/>
                <a:gd name="connsiteY2" fmla="*/ 826 h 11875"/>
                <a:gd name="connsiteX0" fmla="*/ 0 w 10103"/>
                <a:gd name="connsiteY0" fmla="*/ 11875 h 13295"/>
                <a:gd name="connsiteX1" fmla="*/ 4591 w 10103"/>
                <a:gd name="connsiteY1" fmla="*/ 12750 h 13295"/>
                <a:gd name="connsiteX2" fmla="*/ 3436 w 10103"/>
                <a:gd name="connsiteY2" fmla="*/ 826 h 13295"/>
                <a:gd name="connsiteX3" fmla="*/ 10103 w 10103"/>
                <a:gd name="connsiteY3" fmla="*/ 826 h 13295"/>
                <a:gd name="connsiteX0" fmla="*/ 0 w 10103"/>
                <a:gd name="connsiteY0" fmla="*/ 11875 h 13094"/>
                <a:gd name="connsiteX1" fmla="*/ 5105 w 10103"/>
                <a:gd name="connsiteY1" fmla="*/ 12520 h 13094"/>
                <a:gd name="connsiteX2" fmla="*/ 3436 w 10103"/>
                <a:gd name="connsiteY2" fmla="*/ 826 h 13094"/>
                <a:gd name="connsiteX3" fmla="*/ 10103 w 10103"/>
                <a:gd name="connsiteY3" fmla="*/ 826 h 13094"/>
                <a:gd name="connsiteX0" fmla="*/ 0 w 12778"/>
                <a:gd name="connsiteY0" fmla="*/ 13268 h 14487"/>
                <a:gd name="connsiteX1" fmla="*/ 5105 w 12778"/>
                <a:gd name="connsiteY1" fmla="*/ 13913 h 14487"/>
                <a:gd name="connsiteX2" fmla="*/ 3436 w 12778"/>
                <a:gd name="connsiteY2" fmla="*/ 2219 h 14487"/>
                <a:gd name="connsiteX3" fmla="*/ 12778 w 12778"/>
                <a:gd name="connsiteY3" fmla="*/ 202 h 14487"/>
                <a:gd name="connsiteX0" fmla="*/ 0 w 12778"/>
                <a:gd name="connsiteY0" fmla="*/ 13789 h 15008"/>
                <a:gd name="connsiteX1" fmla="*/ 5105 w 12778"/>
                <a:gd name="connsiteY1" fmla="*/ 14434 h 15008"/>
                <a:gd name="connsiteX2" fmla="*/ 968 w 12778"/>
                <a:gd name="connsiteY2" fmla="*/ 896 h 15008"/>
                <a:gd name="connsiteX3" fmla="*/ 12778 w 12778"/>
                <a:gd name="connsiteY3" fmla="*/ 723 h 15008"/>
                <a:gd name="connsiteX0" fmla="*/ 0 w 12778"/>
                <a:gd name="connsiteY0" fmla="*/ 15263 h 16482"/>
                <a:gd name="connsiteX1" fmla="*/ 5105 w 12778"/>
                <a:gd name="connsiteY1" fmla="*/ 15908 h 16482"/>
                <a:gd name="connsiteX2" fmla="*/ 968 w 12778"/>
                <a:gd name="connsiteY2" fmla="*/ 2370 h 16482"/>
                <a:gd name="connsiteX3" fmla="*/ 8498 w 12778"/>
                <a:gd name="connsiteY3" fmla="*/ 0 h 16482"/>
                <a:gd name="connsiteX4" fmla="*/ 12778 w 12778"/>
                <a:gd name="connsiteY4" fmla="*/ 2197 h 16482"/>
                <a:gd name="connsiteX0" fmla="*/ 0 w 12778"/>
                <a:gd name="connsiteY0" fmla="*/ 15264 h 16483"/>
                <a:gd name="connsiteX1" fmla="*/ 5105 w 12778"/>
                <a:gd name="connsiteY1" fmla="*/ 15909 h 16483"/>
                <a:gd name="connsiteX2" fmla="*/ 968 w 12778"/>
                <a:gd name="connsiteY2" fmla="*/ 2371 h 16483"/>
                <a:gd name="connsiteX3" fmla="*/ 8498 w 12778"/>
                <a:gd name="connsiteY3" fmla="*/ 1 h 16483"/>
                <a:gd name="connsiteX4" fmla="*/ 12778 w 12778"/>
                <a:gd name="connsiteY4" fmla="*/ 2198 h 16483"/>
                <a:gd name="connsiteX0" fmla="*/ 0 w 12778"/>
                <a:gd name="connsiteY0" fmla="*/ 15264 h 16483"/>
                <a:gd name="connsiteX1" fmla="*/ 5105 w 12778"/>
                <a:gd name="connsiteY1" fmla="*/ 15909 h 16483"/>
                <a:gd name="connsiteX2" fmla="*/ 557 w 12778"/>
                <a:gd name="connsiteY2" fmla="*/ 2601 h 16483"/>
                <a:gd name="connsiteX3" fmla="*/ 8498 w 12778"/>
                <a:gd name="connsiteY3" fmla="*/ 1 h 16483"/>
                <a:gd name="connsiteX4" fmla="*/ 12778 w 12778"/>
                <a:gd name="connsiteY4" fmla="*/ 2198 h 16483"/>
                <a:gd name="connsiteX0" fmla="*/ 0 w 12778"/>
                <a:gd name="connsiteY0" fmla="*/ 15264 h 16483"/>
                <a:gd name="connsiteX1" fmla="*/ 5105 w 12778"/>
                <a:gd name="connsiteY1" fmla="*/ 15909 h 16483"/>
                <a:gd name="connsiteX2" fmla="*/ 557 w 12778"/>
                <a:gd name="connsiteY2" fmla="*/ 2601 h 16483"/>
                <a:gd name="connsiteX3" fmla="*/ 8498 w 12778"/>
                <a:gd name="connsiteY3" fmla="*/ 1 h 16483"/>
                <a:gd name="connsiteX4" fmla="*/ 12778 w 12778"/>
                <a:gd name="connsiteY4" fmla="*/ 2198 h 16483"/>
                <a:gd name="connsiteX0" fmla="*/ 0 w 12778"/>
                <a:gd name="connsiteY0" fmla="*/ 15264 h 16483"/>
                <a:gd name="connsiteX1" fmla="*/ 5105 w 12778"/>
                <a:gd name="connsiteY1" fmla="*/ 15909 h 16483"/>
                <a:gd name="connsiteX2" fmla="*/ 557 w 12778"/>
                <a:gd name="connsiteY2" fmla="*/ 2601 h 16483"/>
                <a:gd name="connsiteX3" fmla="*/ 8498 w 12778"/>
                <a:gd name="connsiteY3" fmla="*/ 1 h 16483"/>
                <a:gd name="connsiteX4" fmla="*/ 12778 w 12778"/>
                <a:gd name="connsiteY4" fmla="*/ 2198 h 16483"/>
                <a:gd name="connsiteX0" fmla="*/ 0 w 12778"/>
                <a:gd name="connsiteY0" fmla="*/ 15264 h 16483"/>
                <a:gd name="connsiteX1" fmla="*/ 5105 w 12778"/>
                <a:gd name="connsiteY1" fmla="*/ 15909 h 16483"/>
                <a:gd name="connsiteX2" fmla="*/ 6338 w 12778"/>
                <a:gd name="connsiteY2" fmla="*/ 10607 h 16483"/>
                <a:gd name="connsiteX3" fmla="*/ 557 w 12778"/>
                <a:gd name="connsiteY3" fmla="*/ 2601 h 16483"/>
                <a:gd name="connsiteX4" fmla="*/ 8498 w 12778"/>
                <a:gd name="connsiteY4" fmla="*/ 1 h 16483"/>
                <a:gd name="connsiteX5" fmla="*/ 12778 w 12778"/>
                <a:gd name="connsiteY5" fmla="*/ 2198 h 16483"/>
                <a:gd name="connsiteX0" fmla="*/ 0 w 12778"/>
                <a:gd name="connsiteY0" fmla="*/ 15264 h 16186"/>
                <a:gd name="connsiteX1" fmla="*/ 6442 w 12778"/>
                <a:gd name="connsiteY1" fmla="*/ 15563 h 16186"/>
                <a:gd name="connsiteX2" fmla="*/ 6338 w 12778"/>
                <a:gd name="connsiteY2" fmla="*/ 10607 h 16186"/>
                <a:gd name="connsiteX3" fmla="*/ 557 w 12778"/>
                <a:gd name="connsiteY3" fmla="*/ 2601 h 16186"/>
                <a:gd name="connsiteX4" fmla="*/ 8498 w 12778"/>
                <a:gd name="connsiteY4" fmla="*/ 1 h 16186"/>
                <a:gd name="connsiteX5" fmla="*/ 12778 w 12778"/>
                <a:gd name="connsiteY5" fmla="*/ 2198 h 16186"/>
                <a:gd name="connsiteX0" fmla="*/ 0 w 12778"/>
                <a:gd name="connsiteY0" fmla="*/ 15264 h 15948"/>
                <a:gd name="connsiteX1" fmla="*/ 6442 w 12778"/>
                <a:gd name="connsiteY1" fmla="*/ 15563 h 15948"/>
                <a:gd name="connsiteX2" fmla="*/ 6338 w 12778"/>
                <a:gd name="connsiteY2" fmla="*/ 10607 h 15948"/>
                <a:gd name="connsiteX3" fmla="*/ 557 w 12778"/>
                <a:gd name="connsiteY3" fmla="*/ 2601 h 15948"/>
                <a:gd name="connsiteX4" fmla="*/ 8498 w 12778"/>
                <a:gd name="connsiteY4" fmla="*/ 1 h 15948"/>
                <a:gd name="connsiteX5" fmla="*/ 12778 w 12778"/>
                <a:gd name="connsiteY5" fmla="*/ 2198 h 15948"/>
                <a:gd name="connsiteX0" fmla="*/ 0 w 12778"/>
                <a:gd name="connsiteY0" fmla="*/ 15264 h 15948"/>
                <a:gd name="connsiteX1" fmla="*/ 6442 w 12778"/>
                <a:gd name="connsiteY1" fmla="*/ 15563 h 15948"/>
                <a:gd name="connsiteX2" fmla="*/ 6338 w 12778"/>
                <a:gd name="connsiteY2" fmla="*/ 10607 h 15948"/>
                <a:gd name="connsiteX3" fmla="*/ 557 w 12778"/>
                <a:gd name="connsiteY3" fmla="*/ 2601 h 15948"/>
                <a:gd name="connsiteX4" fmla="*/ 8498 w 12778"/>
                <a:gd name="connsiteY4" fmla="*/ 1 h 15948"/>
                <a:gd name="connsiteX5" fmla="*/ 12778 w 12778"/>
                <a:gd name="connsiteY5" fmla="*/ 2198 h 15948"/>
                <a:gd name="connsiteX0" fmla="*/ 0 w 12778"/>
                <a:gd name="connsiteY0" fmla="*/ 15264 h 15948"/>
                <a:gd name="connsiteX1" fmla="*/ 6442 w 12778"/>
                <a:gd name="connsiteY1" fmla="*/ 15563 h 15948"/>
                <a:gd name="connsiteX2" fmla="*/ 6338 w 12778"/>
                <a:gd name="connsiteY2" fmla="*/ 10607 h 15948"/>
                <a:gd name="connsiteX3" fmla="*/ 557 w 12778"/>
                <a:gd name="connsiteY3" fmla="*/ 2601 h 15948"/>
                <a:gd name="connsiteX4" fmla="*/ 8498 w 12778"/>
                <a:gd name="connsiteY4" fmla="*/ 1 h 15948"/>
                <a:gd name="connsiteX5" fmla="*/ 12778 w 12778"/>
                <a:gd name="connsiteY5" fmla="*/ 2198 h 15948"/>
                <a:gd name="connsiteX0" fmla="*/ 0 w 12778"/>
                <a:gd name="connsiteY0" fmla="*/ 15264 h 15948"/>
                <a:gd name="connsiteX1" fmla="*/ 6442 w 12778"/>
                <a:gd name="connsiteY1" fmla="*/ 15563 h 15948"/>
                <a:gd name="connsiteX2" fmla="*/ 6338 w 12778"/>
                <a:gd name="connsiteY2" fmla="*/ 10607 h 15948"/>
                <a:gd name="connsiteX3" fmla="*/ 557 w 12778"/>
                <a:gd name="connsiteY3" fmla="*/ 2601 h 15948"/>
                <a:gd name="connsiteX4" fmla="*/ 8498 w 12778"/>
                <a:gd name="connsiteY4" fmla="*/ 1 h 15948"/>
                <a:gd name="connsiteX5" fmla="*/ 12778 w 12778"/>
                <a:gd name="connsiteY5" fmla="*/ 2198 h 15948"/>
                <a:gd name="connsiteX0" fmla="*/ 0 w 12778"/>
                <a:gd name="connsiteY0" fmla="*/ 15264 h 16235"/>
                <a:gd name="connsiteX1" fmla="*/ 6442 w 12778"/>
                <a:gd name="connsiteY1" fmla="*/ 15563 h 16235"/>
                <a:gd name="connsiteX2" fmla="*/ 6338 w 12778"/>
                <a:gd name="connsiteY2" fmla="*/ 10607 h 16235"/>
                <a:gd name="connsiteX3" fmla="*/ 557 w 12778"/>
                <a:gd name="connsiteY3" fmla="*/ 2601 h 16235"/>
                <a:gd name="connsiteX4" fmla="*/ 8498 w 12778"/>
                <a:gd name="connsiteY4" fmla="*/ 1 h 16235"/>
                <a:gd name="connsiteX5" fmla="*/ 12778 w 12778"/>
                <a:gd name="connsiteY5" fmla="*/ 2198 h 16235"/>
                <a:gd name="connsiteX0" fmla="*/ 0 w 12778"/>
                <a:gd name="connsiteY0" fmla="*/ 15264 h 16235"/>
                <a:gd name="connsiteX1" fmla="*/ 6442 w 12778"/>
                <a:gd name="connsiteY1" fmla="*/ 15563 h 16235"/>
                <a:gd name="connsiteX2" fmla="*/ 6338 w 12778"/>
                <a:gd name="connsiteY2" fmla="*/ 10607 h 16235"/>
                <a:gd name="connsiteX3" fmla="*/ 557 w 12778"/>
                <a:gd name="connsiteY3" fmla="*/ 2601 h 16235"/>
                <a:gd name="connsiteX4" fmla="*/ 8498 w 12778"/>
                <a:gd name="connsiteY4" fmla="*/ 1 h 16235"/>
                <a:gd name="connsiteX5" fmla="*/ 12778 w 12778"/>
                <a:gd name="connsiteY5" fmla="*/ 2198 h 16235"/>
                <a:gd name="connsiteX0" fmla="*/ 0 w 12778"/>
                <a:gd name="connsiteY0" fmla="*/ 15264 h 16235"/>
                <a:gd name="connsiteX1" fmla="*/ 6442 w 12778"/>
                <a:gd name="connsiteY1" fmla="*/ 15563 h 16235"/>
                <a:gd name="connsiteX2" fmla="*/ 6338 w 12778"/>
                <a:gd name="connsiteY2" fmla="*/ 10607 h 16235"/>
                <a:gd name="connsiteX3" fmla="*/ 1997 w 12778"/>
                <a:gd name="connsiteY3" fmla="*/ 2198 h 16235"/>
                <a:gd name="connsiteX4" fmla="*/ 8498 w 12778"/>
                <a:gd name="connsiteY4" fmla="*/ 1 h 16235"/>
                <a:gd name="connsiteX5" fmla="*/ 12778 w 12778"/>
                <a:gd name="connsiteY5" fmla="*/ 2198 h 16235"/>
                <a:gd name="connsiteX0" fmla="*/ 0 w 12778"/>
                <a:gd name="connsiteY0" fmla="*/ 15263 h 16234"/>
                <a:gd name="connsiteX1" fmla="*/ 6442 w 12778"/>
                <a:gd name="connsiteY1" fmla="*/ 15562 h 16234"/>
                <a:gd name="connsiteX2" fmla="*/ 6338 w 12778"/>
                <a:gd name="connsiteY2" fmla="*/ 10606 h 16234"/>
                <a:gd name="connsiteX3" fmla="*/ 1997 w 12778"/>
                <a:gd name="connsiteY3" fmla="*/ 2197 h 16234"/>
                <a:gd name="connsiteX4" fmla="*/ 8498 w 12778"/>
                <a:gd name="connsiteY4" fmla="*/ 0 h 16234"/>
                <a:gd name="connsiteX5" fmla="*/ 12778 w 12778"/>
                <a:gd name="connsiteY5" fmla="*/ 2197 h 16234"/>
                <a:gd name="connsiteX0" fmla="*/ 0 w 12778"/>
                <a:gd name="connsiteY0" fmla="*/ 15344 h 16315"/>
                <a:gd name="connsiteX1" fmla="*/ 6442 w 12778"/>
                <a:gd name="connsiteY1" fmla="*/ 15643 h 16315"/>
                <a:gd name="connsiteX2" fmla="*/ 6338 w 12778"/>
                <a:gd name="connsiteY2" fmla="*/ 10687 h 16315"/>
                <a:gd name="connsiteX3" fmla="*/ 1997 w 12778"/>
                <a:gd name="connsiteY3" fmla="*/ 2278 h 16315"/>
                <a:gd name="connsiteX4" fmla="*/ 8498 w 12778"/>
                <a:gd name="connsiteY4" fmla="*/ 81 h 16315"/>
                <a:gd name="connsiteX5" fmla="*/ 12778 w 12778"/>
                <a:gd name="connsiteY5" fmla="*/ 2278 h 16315"/>
                <a:gd name="connsiteX0" fmla="*/ 0 w 12778"/>
                <a:gd name="connsiteY0" fmla="*/ 15344 h 16315"/>
                <a:gd name="connsiteX1" fmla="*/ 6442 w 12778"/>
                <a:gd name="connsiteY1" fmla="*/ 15643 h 16315"/>
                <a:gd name="connsiteX2" fmla="*/ 6338 w 12778"/>
                <a:gd name="connsiteY2" fmla="*/ 10687 h 16315"/>
                <a:gd name="connsiteX3" fmla="*/ 1997 w 12778"/>
                <a:gd name="connsiteY3" fmla="*/ 2278 h 16315"/>
                <a:gd name="connsiteX4" fmla="*/ 8498 w 12778"/>
                <a:gd name="connsiteY4" fmla="*/ 81 h 16315"/>
                <a:gd name="connsiteX5" fmla="*/ 12778 w 12778"/>
                <a:gd name="connsiteY5" fmla="*/ 2278 h 16315"/>
                <a:gd name="connsiteX0" fmla="*/ 0 w 12778"/>
                <a:gd name="connsiteY0" fmla="*/ 15498 h 16469"/>
                <a:gd name="connsiteX1" fmla="*/ 6442 w 12778"/>
                <a:gd name="connsiteY1" fmla="*/ 15797 h 16469"/>
                <a:gd name="connsiteX2" fmla="*/ 6338 w 12778"/>
                <a:gd name="connsiteY2" fmla="*/ 10841 h 16469"/>
                <a:gd name="connsiteX3" fmla="*/ 1997 w 12778"/>
                <a:gd name="connsiteY3" fmla="*/ 2432 h 16469"/>
                <a:gd name="connsiteX4" fmla="*/ 8395 w 12778"/>
                <a:gd name="connsiteY4" fmla="*/ 62 h 16469"/>
                <a:gd name="connsiteX5" fmla="*/ 12778 w 12778"/>
                <a:gd name="connsiteY5" fmla="*/ 2432 h 16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78" h="16469">
                  <a:moveTo>
                    <a:pt x="0" y="15498"/>
                  </a:moveTo>
                  <a:cubicBezTo>
                    <a:pt x="2719" y="16297"/>
                    <a:pt x="4532" y="17062"/>
                    <a:pt x="6442" y="15797"/>
                  </a:cubicBezTo>
                  <a:cubicBezTo>
                    <a:pt x="8270" y="14502"/>
                    <a:pt x="7610" y="13059"/>
                    <a:pt x="6338" y="10841"/>
                  </a:cubicBezTo>
                  <a:cubicBezTo>
                    <a:pt x="4963" y="8104"/>
                    <a:pt x="1174" y="4372"/>
                    <a:pt x="1997" y="2432"/>
                  </a:cubicBezTo>
                  <a:cubicBezTo>
                    <a:pt x="3677" y="21"/>
                    <a:pt x="5913" y="-139"/>
                    <a:pt x="8395" y="62"/>
                  </a:cubicBezTo>
                  <a:cubicBezTo>
                    <a:pt x="10466" y="206"/>
                    <a:pt x="11224" y="290"/>
                    <a:pt x="12778" y="2432"/>
                  </a:cubicBezTo>
                </a:path>
              </a:pathLst>
            </a:custGeom>
            <a:noFill/>
            <a:ln w="28575">
              <a:solidFill>
                <a:srgbClr val="0000FF"/>
              </a:solidFill>
              <a:prstDash val="solid"/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5" name="Freeform 27"/>
            <p:cNvSpPr>
              <a:spLocks/>
            </p:cNvSpPr>
            <p:nvPr/>
          </p:nvSpPr>
          <p:spPr bwMode="auto">
            <a:xfrm>
              <a:off x="4045" y="10377"/>
              <a:ext cx="538" cy="1798"/>
            </a:xfrm>
            <a:custGeom>
              <a:avLst/>
              <a:gdLst>
                <a:gd name="connsiteX0" fmla="*/ 3572 w 3572"/>
                <a:gd name="connsiteY0" fmla="*/ 0 h 10830"/>
                <a:gd name="connsiteX1" fmla="*/ 826 w 3572"/>
                <a:gd name="connsiteY1" fmla="*/ 3687 h 10830"/>
                <a:gd name="connsiteX2" fmla="*/ 826 w 3572"/>
                <a:gd name="connsiteY2" fmla="*/ 10830 h 10830"/>
                <a:gd name="connsiteX0" fmla="*/ 7745 w 54065"/>
                <a:gd name="connsiteY0" fmla="*/ 0 h 10000"/>
                <a:gd name="connsiteX1" fmla="*/ 53874 w 54065"/>
                <a:gd name="connsiteY1" fmla="*/ 5946 h 10000"/>
                <a:gd name="connsiteX2" fmla="*/ 57 w 54065"/>
                <a:gd name="connsiteY2" fmla="*/ 10000 h 10000"/>
                <a:gd name="connsiteX0" fmla="*/ 9828 w 56148"/>
                <a:gd name="connsiteY0" fmla="*/ 0 h 10000"/>
                <a:gd name="connsiteX1" fmla="*/ 55957 w 56148"/>
                <a:gd name="connsiteY1" fmla="*/ 5946 h 10000"/>
                <a:gd name="connsiteX2" fmla="*/ 3597 w 56148"/>
                <a:gd name="connsiteY2" fmla="*/ 8104 h 10000"/>
                <a:gd name="connsiteX3" fmla="*/ 2140 w 56148"/>
                <a:gd name="connsiteY3" fmla="*/ 10000 h 10000"/>
                <a:gd name="connsiteX0" fmla="*/ 10453 w 56664"/>
                <a:gd name="connsiteY0" fmla="*/ 0 h 10000"/>
                <a:gd name="connsiteX1" fmla="*/ 1973 w 56664"/>
                <a:gd name="connsiteY1" fmla="*/ 1592 h 10000"/>
                <a:gd name="connsiteX2" fmla="*/ 56582 w 56664"/>
                <a:gd name="connsiteY2" fmla="*/ 5946 h 10000"/>
                <a:gd name="connsiteX3" fmla="*/ 4222 w 56664"/>
                <a:gd name="connsiteY3" fmla="*/ 8104 h 10000"/>
                <a:gd name="connsiteX4" fmla="*/ 2765 w 56664"/>
                <a:gd name="connsiteY4" fmla="*/ 10000 h 10000"/>
                <a:gd name="connsiteX0" fmla="*/ 10453 w 61077"/>
                <a:gd name="connsiteY0" fmla="*/ 0 h 10000"/>
                <a:gd name="connsiteX1" fmla="*/ 1973 w 61077"/>
                <a:gd name="connsiteY1" fmla="*/ 1592 h 10000"/>
                <a:gd name="connsiteX2" fmla="*/ 61002 w 61077"/>
                <a:gd name="connsiteY2" fmla="*/ 4936 h 10000"/>
                <a:gd name="connsiteX3" fmla="*/ 4222 w 61077"/>
                <a:gd name="connsiteY3" fmla="*/ 8104 h 10000"/>
                <a:gd name="connsiteX4" fmla="*/ 2765 w 61077"/>
                <a:gd name="connsiteY4" fmla="*/ 10000 h 10000"/>
                <a:gd name="connsiteX0" fmla="*/ 10453 w 61077"/>
                <a:gd name="connsiteY0" fmla="*/ 0 h 10035"/>
                <a:gd name="connsiteX1" fmla="*/ 1973 w 61077"/>
                <a:gd name="connsiteY1" fmla="*/ 1592 h 10035"/>
                <a:gd name="connsiteX2" fmla="*/ 61002 w 61077"/>
                <a:gd name="connsiteY2" fmla="*/ 4936 h 10035"/>
                <a:gd name="connsiteX3" fmla="*/ 4222 w 61077"/>
                <a:gd name="connsiteY3" fmla="*/ 8104 h 10035"/>
                <a:gd name="connsiteX4" fmla="*/ 1292 w 61077"/>
                <a:gd name="connsiteY4" fmla="*/ 10035 h 10035"/>
                <a:gd name="connsiteX0" fmla="*/ 11939 w 62563"/>
                <a:gd name="connsiteY0" fmla="*/ 0 h 10035"/>
                <a:gd name="connsiteX1" fmla="*/ 3459 w 62563"/>
                <a:gd name="connsiteY1" fmla="*/ 1592 h 10035"/>
                <a:gd name="connsiteX2" fmla="*/ 62488 w 62563"/>
                <a:gd name="connsiteY2" fmla="*/ 4936 h 10035"/>
                <a:gd name="connsiteX3" fmla="*/ 5708 w 62563"/>
                <a:gd name="connsiteY3" fmla="*/ 8104 h 10035"/>
                <a:gd name="connsiteX4" fmla="*/ 2778 w 62563"/>
                <a:gd name="connsiteY4" fmla="*/ 10035 h 10035"/>
                <a:gd name="connsiteX0" fmla="*/ 11428 w 62052"/>
                <a:gd name="connsiteY0" fmla="*/ 0 h 10035"/>
                <a:gd name="connsiteX1" fmla="*/ 2948 w 62052"/>
                <a:gd name="connsiteY1" fmla="*/ 1592 h 10035"/>
                <a:gd name="connsiteX2" fmla="*/ 61977 w 62052"/>
                <a:gd name="connsiteY2" fmla="*/ 4936 h 10035"/>
                <a:gd name="connsiteX3" fmla="*/ 5197 w 62052"/>
                <a:gd name="connsiteY3" fmla="*/ 8104 h 10035"/>
                <a:gd name="connsiteX4" fmla="*/ 2267 w 62052"/>
                <a:gd name="connsiteY4" fmla="*/ 10035 h 10035"/>
                <a:gd name="connsiteX0" fmla="*/ 10454 w 61085"/>
                <a:gd name="connsiteY0" fmla="*/ 0 h 10035"/>
                <a:gd name="connsiteX1" fmla="*/ 1974 w 61085"/>
                <a:gd name="connsiteY1" fmla="*/ 1592 h 10035"/>
                <a:gd name="connsiteX2" fmla="*/ 61003 w 61085"/>
                <a:gd name="connsiteY2" fmla="*/ 4936 h 10035"/>
                <a:gd name="connsiteX3" fmla="*/ 8639 w 61085"/>
                <a:gd name="connsiteY3" fmla="*/ 8069 h 10035"/>
                <a:gd name="connsiteX4" fmla="*/ 1293 w 61085"/>
                <a:gd name="connsiteY4" fmla="*/ 10035 h 1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85" h="10035">
                  <a:moveTo>
                    <a:pt x="10454" y="0"/>
                  </a:moveTo>
                  <a:cubicBezTo>
                    <a:pt x="11622" y="213"/>
                    <a:pt x="-5714" y="601"/>
                    <a:pt x="1974" y="1592"/>
                  </a:cubicBezTo>
                  <a:cubicBezTo>
                    <a:pt x="9662" y="2583"/>
                    <a:pt x="63209" y="3799"/>
                    <a:pt x="61003" y="4936"/>
                  </a:cubicBezTo>
                  <a:cubicBezTo>
                    <a:pt x="63280" y="6234"/>
                    <a:pt x="17608" y="7393"/>
                    <a:pt x="8639" y="8069"/>
                  </a:cubicBezTo>
                  <a:cubicBezTo>
                    <a:pt x="-330" y="8745"/>
                    <a:pt x="433" y="9388"/>
                    <a:pt x="1293" y="10035"/>
                  </a:cubicBezTo>
                </a:path>
              </a:pathLst>
            </a:custGeom>
            <a:noFill/>
            <a:ln w="28575">
              <a:solidFill>
                <a:srgbClr val="0000FF"/>
              </a:solidFill>
              <a:prstDash val="solid"/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4" name="AutoShape 26"/>
            <p:cNvSpPr>
              <a:spLocks noChangeArrowheads="1"/>
            </p:cNvSpPr>
            <p:nvPr/>
          </p:nvSpPr>
          <p:spPr bwMode="auto">
            <a:xfrm>
              <a:off x="5062" y="11000"/>
              <a:ext cx="725" cy="1106"/>
            </a:xfrm>
            <a:prstGeom prst="flowChartExtra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00FF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 sz="2000" b="1">
                  <a:latin typeface="Arial" pitchFamily="34" charset="0"/>
                  <a:ea typeface="Times New Roman" pitchFamily="18" charset="0"/>
                  <a:cs typeface="Mangal" pitchFamily="18" charset="0"/>
                </a:rPr>
                <a:t>R</a:t>
              </a:r>
              <a:endParaRPr lang="hi-IN" sz="20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73" name="Line 25"/>
            <p:cNvSpPr>
              <a:spLocks noChangeShapeType="1"/>
            </p:cNvSpPr>
            <p:nvPr/>
          </p:nvSpPr>
          <p:spPr bwMode="auto">
            <a:xfrm>
              <a:off x="2761" y="12223"/>
              <a:ext cx="0" cy="10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2" name="Line 24"/>
            <p:cNvSpPr>
              <a:spLocks noChangeShapeType="1"/>
            </p:cNvSpPr>
            <p:nvPr/>
          </p:nvSpPr>
          <p:spPr bwMode="auto">
            <a:xfrm>
              <a:off x="4455" y="12223"/>
              <a:ext cx="0" cy="10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1" name="Line 23"/>
            <p:cNvSpPr>
              <a:spLocks noChangeShapeType="1"/>
            </p:cNvSpPr>
            <p:nvPr/>
          </p:nvSpPr>
          <p:spPr bwMode="auto">
            <a:xfrm>
              <a:off x="5832" y="11000"/>
              <a:ext cx="0" cy="10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0" name="Text Box 22"/>
            <p:cNvSpPr txBox="1">
              <a:spLocks noChangeArrowheads="1"/>
            </p:cNvSpPr>
            <p:nvPr/>
          </p:nvSpPr>
          <p:spPr bwMode="auto">
            <a:xfrm>
              <a:off x="5886" y="11383"/>
              <a:ext cx="374" cy="2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>
                  <a:latin typeface="Arial" pitchFamily="34" charset="0"/>
                  <a:ea typeface="Times New Roman" pitchFamily="18" charset="0"/>
                  <a:cs typeface="Mangal" pitchFamily="18" charset="0"/>
                </a:rPr>
                <a:t>h-1</a:t>
              </a:r>
              <a:endParaRPr lang="hi-IN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9" name="Text Box 21"/>
            <p:cNvSpPr txBox="1">
              <a:spLocks noChangeArrowheads="1"/>
            </p:cNvSpPr>
            <p:nvPr/>
          </p:nvSpPr>
          <p:spPr bwMode="auto">
            <a:xfrm>
              <a:off x="9258" y="12644"/>
              <a:ext cx="374" cy="2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>
                  <a:latin typeface="Arial" pitchFamily="34" charset="0"/>
                  <a:ea typeface="Times New Roman" pitchFamily="18" charset="0"/>
                  <a:cs typeface="Mangal" pitchFamily="18" charset="0"/>
                </a:rPr>
                <a:t>h</a:t>
              </a:r>
              <a:endParaRPr lang="hi-IN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8" name="AutoShape 20"/>
            <p:cNvSpPr>
              <a:spLocks noChangeArrowheads="1"/>
            </p:cNvSpPr>
            <p:nvPr/>
          </p:nvSpPr>
          <p:spPr bwMode="auto">
            <a:xfrm>
              <a:off x="8458" y="12212"/>
              <a:ext cx="724" cy="1089"/>
            </a:xfrm>
            <a:prstGeom prst="flowChartExtra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00FF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 sz="2000" b="1">
                  <a:latin typeface="Arial" pitchFamily="34" charset="0"/>
                  <a:ea typeface="Times New Roman" pitchFamily="18" charset="0"/>
                  <a:cs typeface="Mangal" pitchFamily="18" charset="0"/>
                </a:rPr>
                <a:t>R</a:t>
              </a:r>
              <a:r>
                <a:rPr lang="hi-IN" sz="2000" b="1" baseline="-30000">
                  <a:latin typeface="Arial" pitchFamily="34" charset="0"/>
                  <a:ea typeface="Times New Roman" pitchFamily="18" charset="0"/>
                  <a:cs typeface="Mangal" pitchFamily="18" charset="0"/>
                </a:rPr>
                <a:t>1</a:t>
              </a:r>
              <a:endParaRPr lang="hi-IN" sz="20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7" name="AutoShape 19"/>
            <p:cNvSpPr>
              <a:spLocks noChangeArrowheads="1"/>
            </p:cNvSpPr>
            <p:nvPr/>
          </p:nvSpPr>
          <p:spPr bwMode="auto">
            <a:xfrm>
              <a:off x="10135" y="12195"/>
              <a:ext cx="726" cy="1106"/>
            </a:xfrm>
            <a:prstGeom prst="flowChartExtra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00FF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 sz="2000" b="1">
                  <a:latin typeface="Arial" pitchFamily="34" charset="0"/>
                  <a:ea typeface="Times New Roman" pitchFamily="18" charset="0"/>
                  <a:cs typeface="Mangal" pitchFamily="18" charset="0"/>
                </a:rPr>
                <a:t>R</a:t>
              </a:r>
              <a:endParaRPr lang="hi-IN" sz="20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6" name="Line 18"/>
            <p:cNvSpPr>
              <a:spLocks noChangeShapeType="1"/>
            </p:cNvSpPr>
            <p:nvPr/>
          </p:nvSpPr>
          <p:spPr bwMode="auto">
            <a:xfrm flipH="1">
              <a:off x="7411" y="10377"/>
              <a:ext cx="907" cy="6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5" name="Line 17"/>
            <p:cNvSpPr>
              <a:spLocks noChangeShapeType="1"/>
            </p:cNvSpPr>
            <p:nvPr/>
          </p:nvSpPr>
          <p:spPr bwMode="auto">
            <a:xfrm>
              <a:off x="8667" y="10340"/>
              <a:ext cx="907" cy="6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4" name="Line 16"/>
            <p:cNvSpPr>
              <a:spLocks noChangeShapeType="1"/>
            </p:cNvSpPr>
            <p:nvPr/>
          </p:nvSpPr>
          <p:spPr bwMode="auto">
            <a:xfrm flipH="1">
              <a:off x="8790" y="11340"/>
              <a:ext cx="726" cy="8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3" name="Line 15"/>
            <p:cNvSpPr>
              <a:spLocks noChangeShapeType="1"/>
            </p:cNvSpPr>
            <p:nvPr/>
          </p:nvSpPr>
          <p:spPr bwMode="auto">
            <a:xfrm>
              <a:off x="9803" y="11322"/>
              <a:ext cx="726" cy="87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2" name="Text Box 14"/>
            <p:cNvSpPr txBox="1">
              <a:spLocks noChangeArrowheads="1"/>
            </p:cNvSpPr>
            <p:nvPr/>
          </p:nvSpPr>
          <p:spPr bwMode="auto">
            <a:xfrm>
              <a:off x="10973" y="12644"/>
              <a:ext cx="374" cy="2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>
                  <a:latin typeface="Arial" pitchFamily="34" charset="0"/>
                  <a:ea typeface="Times New Roman" pitchFamily="18" charset="0"/>
                  <a:cs typeface="Mangal" pitchFamily="18" charset="0"/>
                </a:rPr>
                <a:t>h-1</a:t>
              </a:r>
              <a:endParaRPr lang="hi-IN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1" name="AutoShape 13"/>
            <p:cNvSpPr>
              <a:spLocks noChangeArrowheads="1"/>
            </p:cNvSpPr>
            <p:nvPr/>
          </p:nvSpPr>
          <p:spPr bwMode="auto">
            <a:xfrm>
              <a:off x="7036" y="11063"/>
              <a:ext cx="726" cy="1106"/>
            </a:xfrm>
            <a:prstGeom prst="flowChartExtra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00FF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 sz="2000" b="1">
                  <a:latin typeface="Arial" pitchFamily="34" charset="0"/>
                  <a:ea typeface="Times New Roman" pitchFamily="18" charset="0"/>
                  <a:cs typeface="Mangal" pitchFamily="18" charset="0"/>
                </a:rPr>
                <a:t>L</a:t>
              </a:r>
              <a:r>
                <a:rPr lang="hi-IN" sz="2000" b="1" baseline="-30000">
                  <a:latin typeface="Arial" pitchFamily="34" charset="0"/>
                  <a:ea typeface="Times New Roman" pitchFamily="18" charset="0"/>
                  <a:cs typeface="Mangal" pitchFamily="18" charset="0"/>
                </a:rPr>
                <a:t>1</a:t>
              </a:r>
              <a:endParaRPr lang="hi-IN" sz="20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0" name="Line 12"/>
            <p:cNvSpPr>
              <a:spLocks noChangeShapeType="1"/>
            </p:cNvSpPr>
            <p:nvPr/>
          </p:nvSpPr>
          <p:spPr bwMode="auto">
            <a:xfrm>
              <a:off x="9214" y="12205"/>
              <a:ext cx="0" cy="10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9" name="Line 11"/>
            <p:cNvSpPr>
              <a:spLocks noChangeShapeType="1"/>
            </p:cNvSpPr>
            <p:nvPr/>
          </p:nvSpPr>
          <p:spPr bwMode="auto">
            <a:xfrm>
              <a:off x="10909" y="12205"/>
              <a:ext cx="0" cy="10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8" name="Line 10"/>
            <p:cNvSpPr>
              <a:spLocks noChangeShapeType="1"/>
            </p:cNvSpPr>
            <p:nvPr/>
          </p:nvSpPr>
          <p:spPr bwMode="auto">
            <a:xfrm>
              <a:off x="7807" y="11063"/>
              <a:ext cx="0" cy="10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7" name="Text Box 9"/>
            <p:cNvSpPr txBox="1">
              <a:spLocks noChangeArrowheads="1"/>
            </p:cNvSpPr>
            <p:nvPr/>
          </p:nvSpPr>
          <p:spPr bwMode="auto">
            <a:xfrm>
              <a:off x="7860" y="11446"/>
              <a:ext cx="374" cy="2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>
                  <a:latin typeface="Arial" pitchFamily="34" charset="0"/>
                  <a:ea typeface="Times New Roman" pitchFamily="18" charset="0"/>
                  <a:cs typeface="Mangal" pitchFamily="18" charset="0"/>
                </a:rPr>
                <a:t>h</a:t>
              </a:r>
              <a:endParaRPr lang="hi-IN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6" name="Text Box 8"/>
            <p:cNvSpPr txBox="1">
              <a:spLocks noChangeArrowheads="1"/>
            </p:cNvSpPr>
            <p:nvPr/>
          </p:nvSpPr>
          <p:spPr bwMode="auto">
            <a:xfrm>
              <a:off x="4657" y="13759"/>
              <a:ext cx="3801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 sz="2400" b="1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</a:rPr>
                <a:t>T</a:t>
              </a:r>
              <a:r>
                <a:rPr lang="hi-IN" sz="2400" b="1" dirty="0">
                  <a:solidFill>
                    <a:srgbClr val="0000FF"/>
                  </a:solidFill>
                  <a:ea typeface="Times New Roman" pitchFamily="18" charset="0"/>
                  <a:cs typeface="Arial" pitchFamily="34" charset="0"/>
                  <a:sym typeface="Symbol" pitchFamily="18" charset="2"/>
                </a:rPr>
                <a:t></a:t>
              </a:r>
              <a:r>
                <a:rPr lang="hi-IN" sz="2400" b="1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</a:rPr>
                <a:t>Left</a:t>
              </a:r>
              <a:r>
                <a:rPr lang="en-US" sz="2400" b="1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</a:rPr>
                <a:t> </a:t>
              </a:r>
              <a:r>
                <a:rPr lang="hi-IN" sz="2400" b="1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</a:rPr>
                <a:t>=</a:t>
              </a:r>
              <a:r>
                <a:rPr lang="en-US" sz="2400" b="1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</a:rPr>
                <a:t> </a:t>
              </a:r>
              <a:r>
                <a:rPr lang="hi-IN" sz="2400" b="1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</a:rPr>
                <a:t>T</a:t>
              </a:r>
              <a:r>
                <a:rPr lang="hi-IN" sz="2400" b="1" baseline="-30000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  <a:sym typeface="Symbol" pitchFamily="18" charset="2"/>
                </a:rPr>
                <a:t>1</a:t>
              </a:r>
              <a:r>
                <a:rPr lang="hi-IN" sz="2400" b="1" dirty="0">
                  <a:solidFill>
                    <a:srgbClr val="0000FF"/>
                  </a:solidFill>
                  <a:ea typeface="Times New Roman" pitchFamily="18" charset="0"/>
                  <a:cs typeface="Arial" pitchFamily="34" charset="0"/>
                  <a:sym typeface="Symbol" pitchFamily="18" charset="2"/>
                </a:rPr>
                <a:t></a:t>
              </a:r>
              <a:r>
                <a:rPr lang="hi-IN" sz="2400" b="1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</a:rPr>
                <a:t>Right;</a:t>
              </a:r>
              <a:r>
                <a:rPr lang="en-US" sz="2400" b="1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</a:rPr>
                <a:t> </a:t>
              </a:r>
              <a:r>
                <a:rPr lang="hi-IN" sz="2400" b="1" dirty="0">
                  <a:solidFill>
                    <a:srgbClr val="FF00FF"/>
                  </a:solidFill>
                  <a:ea typeface="Times New Roman" pitchFamily="18" charset="0"/>
                  <a:cs typeface="Mangal" pitchFamily="18" charset="0"/>
                </a:rPr>
                <a:t>(1)</a:t>
              </a:r>
              <a:endParaRPr lang="en-US" sz="2400" b="1" dirty="0">
                <a:solidFill>
                  <a:srgbClr val="FF00FF"/>
                </a:solidFill>
                <a:cs typeface="Arial" pitchFamily="34" charset="0"/>
                <a:sym typeface="Symbol" pitchFamily="18" charset="2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hi-IN" sz="2400" b="1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  <a:sym typeface="Symbol" pitchFamily="18" charset="2"/>
                </a:rPr>
                <a:t>T</a:t>
              </a:r>
              <a:r>
                <a:rPr lang="hi-IN" sz="2400" b="1" baseline="-30000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  <a:sym typeface="Symbol" pitchFamily="18" charset="2"/>
                </a:rPr>
                <a:t>1</a:t>
              </a:r>
              <a:r>
                <a:rPr lang="hi-IN" sz="2400" b="1" dirty="0">
                  <a:solidFill>
                    <a:srgbClr val="0000FF"/>
                  </a:solidFill>
                  <a:ea typeface="Times New Roman" pitchFamily="18" charset="0"/>
                  <a:cs typeface="Arial" pitchFamily="34" charset="0"/>
                  <a:sym typeface="Symbol" pitchFamily="18" charset="2"/>
                </a:rPr>
                <a:t></a:t>
              </a:r>
              <a:r>
                <a:rPr lang="hi-IN" sz="2400" b="1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</a:rPr>
                <a:t>Right</a:t>
              </a:r>
              <a:r>
                <a:rPr lang="en-US" sz="2400" b="1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</a:rPr>
                <a:t> </a:t>
              </a:r>
              <a:r>
                <a:rPr lang="hi-IN" sz="2400" b="1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</a:rPr>
                <a:t>=</a:t>
              </a:r>
              <a:r>
                <a:rPr lang="en-US" sz="2400" b="1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</a:rPr>
                <a:t> </a:t>
              </a:r>
              <a:r>
                <a:rPr lang="hi-IN" sz="2400" b="1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</a:rPr>
                <a:t>T;</a:t>
              </a:r>
              <a:r>
                <a:rPr lang="en-US" sz="2400" b="1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</a:rPr>
                <a:t> 	</a:t>
              </a:r>
              <a:r>
                <a:rPr lang="en-US" sz="2400" b="1" dirty="0">
                  <a:solidFill>
                    <a:srgbClr val="FF00FF"/>
                  </a:solidFill>
                  <a:ea typeface="Times New Roman" pitchFamily="18" charset="0"/>
                  <a:cs typeface="Mangal" pitchFamily="18" charset="0"/>
                </a:rPr>
                <a:t> </a:t>
              </a:r>
              <a:r>
                <a:rPr lang="hi-IN" sz="2400" b="1" dirty="0">
                  <a:solidFill>
                    <a:srgbClr val="FF00FF"/>
                  </a:solidFill>
                  <a:ea typeface="Times New Roman" pitchFamily="18" charset="0"/>
                  <a:cs typeface="Mangal" pitchFamily="18" charset="0"/>
                </a:rPr>
                <a:t>(2)</a:t>
              </a:r>
              <a:endParaRPr lang="hi-IN" sz="2400" b="1" dirty="0">
                <a:solidFill>
                  <a:srgbClr val="FF00FF"/>
                </a:solidFill>
                <a:ea typeface="Times New Roman" pitchFamily="18" charset="0"/>
                <a:cs typeface="Arial" pitchFamily="34" charset="0"/>
                <a:sym typeface="Symbol" pitchFamily="18" charset="2"/>
              </a:endParaRPr>
            </a:p>
          </p:txBody>
        </p:sp>
        <p:sp>
          <p:nvSpPr>
            <p:cNvPr id="2055" name="Text Box 7"/>
            <p:cNvSpPr txBox="1">
              <a:spLocks noChangeArrowheads="1"/>
            </p:cNvSpPr>
            <p:nvPr/>
          </p:nvSpPr>
          <p:spPr bwMode="auto">
            <a:xfrm>
              <a:off x="4229" y="11131"/>
              <a:ext cx="374" cy="2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 sz="1600" b="1">
                  <a:solidFill>
                    <a:srgbClr val="FF00FF"/>
                  </a:solidFill>
                  <a:latin typeface="Arial" pitchFamily="34" charset="0"/>
                  <a:ea typeface="Times New Roman" pitchFamily="18" charset="0"/>
                  <a:cs typeface="Mangal" pitchFamily="18" charset="0"/>
                </a:rPr>
                <a:t>(1)</a:t>
              </a:r>
              <a:endParaRPr lang="hi-IN" sz="1600" b="1">
                <a:solidFill>
                  <a:srgbClr val="FF00FF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4" name="Text Box 6"/>
            <p:cNvSpPr txBox="1">
              <a:spLocks noChangeArrowheads="1"/>
            </p:cNvSpPr>
            <p:nvPr/>
          </p:nvSpPr>
          <p:spPr bwMode="auto">
            <a:xfrm>
              <a:off x="3260" y="9890"/>
              <a:ext cx="374" cy="2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 sz="1600" b="1">
                  <a:solidFill>
                    <a:srgbClr val="FF00FF"/>
                  </a:solidFill>
                  <a:latin typeface="Arial" pitchFamily="34" charset="0"/>
                  <a:ea typeface="Times New Roman" pitchFamily="18" charset="0"/>
                  <a:cs typeface="Mangal" pitchFamily="18" charset="0"/>
                </a:rPr>
                <a:t>(2)</a:t>
              </a:r>
              <a:endParaRPr lang="hi-IN" sz="1600" b="1">
                <a:solidFill>
                  <a:srgbClr val="FF00FF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3" name="Oval 5"/>
            <p:cNvSpPr>
              <a:spLocks noChangeArrowheads="1"/>
            </p:cNvSpPr>
            <p:nvPr/>
          </p:nvSpPr>
          <p:spPr bwMode="auto">
            <a:xfrm>
              <a:off x="4124" y="10031"/>
              <a:ext cx="533" cy="52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 sz="2000" b="1">
                  <a:solidFill>
                    <a:schemeClr val="bg1"/>
                  </a:solidFill>
                  <a:latin typeface="Arial" pitchFamily="34" charset="0"/>
                  <a:ea typeface="Times New Roman" pitchFamily="18" charset="0"/>
                  <a:cs typeface="Mangal" pitchFamily="18" charset="0"/>
                </a:rPr>
                <a:t>T</a:t>
              </a:r>
              <a:endParaRPr lang="hi-IN" sz="200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2" name="Oval 4"/>
            <p:cNvSpPr>
              <a:spLocks noChangeArrowheads="1"/>
            </p:cNvSpPr>
            <p:nvPr/>
          </p:nvSpPr>
          <p:spPr bwMode="auto">
            <a:xfrm>
              <a:off x="2993" y="10999"/>
              <a:ext cx="533" cy="519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 sz="2000" b="1">
                  <a:solidFill>
                    <a:schemeClr val="bg1"/>
                  </a:solidFill>
                  <a:latin typeface="Arial" pitchFamily="34" charset="0"/>
                  <a:ea typeface="Times New Roman" pitchFamily="18" charset="0"/>
                  <a:cs typeface="Mangal" pitchFamily="18" charset="0"/>
                </a:rPr>
                <a:t>T</a:t>
              </a:r>
              <a:r>
                <a:rPr lang="hi-IN" sz="2000" b="1" baseline="-30000">
                  <a:solidFill>
                    <a:schemeClr val="bg1"/>
                  </a:solidFill>
                  <a:latin typeface="Arial" pitchFamily="34" charset="0"/>
                  <a:ea typeface="Times New Roman" pitchFamily="18" charset="0"/>
                  <a:cs typeface="Mangal" pitchFamily="18" charset="0"/>
                </a:rPr>
                <a:t>1</a:t>
              </a:r>
              <a:endParaRPr lang="hi-IN" sz="200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1" name="Oval 3"/>
            <p:cNvSpPr>
              <a:spLocks noChangeArrowheads="1"/>
            </p:cNvSpPr>
            <p:nvPr/>
          </p:nvSpPr>
          <p:spPr bwMode="auto">
            <a:xfrm>
              <a:off x="8262" y="10031"/>
              <a:ext cx="533" cy="52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 sz="2000" b="1">
                  <a:solidFill>
                    <a:schemeClr val="bg1"/>
                  </a:solidFill>
                  <a:latin typeface="Arial" pitchFamily="34" charset="0"/>
                  <a:ea typeface="Times New Roman" pitchFamily="18" charset="0"/>
                  <a:cs typeface="Mangal" pitchFamily="18" charset="0"/>
                </a:rPr>
                <a:t>T</a:t>
              </a:r>
              <a:r>
                <a:rPr lang="hi-IN" sz="2000" b="1" baseline="-30000">
                  <a:solidFill>
                    <a:schemeClr val="bg1"/>
                  </a:solidFill>
                  <a:latin typeface="Arial" pitchFamily="34" charset="0"/>
                  <a:ea typeface="Times New Roman" pitchFamily="18" charset="0"/>
                  <a:cs typeface="Mangal" pitchFamily="18" charset="0"/>
                </a:rPr>
                <a:t>1</a:t>
              </a:r>
              <a:endParaRPr lang="hi-IN" sz="200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0" name="Oval 2"/>
            <p:cNvSpPr>
              <a:spLocks noChangeArrowheads="1"/>
            </p:cNvSpPr>
            <p:nvPr/>
          </p:nvSpPr>
          <p:spPr bwMode="auto">
            <a:xfrm>
              <a:off x="9446" y="10980"/>
              <a:ext cx="533" cy="52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 sz="2000" b="1">
                  <a:solidFill>
                    <a:schemeClr val="bg1"/>
                  </a:solidFill>
                  <a:latin typeface="Arial" pitchFamily="34" charset="0"/>
                  <a:ea typeface="Times New Roman" pitchFamily="18" charset="0"/>
                  <a:cs typeface="Mangal" pitchFamily="18" charset="0"/>
                </a:rPr>
                <a:t>T</a:t>
              </a:r>
              <a:endParaRPr lang="hi-IN" sz="200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42" name="Arc 41"/>
          <p:cNvSpPr/>
          <p:nvPr/>
        </p:nvSpPr>
        <p:spPr bwMode="auto">
          <a:xfrm rot="19091530">
            <a:off x="2158461" y="2183498"/>
            <a:ext cx="1225235" cy="1225235"/>
          </a:xfrm>
          <a:prstGeom prst="arc">
            <a:avLst>
              <a:gd name="adj1" fmla="val 8622056"/>
              <a:gd name="adj2" fmla="val 0"/>
            </a:avLst>
          </a:prstGeom>
          <a:noFill/>
          <a:ln w="76200" cap="flat" cmpd="sng" algn="ctr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vi-VN">
              <a:latin typeface="Arial" charset="0"/>
              <a:cs typeface="Arial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BM Công nghệ phần mềm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101</a:t>
            </a:fld>
            <a:endParaRPr lang="en-US"/>
          </a:p>
        </p:txBody>
      </p:sp>
      <p:sp>
        <p:nvSpPr>
          <p:cNvPr id="46" name="Rectangle 2"/>
          <p:cNvSpPr>
            <a:spLocks noGrp="1" noChangeArrowheads="1"/>
          </p:cNvSpPr>
          <p:nvPr>
            <p:ph type="title"/>
          </p:nvPr>
        </p:nvSpPr>
        <p:spPr>
          <a:xfrm>
            <a:off x="659200" y="520343"/>
            <a:ext cx="10642600" cy="70374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Cân bằng lại trường hợp 5</a:t>
            </a:r>
          </a:p>
        </p:txBody>
      </p:sp>
    </p:spTree>
    <p:extLst>
      <p:ext uri="{BB962C8B-B14F-4D97-AF65-F5344CB8AC3E}">
        <p14:creationId xmlns:p14="http://schemas.microsoft.com/office/powerpoint/2010/main" val="315267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BM Công nghệ phần mềm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102</a:t>
            </a:fld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928426" y="407974"/>
            <a:ext cx="10642600" cy="70374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Cài đặt cân bằng lại cho trường hợp 5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826071" y="884127"/>
            <a:ext cx="10642600" cy="1047595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  <a:tabLst>
                <a:tab pos="577850" algn="l"/>
                <a:tab pos="1143000" algn="l"/>
                <a:tab pos="1720850" algn="l"/>
                <a:tab pos="2286000" algn="l"/>
              </a:tabLst>
            </a:pPr>
            <a:r>
              <a:rPr lang="en-US" dirty="0">
                <a:cs typeface="Consolas" panose="020B0609020204030204" pitchFamily="49" charset="0"/>
              </a:rPr>
              <a:t>Phần cài đặt cho trường hợp </a:t>
            </a:r>
            <a:r>
              <a:rPr lang="en-US" b="1" dirty="0">
                <a:solidFill>
                  <a:srgbClr val="FF0000"/>
                </a:solidFill>
                <a:cs typeface="Consolas" panose="020B0609020204030204" pitchFamily="49" charset="0"/>
              </a:rPr>
              <a:t>LB</a:t>
            </a:r>
            <a:r>
              <a:rPr lang="en-US" dirty="0">
                <a:cs typeface="Consolas" panose="020B0609020204030204" pitchFamily="49" charset="0"/>
              </a:rPr>
              <a:t> này </a:t>
            </a:r>
            <a:r>
              <a:rPr lang="vi-VN" dirty="0">
                <a:cs typeface="Consolas" panose="020B0609020204030204" pitchFamily="49" charset="0"/>
              </a:rPr>
              <a:t>đượ</a:t>
            </a:r>
            <a:r>
              <a:rPr lang="en-US" dirty="0">
                <a:cs typeface="Consolas" panose="020B0609020204030204" pitchFamily="49" charset="0"/>
              </a:rPr>
              <a:t>c cân bằng lại hoàn toàn giống với </a:t>
            </a:r>
            <a:r>
              <a:rPr lang="en-US" b="1" dirty="0">
                <a:solidFill>
                  <a:srgbClr val="FF0000"/>
                </a:solidFill>
                <a:cs typeface="Consolas" panose="020B0609020204030204" pitchFamily="49" charset="0"/>
              </a:rPr>
              <a:t>LL</a:t>
            </a:r>
            <a:r>
              <a:rPr lang="en-US" dirty="0">
                <a:cs typeface="Consolas" panose="020B0609020204030204" pitchFamily="49" charset="0"/>
              </a:rPr>
              <a:t>.</a:t>
            </a:r>
            <a:endParaRPr lang="vi-VN" dirty="0">
              <a:cs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772698"/>
            <a:ext cx="703464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32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balanceLeft(</a:t>
            </a:r>
            <a:r>
              <a:rPr lang="en-US" sz="320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AVLTree</a:t>
            </a:r>
            <a:r>
              <a:rPr lang="en-US" sz="32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&amp;</a:t>
            </a:r>
            <a:r>
              <a:rPr lang="en-US" sz="320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en-US" sz="32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sz="20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sz="2000" i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//khi cây T lệch bên trái cần cân bằng lại</a:t>
            </a:r>
            <a:endParaRPr lang="vi-VN" sz="2000">
              <a:solidFill>
                <a:srgbClr val="00B0F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20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AVLNode</a:t>
            </a:r>
            <a:r>
              <a:rPr lang="en-US" sz="32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 T1 = </a:t>
            </a:r>
            <a:r>
              <a:rPr lang="en-US" sz="320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en-US" sz="32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-&gt;pLeft;</a:t>
            </a:r>
          </a:p>
          <a:p>
            <a:r>
              <a:rPr lang="en-US" sz="320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switch</a:t>
            </a:r>
            <a:r>
              <a:rPr lang="en-US" sz="32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(T1-</a:t>
            </a:r>
            <a:r>
              <a:rPr lang="en-US" sz="32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&gt;bal)</a:t>
            </a:r>
          </a:p>
          <a:p>
            <a:r>
              <a:rPr lang="en-US" sz="32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{</a:t>
            </a:r>
            <a:endParaRPr lang="en-US" sz="320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320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case</a:t>
            </a:r>
            <a:r>
              <a:rPr lang="en-US" sz="32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>
                <a:solidFill>
                  <a:srgbClr val="6F008A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LH</a:t>
            </a:r>
            <a:r>
              <a:rPr lang="en-US" sz="32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</a:p>
          <a:p>
            <a:r>
              <a:rPr lang="en-US" sz="32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rotateLL(</a:t>
            </a:r>
            <a:r>
              <a:rPr lang="en-US" sz="3200" smtClean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en-US" sz="32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320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return</a:t>
            </a:r>
            <a:r>
              <a:rPr lang="en-US" sz="32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32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320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case</a:t>
            </a:r>
            <a:r>
              <a:rPr lang="en-US" sz="32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 smtClean="0">
                <a:solidFill>
                  <a:srgbClr val="6F008A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EH</a:t>
            </a:r>
            <a:r>
              <a:rPr lang="en-US" sz="32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</a:p>
        </p:txBody>
      </p:sp>
      <p:sp>
        <p:nvSpPr>
          <p:cNvPr id="5" name="Rectangle 4"/>
          <p:cNvSpPr/>
          <p:nvPr/>
        </p:nvSpPr>
        <p:spPr>
          <a:xfrm>
            <a:off x="7065462" y="1751342"/>
            <a:ext cx="504118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rotateLL(</a:t>
            </a:r>
            <a:r>
              <a:rPr lang="en-US" sz="3200" smtClean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en-US" sz="32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320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return</a:t>
            </a:r>
            <a:r>
              <a:rPr lang="en-US" sz="32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1;</a:t>
            </a:r>
          </a:p>
          <a:p>
            <a:r>
              <a:rPr lang="en-US" sz="320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case</a:t>
            </a:r>
            <a:r>
              <a:rPr lang="en-US" sz="32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>
                <a:solidFill>
                  <a:srgbClr val="6F008A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RH</a:t>
            </a:r>
            <a:r>
              <a:rPr lang="en-US" sz="32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</a:p>
          <a:p>
            <a:r>
              <a:rPr lang="en-US" sz="32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rotateLR(</a:t>
            </a:r>
            <a:r>
              <a:rPr lang="en-US" sz="3200" smtClean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en-US" sz="32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320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return</a:t>
            </a:r>
            <a:r>
              <a:rPr lang="en-US" sz="32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2;</a:t>
            </a:r>
          </a:p>
          <a:p>
            <a:r>
              <a:rPr lang="en-US" sz="32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}</a:t>
            </a:r>
            <a:endParaRPr lang="en-US" sz="320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320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return</a:t>
            </a:r>
            <a:r>
              <a:rPr lang="en-US" sz="32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32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US" sz="3200" i="1" smtClean="0">
                <a:solidFill>
                  <a:srgbClr val="00B0F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</a:t>
            </a:r>
            <a:r>
              <a:rPr lang="en-US" sz="2400" i="1" smtClean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2400" i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Trường balance bị sai</a:t>
            </a:r>
            <a:endParaRPr lang="vi-VN" sz="2400">
              <a:solidFill>
                <a:srgbClr val="00B0F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2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3200"/>
          </a:p>
        </p:txBody>
      </p:sp>
      <p:cxnSp>
        <p:nvCxnSpPr>
          <p:cNvPr id="8" name="Straight Connector 7"/>
          <p:cNvCxnSpPr/>
          <p:nvPr/>
        </p:nvCxnSpPr>
        <p:spPr>
          <a:xfrm>
            <a:off x="6596008" y="1551398"/>
            <a:ext cx="0" cy="4654193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82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7" name="Rectangle 39"/>
          <p:cNvSpPr>
            <a:spLocks noChangeArrowheads="1"/>
          </p:cNvSpPr>
          <p:nvPr/>
        </p:nvSpPr>
        <p:spPr bwMode="auto">
          <a:xfrm>
            <a:off x="1143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855" name="Rectangle 39"/>
          <p:cNvSpPr>
            <a:spLocks noChangeArrowheads="1"/>
          </p:cNvSpPr>
          <p:nvPr/>
        </p:nvSpPr>
        <p:spPr bwMode="auto">
          <a:xfrm>
            <a:off x="1143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34817" name="Group 1"/>
          <p:cNvGrpSpPr>
            <a:grpSpLocks/>
          </p:cNvGrpSpPr>
          <p:nvPr/>
        </p:nvGrpSpPr>
        <p:grpSpPr bwMode="auto">
          <a:xfrm>
            <a:off x="1541659" y="1216113"/>
            <a:ext cx="9108682" cy="4763909"/>
            <a:chOff x="2004" y="2102"/>
            <a:chExt cx="9097" cy="4762"/>
          </a:xfrm>
        </p:grpSpPr>
        <p:sp>
          <p:nvSpPr>
            <p:cNvPr id="34854" name="Freeform 38"/>
            <p:cNvSpPr>
              <a:spLocks/>
            </p:cNvSpPr>
            <p:nvPr/>
          </p:nvSpPr>
          <p:spPr bwMode="auto">
            <a:xfrm>
              <a:off x="3679" y="2320"/>
              <a:ext cx="851" cy="1595"/>
            </a:xfrm>
            <a:custGeom>
              <a:avLst/>
              <a:gdLst>
                <a:gd name="connsiteX0" fmla="*/ 7854 w 8205"/>
                <a:gd name="connsiteY0" fmla="*/ 9655 h 9655"/>
                <a:gd name="connsiteX1" fmla="*/ 6000 w 8205"/>
                <a:gd name="connsiteY1" fmla="*/ 7582 h 9655"/>
                <a:gd name="connsiteX2" fmla="*/ 8000 w 8205"/>
                <a:gd name="connsiteY2" fmla="*/ 523 h 9655"/>
                <a:gd name="connsiteX3" fmla="*/ 0 w 8205"/>
                <a:gd name="connsiteY3" fmla="*/ 523 h 9655"/>
                <a:gd name="connsiteX0" fmla="*/ 9572 w 10000"/>
                <a:gd name="connsiteY0" fmla="*/ 10000 h 10512"/>
                <a:gd name="connsiteX1" fmla="*/ 7313 w 10000"/>
                <a:gd name="connsiteY1" fmla="*/ 7853 h 10512"/>
                <a:gd name="connsiteX2" fmla="*/ 9750 w 10000"/>
                <a:gd name="connsiteY2" fmla="*/ 542 h 10512"/>
                <a:gd name="connsiteX3" fmla="*/ 0 w 10000"/>
                <a:gd name="connsiteY3" fmla="*/ 542 h 10512"/>
                <a:gd name="connsiteX0" fmla="*/ 9572 w 9905"/>
                <a:gd name="connsiteY0" fmla="*/ 10000 h 10680"/>
                <a:gd name="connsiteX1" fmla="*/ 4574 w 9905"/>
                <a:gd name="connsiteY1" fmla="*/ 8730 h 10680"/>
                <a:gd name="connsiteX2" fmla="*/ 9750 w 9905"/>
                <a:gd name="connsiteY2" fmla="*/ 542 h 10680"/>
                <a:gd name="connsiteX3" fmla="*/ 0 w 9905"/>
                <a:gd name="connsiteY3" fmla="*/ 542 h 10680"/>
                <a:gd name="connsiteX0" fmla="*/ 11235 w 11571"/>
                <a:gd name="connsiteY0" fmla="*/ 10387 h 11024"/>
                <a:gd name="connsiteX1" fmla="*/ 6189 w 11571"/>
                <a:gd name="connsiteY1" fmla="*/ 9198 h 11024"/>
                <a:gd name="connsiteX2" fmla="*/ 11415 w 11571"/>
                <a:gd name="connsiteY2" fmla="*/ 1531 h 11024"/>
                <a:gd name="connsiteX3" fmla="*/ 0 w 11571"/>
                <a:gd name="connsiteY3" fmla="*/ 0 h 11024"/>
                <a:gd name="connsiteX0" fmla="*/ 11235 w 11235"/>
                <a:gd name="connsiteY0" fmla="*/ 11827 h 12567"/>
                <a:gd name="connsiteX1" fmla="*/ 6189 w 11235"/>
                <a:gd name="connsiteY1" fmla="*/ 10638 h 12567"/>
                <a:gd name="connsiteX2" fmla="*/ 5635 w 11235"/>
                <a:gd name="connsiteY2" fmla="*/ 321 h 12567"/>
                <a:gd name="connsiteX3" fmla="*/ 0 w 11235"/>
                <a:gd name="connsiteY3" fmla="*/ 1440 h 12567"/>
                <a:gd name="connsiteX0" fmla="*/ 11235 w 11235"/>
                <a:gd name="connsiteY0" fmla="*/ 12007 h 12747"/>
                <a:gd name="connsiteX1" fmla="*/ 6189 w 11235"/>
                <a:gd name="connsiteY1" fmla="*/ 10818 h 12747"/>
                <a:gd name="connsiteX2" fmla="*/ 5635 w 11235"/>
                <a:gd name="connsiteY2" fmla="*/ 501 h 12747"/>
                <a:gd name="connsiteX3" fmla="*/ 0 w 11235"/>
                <a:gd name="connsiteY3" fmla="*/ 1620 h 12747"/>
                <a:gd name="connsiteX0" fmla="*/ 11235 w 11235"/>
                <a:gd name="connsiteY0" fmla="*/ 12007 h 12600"/>
                <a:gd name="connsiteX1" fmla="*/ 6189 w 11235"/>
                <a:gd name="connsiteY1" fmla="*/ 10818 h 12600"/>
                <a:gd name="connsiteX2" fmla="*/ 9232 w 11235"/>
                <a:gd name="connsiteY2" fmla="*/ 4453 h 12600"/>
                <a:gd name="connsiteX3" fmla="*/ 5635 w 11235"/>
                <a:gd name="connsiteY3" fmla="*/ 501 h 12600"/>
                <a:gd name="connsiteX4" fmla="*/ 0 w 11235"/>
                <a:gd name="connsiteY4" fmla="*/ 1620 h 12600"/>
                <a:gd name="connsiteX0" fmla="*/ 11235 w 11235"/>
                <a:gd name="connsiteY0" fmla="*/ 11925 h 12518"/>
                <a:gd name="connsiteX1" fmla="*/ 6189 w 11235"/>
                <a:gd name="connsiteY1" fmla="*/ 10736 h 12518"/>
                <a:gd name="connsiteX2" fmla="*/ 9232 w 11235"/>
                <a:gd name="connsiteY2" fmla="*/ 4371 h 12518"/>
                <a:gd name="connsiteX3" fmla="*/ 5635 w 11235"/>
                <a:gd name="connsiteY3" fmla="*/ 419 h 12518"/>
                <a:gd name="connsiteX4" fmla="*/ 0 w 11235"/>
                <a:gd name="connsiteY4" fmla="*/ 1538 h 12518"/>
                <a:gd name="connsiteX0" fmla="*/ 11235 w 11235"/>
                <a:gd name="connsiteY0" fmla="*/ 11925 h 12518"/>
                <a:gd name="connsiteX1" fmla="*/ 6189 w 11235"/>
                <a:gd name="connsiteY1" fmla="*/ 10736 h 12518"/>
                <a:gd name="connsiteX2" fmla="*/ 9232 w 11235"/>
                <a:gd name="connsiteY2" fmla="*/ 4371 h 12518"/>
                <a:gd name="connsiteX3" fmla="*/ 5635 w 11235"/>
                <a:gd name="connsiteY3" fmla="*/ 419 h 12518"/>
                <a:gd name="connsiteX4" fmla="*/ 0 w 11235"/>
                <a:gd name="connsiteY4" fmla="*/ 1538 h 12518"/>
                <a:gd name="connsiteX0" fmla="*/ 11235 w 11235"/>
                <a:gd name="connsiteY0" fmla="*/ 11925 h 12518"/>
                <a:gd name="connsiteX1" fmla="*/ 6189 w 11235"/>
                <a:gd name="connsiteY1" fmla="*/ 10736 h 12518"/>
                <a:gd name="connsiteX2" fmla="*/ 9232 w 11235"/>
                <a:gd name="connsiteY2" fmla="*/ 4371 h 12518"/>
                <a:gd name="connsiteX3" fmla="*/ 5635 w 11235"/>
                <a:gd name="connsiteY3" fmla="*/ 419 h 12518"/>
                <a:gd name="connsiteX4" fmla="*/ 0 w 11235"/>
                <a:gd name="connsiteY4" fmla="*/ 1538 h 12518"/>
                <a:gd name="connsiteX0" fmla="*/ 11235 w 11235"/>
                <a:gd name="connsiteY0" fmla="*/ 11925 h 12518"/>
                <a:gd name="connsiteX1" fmla="*/ 6189 w 11235"/>
                <a:gd name="connsiteY1" fmla="*/ 10736 h 12518"/>
                <a:gd name="connsiteX2" fmla="*/ 9232 w 11235"/>
                <a:gd name="connsiteY2" fmla="*/ 4371 h 12518"/>
                <a:gd name="connsiteX3" fmla="*/ 5635 w 11235"/>
                <a:gd name="connsiteY3" fmla="*/ 419 h 12518"/>
                <a:gd name="connsiteX4" fmla="*/ 0 w 11235"/>
                <a:gd name="connsiteY4" fmla="*/ 1538 h 12518"/>
                <a:gd name="connsiteX0" fmla="*/ 11235 w 11235"/>
                <a:gd name="connsiteY0" fmla="*/ 11925 h 12605"/>
                <a:gd name="connsiteX1" fmla="*/ 6189 w 11235"/>
                <a:gd name="connsiteY1" fmla="*/ 10736 h 12605"/>
                <a:gd name="connsiteX2" fmla="*/ 9232 w 11235"/>
                <a:gd name="connsiteY2" fmla="*/ 4371 h 12605"/>
                <a:gd name="connsiteX3" fmla="*/ 5635 w 11235"/>
                <a:gd name="connsiteY3" fmla="*/ 419 h 12605"/>
                <a:gd name="connsiteX4" fmla="*/ 0 w 11235"/>
                <a:gd name="connsiteY4" fmla="*/ 1538 h 12605"/>
                <a:gd name="connsiteX0" fmla="*/ 11235 w 11235"/>
                <a:gd name="connsiteY0" fmla="*/ 11925 h 12605"/>
                <a:gd name="connsiteX1" fmla="*/ 5373 w 11235"/>
                <a:gd name="connsiteY1" fmla="*/ 10736 h 12605"/>
                <a:gd name="connsiteX2" fmla="*/ 9232 w 11235"/>
                <a:gd name="connsiteY2" fmla="*/ 4371 h 12605"/>
                <a:gd name="connsiteX3" fmla="*/ 5635 w 11235"/>
                <a:gd name="connsiteY3" fmla="*/ 419 h 12605"/>
                <a:gd name="connsiteX4" fmla="*/ 0 w 11235"/>
                <a:gd name="connsiteY4" fmla="*/ 1538 h 12605"/>
                <a:gd name="connsiteX0" fmla="*/ 11235 w 11235"/>
                <a:gd name="connsiteY0" fmla="*/ 11953 h 12633"/>
                <a:gd name="connsiteX1" fmla="*/ 5373 w 11235"/>
                <a:gd name="connsiteY1" fmla="*/ 10764 h 12633"/>
                <a:gd name="connsiteX2" fmla="*/ 9232 w 11235"/>
                <a:gd name="connsiteY2" fmla="*/ 4399 h 12633"/>
                <a:gd name="connsiteX3" fmla="*/ 6137 w 11235"/>
                <a:gd name="connsiteY3" fmla="*/ 410 h 12633"/>
                <a:gd name="connsiteX4" fmla="*/ 0 w 11235"/>
                <a:gd name="connsiteY4" fmla="*/ 1566 h 12633"/>
                <a:gd name="connsiteX0" fmla="*/ 11235 w 11235"/>
                <a:gd name="connsiteY0" fmla="*/ 11953 h 12547"/>
                <a:gd name="connsiteX1" fmla="*/ 5373 w 11235"/>
                <a:gd name="connsiteY1" fmla="*/ 10764 h 12547"/>
                <a:gd name="connsiteX2" fmla="*/ 9672 w 11235"/>
                <a:gd name="connsiteY2" fmla="*/ 4362 h 12547"/>
                <a:gd name="connsiteX3" fmla="*/ 6137 w 11235"/>
                <a:gd name="connsiteY3" fmla="*/ 410 h 12547"/>
                <a:gd name="connsiteX4" fmla="*/ 0 w 11235"/>
                <a:gd name="connsiteY4" fmla="*/ 1566 h 12547"/>
                <a:gd name="connsiteX0" fmla="*/ 11235 w 11235"/>
                <a:gd name="connsiteY0" fmla="*/ 11938 h 12532"/>
                <a:gd name="connsiteX1" fmla="*/ 5373 w 11235"/>
                <a:gd name="connsiteY1" fmla="*/ 10749 h 12532"/>
                <a:gd name="connsiteX2" fmla="*/ 9672 w 11235"/>
                <a:gd name="connsiteY2" fmla="*/ 4347 h 12532"/>
                <a:gd name="connsiteX3" fmla="*/ 6137 w 11235"/>
                <a:gd name="connsiteY3" fmla="*/ 395 h 12532"/>
                <a:gd name="connsiteX4" fmla="*/ 0 w 11235"/>
                <a:gd name="connsiteY4" fmla="*/ 1551 h 12532"/>
                <a:gd name="connsiteX0" fmla="*/ 11235 w 11235"/>
                <a:gd name="connsiteY0" fmla="*/ 11966 h 12560"/>
                <a:gd name="connsiteX1" fmla="*/ 5373 w 11235"/>
                <a:gd name="connsiteY1" fmla="*/ 10777 h 12560"/>
                <a:gd name="connsiteX2" fmla="*/ 9672 w 11235"/>
                <a:gd name="connsiteY2" fmla="*/ 4375 h 12560"/>
                <a:gd name="connsiteX3" fmla="*/ 6702 w 11235"/>
                <a:gd name="connsiteY3" fmla="*/ 386 h 12560"/>
                <a:gd name="connsiteX4" fmla="*/ 0 w 11235"/>
                <a:gd name="connsiteY4" fmla="*/ 1579 h 12560"/>
                <a:gd name="connsiteX0" fmla="*/ 11235 w 11235"/>
                <a:gd name="connsiteY0" fmla="*/ 11966 h 12560"/>
                <a:gd name="connsiteX1" fmla="*/ 5373 w 11235"/>
                <a:gd name="connsiteY1" fmla="*/ 10777 h 12560"/>
                <a:gd name="connsiteX2" fmla="*/ 9672 w 11235"/>
                <a:gd name="connsiteY2" fmla="*/ 4375 h 12560"/>
                <a:gd name="connsiteX3" fmla="*/ 6702 w 11235"/>
                <a:gd name="connsiteY3" fmla="*/ 386 h 12560"/>
                <a:gd name="connsiteX4" fmla="*/ 0 w 11235"/>
                <a:gd name="connsiteY4" fmla="*/ 1579 h 12560"/>
                <a:gd name="connsiteX0" fmla="*/ 11235 w 11235"/>
                <a:gd name="connsiteY0" fmla="*/ 11966 h 12560"/>
                <a:gd name="connsiteX1" fmla="*/ 5373 w 11235"/>
                <a:gd name="connsiteY1" fmla="*/ 10777 h 12560"/>
                <a:gd name="connsiteX2" fmla="*/ 9672 w 11235"/>
                <a:gd name="connsiteY2" fmla="*/ 4375 h 12560"/>
                <a:gd name="connsiteX3" fmla="*/ 6702 w 11235"/>
                <a:gd name="connsiteY3" fmla="*/ 386 h 12560"/>
                <a:gd name="connsiteX4" fmla="*/ 0 w 11235"/>
                <a:gd name="connsiteY4" fmla="*/ 1579 h 12560"/>
                <a:gd name="connsiteX0" fmla="*/ 11235 w 11235"/>
                <a:gd name="connsiteY0" fmla="*/ 11966 h 12560"/>
                <a:gd name="connsiteX1" fmla="*/ 5373 w 11235"/>
                <a:gd name="connsiteY1" fmla="*/ 10777 h 12560"/>
                <a:gd name="connsiteX2" fmla="*/ 9672 w 11235"/>
                <a:gd name="connsiteY2" fmla="*/ 4375 h 12560"/>
                <a:gd name="connsiteX3" fmla="*/ 6702 w 11235"/>
                <a:gd name="connsiteY3" fmla="*/ 386 h 12560"/>
                <a:gd name="connsiteX4" fmla="*/ 0 w 11235"/>
                <a:gd name="connsiteY4" fmla="*/ 1579 h 12560"/>
                <a:gd name="connsiteX0" fmla="*/ 11235 w 11235"/>
                <a:gd name="connsiteY0" fmla="*/ 11966 h 12560"/>
                <a:gd name="connsiteX1" fmla="*/ 5373 w 11235"/>
                <a:gd name="connsiteY1" fmla="*/ 10777 h 12560"/>
                <a:gd name="connsiteX2" fmla="*/ 9672 w 11235"/>
                <a:gd name="connsiteY2" fmla="*/ 4375 h 12560"/>
                <a:gd name="connsiteX3" fmla="*/ 6702 w 11235"/>
                <a:gd name="connsiteY3" fmla="*/ 386 h 12560"/>
                <a:gd name="connsiteX4" fmla="*/ 0 w 11235"/>
                <a:gd name="connsiteY4" fmla="*/ 1579 h 12560"/>
                <a:gd name="connsiteX0" fmla="*/ 11235 w 11235"/>
                <a:gd name="connsiteY0" fmla="*/ 11966 h 12560"/>
                <a:gd name="connsiteX1" fmla="*/ 5373 w 11235"/>
                <a:gd name="connsiteY1" fmla="*/ 10777 h 12560"/>
                <a:gd name="connsiteX2" fmla="*/ 9672 w 11235"/>
                <a:gd name="connsiteY2" fmla="*/ 4375 h 12560"/>
                <a:gd name="connsiteX3" fmla="*/ 6702 w 11235"/>
                <a:gd name="connsiteY3" fmla="*/ 386 h 12560"/>
                <a:gd name="connsiteX4" fmla="*/ 0 w 11235"/>
                <a:gd name="connsiteY4" fmla="*/ 1579 h 12560"/>
                <a:gd name="connsiteX0" fmla="*/ 11235 w 11235"/>
                <a:gd name="connsiteY0" fmla="*/ 11966 h 12560"/>
                <a:gd name="connsiteX1" fmla="*/ 5373 w 11235"/>
                <a:gd name="connsiteY1" fmla="*/ 10777 h 12560"/>
                <a:gd name="connsiteX2" fmla="*/ 9672 w 11235"/>
                <a:gd name="connsiteY2" fmla="*/ 4375 h 12560"/>
                <a:gd name="connsiteX3" fmla="*/ 6702 w 11235"/>
                <a:gd name="connsiteY3" fmla="*/ 386 h 12560"/>
                <a:gd name="connsiteX4" fmla="*/ 0 w 11235"/>
                <a:gd name="connsiteY4" fmla="*/ 1579 h 12560"/>
                <a:gd name="connsiteX0" fmla="*/ 11235 w 11235"/>
                <a:gd name="connsiteY0" fmla="*/ 11966 h 12560"/>
                <a:gd name="connsiteX1" fmla="*/ 5373 w 11235"/>
                <a:gd name="connsiteY1" fmla="*/ 10777 h 12560"/>
                <a:gd name="connsiteX2" fmla="*/ 9672 w 11235"/>
                <a:gd name="connsiteY2" fmla="*/ 4375 h 12560"/>
                <a:gd name="connsiteX3" fmla="*/ 6702 w 11235"/>
                <a:gd name="connsiteY3" fmla="*/ 386 h 12560"/>
                <a:gd name="connsiteX4" fmla="*/ 0 w 11235"/>
                <a:gd name="connsiteY4" fmla="*/ 1579 h 12560"/>
                <a:gd name="connsiteX0" fmla="*/ 11235 w 11235"/>
                <a:gd name="connsiteY0" fmla="*/ 11901 h 12495"/>
                <a:gd name="connsiteX1" fmla="*/ 5373 w 11235"/>
                <a:gd name="connsiteY1" fmla="*/ 10712 h 12495"/>
                <a:gd name="connsiteX2" fmla="*/ 9672 w 11235"/>
                <a:gd name="connsiteY2" fmla="*/ 4310 h 12495"/>
                <a:gd name="connsiteX3" fmla="*/ 6702 w 11235"/>
                <a:gd name="connsiteY3" fmla="*/ 321 h 12495"/>
                <a:gd name="connsiteX4" fmla="*/ 0 w 11235"/>
                <a:gd name="connsiteY4" fmla="*/ 1514 h 12495"/>
                <a:gd name="connsiteX0" fmla="*/ 11235 w 11235"/>
                <a:gd name="connsiteY0" fmla="*/ 11901 h 12495"/>
                <a:gd name="connsiteX1" fmla="*/ 5373 w 11235"/>
                <a:gd name="connsiteY1" fmla="*/ 10712 h 12495"/>
                <a:gd name="connsiteX2" fmla="*/ 9672 w 11235"/>
                <a:gd name="connsiteY2" fmla="*/ 4310 h 12495"/>
                <a:gd name="connsiteX3" fmla="*/ 6702 w 11235"/>
                <a:gd name="connsiteY3" fmla="*/ 321 h 12495"/>
                <a:gd name="connsiteX4" fmla="*/ 0 w 11235"/>
                <a:gd name="connsiteY4" fmla="*/ 1514 h 12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35" h="12495">
                  <a:moveTo>
                    <a:pt x="11235" y="11901"/>
                  </a:moveTo>
                  <a:cubicBezTo>
                    <a:pt x="8225" y="13290"/>
                    <a:pt x="5633" y="11977"/>
                    <a:pt x="5373" y="10712"/>
                  </a:cubicBezTo>
                  <a:cubicBezTo>
                    <a:pt x="5113" y="9447"/>
                    <a:pt x="9827" y="7411"/>
                    <a:pt x="9672" y="4310"/>
                  </a:cubicBezTo>
                  <a:cubicBezTo>
                    <a:pt x="9391" y="2256"/>
                    <a:pt x="8450" y="1098"/>
                    <a:pt x="6702" y="321"/>
                  </a:cubicBezTo>
                  <a:cubicBezTo>
                    <a:pt x="4842" y="-446"/>
                    <a:pt x="1294" y="245"/>
                    <a:pt x="0" y="1514"/>
                  </a:cubicBezTo>
                </a:path>
              </a:pathLst>
            </a:custGeom>
            <a:noFill/>
            <a:ln w="28575">
              <a:solidFill>
                <a:srgbClr val="0000FF"/>
              </a:solidFill>
              <a:prstDash val="solid"/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53" name="AutoShape 37"/>
            <p:cNvSpPr>
              <a:spLocks noChangeArrowheads="1"/>
            </p:cNvSpPr>
            <p:nvPr/>
          </p:nvSpPr>
          <p:spPr bwMode="auto">
            <a:xfrm>
              <a:off x="3477" y="4671"/>
              <a:ext cx="742" cy="1083"/>
            </a:xfrm>
            <a:prstGeom prst="flowChartExtra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00FF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 sz="2000" b="1">
                  <a:latin typeface="Arial" pitchFamily="34" charset="0"/>
                  <a:ea typeface="Times New Roman" pitchFamily="18" charset="0"/>
                  <a:cs typeface="Mangal" pitchFamily="18" charset="0"/>
                </a:rPr>
                <a:t>L</a:t>
              </a:r>
              <a:r>
                <a:rPr lang="hi-IN" sz="2000" b="1" baseline="-30000">
                  <a:latin typeface="Arial" pitchFamily="34" charset="0"/>
                  <a:ea typeface="Times New Roman" pitchFamily="18" charset="0"/>
                  <a:cs typeface="Mangal" pitchFamily="18" charset="0"/>
                </a:rPr>
                <a:t>1</a:t>
              </a:r>
              <a:endParaRPr lang="hi-IN" sz="20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852" name="AutoShape 36"/>
            <p:cNvSpPr>
              <a:spLocks noChangeArrowheads="1"/>
            </p:cNvSpPr>
            <p:nvPr/>
          </p:nvSpPr>
          <p:spPr bwMode="auto">
            <a:xfrm>
              <a:off x="5196" y="4654"/>
              <a:ext cx="744" cy="1100"/>
            </a:xfrm>
            <a:prstGeom prst="flowChartExtra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00FF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 sz="2000" b="1">
                  <a:latin typeface="Arial" pitchFamily="34" charset="0"/>
                  <a:ea typeface="Times New Roman" pitchFamily="18" charset="0"/>
                  <a:cs typeface="Mangal" pitchFamily="18" charset="0"/>
                </a:rPr>
                <a:t>R</a:t>
              </a:r>
              <a:r>
                <a:rPr lang="hi-IN" sz="2000" b="1" baseline="-30000">
                  <a:latin typeface="Arial" pitchFamily="34" charset="0"/>
                  <a:ea typeface="Times New Roman" pitchFamily="18" charset="0"/>
                  <a:cs typeface="Mangal" pitchFamily="18" charset="0"/>
                </a:rPr>
                <a:t>1</a:t>
              </a:r>
              <a:endParaRPr lang="hi-IN" sz="20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851" name="Line 35"/>
            <p:cNvSpPr>
              <a:spLocks noChangeShapeType="1"/>
            </p:cNvSpPr>
            <p:nvPr/>
          </p:nvSpPr>
          <p:spPr bwMode="auto">
            <a:xfrm flipH="1">
              <a:off x="2389" y="2844"/>
              <a:ext cx="929" cy="6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50" name="Line 34"/>
            <p:cNvSpPr>
              <a:spLocks noChangeShapeType="1"/>
            </p:cNvSpPr>
            <p:nvPr/>
          </p:nvSpPr>
          <p:spPr bwMode="auto">
            <a:xfrm>
              <a:off x="3675" y="2808"/>
              <a:ext cx="930" cy="652"/>
            </a:xfrm>
            <a:prstGeom prst="line">
              <a:avLst/>
            </a:prstGeom>
            <a:noFill/>
            <a:ln w="19050">
              <a:solidFill>
                <a:srgbClr val="0070C0"/>
              </a:solidFill>
              <a:prstDash val="dash"/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49" name="Line 33"/>
            <p:cNvSpPr>
              <a:spLocks noChangeShapeType="1"/>
            </p:cNvSpPr>
            <p:nvPr/>
          </p:nvSpPr>
          <p:spPr bwMode="auto">
            <a:xfrm flipH="1">
              <a:off x="3880" y="3803"/>
              <a:ext cx="681" cy="826"/>
            </a:xfrm>
            <a:prstGeom prst="line">
              <a:avLst/>
            </a:prstGeom>
            <a:noFill/>
            <a:ln w="19050">
              <a:solidFill>
                <a:srgbClr val="0070C0"/>
              </a:solidFill>
              <a:prstDash val="dash"/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48" name="Line 32"/>
            <p:cNvSpPr>
              <a:spLocks noChangeShapeType="1"/>
            </p:cNvSpPr>
            <p:nvPr/>
          </p:nvSpPr>
          <p:spPr bwMode="auto">
            <a:xfrm>
              <a:off x="4855" y="3785"/>
              <a:ext cx="744" cy="8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47" name="Text Box 31"/>
            <p:cNvSpPr txBox="1">
              <a:spLocks noChangeArrowheads="1"/>
            </p:cNvSpPr>
            <p:nvPr/>
          </p:nvSpPr>
          <p:spPr bwMode="auto">
            <a:xfrm>
              <a:off x="4299" y="5100"/>
              <a:ext cx="415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>
                  <a:latin typeface="Arial" pitchFamily="34" charset="0"/>
                  <a:ea typeface="Times New Roman" pitchFamily="18" charset="0"/>
                  <a:cs typeface="Mangal" pitchFamily="18" charset="0"/>
                </a:rPr>
                <a:t>h</a:t>
              </a:r>
              <a:endParaRPr lang="hi-IN" sz="28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846" name="Text Box 30"/>
            <p:cNvSpPr txBox="1">
              <a:spLocks noChangeArrowheads="1"/>
            </p:cNvSpPr>
            <p:nvPr/>
          </p:nvSpPr>
          <p:spPr bwMode="auto">
            <a:xfrm>
              <a:off x="6067" y="5100"/>
              <a:ext cx="415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>
                  <a:latin typeface="Arial" pitchFamily="34" charset="0"/>
                  <a:ea typeface="Times New Roman" pitchFamily="18" charset="0"/>
                  <a:cs typeface="Mangal" pitchFamily="18" charset="0"/>
                </a:rPr>
                <a:t>h</a:t>
              </a:r>
              <a:endParaRPr lang="hi-IN" sz="28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845" name="AutoShape 29"/>
            <p:cNvSpPr>
              <a:spLocks noChangeArrowheads="1"/>
            </p:cNvSpPr>
            <p:nvPr/>
          </p:nvSpPr>
          <p:spPr bwMode="auto">
            <a:xfrm>
              <a:off x="2004" y="3508"/>
              <a:ext cx="744" cy="1101"/>
            </a:xfrm>
            <a:prstGeom prst="flowChartExtra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00FF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 sz="2000" b="1">
                  <a:latin typeface="Arial" pitchFamily="34" charset="0"/>
                  <a:ea typeface="Times New Roman" pitchFamily="18" charset="0"/>
                  <a:cs typeface="Mangal" pitchFamily="18" charset="0"/>
                </a:rPr>
                <a:t>L</a:t>
              </a:r>
              <a:endParaRPr lang="hi-IN" sz="20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844" name="Line 28"/>
            <p:cNvSpPr>
              <a:spLocks noChangeShapeType="1"/>
            </p:cNvSpPr>
            <p:nvPr/>
          </p:nvSpPr>
          <p:spPr bwMode="auto">
            <a:xfrm>
              <a:off x="4252" y="4663"/>
              <a:ext cx="0" cy="109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43" name="Line 27"/>
            <p:cNvSpPr>
              <a:spLocks noChangeShapeType="1"/>
            </p:cNvSpPr>
            <p:nvPr/>
          </p:nvSpPr>
          <p:spPr bwMode="auto">
            <a:xfrm>
              <a:off x="5989" y="4663"/>
              <a:ext cx="0" cy="109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42" name="Line 26"/>
            <p:cNvSpPr>
              <a:spLocks noChangeShapeType="1"/>
            </p:cNvSpPr>
            <p:nvPr/>
          </p:nvSpPr>
          <p:spPr bwMode="auto">
            <a:xfrm>
              <a:off x="2794" y="3508"/>
              <a:ext cx="0" cy="109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41" name="Text Box 25"/>
            <p:cNvSpPr txBox="1">
              <a:spLocks noChangeArrowheads="1"/>
            </p:cNvSpPr>
            <p:nvPr/>
          </p:nvSpPr>
          <p:spPr bwMode="auto">
            <a:xfrm>
              <a:off x="2852" y="3890"/>
              <a:ext cx="415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>
                  <a:latin typeface="Arial" pitchFamily="34" charset="0"/>
                  <a:ea typeface="Times New Roman" pitchFamily="18" charset="0"/>
                  <a:cs typeface="Mangal" pitchFamily="18" charset="0"/>
                </a:rPr>
                <a:t>h-1</a:t>
              </a:r>
              <a:endParaRPr lang="hi-IN" sz="28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840" name="Freeform 24"/>
            <p:cNvSpPr>
              <a:spLocks/>
            </p:cNvSpPr>
            <p:nvPr/>
          </p:nvSpPr>
          <p:spPr bwMode="auto">
            <a:xfrm>
              <a:off x="3287" y="2874"/>
              <a:ext cx="554" cy="1755"/>
            </a:xfrm>
            <a:custGeom>
              <a:avLst/>
              <a:gdLst>
                <a:gd name="connsiteX0" fmla="*/ 7333 w 8744"/>
                <a:gd name="connsiteY0" fmla="*/ 0 h 10355"/>
                <a:gd name="connsiteX1" fmla="*/ 173 w 8744"/>
                <a:gd name="connsiteY1" fmla="*/ 5355 h 10355"/>
                <a:gd name="connsiteX2" fmla="*/ 8744 w 8744"/>
                <a:gd name="connsiteY2" fmla="*/ 10355 h 10355"/>
                <a:gd name="connsiteX0" fmla="*/ 8334 w 9948"/>
                <a:gd name="connsiteY0" fmla="*/ 0 h 10000"/>
                <a:gd name="connsiteX1" fmla="*/ 146 w 9948"/>
                <a:gd name="connsiteY1" fmla="*/ 5171 h 10000"/>
                <a:gd name="connsiteX2" fmla="*/ 9948 w 9948"/>
                <a:gd name="connsiteY2" fmla="*/ 10000 h 10000"/>
                <a:gd name="connsiteX0" fmla="*/ 8377 w 9999"/>
                <a:gd name="connsiteY0" fmla="*/ 0 h 10000"/>
                <a:gd name="connsiteX1" fmla="*/ 146 w 9999"/>
                <a:gd name="connsiteY1" fmla="*/ 5171 h 10000"/>
                <a:gd name="connsiteX2" fmla="*/ 8134 w 9999"/>
                <a:gd name="connsiteY2" fmla="*/ 7098 h 10000"/>
                <a:gd name="connsiteX3" fmla="*/ 9999 w 9999"/>
                <a:gd name="connsiteY3" fmla="*/ 10000 h 10000"/>
                <a:gd name="connsiteX0" fmla="*/ 8378 w 10000"/>
                <a:gd name="connsiteY0" fmla="*/ 0 h 10000"/>
                <a:gd name="connsiteX1" fmla="*/ 146 w 10000"/>
                <a:gd name="connsiteY1" fmla="*/ 5171 h 10000"/>
                <a:gd name="connsiteX2" fmla="*/ 8135 w 10000"/>
                <a:gd name="connsiteY2" fmla="*/ 7098 h 10000"/>
                <a:gd name="connsiteX3" fmla="*/ 10000 w 10000"/>
                <a:gd name="connsiteY3" fmla="*/ 10000 h 10000"/>
                <a:gd name="connsiteX0" fmla="*/ 8378 w 9580"/>
                <a:gd name="connsiteY0" fmla="*/ 0 h 9710"/>
                <a:gd name="connsiteX1" fmla="*/ 146 w 9580"/>
                <a:gd name="connsiteY1" fmla="*/ 5171 h 9710"/>
                <a:gd name="connsiteX2" fmla="*/ 8135 w 9580"/>
                <a:gd name="connsiteY2" fmla="*/ 7098 h 9710"/>
                <a:gd name="connsiteX3" fmla="*/ 9580 w 9580"/>
                <a:gd name="connsiteY3" fmla="*/ 9710 h 9710"/>
                <a:gd name="connsiteX0" fmla="*/ 8745 w 10000"/>
                <a:gd name="connsiteY0" fmla="*/ 0 h 10000"/>
                <a:gd name="connsiteX1" fmla="*/ 152 w 10000"/>
                <a:gd name="connsiteY1" fmla="*/ 5325 h 10000"/>
                <a:gd name="connsiteX2" fmla="*/ 8492 w 10000"/>
                <a:gd name="connsiteY2" fmla="*/ 7310 h 10000"/>
                <a:gd name="connsiteX3" fmla="*/ 10000 w 10000"/>
                <a:gd name="connsiteY3" fmla="*/ 10000 h 10000"/>
                <a:gd name="connsiteX0" fmla="*/ 8619 w 9874"/>
                <a:gd name="connsiteY0" fmla="*/ 0 h 10000"/>
                <a:gd name="connsiteX1" fmla="*/ 26 w 9874"/>
                <a:gd name="connsiteY1" fmla="*/ 5325 h 10000"/>
                <a:gd name="connsiteX2" fmla="*/ 8366 w 9874"/>
                <a:gd name="connsiteY2" fmla="*/ 7310 h 10000"/>
                <a:gd name="connsiteX3" fmla="*/ 9874 w 9874"/>
                <a:gd name="connsiteY3" fmla="*/ 10000 h 10000"/>
                <a:gd name="connsiteX0" fmla="*/ 8729 w 10000"/>
                <a:gd name="connsiteY0" fmla="*/ 0 h 10000"/>
                <a:gd name="connsiteX1" fmla="*/ 26 w 10000"/>
                <a:gd name="connsiteY1" fmla="*/ 5325 h 10000"/>
                <a:gd name="connsiteX2" fmla="*/ 8473 w 10000"/>
                <a:gd name="connsiteY2" fmla="*/ 7310 h 10000"/>
                <a:gd name="connsiteX3" fmla="*/ 10000 w 10000"/>
                <a:gd name="connsiteY3" fmla="*/ 10000 h 10000"/>
                <a:gd name="connsiteX0" fmla="*/ 9084 w 10355"/>
                <a:gd name="connsiteY0" fmla="*/ 0 h 10000"/>
                <a:gd name="connsiteX1" fmla="*/ 25 w 10355"/>
                <a:gd name="connsiteY1" fmla="*/ 4837 h 10000"/>
                <a:gd name="connsiteX2" fmla="*/ 8828 w 10355"/>
                <a:gd name="connsiteY2" fmla="*/ 7310 h 10000"/>
                <a:gd name="connsiteX3" fmla="*/ 10355 w 10355"/>
                <a:gd name="connsiteY3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55" h="10000">
                  <a:moveTo>
                    <a:pt x="9084" y="0"/>
                  </a:moveTo>
                  <a:cubicBezTo>
                    <a:pt x="12213" y="2309"/>
                    <a:pt x="-645" y="3180"/>
                    <a:pt x="25" y="4837"/>
                  </a:cubicBezTo>
                  <a:cubicBezTo>
                    <a:pt x="575" y="6264"/>
                    <a:pt x="7092" y="6481"/>
                    <a:pt x="8828" y="7310"/>
                  </a:cubicBezTo>
                  <a:cubicBezTo>
                    <a:pt x="10564" y="8139"/>
                    <a:pt x="10175" y="8435"/>
                    <a:pt x="10355" y="10000"/>
                  </a:cubicBezTo>
                </a:path>
              </a:pathLst>
            </a:custGeom>
            <a:noFill/>
            <a:ln w="28575">
              <a:solidFill>
                <a:srgbClr val="0000FF"/>
              </a:solidFill>
              <a:prstDash val="solid"/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39" name="AutoShape 23"/>
            <p:cNvSpPr>
              <a:spLocks noChangeArrowheads="1"/>
            </p:cNvSpPr>
            <p:nvPr/>
          </p:nvSpPr>
          <p:spPr bwMode="auto">
            <a:xfrm>
              <a:off x="5681" y="2454"/>
              <a:ext cx="1742" cy="420"/>
            </a:xfrm>
            <a:prstGeom prst="rightArrow">
              <a:avLst>
                <a:gd name="adj1" fmla="val 50000"/>
                <a:gd name="adj2" fmla="val 31995"/>
              </a:avLst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38" name="Text Box 22"/>
            <p:cNvSpPr txBox="1">
              <a:spLocks noChangeArrowheads="1"/>
            </p:cNvSpPr>
            <p:nvPr/>
          </p:nvSpPr>
          <p:spPr bwMode="auto">
            <a:xfrm>
              <a:off x="5681" y="2102"/>
              <a:ext cx="1742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 sz="2400" b="1" dirty="0">
                  <a:solidFill>
                    <a:srgbClr val="FF3300"/>
                  </a:solidFill>
                  <a:latin typeface="Arial" pitchFamily="34" charset="0"/>
                  <a:ea typeface="Times New Roman" pitchFamily="18" charset="0"/>
                  <a:cs typeface="Mangal" pitchFamily="18" charset="0"/>
                </a:rPr>
                <a:t>RB</a:t>
              </a:r>
              <a:endParaRPr lang="hi-IN" sz="3600" dirty="0">
                <a:solidFill>
                  <a:srgbClr val="FF33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837" name="AutoShape 21"/>
            <p:cNvSpPr>
              <a:spLocks noChangeArrowheads="1"/>
            </p:cNvSpPr>
            <p:nvPr/>
          </p:nvSpPr>
          <p:spPr bwMode="auto">
            <a:xfrm>
              <a:off x="10011" y="3463"/>
              <a:ext cx="744" cy="1101"/>
            </a:xfrm>
            <a:prstGeom prst="flowChartExtra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00FF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 sz="2000" b="1">
                  <a:latin typeface="Arial" pitchFamily="34" charset="0"/>
                  <a:ea typeface="Times New Roman" pitchFamily="18" charset="0"/>
                  <a:cs typeface="Mangal" pitchFamily="18" charset="0"/>
                </a:rPr>
                <a:t>R</a:t>
              </a:r>
              <a:r>
                <a:rPr lang="hi-IN" sz="2000" b="1" baseline="-30000">
                  <a:latin typeface="Arial" pitchFamily="34" charset="0"/>
                  <a:ea typeface="Times New Roman" pitchFamily="18" charset="0"/>
                  <a:cs typeface="Mangal" pitchFamily="18" charset="0"/>
                </a:rPr>
                <a:t>1</a:t>
              </a:r>
              <a:endParaRPr lang="hi-IN" sz="20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836" name="AutoShape 20"/>
            <p:cNvSpPr>
              <a:spLocks noChangeArrowheads="1"/>
            </p:cNvSpPr>
            <p:nvPr/>
          </p:nvSpPr>
          <p:spPr bwMode="auto">
            <a:xfrm>
              <a:off x="6892" y="4707"/>
              <a:ext cx="743" cy="1083"/>
            </a:xfrm>
            <a:prstGeom prst="flowChartExtra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00FF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 sz="2000" b="1">
                  <a:latin typeface="Arial" pitchFamily="34" charset="0"/>
                  <a:ea typeface="Times New Roman" pitchFamily="18" charset="0"/>
                  <a:cs typeface="Mangal" pitchFamily="18" charset="0"/>
                </a:rPr>
                <a:t>L</a:t>
              </a:r>
              <a:endParaRPr lang="hi-IN" sz="20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835" name="AutoShape 19"/>
            <p:cNvSpPr>
              <a:spLocks noChangeArrowheads="1"/>
            </p:cNvSpPr>
            <p:nvPr/>
          </p:nvSpPr>
          <p:spPr bwMode="auto">
            <a:xfrm>
              <a:off x="8612" y="4690"/>
              <a:ext cx="743" cy="1100"/>
            </a:xfrm>
            <a:prstGeom prst="flowChartExtra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00FF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 sz="2000" b="1">
                  <a:latin typeface="Arial" pitchFamily="34" charset="0"/>
                  <a:ea typeface="Times New Roman" pitchFamily="18" charset="0"/>
                  <a:cs typeface="Mangal" pitchFamily="18" charset="0"/>
                </a:rPr>
                <a:t>L</a:t>
              </a:r>
              <a:r>
                <a:rPr lang="hi-IN" sz="2000" b="1" baseline="-30000">
                  <a:latin typeface="Arial" pitchFamily="34" charset="0"/>
                  <a:ea typeface="Times New Roman" pitchFamily="18" charset="0"/>
                  <a:cs typeface="Mangal" pitchFamily="18" charset="0"/>
                </a:rPr>
                <a:t>1</a:t>
              </a:r>
              <a:endParaRPr lang="hi-IN" sz="20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834" name="Line 18"/>
            <p:cNvSpPr>
              <a:spLocks noChangeShapeType="1"/>
            </p:cNvSpPr>
            <p:nvPr/>
          </p:nvSpPr>
          <p:spPr bwMode="auto">
            <a:xfrm flipH="1">
              <a:off x="8267" y="2761"/>
              <a:ext cx="913" cy="7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33" name="Line 17"/>
            <p:cNvSpPr>
              <a:spLocks noChangeShapeType="1"/>
            </p:cNvSpPr>
            <p:nvPr/>
          </p:nvSpPr>
          <p:spPr bwMode="auto">
            <a:xfrm>
              <a:off x="9448" y="2790"/>
              <a:ext cx="930" cy="6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32" name="Line 16"/>
            <p:cNvSpPr>
              <a:spLocks noChangeShapeType="1"/>
            </p:cNvSpPr>
            <p:nvPr/>
          </p:nvSpPr>
          <p:spPr bwMode="auto">
            <a:xfrm flipH="1">
              <a:off x="7232" y="3839"/>
              <a:ext cx="745" cy="8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31" name="Line 15"/>
            <p:cNvSpPr>
              <a:spLocks noChangeShapeType="1"/>
            </p:cNvSpPr>
            <p:nvPr/>
          </p:nvSpPr>
          <p:spPr bwMode="auto">
            <a:xfrm>
              <a:off x="8271" y="3821"/>
              <a:ext cx="744" cy="8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30" name="Text Box 14"/>
            <p:cNvSpPr txBox="1">
              <a:spLocks noChangeArrowheads="1"/>
            </p:cNvSpPr>
            <p:nvPr/>
          </p:nvSpPr>
          <p:spPr bwMode="auto">
            <a:xfrm>
              <a:off x="7715" y="5136"/>
              <a:ext cx="415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>
                  <a:latin typeface="Arial" pitchFamily="34" charset="0"/>
                  <a:ea typeface="Times New Roman" pitchFamily="18" charset="0"/>
                  <a:cs typeface="Mangal" pitchFamily="18" charset="0"/>
                </a:rPr>
                <a:t>h-1</a:t>
              </a:r>
              <a:endParaRPr lang="hi-IN" sz="28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829" name="Text Box 13"/>
            <p:cNvSpPr txBox="1">
              <a:spLocks noChangeArrowheads="1"/>
            </p:cNvSpPr>
            <p:nvPr/>
          </p:nvSpPr>
          <p:spPr bwMode="auto">
            <a:xfrm>
              <a:off x="9474" y="5136"/>
              <a:ext cx="415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>
                  <a:latin typeface="Arial" pitchFamily="34" charset="0"/>
                  <a:ea typeface="Times New Roman" pitchFamily="18" charset="0"/>
                  <a:cs typeface="Mangal" pitchFamily="18" charset="0"/>
                </a:rPr>
                <a:t>h</a:t>
              </a:r>
              <a:endParaRPr lang="hi-IN" sz="28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828" name="Line 12"/>
            <p:cNvSpPr>
              <a:spLocks noChangeShapeType="1"/>
            </p:cNvSpPr>
            <p:nvPr/>
          </p:nvSpPr>
          <p:spPr bwMode="auto">
            <a:xfrm>
              <a:off x="7668" y="4699"/>
              <a:ext cx="0" cy="109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27" name="Line 11"/>
            <p:cNvSpPr>
              <a:spLocks noChangeShapeType="1"/>
            </p:cNvSpPr>
            <p:nvPr/>
          </p:nvSpPr>
          <p:spPr bwMode="auto">
            <a:xfrm>
              <a:off x="9405" y="4699"/>
              <a:ext cx="0" cy="109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26" name="Line 10"/>
            <p:cNvSpPr>
              <a:spLocks noChangeShapeType="1"/>
            </p:cNvSpPr>
            <p:nvPr/>
          </p:nvSpPr>
          <p:spPr bwMode="auto">
            <a:xfrm>
              <a:off x="10801" y="3463"/>
              <a:ext cx="0" cy="109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25" name="Text Box 9"/>
            <p:cNvSpPr txBox="1">
              <a:spLocks noChangeArrowheads="1"/>
            </p:cNvSpPr>
            <p:nvPr/>
          </p:nvSpPr>
          <p:spPr bwMode="auto">
            <a:xfrm>
              <a:off x="10869" y="3845"/>
              <a:ext cx="232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>
                  <a:latin typeface="Arial" pitchFamily="34" charset="0"/>
                  <a:ea typeface="Times New Roman" pitchFamily="18" charset="0"/>
                  <a:cs typeface="Mangal" pitchFamily="18" charset="0"/>
                </a:rPr>
                <a:t>h</a:t>
              </a:r>
              <a:endParaRPr lang="hi-IN" sz="28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824" name="Text Box 8"/>
            <p:cNvSpPr txBox="1">
              <a:spLocks noChangeArrowheads="1"/>
            </p:cNvSpPr>
            <p:nvPr/>
          </p:nvSpPr>
          <p:spPr bwMode="auto">
            <a:xfrm>
              <a:off x="4816" y="6144"/>
              <a:ext cx="3804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tabLst>
                  <a:tab pos="3025775" algn="l"/>
                </a:tabLst>
              </a:pPr>
              <a:r>
                <a:rPr lang="hi-IN" sz="2400" b="1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</a:rPr>
                <a:t>T</a:t>
              </a:r>
              <a:r>
                <a:rPr lang="hi-IN" sz="2400" b="1" dirty="0">
                  <a:solidFill>
                    <a:srgbClr val="0000FF"/>
                  </a:solidFill>
                  <a:ea typeface="Times New Roman" pitchFamily="18" charset="0"/>
                  <a:cs typeface="Arial" pitchFamily="34" charset="0"/>
                  <a:sym typeface="Symbol" pitchFamily="18" charset="2"/>
                </a:rPr>
                <a:t></a:t>
              </a:r>
              <a:r>
                <a:rPr lang="hi-IN" sz="2400" b="1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</a:rPr>
                <a:t>Right</a:t>
              </a:r>
              <a:r>
                <a:rPr lang="en-US" sz="2400" b="1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</a:rPr>
                <a:t> </a:t>
              </a:r>
              <a:r>
                <a:rPr lang="hi-IN" sz="2400" b="1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</a:rPr>
                <a:t>=</a:t>
              </a:r>
              <a:r>
                <a:rPr lang="en-US" sz="2400" b="1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</a:rPr>
                <a:t> </a:t>
              </a:r>
              <a:r>
                <a:rPr lang="hi-IN" sz="2400" b="1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</a:rPr>
                <a:t>T</a:t>
              </a:r>
              <a:r>
                <a:rPr lang="hi-IN" sz="2400" b="1" baseline="-30000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  <a:sym typeface="Symbol" pitchFamily="18" charset="2"/>
                </a:rPr>
                <a:t>1</a:t>
              </a:r>
              <a:r>
                <a:rPr lang="hi-IN" sz="2400" b="1" dirty="0">
                  <a:solidFill>
                    <a:srgbClr val="0000FF"/>
                  </a:solidFill>
                  <a:ea typeface="Times New Roman" pitchFamily="18" charset="0"/>
                  <a:cs typeface="Arial" pitchFamily="34" charset="0"/>
                  <a:sym typeface="Symbol" pitchFamily="18" charset="2"/>
                </a:rPr>
                <a:t></a:t>
              </a:r>
              <a:r>
                <a:rPr lang="hi-IN" sz="2400" b="1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</a:rPr>
                <a:t>Left;</a:t>
              </a:r>
              <a:r>
                <a:rPr lang="en-US" sz="2400" b="1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</a:rPr>
                <a:t>	</a:t>
              </a:r>
              <a:r>
                <a:rPr lang="hi-IN" sz="2400" b="1" dirty="0">
                  <a:solidFill>
                    <a:srgbClr val="FF00FF"/>
                  </a:solidFill>
                  <a:ea typeface="Times New Roman" pitchFamily="18" charset="0"/>
                  <a:cs typeface="Mangal" pitchFamily="18" charset="0"/>
                </a:rPr>
                <a:t>(1)</a:t>
              </a:r>
              <a:endParaRPr lang="en-US" sz="2400" b="1" dirty="0">
                <a:solidFill>
                  <a:srgbClr val="FF00FF"/>
                </a:solidFill>
                <a:cs typeface="Arial" pitchFamily="34" charset="0"/>
                <a:sym typeface="Symbol" pitchFamily="18" charset="2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25775" algn="l"/>
                </a:tabLst>
              </a:pPr>
              <a:r>
                <a:rPr lang="hi-IN" sz="2400" b="1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  <a:sym typeface="Symbol" pitchFamily="18" charset="2"/>
                </a:rPr>
                <a:t>T</a:t>
              </a:r>
              <a:r>
                <a:rPr lang="hi-IN" sz="2400" b="1" baseline="-30000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  <a:sym typeface="Symbol" pitchFamily="18" charset="2"/>
                </a:rPr>
                <a:t>1</a:t>
              </a:r>
              <a:r>
                <a:rPr lang="hi-IN" sz="2400" b="1" dirty="0">
                  <a:solidFill>
                    <a:srgbClr val="0000FF"/>
                  </a:solidFill>
                  <a:ea typeface="Times New Roman" pitchFamily="18" charset="0"/>
                  <a:cs typeface="Arial" pitchFamily="34" charset="0"/>
                  <a:sym typeface="Symbol" pitchFamily="18" charset="2"/>
                </a:rPr>
                <a:t></a:t>
              </a:r>
              <a:r>
                <a:rPr lang="hi-IN" sz="2400" b="1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</a:rPr>
                <a:t>Left</a:t>
              </a:r>
              <a:r>
                <a:rPr lang="en-US" sz="2400" b="1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</a:rPr>
                <a:t> </a:t>
              </a:r>
              <a:r>
                <a:rPr lang="hi-IN" sz="2400" b="1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</a:rPr>
                <a:t>=</a:t>
              </a:r>
              <a:r>
                <a:rPr lang="en-US" sz="2400" b="1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</a:rPr>
                <a:t> </a:t>
              </a:r>
              <a:r>
                <a:rPr lang="hi-IN" sz="2400" b="1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</a:rPr>
                <a:t>T;</a:t>
              </a:r>
              <a:r>
                <a:rPr lang="en-US" sz="2400" b="1" dirty="0">
                  <a:solidFill>
                    <a:srgbClr val="0000FF"/>
                  </a:solidFill>
                  <a:ea typeface="Times New Roman" pitchFamily="18" charset="0"/>
                  <a:cs typeface="Mangal" pitchFamily="18" charset="0"/>
                </a:rPr>
                <a:t> 	</a:t>
              </a:r>
              <a:r>
                <a:rPr lang="hi-IN" sz="2400" b="1" dirty="0">
                  <a:solidFill>
                    <a:srgbClr val="FF00FF"/>
                  </a:solidFill>
                  <a:ea typeface="Times New Roman" pitchFamily="18" charset="0"/>
                  <a:cs typeface="Mangal" pitchFamily="18" charset="0"/>
                </a:rPr>
                <a:t>(2)</a:t>
              </a:r>
              <a:endParaRPr lang="hi-IN" sz="2400" b="1" dirty="0">
                <a:solidFill>
                  <a:srgbClr val="FF00FF"/>
                </a:solidFill>
                <a:ea typeface="Times New Roman" pitchFamily="18" charset="0"/>
                <a:cs typeface="Arial" pitchFamily="34" charset="0"/>
                <a:sym typeface="Symbol" pitchFamily="18" charset="2"/>
              </a:endParaRPr>
            </a:p>
          </p:txBody>
        </p:sp>
        <p:sp>
          <p:nvSpPr>
            <p:cNvPr id="34823" name="Text Box 7"/>
            <p:cNvSpPr txBox="1">
              <a:spLocks noChangeArrowheads="1"/>
            </p:cNvSpPr>
            <p:nvPr/>
          </p:nvSpPr>
          <p:spPr bwMode="auto">
            <a:xfrm>
              <a:off x="4401" y="2322"/>
              <a:ext cx="415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 sz="1400" b="1">
                  <a:solidFill>
                    <a:srgbClr val="FF00FF"/>
                  </a:solidFill>
                  <a:latin typeface="Arial" pitchFamily="34" charset="0"/>
                  <a:ea typeface="Times New Roman" pitchFamily="18" charset="0"/>
                  <a:cs typeface="Mangal" pitchFamily="18" charset="0"/>
                </a:rPr>
                <a:t>(2)</a:t>
              </a:r>
              <a:endParaRPr lang="hi-IN" sz="2400" b="1">
                <a:solidFill>
                  <a:srgbClr val="FF00FF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822" name="Text Box 6"/>
            <p:cNvSpPr txBox="1">
              <a:spLocks noChangeArrowheads="1"/>
            </p:cNvSpPr>
            <p:nvPr/>
          </p:nvSpPr>
          <p:spPr bwMode="auto">
            <a:xfrm>
              <a:off x="3370" y="3508"/>
              <a:ext cx="415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 sz="1400" b="1">
                  <a:solidFill>
                    <a:srgbClr val="FF00FF"/>
                  </a:solidFill>
                  <a:latin typeface="Arial" pitchFamily="34" charset="0"/>
                  <a:ea typeface="Times New Roman" pitchFamily="18" charset="0"/>
                  <a:cs typeface="Mangal" pitchFamily="18" charset="0"/>
                </a:rPr>
                <a:t>(1)</a:t>
              </a:r>
              <a:endParaRPr lang="hi-IN" sz="2400" b="1">
                <a:solidFill>
                  <a:srgbClr val="FF00FF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821" name="Oval 5"/>
            <p:cNvSpPr>
              <a:spLocks noChangeArrowheads="1"/>
            </p:cNvSpPr>
            <p:nvPr/>
          </p:nvSpPr>
          <p:spPr bwMode="auto">
            <a:xfrm>
              <a:off x="3260" y="2500"/>
              <a:ext cx="533" cy="518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 sz="2000" b="1">
                  <a:solidFill>
                    <a:schemeClr val="bg1"/>
                  </a:solidFill>
                  <a:latin typeface="Arial" pitchFamily="34" charset="0"/>
                  <a:ea typeface="Times New Roman" pitchFamily="18" charset="0"/>
                  <a:cs typeface="Mangal" pitchFamily="18" charset="0"/>
                </a:rPr>
                <a:t>T</a:t>
              </a:r>
              <a:endParaRPr lang="hi-IN" sz="200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820" name="Oval 4"/>
            <p:cNvSpPr>
              <a:spLocks noChangeArrowheads="1"/>
            </p:cNvSpPr>
            <p:nvPr/>
          </p:nvSpPr>
          <p:spPr bwMode="auto">
            <a:xfrm>
              <a:off x="4490" y="3444"/>
              <a:ext cx="533" cy="51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 sz="2000" b="1">
                  <a:solidFill>
                    <a:schemeClr val="bg1"/>
                  </a:solidFill>
                  <a:latin typeface="Arial" pitchFamily="34" charset="0"/>
                  <a:ea typeface="Times New Roman" pitchFamily="18" charset="0"/>
                  <a:cs typeface="Mangal" pitchFamily="18" charset="0"/>
                </a:rPr>
                <a:t>T</a:t>
              </a:r>
              <a:r>
                <a:rPr lang="hi-IN" sz="2000" b="1" baseline="-30000">
                  <a:solidFill>
                    <a:schemeClr val="bg1"/>
                  </a:solidFill>
                  <a:latin typeface="Arial" pitchFamily="34" charset="0"/>
                  <a:ea typeface="Times New Roman" pitchFamily="18" charset="0"/>
                  <a:cs typeface="Mangal" pitchFamily="18" charset="0"/>
                </a:rPr>
                <a:t>1</a:t>
              </a:r>
              <a:endParaRPr lang="hi-IN" sz="200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819" name="Oval 3"/>
            <p:cNvSpPr>
              <a:spLocks noChangeArrowheads="1"/>
            </p:cNvSpPr>
            <p:nvPr/>
          </p:nvSpPr>
          <p:spPr bwMode="auto">
            <a:xfrm>
              <a:off x="9034" y="2482"/>
              <a:ext cx="533" cy="51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 sz="2000" b="1">
                  <a:solidFill>
                    <a:schemeClr val="bg1"/>
                  </a:solidFill>
                  <a:latin typeface="Arial" pitchFamily="34" charset="0"/>
                  <a:ea typeface="Times New Roman" pitchFamily="18" charset="0"/>
                  <a:cs typeface="Mangal" pitchFamily="18" charset="0"/>
                </a:rPr>
                <a:t>T</a:t>
              </a:r>
              <a:r>
                <a:rPr lang="hi-IN" sz="2000" b="1" baseline="-30000">
                  <a:solidFill>
                    <a:schemeClr val="bg1"/>
                  </a:solidFill>
                  <a:latin typeface="Arial" pitchFamily="34" charset="0"/>
                  <a:ea typeface="Times New Roman" pitchFamily="18" charset="0"/>
                  <a:cs typeface="Mangal" pitchFamily="18" charset="0"/>
                </a:rPr>
                <a:t>1</a:t>
              </a:r>
              <a:endParaRPr lang="hi-IN" sz="200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818" name="Oval 2"/>
            <p:cNvSpPr>
              <a:spLocks noChangeArrowheads="1"/>
            </p:cNvSpPr>
            <p:nvPr/>
          </p:nvSpPr>
          <p:spPr bwMode="auto">
            <a:xfrm>
              <a:off x="7905" y="3480"/>
              <a:ext cx="533" cy="518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hi-IN" sz="2000" b="1">
                  <a:solidFill>
                    <a:schemeClr val="bg1"/>
                  </a:solidFill>
                  <a:latin typeface="Arial" pitchFamily="34" charset="0"/>
                  <a:ea typeface="Times New Roman" pitchFamily="18" charset="0"/>
                  <a:cs typeface="Mangal" pitchFamily="18" charset="0"/>
                </a:rPr>
                <a:t>T</a:t>
              </a:r>
              <a:endParaRPr lang="hi-IN" sz="200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43" name="Arc 42"/>
          <p:cNvSpPr/>
          <p:nvPr/>
        </p:nvSpPr>
        <p:spPr bwMode="auto">
          <a:xfrm rot="2508470" flipH="1">
            <a:off x="3730595" y="2152541"/>
            <a:ext cx="1225235" cy="1225235"/>
          </a:xfrm>
          <a:prstGeom prst="arc">
            <a:avLst>
              <a:gd name="adj1" fmla="val 8622056"/>
              <a:gd name="adj2" fmla="val 0"/>
            </a:avLst>
          </a:prstGeom>
          <a:noFill/>
          <a:ln w="76200" cap="flat" cmpd="sng" algn="ctr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vi-VN">
              <a:latin typeface="Arial" charset="0"/>
              <a:cs typeface="Arial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BM Công nghệ phần mềm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103</a:t>
            </a:fld>
            <a:endParaRPr lang="en-US"/>
          </a:p>
        </p:txBody>
      </p:sp>
      <p:sp>
        <p:nvSpPr>
          <p:cNvPr id="47" name="Rectangle 2"/>
          <p:cNvSpPr>
            <a:spLocks noGrp="1" noChangeArrowheads="1"/>
          </p:cNvSpPr>
          <p:nvPr>
            <p:ph type="title"/>
          </p:nvPr>
        </p:nvSpPr>
        <p:spPr>
          <a:xfrm>
            <a:off x="774199" y="558815"/>
            <a:ext cx="10642600" cy="70374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Cân bằng lại trường hợp 6</a:t>
            </a:r>
          </a:p>
        </p:txBody>
      </p:sp>
    </p:spTree>
    <p:extLst>
      <p:ext uri="{BB962C8B-B14F-4D97-AF65-F5344CB8AC3E}">
        <p14:creationId xmlns:p14="http://schemas.microsoft.com/office/powerpoint/2010/main" val="399585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BM Công nghệ phần mềm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104</a:t>
            </a:fld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248" y="426426"/>
            <a:ext cx="10642600" cy="70374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600"/>
              <a:t>Cài đặt cân bằng lại cho trường hợp 6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323992" y="923110"/>
            <a:ext cx="11544015" cy="1058238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  <a:tabLst>
                <a:tab pos="577850" algn="l"/>
                <a:tab pos="1143000" algn="l"/>
                <a:tab pos="1720850" algn="l"/>
                <a:tab pos="2286000" algn="l"/>
              </a:tabLst>
            </a:pPr>
            <a:r>
              <a:rPr lang="en-US" dirty="0">
                <a:cs typeface="Consolas" panose="020B0609020204030204" pitchFamily="49" charset="0"/>
              </a:rPr>
              <a:t>Phần cài đặt cho trường hợp </a:t>
            </a:r>
            <a:r>
              <a:rPr lang="en-US" b="1" dirty="0">
                <a:solidFill>
                  <a:srgbClr val="FF0000"/>
                </a:solidFill>
                <a:cs typeface="Consolas" panose="020B0609020204030204" pitchFamily="49" charset="0"/>
              </a:rPr>
              <a:t>RB</a:t>
            </a:r>
            <a:r>
              <a:rPr lang="en-US" dirty="0">
                <a:cs typeface="Consolas" panose="020B0609020204030204" pitchFamily="49" charset="0"/>
              </a:rPr>
              <a:t> (</a:t>
            </a:r>
            <a:r>
              <a:rPr lang="en-US" b="1" dirty="0">
                <a:solidFill>
                  <a:srgbClr val="FF0000"/>
                </a:solidFill>
                <a:cs typeface="Consolas" panose="020B0609020204030204" pitchFamily="49" charset="0"/>
              </a:rPr>
              <a:t>R</a:t>
            </a:r>
            <a:r>
              <a:rPr lang="en-US" dirty="0">
                <a:cs typeface="Consolas" panose="020B0609020204030204" pitchFamily="49" charset="0"/>
              </a:rPr>
              <a:t>ight </a:t>
            </a:r>
            <a:r>
              <a:rPr lang="en-US" b="1" dirty="0">
                <a:solidFill>
                  <a:srgbClr val="FF0000"/>
                </a:solidFill>
                <a:cs typeface="Consolas" panose="020B0609020204030204" pitchFamily="49" charset="0"/>
              </a:rPr>
              <a:t>B</a:t>
            </a:r>
            <a:r>
              <a:rPr lang="en-US" dirty="0">
                <a:cs typeface="Consolas" panose="020B0609020204030204" pitchFamily="49" charset="0"/>
              </a:rPr>
              <a:t>alance) này </a:t>
            </a:r>
            <a:r>
              <a:rPr lang="vi-VN" dirty="0">
                <a:cs typeface="Consolas" panose="020B0609020204030204" pitchFamily="49" charset="0"/>
              </a:rPr>
              <a:t>đượ</a:t>
            </a:r>
            <a:r>
              <a:rPr lang="en-US" dirty="0">
                <a:cs typeface="Consolas" panose="020B0609020204030204" pitchFamily="49" charset="0"/>
              </a:rPr>
              <a:t>c cân bằng lại hoàn toàn giống với </a:t>
            </a:r>
            <a:r>
              <a:rPr lang="en-US" b="1" dirty="0">
                <a:solidFill>
                  <a:srgbClr val="FF0000"/>
                </a:solidFill>
                <a:cs typeface="Consolas" panose="020B0609020204030204" pitchFamily="49" charset="0"/>
              </a:rPr>
              <a:t>RR </a:t>
            </a:r>
            <a:r>
              <a:rPr lang="en-US" dirty="0">
                <a:cs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FF0000"/>
                </a:solidFill>
                <a:cs typeface="Consolas" panose="020B0609020204030204" pitchFamily="49" charset="0"/>
              </a:rPr>
              <a:t>R</a:t>
            </a:r>
            <a:r>
              <a:rPr lang="en-US" dirty="0">
                <a:cs typeface="Consolas" panose="020B0609020204030204" pitchFamily="49" charset="0"/>
              </a:rPr>
              <a:t>ight </a:t>
            </a:r>
            <a:r>
              <a:rPr lang="en-US" b="1" dirty="0">
                <a:solidFill>
                  <a:srgbClr val="FF0000"/>
                </a:solidFill>
                <a:cs typeface="Consolas" panose="020B0609020204030204" pitchFamily="49" charset="0"/>
              </a:rPr>
              <a:t>R</a:t>
            </a:r>
            <a:r>
              <a:rPr lang="en-US" dirty="0">
                <a:cs typeface="Consolas" panose="020B0609020204030204" pitchFamily="49" charset="0"/>
              </a:rPr>
              <a:t>ight).</a:t>
            </a:r>
            <a:endParaRPr lang="vi-VN" dirty="0">
              <a:cs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0412" y="1797975"/>
            <a:ext cx="668162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balanceRight(</a:t>
            </a:r>
            <a:r>
              <a:rPr lang="en-US" sz="280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AVLTree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&amp;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sz="28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sz="2800" i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//khi cây T lệch bên phải cần cân bằng </a:t>
            </a:r>
            <a:r>
              <a:rPr lang="en-US" sz="2800" i="1" smtClean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lại</a:t>
            </a:r>
            <a:endParaRPr lang="en-US" sz="280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80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AVLNode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 T1 = 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-&gt;pRight;</a:t>
            </a:r>
          </a:p>
          <a:p>
            <a:r>
              <a:rPr lang="en-US" sz="280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switch</a:t>
            </a:r>
            <a:r>
              <a:rPr lang="en-US" sz="28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(T1-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&gt;bal)</a:t>
            </a:r>
          </a:p>
          <a:p>
            <a:r>
              <a:rPr lang="en-US" sz="28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{</a:t>
            </a:r>
            <a:endParaRPr lang="en-US" sz="280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80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case</a:t>
            </a:r>
            <a:r>
              <a:rPr lang="en-US" sz="28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>
                <a:solidFill>
                  <a:srgbClr val="6F008A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LH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</a:p>
          <a:p>
            <a:r>
              <a:rPr lang="en-US" sz="28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rotateRL(</a:t>
            </a:r>
            <a:r>
              <a:rPr lang="en-US" sz="2800" smtClean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280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return</a:t>
            </a:r>
            <a:r>
              <a:rPr lang="en-US" sz="28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2;</a:t>
            </a:r>
          </a:p>
          <a:p>
            <a:r>
              <a:rPr lang="en-US" sz="280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case</a:t>
            </a:r>
            <a:r>
              <a:rPr lang="en-US" sz="28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>
                <a:solidFill>
                  <a:srgbClr val="6F008A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EH</a:t>
            </a:r>
            <a:r>
              <a:rPr lang="en-US" sz="28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280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72036" y="1797975"/>
            <a:ext cx="53213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sz="28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rotateRR(</a:t>
            </a:r>
            <a:r>
              <a:rPr lang="en-US" sz="2800" smtClean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en-US" sz="280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return</a:t>
            </a:r>
            <a:r>
              <a:rPr lang="en-US" sz="28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1;</a:t>
            </a:r>
          </a:p>
          <a:p>
            <a:pPr lvl="1"/>
            <a:r>
              <a:rPr lang="en-US" sz="280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case</a:t>
            </a:r>
            <a:r>
              <a:rPr lang="en-US" sz="28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>
                <a:solidFill>
                  <a:srgbClr val="6F008A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RH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</a:p>
          <a:p>
            <a:pPr lvl="1"/>
            <a:r>
              <a:rPr lang="en-US" sz="28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rotateRR(</a:t>
            </a:r>
            <a:r>
              <a:rPr lang="en-US" sz="2800" smtClean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280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return</a:t>
            </a:r>
            <a:r>
              <a:rPr lang="en-US" sz="28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2;</a:t>
            </a:r>
          </a:p>
          <a:p>
            <a:r>
              <a:rPr lang="en-US" sz="28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}</a:t>
            </a:r>
            <a:endParaRPr lang="en-US" sz="280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80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return</a:t>
            </a:r>
            <a:r>
              <a:rPr lang="en-US" sz="28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28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US" sz="2800" i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//Trường balance bị </a:t>
            </a:r>
            <a:r>
              <a:rPr lang="en-US" sz="2800" i="1" smtClean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sai</a:t>
            </a:r>
            <a:endParaRPr lang="en-US" sz="280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2800"/>
          </a:p>
        </p:txBody>
      </p:sp>
      <p:cxnSp>
        <p:nvCxnSpPr>
          <p:cNvPr id="8" name="Straight Connector 7"/>
          <p:cNvCxnSpPr/>
          <p:nvPr/>
        </p:nvCxnSpPr>
        <p:spPr>
          <a:xfrm>
            <a:off x="6363124" y="1797975"/>
            <a:ext cx="0" cy="446925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8334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BM Công nghệ phần mềm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105</a:t>
            </a:fld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616448" y="563466"/>
            <a:ext cx="10642600" cy="70374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Thêm 1 nút vào cây AVL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616448" y="1177725"/>
            <a:ext cx="11435137" cy="5384800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dirty="0">
                <a:solidFill>
                  <a:srgbClr val="080808"/>
                </a:solidFill>
                <a:cs typeface="Times New Roman" pitchFamily="18" charset="0"/>
              </a:rPr>
              <a:t>Th</a:t>
            </a:r>
            <a:r>
              <a:rPr lang="en-US" dirty="0">
                <a:cs typeface="Times New Roman" pitchFamily="18" charset="0"/>
              </a:rPr>
              <a:t>êm bình thường như trường hợp cây NPTK</a:t>
            </a:r>
          </a:p>
          <a:p>
            <a:pPr>
              <a:spcBef>
                <a:spcPts val="1800"/>
              </a:spcBef>
            </a:pPr>
            <a:r>
              <a:rPr lang="en-US" dirty="0">
                <a:solidFill>
                  <a:srgbClr val="080808"/>
                </a:solidFill>
                <a:cs typeface="Times New Roman" pitchFamily="18" charset="0"/>
              </a:rPr>
              <a:t>N</a:t>
            </a:r>
            <a:r>
              <a:rPr lang="en-US" dirty="0">
                <a:cs typeface="Times New Roman" pitchFamily="18" charset="0"/>
              </a:rPr>
              <a:t>ếu cây tăng trưởng chiều cao thì:</a:t>
            </a:r>
          </a:p>
          <a:p>
            <a:pPr lvl="2">
              <a:spcBef>
                <a:spcPts val="1800"/>
              </a:spcBef>
              <a:buFont typeface="Wingdings" pitchFamily="2" charset="2"/>
              <a:buChar char="§"/>
            </a:pPr>
            <a:r>
              <a:rPr lang="en-US" dirty="0">
                <a:solidFill>
                  <a:srgbClr val="080808"/>
                </a:solidFill>
                <a:cs typeface="Times New Roman" pitchFamily="18" charset="0"/>
              </a:rPr>
              <a:t>L</a:t>
            </a:r>
            <a:r>
              <a:rPr lang="en-US" dirty="0">
                <a:cs typeface="Times New Roman" pitchFamily="18" charset="0"/>
              </a:rPr>
              <a:t>ần ngược về gốc để phát hiện nút bị mất cân bằng.</a:t>
            </a:r>
          </a:p>
          <a:p>
            <a:pPr lvl="2">
              <a:spcBef>
                <a:spcPts val="1800"/>
              </a:spcBef>
              <a:buFont typeface="Wingdings" pitchFamily="2" charset="2"/>
              <a:buChar char="§"/>
            </a:pPr>
            <a:r>
              <a:rPr lang="en-US" dirty="0">
                <a:solidFill>
                  <a:srgbClr val="080808"/>
                </a:solidFill>
                <a:cs typeface="Times New Roman" pitchFamily="18" charset="0"/>
              </a:rPr>
              <a:t>Ti</a:t>
            </a:r>
            <a:r>
              <a:rPr lang="en-US" dirty="0">
                <a:cs typeface="Times New Roman" pitchFamily="18" charset="0"/>
              </a:rPr>
              <a:t>ến hành cân bằng lại nút đó bằng thao tác cân bằng thích hợp.</a:t>
            </a:r>
          </a:p>
          <a:p>
            <a:pPr>
              <a:spcBef>
                <a:spcPts val="1800"/>
              </a:spcBef>
            </a:pPr>
            <a:r>
              <a:rPr lang="en-US" sz="3000" dirty="0">
                <a:solidFill>
                  <a:srgbClr val="080808"/>
                </a:solidFill>
                <a:cs typeface="Times New Roman" pitchFamily="18" charset="0"/>
              </a:rPr>
              <a:t>Vi</a:t>
            </a:r>
            <a:r>
              <a:rPr lang="en-US" sz="3000" dirty="0">
                <a:cs typeface="Times New Roman" pitchFamily="18" charset="0"/>
              </a:rPr>
              <a:t>ệc cân bằng lại chỉ cần thực hiện 1 lần nơi mất cân bằng</a:t>
            </a:r>
          </a:p>
          <a:p>
            <a:pPr>
              <a:spcBef>
                <a:spcPts val="1800"/>
              </a:spcBef>
            </a:pPr>
            <a:r>
              <a:rPr lang="en-US" b="1" dirty="0">
                <a:solidFill>
                  <a:srgbClr val="0000FF"/>
                </a:solidFill>
                <a:cs typeface="Times New Roman" pitchFamily="18" charset="0"/>
              </a:rPr>
              <a:t>Code</a:t>
            </a:r>
            <a:r>
              <a:rPr lang="en-US" dirty="0">
                <a:cs typeface="Times New Roman" pitchFamily="18" charset="0"/>
              </a:rPr>
              <a:t>: </a:t>
            </a:r>
            <a:r>
              <a:rPr lang="en-US" i="1" dirty="0">
                <a:solidFill>
                  <a:srgbClr val="0070C0"/>
                </a:solidFill>
                <a:cs typeface="Times New Roman" pitchFamily="18" charset="0"/>
              </a:rPr>
              <a:t>Xem giáo trình lý thuyết</a:t>
            </a:r>
          </a:p>
          <a:p>
            <a:pPr lvl="1">
              <a:spcBef>
                <a:spcPts val="1800"/>
              </a:spcBef>
              <a:buNone/>
            </a:pPr>
            <a:endParaRPr lang="en-US" sz="3000" dirty="0">
              <a:solidFill>
                <a:srgbClr val="080808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262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BM Công nghệ phần mềm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106</a:t>
            </a:fld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569883" y="499958"/>
            <a:ext cx="10642600" cy="70374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Hủy 1 nút ra khỏi cây </a:t>
            </a:r>
            <a:r>
              <a:rPr lang="en-US" smtClean="0"/>
              <a:t>AVL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569883" y="1284024"/>
            <a:ext cx="11363218" cy="4768906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>
                <a:solidFill>
                  <a:srgbClr val="080808"/>
                </a:solidFill>
              </a:rPr>
              <a:t>Hủy bình thường như trường hợp cây NPTK</a:t>
            </a:r>
          </a:p>
          <a:p>
            <a:pPr>
              <a:spcBef>
                <a:spcPts val="1800"/>
              </a:spcBef>
            </a:pPr>
            <a:r>
              <a:rPr lang="en-US">
                <a:solidFill>
                  <a:srgbClr val="080808"/>
                </a:solidFill>
              </a:rPr>
              <a:t>Nếu cây giảm chiều cao:</a:t>
            </a:r>
          </a:p>
          <a:p>
            <a:pPr lvl="2">
              <a:spcBef>
                <a:spcPts val="1800"/>
              </a:spcBef>
              <a:buFont typeface="Wingdings" pitchFamily="2" charset="2"/>
              <a:buChar char="§"/>
            </a:pPr>
            <a:r>
              <a:rPr lang="en-US">
                <a:solidFill>
                  <a:srgbClr val="080808"/>
                </a:solidFill>
              </a:rPr>
              <a:t>Lần ngược về gốc để phát hiện nút bị mất cân bằng.</a:t>
            </a:r>
          </a:p>
          <a:p>
            <a:pPr lvl="2">
              <a:spcBef>
                <a:spcPts val="1800"/>
              </a:spcBef>
              <a:buFont typeface="Wingdings" pitchFamily="2" charset="2"/>
              <a:buChar char="§"/>
            </a:pPr>
            <a:r>
              <a:rPr lang="en-US">
                <a:solidFill>
                  <a:srgbClr val="080808"/>
                </a:solidFill>
              </a:rPr>
              <a:t>Tiến hành cân bằng lại nút đó bằng thao tác cân bằng thích hợp.</a:t>
            </a:r>
          </a:p>
          <a:p>
            <a:pPr lvl="2">
              <a:spcBef>
                <a:spcPts val="1800"/>
              </a:spcBef>
              <a:buFont typeface="Wingdings" pitchFamily="2" charset="2"/>
              <a:buChar char="§"/>
            </a:pPr>
            <a:r>
              <a:rPr lang="en-US">
                <a:solidFill>
                  <a:srgbClr val="080808"/>
                </a:solidFill>
              </a:rPr>
              <a:t>Tiếp tục lần ngược lên nút cha…</a:t>
            </a:r>
          </a:p>
          <a:p>
            <a:pPr>
              <a:spcBef>
                <a:spcPts val="1800"/>
              </a:spcBef>
            </a:pPr>
            <a:r>
              <a:rPr lang="en-US">
                <a:solidFill>
                  <a:srgbClr val="080808"/>
                </a:solidFill>
                <a:cs typeface="Times New Roman" pitchFamily="18" charset="0"/>
              </a:rPr>
              <a:t>Việc cân bằng lại có thể lan truyền lên tận gốc.</a:t>
            </a:r>
          </a:p>
          <a:p>
            <a:pPr>
              <a:spcBef>
                <a:spcPts val="1800"/>
              </a:spcBef>
            </a:pPr>
            <a:r>
              <a:rPr lang="en-US" b="1">
                <a:solidFill>
                  <a:srgbClr val="0000FF"/>
                </a:solidFill>
                <a:cs typeface="Times New Roman" pitchFamily="18" charset="0"/>
              </a:rPr>
              <a:t>Code</a:t>
            </a:r>
            <a:r>
              <a:rPr lang="en-US">
                <a:cs typeface="Times New Roman" pitchFamily="18" charset="0"/>
              </a:rPr>
              <a:t>: </a:t>
            </a:r>
            <a:r>
              <a:rPr lang="en-US" i="1">
                <a:solidFill>
                  <a:srgbClr val="0070C0"/>
                </a:solidFill>
                <a:cs typeface="Times New Roman" pitchFamily="18" charset="0"/>
              </a:rPr>
              <a:t>Xem giáo trình lý </a:t>
            </a:r>
            <a:r>
              <a:rPr lang="en-US" i="1" smtClean="0">
                <a:solidFill>
                  <a:srgbClr val="0070C0"/>
                </a:solidFill>
                <a:cs typeface="Times New Roman" pitchFamily="18" charset="0"/>
              </a:rPr>
              <a:t>thuyết</a:t>
            </a:r>
            <a:endParaRPr lang="en-US" i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4870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9883" y="955497"/>
            <a:ext cx="10642600" cy="70374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Lưu ý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BM Công nghệ phần mềm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107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26031" y="1787704"/>
            <a:ext cx="11568702" cy="2568539"/>
          </a:xfrm>
        </p:spPr>
        <p:txBody>
          <a:bodyPr/>
          <a:lstStyle/>
          <a:p>
            <a:pPr marL="457200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/>
              <a:t>2 trường hợp bị mất cân bằng </a:t>
            </a:r>
            <a:r>
              <a:rPr lang="en-US">
                <a:solidFill>
                  <a:srgbClr val="0000FF"/>
                </a:solidFill>
              </a:rPr>
              <a:t>LR</a:t>
            </a:r>
            <a:r>
              <a:rPr lang="en-US"/>
              <a:t>, </a:t>
            </a:r>
            <a:r>
              <a:rPr lang="en-US">
                <a:solidFill>
                  <a:srgbClr val="0000FF"/>
                </a:solidFill>
              </a:rPr>
              <a:t>RL</a:t>
            </a:r>
            <a:r>
              <a:rPr lang="en-US"/>
              <a:t>: </a:t>
            </a:r>
            <a:r>
              <a:rPr lang="en-US" i="1"/>
              <a:t>thì lấy </a:t>
            </a:r>
            <a:r>
              <a:rPr lang="en-US" b="1" i="1">
                <a:solidFill>
                  <a:srgbClr val="FF00FF"/>
                </a:solidFill>
              </a:rPr>
              <a:t>cháu</a:t>
            </a:r>
            <a:r>
              <a:rPr lang="en-US" i="1"/>
              <a:t> thay cho </a:t>
            </a:r>
            <a:r>
              <a:rPr lang="en-US" b="1" i="1">
                <a:solidFill>
                  <a:srgbClr val="FF00FF"/>
                </a:solidFill>
              </a:rPr>
              <a:t>ông nội</a:t>
            </a:r>
            <a:r>
              <a:rPr lang="en-US"/>
              <a:t>.</a:t>
            </a:r>
          </a:p>
          <a:p>
            <a:pPr marL="457200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/>
              <a:t>4 trường hợp còn lại: </a:t>
            </a:r>
            <a:r>
              <a:rPr lang="en-US">
                <a:solidFill>
                  <a:srgbClr val="FF0000"/>
                </a:solidFill>
              </a:rPr>
              <a:t>LL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LB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RR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RB</a:t>
            </a:r>
            <a:r>
              <a:rPr lang="en-US"/>
              <a:t>: </a:t>
            </a:r>
            <a:r>
              <a:rPr lang="en-US" i="1"/>
              <a:t>thì lấy </a:t>
            </a:r>
            <a:r>
              <a:rPr lang="en-US" b="1" i="1">
                <a:solidFill>
                  <a:srgbClr val="FF00FF"/>
                </a:solidFill>
              </a:rPr>
              <a:t>con </a:t>
            </a:r>
            <a:r>
              <a:rPr lang="en-US" i="1"/>
              <a:t>thay cho </a:t>
            </a:r>
            <a:r>
              <a:rPr lang="en-US" b="1" i="1">
                <a:solidFill>
                  <a:srgbClr val="FF00FF"/>
                </a:solidFill>
              </a:rPr>
              <a:t>cha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3679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89669" y="1447736"/>
            <a:ext cx="10541000" cy="721861"/>
          </a:xfrm>
        </p:spPr>
        <p:txBody>
          <a:bodyPr/>
          <a:lstStyle/>
          <a:p>
            <a:pPr eaLnBrk="1" hangingPunct="1"/>
            <a:r>
              <a:rPr lang="en-US" smtClean="0">
                <a:solidFill>
                  <a:srgbClr val="FF0000"/>
                </a:solidFill>
              </a:rPr>
              <a:t>(NỘI DUNG ĐỌC THÊM)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5150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875079"/>
            <a:ext cx="10642600" cy="703747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Duyệt</a:t>
            </a:r>
            <a:r>
              <a:rPr lang="en-US" dirty="0" smtClean="0"/>
              <a:t> </a:t>
            </a:r>
            <a:r>
              <a:rPr lang="en-US" dirty="0" err="1" smtClean="0"/>
              <a:t>cây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err="1" smtClean="0"/>
              <a:t>chiều</a:t>
            </a:r>
            <a:r>
              <a:rPr lang="en-US" smtClean="0"/>
              <a:t> rộng </a:t>
            </a:r>
            <a:r>
              <a:rPr lang="en-US" b="0"/>
              <a:t> </a:t>
            </a:r>
            <a:r>
              <a:rPr lang="en-US"/>
              <a:t>(Breadth First </a:t>
            </a:r>
            <a:r>
              <a:rPr lang="en-US" smtClean="0"/>
              <a:t>Search)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700" y="1756875"/>
            <a:ext cx="10642600" cy="183907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mtClean="0"/>
              <a:t>D</a:t>
            </a:r>
            <a:r>
              <a:rPr lang="vi-VN" smtClean="0"/>
              <a:t>uyệt </a:t>
            </a:r>
            <a:r>
              <a:rPr lang="vi-VN" dirty="0"/>
              <a:t>cây theo chiều </a:t>
            </a:r>
            <a:r>
              <a:rPr lang="vi-VN" dirty="0" smtClean="0"/>
              <a:t>r</a:t>
            </a:r>
            <a:r>
              <a:rPr lang="en-US" dirty="0" err="1" smtClean="0"/>
              <a:t>ộn</a:t>
            </a:r>
            <a:r>
              <a:rPr lang="vi-VN" dirty="0" smtClean="0"/>
              <a:t>g </a:t>
            </a:r>
            <a:r>
              <a:rPr lang="vi-VN" dirty="0"/>
              <a:t>là </a:t>
            </a:r>
            <a:r>
              <a:rPr lang="vi-VN"/>
              <a:t>cách </a:t>
            </a:r>
            <a:r>
              <a:rPr lang="vi-VN" smtClean="0"/>
              <a:t>duyệt </a:t>
            </a:r>
            <a:r>
              <a:rPr lang="vi-VN" dirty="0"/>
              <a:t>cây </a:t>
            </a:r>
            <a:r>
              <a:rPr lang="vi-VN"/>
              <a:t>theo </a:t>
            </a:r>
            <a:r>
              <a:rPr lang="vi-VN" smtClean="0"/>
              <a:t>m</a:t>
            </a:r>
            <a:r>
              <a:rPr lang="en-US" smtClean="0"/>
              <a:t>ột</a:t>
            </a:r>
            <a:r>
              <a:rPr lang="vi-VN" smtClean="0"/>
              <a:t> </a:t>
            </a:r>
            <a:r>
              <a:rPr lang="vi-VN" dirty="0"/>
              <a:t>mức hay độ sâu nhất </a:t>
            </a:r>
            <a:r>
              <a:rPr lang="vi-VN" dirty="0" smtClean="0"/>
              <a:t>điṇh </a:t>
            </a:r>
            <a:r>
              <a:rPr lang="vi-VN" dirty="0"/>
              <a:t>trước </a:t>
            </a:r>
            <a:r>
              <a:rPr lang="vi-VN"/>
              <a:t>khi </a:t>
            </a:r>
            <a:r>
              <a:rPr lang="en-US" smtClean="0"/>
              <a:t>duyệt</a:t>
            </a:r>
            <a:r>
              <a:rPr lang="vi-VN" smtClean="0"/>
              <a:t> </a:t>
            </a:r>
            <a:r>
              <a:rPr lang="vi-VN" dirty="0"/>
              <a:t>tới mức tiếp theo sâu hơn. 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773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110</a:t>
            </a:fld>
            <a:endParaRPr lang="en-US"/>
          </a:p>
        </p:txBody>
      </p:sp>
      <p:sp>
        <p:nvSpPr>
          <p:cNvPr id="45" name="Rectangle 2"/>
          <p:cNvSpPr txBox="1">
            <a:spLocks noChangeArrowheads="1"/>
          </p:cNvSpPr>
          <p:nvPr/>
        </p:nvSpPr>
        <p:spPr>
          <a:xfrm>
            <a:off x="703579" y="508877"/>
            <a:ext cx="10541000" cy="721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b="1" kern="1200" spc="-50" baseline="0">
                <a:solidFill>
                  <a:srgbClr val="0000C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Cây nhị phân</a:t>
            </a:r>
            <a:endParaRPr lang="en-US"/>
          </a:p>
        </p:txBody>
      </p:sp>
      <p:grpSp>
        <p:nvGrpSpPr>
          <p:cNvPr id="48" name="Group 47"/>
          <p:cNvGrpSpPr/>
          <p:nvPr/>
        </p:nvGrpSpPr>
        <p:grpSpPr>
          <a:xfrm>
            <a:off x="1402079" y="1207502"/>
            <a:ext cx="9143999" cy="5242761"/>
            <a:chOff x="1402079" y="793616"/>
            <a:chExt cx="9143999" cy="5242761"/>
          </a:xfrm>
        </p:grpSpPr>
        <p:grpSp>
          <p:nvGrpSpPr>
            <p:cNvPr id="4" name="Group 3"/>
            <p:cNvGrpSpPr/>
            <p:nvPr/>
          </p:nvGrpSpPr>
          <p:grpSpPr>
            <a:xfrm>
              <a:off x="1402079" y="1012463"/>
              <a:ext cx="9143999" cy="5023914"/>
              <a:chOff x="1562100" y="605052"/>
              <a:chExt cx="9143999" cy="5023914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1562100" y="605052"/>
                <a:ext cx="9143999" cy="4543636"/>
                <a:chOff x="1524001" y="1385888"/>
                <a:chExt cx="9143999" cy="4543636"/>
              </a:xfrm>
            </p:grpSpPr>
            <p:sp>
              <p:nvSpPr>
                <p:cNvPr id="16" name="Line 93"/>
                <p:cNvSpPr>
                  <a:spLocks noChangeShapeType="1"/>
                </p:cNvSpPr>
                <p:nvPr/>
              </p:nvSpPr>
              <p:spPr bwMode="auto">
                <a:xfrm>
                  <a:off x="1828800" y="1690688"/>
                  <a:ext cx="8839200" cy="0"/>
                </a:xfrm>
                <a:prstGeom prst="line">
                  <a:avLst/>
                </a:prstGeom>
                <a:noFill/>
                <a:ln w="28575">
                  <a:solidFill>
                    <a:srgbClr val="CC00CC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" name="Line 83"/>
                <p:cNvSpPr>
                  <a:spLocks noChangeShapeType="1"/>
                </p:cNvSpPr>
                <p:nvPr/>
              </p:nvSpPr>
              <p:spPr bwMode="auto">
                <a:xfrm>
                  <a:off x="1828800" y="5524500"/>
                  <a:ext cx="8839200" cy="0"/>
                </a:xfrm>
                <a:prstGeom prst="line">
                  <a:avLst/>
                </a:prstGeom>
                <a:noFill/>
                <a:ln w="28575">
                  <a:solidFill>
                    <a:srgbClr val="CC00CC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auto">
                <a:xfrm>
                  <a:off x="1828800" y="4229100"/>
                  <a:ext cx="8839200" cy="0"/>
                </a:xfrm>
                <a:prstGeom prst="line">
                  <a:avLst/>
                </a:prstGeom>
                <a:noFill/>
                <a:ln w="28575">
                  <a:solidFill>
                    <a:srgbClr val="CC00CC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Line 81"/>
                <p:cNvSpPr>
                  <a:spLocks noChangeShapeType="1"/>
                </p:cNvSpPr>
                <p:nvPr/>
              </p:nvSpPr>
              <p:spPr bwMode="auto">
                <a:xfrm>
                  <a:off x="1828800" y="2946400"/>
                  <a:ext cx="8839200" cy="0"/>
                </a:xfrm>
                <a:prstGeom prst="line">
                  <a:avLst/>
                </a:prstGeom>
                <a:noFill/>
                <a:ln w="28575">
                  <a:solidFill>
                    <a:srgbClr val="CC00CC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Rectangle 4"/>
                <p:cNvSpPr>
                  <a:spLocks noChangeArrowheads="1"/>
                </p:cNvSpPr>
                <p:nvPr/>
              </p:nvSpPr>
              <p:spPr bwMode="auto">
                <a:xfrm>
                  <a:off x="5638800" y="1524000"/>
                  <a:ext cx="762000" cy="381000"/>
                </a:xfrm>
                <a:prstGeom prst="rect">
                  <a:avLst/>
                </a:prstGeom>
                <a:solidFill>
                  <a:srgbClr val="00B0F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800">
                      <a:solidFill>
                        <a:schemeClr val="bg1"/>
                      </a:solidFill>
                      <a:latin typeface="Times New Roman" pitchFamily="18" charset="0"/>
                    </a:rPr>
                    <a:t>A</a:t>
                  </a:r>
                </a:p>
              </p:txBody>
            </p:sp>
            <p:sp>
              <p:nvSpPr>
                <p:cNvPr id="21" name="Rectangle 49"/>
                <p:cNvSpPr>
                  <a:spLocks noChangeArrowheads="1"/>
                </p:cNvSpPr>
                <p:nvPr/>
              </p:nvSpPr>
              <p:spPr bwMode="auto">
                <a:xfrm>
                  <a:off x="3733800" y="2743200"/>
                  <a:ext cx="762000" cy="38100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800">
                      <a:solidFill>
                        <a:schemeClr val="bg1"/>
                      </a:solidFill>
                      <a:latin typeface="Times New Roman" pitchFamily="18" charset="0"/>
                    </a:rPr>
                    <a:t>B</a:t>
                  </a:r>
                </a:p>
              </p:txBody>
            </p:sp>
            <p:sp>
              <p:nvSpPr>
                <p:cNvPr id="22" name="Rectangle 52"/>
                <p:cNvSpPr>
                  <a:spLocks noChangeArrowheads="1"/>
                </p:cNvSpPr>
                <p:nvPr/>
              </p:nvSpPr>
              <p:spPr bwMode="auto">
                <a:xfrm>
                  <a:off x="7848600" y="2743200"/>
                  <a:ext cx="762000" cy="38100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800">
                      <a:solidFill>
                        <a:schemeClr val="bg1"/>
                      </a:solidFill>
                      <a:latin typeface="Times New Roman" pitchFamily="18" charset="0"/>
                    </a:rPr>
                    <a:t>C</a:t>
                  </a:r>
                </a:p>
              </p:txBody>
            </p:sp>
            <p:sp>
              <p:nvSpPr>
                <p:cNvPr id="23" name="Rectangle 55"/>
                <p:cNvSpPr>
                  <a:spLocks noChangeArrowheads="1"/>
                </p:cNvSpPr>
                <p:nvPr/>
              </p:nvSpPr>
              <p:spPr bwMode="auto">
                <a:xfrm>
                  <a:off x="2819400" y="4038600"/>
                  <a:ext cx="762000" cy="38100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800" dirty="0">
                      <a:solidFill>
                        <a:schemeClr val="bg1"/>
                      </a:solidFill>
                      <a:latin typeface="Times New Roman" pitchFamily="18" charset="0"/>
                    </a:rPr>
                    <a:t>D</a:t>
                  </a:r>
                </a:p>
              </p:txBody>
            </p:sp>
            <p:sp>
              <p:nvSpPr>
                <p:cNvPr id="24" name="Rectangle 58"/>
                <p:cNvSpPr>
                  <a:spLocks noChangeArrowheads="1"/>
                </p:cNvSpPr>
                <p:nvPr/>
              </p:nvSpPr>
              <p:spPr bwMode="auto">
                <a:xfrm>
                  <a:off x="4648200" y="4038600"/>
                  <a:ext cx="762000" cy="38100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800">
                      <a:solidFill>
                        <a:schemeClr val="bg1"/>
                      </a:solidFill>
                      <a:latin typeface="Times New Roman" pitchFamily="18" charset="0"/>
                    </a:rPr>
                    <a:t>E</a:t>
                  </a:r>
                </a:p>
              </p:txBody>
            </p:sp>
            <p:sp>
              <p:nvSpPr>
                <p:cNvPr id="25" name="Rectangle 61"/>
                <p:cNvSpPr>
                  <a:spLocks noChangeArrowheads="1"/>
                </p:cNvSpPr>
                <p:nvPr/>
              </p:nvSpPr>
              <p:spPr bwMode="auto">
                <a:xfrm>
                  <a:off x="7010400" y="4038600"/>
                  <a:ext cx="762000" cy="38100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800" dirty="0">
                      <a:solidFill>
                        <a:schemeClr val="bg1"/>
                      </a:solidFill>
                      <a:latin typeface="Times New Roman" pitchFamily="18" charset="0"/>
                    </a:rPr>
                    <a:t>F</a:t>
                  </a:r>
                </a:p>
              </p:txBody>
            </p:sp>
            <p:sp>
              <p:nvSpPr>
                <p:cNvPr id="26" name="Rectangle 67"/>
                <p:cNvSpPr>
                  <a:spLocks noChangeArrowheads="1"/>
                </p:cNvSpPr>
                <p:nvPr/>
              </p:nvSpPr>
              <p:spPr bwMode="auto">
                <a:xfrm>
                  <a:off x="3683000" y="5548524"/>
                  <a:ext cx="762000" cy="38100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800" dirty="0">
                      <a:solidFill>
                        <a:schemeClr val="bg1"/>
                      </a:solidFill>
                      <a:latin typeface="Times New Roman" pitchFamily="18" charset="0"/>
                    </a:rPr>
                    <a:t>I</a:t>
                  </a:r>
                </a:p>
              </p:txBody>
            </p:sp>
            <p:sp>
              <p:nvSpPr>
                <p:cNvPr id="27" name="Line 70"/>
                <p:cNvSpPr>
                  <a:spLocks noChangeShapeType="1"/>
                </p:cNvSpPr>
                <p:nvPr/>
              </p:nvSpPr>
              <p:spPr bwMode="auto">
                <a:xfrm flipH="1">
                  <a:off x="4190999" y="1676401"/>
                  <a:ext cx="1442205" cy="106679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" name="Line 71"/>
                <p:cNvSpPr>
                  <a:spLocks noChangeShapeType="1"/>
                </p:cNvSpPr>
                <p:nvPr/>
              </p:nvSpPr>
              <p:spPr bwMode="auto">
                <a:xfrm>
                  <a:off x="6400800" y="1676401"/>
                  <a:ext cx="1828800" cy="106679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" name="Line 72"/>
                <p:cNvSpPr>
                  <a:spLocks noChangeShapeType="1"/>
                </p:cNvSpPr>
                <p:nvPr/>
              </p:nvSpPr>
              <p:spPr bwMode="auto">
                <a:xfrm flipH="1">
                  <a:off x="3200399" y="2970424"/>
                  <a:ext cx="493295" cy="10681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" name="Line 73"/>
                <p:cNvSpPr>
                  <a:spLocks noChangeShapeType="1"/>
                </p:cNvSpPr>
                <p:nvPr/>
              </p:nvSpPr>
              <p:spPr bwMode="auto">
                <a:xfrm>
                  <a:off x="4492124" y="3024188"/>
                  <a:ext cx="537076" cy="101441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" name="Line 74"/>
                <p:cNvSpPr>
                  <a:spLocks noChangeShapeType="1"/>
                </p:cNvSpPr>
                <p:nvPr/>
              </p:nvSpPr>
              <p:spPr bwMode="auto">
                <a:xfrm flipH="1">
                  <a:off x="2498224" y="4265614"/>
                  <a:ext cx="357271" cy="132238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" name="Line 75"/>
                <p:cNvSpPr>
                  <a:spLocks noChangeShapeType="1"/>
                </p:cNvSpPr>
                <p:nvPr/>
              </p:nvSpPr>
              <p:spPr bwMode="auto">
                <a:xfrm flipH="1">
                  <a:off x="7391400" y="2895601"/>
                  <a:ext cx="457200" cy="114299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" name="Line 76"/>
                <p:cNvSpPr>
                  <a:spLocks noChangeShapeType="1"/>
                </p:cNvSpPr>
                <p:nvPr/>
              </p:nvSpPr>
              <p:spPr bwMode="auto">
                <a:xfrm flipH="1">
                  <a:off x="5207000" y="4395577"/>
                  <a:ext cx="203200" cy="11623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" name="Rectangle 77"/>
                <p:cNvSpPr>
                  <a:spLocks noChangeArrowheads="1"/>
                </p:cNvSpPr>
                <p:nvPr/>
              </p:nvSpPr>
              <p:spPr bwMode="auto">
                <a:xfrm>
                  <a:off x="8915400" y="4038600"/>
                  <a:ext cx="762000" cy="38100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800">
                      <a:solidFill>
                        <a:schemeClr val="bg1"/>
                      </a:solidFill>
                      <a:latin typeface="Times New Roman" pitchFamily="18" charset="0"/>
                    </a:rPr>
                    <a:t>G</a:t>
                  </a:r>
                </a:p>
              </p:txBody>
            </p:sp>
            <p:sp>
              <p:nvSpPr>
                <p:cNvPr id="35" name="Line 80"/>
                <p:cNvSpPr>
                  <a:spLocks noChangeShapeType="1"/>
                </p:cNvSpPr>
                <p:nvPr/>
              </p:nvSpPr>
              <p:spPr bwMode="auto">
                <a:xfrm>
                  <a:off x="8610600" y="2895601"/>
                  <a:ext cx="685800" cy="114299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" name="Text Box 88"/>
                <p:cNvSpPr txBox="1">
                  <a:spLocks noChangeArrowheads="1"/>
                </p:cNvSpPr>
                <p:nvPr/>
              </p:nvSpPr>
              <p:spPr bwMode="auto">
                <a:xfrm>
                  <a:off x="3137635" y="1816741"/>
                  <a:ext cx="1808508" cy="4616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 eaLnBrk="0" hangingPunct="0"/>
                  <a:r>
                    <a:rPr lang="en-US" sz="2400" b="1">
                      <a:solidFill>
                        <a:srgbClr val="0000CC"/>
                      </a:solidFill>
                      <a:latin typeface="Times New Roman" pitchFamily="18" charset="0"/>
                    </a:rPr>
                    <a:t>Cây con trái</a:t>
                  </a:r>
                </a:p>
              </p:txBody>
            </p:sp>
            <p:sp>
              <p:nvSpPr>
                <p:cNvPr id="37" name="Text Box 89"/>
                <p:cNvSpPr txBox="1">
                  <a:spLocks noChangeArrowheads="1"/>
                </p:cNvSpPr>
                <p:nvPr/>
              </p:nvSpPr>
              <p:spPr bwMode="auto">
                <a:xfrm>
                  <a:off x="7202224" y="1791973"/>
                  <a:ext cx="1806905" cy="4616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 eaLnBrk="0" hangingPunct="0"/>
                  <a:r>
                    <a:rPr lang="en-US" sz="2400">
                      <a:solidFill>
                        <a:srgbClr val="0000CC"/>
                      </a:solidFill>
                      <a:latin typeface="Times New Roman" pitchFamily="18" charset="0"/>
                    </a:rPr>
                    <a:t>Cây con phải</a:t>
                  </a:r>
                </a:p>
              </p:txBody>
            </p:sp>
            <p:sp>
              <p:nvSpPr>
                <p:cNvPr id="38" name="Text Box 90"/>
                <p:cNvSpPr txBox="1">
                  <a:spLocks noChangeArrowheads="1"/>
                </p:cNvSpPr>
                <p:nvPr/>
              </p:nvSpPr>
              <p:spPr bwMode="auto">
                <a:xfrm>
                  <a:off x="1524001" y="2628901"/>
                  <a:ext cx="809625" cy="36671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 eaLnBrk="0" hangingPunct="0"/>
                  <a:r>
                    <a:rPr lang="en-US" b="1">
                      <a:solidFill>
                        <a:srgbClr val="CC00CC"/>
                      </a:solidFill>
                      <a:latin typeface="Times New Roman" pitchFamily="18" charset="0"/>
                    </a:rPr>
                    <a:t>Mức 1</a:t>
                  </a:r>
                </a:p>
              </p:txBody>
            </p:sp>
            <p:sp>
              <p:nvSpPr>
                <p:cNvPr id="39" name="Text Box 91"/>
                <p:cNvSpPr txBox="1">
                  <a:spLocks noChangeArrowheads="1"/>
                </p:cNvSpPr>
                <p:nvPr/>
              </p:nvSpPr>
              <p:spPr bwMode="auto">
                <a:xfrm>
                  <a:off x="1524001" y="3898901"/>
                  <a:ext cx="809625" cy="36671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 eaLnBrk="0" hangingPunct="0"/>
                  <a:r>
                    <a:rPr lang="en-US" b="1">
                      <a:solidFill>
                        <a:srgbClr val="CC00CC"/>
                      </a:solidFill>
                      <a:latin typeface="Times New Roman" pitchFamily="18" charset="0"/>
                    </a:rPr>
                    <a:t>Mức 2</a:t>
                  </a:r>
                </a:p>
              </p:txBody>
            </p:sp>
            <p:sp>
              <p:nvSpPr>
                <p:cNvPr id="40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1524001" y="5194301"/>
                  <a:ext cx="809625" cy="36671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 eaLnBrk="0" hangingPunct="0"/>
                  <a:r>
                    <a:rPr lang="en-US" b="1">
                      <a:solidFill>
                        <a:srgbClr val="CC00CC"/>
                      </a:solidFill>
                      <a:latin typeface="Times New Roman" pitchFamily="18" charset="0"/>
                    </a:rPr>
                    <a:t>Mức 3</a:t>
                  </a:r>
                </a:p>
              </p:txBody>
            </p:sp>
            <p:sp>
              <p:nvSpPr>
                <p:cNvPr id="41" name="Text Box 94"/>
                <p:cNvSpPr txBox="1">
                  <a:spLocks noChangeArrowheads="1"/>
                </p:cNvSpPr>
                <p:nvPr/>
              </p:nvSpPr>
              <p:spPr bwMode="auto">
                <a:xfrm>
                  <a:off x="1524001" y="1385888"/>
                  <a:ext cx="809625" cy="3667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 eaLnBrk="0" hangingPunct="0"/>
                  <a:r>
                    <a:rPr lang="en-US" b="1">
                      <a:solidFill>
                        <a:srgbClr val="CC00CC"/>
                      </a:solidFill>
                      <a:latin typeface="Times New Roman" pitchFamily="18" charset="0"/>
                    </a:rPr>
                    <a:t>Mức 0</a:t>
                  </a:r>
                </a:p>
              </p:txBody>
            </p:sp>
            <p:sp>
              <p:nvSpPr>
                <p:cNvPr id="42" name="Line 73"/>
                <p:cNvSpPr>
                  <a:spLocks noChangeShapeType="1"/>
                </p:cNvSpPr>
                <p:nvPr/>
              </p:nvSpPr>
              <p:spPr bwMode="auto">
                <a:xfrm>
                  <a:off x="3617495" y="4265614"/>
                  <a:ext cx="457200" cy="12468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" name="Rectangle 67"/>
                <p:cNvSpPr>
                  <a:spLocks noChangeArrowheads="1"/>
                </p:cNvSpPr>
                <p:nvPr/>
              </p:nvSpPr>
              <p:spPr bwMode="auto">
                <a:xfrm>
                  <a:off x="2193925" y="5524500"/>
                  <a:ext cx="762000" cy="38100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800" dirty="0" smtClean="0">
                      <a:solidFill>
                        <a:schemeClr val="bg1"/>
                      </a:solidFill>
                      <a:latin typeface="Times New Roman" pitchFamily="18" charset="0"/>
                    </a:rPr>
                    <a:t>H</a:t>
                  </a:r>
                  <a:endParaRPr lang="en-US" sz="2800" dirty="0">
                    <a:solidFill>
                      <a:schemeClr val="bg1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4" name="Rectangle 67"/>
                <p:cNvSpPr>
                  <a:spLocks noChangeArrowheads="1"/>
                </p:cNvSpPr>
                <p:nvPr/>
              </p:nvSpPr>
              <p:spPr bwMode="auto">
                <a:xfrm>
                  <a:off x="5073016" y="5548524"/>
                  <a:ext cx="762000" cy="38100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800" dirty="0" smtClean="0">
                      <a:solidFill>
                        <a:schemeClr val="bg1"/>
                      </a:solidFill>
                      <a:latin typeface="Times New Roman" pitchFamily="18" charset="0"/>
                    </a:rPr>
                    <a:t>J</a:t>
                  </a:r>
                  <a:endParaRPr lang="en-US" sz="2800" dirty="0">
                    <a:solidFill>
                      <a:schemeClr val="bg1"/>
                    </a:solidFill>
                    <a:latin typeface="Times New Roman" pitchFamily="18" charset="0"/>
                  </a:endParaRPr>
                </a:p>
              </p:txBody>
            </p:sp>
          </p:grpSp>
          <p:sp>
            <p:nvSpPr>
              <p:cNvPr id="6" name="TextBox 5"/>
              <p:cNvSpPr txBox="1"/>
              <p:nvPr/>
            </p:nvSpPr>
            <p:spPr>
              <a:xfrm>
                <a:off x="5448299" y="1140040"/>
                <a:ext cx="8381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smtClean="0"/>
                  <a:t>150</a:t>
                </a:r>
                <a:endParaRPr lang="en-US" sz="2400" b="1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7010399" y="3647672"/>
                <a:ext cx="8381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smtClean="0"/>
                  <a:t>130</a:t>
                </a:r>
                <a:endParaRPr lang="en-US" sz="2400" b="1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3711909" y="2343364"/>
                <a:ext cx="8381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smtClean="0"/>
                  <a:t>210</a:t>
                </a:r>
                <a:endParaRPr lang="en-US" sz="2400" b="1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4608095" y="3628056"/>
                <a:ext cx="8381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/>
                  <a:t>6</a:t>
                </a:r>
                <a:r>
                  <a:rPr lang="en-US" sz="2400" b="1" smtClean="0"/>
                  <a:t>0</a:t>
                </a:r>
                <a:endParaRPr lang="en-US" sz="2400" b="1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3619499" y="5137224"/>
                <a:ext cx="8381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smtClean="0"/>
                  <a:t>10</a:t>
                </a:r>
                <a:endParaRPr lang="en-US" sz="2400" b="1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2171699" y="5093182"/>
                <a:ext cx="8381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smtClean="0"/>
                  <a:t>400</a:t>
                </a:r>
                <a:endParaRPr lang="en-US" sz="2400" b="1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5065660" y="5167301"/>
                <a:ext cx="8381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smtClean="0"/>
                  <a:t>100</a:t>
                </a:r>
                <a:endParaRPr lang="en-US" sz="2400" b="1"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8941982" y="3717537"/>
                <a:ext cx="8381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smtClean="0"/>
                  <a:t>330</a:t>
                </a:r>
                <a:endParaRPr lang="en-US" sz="2400" b="1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7868290" y="2369856"/>
                <a:ext cx="8381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smtClean="0"/>
                  <a:t>200</a:t>
                </a:r>
                <a:endParaRPr lang="en-US" sz="2400" b="1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2837447" y="3627730"/>
                <a:ext cx="8381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smtClean="0"/>
                  <a:t>50</a:t>
                </a:r>
                <a:endParaRPr lang="en-US" sz="2400" b="1"/>
              </a:p>
            </p:txBody>
          </p:sp>
        </p:grpSp>
        <p:sp>
          <p:nvSpPr>
            <p:cNvPr id="46" name="Text Box 85"/>
            <p:cNvSpPr txBox="1">
              <a:spLocks noChangeArrowheads="1"/>
            </p:cNvSpPr>
            <p:nvPr/>
          </p:nvSpPr>
          <p:spPr bwMode="auto">
            <a:xfrm>
              <a:off x="6774950" y="793616"/>
              <a:ext cx="3373039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sz="2400" b="1" dirty="0" err="1">
                  <a:solidFill>
                    <a:srgbClr val="CC0000"/>
                  </a:solidFill>
                  <a:latin typeface="Times New Roman" pitchFamily="18" charset="0"/>
                </a:rPr>
                <a:t>Kích</a:t>
              </a:r>
              <a:r>
                <a:rPr lang="en-US" sz="2400" b="1" dirty="0">
                  <a:solidFill>
                    <a:srgbClr val="CC0000"/>
                  </a:solidFill>
                  <a:latin typeface="Times New Roman" pitchFamily="18" charset="0"/>
                </a:rPr>
                <a:t> </a:t>
              </a:r>
              <a:r>
                <a:rPr lang="en-US" sz="2400" b="1" dirty="0" err="1">
                  <a:solidFill>
                    <a:srgbClr val="CC0000"/>
                  </a:solidFill>
                  <a:latin typeface="Times New Roman" pitchFamily="18" charset="0"/>
                </a:rPr>
                <a:t>thước</a:t>
              </a:r>
              <a:r>
                <a:rPr lang="en-US" sz="2400" b="1" dirty="0">
                  <a:solidFill>
                    <a:srgbClr val="CC0000"/>
                  </a:solidFill>
                  <a:latin typeface="Times New Roman" pitchFamily="18" charset="0"/>
                </a:rPr>
                <a:t> = </a:t>
              </a:r>
              <a:r>
                <a:rPr lang="en-US" sz="2400" b="1" dirty="0" smtClean="0">
                  <a:solidFill>
                    <a:srgbClr val="CC0000"/>
                  </a:solidFill>
                  <a:latin typeface="Times New Roman" pitchFamily="18" charset="0"/>
                </a:rPr>
                <a:t>10 </a:t>
              </a:r>
              <a:r>
                <a:rPr lang="en-US" sz="2400" b="1" dirty="0">
                  <a:solidFill>
                    <a:srgbClr val="CC0000"/>
                  </a:solidFill>
                  <a:latin typeface="Times New Roman" pitchFamily="18" charset="0"/>
                </a:rPr>
                <a:t>(</a:t>
              </a:r>
              <a:r>
                <a:rPr lang="en-US" sz="2400" b="1" dirty="0" err="1">
                  <a:solidFill>
                    <a:srgbClr val="CC0000"/>
                  </a:solidFill>
                  <a:latin typeface="Times New Roman" pitchFamily="18" charset="0"/>
                </a:rPr>
                <a:t>số</a:t>
              </a:r>
              <a:r>
                <a:rPr lang="en-US" sz="2400" b="1" dirty="0">
                  <a:solidFill>
                    <a:srgbClr val="CC0000"/>
                  </a:solidFill>
                  <a:latin typeface="Times New Roman" pitchFamily="18" charset="0"/>
                </a:rPr>
                <a:t> </a:t>
              </a:r>
              <a:r>
                <a:rPr lang="en-US" sz="2400" b="1" dirty="0" err="1">
                  <a:solidFill>
                    <a:srgbClr val="CC0000"/>
                  </a:solidFill>
                  <a:latin typeface="Times New Roman" pitchFamily="18" charset="0"/>
                </a:rPr>
                <a:t>nút</a:t>
              </a:r>
              <a:r>
                <a:rPr lang="en-US" sz="2400" b="1" dirty="0">
                  <a:solidFill>
                    <a:srgbClr val="CC0000"/>
                  </a:solidFill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47" name="Text Box 84"/>
            <p:cNvSpPr txBox="1">
              <a:spLocks noChangeArrowheads="1"/>
            </p:cNvSpPr>
            <p:nvPr/>
          </p:nvSpPr>
          <p:spPr bwMode="auto">
            <a:xfrm>
              <a:off x="6067054" y="5437700"/>
              <a:ext cx="3833403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 eaLnBrk="0" hangingPunct="0"/>
              <a:r>
                <a:rPr lang="en-US" sz="2400" b="1">
                  <a:solidFill>
                    <a:srgbClr val="CC0000"/>
                  </a:solidFill>
                  <a:latin typeface="Times New Roman" pitchFamily="18" charset="0"/>
                </a:rPr>
                <a:t>Độ sâu/chiều cao =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5166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561993"/>
            <a:ext cx="10642600" cy="703747"/>
          </a:xfrm>
        </p:spPr>
        <p:txBody>
          <a:bodyPr/>
          <a:lstStyle/>
          <a:p>
            <a:r>
              <a:rPr lang="en-US" dirty="0" err="1" smtClean="0"/>
              <a:t>Duyệt</a:t>
            </a:r>
            <a:r>
              <a:rPr lang="en-US" dirty="0" smtClean="0"/>
              <a:t> </a:t>
            </a:r>
            <a:r>
              <a:rPr lang="en-US" dirty="0" err="1" smtClean="0"/>
              <a:t>cây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chiều</a:t>
            </a:r>
            <a:r>
              <a:rPr lang="en-US" dirty="0" smtClean="0"/>
              <a:t> </a:t>
            </a:r>
            <a:r>
              <a:rPr lang="en-US" dirty="0" err="1" smtClean="0"/>
              <a:t>rộng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4803" y="1547475"/>
            <a:ext cx="11260478" cy="4905859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vi-VN" sz="3000" dirty="0" smtClean="0"/>
              <a:t>Các </a:t>
            </a:r>
            <a:r>
              <a:rPr lang="vi-VN" sz="3000" dirty="0"/>
              <a:t>bước </a:t>
            </a:r>
            <a:r>
              <a:rPr lang="en-US" sz="3000" dirty="0" err="1" smtClean="0"/>
              <a:t>thực</a:t>
            </a:r>
            <a:r>
              <a:rPr lang="en-US" sz="3000" dirty="0" smtClean="0"/>
              <a:t> </a:t>
            </a:r>
            <a:r>
              <a:rPr lang="en-US" sz="3000" dirty="0" err="1" smtClean="0"/>
              <a:t>hiện</a:t>
            </a:r>
            <a:r>
              <a:rPr lang="en-US" sz="3000" dirty="0" smtClean="0"/>
              <a:t> </a:t>
            </a:r>
            <a:r>
              <a:rPr lang="en-US" sz="3000" dirty="0" err="1" smtClean="0"/>
              <a:t>duyệt</a:t>
            </a:r>
            <a:r>
              <a:rPr lang="en-US" sz="3000" dirty="0" smtClean="0"/>
              <a:t> </a:t>
            </a:r>
            <a:r>
              <a:rPr lang="en-US" sz="3000" dirty="0" err="1" smtClean="0"/>
              <a:t>cây</a:t>
            </a:r>
            <a:r>
              <a:rPr lang="en-US" sz="3000" dirty="0" smtClean="0"/>
              <a:t> </a:t>
            </a:r>
            <a:r>
              <a:rPr lang="en-US" sz="3000" dirty="0" err="1" smtClean="0"/>
              <a:t>nhi</a:t>
            </a:r>
            <a:r>
              <a:rPr lang="en-US" sz="3000" dirty="0" smtClean="0"/>
              <a:t>̣ </a:t>
            </a:r>
            <a:r>
              <a:rPr lang="en-US" sz="3000" dirty="0" err="1" smtClean="0"/>
              <a:t>phân</a:t>
            </a:r>
            <a:r>
              <a:rPr lang="vi-VN" sz="3000" dirty="0" smtClean="0"/>
              <a:t>: </a:t>
            </a:r>
            <a:endParaRPr lang="en-US" sz="3000" dirty="0" smtClean="0"/>
          </a:p>
          <a:p>
            <a:pPr marL="854075" indent="-45720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vi-VN" sz="3000" dirty="0" smtClean="0"/>
              <a:t>Đầu </a:t>
            </a:r>
            <a:r>
              <a:rPr lang="vi-VN" sz="3000" dirty="0"/>
              <a:t>tiên </a:t>
            </a:r>
            <a:r>
              <a:rPr lang="vi-VN" sz="3000"/>
              <a:t>ta </a:t>
            </a:r>
            <a:r>
              <a:rPr lang="en-US" sz="3000" smtClean="0"/>
              <a:t>duyệt</a:t>
            </a:r>
            <a:r>
              <a:rPr lang="vi-VN" sz="3000" smtClean="0"/>
              <a:t> </a:t>
            </a:r>
            <a:r>
              <a:rPr lang="vi-VN" sz="3000" dirty="0"/>
              <a:t>node gốc (mức 0) và in ra </a:t>
            </a:r>
            <a:r>
              <a:rPr lang="vi-VN" sz="3000"/>
              <a:t>dữ </a:t>
            </a:r>
            <a:r>
              <a:rPr lang="vi-VN" sz="3000" smtClean="0"/>
              <a:t>liệu </a:t>
            </a:r>
            <a:r>
              <a:rPr lang="vi-VN" sz="3000" dirty="0"/>
              <a:t>là </a:t>
            </a:r>
            <a:r>
              <a:rPr lang="vi-VN" sz="3000" dirty="0" smtClean="0"/>
              <a:t>A</a:t>
            </a:r>
            <a:endParaRPr lang="en-US" sz="3000" dirty="0" smtClean="0"/>
          </a:p>
          <a:p>
            <a:pPr marL="854075" indent="-45720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vi-VN" sz="3000" dirty="0"/>
              <a:t>Tiếp theo </a:t>
            </a:r>
            <a:r>
              <a:rPr lang="vi-VN" sz="3000"/>
              <a:t>ta </a:t>
            </a:r>
            <a:r>
              <a:rPr lang="vi-VN" sz="3000" smtClean="0"/>
              <a:t>duyệt </a:t>
            </a:r>
            <a:r>
              <a:rPr lang="vi-VN" sz="3000" dirty="0"/>
              <a:t>tới mức 1 </a:t>
            </a:r>
            <a:r>
              <a:rPr lang="vi-VN" sz="3000"/>
              <a:t>và </a:t>
            </a:r>
            <a:r>
              <a:rPr lang="vi-VN" sz="3000" smtClean="0"/>
              <a:t>duyệt </a:t>
            </a:r>
            <a:r>
              <a:rPr lang="vi-VN" sz="3000" dirty="0"/>
              <a:t>theo thứ tự </a:t>
            </a:r>
            <a:r>
              <a:rPr lang="vi-VN" sz="3000"/>
              <a:t>từ </a:t>
            </a:r>
            <a:r>
              <a:rPr lang="vi-VN" sz="3000" smtClean="0"/>
              <a:t>tr</a:t>
            </a:r>
            <a:r>
              <a:rPr lang="en-US" sz="3000" smtClean="0"/>
              <a:t>ái</a:t>
            </a:r>
            <a:r>
              <a:rPr lang="vi-VN" sz="3000" smtClean="0"/>
              <a:t> </a:t>
            </a:r>
            <a:r>
              <a:rPr lang="vi-VN" sz="3000"/>
              <a:t>sang </a:t>
            </a:r>
            <a:r>
              <a:rPr lang="vi-VN" sz="3000" smtClean="0"/>
              <a:t>phải,  </a:t>
            </a:r>
            <a:r>
              <a:rPr lang="vi-VN" sz="3000"/>
              <a:t>dữ </a:t>
            </a:r>
            <a:r>
              <a:rPr lang="vi-VN" sz="3000" smtClean="0"/>
              <a:t>liệu </a:t>
            </a:r>
            <a:r>
              <a:rPr lang="vi-VN" sz="3000" dirty="0"/>
              <a:t>in ra </a:t>
            </a:r>
            <a:r>
              <a:rPr lang="vi-VN" sz="3000"/>
              <a:t>là </a:t>
            </a:r>
            <a:r>
              <a:rPr lang="vi-VN" sz="3000" smtClean="0"/>
              <a:t>B, C </a:t>
            </a:r>
            <a:endParaRPr lang="en-US" sz="3000" dirty="0" smtClean="0"/>
          </a:p>
          <a:p>
            <a:pPr marL="854075" indent="-45720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vi-VN" sz="3000" smtClean="0"/>
              <a:t>Tiếp tục duyệt </a:t>
            </a:r>
            <a:r>
              <a:rPr lang="vi-VN" sz="3000" dirty="0"/>
              <a:t>mức 2 và in ra </a:t>
            </a:r>
            <a:r>
              <a:rPr lang="vi-VN" sz="3000"/>
              <a:t>dữ </a:t>
            </a:r>
            <a:r>
              <a:rPr lang="vi-VN" sz="3000" smtClean="0"/>
              <a:t>liệu </a:t>
            </a:r>
            <a:r>
              <a:rPr lang="vi-VN" sz="3000" dirty="0"/>
              <a:t>theo chiều </a:t>
            </a:r>
            <a:r>
              <a:rPr lang="vi-VN" sz="3000"/>
              <a:t>từ </a:t>
            </a:r>
            <a:r>
              <a:rPr lang="vi-VN" sz="3000" smtClean="0"/>
              <a:t>trái </a:t>
            </a:r>
            <a:r>
              <a:rPr lang="vi-VN" sz="3000" dirty="0"/>
              <a:t>sang </a:t>
            </a:r>
            <a:r>
              <a:rPr lang="vi-VN" sz="3000"/>
              <a:t>phải </a:t>
            </a:r>
            <a:r>
              <a:rPr lang="vi-VN" sz="3000" smtClean="0"/>
              <a:t>D, E, F, G </a:t>
            </a:r>
            <a:endParaRPr lang="en-US" sz="3000" dirty="0" smtClean="0"/>
          </a:p>
          <a:p>
            <a:pPr marL="854075" indent="-45720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vi-VN" sz="3000" dirty="0" smtClean="0"/>
              <a:t>Khi </a:t>
            </a:r>
            <a:r>
              <a:rPr lang="vi-VN" sz="3000" dirty="0"/>
              <a:t>kết thúc mức 2 </a:t>
            </a:r>
            <a:r>
              <a:rPr lang="vi-VN" sz="3000"/>
              <a:t>ta </a:t>
            </a:r>
            <a:r>
              <a:rPr lang="vi-VN" sz="3000" smtClean="0"/>
              <a:t>duyệt </a:t>
            </a:r>
            <a:r>
              <a:rPr lang="vi-VN" sz="3000" dirty="0"/>
              <a:t>tới mức cuối cùng và </a:t>
            </a:r>
            <a:r>
              <a:rPr lang="vi-VN" sz="3000"/>
              <a:t>dữ </a:t>
            </a:r>
            <a:r>
              <a:rPr lang="vi-VN" sz="3000" smtClean="0"/>
              <a:t>liệu </a:t>
            </a:r>
            <a:r>
              <a:rPr lang="vi-VN" sz="3000" dirty="0"/>
              <a:t>in ra </a:t>
            </a:r>
            <a:r>
              <a:rPr lang="vi-VN" sz="3000"/>
              <a:t>là </a:t>
            </a:r>
            <a:r>
              <a:rPr lang="vi-VN" sz="3000" smtClean="0"/>
              <a:t>H, I, J </a:t>
            </a:r>
            <a:endParaRPr lang="en-US" sz="3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752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571620"/>
            <a:ext cx="10642600" cy="703747"/>
          </a:xfrm>
        </p:spPr>
        <p:txBody>
          <a:bodyPr/>
          <a:lstStyle/>
          <a:p>
            <a:r>
              <a:rPr lang="en-US" dirty="0" err="1"/>
              <a:t>Duyệt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chiều</a:t>
            </a:r>
            <a:r>
              <a:rPr lang="en-US" dirty="0"/>
              <a:t> </a:t>
            </a:r>
            <a:r>
              <a:rPr lang="en-US" dirty="0" err="1"/>
              <a:t>rộng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700" y="1443142"/>
            <a:ext cx="10642600" cy="5384800"/>
          </a:xfrm>
        </p:spPr>
        <p:txBody>
          <a:bodyPr/>
          <a:lstStyle/>
          <a:p>
            <a:r>
              <a:rPr lang="en-US" dirty="0" smtClean="0"/>
              <a:t>Qui </a:t>
            </a:r>
            <a:r>
              <a:rPr lang="en-US" dirty="0" err="1" smtClean="0"/>
              <a:t>ước</a:t>
            </a:r>
            <a:r>
              <a:rPr lang="en-US" dirty="0" smtClean="0"/>
              <a:t>: </a:t>
            </a:r>
          </a:p>
          <a:p>
            <a:pPr marL="1076325" indent="-571500">
              <a:buFont typeface="Wingdings" panose="05000000000000000000" pitchFamily="2" charset="2"/>
              <a:buChar char="Ø"/>
            </a:pPr>
            <a:r>
              <a:rPr lang="en-US" b="1" err="1" smtClean="0">
                <a:solidFill>
                  <a:srgbClr val="FF0000"/>
                </a:solidFill>
              </a:rPr>
              <a:t>Màu</a:t>
            </a:r>
            <a:r>
              <a:rPr lang="en-US" b="1" smtClean="0">
                <a:solidFill>
                  <a:srgbClr val="FF0000"/>
                </a:solidFill>
              </a:rPr>
              <a:t> đỏ: </a:t>
            </a:r>
            <a:r>
              <a:rPr lang="en-US" smtClean="0"/>
              <a:t>đã duyệt</a:t>
            </a:r>
            <a:endParaRPr lang="en-US" dirty="0" smtClean="0"/>
          </a:p>
          <a:p>
            <a:pPr marL="1076325" indent="-571500">
              <a:buFont typeface="Wingdings" panose="05000000000000000000" pitchFamily="2" charset="2"/>
              <a:buChar char="Ø"/>
            </a:pPr>
            <a:r>
              <a:rPr lang="en-US" b="1" err="1" smtClean="0">
                <a:solidFill>
                  <a:schemeClr val="bg1">
                    <a:lumMod val="50000"/>
                  </a:schemeClr>
                </a:solidFill>
              </a:rPr>
              <a:t>Màu</a:t>
            </a:r>
            <a:r>
              <a:rPr lang="en-US" b="1" smtClean="0">
                <a:solidFill>
                  <a:schemeClr val="bg1">
                    <a:lumMod val="50000"/>
                  </a:schemeClr>
                </a:solidFill>
              </a:rPr>
              <a:t> xám: </a:t>
            </a:r>
            <a:r>
              <a:rPr lang="en-US" dirty="0" err="1" smtClean="0"/>
              <a:t>đang</a:t>
            </a:r>
            <a:r>
              <a:rPr lang="en-US" dirty="0" smtClean="0"/>
              <a:t> </a:t>
            </a:r>
            <a:r>
              <a:rPr lang="en-US" dirty="0" err="1" smtClean="0"/>
              <a:t>duyệt</a:t>
            </a:r>
            <a:endParaRPr lang="en-US" dirty="0" smtClean="0"/>
          </a:p>
          <a:p>
            <a:pPr marL="1076325" indent="-571500">
              <a:buFont typeface="Wingdings" panose="05000000000000000000" pitchFamily="2" charset="2"/>
              <a:buChar char="Ø"/>
            </a:pPr>
            <a:r>
              <a:rPr lang="en-US" b="1" err="1" smtClean="0">
                <a:solidFill>
                  <a:srgbClr val="0070C0"/>
                </a:solidFill>
              </a:rPr>
              <a:t>Màu</a:t>
            </a:r>
            <a:r>
              <a:rPr lang="en-US" b="1" smtClean="0">
                <a:solidFill>
                  <a:srgbClr val="0070C0"/>
                </a:solidFill>
              </a:rPr>
              <a:t> xanh: </a:t>
            </a:r>
            <a:r>
              <a:rPr lang="en-US" dirty="0" err="1" smtClean="0"/>
              <a:t>chưa</a:t>
            </a:r>
            <a:r>
              <a:rPr lang="en-US" dirty="0" smtClean="0"/>
              <a:t> </a:t>
            </a:r>
            <a:r>
              <a:rPr lang="en-US" dirty="0" err="1" smtClean="0"/>
              <a:t>duyệt</a:t>
            </a:r>
            <a:r>
              <a:rPr lang="en-US" dirty="0" smtClean="0"/>
              <a:t> </a:t>
            </a:r>
            <a:r>
              <a:rPr lang="en-US" dirty="0" err="1" smtClean="0"/>
              <a:t>tới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157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571619"/>
            <a:ext cx="10642600" cy="703747"/>
          </a:xfrm>
        </p:spPr>
        <p:txBody>
          <a:bodyPr/>
          <a:lstStyle/>
          <a:p>
            <a:r>
              <a:rPr lang="en-US" dirty="0" err="1"/>
              <a:t>Duyệt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chiều</a:t>
            </a:r>
            <a:r>
              <a:rPr lang="en-US" dirty="0"/>
              <a:t> </a:t>
            </a:r>
            <a:r>
              <a:rPr lang="en-US" dirty="0" err="1"/>
              <a:t>rộng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700" y="1453415"/>
            <a:ext cx="10642600" cy="422267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vi-VN" b="1" smtClean="0"/>
              <a:t>Enqueue</a:t>
            </a:r>
            <a:r>
              <a:rPr lang="vi-VN"/>
              <a:t>: Thêm một phần tử mới vào cuối hàng đợi.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vi-VN" b="1" smtClean="0"/>
              <a:t>dequeue</a:t>
            </a:r>
            <a:r>
              <a:rPr lang="vi-VN"/>
              <a:t>: Lấy phần tử đầu tiên ra khỏi hàng đợi</a:t>
            </a:r>
            <a:r>
              <a:rPr lang="vi-VN" smtClean="0"/>
              <a:t>.</a:t>
            </a:r>
            <a:endParaRPr lang="en-US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b="1" smtClean="0"/>
              <a:t>bf_queue</a:t>
            </a:r>
            <a:r>
              <a:rPr lang="en-US" smtClean="0"/>
              <a:t>: Hàng đợi </a:t>
            </a:r>
            <a:r>
              <a:rPr lang="en-US" b="1"/>
              <a:t>(</a:t>
            </a:r>
            <a:r>
              <a:rPr lang="en-US" b="1" smtClean="0"/>
              <a:t>FIFO)</a:t>
            </a:r>
            <a:endParaRPr lang="vi-VN"/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sz="3200" b="1" smtClean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vi-VN" sz="3200" b="1" smtClean="0"/>
              <a:t>Bước </a:t>
            </a:r>
            <a:r>
              <a:rPr lang="vi-VN" sz="3200" b="1" dirty="0"/>
              <a:t>1</a:t>
            </a:r>
            <a:r>
              <a:rPr lang="vi-VN" sz="3200" dirty="0"/>
              <a:t>: </a:t>
            </a:r>
            <a:r>
              <a:rPr lang="vi-VN" sz="3200" dirty="0" smtClean="0"/>
              <a:t>Duy</a:t>
            </a:r>
            <a:r>
              <a:rPr lang="en-US" sz="3200" dirty="0" err="1" smtClean="0"/>
              <a:t>ệt</a:t>
            </a:r>
            <a:r>
              <a:rPr lang="en-US" sz="3200" dirty="0" smtClean="0"/>
              <a:t> </a:t>
            </a:r>
            <a:r>
              <a:rPr lang="vi-VN" sz="3200" smtClean="0"/>
              <a:t>node gốc,</a:t>
            </a:r>
            <a:r>
              <a:rPr lang="en-US" sz="3200" smtClean="0"/>
              <a:t> </a:t>
            </a:r>
            <a:r>
              <a:rPr lang="vi-VN" sz="3200" smtClean="0"/>
              <a:t>đánh </a:t>
            </a:r>
            <a:r>
              <a:rPr lang="vi-VN" sz="3200" dirty="0"/>
              <a:t>dấu node đó là đang </a:t>
            </a:r>
            <a:r>
              <a:rPr lang="vi-VN" sz="3200"/>
              <a:t>được </a:t>
            </a:r>
            <a:r>
              <a:rPr lang="vi-VN" sz="3200" smtClean="0"/>
              <a:t>duyệt </a:t>
            </a:r>
            <a:r>
              <a:rPr lang="vi-VN" sz="3200" dirty="0"/>
              <a:t>(node khám phá). </a:t>
            </a:r>
            <a:endParaRPr lang="en-US" sz="3200" dirty="0" smtClean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vi-VN" sz="3200" dirty="0" smtClean="0"/>
              <a:t>Enqueue </a:t>
            </a:r>
            <a:r>
              <a:rPr lang="vi-VN" sz="3200" dirty="0"/>
              <a:t>node gốc (A) vào hàng </a:t>
            </a:r>
            <a:r>
              <a:rPr lang="vi-VN" sz="3200"/>
              <a:t>đợi </a:t>
            </a:r>
            <a:r>
              <a:rPr lang="en-US" sz="3200" smtClean="0"/>
              <a:t> </a:t>
            </a:r>
            <a:r>
              <a:rPr lang="vi-VN" sz="3200" smtClean="0"/>
              <a:t>bf_queue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113</a:t>
            </a:fld>
            <a:endParaRPr lang="en-US"/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l="48542" t="65090" r="29412" b="23945"/>
          <a:stretch/>
        </p:blipFill>
        <p:spPr bwMode="auto">
          <a:xfrm>
            <a:off x="3619550" y="5488359"/>
            <a:ext cx="4682346" cy="10356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80357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533114"/>
            <a:ext cx="10541000" cy="72186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dirty="0" err="1"/>
              <a:t>Duyệt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chiều</a:t>
            </a:r>
            <a:r>
              <a:rPr lang="en-US" dirty="0"/>
              <a:t> </a:t>
            </a:r>
            <a:r>
              <a:rPr lang="en-US" dirty="0" err="1"/>
              <a:t>rộng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114</a:t>
            </a:fld>
            <a:endParaRPr lang="en-US"/>
          </a:p>
        </p:txBody>
      </p:sp>
      <p:pic>
        <p:nvPicPr>
          <p:cNvPr id="35" name="Picture 34"/>
          <p:cNvPicPr/>
          <p:nvPr/>
        </p:nvPicPr>
        <p:blipFill rotWithShape="1">
          <a:blip r:embed="rId2"/>
          <a:srcRect l="48542" t="65090" r="29412" b="23945"/>
          <a:stretch/>
        </p:blipFill>
        <p:spPr bwMode="auto">
          <a:xfrm>
            <a:off x="6650426" y="5593692"/>
            <a:ext cx="4682346" cy="10356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6" name="Group 5"/>
          <p:cNvGrpSpPr/>
          <p:nvPr/>
        </p:nvGrpSpPr>
        <p:grpSpPr>
          <a:xfrm>
            <a:off x="1562100" y="1105562"/>
            <a:ext cx="9143999" cy="5023914"/>
            <a:chOff x="1562100" y="605052"/>
            <a:chExt cx="9143999" cy="5023914"/>
          </a:xfrm>
        </p:grpSpPr>
        <p:grpSp>
          <p:nvGrpSpPr>
            <p:cNvPr id="4" name="Group 3"/>
            <p:cNvGrpSpPr/>
            <p:nvPr/>
          </p:nvGrpSpPr>
          <p:grpSpPr>
            <a:xfrm>
              <a:off x="1562100" y="605052"/>
              <a:ext cx="9143999" cy="4543636"/>
              <a:chOff x="1524001" y="1385888"/>
              <a:chExt cx="9143999" cy="4543636"/>
            </a:xfrm>
          </p:grpSpPr>
          <p:sp>
            <p:nvSpPr>
              <p:cNvPr id="15364" name="Line 93"/>
              <p:cNvSpPr>
                <a:spLocks noChangeShapeType="1"/>
              </p:cNvSpPr>
              <p:nvPr/>
            </p:nvSpPr>
            <p:spPr bwMode="auto">
              <a:xfrm>
                <a:off x="1828800" y="1690688"/>
                <a:ext cx="8839200" cy="0"/>
              </a:xfrm>
              <a:prstGeom prst="line">
                <a:avLst/>
              </a:prstGeom>
              <a:noFill/>
              <a:ln w="28575">
                <a:solidFill>
                  <a:srgbClr val="CC00CC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65" name="Line 83"/>
              <p:cNvSpPr>
                <a:spLocks noChangeShapeType="1"/>
              </p:cNvSpPr>
              <p:nvPr/>
            </p:nvSpPr>
            <p:spPr bwMode="auto">
              <a:xfrm>
                <a:off x="1828800" y="5524500"/>
                <a:ext cx="8839200" cy="0"/>
              </a:xfrm>
              <a:prstGeom prst="line">
                <a:avLst/>
              </a:prstGeom>
              <a:noFill/>
              <a:ln w="28575">
                <a:solidFill>
                  <a:srgbClr val="CC00CC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66" name="Line 82"/>
              <p:cNvSpPr>
                <a:spLocks noChangeShapeType="1"/>
              </p:cNvSpPr>
              <p:nvPr/>
            </p:nvSpPr>
            <p:spPr bwMode="auto">
              <a:xfrm>
                <a:off x="1828800" y="4229100"/>
                <a:ext cx="8839200" cy="0"/>
              </a:xfrm>
              <a:prstGeom prst="line">
                <a:avLst/>
              </a:prstGeom>
              <a:noFill/>
              <a:ln w="28575">
                <a:solidFill>
                  <a:srgbClr val="CC00CC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67" name="Line 81"/>
              <p:cNvSpPr>
                <a:spLocks noChangeShapeType="1"/>
              </p:cNvSpPr>
              <p:nvPr/>
            </p:nvSpPr>
            <p:spPr bwMode="auto">
              <a:xfrm>
                <a:off x="1828800" y="2946400"/>
                <a:ext cx="8839200" cy="0"/>
              </a:xfrm>
              <a:prstGeom prst="line">
                <a:avLst/>
              </a:prstGeom>
              <a:noFill/>
              <a:ln w="28575">
                <a:solidFill>
                  <a:srgbClr val="CC00CC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69" name="Rectangle 4"/>
              <p:cNvSpPr>
                <a:spLocks noChangeArrowheads="1"/>
              </p:cNvSpPr>
              <p:nvPr/>
            </p:nvSpPr>
            <p:spPr bwMode="auto">
              <a:xfrm>
                <a:off x="5638800" y="1524000"/>
                <a:ext cx="762000" cy="3810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800">
                    <a:solidFill>
                      <a:schemeClr val="bg1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15372" name="Rectangle 49"/>
              <p:cNvSpPr>
                <a:spLocks noChangeArrowheads="1"/>
              </p:cNvSpPr>
              <p:nvPr/>
            </p:nvSpPr>
            <p:spPr bwMode="auto">
              <a:xfrm>
                <a:off x="3733800" y="2743200"/>
                <a:ext cx="762000" cy="3810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800">
                    <a:solidFill>
                      <a:schemeClr val="bg1"/>
                    </a:solidFill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15375" name="Rectangle 52"/>
              <p:cNvSpPr>
                <a:spLocks noChangeArrowheads="1"/>
              </p:cNvSpPr>
              <p:nvPr/>
            </p:nvSpPr>
            <p:spPr bwMode="auto">
              <a:xfrm>
                <a:off x="7848600" y="2743200"/>
                <a:ext cx="762000" cy="3810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800">
                    <a:solidFill>
                      <a:schemeClr val="bg1"/>
                    </a:solidFill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15378" name="Rectangle 55"/>
              <p:cNvSpPr>
                <a:spLocks noChangeArrowheads="1"/>
              </p:cNvSpPr>
              <p:nvPr/>
            </p:nvSpPr>
            <p:spPr bwMode="auto">
              <a:xfrm>
                <a:off x="2819400" y="4038600"/>
                <a:ext cx="762000" cy="3810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800" dirty="0">
                    <a:solidFill>
                      <a:schemeClr val="bg1"/>
                    </a:solidFill>
                    <a:latin typeface="Times New Roman" pitchFamily="18" charset="0"/>
                  </a:rPr>
                  <a:t>D</a:t>
                </a:r>
              </a:p>
            </p:txBody>
          </p:sp>
          <p:sp>
            <p:nvSpPr>
              <p:cNvPr id="15381" name="Rectangle 58"/>
              <p:cNvSpPr>
                <a:spLocks noChangeArrowheads="1"/>
              </p:cNvSpPr>
              <p:nvPr/>
            </p:nvSpPr>
            <p:spPr bwMode="auto">
              <a:xfrm>
                <a:off x="4648200" y="4038600"/>
                <a:ext cx="762000" cy="3810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800">
                    <a:solidFill>
                      <a:schemeClr val="bg1"/>
                    </a:solidFill>
                    <a:latin typeface="Times New Roman" pitchFamily="18" charset="0"/>
                  </a:rPr>
                  <a:t>E</a:t>
                </a:r>
              </a:p>
            </p:txBody>
          </p:sp>
          <p:sp>
            <p:nvSpPr>
              <p:cNvPr id="15384" name="Rectangle 61"/>
              <p:cNvSpPr>
                <a:spLocks noChangeArrowheads="1"/>
              </p:cNvSpPr>
              <p:nvPr/>
            </p:nvSpPr>
            <p:spPr bwMode="auto">
              <a:xfrm>
                <a:off x="7010400" y="4038600"/>
                <a:ext cx="762000" cy="3810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800" dirty="0">
                    <a:solidFill>
                      <a:schemeClr val="bg1"/>
                    </a:solidFill>
                    <a:latin typeface="Times New Roman" pitchFamily="18" charset="0"/>
                  </a:rPr>
                  <a:t>F</a:t>
                </a:r>
              </a:p>
            </p:txBody>
          </p:sp>
          <p:sp>
            <p:nvSpPr>
              <p:cNvPr id="15390" name="Rectangle 67"/>
              <p:cNvSpPr>
                <a:spLocks noChangeArrowheads="1"/>
              </p:cNvSpPr>
              <p:nvPr/>
            </p:nvSpPr>
            <p:spPr bwMode="auto">
              <a:xfrm>
                <a:off x="3683000" y="5548524"/>
                <a:ext cx="762000" cy="3810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800" dirty="0">
                    <a:solidFill>
                      <a:schemeClr val="bg1"/>
                    </a:solidFill>
                    <a:latin typeface="Times New Roman" pitchFamily="18" charset="0"/>
                  </a:rPr>
                  <a:t>I</a:t>
                </a:r>
              </a:p>
            </p:txBody>
          </p:sp>
          <p:sp>
            <p:nvSpPr>
              <p:cNvPr id="15393" name="Line 70"/>
              <p:cNvSpPr>
                <a:spLocks noChangeShapeType="1"/>
              </p:cNvSpPr>
              <p:nvPr/>
            </p:nvSpPr>
            <p:spPr bwMode="auto">
              <a:xfrm flipH="1">
                <a:off x="4190999" y="1676401"/>
                <a:ext cx="1442205" cy="10667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4" name="Line 71"/>
              <p:cNvSpPr>
                <a:spLocks noChangeShapeType="1"/>
              </p:cNvSpPr>
              <p:nvPr/>
            </p:nvSpPr>
            <p:spPr bwMode="auto">
              <a:xfrm>
                <a:off x="6400800" y="1676401"/>
                <a:ext cx="1828800" cy="10667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5" name="Line 72"/>
              <p:cNvSpPr>
                <a:spLocks noChangeShapeType="1"/>
              </p:cNvSpPr>
              <p:nvPr/>
            </p:nvSpPr>
            <p:spPr bwMode="auto">
              <a:xfrm flipH="1">
                <a:off x="3200399" y="2970424"/>
                <a:ext cx="493295" cy="1068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6" name="Line 73"/>
              <p:cNvSpPr>
                <a:spLocks noChangeShapeType="1"/>
              </p:cNvSpPr>
              <p:nvPr/>
            </p:nvSpPr>
            <p:spPr bwMode="auto">
              <a:xfrm>
                <a:off x="4492124" y="3024188"/>
                <a:ext cx="537076" cy="10144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7" name="Line 74"/>
              <p:cNvSpPr>
                <a:spLocks noChangeShapeType="1"/>
              </p:cNvSpPr>
              <p:nvPr/>
            </p:nvSpPr>
            <p:spPr bwMode="auto">
              <a:xfrm flipH="1">
                <a:off x="2498224" y="4265614"/>
                <a:ext cx="357271" cy="13223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8" name="Line 75"/>
              <p:cNvSpPr>
                <a:spLocks noChangeShapeType="1"/>
              </p:cNvSpPr>
              <p:nvPr/>
            </p:nvSpPr>
            <p:spPr bwMode="auto">
              <a:xfrm flipH="1">
                <a:off x="7391400" y="2895601"/>
                <a:ext cx="457200" cy="11429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9" name="Line 76"/>
              <p:cNvSpPr>
                <a:spLocks noChangeShapeType="1"/>
              </p:cNvSpPr>
              <p:nvPr/>
            </p:nvSpPr>
            <p:spPr bwMode="auto">
              <a:xfrm flipH="1">
                <a:off x="5207000" y="4395577"/>
                <a:ext cx="203200" cy="11623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0" name="Rectangle 77"/>
              <p:cNvSpPr>
                <a:spLocks noChangeArrowheads="1"/>
              </p:cNvSpPr>
              <p:nvPr/>
            </p:nvSpPr>
            <p:spPr bwMode="auto">
              <a:xfrm>
                <a:off x="8915400" y="4038600"/>
                <a:ext cx="762000" cy="3810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800">
                    <a:solidFill>
                      <a:schemeClr val="bg1"/>
                    </a:solidFill>
                    <a:latin typeface="Times New Roman" pitchFamily="18" charset="0"/>
                  </a:rPr>
                  <a:t>G</a:t>
                </a:r>
              </a:p>
            </p:txBody>
          </p:sp>
          <p:sp>
            <p:nvSpPr>
              <p:cNvPr id="15403" name="Line 80"/>
              <p:cNvSpPr>
                <a:spLocks noChangeShapeType="1"/>
              </p:cNvSpPr>
              <p:nvPr/>
            </p:nvSpPr>
            <p:spPr bwMode="auto">
              <a:xfrm>
                <a:off x="8610600" y="2895601"/>
                <a:ext cx="685800" cy="11429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8" name="Text Box 88"/>
              <p:cNvSpPr txBox="1">
                <a:spLocks noChangeArrowheads="1"/>
              </p:cNvSpPr>
              <p:nvPr/>
            </p:nvSpPr>
            <p:spPr bwMode="auto">
              <a:xfrm>
                <a:off x="2193925" y="1920876"/>
                <a:ext cx="168668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sz="2400">
                    <a:solidFill>
                      <a:srgbClr val="0000CC"/>
                    </a:solidFill>
                    <a:latin typeface="Times New Roman" pitchFamily="18" charset="0"/>
                  </a:rPr>
                  <a:t>Cây con trái</a:t>
                </a:r>
              </a:p>
            </p:txBody>
          </p:sp>
          <p:sp>
            <p:nvSpPr>
              <p:cNvPr id="15409" name="Text Box 89"/>
              <p:cNvSpPr txBox="1">
                <a:spLocks noChangeArrowheads="1"/>
              </p:cNvSpPr>
              <p:nvPr/>
            </p:nvSpPr>
            <p:spPr bwMode="auto">
              <a:xfrm>
                <a:off x="8382001" y="1905001"/>
                <a:ext cx="1806905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sz="2400">
                    <a:solidFill>
                      <a:srgbClr val="0000CC"/>
                    </a:solidFill>
                    <a:latin typeface="Times New Roman" pitchFamily="18" charset="0"/>
                  </a:rPr>
                  <a:t>Cây con phải</a:t>
                </a:r>
              </a:p>
            </p:txBody>
          </p:sp>
          <p:sp>
            <p:nvSpPr>
              <p:cNvPr id="15410" name="Text Box 90"/>
              <p:cNvSpPr txBox="1">
                <a:spLocks noChangeArrowheads="1"/>
              </p:cNvSpPr>
              <p:nvPr/>
            </p:nvSpPr>
            <p:spPr bwMode="auto">
              <a:xfrm>
                <a:off x="1524001" y="2628901"/>
                <a:ext cx="809625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>
                    <a:solidFill>
                      <a:srgbClr val="CC00CC"/>
                    </a:solidFill>
                    <a:latin typeface="Times New Roman" pitchFamily="18" charset="0"/>
                  </a:rPr>
                  <a:t>Mức 1</a:t>
                </a:r>
              </a:p>
            </p:txBody>
          </p:sp>
          <p:sp>
            <p:nvSpPr>
              <p:cNvPr id="15411" name="Text Box 91"/>
              <p:cNvSpPr txBox="1">
                <a:spLocks noChangeArrowheads="1"/>
              </p:cNvSpPr>
              <p:nvPr/>
            </p:nvSpPr>
            <p:spPr bwMode="auto">
              <a:xfrm>
                <a:off x="1524001" y="3898901"/>
                <a:ext cx="809625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>
                    <a:solidFill>
                      <a:srgbClr val="CC00CC"/>
                    </a:solidFill>
                    <a:latin typeface="Times New Roman" pitchFamily="18" charset="0"/>
                  </a:rPr>
                  <a:t>Mức 2</a:t>
                </a:r>
              </a:p>
            </p:txBody>
          </p:sp>
          <p:sp>
            <p:nvSpPr>
              <p:cNvPr id="15412" name="Text Box 92"/>
              <p:cNvSpPr txBox="1">
                <a:spLocks noChangeArrowheads="1"/>
              </p:cNvSpPr>
              <p:nvPr/>
            </p:nvSpPr>
            <p:spPr bwMode="auto">
              <a:xfrm>
                <a:off x="1524001" y="5194301"/>
                <a:ext cx="809625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>
                    <a:solidFill>
                      <a:srgbClr val="CC00CC"/>
                    </a:solidFill>
                    <a:latin typeface="Times New Roman" pitchFamily="18" charset="0"/>
                  </a:rPr>
                  <a:t>Mức 3</a:t>
                </a:r>
              </a:p>
            </p:txBody>
          </p:sp>
          <p:sp>
            <p:nvSpPr>
              <p:cNvPr id="15413" name="Text Box 94"/>
              <p:cNvSpPr txBox="1">
                <a:spLocks noChangeArrowheads="1"/>
              </p:cNvSpPr>
              <p:nvPr/>
            </p:nvSpPr>
            <p:spPr bwMode="auto">
              <a:xfrm>
                <a:off x="1524001" y="1385888"/>
                <a:ext cx="809625" cy="3667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>
                    <a:solidFill>
                      <a:srgbClr val="CC00CC"/>
                    </a:solidFill>
                    <a:latin typeface="Times New Roman" pitchFamily="18" charset="0"/>
                  </a:rPr>
                  <a:t>Mức 0</a:t>
                </a:r>
              </a:p>
            </p:txBody>
          </p:sp>
          <p:sp>
            <p:nvSpPr>
              <p:cNvPr id="52" name="Line 73"/>
              <p:cNvSpPr>
                <a:spLocks noChangeShapeType="1"/>
              </p:cNvSpPr>
              <p:nvPr/>
            </p:nvSpPr>
            <p:spPr bwMode="auto">
              <a:xfrm>
                <a:off x="3617495" y="4265614"/>
                <a:ext cx="457200" cy="12468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Rectangle 67"/>
              <p:cNvSpPr>
                <a:spLocks noChangeArrowheads="1"/>
              </p:cNvSpPr>
              <p:nvPr/>
            </p:nvSpPr>
            <p:spPr bwMode="auto">
              <a:xfrm>
                <a:off x="2193925" y="5524500"/>
                <a:ext cx="762000" cy="3810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800" dirty="0" smtClean="0">
                    <a:solidFill>
                      <a:schemeClr val="bg1"/>
                    </a:solidFill>
                    <a:latin typeface="Times New Roman" pitchFamily="18" charset="0"/>
                  </a:rPr>
                  <a:t>H</a:t>
                </a:r>
                <a:endParaRPr lang="en-US" sz="2800" dirty="0">
                  <a:solidFill>
                    <a:schemeClr val="bg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54" name="Rectangle 67"/>
              <p:cNvSpPr>
                <a:spLocks noChangeArrowheads="1"/>
              </p:cNvSpPr>
              <p:nvPr/>
            </p:nvSpPr>
            <p:spPr bwMode="auto">
              <a:xfrm>
                <a:off x="5073016" y="5548524"/>
                <a:ext cx="762000" cy="3810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800" dirty="0" smtClean="0">
                    <a:solidFill>
                      <a:schemeClr val="bg1"/>
                    </a:solidFill>
                    <a:latin typeface="Times New Roman" pitchFamily="18" charset="0"/>
                  </a:rPr>
                  <a:t>J</a:t>
                </a:r>
                <a:endParaRPr lang="en-US" sz="2800" dirty="0">
                  <a:solidFill>
                    <a:schemeClr val="bg1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5" name="TextBox 4"/>
            <p:cNvSpPr txBox="1"/>
            <p:nvPr/>
          </p:nvSpPr>
          <p:spPr>
            <a:xfrm>
              <a:off x="5448299" y="1140040"/>
              <a:ext cx="8381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smtClean="0"/>
                <a:t>150</a:t>
              </a:r>
              <a:endParaRPr lang="en-US" sz="2400" b="1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010399" y="3647672"/>
              <a:ext cx="8381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smtClean="0"/>
                <a:t>130</a:t>
              </a:r>
              <a:endParaRPr lang="en-US" sz="2400" b="1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711909" y="2343364"/>
              <a:ext cx="8381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smtClean="0"/>
                <a:t>210</a:t>
              </a:r>
              <a:endParaRPr lang="en-US" sz="2400" b="1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608095" y="3628056"/>
              <a:ext cx="8381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/>
                <a:t>6</a:t>
              </a:r>
              <a:r>
                <a:rPr lang="en-US" sz="2400" b="1" smtClean="0"/>
                <a:t>0</a:t>
              </a:r>
              <a:endParaRPr lang="en-US" sz="2400" b="1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619499" y="5137224"/>
              <a:ext cx="8381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smtClean="0"/>
                <a:t>10</a:t>
              </a:r>
              <a:endParaRPr lang="en-US" sz="2400" b="1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171699" y="5093182"/>
              <a:ext cx="8381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smtClean="0"/>
                <a:t>400</a:t>
              </a:r>
              <a:endParaRPr lang="en-US" sz="2400" b="1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065660" y="5167301"/>
              <a:ext cx="8381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smtClean="0"/>
                <a:t>100</a:t>
              </a:r>
              <a:endParaRPr lang="en-US" sz="2400" b="1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941982" y="3717537"/>
              <a:ext cx="8381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smtClean="0"/>
                <a:t>330</a:t>
              </a:r>
              <a:endParaRPr lang="en-US" sz="2400" b="1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868290" y="2369856"/>
              <a:ext cx="8381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smtClean="0"/>
                <a:t>200</a:t>
              </a:r>
              <a:endParaRPr lang="en-US" sz="2400" b="1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837447" y="3627730"/>
              <a:ext cx="8381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smtClean="0"/>
                <a:t>50</a:t>
              </a:r>
              <a:endParaRPr lang="en-US" sz="2400" b="1"/>
            </a:p>
          </p:txBody>
        </p:sp>
      </p:grpSp>
    </p:spTree>
    <p:extLst>
      <p:ext uri="{BB962C8B-B14F-4D97-AF65-F5344CB8AC3E}">
        <p14:creationId xmlns:p14="http://schemas.microsoft.com/office/powerpoint/2010/main" val="42370211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552366"/>
            <a:ext cx="10642600" cy="703747"/>
          </a:xfrm>
        </p:spPr>
        <p:txBody>
          <a:bodyPr/>
          <a:lstStyle/>
          <a:p>
            <a:r>
              <a:rPr lang="en-US" dirty="0" err="1"/>
              <a:t>Duyệt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chiều</a:t>
            </a:r>
            <a:r>
              <a:rPr lang="en-US" dirty="0"/>
              <a:t> </a:t>
            </a:r>
            <a:r>
              <a:rPr lang="en-US" dirty="0" err="1"/>
              <a:t>rộng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700" y="1444436"/>
            <a:ext cx="10642600" cy="292813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vi-VN" sz="3200" b="1" dirty="0"/>
              <a:t>Bước 2</a:t>
            </a:r>
            <a:r>
              <a:rPr lang="vi-VN" sz="3200" dirty="0"/>
              <a:t>: Kiểm </a:t>
            </a:r>
            <a:r>
              <a:rPr lang="vi-VN" sz="3200"/>
              <a:t>tra </a:t>
            </a:r>
            <a:r>
              <a:rPr lang="vi-VN" sz="3200" smtClean="0"/>
              <a:t>queue, queue </a:t>
            </a:r>
            <a:r>
              <a:rPr lang="vi-VN" sz="3200"/>
              <a:t>không </a:t>
            </a:r>
            <a:r>
              <a:rPr lang="vi-VN" sz="3200" smtClean="0"/>
              <a:t>rỗng, </a:t>
            </a:r>
            <a:r>
              <a:rPr lang="vi-VN" sz="3200" dirty="0"/>
              <a:t>lấy (dequeue) phần tử đầu tiên (A) ra khỏi </a:t>
            </a:r>
            <a:r>
              <a:rPr lang="vi-VN" sz="3200" dirty="0" smtClean="0"/>
              <a:t>queue</a:t>
            </a:r>
            <a:r>
              <a:rPr lang="en-US" sz="3200" dirty="0" smtClean="0"/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vi-VN" sz="3200" dirty="0" smtClean="0"/>
              <a:t> </a:t>
            </a:r>
            <a:r>
              <a:rPr lang="vi-VN" sz="3200" dirty="0"/>
              <a:t>Phần tử này chuyển về </a:t>
            </a:r>
            <a:r>
              <a:rPr lang="vi-VN" sz="3200" dirty="0" smtClean="0"/>
              <a:t>tr</a:t>
            </a:r>
            <a:r>
              <a:rPr lang="en-US" sz="3200" dirty="0" err="1" smtClean="0"/>
              <a:t>ạn</a:t>
            </a:r>
            <a:r>
              <a:rPr lang="vi-VN" sz="3200" dirty="0" smtClean="0"/>
              <a:t>g thá</a:t>
            </a:r>
            <a:r>
              <a:rPr lang="en-US" sz="3200" err="1" smtClean="0"/>
              <a:t>i</a:t>
            </a:r>
            <a:r>
              <a:rPr lang="vi-VN" sz="3200" smtClean="0"/>
              <a:t> đã duyệt. </a:t>
            </a:r>
            <a:r>
              <a:rPr lang="vi-VN" sz="3200"/>
              <a:t>Enqueue </a:t>
            </a:r>
            <a:r>
              <a:rPr lang="vi-VN" sz="3200" smtClean="0"/>
              <a:t>các</a:t>
            </a:r>
            <a:r>
              <a:rPr lang="en-US" sz="3200" smtClean="0"/>
              <a:t> </a:t>
            </a:r>
            <a:r>
              <a:rPr lang="vi-VN" sz="3200" smtClean="0"/>
              <a:t>con </a:t>
            </a:r>
            <a:r>
              <a:rPr lang="vi-VN" sz="3200"/>
              <a:t>(</a:t>
            </a:r>
            <a:r>
              <a:rPr lang="vi-VN" sz="3200" smtClean="0"/>
              <a:t>B,</a:t>
            </a:r>
            <a:r>
              <a:rPr lang="en-US" sz="3200" smtClean="0"/>
              <a:t> </a:t>
            </a:r>
            <a:r>
              <a:rPr lang="vi-VN" sz="3200" smtClean="0"/>
              <a:t>C</a:t>
            </a:r>
            <a:r>
              <a:rPr lang="vi-VN" sz="3200" dirty="0"/>
              <a:t>) </a:t>
            </a:r>
            <a:r>
              <a:rPr lang="vi-VN" sz="3200"/>
              <a:t>của </a:t>
            </a:r>
            <a:r>
              <a:rPr lang="vi-VN" sz="3200" smtClean="0"/>
              <a:t>phần</a:t>
            </a:r>
            <a:r>
              <a:rPr lang="en-US" sz="3200" smtClean="0"/>
              <a:t> </a:t>
            </a:r>
            <a:r>
              <a:rPr lang="vi-VN" sz="3200" smtClean="0"/>
              <a:t>tử </a:t>
            </a:r>
            <a:r>
              <a:rPr lang="vi-VN" sz="3200" dirty="0"/>
              <a:t>vửa dequeue (A) vào bf_queue. In ra </a:t>
            </a:r>
            <a:r>
              <a:rPr lang="vi-VN" sz="3200"/>
              <a:t>dữ </a:t>
            </a:r>
            <a:r>
              <a:rPr lang="vi-VN" sz="3200" smtClean="0"/>
              <a:t>liệu </a:t>
            </a:r>
            <a:r>
              <a:rPr lang="vi-VN" sz="3200" dirty="0"/>
              <a:t>của node A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115</a:t>
            </a:fld>
            <a:endParaRPr lang="en-US"/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l="47564" t="56908" r="24640" b="20874"/>
          <a:stretch/>
        </p:blipFill>
        <p:spPr bwMode="auto">
          <a:xfrm>
            <a:off x="3678149" y="4372571"/>
            <a:ext cx="5332287" cy="184934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96328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388738"/>
            <a:ext cx="10541000" cy="72186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dirty="0" err="1"/>
              <a:t>Duyệt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chiều</a:t>
            </a:r>
            <a:r>
              <a:rPr lang="en-US" dirty="0"/>
              <a:t> </a:t>
            </a:r>
            <a:r>
              <a:rPr lang="en-US" dirty="0" err="1"/>
              <a:t>rộng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688388" y="974706"/>
            <a:ext cx="9143999" cy="4543636"/>
            <a:chOff x="1524001" y="1385888"/>
            <a:chExt cx="9143999" cy="4543636"/>
          </a:xfrm>
        </p:grpSpPr>
        <p:sp>
          <p:nvSpPr>
            <p:cNvPr id="15364" name="Line 93"/>
            <p:cNvSpPr>
              <a:spLocks noChangeShapeType="1"/>
            </p:cNvSpPr>
            <p:nvPr/>
          </p:nvSpPr>
          <p:spPr bwMode="auto">
            <a:xfrm>
              <a:off x="1828800" y="1728788"/>
              <a:ext cx="8839200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5" name="Line 83"/>
            <p:cNvSpPr>
              <a:spLocks noChangeShapeType="1"/>
            </p:cNvSpPr>
            <p:nvPr/>
          </p:nvSpPr>
          <p:spPr bwMode="auto">
            <a:xfrm>
              <a:off x="1828800" y="5511799"/>
              <a:ext cx="8839200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6" name="Line 82"/>
            <p:cNvSpPr>
              <a:spLocks noChangeShapeType="1"/>
            </p:cNvSpPr>
            <p:nvPr/>
          </p:nvSpPr>
          <p:spPr bwMode="auto">
            <a:xfrm>
              <a:off x="1828800" y="4229100"/>
              <a:ext cx="8839200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7" name="Line 81"/>
            <p:cNvSpPr>
              <a:spLocks noChangeShapeType="1"/>
            </p:cNvSpPr>
            <p:nvPr/>
          </p:nvSpPr>
          <p:spPr bwMode="auto">
            <a:xfrm>
              <a:off x="1828800" y="2946400"/>
              <a:ext cx="8839200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9" name="Rectangle 4"/>
            <p:cNvSpPr>
              <a:spLocks noChangeArrowheads="1"/>
            </p:cNvSpPr>
            <p:nvPr/>
          </p:nvSpPr>
          <p:spPr bwMode="auto">
            <a:xfrm>
              <a:off x="5638800" y="1524000"/>
              <a:ext cx="762000" cy="3810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>
                  <a:solidFill>
                    <a:schemeClr val="bg1"/>
                  </a:solidFill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15372" name="Rectangle 49"/>
            <p:cNvSpPr>
              <a:spLocks noChangeArrowheads="1"/>
            </p:cNvSpPr>
            <p:nvPr/>
          </p:nvSpPr>
          <p:spPr bwMode="auto">
            <a:xfrm>
              <a:off x="3733800" y="2743200"/>
              <a:ext cx="762000" cy="381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>
                  <a:solidFill>
                    <a:schemeClr val="bg1"/>
                  </a:solidFill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5375" name="Rectangle 52"/>
            <p:cNvSpPr>
              <a:spLocks noChangeArrowheads="1"/>
            </p:cNvSpPr>
            <p:nvPr/>
          </p:nvSpPr>
          <p:spPr bwMode="auto">
            <a:xfrm>
              <a:off x="7848600" y="2743200"/>
              <a:ext cx="762000" cy="381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15378" name="Rectangle 55"/>
            <p:cNvSpPr>
              <a:spLocks noChangeArrowheads="1"/>
            </p:cNvSpPr>
            <p:nvPr/>
          </p:nvSpPr>
          <p:spPr bwMode="auto">
            <a:xfrm>
              <a:off x="2819400" y="4038600"/>
              <a:ext cx="7620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15381" name="Rectangle 58"/>
            <p:cNvSpPr>
              <a:spLocks noChangeArrowheads="1"/>
            </p:cNvSpPr>
            <p:nvPr/>
          </p:nvSpPr>
          <p:spPr bwMode="auto">
            <a:xfrm>
              <a:off x="4648200" y="4038600"/>
              <a:ext cx="7620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>
                  <a:solidFill>
                    <a:schemeClr val="bg1"/>
                  </a:solidFill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15384" name="Rectangle 61"/>
            <p:cNvSpPr>
              <a:spLocks noChangeArrowheads="1"/>
            </p:cNvSpPr>
            <p:nvPr/>
          </p:nvSpPr>
          <p:spPr bwMode="auto">
            <a:xfrm>
              <a:off x="7010400" y="4038600"/>
              <a:ext cx="7620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15390" name="Rectangle 67"/>
            <p:cNvSpPr>
              <a:spLocks noChangeArrowheads="1"/>
            </p:cNvSpPr>
            <p:nvPr/>
          </p:nvSpPr>
          <p:spPr bwMode="auto">
            <a:xfrm>
              <a:off x="3683000" y="5548524"/>
              <a:ext cx="7620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15393" name="Line 70"/>
            <p:cNvSpPr>
              <a:spLocks noChangeShapeType="1"/>
            </p:cNvSpPr>
            <p:nvPr/>
          </p:nvSpPr>
          <p:spPr bwMode="auto">
            <a:xfrm flipH="1">
              <a:off x="4190999" y="1676401"/>
              <a:ext cx="1442205" cy="10667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4" name="Line 71"/>
            <p:cNvSpPr>
              <a:spLocks noChangeShapeType="1"/>
            </p:cNvSpPr>
            <p:nvPr/>
          </p:nvSpPr>
          <p:spPr bwMode="auto">
            <a:xfrm>
              <a:off x="6400800" y="1676401"/>
              <a:ext cx="1828800" cy="10667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5" name="Line 72"/>
            <p:cNvSpPr>
              <a:spLocks noChangeShapeType="1"/>
            </p:cNvSpPr>
            <p:nvPr/>
          </p:nvSpPr>
          <p:spPr bwMode="auto">
            <a:xfrm flipH="1">
              <a:off x="3200399" y="2970424"/>
              <a:ext cx="493295" cy="1068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6" name="Line 73"/>
            <p:cNvSpPr>
              <a:spLocks noChangeShapeType="1"/>
            </p:cNvSpPr>
            <p:nvPr/>
          </p:nvSpPr>
          <p:spPr bwMode="auto">
            <a:xfrm>
              <a:off x="4492124" y="3024188"/>
              <a:ext cx="537076" cy="10144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7" name="Line 74"/>
            <p:cNvSpPr>
              <a:spLocks noChangeShapeType="1"/>
            </p:cNvSpPr>
            <p:nvPr/>
          </p:nvSpPr>
          <p:spPr bwMode="auto">
            <a:xfrm flipH="1">
              <a:off x="2498224" y="4265614"/>
              <a:ext cx="357271" cy="13223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8" name="Line 75"/>
            <p:cNvSpPr>
              <a:spLocks noChangeShapeType="1"/>
            </p:cNvSpPr>
            <p:nvPr/>
          </p:nvSpPr>
          <p:spPr bwMode="auto">
            <a:xfrm flipH="1">
              <a:off x="7391400" y="2895601"/>
              <a:ext cx="457200" cy="11429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9" name="Line 76"/>
            <p:cNvSpPr>
              <a:spLocks noChangeShapeType="1"/>
            </p:cNvSpPr>
            <p:nvPr/>
          </p:nvSpPr>
          <p:spPr bwMode="auto">
            <a:xfrm flipH="1">
              <a:off x="5207000" y="4395577"/>
              <a:ext cx="203200" cy="1162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0" name="Rectangle 77"/>
            <p:cNvSpPr>
              <a:spLocks noChangeArrowheads="1"/>
            </p:cNvSpPr>
            <p:nvPr/>
          </p:nvSpPr>
          <p:spPr bwMode="auto">
            <a:xfrm>
              <a:off x="8915400" y="4038600"/>
              <a:ext cx="7620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>
                  <a:solidFill>
                    <a:schemeClr val="bg1"/>
                  </a:solidFill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15403" name="Line 80"/>
            <p:cNvSpPr>
              <a:spLocks noChangeShapeType="1"/>
            </p:cNvSpPr>
            <p:nvPr/>
          </p:nvSpPr>
          <p:spPr bwMode="auto">
            <a:xfrm>
              <a:off x="8610600" y="2895601"/>
              <a:ext cx="685800" cy="11429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8" name="Text Box 88"/>
            <p:cNvSpPr txBox="1">
              <a:spLocks noChangeArrowheads="1"/>
            </p:cNvSpPr>
            <p:nvPr/>
          </p:nvSpPr>
          <p:spPr bwMode="auto">
            <a:xfrm>
              <a:off x="2193925" y="1920876"/>
              <a:ext cx="168668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sz="2400">
                  <a:solidFill>
                    <a:srgbClr val="0000CC"/>
                  </a:solidFill>
                  <a:latin typeface="Times New Roman" pitchFamily="18" charset="0"/>
                </a:rPr>
                <a:t>Cây con trái</a:t>
              </a:r>
            </a:p>
          </p:txBody>
        </p:sp>
        <p:sp>
          <p:nvSpPr>
            <p:cNvPr id="15409" name="Text Box 89"/>
            <p:cNvSpPr txBox="1">
              <a:spLocks noChangeArrowheads="1"/>
            </p:cNvSpPr>
            <p:nvPr/>
          </p:nvSpPr>
          <p:spPr bwMode="auto">
            <a:xfrm>
              <a:off x="8382001" y="1905001"/>
              <a:ext cx="180690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sz="2400">
                  <a:solidFill>
                    <a:srgbClr val="0000CC"/>
                  </a:solidFill>
                  <a:latin typeface="Times New Roman" pitchFamily="18" charset="0"/>
                </a:rPr>
                <a:t>Cây con phải</a:t>
              </a:r>
            </a:p>
          </p:txBody>
        </p:sp>
        <p:sp>
          <p:nvSpPr>
            <p:cNvPr id="15410" name="Text Box 90"/>
            <p:cNvSpPr txBox="1">
              <a:spLocks noChangeArrowheads="1"/>
            </p:cNvSpPr>
            <p:nvPr/>
          </p:nvSpPr>
          <p:spPr bwMode="auto">
            <a:xfrm>
              <a:off x="1524001" y="2628901"/>
              <a:ext cx="809625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>
                  <a:solidFill>
                    <a:srgbClr val="CC00CC"/>
                  </a:solidFill>
                  <a:latin typeface="Times New Roman" pitchFamily="18" charset="0"/>
                </a:rPr>
                <a:t>Mức 1</a:t>
              </a:r>
            </a:p>
          </p:txBody>
        </p:sp>
        <p:sp>
          <p:nvSpPr>
            <p:cNvPr id="15411" name="Text Box 91"/>
            <p:cNvSpPr txBox="1">
              <a:spLocks noChangeArrowheads="1"/>
            </p:cNvSpPr>
            <p:nvPr/>
          </p:nvSpPr>
          <p:spPr bwMode="auto">
            <a:xfrm>
              <a:off x="1524001" y="3898901"/>
              <a:ext cx="809625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>
                  <a:solidFill>
                    <a:srgbClr val="CC00CC"/>
                  </a:solidFill>
                  <a:latin typeface="Times New Roman" pitchFamily="18" charset="0"/>
                </a:rPr>
                <a:t>Mức 2</a:t>
              </a:r>
            </a:p>
          </p:txBody>
        </p:sp>
        <p:sp>
          <p:nvSpPr>
            <p:cNvPr id="15412" name="Text Box 92"/>
            <p:cNvSpPr txBox="1">
              <a:spLocks noChangeArrowheads="1"/>
            </p:cNvSpPr>
            <p:nvPr/>
          </p:nvSpPr>
          <p:spPr bwMode="auto">
            <a:xfrm>
              <a:off x="1524001" y="5181600"/>
              <a:ext cx="809625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>
                  <a:solidFill>
                    <a:srgbClr val="CC00CC"/>
                  </a:solidFill>
                  <a:latin typeface="Times New Roman" pitchFamily="18" charset="0"/>
                </a:rPr>
                <a:t>Mức 3</a:t>
              </a:r>
            </a:p>
          </p:txBody>
        </p:sp>
        <p:sp>
          <p:nvSpPr>
            <p:cNvPr id="15413" name="Text Box 94"/>
            <p:cNvSpPr txBox="1">
              <a:spLocks noChangeArrowheads="1"/>
            </p:cNvSpPr>
            <p:nvPr/>
          </p:nvSpPr>
          <p:spPr bwMode="auto">
            <a:xfrm>
              <a:off x="1524001" y="1385888"/>
              <a:ext cx="809625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>
                  <a:solidFill>
                    <a:srgbClr val="CC00CC"/>
                  </a:solidFill>
                  <a:latin typeface="Times New Roman" pitchFamily="18" charset="0"/>
                </a:rPr>
                <a:t>Mức 0</a:t>
              </a:r>
            </a:p>
          </p:txBody>
        </p:sp>
        <p:sp>
          <p:nvSpPr>
            <p:cNvPr id="52" name="Line 73"/>
            <p:cNvSpPr>
              <a:spLocks noChangeShapeType="1"/>
            </p:cNvSpPr>
            <p:nvPr/>
          </p:nvSpPr>
          <p:spPr bwMode="auto">
            <a:xfrm>
              <a:off x="3617495" y="4265614"/>
              <a:ext cx="457200" cy="1246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Rectangle 67"/>
            <p:cNvSpPr>
              <a:spLocks noChangeArrowheads="1"/>
            </p:cNvSpPr>
            <p:nvPr/>
          </p:nvSpPr>
          <p:spPr bwMode="auto">
            <a:xfrm>
              <a:off x="2193925" y="5524500"/>
              <a:ext cx="7620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 smtClean="0">
                  <a:solidFill>
                    <a:schemeClr val="bg1"/>
                  </a:solidFill>
                  <a:latin typeface="Times New Roman" pitchFamily="18" charset="0"/>
                </a:rPr>
                <a:t>H</a:t>
              </a:r>
              <a:endParaRPr lang="en-US" sz="28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54" name="Rectangle 67"/>
            <p:cNvSpPr>
              <a:spLocks noChangeArrowheads="1"/>
            </p:cNvSpPr>
            <p:nvPr/>
          </p:nvSpPr>
          <p:spPr bwMode="auto">
            <a:xfrm>
              <a:off x="5073016" y="5548524"/>
              <a:ext cx="7620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 smtClean="0">
                  <a:solidFill>
                    <a:schemeClr val="bg1"/>
                  </a:solidFill>
                  <a:latin typeface="Times New Roman" pitchFamily="18" charset="0"/>
                </a:rPr>
                <a:t>J</a:t>
              </a:r>
              <a:endParaRPr lang="en-US" sz="28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116</a:t>
            </a:fld>
            <a:endParaRPr lang="en-US"/>
          </a:p>
        </p:txBody>
      </p:sp>
      <p:pic>
        <p:nvPicPr>
          <p:cNvPr id="35" name="Picture 34"/>
          <p:cNvPicPr/>
          <p:nvPr/>
        </p:nvPicPr>
        <p:blipFill rotWithShape="1">
          <a:blip r:embed="rId2"/>
          <a:srcRect l="47564" t="56908" r="24640" b="20874"/>
          <a:stretch/>
        </p:blipFill>
        <p:spPr bwMode="auto">
          <a:xfrm>
            <a:off x="6565187" y="5192333"/>
            <a:ext cx="4541177" cy="143995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145305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494618"/>
            <a:ext cx="10642600" cy="703747"/>
          </a:xfrm>
        </p:spPr>
        <p:txBody>
          <a:bodyPr/>
          <a:lstStyle/>
          <a:p>
            <a:r>
              <a:rPr lang="en-US" dirty="0" err="1"/>
              <a:t>Duyệt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chiều</a:t>
            </a:r>
            <a:r>
              <a:rPr lang="en-US" dirty="0"/>
              <a:t> </a:t>
            </a:r>
            <a:r>
              <a:rPr lang="en-US" dirty="0" err="1"/>
              <a:t>rộng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700" y="1376414"/>
            <a:ext cx="10642600" cy="359595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vi-VN" sz="3200" b="1" dirty="0"/>
              <a:t>Bước 3</a:t>
            </a:r>
            <a:r>
              <a:rPr lang="vi-VN" sz="3200" dirty="0"/>
              <a:t>: Kiểm </a:t>
            </a:r>
            <a:r>
              <a:rPr lang="vi-VN" sz="3200"/>
              <a:t>tra </a:t>
            </a:r>
            <a:r>
              <a:rPr lang="vi-VN" sz="3200" smtClean="0"/>
              <a:t>queue, </a:t>
            </a:r>
            <a:r>
              <a:rPr lang="vi-VN" sz="3200" dirty="0"/>
              <a:t>queue </a:t>
            </a:r>
            <a:r>
              <a:rPr lang="vi-VN" sz="3200"/>
              <a:t>không </a:t>
            </a:r>
            <a:r>
              <a:rPr lang="vi-VN" sz="3200" smtClean="0"/>
              <a:t>rỗng,  </a:t>
            </a:r>
            <a:r>
              <a:rPr lang="vi-VN" sz="3200" dirty="0"/>
              <a:t>lấy phần tử đầu tiên (B) ra khỏi queue. </a:t>
            </a:r>
            <a:endParaRPr lang="en-US" sz="3200" dirty="0" smtClean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vi-VN" sz="3200" dirty="0" smtClean="0"/>
              <a:t>Phần </a:t>
            </a:r>
            <a:r>
              <a:rPr lang="vi-VN" sz="3200" dirty="0"/>
              <a:t>tử này chuyển </a:t>
            </a:r>
            <a:r>
              <a:rPr lang="vi-VN" sz="3200"/>
              <a:t>sang </a:t>
            </a:r>
            <a:r>
              <a:rPr lang="vi-VN" sz="3200" smtClean="0"/>
              <a:t>trạng thái đã duyệt. </a:t>
            </a:r>
            <a:r>
              <a:rPr lang="vi-VN" sz="3200" dirty="0"/>
              <a:t>Enqueue các con </a:t>
            </a:r>
            <a:r>
              <a:rPr lang="vi-VN" sz="3200"/>
              <a:t>(</a:t>
            </a:r>
            <a:r>
              <a:rPr lang="vi-VN" sz="3200" smtClean="0"/>
              <a:t>D, </a:t>
            </a:r>
            <a:r>
              <a:rPr lang="vi-VN" sz="3200" dirty="0"/>
              <a:t>E) của phần tử vừa được dequeue (B) vào bf_queue. </a:t>
            </a:r>
            <a:endParaRPr lang="en-US" sz="3200" dirty="0" smtClean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vi-VN" sz="3200" dirty="0" smtClean="0"/>
              <a:t>In </a:t>
            </a:r>
            <a:r>
              <a:rPr lang="vi-VN" sz="3200" dirty="0"/>
              <a:t>ra </a:t>
            </a:r>
            <a:r>
              <a:rPr lang="vi-VN" sz="3200"/>
              <a:t>dữ </a:t>
            </a:r>
            <a:r>
              <a:rPr lang="vi-VN" sz="3200" smtClean="0"/>
              <a:t>liệu </a:t>
            </a:r>
            <a:r>
              <a:rPr lang="vi-VN" sz="3200" dirty="0"/>
              <a:t>node B.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117</a:t>
            </a:fld>
            <a:endParaRPr lang="en-US"/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l="48875" t="59097" r="27437" b="18972"/>
          <a:stretch/>
        </p:blipFill>
        <p:spPr bwMode="auto">
          <a:xfrm>
            <a:off x="3706997" y="4638035"/>
            <a:ext cx="6115097" cy="202956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31667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513864"/>
            <a:ext cx="10541000" cy="72186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dirty="0" err="1"/>
              <a:t>Duyệt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chiều</a:t>
            </a:r>
            <a:r>
              <a:rPr lang="en-US" dirty="0"/>
              <a:t> </a:t>
            </a:r>
            <a:r>
              <a:rPr lang="en-US" dirty="0" err="1"/>
              <a:t>rộng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352747" y="1127409"/>
            <a:ext cx="9143999" cy="4543636"/>
            <a:chOff x="1524001" y="1385888"/>
            <a:chExt cx="9143999" cy="4543636"/>
          </a:xfrm>
        </p:grpSpPr>
        <p:sp>
          <p:nvSpPr>
            <p:cNvPr id="15364" name="Line 93"/>
            <p:cNvSpPr>
              <a:spLocks noChangeShapeType="1"/>
            </p:cNvSpPr>
            <p:nvPr/>
          </p:nvSpPr>
          <p:spPr bwMode="auto">
            <a:xfrm>
              <a:off x="1828800" y="1728788"/>
              <a:ext cx="8839200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5" name="Line 83"/>
            <p:cNvSpPr>
              <a:spLocks noChangeShapeType="1"/>
            </p:cNvSpPr>
            <p:nvPr/>
          </p:nvSpPr>
          <p:spPr bwMode="auto">
            <a:xfrm>
              <a:off x="1828800" y="5524500"/>
              <a:ext cx="8839200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6" name="Line 82"/>
            <p:cNvSpPr>
              <a:spLocks noChangeShapeType="1"/>
            </p:cNvSpPr>
            <p:nvPr/>
          </p:nvSpPr>
          <p:spPr bwMode="auto">
            <a:xfrm>
              <a:off x="1828800" y="4229100"/>
              <a:ext cx="8839200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7" name="Line 81"/>
            <p:cNvSpPr>
              <a:spLocks noChangeShapeType="1"/>
            </p:cNvSpPr>
            <p:nvPr/>
          </p:nvSpPr>
          <p:spPr bwMode="auto">
            <a:xfrm>
              <a:off x="1828800" y="2946400"/>
              <a:ext cx="8839200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9" name="Rectangle 4"/>
            <p:cNvSpPr>
              <a:spLocks noChangeArrowheads="1"/>
            </p:cNvSpPr>
            <p:nvPr/>
          </p:nvSpPr>
          <p:spPr bwMode="auto">
            <a:xfrm>
              <a:off x="5638800" y="1524000"/>
              <a:ext cx="762000" cy="3810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>
                  <a:solidFill>
                    <a:schemeClr val="bg1"/>
                  </a:solidFill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15372" name="Rectangle 49"/>
            <p:cNvSpPr>
              <a:spLocks noChangeArrowheads="1"/>
            </p:cNvSpPr>
            <p:nvPr/>
          </p:nvSpPr>
          <p:spPr bwMode="auto">
            <a:xfrm>
              <a:off x="3733800" y="2743200"/>
              <a:ext cx="762000" cy="3810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5375" name="Rectangle 52"/>
            <p:cNvSpPr>
              <a:spLocks noChangeArrowheads="1"/>
            </p:cNvSpPr>
            <p:nvPr/>
          </p:nvSpPr>
          <p:spPr bwMode="auto">
            <a:xfrm>
              <a:off x="7848600" y="2743200"/>
              <a:ext cx="762000" cy="381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15378" name="Rectangle 55"/>
            <p:cNvSpPr>
              <a:spLocks noChangeArrowheads="1"/>
            </p:cNvSpPr>
            <p:nvPr/>
          </p:nvSpPr>
          <p:spPr bwMode="auto">
            <a:xfrm>
              <a:off x="2819400" y="4038600"/>
              <a:ext cx="762000" cy="381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15381" name="Rectangle 58"/>
            <p:cNvSpPr>
              <a:spLocks noChangeArrowheads="1"/>
            </p:cNvSpPr>
            <p:nvPr/>
          </p:nvSpPr>
          <p:spPr bwMode="auto">
            <a:xfrm>
              <a:off x="4648200" y="4038600"/>
              <a:ext cx="762000" cy="381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>
                  <a:solidFill>
                    <a:schemeClr val="bg1"/>
                  </a:solidFill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15384" name="Rectangle 61"/>
            <p:cNvSpPr>
              <a:spLocks noChangeArrowheads="1"/>
            </p:cNvSpPr>
            <p:nvPr/>
          </p:nvSpPr>
          <p:spPr bwMode="auto">
            <a:xfrm>
              <a:off x="7010400" y="4038600"/>
              <a:ext cx="7620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15390" name="Rectangle 67"/>
            <p:cNvSpPr>
              <a:spLocks noChangeArrowheads="1"/>
            </p:cNvSpPr>
            <p:nvPr/>
          </p:nvSpPr>
          <p:spPr bwMode="auto">
            <a:xfrm>
              <a:off x="3683000" y="5548524"/>
              <a:ext cx="7620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15393" name="Line 70"/>
            <p:cNvSpPr>
              <a:spLocks noChangeShapeType="1"/>
            </p:cNvSpPr>
            <p:nvPr/>
          </p:nvSpPr>
          <p:spPr bwMode="auto">
            <a:xfrm flipH="1">
              <a:off x="4190999" y="1676401"/>
              <a:ext cx="1442205" cy="10667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4" name="Line 71"/>
            <p:cNvSpPr>
              <a:spLocks noChangeShapeType="1"/>
            </p:cNvSpPr>
            <p:nvPr/>
          </p:nvSpPr>
          <p:spPr bwMode="auto">
            <a:xfrm>
              <a:off x="6400800" y="1676401"/>
              <a:ext cx="1828800" cy="10667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5" name="Line 72"/>
            <p:cNvSpPr>
              <a:spLocks noChangeShapeType="1"/>
            </p:cNvSpPr>
            <p:nvPr/>
          </p:nvSpPr>
          <p:spPr bwMode="auto">
            <a:xfrm flipH="1">
              <a:off x="3200399" y="2970424"/>
              <a:ext cx="493295" cy="1068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6" name="Line 73"/>
            <p:cNvSpPr>
              <a:spLocks noChangeShapeType="1"/>
            </p:cNvSpPr>
            <p:nvPr/>
          </p:nvSpPr>
          <p:spPr bwMode="auto">
            <a:xfrm>
              <a:off x="4492124" y="3024188"/>
              <a:ext cx="537076" cy="10144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7" name="Line 74"/>
            <p:cNvSpPr>
              <a:spLocks noChangeShapeType="1"/>
            </p:cNvSpPr>
            <p:nvPr/>
          </p:nvSpPr>
          <p:spPr bwMode="auto">
            <a:xfrm flipH="1">
              <a:off x="2498224" y="4265614"/>
              <a:ext cx="357271" cy="13223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8" name="Line 75"/>
            <p:cNvSpPr>
              <a:spLocks noChangeShapeType="1"/>
            </p:cNvSpPr>
            <p:nvPr/>
          </p:nvSpPr>
          <p:spPr bwMode="auto">
            <a:xfrm flipH="1">
              <a:off x="7391400" y="2895601"/>
              <a:ext cx="457200" cy="11429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9" name="Line 76"/>
            <p:cNvSpPr>
              <a:spLocks noChangeShapeType="1"/>
            </p:cNvSpPr>
            <p:nvPr/>
          </p:nvSpPr>
          <p:spPr bwMode="auto">
            <a:xfrm>
              <a:off x="5410199" y="4395576"/>
              <a:ext cx="609601" cy="1165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0" name="Rectangle 77"/>
            <p:cNvSpPr>
              <a:spLocks noChangeArrowheads="1"/>
            </p:cNvSpPr>
            <p:nvPr/>
          </p:nvSpPr>
          <p:spPr bwMode="auto">
            <a:xfrm>
              <a:off x="8915400" y="4038600"/>
              <a:ext cx="7620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>
                  <a:solidFill>
                    <a:schemeClr val="bg1"/>
                  </a:solidFill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15403" name="Line 80"/>
            <p:cNvSpPr>
              <a:spLocks noChangeShapeType="1"/>
            </p:cNvSpPr>
            <p:nvPr/>
          </p:nvSpPr>
          <p:spPr bwMode="auto">
            <a:xfrm>
              <a:off x="8610600" y="2895601"/>
              <a:ext cx="685800" cy="11429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8" name="Text Box 88"/>
            <p:cNvSpPr txBox="1">
              <a:spLocks noChangeArrowheads="1"/>
            </p:cNvSpPr>
            <p:nvPr/>
          </p:nvSpPr>
          <p:spPr bwMode="auto">
            <a:xfrm>
              <a:off x="2193925" y="1920876"/>
              <a:ext cx="168668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sz="2400">
                  <a:solidFill>
                    <a:srgbClr val="0000CC"/>
                  </a:solidFill>
                  <a:latin typeface="Times New Roman" pitchFamily="18" charset="0"/>
                </a:rPr>
                <a:t>Cây con trái</a:t>
              </a:r>
            </a:p>
          </p:txBody>
        </p:sp>
        <p:sp>
          <p:nvSpPr>
            <p:cNvPr id="15409" name="Text Box 89"/>
            <p:cNvSpPr txBox="1">
              <a:spLocks noChangeArrowheads="1"/>
            </p:cNvSpPr>
            <p:nvPr/>
          </p:nvSpPr>
          <p:spPr bwMode="auto">
            <a:xfrm>
              <a:off x="8382001" y="1905001"/>
              <a:ext cx="180690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sz="2400">
                  <a:solidFill>
                    <a:srgbClr val="0000CC"/>
                  </a:solidFill>
                  <a:latin typeface="Times New Roman" pitchFamily="18" charset="0"/>
                </a:rPr>
                <a:t>Cây con phải</a:t>
              </a:r>
            </a:p>
          </p:txBody>
        </p:sp>
        <p:sp>
          <p:nvSpPr>
            <p:cNvPr id="15410" name="Text Box 90"/>
            <p:cNvSpPr txBox="1">
              <a:spLocks noChangeArrowheads="1"/>
            </p:cNvSpPr>
            <p:nvPr/>
          </p:nvSpPr>
          <p:spPr bwMode="auto">
            <a:xfrm>
              <a:off x="1524001" y="2628901"/>
              <a:ext cx="809625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>
                  <a:solidFill>
                    <a:srgbClr val="CC00CC"/>
                  </a:solidFill>
                  <a:latin typeface="Times New Roman" pitchFamily="18" charset="0"/>
                </a:rPr>
                <a:t>Mức 1</a:t>
              </a:r>
            </a:p>
          </p:txBody>
        </p:sp>
        <p:sp>
          <p:nvSpPr>
            <p:cNvPr id="15411" name="Text Box 91"/>
            <p:cNvSpPr txBox="1">
              <a:spLocks noChangeArrowheads="1"/>
            </p:cNvSpPr>
            <p:nvPr/>
          </p:nvSpPr>
          <p:spPr bwMode="auto">
            <a:xfrm>
              <a:off x="1524001" y="3898901"/>
              <a:ext cx="809625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>
                  <a:solidFill>
                    <a:srgbClr val="CC00CC"/>
                  </a:solidFill>
                  <a:latin typeface="Times New Roman" pitchFamily="18" charset="0"/>
                </a:rPr>
                <a:t>Mức 2</a:t>
              </a:r>
            </a:p>
          </p:txBody>
        </p:sp>
        <p:sp>
          <p:nvSpPr>
            <p:cNvPr id="15412" name="Text Box 92"/>
            <p:cNvSpPr txBox="1">
              <a:spLocks noChangeArrowheads="1"/>
            </p:cNvSpPr>
            <p:nvPr/>
          </p:nvSpPr>
          <p:spPr bwMode="auto">
            <a:xfrm>
              <a:off x="1524001" y="5194301"/>
              <a:ext cx="809625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>
                  <a:solidFill>
                    <a:srgbClr val="CC00CC"/>
                  </a:solidFill>
                  <a:latin typeface="Times New Roman" pitchFamily="18" charset="0"/>
                </a:rPr>
                <a:t>Mức 3</a:t>
              </a:r>
            </a:p>
          </p:txBody>
        </p:sp>
        <p:sp>
          <p:nvSpPr>
            <p:cNvPr id="15413" name="Text Box 94"/>
            <p:cNvSpPr txBox="1">
              <a:spLocks noChangeArrowheads="1"/>
            </p:cNvSpPr>
            <p:nvPr/>
          </p:nvSpPr>
          <p:spPr bwMode="auto">
            <a:xfrm>
              <a:off x="1524001" y="1385888"/>
              <a:ext cx="809625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>
                  <a:solidFill>
                    <a:srgbClr val="CC00CC"/>
                  </a:solidFill>
                  <a:latin typeface="Times New Roman" pitchFamily="18" charset="0"/>
                </a:rPr>
                <a:t>Mức 0</a:t>
              </a:r>
            </a:p>
          </p:txBody>
        </p:sp>
        <p:sp>
          <p:nvSpPr>
            <p:cNvPr id="52" name="Line 73"/>
            <p:cNvSpPr>
              <a:spLocks noChangeShapeType="1"/>
            </p:cNvSpPr>
            <p:nvPr/>
          </p:nvSpPr>
          <p:spPr bwMode="auto">
            <a:xfrm>
              <a:off x="3617495" y="4265614"/>
              <a:ext cx="457200" cy="1246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Rectangle 67"/>
            <p:cNvSpPr>
              <a:spLocks noChangeArrowheads="1"/>
            </p:cNvSpPr>
            <p:nvPr/>
          </p:nvSpPr>
          <p:spPr bwMode="auto">
            <a:xfrm>
              <a:off x="2193925" y="5524500"/>
              <a:ext cx="7620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 smtClean="0">
                  <a:solidFill>
                    <a:schemeClr val="bg1"/>
                  </a:solidFill>
                  <a:latin typeface="Times New Roman" pitchFamily="18" charset="0"/>
                </a:rPr>
                <a:t>H</a:t>
              </a:r>
              <a:endParaRPr lang="en-US" sz="28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54" name="Rectangle 67"/>
            <p:cNvSpPr>
              <a:spLocks noChangeArrowheads="1"/>
            </p:cNvSpPr>
            <p:nvPr/>
          </p:nvSpPr>
          <p:spPr bwMode="auto">
            <a:xfrm>
              <a:off x="5536951" y="5548524"/>
              <a:ext cx="7620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 smtClean="0">
                  <a:solidFill>
                    <a:schemeClr val="bg1"/>
                  </a:solidFill>
                  <a:latin typeface="Times New Roman" pitchFamily="18" charset="0"/>
                </a:rPr>
                <a:t>J</a:t>
              </a:r>
              <a:endParaRPr lang="en-US" sz="28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118</a:t>
            </a:fld>
            <a:endParaRPr lang="en-US"/>
          </a:p>
        </p:txBody>
      </p:sp>
      <p:pic>
        <p:nvPicPr>
          <p:cNvPr id="35" name="Picture 34"/>
          <p:cNvPicPr/>
          <p:nvPr/>
        </p:nvPicPr>
        <p:blipFill rotWithShape="1">
          <a:blip r:embed="rId2"/>
          <a:srcRect l="48875" t="59097" r="27437" b="18972"/>
          <a:stretch/>
        </p:blipFill>
        <p:spPr bwMode="auto">
          <a:xfrm>
            <a:off x="6357730" y="5480545"/>
            <a:ext cx="4615069" cy="130904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262885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475360"/>
            <a:ext cx="10642600" cy="703747"/>
          </a:xfrm>
        </p:spPr>
        <p:txBody>
          <a:bodyPr/>
          <a:lstStyle/>
          <a:p>
            <a:r>
              <a:rPr lang="en-US" dirty="0" err="1"/>
              <a:t>Duyệt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chiều</a:t>
            </a:r>
            <a:r>
              <a:rPr lang="en-US" dirty="0"/>
              <a:t> </a:t>
            </a:r>
            <a:r>
              <a:rPr lang="en-US" dirty="0" err="1"/>
              <a:t>rộng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700" y="1357156"/>
            <a:ext cx="10642600" cy="53848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vi-VN" b="1" dirty="0"/>
              <a:t>Bước 4</a:t>
            </a:r>
            <a:r>
              <a:rPr lang="vi-VN" dirty="0"/>
              <a:t>: Kiểm </a:t>
            </a:r>
            <a:r>
              <a:rPr lang="vi-VN"/>
              <a:t>tra </a:t>
            </a:r>
            <a:r>
              <a:rPr lang="vi-VN" smtClean="0"/>
              <a:t>queue,</a:t>
            </a:r>
            <a:r>
              <a:rPr lang="en-US" smtClean="0"/>
              <a:t> </a:t>
            </a:r>
            <a:r>
              <a:rPr lang="vi-VN" smtClean="0"/>
              <a:t>queue </a:t>
            </a:r>
            <a:r>
              <a:rPr lang="vi-VN"/>
              <a:t>không </a:t>
            </a:r>
            <a:r>
              <a:rPr lang="vi-VN" smtClean="0"/>
              <a:t>rỗng,  </a:t>
            </a:r>
            <a:r>
              <a:rPr lang="vi-VN" dirty="0"/>
              <a:t>lấy phần tử đầu tiên (C) ra khỏi queue. Phần tử này chuyển </a:t>
            </a:r>
            <a:r>
              <a:rPr lang="vi-VN"/>
              <a:t>sang </a:t>
            </a:r>
            <a:r>
              <a:rPr lang="vi-VN" smtClean="0"/>
              <a:t>trạng thái đã duyệt. </a:t>
            </a:r>
            <a:endParaRPr lang="en-US" dirty="0" smtClean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vi-VN" dirty="0" smtClean="0"/>
              <a:t>Enqueue </a:t>
            </a:r>
            <a:r>
              <a:rPr lang="vi-VN" dirty="0"/>
              <a:t>các con </a:t>
            </a:r>
            <a:r>
              <a:rPr lang="vi-VN"/>
              <a:t>(</a:t>
            </a:r>
            <a:r>
              <a:rPr lang="vi-VN" smtClean="0"/>
              <a:t>F,  </a:t>
            </a:r>
            <a:r>
              <a:rPr lang="vi-VN" dirty="0"/>
              <a:t>G) của phần tử vừa được dequeue (C) vào bf_queue. </a:t>
            </a:r>
            <a:endParaRPr lang="en-US" dirty="0" smtClean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vi-VN" dirty="0" smtClean="0"/>
              <a:t>In </a:t>
            </a:r>
            <a:r>
              <a:rPr lang="vi-VN" dirty="0"/>
              <a:t>ra </a:t>
            </a:r>
            <a:r>
              <a:rPr lang="vi-VN"/>
              <a:t>dữ </a:t>
            </a:r>
            <a:r>
              <a:rPr lang="vi-VN" smtClean="0"/>
              <a:t>liệu </a:t>
            </a:r>
            <a:r>
              <a:rPr lang="vi-VN" dirty="0"/>
              <a:t>node C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119</a:t>
            </a:fld>
            <a:endParaRPr lang="en-US"/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l="49202" t="59093" r="26779" b="22922"/>
          <a:stretch/>
        </p:blipFill>
        <p:spPr bwMode="auto">
          <a:xfrm>
            <a:off x="4530627" y="4526030"/>
            <a:ext cx="5753804" cy="212231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44421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465738"/>
            <a:ext cx="10541000" cy="72186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dirty="0" err="1"/>
              <a:t>Duyệt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chiều</a:t>
            </a:r>
            <a:r>
              <a:rPr lang="en-US" dirty="0"/>
              <a:t> </a:t>
            </a:r>
            <a:r>
              <a:rPr lang="en-US" dirty="0" err="1"/>
              <a:t>rộng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88360" y="1187599"/>
            <a:ext cx="9143999" cy="4543636"/>
            <a:chOff x="1524001" y="1385888"/>
            <a:chExt cx="9143999" cy="4543636"/>
          </a:xfrm>
        </p:grpSpPr>
        <p:sp>
          <p:nvSpPr>
            <p:cNvPr id="15364" name="Line 93"/>
            <p:cNvSpPr>
              <a:spLocks noChangeShapeType="1"/>
            </p:cNvSpPr>
            <p:nvPr/>
          </p:nvSpPr>
          <p:spPr bwMode="auto">
            <a:xfrm>
              <a:off x="1828800" y="1728788"/>
              <a:ext cx="8839200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5" name="Line 83"/>
            <p:cNvSpPr>
              <a:spLocks noChangeShapeType="1"/>
            </p:cNvSpPr>
            <p:nvPr/>
          </p:nvSpPr>
          <p:spPr bwMode="auto">
            <a:xfrm>
              <a:off x="1828800" y="5524500"/>
              <a:ext cx="8839200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6" name="Line 82"/>
            <p:cNvSpPr>
              <a:spLocks noChangeShapeType="1"/>
            </p:cNvSpPr>
            <p:nvPr/>
          </p:nvSpPr>
          <p:spPr bwMode="auto">
            <a:xfrm>
              <a:off x="1828800" y="4229100"/>
              <a:ext cx="8839200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7" name="Line 81"/>
            <p:cNvSpPr>
              <a:spLocks noChangeShapeType="1"/>
            </p:cNvSpPr>
            <p:nvPr/>
          </p:nvSpPr>
          <p:spPr bwMode="auto">
            <a:xfrm>
              <a:off x="1828800" y="2946400"/>
              <a:ext cx="8839200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9" name="Rectangle 4"/>
            <p:cNvSpPr>
              <a:spLocks noChangeArrowheads="1"/>
            </p:cNvSpPr>
            <p:nvPr/>
          </p:nvSpPr>
          <p:spPr bwMode="auto">
            <a:xfrm>
              <a:off x="5638800" y="1524000"/>
              <a:ext cx="762000" cy="3810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>
                  <a:solidFill>
                    <a:schemeClr val="bg1"/>
                  </a:solidFill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15372" name="Rectangle 49"/>
            <p:cNvSpPr>
              <a:spLocks noChangeArrowheads="1"/>
            </p:cNvSpPr>
            <p:nvPr/>
          </p:nvSpPr>
          <p:spPr bwMode="auto">
            <a:xfrm>
              <a:off x="3733800" y="2743200"/>
              <a:ext cx="762000" cy="3810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5375" name="Rectangle 52"/>
            <p:cNvSpPr>
              <a:spLocks noChangeArrowheads="1"/>
            </p:cNvSpPr>
            <p:nvPr/>
          </p:nvSpPr>
          <p:spPr bwMode="auto">
            <a:xfrm>
              <a:off x="7848600" y="2743200"/>
              <a:ext cx="762000" cy="3810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15378" name="Rectangle 55"/>
            <p:cNvSpPr>
              <a:spLocks noChangeArrowheads="1"/>
            </p:cNvSpPr>
            <p:nvPr/>
          </p:nvSpPr>
          <p:spPr bwMode="auto">
            <a:xfrm>
              <a:off x="2819400" y="4038600"/>
              <a:ext cx="762000" cy="381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15381" name="Rectangle 58"/>
            <p:cNvSpPr>
              <a:spLocks noChangeArrowheads="1"/>
            </p:cNvSpPr>
            <p:nvPr/>
          </p:nvSpPr>
          <p:spPr bwMode="auto">
            <a:xfrm>
              <a:off x="4648200" y="4038600"/>
              <a:ext cx="762000" cy="381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>
                  <a:solidFill>
                    <a:schemeClr val="bg1"/>
                  </a:solidFill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15384" name="Rectangle 61"/>
            <p:cNvSpPr>
              <a:spLocks noChangeArrowheads="1"/>
            </p:cNvSpPr>
            <p:nvPr/>
          </p:nvSpPr>
          <p:spPr bwMode="auto">
            <a:xfrm>
              <a:off x="7010400" y="4038600"/>
              <a:ext cx="762000" cy="381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15390" name="Rectangle 67"/>
            <p:cNvSpPr>
              <a:spLocks noChangeArrowheads="1"/>
            </p:cNvSpPr>
            <p:nvPr/>
          </p:nvSpPr>
          <p:spPr bwMode="auto">
            <a:xfrm>
              <a:off x="3683000" y="5548524"/>
              <a:ext cx="7620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15393" name="Line 70"/>
            <p:cNvSpPr>
              <a:spLocks noChangeShapeType="1"/>
            </p:cNvSpPr>
            <p:nvPr/>
          </p:nvSpPr>
          <p:spPr bwMode="auto">
            <a:xfrm flipH="1">
              <a:off x="4190999" y="1676401"/>
              <a:ext cx="1442205" cy="10667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4" name="Line 71"/>
            <p:cNvSpPr>
              <a:spLocks noChangeShapeType="1"/>
            </p:cNvSpPr>
            <p:nvPr/>
          </p:nvSpPr>
          <p:spPr bwMode="auto">
            <a:xfrm>
              <a:off x="6400800" y="1676401"/>
              <a:ext cx="1828800" cy="10667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5" name="Line 72"/>
            <p:cNvSpPr>
              <a:spLocks noChangeShapeType="1"/>
            </p:cNvSpPr>
            <p:nvPr/>
          </p:nvSpPr>
          <p:spPr bwMode="auto">
            <a:xfrm flipH="1">
              <a:off x="3200399" y="2970424"/>
              <a:ext cx="493295" cy="1068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6" name="Line 73"/>
            <p:cNvSpPr>
              <a:spLocks noChangeShapeType="1"/>
            </p:cNvSpPr>
            <p:nvPr/>
          </p:nvSpPr>
          <p:spPr bwMode="auto">
            <a:xfrm>
              <a:off x="4492124" y="3024188"/>
              <a:ext cx="537076" cy="10144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7" name="Line 74"/>
            <p:cNvSpPr>
              <a:spLocks noChangeShapeType="1"/>
            </p:cNvSpPr>
            <p:nvPr/>
          </p:nvSpPr>
          <p:spPr bwMode="auto">
            <a:xfrm flipH="1">
              <a:off x="2498224" y="4265614"/>
              <a:ext cx="357271" cy="13223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8" name="Line 75"/>
            <p:cNvSpPr>
              <a:spLocks noChangeShapeType="1"/>
            </p:cNvSpPr>
            <p:nvPr/>
          </p:nvSpPr>
          <p:spPr bwMode="auto">
            <a:xfrm flipH="1">
              <a:off x="7391400" y="2895601"/>
              <a:ext cx="457200" cy="11429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9" name="Line 76"/>
            <p:cNvSpPr>
              <a:spLocks noChangeShapeType="1"/>
            </p:cNvSpPr>
            <p:nvPr/>
          </p:nvSpPr>
          <p:spPr bwMode="auto">
            <a:xfrm>
              <a:off x="5410199" y="4395576"/>
              <a:ext cx="609601" cy="1165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0" name="Rectangle 77"/>
            <p:cNvSpPr>
              <a:spLocks noChangeArrowheads="1"/>
            </p:cNvSpPr>
            <p:nvPr/>
          </p:nvSpPr>
          <p:spPr bwMode="auto">
            <a:xfrm>
              <a:off x="8915400" y="4038600"/>
              <a:ext cx="762000" cy="381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>
                  <a:solidFill>
                    <a:schemeClr val="bg1"/>
                  </a:solidFill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15403" name="Line 80"/>
            <p:cNvSpPr>
              <a:spLocks noChangeShapeType="1"/>
            </p:cNvSpPr>
            <p:nvPr/>
          </p:nvSpPr>
          <p:spPr bwMode="auto">
            <a:xfrm>
              <a:off x="8610600" y="2895601"/>
              <a:ext cx="685800" cy="11429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8" name="Text Box 88"/>
            <p:cNvSpPr txBox="1">
              <a:spLocks noChangeArrowheads="1"/>
            </p:cNvSpPr>
            <p:nvPr/>
          </p:nvSpPr>
          <p:spPr bwMode="auto">
            <a:xfrm>
              <a:off x="2193925" y="1920876"/>
              <a:ext cx="168668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sz="2400">
                  <a:solidFill>
                    <a:srgbClr val="0000CC"/>
                  </a:solidFill>
                  <a:latin typeface="Times New Roman" pitchFamily="18" charset="0"/>
                </a:rPr>
                <a:t>Cây con trái</a:t>
              </a:r>
            </a:p>
          </p:txBody>
        </p:sp>
        <p:sp>
          <p:nvSpPr>
            <p:cNvPr id="15409" name="Text Box 89"/>
            <p:cNvSpPr txBox="1">
              <a:spLocks noChangeArrowheads="1"/>
            </p:cNvSpPr>
            <p:nvPr/>
          </p:nvSpPr>
          <p:spPr bwMode="auto">
            <a:xfrm>
              <a:off x="8382001" y="1905001"/>
              <a:ext cx="180690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sz="2400">
                  <a:solidFill>
                    <a:srgbClr val="0000CC"/>
                  </a:solidFill>
                  <a:latin typeface="Times New Roman" pitchFamily="18" charset="0"/>
                </a:rPr>
                <a:t>Cây con phải</a:t>
              </a:r>
            </a:p>
          </p:txBody>
        </p:sp>
        <p:sp>
          <p:nvSpPr>
            <p:cNvPr id="15410" name="Text Box 90"/>
            <p:cNvSpPr txBox="1">
              <a:spLocks noChangeArrowheads="1"/>
            </p:cNvSpPr>
            <p:nvPr/>
          </p:nvSpPr>
          <p:spPr bwMode="auto">
            <a:xfrm>
              <a:off x="1524001" y="2628901"/>
              <a:ext cx="809625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>
                  <a:solidFill>
                    <a:srgbClr val="CC00CC"/>
                  </a:solidFill>
                  <a:latin typeface="Times New Roman" pitchFamily="18" charset="0"/>
                </a:rPr>
                <a:t>Mức 1</a:t>
              </a:r>
            </a:p>
          </p:txBody>
        </p:sp>
        <p:sp>
          <p:nvSpPr>
            <p:cNvPr id="15411" name="Text Box 91"/>
            <p:cNvSpPr txBox="1">
              <a:spLocks noChangeArrowheads="1"/>
            </p:cNvSpPr>
            <p:nvPr/>
          </p:nvSpPr>
          <p:spPr bwMode="auto">
            <a:xfrm>
              <a:off x="1524001" y="3898901"/>
              <a:ext cx="809625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>
                  <a:solidFill>
                    <a:srgbClr val="CC00CC"/>
                  </a:solidFill>
                  <a:latin typeface="Times New Roman" pitchFamily="18" charset="0"/>
                </a:rPr>
                <a:t>Mức 2</a:t>
              </a:r>
            </a:p>
          </p:txBody>
        </p:sp>
        <p:sp>
          <p:nvSpPr>
            <p:cNvPr id="15412" name="Text Box 92"/>
            <p:cNvSpPr txBox="1">
              <a:spLocks noChangeArrowheads="1"/>
            </p:cNvSpPr>
            <p:nvPr/>
          </p:nvSpPr>
          <p:spPr bwMode="auto">
            <a:xfrm>
              <a:off x="1524001" y="5194301"/>
              <a:ext cx="809625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>
                  <a:solidFill>
                    <a:srgbClr val="CC00CC"/>
                  </a:solidFill>
                  <a:latin typeface="Times New Roman" pitchFamily="18" charset="0"/>
                </a:rPr>
                <a:t>Mức 3</a:t>
              </a:r>
            </a:p>
          </p:txBody>
        </p:sp>
        <p:sp>
          <p:nvSpPr>
            <p:cNvPr id="15413" name="Text Box 94"/>
            <p:cNvSpPr txBox="1">
              <a:spLocks noChangeArrowheads="1"/>
            </p:cNvSpPr>
            <p:nvPr/>
          </p:nvSpPr>
          <p:spPr bwMode="auto">
            <a:xfrm>
              <a:off x="1524001" y="1385888"/>
              <a:ext cx="809625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>
                  <a:solidFill>
                    <a:srgbClr val="CC00CC"/>
                  </a:solidFill>
                  <a:latin typeface="Times New Roman" pitchFamily="18" charset="0"/>
                </a:rPr>
                <a:t>Mức 0</a:t>
              </a:r>
            </a:p>
          </p:txBody>
        </p:sp>
        <p:sp>
          <p:nvSpPr>
            <p:cNvPr id="52" name="Line 73"/>
            <p:cNvSpPr>
              <a:spLocks noChangeShapeType="1"/>
            </p:cNvSpPr>
            <p:nvPr/>
          </p:nvSpPr>
          <p:spPr bwMode="auto">
            <a:xfrm>
              <a:off x="3617495" y="4265614"/>
              <a:ext cx="457200" cy="1246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Rectangle 67"/>
            <p:cNvSpPr>
              <a:spLocks noChangeArrowheads="1"/>
            </p:cNvSpPr>
            <p:nvPr/>
          </p:nvSpPr>
          <p:spPr bwMode="auto">
            <a:xfrm>
              <a:off x="2193925" y="5524500"/>
              <a:ext cx="7620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 smtClean="0">
                  <a:solidFill>
                    <a:schemeClr val="bg1"/>
                  </a:solidFill>
                  <a:latin typeface="Times New Roman" pitchFamily="18" charset="0"/>
                </a:rPr>
                <a:t>H</a:t>
              </a:r>
              <a:endParaRPr lang="en-US" sz="28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54" name="Rectangle 67"/>
            <p:cNvSpPr>
              <a:spLocks noChangeArrowheads="1"/>
            </p:cNvSpPr>
            <p:nvPr/>
          </p:nvSpPr>
          <p:spPr bwMode="auto">
            <a:xfrm>
              <a:off x="5536951" y="5548524"/>
              <a:ext cx="7620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 smtClean="0">
                  <a:solidFill>
                    <a:schemeClr val="bg1"/>
                  </a:solidFill>
                  <a:latin typeface="Times New Roman" pitchFamily="18" charset="0"/>
                </a:rPr>
                <a:t>J</a:t>
              </a:r>
              <a:endParaRPr lang="en-US" sz="28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120</a:t>
            </a:fld>
            <a:endParaRPr lang="en-US"/>
          </a:p>
        </p:txBody>
      </p:sp>
      <p:pic>
        <p:nvPicPr>
          <p:cNvPr id="35" name="Picture 34"/>
          <p:cNvPicPr/>
          <p:nvPr/>
        </p:nvPicPr>
        <p:blipFill rotWithShape="1">
          <a:blip r:embed="rId2"/>
          <a:srcRect l="49202" t="59093" r="26779" b="22922"/>
          <a:stretch/>
        </p:blipFill>
        <p:spPr bwMode="auto">
          <a:xfrm>
            <a:off x="6760119" y="5389711"/>
            <a:ext cx="4186292" cy="127497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210332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600493"/>
            <a:ext cx="10642600" cy="703747"/>
          </a:xfrm>
        </p:spPr>
        <p:txBody>
          <a:bodyPr/>
          <a:lstStyle/>
          <a:p>
            <a:r>
              <a:rPr lang="en-US" dirty="0" err="1"/>
              <a:t>Duyệt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chiều</a:t>
            </a:r>
            <a:r>
              <a:rPr lang="en-US" dirty="0"/>
              <a:t> </a:t>
            </a:r>
            <a:r>
              <a:rPr lang="en-US" dirty="0" err="1"/>
              <a:t>rộng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700" y="1482289"/>
            <a:ext cx="10642600" cy="53848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vi-VN" sz="3200" b="1" dirty="0"/>
              <a:t>Bước 5</a:t>
            </a:r>
            <a:r>
              <a:rPr lang="vi-VN" sz="3200" dirty="0"/>
              <a:t>: Kiểm </a:t>
            </a:r>
            <a:r>
              <a:rPr lang="vi-VN" sz="3200"/>
              <a:t>tra </a:t>
            </a:r>
            <a:r>
              <a:rPr lang="vi-VN" sz="3200" smtClean="0"/>
              <a:t>queue, queue </a:t>
            </a:r>
            <a:r>
              <a:rPr lang="vi-VN" sz="3200"/>
              <a:t>không </a:t>
            </a:r>
            <a:r>
              <a:rPr lang="vi-VN" sz="3200" smtClean="0"/>
              <a:t>rỗng,  </a:t>
            </a:r>
            <a:r>
              <a:rPr lang="vi-VN" sz="3200" dirty="0"/>
              <a:t>lấy phần tử đầu tiên (D) ra khỏi queue. Phần tử này chuyển </a:t>
            </a:r>
            <a:r>
              <a:rPr lang="vi-VN" sz="3200"/>
              <a:t>sang </a:t>
            </a:r>
            <a:r>
              <a:rPr lang="vi-VN" sz="3200" smtClean="0"/>
              <a:t>trạng thái đã duyệt. </a:t>
            </a:r>
            <a:endParaRPr lang="en-US" sz="3200" dirty="0" smtClean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vi-VN" sz="3200" dirty="0" smtClean="0"/>
              <a:t>Enqueue </a:t>
            </a:r>
            <a:r>
              <a:rPr lang="vi-VN" sz="3200" dirty="0"/>
              <a:t>các con </a:t>
            </a:r>
            <a:r>
              <a:rPr lang="vi-VN" sz="3200"/>
              <a:t>(</a:t>
            </a:r>
            <a:r>
              <a:rPr lang="vi-VN" sz="3200" smtClean="0"/>
              <a:t>H, I</a:t>
            </a:r>
            <a:r>
              <a:rPr lang="vi-VN" sz="3200" dirty="0"/>
              <a:t>) của phần tử vừa được dequeue (D) vào </a:t>
            </a:r>
            <a:r>
              <a:rPr lang="vi-VN" sz="3200" dirty="0" smtClean="0"/>
              <a:t>bf_queue.</a:t>
            </a:r>
            <a:endParaRPr lang="en-US" sz="3200" dirty="0" smtClean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vi-VN" sz="3200" dirty="0" smtClean="0"/>
              <a:t>In </a:t>
            </a:r>
            <a:r>
              <a:rPr lang="vi-VN" sz="3200" dirty="0"/>
              <a:t>ra </a:t>
            </a:r>
            <a:r>
              <a:rPr lang="vi-VN" sz="3200"/>
              <a:t>dữ </a:t>
            </a:r>
            <a:r>
              <a:rPr lang="vi-VN" sz="3200" smtClean="0"/>
              <a:t>liệu </a:t>
            </a:r>
            <a:r>
              <a:rPr lang="vi-VN" sz="3200" dirty="0"/>
              <a:t>node D.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121</a:t>
            </a:fld>
            <a:endParaRPr lang="en-US"/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l="43276" t="61285" r="23406" b="18972"/>
          <a:stretch/>
        </p:blipFill>
        <p:spPr bwMode="auto">
          <a:xfrm>
            <a:off x="4715616" y="4679852"/>
            <a:ext cx="6701684" cy="17032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16906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475368"/>
            <a:ext cx="10541000" cy="72186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dirty="0" err="1"/>
              <a:t>Duyệt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chiều</a:t>
            </a:r>
            <a:r>
              <a:rPr lang="en-US" dirty="0"/>
              <a:t> </a:t>
            </a:r>
            <a:r>
              <a:rPr lang="en-US" dirty="0" err="1"/>
              <a:t>rộng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57538" y="1099187"/>
            <a:ext cx="9143999" cy="4543636"/>
            <a:chOff x="1524001" y="1385888"/>
            <a:chExt cx="9143999" cy="4543636"/>
          </a:xfrm>
        </p:grpSpPr>
        <p:sp>
          <p:nvSpPr>
            <p:cNvPr id="15364" name="Line 93"/>
            <p:cNvSpPr>
              <a:spLocks noChangeShapeType="1"/>
            </p:cNvSpPr>
            <p:nvPr/>
          </p:nvSpPr>
          <p:spPr bwMode="auto">
            <a:xfrm>
              <a:off x="1828800" y="1728788"/>
              <a:ext cx="8839200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5" name="Line 83"/>
            <p:cNvSpPr>
              <a:spLocks noChangeShapeType="1"/>
            </p:cNvSpPr>
            <p:nvPr/>
          </p:nvSpPr>
          <p:spPr bwMode="auto">
            <a:xfrm>
              <a:off x="1828800" y="5524500"/>
              <a:ext cx="8839200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6" name="Line 82"/>
            <p:cNvSpPr>
              <a:spLocks noChangeShapeType="1"/>
            </p:cNvSpPr>
            <p:nvPr/>
          </p:nvSpPr>
          <p:spPr bwMode="auto">
            <a:xfrm>
              <a:off x="1828800" y="4229100"/>
              <a:ext cx="8839200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7" name="Line 81"/>
            <p:cNvSpPr>
              <a:spLocks noChangeShapeType="1"/>
            </p:cNvSpPr>
            <p:nvPr/>
          </p:nvSpPr>
          <p:spPr bwMode="auto">
            <a:xfrm>
              <a:off x="1828800" y="2946400"/>
              <a:ext cx="8839200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9" name="Rectangle 4"/>
            <p:cNvSpPr>
              <a:spLocks noChangeArrowheads="1"/>
            </p:cNvSpPr>
            <p:nvPr/>
          </p:nvSpPr>
          <p:spPr bwMode="auto">
            <a:xfrm>
              <a:off x="5638800" y="1524000"/>
              <a:ext cx="762000" cy="3810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>
                  <a:solidFill>
                    <a:schemeClr val="bg1"/>
                  </a:solidFill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15372" name="Rectangle 49"/>
            <p:cNvSpPr>
              <a:spLocks noChangeArrowheads="1"/>
            </p:cNvSpPr>
            <p:nvPr/>
          </p:nvSpPr>
          <p:spPr bwMode="auto">
            <a:xfrm>
              <a:off x="3733800" y="2743200"/>
              <a:ext cx="762000" cy="3810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5375" name="Rectangle 52"/>
            <p:cNvSpPr>
              <a:spLocks noChangeArrowheads="1"/>
            </p:cNvSpPr>
            <p:nvPr/>
          </p:nvSpPr>
          <p:spPr bwMode="auto">
            <a:xfrm>
              <a:off x="7848600" y="2743200"/>
              <a:ext cx="762000" cy="3810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15378" name="Rectangle 55"/>
            <p:cNvSpPr>
              <a:spLocks noChangeArrowheads="1"/>
            </p:cNvSpPr>
            <p:nvPr/>
          </p:nvSpPr>
          <p:spPr bwMode="auto">
            <a:xfrm>
              <a:off x="2819400" y="4038600"/>
              <a:ext cx="762000" cy="3810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15381" name="Rectangle 58"/>
            <p:cNvSpPr>
              <a:spLocks noChangeArrowheads="1"/>
            </p:cNvSpPr>
            <p:nvPr/>
          </p:nvSpPr>
          <p:spPr bwMode="auto">
            <a:xfrm>
              <a:off x="4648200" y="4038600"/>
              <a:ext cx="762000" cy="381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>
                  <a:solidFill>
                    <a:schemeClr val="bg1"/>
                  </a:solidFill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15384" name="Rectangle 61"/>
            <p:cNvSpPr>
              <a:spLocks noChangeArrowheads="1"/>
            </p:cNvSpPr>
            <p:nvPr/>
          </p:nvSpPr>
          <p:spPr bwMode="auto">
            <a:xfrm>
              <a:off x="7010400" y="4038600"/>
              <a:ext cx="762000" cy="381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15390" name="Rectangle 67"/>
            <p:cNvSpPr>
              <a:spLocks noChangeArrowheads="1"/>
            </p:cNvSpPr>
            <p:nvPr/>
          </p:nvSpPr>
          <p:spPr bwMode="auto">
            <a:xfrm>
              <a:off x="3683000" y="5548524"/>
              <a:ext cx="762000" cy="381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15393" name="Line 70"/>
            <p:cNvSpPr>
              <a:spLocks noChangeShapeType="1"/>
            </p:cNvSpPr>
            <p:nvPr/>
          </p:nvSpPr>
          <p:spPr bwMode="auto">
            <a:xfrm flipH="1">
              <a:off x="4190999" y="1676401"/>
              <a:ext cx="1442205" cy="10667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4" name="Line 71"/>
            <p:cNvSpPr>
              <a:spLocks noChangeShapeType="1"/>
            </p:cNvSpPr>
            <p:nvPr/>
          </p:nvSpPr>
          <p:spPr bwMode="auto">
            <a:xfrm>
              <a:off x="6400800" y="1676401"/>
              <a:ext cx="1828800" cy="10667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5" name="Line 72"/>
            <p:cNvSpPr>
              <a:spLocks noChangeShapeType="1"/>
            </p:cNvSpPr>
            <p:nvPr/>
          </p:nvSpPr>
          <p:spPr bwMode="auto">
            <a:xfrm flipH="1">
              <a:off x="3200399" y="2970424"/>
              <a:ext cx="493295" cy="1068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6" name="Line 73"/>
            <p:cNvSpPr>
              <a:spLocks noChangeShapeType="1"/>
            </p:cNvSpPr>
            <p:nvPr/>
          </p:nvSpPr>
          <p:spPr bwMode="auto">
            <a:xfrm>
              <a:off x="4492124" y="3024188"/>
              <a:ext cx="537076" cy="10144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7" name="Line 74"/>
            <p:cNvSpPr>
              <a:spLocks noChangeShapeType="1"/>
            </p:cNvSpPr>
            <p:nvPr/>
          </p:nvSpPr>
          <p:spPr bwMode="auto">
            <a:xfrm flipH="1">
              <a:off x="2498224" y="4265614"/>
              <a:ext cx="357271" cy="13223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8" name="Line 75"/>
            <p:cNvSpPr>
              <a:spLocks noChangeShapeType="1"/>
            </p:cNvSpPr>
            <p:nvPr/>
          </p:nvSpPr>
          <p:spPr bwMode="auto">
            <a:xfrm flipH="1">
              <a:off x="7391400" y="2895601"/>
              <a:ext cx="457200" cy="11429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9" name="Line 76"/>
            <p:cNvSpPr>
              <a:spLocks noChangeShapeType="1"/>
            </p:cNvSpPr>
            <p:nvPr/>
          </p:nvSpPr>
          <p:spPr bwMode="auto">
            <a:xfrm>
              <a:off x="5410199" y="4395576"/>
              <a:ext cx="609601" cy="1165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0" name="Rectangle 77"/>
            <p:cNvSpPr>
              <a:spLocks noChangeArrowheads="1"/>
            </p:cNvSpPr>
            <p:nvPr/>
          </p:nvSpPr>
          <p:spPr bwMode="auto">
            <a:xfrm>
              <a:off x="8915400" y="4038600"/>
              <a:ext cx="762000" cy="381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>
                  <a:solidFill>
                    <a:schemeClr val="bg1"/>
                  </a:solidFill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15403" name="Line 80"/>
            <p:cNvSpPr>
              <a:spLocks noChangeShapeType="1"/>
            </p:cNvSpPr>
            <p:nvPr/>
          </p:nvSpPr>
          <p:spPr bwMode="auto">
            <a:xfrm>
              <a:off x="8610600" y="2895601"/>
              <a:ext cx="685800" cy="11429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8" name="Text Box 88"/>
            <p:cNvSpPr txBox="1">
              <a:spLocks noChangeArrowheads="1"/>
            </p:cNvSpPr>
            <p:nvPr/>
          </p:nvSpPr>
          <p:spPr bwMode="auto">
            <a:xfrm>
              <a:off x="2193925" y="1920876"/>
              <a:ext cx="168668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sz="2400">
                  <a:solidFill>
                    <a:srgbClr val="0000CC"/>
                  </a:solidFill>
                  <a:latin typeface="Times New Roman" pitchFamily="18" charset="0"/>
                </a:rPr>
                <a:t>Cây con trái</a:t>
              </a:r>
            </a:p>
          </p:txBody>
        </p:sp>
        <p:sp>
          <p:nvSpPr>
            <p:cNvPr id="15409" name="Text Box 89"/>
            <p:cNvSpPr txBox="1">
              <a:spLocks noChangeArrowheads="1"/>
            </p:cNvSpPr>
            <p:nvPr/>
          </p:nvSpPr>
          <p:spPr bwMode="auto">
            <a:xfrm>
              <a:off x="8382001" y="1905001"/>
              <a:ext cx="180690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sz="2400">
                  <a:solidFill>
                    <a:srgbClr val="0000CC"/>
                  </a:solidFill>
                  <a:latin typeface="Times New Roman" pitchFamily="18" charset="0"/>
                </a:rPr>
                <a:t>Cây con phải</a:t>
              </a:r>
            </a:p>
          </p:txBody>
        </p:sp>
        <p:sp>
          <p:nvSpPr>
            <p:cNvPr id="15410" name="Text Box 90"/>
            <p:cNvSpPr txBox="1">
              <a:spLocks noChangeArrowheads="1"/>
            </p:cNvSpPr>
            <p:nvPr/>
          </p:nvSpPr>
          <p:spPr bwMode="auto">
            <a:xfrm>
              <a:off x="1524001" y="2628901"/>
              <a:ext cx="809625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>
                  <a:solidFill>
                    <a:srgbClr val="CC00CC"/>
                  </a:solidFill>
                  <a:latin typeface="Times New Roman" pitchFamily="18" charset="0"/>
                </a:rPr>
                <a:t>Mức 1</a:t>
              </a:r>
            </a:p>
          </p:txBody>
        </p:sp>
        <p:sp>
          <p:nvSpPr>
            <p:cNvPr id="15411" name="Text Box 91"/>
            <p:cNvSpPr txBox="1">
              <a:spLocks noChangeArrowheads="1"/>
            </p:cNvSpPr>
            <p:nvPr/>
          </p:nvSpPr>
          <p:spPr bwMode="auto">
            <a:xfrm>
              <a:off x="1524001" y="3898901"/>
              <a:ext cx="809625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>
                  <a:solidFill>
                    <a:srgbClr val="CC00CC"/>
                  </a:solidFill>
                  <a:latin typeface="Times New Roman" pitchFamily="18" charset="0"/>
                </a:rPr>
                <a:t>Mức 2</a:t>
              </a:r>
            </a:p>
          </p:txBody>
        </p:sp>
        <p:sp>
          <p:nvSpPr>
            <p:cNvPr id="15412" name="Text Box 92"/>
            <p:cNvSpPr txBox="1">
              <a:spLocks noChangeArrowheads="1"/>
            </p:cNvSpPr>
            <p:nvPr/>
          </p:nvSpPr>
          <p:spPr bwMode="auto">
            <a:xfrm>
              <a:off x="1524001" y="5194301"/>
              <a:ext cx="809625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>
                  <a:solidFill>
                    <a:srgbClr val="CC00CC"/>
                  </a:solidFill>
                  <a:latin typeface="Times New Roman" pitchFamily="18" charset="0"/>
                </a:rPr>
                <a:t>Mức 3</a:t>
              </a:r>
            </a:p>
          </p:txBody>
        </p:sp>
        <p:sp>
          <p:nvSpPr>
            <p:cNvPr id="15413" name="Text Box 94"/>
            <p:cNvSpPr txBox="1">
              <a:spLocks noChangeArrowheads="1"/>
            </p:cNvSpPr>
            <p:nvPr/>
          </p:nvSpPr>
          <p:spPr bwMode="auto">
            <a:xfrm>
              <a:off x="1524001" y="1385888"/>
              <a:ext cx="809625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>
                  <a:solidFill>
                    <a:srgbClr val="CC00CC"/>
                  </a:solidFill>
                  <a:latin typeface="Times New Roman" pitchFamily="18" charset="0"/>
                </a:rPr>
                <a:t>Mức 0</a:t>
              </a:r>
            </a:p>
          </p:txBody>
        </p:sp>
        <p:sp>
          <p:nvSpPr>
            <p:cNvPr id="52" name="Line 73"/>
            <p:cNvSpPr>
              <a:spLocks noChangeShapeType="1"/>
            </p:cNvSpPr>
            <p:nvPr/>
          </p:nvSpPr>
          <p:spPr bwMode="auto">
            <a:xfrm>
              <a:off x="3617495" y="4265614"/>
              <a:ext cx="457200" cy="1246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Rectangle 67"/>
            <p:cNvSpPr>
              <a:spLocks noChangeArrowheads="1"/>
            </p:cNvSpPr>
            <p:nvPr/>
          </p:nvSpPr>
          <p:spPr bwMode="auto">
            <a:xfrm>
              <a:off x="2193925" y="5524500"/>
              <a:ext cx="762000" cy="381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 smtClean="0">
                  <a:solidFill>
                    <a:schemeClr val="bg1"/>
                  </a:solidFill>
                  <a:latin typeface="Times New Roman" pitchFamily="18" charset="0"/>
                </a:rPr>
                <a:t>H</a:t>
              </a:r>
              <a:endParaRPr lang="en-US" sz="28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54" name="Rectangle 67"/>
            <p:cNvSpPr>
              <a:spLocks noChangeArrowheads="1"/>
            </p:cNvSpPr>
            <p:nvPr/>
          </p:nvSpPr>
          <p:spPr bwMode="auto">
            <a:xfrm>
              <a:off x="5536951" y="5548524"/>
              <a:ext cx="7620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 smtClean="0">
                  <a:solidFill>
                    <a:schemeClr val="bg1"/>
                  </a:solidFill>
                  <a:latin typeface="Times New Roman" pitchFamily="18" charset="0"/>
                </a:rPr>
                <a:t>J</a:t>
              </a:r>
              <a:endParaRPr lang="en-US" sz="28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122</a:t>
            </a:fld>
            <a:endParaRPr lang="en-US"/>
          </a:p>
        </p:txBody>
      </p:sp>
      <p:pic>
        <p:nvPicPr>
          <p:cNvPr id="35" name="Picture 34"/>
          <p:cNvPicPr/>
          <p:nvPr/>
        </p:nvPicPr>
        <p:blipFill rotWithShape="1">
          <a:blip r:embed="rId2"/>
          <a:srcRect l="43276" t="61285" r="23406" b="18972"/>
          <a:stretch/>
        </p:blipFill>
        <p:spPr bwMode="auto">
          <a:xfrm>
            <a:off x="5773854" y="5366385"/>
            <a:ext cx="5096203" cy="135388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326239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571615"/>
            <a:ext cx="10642600" cy="703747"/>
          </a:xfrm>
        </p:spPr>
        <p:txBody>
          <a:bodyPr/>
          <a:lstStyle/>
          <a:p>
            <a:r>
              <a:rPr lang="en-US" dirty="0" err="1"/>
              <a:t>Duyệt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chiều</a:t>
            </a:r>
            <a:r>
              <a:rPr lang="en-US" dirty="0"/>
              <a:t> </a:t>
            </a:r>
            <a:r>
              <a:rPr lang="en-US" dirty="0" err="1"/>
              <a:t>rộng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699" y="1453411"/>
            <a:ext cx="10948113" cy="53848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vi-VN" sz="3200" b="1" dirty="0"/>
              <a:t>Bước 6</a:t>
            </a:r>
            <a:r>
              <a:rPr lang="vi-VN" sz="3200" dirty="0"/>
              <a:t>: Kiểm </a:t>
            </a:r>
            <a:r>
              <a:rPr lang="vi-VN" sz="3200"/>
              <a:t>tra </a:t>
            </a:r>
            <a:r>
              <a:rPr lang="vi-VN" sz="3200" smtClean="0"/>
              <a:t>queue, queue </a:t>
            </a:r>
            <a:r>
              <a:rPr lang="vi-VN" sz="3200"/>
              <a:t>không </a:t>
            </a:r>
            <a:r>
              <a:rPr lang="vi-VN" sz="3200" smtClean="0"/>
              <a:t>rỗng, lấy </a:t>
            </a:r>
            <a:r>
              <a:rPr lang="vi-VN" sz="3200" dirty="0"/>
              <a:t>phần tử đầu tiên (E) ra khỏi queue. Phần tử này chuyển </a:t>
            </a:r>
            <a:r>
              <a:rPr lang="vi-VN" sz="3200"/>
              <a:t>sang </a:t>
            </a:r>
            <a:r>
              <a:rPr lang="vi-VN" sz="3200" smtClean="0"/>
              <a:t>trạng thái đã duyệt. </a:t>
            </a:r>
            <a:endParaRPr lang="en-US" sz="3200" dirty="0" smtClean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vi-VN" sz="3200" dirty="0" smtClean="0"/>
              <a:t>Enqueue </a:t>
            </a:r>
            <a:r>
              <a:rPr lang="vi-VN" sz="3200" dirty="0"/>
              <a:t>các con (J) của phần tử vừa được dequeue (E) vào </a:t>
            </a:r>
            <a:r>
              <a:rPr lang="vi-VN" sz="3200" dirty="0" smtClean="0"/>
              <a:t>bf_queue.</a:t>
            </a:r>
            <a:endParaRPr lang="en-US" sz="3200" dirty="0" smtClean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vi-VN" sz="3200" dirty="0" smtClean="0"/>
              <a:t>In </a:t>
            </a:r>
            <a:r>
              <a:rPr lang="vi-VN" sz="3200" dirty="0"/>
              <a:t>ra </a:t>
            </a:r>
            <a:r>
              <a:rPr lang="vi-VN" sz="3200"/>
              <a:t>dữ </a:t>
            </a:r>
            <a:r>
              <a:rPr lang="vi-VN" sz="3200" smtClean="0"/>
              <a:t>liệu </a:t>
            </a:r>
            <a:r>
              <a:rPr lang="vi-VN" sz="3200" dirty="0"/>
              <a:t>node E.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123</a:t>
            </a:fld>
            <a:endParaRPr lang="en-US"/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l="44676" t="68746" r="22912" b="11659"/>
          <a:stretch/>
        </p:blipFill>
        <p:spPr bwMode="auto">
          <a:xfrm>
            <a:off x="5128591" y="4285955"/>
            <a:ext cx="6193530" cy="216069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4413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475370"/>
            <a:ext cx="10541000" cy="72186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dirty="0" err="1"/>
              <a:t>Duyệt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chiều</a:t>
            </a:r>
            <a:r>
              <a:rPr lang="en-US" dirty="0"/>
              <a:t> </a:t>
            </a:r>
            <a:r>
              <a:rPr lang="en-US" dirty="0" err="1"/>
              <a:t>rộng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47264" y="986173"/>
            <a:ext cx="9143999" cy="4543636"/>
            <a:chOff x="1524001" y="1385888"/>
            <a:chExt cx="9143999" cy="4543636"/>
          </a:xfrm>
        </p:grpSpPr>
        <p:sp>
          <p:nvSpPr>
            <p:cNvPr id="15364" name="Line 93"/>
            <p:cNvSpPr>
              <a:spLocks noChangeShapeType="1"/>
            </p:cNvSpPr>
            <p:nvPr/>
          </p:nvSpPr>
          <p:spPr bwMode="auto">
            <a:xfrm>
              <a:off x="1828800" y="1728788"/>
              <a:ext cx="8839200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5" name="Line 83"/>
            <p:cNvSpPr>
              <a:spLocks noChangeShapeType="1"/>
            </p:cNvSpPr>
            <p:nvPr/>
          </p:nvSpPr>
          <p:spPr bwMode="auto">
            <a:xfrm>
              <a:off x="1828800" y="5524500"/>
              <a:ext cx="8839200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6" name="Line 82"/>
            <p:cNvSpPr>
              <a:spLocks noChangeShapeType="1"/>
            </p:cNvSpPr>
            <p:nvPr/>
          </p:nvSpPr>
          <p:spPr bwMode="auto">
            <a:xfrm>
              <a:off x="1828800" y="4229100"/>
              <a:ext cx="8839200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7" name="Line 81"/>
            <p:cNvSpPr>
              <a:spLocks noChangeShapeType="1"/>
            </p:cNvSpPr>
            <p:nvPr/>
          </p:nvSpPr>
          <p:spPr bwMode="auto">
            <a:xfrm>
              <a:off x="1828800" y="2946400"/>
              <a:ext cx="8839200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9" name="Rectangle 4"/>
            <p:cNvSpPr>
              <a:spLocks noChangeArrowheads="1"/>
            </p:cNvSpPr>
            <p:nvPr/>
          </p:nvSpPr>
          <p:spPr bwMode="auto">
            <a:xfrm>
              <a:off x="5638800" y="1524000"/>
              <a:ext cx="762000" cy="3810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>
                  <a:solidFill>
                    <a:schemeClr val="bg1"/>
                  </a:solidFill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15372" name="Rectangle 49"/>
            <p:cNvSpPr>
              <a:spLocks noChangeArrowheads="1"/>
            </p:cNvSpPr>
            <p:nvPr/>
          </p:nvSpPr>
          <p:spPr bwMode="auto">
            <a:xfrm>
              <a:off x="3733800" y="2743200"/>
              <a:ext cx="762000" cy="3810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5375" name="Rectangle 52"/>
            <p:cNvSpPr>
              <a:spLocks noChangeArrowheads="1"/>
            </p:cNvSpPr>
            <p:nvPr/>
          </p:nvSpPr>
          <p:spPr bwMode="auto">
            <a:xfrm>
              <a:off x="7848600" y="2743200"/>
              <a:ext cx="762000" cy="3810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15378" name="Rectangle 55"/>
            <p:cNvSpPr>
              <a:spLocks noChangeArrowheads="1"/>
            </p:cNvSpPr>
            <p:nvPr/>
          </p:nvSpPr>
          <p:spPr bwMode="auto">
            <a:xfrm>
              <a:off x="2819400" y="4038600"/>
              <a:ext cx="762000" cy="3810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15381" name="Rectangle 58"/>
            <p:cNvSpPr>
              <a:spLocks noChangeArrowheads="1"/>
            </p:cNvSpPr>
            <p:nvPr/>
          </p:nvSpPr>
          <p:spPr bwMode="auto">
            <a:xfrm>
              <a:off x="4648200" y="4038600"/>
              <a:ext cx="762000" cy="3810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15384" name="Rectangle 61"/>
            <p:cNvSpPr>
              <a:spLocks noChangeArrowheads="1"/>
            </p:cNvSpPr>
            <p:nvPr/>
          </p:nvSpPr>
          <p:spPr bwMode="auto">
            <a:xfrm>
              <a:off x="7010400" y="4038600"/>
              <a:ext cx="762000" cy="381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15390" name="Rectangle 67"/>
            <p:cNvSpPr>
              <a:spLocks noChangeArrowheads="1"/>
            </p:cNvSpPr>
            <p:nvPr/>
          </p:nvSpPr>
          <p:spPr bwMode="auto">
            <a:xfrm>
              <a:off x="3683000" y="5548524"/>
              <a:ext cx="762000" cy="381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15393" name="Line 70"/>
            <p:cNvSpPr>
              <a:spLocks noChangeShapeType="1"/>
            </p:cNvSpPr>
            <p:nvPr/>
          </p:nvSpPr>
          <p:spPr bwMode="auto">
            <a:xfrm flipH="1">
              <a:off x="4190999" y="1676401"/>
              <a:ext cx="1442205" cy="10667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4" name="Line 71"/>
            <p:cNvSpPr>
              <a:spLocks noChangeShapeType="1"/>
            </p:cNvSpPr>
            <p:nvPr/>
          </p:nvSpPr>
          <p:spPr bwMode="auto">
            <a:xfrm>
              <a:off x="6400800" y="1676401"/>
              <a:ext cx="1828800" cy="10667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5" name="Line 72"/>
            <p:cNvSpPr>
              <a:spLocks noChangeShapeType="1"/>
            </p:cNvSpPr>
            <p:nvPr/>
          </p:nvSpPr>
          <p:spPr bwMode="auto">
            <a:xfrm flipH="1">
              <a:off x="3200399" y="2970424"/>
              <a:ext cx="493295" cy="1068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6" name="Line 73"/>
            <p:cNvSpPr>
              <a:spLocks noChangeShapeType="1"/>
            </p:cNvSpPr>
            <p:nvPr/>
          </p:nvSpPr>
          <p:spPr bwMode="auto">
            <a:xfrm>
              <a:off x="4492124" y="3024188"/>
              <a:ext cx="537076" cy="10144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7" name="Line 74"/>
            <p:cNvSpPr>
              <a:spLocks noChangeShapeType="1"/>
            </p:cNvSpPr>
            <p:nvPr/>
          </p:nvSpPr>
          <p:spPr bwMode="auto">
            <a:xfrm flipH="1">
              <a:off x="2498224" y="4265614"/>
              <a:ext cx="357271" cy="13223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8" name="Line 75"/>
            <p:cNvSpPr>
              <a:spLocks noChangeShapeType="1"/>
            </p:cNvSpPr>
            <p:nvPr/>
          </p:nvSpPr>
          <p:spPr bwMode="auto">
            <a:xfrm flipH="1">
              <a:off x="7391400" y="2895601"/>
              <a:ext cx="457200" cy="11429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9" name="Line 76"/>
            <p:cNvSpPr>
              <a:spLocks noChangeShapeType="1"/>
            </p:cNvSpPr>
            <p:nvPr/>
          </p:nvSpPr>
          <p:spPr bwMode="auto">
            <a:xfrm>
              <a:off x="5410199" y="4395576"/>
              <a:ext cx="609601" cy="1165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0" name="Rectangle 77"/>
            <p:cNvSpPr>
              <a:spLocks noChangeArrowheads="1"/>
            </p:cNvSpPr>
            <p:nvPr/>
          </p:nvSpPr>
          <p:spPr bwMode="auto">
            <a:xfrm>
              <a:off x="8915400" y="4038600"/>
              <a:ext cx="762000" cy="381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>
                  <a:solidFill>
                    <a:schemeClr val="bg1"/>
                  </a:solidFill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15403" name="Line 80"/>
            <p:cNvSpPr>
              <a:spLocks noChangeShapeType="1"/>
            </p:cNvSpPr>
            <p:nvPr/>
          </p:nvSpPr>
          <p:spPr bwMode="auto">
            <a:xfrm>
              <a:off x="8610600" y="2895601"/>
              <a:ext cx="685800" cy="11429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8" name="Text Box 88"/>
            <p:cNvSpPr txBox="1">
              <a:spLocks noChangeArrowheads="1"/>
            </p:cNvSpPr>
            <p:nvPr/>
          </p:nvSpPr>
          <p:spPr bwMode="auto">
            <a:xfrm>
              <a:off x="2193925" y="1920876"/>
              <a:ext cx="168668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sz="2400">
                  <a:solidFill>
                    <a:srgbClr val="0000CC"/>
                  </a:solidFill>
                  <a:latin typeface="Times New Roman" pitchFamily="18" charset="0"/>
                </a:rPr>
                <a:t>Cây con trái</a:t>
              </a:r>
            </a:p>
          </p:txBody>
        </p:sp>
        <p:sp>
          <p:nvSpPr>
            <p:cNvPr id="15409" name="Text Box 89"/>
            <p:cNvSpPr txBox="1">
              <a:spLocks noChangeArrowheads="1"/>
            </p:cNvSpPr>
            <p:nvPr/>
          </p:nvSpPr>
          <p:spPr bwMode="auto">
            <a:xfrm>
              <a:off x="8382001" y="1905001"/>
              <a:ext cx="180690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sz="2400">
                  <a:solidFill>
                    <a:srgbClr val="0000CC"/>
                  </a:solidFill>
                  <a:latin typeface="Times New Roman" pitchFamily="18" charset="0"/>
                </a:rPr>
                <a:t>Cây con phải</a:t>
              </a:r>
            </a:p>
          </p:txBody>
        </p:sp>
        <p:sp>
          <p:nvSpPr>
            <p:cNvPr id="15410" name="Text Box 90"/>
            <p:cNvSpPr txBox="1">
              <a:spLocks noChangeArrowheads="1"/>
            </p:cNvSpPr>
            <p:nvPr/>
          </p:nvSpPr>
          <p:spPr bwMode="auto">
            <a:xfrm>
              <a:off x="1524001" y="2628901"/>
              <a:ext cx="809625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>
                  <a:solidFill>
                    <a:srgbClr val="CC00CC"/>
                  </a:solidFill>
                  <a:latin typeface="Times New Roman" pitchFamily="18" charset="0"/>
                </a:rPr>
                <a:t>Mức 1</a:t>
              </a:r>
            </a:p>
          </p:txBody>
        </p:sp>
        <p:sp>
          <p:nvSpPr>
            <p:cNvPr id="15411" name="Text Box 91"/>
            <p:cNvSpPr txBox="1">
              <a:spLocks noChangeArrowheads="1"/>
            </p:cNvSpPr>
            <p:nvPr/>
          </p:nvSpPr>
          <p:spPr bwMode="auto">
            <a:xfrm>
              <a:off x="1524001" y="3898901"/>
              <a:ext cx="809625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>
                  <a:solidFill>
                    <a:srgbClr val="CC00CC"/>
                  </a:solidFill>
                  <a:latin typeface="Times New Roman" pitchFamily="18" charset="0"/>
                </a:rPr>
                <a:t>Mức 2</a:t>
              </a:r>
            </a:p>
          </p:txBody>
        </p:sp>
        <p:sp>
          <p:nvSpPr>
            <p:cNvPr id="15412" name="Text Box 92"/>
            <p:cNvSpPr txBox="1">
              <a:spLocks noChangeArrowheads="1"/>
            </p:cNvSpPr>
            <p:nvPr/>
          </p:nvSpPr>
          <p:spPr bwMode="auto">
            <a:xfrm>
              <a:off x="1524001" y="5194301"/>
              <a:ext cx="809625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>
                  <a:solidFill>
                    <a:srgbClr val="CC00CC"/>
                  </a:solidFill>
                  <a:latin typeface="Times New Roman" pitchFamily="18" charset="0"/>
                </a:rPr>
                <a:t>Mức 3</a:t>
              </a:r>
            </a:p>
          </p:txBody>
        </p:sp>
        <p:sp>
          <p:nvSpPr>
            <p:cNvPr id="15413" name="Text Box 94"/>
            <p:cNvSpPr txBox="1">
              <a:spLocks noChangeArrowheads="1"/>
            </p:cNvSpPr>
            <p:nvPr/>
          </p:nvSpPr>
          <p:spPr bwMode="auto">
            <a:xfrm>
              <a:off x="1524001" y="1385888"/>
              <a:ext cx="809625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>
                  <a:solidFill>
                    <a:srgbClr val="CC00CC"/>
                  </a:solidFill>
                  <a:latin typeface="Times New Roman" pitchFamily="18" charset="0"/>
                </a:rPr>
                <a:t>Mức 0</a:t>
              </a:r>
            </a:p>
          </p:txBody>
        </p:sp>
        <p:sp>
          <p:nvSpPr>
            <p:cNvPr id="52" name="Line 73"/>
            <p:cNvSpPr>
              <a:spLocks noChangeShapeType="1"/>
            </p:cNvSpPr>
            <p:nvPr/>
          </p:nvSpPr>
          <p:spPr bwMode="auto">
            <a:xfrm>
              <a:off x="3617495" y="4265614"/>
              <a:ext cx="457200" cy="1246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Rectangle 67"/>
            <p:cNvSpPr>
              <a:spLocks noChangeArrowheads="1"/>
            </p:cNvSpPr>
            <p:nvPr/>
          </p:nvSpPr>
          <p:spPr bwMode="auto">
            <a:xfrm>
              <a:off x="2193925" y="5524500"/>
              <a:ext cx="762000" cy="381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 smtClean="0">
                  <a:solidFill>
                    <a:schemeClr val="bg1"/>
                  </a:solidFill>
                  <a:latin typeface="Times New Roman" pitchFamily="18" charset="0"/>
                </a:rPr>
                <a:t>H</a:t>
              </a:r>
              <a:endParaRPr lang="en-US" sz="28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54" name="Rectangle 67"/>
            <p:cNvSpPr>
              <a:spLocks noChangeArrowheads="1"/>
            </p:cNvSpPr>
            <p:nvPr/>
          </p:nvSpPr>
          <p:spPr bwMode="auto">
            <a:xfrm>
              <a:off x="5536951" y="5548524"/>
              <a:ext cx="762000" cy="381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 smtClean="0">
                  <a:solidFill>
                    <a:schemeClr val="bg1"/>
                  </a:solidFill>
                  <a:latin typeface="Times New Roman" pitchFamily="18" charset="0"/>
                </a:rPr>
                <a:t>J</a:t>
              </a:r>
              <a:endParaRPr lang="en-US" sz="28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124</a:t>
            </a:fld>
            <a:endParaRPr lang="en-US"/>
          </a:p>
        </p:txBody>
      </p:sp>
      <p:pic>
        <p:nvPicPr>
          <p:cNvPr id="35" name="Picture 34"/>
          <p:cNvPicPr/>
          <p:nvPr/>
        </p:nvPicPr>
        <p:blipFill rotWithShape="1">
          <a:blip r:embed="rId2"/>
          <a:srcRect l="44676" t="68746" r="22912" b="11659"/>
          <a:stretch/>
        </p:blipFill>
        <p:spPr bwMode="auto">
          <a:xfrm>
            <a:off x="5770020" y="5278771"/>
            <a:ext cx="4565782" cy="151342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4867760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552364"/>
            <a:ext cx="10642600" cy="703747"/>
          </a:xfrm>
        </p:spPr>
        <p:txBody>
          <a:bodyPr/>
          <a:lstStyle/>
          <a:p>
            <a:r>
              <a:rPr lang="en-US" dirty="0" err="1"/>
              <a:t>Duyệt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chiều</a:t>
            </a:r>
            <a:r>
              <a:rPr lang="en-US" dirty="0"/>
              <a:t> </a:t>
            </a:r>
            <a:r>
              <a:rPr lang="en-US" dirty="0" err="1"/>
              <a:t>rộng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700" y="1434160"/>
            <a:ext cx="10642600" cy="5384800"/>
          </a:xfrm>
        </p:spPr>
        <p:txBody>
          <a:bodyPr vert="horz" lIns="0" tIns="45720" rIns="0" bIns="45720" rtlCol="0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vi-VN" sz="3200" b="1" dirty="0"/>
              <a:t>Bước 7</a:t>
            </a:r>
            <a:r>
              <a:rPr lang="vi-VN" sz="3200" dirty="0"/>
              <a:t>: Kiểm </a:t>
            </a:r>
            <a:r>
              <a:rPr lang="vi-VN" sz="3200"/>
              <a:t>tra queue, </a:t>
            </a:r>
            <a:r>
              <a:rPr lang="vi-VN" sz="3200" smtClean="0"/>
              <a:t>queue </a:t>
            </a:r>
            <a:r>
              <a:rPr lang="vi-VN" sz="3200"/>
              <a:t>không rỗng, </a:t>
            </a:r>
            <a:r>
              <a:rPr lang="vi-VN" sz="3200" smtClean="0"/>
              <a:t>lấy </a:t>
            </a:r>
            <a:r>
              <a:rPr lang="vi-VN" sz="3200" dirty="0"/>
              <a:t>phần tử đầu tiên (F) ra khỏi queue. Phần tử này chuyển </a:t>
            </a:r>
            <a:r>
              <a:rPr lang="vi-VN" sz="3200"/>
              <a:t>sang trạng thái đã duyệt. </a:t>
            </a:r>
            <a:endParaRPr lang="en-US" sz="32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vi-VN" sz="3200" dirty="0"/>
              <a:t>F là </a:t>
            </a:r>
            <a:r>
              <a:rPr lang="vi-VN" sz="3200"/>
              <a:t>node lá</a:t>
            </a:r>
            <a:r>
              <a:rPr lang="vi-VN" sz="3200" smtClean="0"/>
              <a:t>, </a:t>
            </a:r>
            <a:r>
              <a:rPr lang="vi-VN" sz="3200" dirty="0"/>
              <a:t>không có con nên không </a:t>
            </a:r>
            <a:r>
              <a:rPr lang="vi-VN" sz="3200"/>
              <a:t>cần </a:t>
            </a:r>
            <a:r>
              <a:rPr lang="vi-VN" sz="3200" smtClean="0"/>
              <a:t>Enqueue</a:t>
            </a:r>
            <a:r>
              <a:rPr lang="vi-VN" sz="3200" dirty="0"/>
              <a:t>. </a:t>
            </a:r>
            <a:endParaRPr lang="en-US" sz="32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vi-VN" sz="3200" dirty="0"/>
              <a:t>In ra </a:t>
            </a:r>
            <a:r>
              <a:rPr lang="vi-VN" sz="3200"/>
              <a:t>dữ liệu </a:t>
            </a:r>
            <a:r>
              <a:rPr lang="vi-VN" sz="3200" dirty="0"/>
              <a:t>node F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125</a:t>
            </a:fld>
            <a:endParaRPr lang="en-US"/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l="45997" t="54857" r="22830" b="22190"/>
          <a:stretch/>
        </p:blipFill>
        <p:spPr bwMode="auto">
          <a:xfrm>
            <a:off x="4409564" y="4221023"/>
            <a:ext cx="6131721" cy="225774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16846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494618"/>
            <a:ext cx="10541000" cy="72186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dirty="0" err="1"/>
              <a:t>Duyệt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chiều</a:t>
            </a:r>
            <a:r>
              <a:rPr lang="en-US" dirty="0"/>
              <a:t> </a:t>
            </a:r>
            <a:r>
              <a:rPr lang="en-US" dirty="0" err="1"/>
              <a:t>rộng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67812" y="984873"/>
            <a:ext cx="9143999" cy="4543636"/>
            <a:chOff x="1524001" y="1385888"/>
            <a:chExt cx="9143999" cy="4543636"/>
          </a:xfrm>
        </p:grpSpPr>
        <p:sp>
          <p:nvSpPr>
            <p:cNvPr id="15364" name="Line 93"/>
            <p:cNvSpPr>
              <a:spLocks noChangeShapeType="1"/>
            </p:cNvSpPr>
            <p:nvPr/>
          </p:nvSpPr>
          <p:spPr bwMode="auto">
            <a:xfrm>
              <a:off x="1828800" y="1728788"/>
              <a:ext cx="8839200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5" name="Line 83"/>
            <p:cNvSpPr>
              <a:spLocks noChangeShapeType="1"/>
            </p:cNvSpPr>
            <p:nvPr/>
          </p:nvSpPr>
          <p:spPr bwMode="auto">
            <a:xfrm>
              <a:off x="1828800" y="5524500"/>
              <a:ext cx="8839200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6" name="Line 82"/>
            <p:cNvSpPr>
              <a:spLocks noChangeShapeType="1"/>
            </p:cNvSpPr>
            <p:nvPr/>
          </p:nvSpPr>
          <p:spPr bwMode="auto">
            <a:xfrm>
              <a:off x="1828800" y="4229100"/>
              <a:ext cx="8839200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7" name="Line 81"/>
            <p:cNvSpPr>
              <a:spLocks noChangeShapeType="1"/>
            </p:cNvSpPr>
            <p:nvPr/>
          </p:nvSpPr>
          <p:spPr bwMode="auto">
            <a:xfrm>
              <a:off x="1828800" y="2946400"/>
              <a:ext cx="8839200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9" name="Rectangle 4"/>
            <p:cNvSpPr>
              <a:spLocks noChangeArrowheads="1"/>
            </p:cNvSpPr>
            <p:nvPr/>
          </p:nvSpPr>
          <p:spPr bwMode="auto">
            <a:xfrm>
              <a:off x="5638800" y="1524000"/>
              <a:ext cx="762000" cy="3810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>
                  <a:solidFill>
                    <a:schemeClr val="bg1"/>
                  </a:solidFill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15372" name="Rectangle 49"/>
            <p:cNvSpPr>
              <a:spLocks noChangeArrowheads="1"/>
            </p:cNvSpPr>
            <p:nvPr/>
          </p:nvSpPr>
          <p:spPr bwMode="auto">
            <a:xfrm>
              <a:off x="3733800" y="2743200"/>
              <a:ext cx="762000" cy="3810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5375" name="Rectangle 52"/>
            <p:cNvSpPr>
              <a:spLocks noChangeArrowheads="1"/>
            </p:cNvSpPr>
            <p:nvPr/>
          </p:nvSpPr>
          <p:spPr bwMode="auto">
            <a:xfrm>
              <a:off x="7848600" y="2743200"/>
              <a:ext cx="762000" cy="3810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15378" name="Rectangle 55"/>
            <p:cNvSpPr>
              <a:spLocks noChangeArrowheads="1"/>
            </p:cNvSpPr>
            <p:nvPr/>
          </p:nvSpPr>
          <p:spPr bwMode="auto">
            <a:xfrm>
              <a:off x="2819400" y="4038600"/>
              <a:ext cx="762000" cy="3810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15381" name="Rectangle 58"/>
            <p:cNvSpPr>
              <a:spLocks noChangeArrowheads="1"/>
            </p:cNvSpPr>
            <p:nvPr/>
          </p:nvSpPr>
          <p:spPr bwMode="auto">
            <a:xfrm>
              <a:off x="4648200" y="4038600"/>
              <a:ext cx="762000" cy="3810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15384" name="Rectangle 61"/>
            <p:cNvSpPr>
              <a:spLocks noChangeArrowheads="1"/>
            </p:cNvSpPr>
            <p:nvPr/>
          </p:nvSpPr>
          <p:spPr bwMode="auto">
            <a:xfrm>
              <a:off x="7010400" y="4038600"/>
              <a:ext cx="762000" cy="3810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15390" name="Rectangle 67"/>
            <p:cNvSpPr>
              <a:spLocks noChangeArrowheads="1"/>
            </p:cNvSpPr>
            <p:nvPr/>
          </p:nvSpPr>
          <p:spPr bwMode="auto">
            <a:xfrm>
              <a:off x="3683000" y="5548524"/>
              <a:ext cx="762000" cy="381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15393" name="Line 70"/>
            <p:cNvSpPr>
              <a:spLocks noChangeShapeType="1"/>
            </p:cNvSpPr>
            <p:nvPr/>
          </p:nvSpPr>
          <p:spPr bwMode="auto">
            <a:xfrm flipH="1">
              <a:off x="4190999" y="1676401"/>
              <a:ext cx="1442205" cy="10667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4" name="Line 71"/>
            <p:cNvSpPr>
              <a:spLocks noChangeShapeType="1"/>
            </p:cNvSpPr>
            <p:nvPr/>
          </p:nvSpPr>
          <p:spPr bwMode="auto">
            <a:xfrm>
              <a:off x="6400800" y="1676401"/>
              <a:ext cx="1828800" cy="10667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5" name="Line 72"/>
            <p:cNvSpPr>
              <a:spLocks noChangeShapeType="1"/>
            </p:cNvSpPr>
            <p:nvPr/>
          </p:nvSpPr>
          <p:spPr bwMode="auto">
            <a:xfrm flipH="1">
              <a:off x="3200399" y="2970424"/>
              <a:ext cx="493295" cy="1068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6" name="Line 73"/>
            <p:cNvSpPr>
              <a:spLocks noChangeShapeType="1"/>
            </p:cNvSpPr>
            <p:nvPr/>
          </p:nvSpPr>
          <p:spPr bwMode="auto">
            <a:xfrm>
              <a:off x="4492124" y="3024188"/>
              <a:ext cx="537076" cy="10144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7" name="Line 74"/>
            <p:cNvSpPr>
              <a:spLocks noChangeShapeType="1"/>
            </p:cNvSpPr>
            <p:nvPr/>
          </p:nvSpPr>
          <p:spPr bwMode="auto">
            <a:xfrm flipH="1">
              <a:off x="2498224" y="4265614"/>
              <a:ext cx="357271" cy="13223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8" name="Line 75"/>
            <p:cNvSpPr>
              <a:spLocks noChangeShapeType="1"/>
            </p:cNvSpPr>
            <p:nvPr/>
          </p:nvSpPr>
          <p:spPr bwMode="auto">
            <a:xfrm flipH="1">
              <a:off x="7391400" y="2895601"/>
              <a:ext cx="457200" cy="11429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9" name="Line 76"/>
            <p:cNvSpPr>
              <a:spLocks noChangeShapeType="1"/>
            </p:cNvSpPr>
            <p:nvPr/>
          </p:nvSpPr>
          <p:spPr bwMode="auto">
            <a:xfrm>
              <a:off x="5410199" y="4395576"/>
              <a:ext cx="609601" cy="1165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0" name="Rectangle 77"/>
            <p:cNvSpPr>
              <a:spLocks noChangeArrowheads="1"/>
            </p:cNvSpPr>
            <p:nvPr/>
          </p:nvSpPr>
          <p:spPr bwMode="auto">
            <a:xfrm>
              <a:off x="8915400" y="4038600"/>
              <a:ext cx="762000" cy="381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>
                  <a:solidFill>
                    <a:schemeClr val="bg1"/>
                  </a:solidFill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15403" name="Line 80"/>
            <p:cNvSpPr>
              <a:spLocks noChangeShapeType="1"/>
            </p:cNvSpPr>
            <p:nvPr/>
          </p:nvSpPr>
          <p:spPr bwMode="auto">
            <a:xfrm>
              <a:off x="8610600" y="2895601"/>
              <a:ext cx="685800" cy="11429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8" name="Text Box 88"/>
            <p:cNvSpPr txBox="1">
              <a:spLocks noChangeArrowheads="1"/>
            </p:cNvSpPr>
            <p:nvPr/>
          </p:nvSpPr>
          <p:spPr bwMode="auto">
            <a:xfrm>
              <a:off x="2193925" y="1920876"/>
              <a:ext cx="168668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sz="2400">
                  <a:solidFill>
                    <a:srgbClr val="0000CC"/>
                  </a:solidFill>
                  <a:latin typeface="Times New Roman" pitchFamily="18" charset="0"/>
                </a:rPr>
                <a:t>Cây con trái</a:t>
              </a:r>
            </a:p>
          </p:txBody>
        </p:sp>
        <p:sp>
          <p:nvSpPr>
            <p:cNvPr id="15409" name="Text Box 89"/>
            <p:cNvSpPr txBox="1">
              <a:spLocks noChangeArrowheads="1"/>
            </p:cNvSpPr>
            <p:nvPr/>
          </p:nvSpPr>
          <p:spPr bwMode="auto">
            <a:xfrm>
              <a:off x="8382001" y="1905001"/>
              <a:ext cx="180690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sz="2400">
                  <a:solidFill>
                    <a:srgbClr val="0000CC"/>
                  </a:solidFill>
                  <a:latin typeface="Times New Roman" pitchFamily="18" charset="0"/>
                </a:rPr>
                <a:t>Cây con phải</a:t>
              </a:r>
            </a:p>
          </p:txBody>
        </p:sp>
        <p:sp>
          <p:nvSpPr>
            <p:cNvPr id="15410" name="Text Box 90"/>
            <p:cNvSpPr txBox="1">
              <a:spLocks noChangeArrowheads="1"/>
            </p:cNvSpPr>
            <p:nvPr/>
          </p:nvSpPr>
          <p:spPr bwMode="auto">
            <a:xfrm>
              <a:off x="1524001" y="2628901"/>
              <a:ext cx="809625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>
                  <a:solidFill>
                    <a:srgbClr val="CC00CC"/>
                  </a:solidFill>
                  <a:latin typeface="Times New Roman" pitchFamily="18" charset="0"/>
                </a:rPr>
                <a:t>Mức 1</a:t>
              </a:r>
            </a:p>
          </p:txBody>
        </p:sp>
        <p:sp>
          <p:nvSpPr>
            <p:cNvPr id="15411" name="Text Box 91"/>
            <p:cNvSpPr txBox="1">
              <a:spLocks noChangeArrowheads="1"/>
            </p:cNvSpPr>
            <p:nvPr/>
          </p:nvSpPr>
          <p:spPr bwMode="auto">
            <a:xfrm>
              <a:off x="1524001" y="3898901"/>
              <a:ext cx="809625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>
                  <a:solidFill>
                    <a:srgbClr val="CC00CC"/>
                  </a:solidFill>
                  <a:latin typeface="Times New Roman" pitchFamily="18" charset="0"/>
                </a:rPr>
                <a:t>Mức 2</a:t>
              </a:r>
            </a:p>
          </p:txBody>
        </p:sp>
        <p:sp>
          <p:nvSpPr>
            <p:cNvPr id="15412" name="Text Box 92"/>
            <p:cNvSpPr txBox="1">
              <a:spLocks noChangeArrowheads="1"/>
            </p:cNvSpPr>
            <p:nvPr/>
          </p:nvSpPr>
          <p:spPr bwMode="auto">
            <a:xfrm>
              <a:off x="1524001" y="5194301"/>
              <a:ext cx="809625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>
                  <a:solidFill>
                    <a:srgbClr val="CC00CC"/>
                  </a:solidFill>
                  <a:latin typeface="Times New Roman" pitchFamily="18" charset="0"/>
                </a:rPr>
                <a:t>Mức 3</a:t>
              </a:r>
            </a:p>
          </p:txBody>
        </p:sp>
        <p:sp>
          <p:nvSpPr>
            <p:cNvPr id="15413" name="Text Box 94"/>
            <p:cNvSpPr txBox="1">
              <a:spLocks noChangeArrowheads="1"/>
            </p:cNvSpPr>
            <p:nvPr/>
          </p:nvSpPr>
          <p:spPr bwMode="auto">
            <a:xfrm>
              <a:off x="1524001" y="1385888"/>
              <a:ext cx="809625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>
                  <a:solidFill>
                    <a:srgbClr val="CC00CC"/>
                  </a:solidFill>
                  <a:latin typeface="Times New Roman" pitchFamily="18" charset="0"/>
                </a:rPr>
                <a:t>Mức 0</a:t>
              </a:r>
            </a:p>
          </p:txBody>
        </p:sp>
        <p:sp>
          <p:nvSpPr>
            <p:cNvPr id="52" name="Line 73"/>
            <p:cNvSpPr>
              <a:spLocks noChangeShapeType="1"/>
            </p:cNvSpPr>
            <p:nvPr/>
          </p:nvSpPr>
          <p:spPr bwMode="auto">
            <a:xfrm>
              <a:off x="3617495" y="4265614"/>
              <a:ext cx="457200" cy="1246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Rectangle 67"/>
            <p:cNvSpPr>
              <a:spLocks noChangeArrowheads="1"/>
            </p:cNvSpPr>
            <p:nvPr/>
          </p:nvSpPr>
          <p:spPr bwMode="auto">
            <a:xfrm>
              <a:off x="2193925" y="5524500"/>
              <a:ext cx="762000" cy="381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 smtClean="0">
                  <a:solidFill>
                    <a:schemeClr val="bg1"/>
                  </a:solidFill>
                  <a:latin typeface="Times New Roman" pitchFamily="18" charset="0"/>
                </a:rPr>
                <a:t>H</a:t>
              </a:r>
              <a:endParaRPr lang="en-US" sz="28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54" name="Rectangle 67"/>
            <p:cNvSpPr>
              <a:spLocks noChangeArrowheads="1"/>
            </p:cNvSpPr>
            <p:nvPr/>
          </p:nvSpPr>
          <p:spPr bwMode="auto">
            <a:xfrm>
              <a:off x="5536951" y="5548524"/>
              <a:ext cx="762000" cy="381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 smtClean="0">
                  <a:solidFill>
                    <a:schemeClr val="bg1"/>
                  </a:solidFill>
                  <a:latin typeface="Times New Roman" pitchFamily="18" charset="0"/>
                </a:rPr>
                <a:t>J</a:t>
              </a:r>
              <a:endParaRPr lang="en-US" sz="28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126</a:t>
            </a:fld>
            <a:endParaRPr lang="en-US"/>
          </a:p>
        </p:txBody>
      </p:sp>
      <p:pic>
        <p:nvPicPr>
          <p:cNvPr id="35" name="Picture 34"/>
          <p:cNvPicPr/>
          <p:nvPr/>
        </p:nvPicPr>
        <p:blipFill rotWithShape="1">
          <a:blip r:embed="rId2"/>
          <a:srcRect l="45997" t="54857" r="22830" b="22190"/>
          <a:stretch/>
        </p:blipFill>
        <p:spPr bwMode="auto">
          <a:xfrm>
            <a:off x="5817124" y="5313984"/>
            <a:ext cx="4405663" cy="141526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051594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494614"/>
            <a:ext cx="10642600" cy="703747"/>
          </a:xfrm>
        </p:spPr>
        <p:txBody>
          <a:bodyPr/>
          <a:lstStyle/>
          <a:p>
            <a:r>
              <a:rPr lang="en-US" dirty="0" err="1"/>
              <a:t>Duyệt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chiều</a:t>
            </a:r>
            <a:r>
              <a:rPr lang="en-US" dirty="0"/>
              <a:t> </a:t>
            </a:r>
            <a:r>
              <a:rPr lang="en-US" dirty="0" err="1"/>
              <a:t>rộng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699" y="1347535"/>
            <a:ext cx="11184419" cy="5384800"/>
          </a:xfrm>
        </p:spPr>
        <p:txBody>
          <a:bodyPr vert="horz" lIns="0" tIns="45720" rIns="0" bIns="45720" rtlCol="0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vi-VN" sz="3200" b="1" dirty="0"/>
              <a:t>Bước 8</a:t>
            </a:r>
            <a:r>
              <a:rPr lang="vi-VN" sz="3200" dirty="0"/>
              <a:t>: Kiểm </a:t>
            </a:r>
            <a:r>
              <a:rPr lang="vi-VN" sz="3200"/>
              <a:t>tra queue</a:t>
            </a:r>
            <a:r>
              <a:rPr lang="vi-VN" sz="3200" smtClean="0"/>
              <a:t>, </a:t>
            </a:r>
            <a:r>
              <a:rPr lang="vi-VN" sz="3200" dirty="0"/>
              <a:t>queue </a:t>
            </a:r>
            <a:r>
              <a:rPr lang="vi-VN" sz="3200"/>
              <a:t>không rỗng,  </a:t>
            </a:r>
            <a:r>
              <a:rPr lang="vi-VN" sz="3200" dirty="0"/>
              <a:t>lấy phần tử đầu tiên (G) ra khỏi queue. Phần tử này chuyển </a:t>
            </a:r>
            <a:r>
              <a:rPr lang="vi-VN" sz="3200"/>
              <a:t>sang trạng thái đã duyệt. </a:t>
            </a:r>
            <a:endParaRPr lang="en-US" sz="32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vi-VN" sz="3200" dirty="0"/>
              <a:t>G là </a:t>
            </a:r>
            <a:r>
              <a:rPr lang="vi-VN" sz="3200"/>
              <a:t>node lá</a:t>
            </a:r>
            <a:r>
              <a:rPr lang="vi-VN" sz="3200" smtClean="0"/>
              <a:t>, </a:t>
            </a:r>
            <a:r>
              <a:rPr lang="vi-VN" sz="3200" dirty="0"/>
              <a:t>không có con nên không </a:t>
            </a:r>
            <a:r>
              <a:rPr lang="vi-VN" sz="3200"/>
              <a:t>cần </a:t>
            </a:r>
            <a:r>
              <a:rPr lang="vi-VN" sz="3200" smtClean="0"/>
              <a:t>Enqueue</a:t>
            </a:r>
            <a:r>
              <a:rPr lang="vi-VN" sz="3200" dirty="0"/>
              <a:t>. </a:t>
            </a:r>
            <a:endParaRPr lang="en-US" sz="32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vi-VN" sz="3200" dirty="0"/>
              <a:t>In ra </a:t>
            </a:r>
            <a:r>
              <a:rPr lang="vi-VN" sz="3200"/>
              <a:t>dữ liệu node </a:t>
            </a:r>
            <a:r>
              <a:rPr lang="vi-VN" sz="3200" smtClean="0"/>
              <a:t>G</a:t>
            </a:r>
            <a:r>
              <a:rPr lang="en-US" sz="3200" smtClean="0"/>
              <a:t>.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127</a:t>
            </a:fld>
            <a:endParaRPr lang="en-US"/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l="45092" t="57197" r="22830" b="19265"/>
          <a:stretch/>
        </p:blipFill>
        <p:spPr bwMode="auto">
          <a:xfrm>
            <a:off x="3987878" y="4144405"/>
            <a:ext cx="6830810" cy="240185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51079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494615"/>
            <a:ext cx="10541000" cy="72186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dirty="0" err="1"/>
              <a:t>Duyệt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chiều</a:t>
            </a:r>
            <a:r>
              <a:rPr lang="en-US" dirty="0"/>
              <a:t> </a:t>
            </a:r>
            <a:r>
              <a:rPr lang="en-US" dirty="0" err="1"/>
              <a:t>rộng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424666" y="1025966"/>
            <a:ext cx="9143999" cy="4543636"/>
            <a:chOff x="1524001" y="1385888"/>
            <a:chExt cx="9143999" cy="4543636"/>
          </a:xfrm>
        </p:grpSpPr>
        <p:sp>
          <p:nvSpPr>
            <p:cNvPr id="15364" name="Line 93"/>
            <p:cNvSpPr>
              <a:spLocks noChangeShapeType="1"/>
            </p:cNvSpPr>
            <p:nvPr/>
          </p:nvSpPr>
          <p:spPr bwMode="auto">
            <a:xfrm>
              <a:off x="1828800" y="1728788"/>
              <a:ext cx="8839200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5" name="Line 83"/>
            <p:cNvSpPr>
              <a:spLocks noChangeShapeType="1"/>
            </p:cNvSpPr>
            <p:nvPr/>
          </p:nvSpPr>
          <p:spPr bwMode="auto">
            <a:xfrm>
              <a:off x="1828800" y="5524500"/>
              <a:ext cx="8839200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6" name="Line 82"/>
            <p:cNvSpPr>
              <a:spLocks noChangeShapeType="1"/>
            </p:cNvSpPr>
            <p:nvPr/>
          </p:nvSpPr>
          <p:spPr bwMode="auto">
            <a:xfrm>
              <a:off x="1828800" y="4229100"/>
              <a:ext cx="8839200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7" name="Line 81"/>
            <p:cNvSpPr>
              <a:spLocks noChangeShapeType="1"/>
            </p:cNvSpPr>
            <p:nvPr/>
          </p:nvSpPr>
          <p:spPr bwMode="auto">
            <a:xfrm>
              <a:off x="1828800" y="2946400"/>
              <a:ext cx="8839200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9" name="Rectangle 4"/>
            <p:cNvSpPr>
              <a:spLocks noChangeArrowheads="1"/>
            </p:cNvSpPr>
            <p:nvPr/>
          </p:nvSpPr>
          <p:spPr bwMode="auto">
            <a:xfrm>
              <a:off x="5638800" y="1524000"/>
              <a:ext cx="762000" cy="3810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>
                  <a:solidFill>
                    <a:schemeClr val="bg1"/>
                  </a:solidFill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15372" name="Rectangle 49"/>
            <p:cNvSpPr>
              <a:spLocks noChangeArrowheads="1"/>
            </p:cNvSpPr>
            <p:nvPr/>
          </p:nvSpPr>
          <p:spPr bwMode="auto">
            <a:xfrm>
              <a:off x="3733800" y="2743200"/>
              <a:ext cx="762000" cy="3810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5375" name="Rectangle 52"/>
            <p:cNvSpPr>
              <a:spLocks noChangeArrowheads="1"/>
            </p:cNvSpPr>
            <p:nvPr/>
          </p:nvSpPr>
          <p:spPr bwMode="auto">
            <a:xfrm>
              <a:off x="7848600" y="2743200"/>
              <a:ext cx="762000" cy="3810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15378" name="Rectangle 55"/>
            <p:cNvSpPr>
              <a:spLocks noChangeArrowheads="1"/>
            </p:cNvSpPr>
            <p:nvPr/>
          </p:nvSpPr>
          <p:spPr bwMode="auto">
            <a:xfrm>
              <a:off x="2819400" y="4038600"/>
              <a:ext cx="762000" cy="3810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15381" name="Rectangle 58"/>
            <p:cNvSpPr>
              <a:spLocks noChangeArrowheads="1"/>
            </p:cNvSpPr>
            <p:nvPr/>
          </p:nvSpPr>
          <p:spPr bwMode="auto">
            <a:xfrm>
              <a:off x="4648200" y="4038600"/>
              <a:ext cx="762000" cy="3810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15384" name="Rectangle 61"/>
            <p:cNvSpPr>
              <a:spLocks noChangeArrowheads="1"/>
            </p:cNvSpPr>
            <p:nvPr/>
          </p:nvSpPr>
          <p:spPr bwMode="auto">
            <a:xfrm>
              <a:off x="7010400" y="4038600"/>
              <a:ext cx="762000" cy="3810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15390" name="Rectangle 67"/>
            <p:cNvSpPr>
              <a:spLocks noChangeArrowheads="1"/>
            </p:cNvSpPr>
            <p:nvPr/>
          </p:nvSpPr>
          <p:spPr bwMode="auto">
            <a:xfrm>
              <a:off x="3683000" y="5548524"/>
              <a:ext cx="762000" cy="381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15393" name="Line 70"/>
            <p:cNvSpPr>
              <a:spLocks noChangeShapeType="1"/>
            </p:cNvSpPr>
            <p:nvPr/>
          </p:nvSpPr>
          <p:spPr bwMode="auto">
            <a:xfrm flipH="1">
              <a:off x="4190999" y="1676401"/>
              <a:ext cx="1442205" cy="10667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4" name="Line 71"/>
            <p:cNvSpPr>
              <a:spLocks noChangeShapeType="1"/>
            </p:cNvSpPr>
            <p:nvPr/>
          </p:nvSpPr>
          <p:spPr bwMode="auto">
            <a:xfrm>
              <a:off x="6400800" y="1676401"/>
              <a:ext cx="1828800" cy="10667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5" name="Line 72"/>
            <p:cNvSpPr>
              <a:spLocks noChangeShapeType="1"/>
            </p:cNvSpPr>
            <p:nvPr/>
          </p:nvSpPr>
          <p:spPr bwMode="auto">
            <a:xfrm flipH="1">
              <a:off x="3200399" y="2970424"/>
              <a:ext cx="493295" cy="1068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6" name="Line 73"/>
            <p:cNvSpPr>
              <a:spLocks noChangeShapeType="1"/>
            </p:cNvSpPr>
            <p:nvPr/>
          </p:nvSpPr>
          <p:spPr bwMode="auto">
            <a:xfrm>
              <a:off x="4492124" y="3024188"/>
              <a:ext cx="537076" cy="10144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7" name="Line 74"/>
            <p:cNvSpPr>
              <a:spLocks noChangeShapeType="1"/>
            </p:cNvSpPr>
            <p:nvPr/>
          </p:nvSpPr>
          <p:spPr bwMode="auto">
            <a:xfrm flipH="1">
              <a:off x="2498224" y="4265614"/>
              <a:ext cx="357271" cy="13223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8" name="Line 75"/>
            <p:cNvSpPr>
              <a:spLocks noChangeShapeType="1"/>
            </p:cNvSpPr>
            <p:nvPr/>
          </p:nvSpPr>
          <p:spPr bwMode="auto">
            <a:xfrm flipH="1">
              <a:off x="7391400" y="2895601"/>
              <a:ext cx="457200" cy="11429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9" name="Line 76"/>
            <p:cNvSpPr>
              <a:spLocks noChangeShapeType="1"/>
            </p:cNvSpPr>
            <p:nvPr/>
          </p:nvSpPr>
          <p:spPr bwMode="auto">
            <a:xfrm>
              <a:off x="5410199" y="4395576"/>
              <a:ext cx="609601" cy="1165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0" name="Rectangle 77"/>
            <p:cNvSpPr>
              <a:spLocks noChangeArrowheads="1"/>
            </p:cNvSpPr>
            <p:nvPr/>
          </p:nvSpPr>
          <p:spPr bwMode="auto">
            <a:xfrm>
              <a:off x="8915400" y="4038600"/>
              <a:ext cx="762000" cy="3810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15403" name="Line 80"/>
            <p:cNvSpPr>
              <a:spLocks noChangeShapeType="1"/>
            </p:cNvSpPr>
            <p:nvPr/>
          </p:nvSpPr>
          <p:spPr bwMode="auto">
            <a:xfrm>
              <a:off x="8610600" y="2895601"/>
              <a:ext cx="685800" cy="11429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8" name="Text Box 88"/>
            <p:cNvSpPr txBox="1">
              <a:spLocks noChangeArrowheads="1"/>
            </p:cNvSpPr>
            <p:nvPr/>
          </p:nvSpPr>
          <p:spPr bwMode="auto">
            <a:xfrm>
              <a:off x="2193925" y="1920876"/>
              <a:ext cx="168668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sz="2400">
                  <a:solidFill>
                    <a:srgbClr val="0000CC"/>
                  </a:solidFill>
                  <a:latin typeface="Times New Roman" pitchFamily="18" charset="0"/>
                </a:rPr>
                <a:t>Cây con trái</a:t>
              </a:r>
            </a:p>
          </p:txBody>
        </p:sp>
        <p:sp>
          <p:nvSpPr>
            <p:cNvPr id="15409" name="Text Box 89"/>
            <p:cNvSpPr txBox="1">
              <a:spLocks noChangeArrowheads="1"/>
            </p:cNvSpPr>
            <p:nvPr/>
          </p:nvSpPr>
          <p:spPr bwMode="auto">
            <a:xfrm>
              <a:off x="8382001" y="1905001"/>
              <a:ext cx="180690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sz="2400">
                  <a:solidFill>
                    <a:srgbClr val="0000CC"/>
                  </a:solidFill>
                  <a:latin typeface="Times New Roman" pitchFamily="18" charset="0"/>
                </a:rPr>
                <a:t>Cây con phải</a:t>
              </a:r>
            </a:p>
          </p:txBody>
        </p:sp>
        <p:sp>
          <p:nvSpPr>
            <p:cNvPr id="15410" name="Text Box 90"/>
            <p:cNvSpPr txBox="1">
              <a:spLocks noChangeArrowheads="1"/>
            </p:cNvSpPr>
            <p:nvPr/>
          </p:nvSpPr>
          <p:spPr bwMode="auto">
            <a:xfrm>
              <a:off x="1524001" y="2628901"/>
              <a:ext cx="809625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>
                  <a:solidFill>
                    <a:srgbClr val="CC00CC"/>
                  </a:solidFill>
                  <a:latin typeface="Times New Roman" pitchFamily="18" charset="0"/>
                </a:rPr>
                <a:t>Mức 1</a:t>
              </a:r>
            </a:p>
          </p:txBody>
        </p:sp>
        <p:sp>
          <p:nvSpPr>
            <p:cNvPr id="15411" name="Text Box 91"/>
            <p:cNvSpPr txBox="1">
              <a:spLocks noChangeArrowheads="1"/>
            </p:cNvSpPr>
            <p:nvPr/>
          </p:nvSpPr>
          <p:spPr bwMode="auto">
            <a:xfrm>
              <a:off x="1524001" y="3898901"/>
              <a:ext cx="809625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>
                  <a:solidFill>
                    <a:srgbClr val="CC00CC"/>
                  </a:solidFill>
                  <a:latin typeface="Times New Roman" pitchFamily="18" charset="0"/>
                </a:rPr>
                <a:t>Mức 2</a:t>
              </a:r>
            </a:p>
          </p:txBody>
        </p:sp>
        <p:sp>
          <p:nvSpPr>
            <p:cNvPr id="15412" name="Text Box 92"/>
            <p:cNvSpPr txBox="1">
              <a:spLocks noChangeArrowheads="1"/>
            </p:cNvSpPr>
            <p:nvPr/>
          </p:nvSpPr>
          <p:spPr bwMode="auto">
            <a:xfrm>
              <a:off x="1524001" y="5194301"/>
              <a:ext cx="809625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>
                  <a:solidFill>
                    <a:srgbClr val="CC00CC"/>
                  </a:solidFill>
                  <a:latin typeface="Times New Roman" pitchFamily="18" charset="0"/>
                </a:rPr>
                <a:t>Mức 3</a:t>
              </a:r>
            </a:p>
          </p:txBody>
        </p:sp>
        <p:sp>
          <p:nvSpPr>
            <p:cNvPr id="15413" name="Text Box 94"/>
            <p:cNvSpPr txBox="1">
              <a:spLocks noChangeArrowheads="1"/>
            </p:cNvSpPr>
            <p:nvPr/>
          </p:nvSpPr>
          <p:spPr bwMode="auto">
            <a:xfrm>
              <a:off x="1524001" y="1385888"/>
              <a:ext cx="809625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>
                  <a:solidFill>
                    <a:srgbClr val="CC00CC"/>
                  </a:solidFill>
                  <a:latin typeface="Times New Roman" pitchFamily="18" charset="0"/>
                </a:rPr>
                <a:t>Mức 0</a:t>
              </a:r>
            </a:p>
          </p:txBody>
        </p:sp>
        <p:sp>
          <p:nvSpPr>
            <p:cNvPr id="52" name="Line 73"/>
            <p:cNvSpPr>
              <a:spLocks noChangeShapeType="1"/>
            </p:cNvSpPr>
            <p:nvPr/>
          </p:nvSpPr>
          <p:spPr bwMode="auto">
            <a:xfrm>
              <a:off x="3617495" y="4265614"/>
              <a:ext cx="457200" cy="1246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Rectangle 67"/>
            <p:cNvSpPr>
              <a:spLocks noChangeArrowheads="1"/>
            </p:cNvSpPr>
            <p:nvPr/>
          </p:nvSpPr>
          <p:spPr bwMode="auto">
            <a:xfrm>
              <a:off x="2193925" y="5524500"/>
              <a:ext cx="762000" cy="381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 smtClean="0">
                  <a:solidFill>
                    <a:schemeClr val="bg1"/>
                  </a:solidFill>
                  <a:latin typeface="Times New Roman" pitchFamily="18" charset="0"/>
                </a:rPr>
                <a:t>H</a:t>
              </a:r>
              <a:endParaRPr lang="en-US" sz="28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54" name="Rectangle 67"/>
            <p:cNvSpPr>
              <a:spLocks noChangeArrowheads="1"/>
            </p:cNvSpPr>
            <p:nvPr/>
          </p:nvSpPr>
          <p:spPr bwMode="auto">
            <a:xfrm>
              <a:off x="5536951" y="5548524"/>
              <a:ext cx="762000" cy="381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800" dirty="0" smtClean="0">
                  <a:solidFill>
                    <a:schemeClr val="bg1"/>
                  </a:solidFill>
                  <a:latin typeface="Times New Roman" pitchFamily="18" charset="0"/>
                </a:rPr>
                <a:t>J</a:t>
              </a:r>
              <a:endParaRPr lang="en-US" sz="28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128</a:t>
            </a:fld>
            <a:endParaRPr lang="en-US"/>
          </a:p>
        </p:txBody>
      </p:sp>
      <p:pic>
        <p:nvPicPr>
          <p:cNvPr id="35" name="Picture 34"/>
          <p:cNvPicPr/>
          <p:nvPr/>
        </p:nvPicPr>
        <p:blipFill rotWithShape="1">
          <a:blip r:embed="rId2"/>
          <a:srcRect l="45092" t="57197" r="22830" b="19265"/>
          <a:stretch/>
        </p:blipFill>
        <p:spPr bwMode="auto">
          <a:xfrm>
            <a:off x="5796130" y="5293164"/>
            <a:ext cx="5022558" cy="14155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661651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561987"/>
            <a:ext cx="10642600" cy="703747"/>
          </a:xfrm>
        </p:spPr>
        <p:txBody>
          <a:bodyPr/>
          <a:lstStyle/>
          <a:p>
            <a:r>
              <a:rPr lang="en-US" dirty="0" err="1"/>
              <a:t>Duyệt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chiều</a:t>
            </a:r>
            <a:r>
              <a:rPr lang="en-US" dirty="0"/>
              <a:t> </a:t>
            </a:r>
            <a:r>
              <a:rPr lang="en-US" dirty="0" err="1"/>
              <a:t>rộng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435" y="1265734"/>
            <a:ext cx="11061129" cy="5384800"/>
          </a:xfrm>
        </p:spPr>
        <p:txBody>
          <a:bodyPr vert="horz" lIns="0" tIns="45720" rIns="0" bIns="45720" rtlCol="0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vi-VN" sz="3200" dirty="0"/>
              <a:t>Thực hiêṇ các bước tương tự như bước 8 cho tới khi hàng đợi </a:t>
            </a:r>
            <a:r>
              <a:rPr lang="vi-VN" sz="3200"/>
              <a:t>rỗng </a:t>
            </a:r>
            <a:r>
              <a:rPr lang="vi-VN" sz="3200" smtClean="0"/>
              <a:t>thì</a:t>
            </a:r>
            <a:r>
              <a:rPr lang="en-US" sz="3200" smtClean="0"/>
              <a:t> </a:t>
            </a:r>
            <a:r>
              <a:rPr lang="vi-VN" sz="3200" smtClean="0"/>
              <a:t>ta </a:t>
            </a:r>
            <a:r>
              <a:rPr lang="vi-VN" sz="3200" dirty="0"/>
              <a:t>dừng </a:t>
            </a:r>
            <a:r>
              <a:rPr lang="vi-VN" sz="3200"/>
              <a:t>viêc̣ duyệt </a:t>
            </a:r>
            <a:r>
              <a:rPr lang="vi-VN" sz="3200" smtClean="0"/>
              <a:t>lại </a:t>
            </a:r>
            <a:r>
              <a:rPr lang="vi-VN" sz="3200" dirty="0"/>
              <a:t>(</a:t>
            </a:r>
            <a:r>
              <a:rPr lang="vi-VN" sz="3200"/>
              <a:t>điều </a:t>
            </a:r>
            <a:r>
              <a:rPr lang="vi-VN" sz="3200" smtClean="0"/>
              <a:t>kiện </a:t>
            </a:r>
            <a:r>
              <a:rPr lang="vi-VN" sz="3200" dirty="0"/>
              <a:t>để dừng </a:t>
            </a:r>
            <a:r>
              <a:rPr lang="vi-VN" sz="3200"/>
              <a:t>viêc̣ duyệt </a:t>
            </a:r>
            <a:r>
              <a:rPr lang="vi-VN" sz="3200" smtClean="0"/>
              <a:t>chính </a:t>
            </a:r>
            <a:r>
              <a:rPr lang="vi-VN" sz="3200" dirty="0"/>
              <a:t>là khi hàng đợi rỗng</a:t>
            </a:r>
            <a:r>
              <a:rPr lang="vi-VN" sz="3200"/>
              <a:t>). </a:t>
            </a:r>
            <a:endParaRPr lang="en-US" sz="3200" smtClean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3200" smtClean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32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200" dirty="0"/>
              <a:t>T</a:t>
            </a:r>
            <a:r>
              <a:rPr lang="vi-VN" sz="3200" dirty="0"/>
              <a:t>oàn bộ </a:t>
            </a:r>
            <a:r>
              <a:rPr lang="vi-VN" sz="3200"/>
              <a:t>cây đã được duyệt </a:t>
            </a:r>
            <a:r>
              <a:rPr lang="vi-VN" sz="3200" dirty="0"/>
              <a:t>và </a:t>
            </a:r>
            <a:r>
              <a:rPr lang="vi-VN" sz="3200"/>
              <a:t>dữ liệu </a:t>
            </a:r>
            <a:r>
              <a:rPr lang="vi-VN" sz="3200" dirty="0"/>
              <a:t>in ra theo thứ tự</a:t>
            </a:r>
            <a:r>
              <a:rPr lang="vi-VN" sz="3200"/>
              <a:t>: </a:t>
            </a:r>
            <a:endParaRPr lang="en-US" sz="3200" smtClean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/>
              <a:t>	</a:t>
            </a:r>
            <a:r>
              <a:rPr lang="vi-VN" sz="3200" b="1" smtClean="0">
                <a:solidFill>
                  <a:srgbClr val="0070C0"/>
                </a:solidFill>
              </a:rPr>
              <a:t>A</a:t>
            </a:r>
            <a:r>
              <a:rPr lang="vi-VN" sz="3200" b="1">
                <a:solidFill>
                  <a:srgbClr val="0070C0"/>
                </a:solidFill>
              </a:rPr>
              <a:t>,  B,  C,  D,  E,  F,  G,  </a:t>
            </a:r>
            <a:r>
              <a:rPr lang="vi-VN" sz="3200" b="1" smtClean="0">
                <a:solidFill>
                  <a:srgbClr val="0070C0"/>
                </a:solidFill>
              </a:rPr>
              <a:t>H</a:t>
            </a:r>
            <a:r>
              <a:rPr lang="en-US" sz="3200" b="1" smtClean="0">
                <a:solidFill>
                  <a:srgbClr val="0070C0"/>
                </a:solidFill>
              </a:rPr>
              <a:t>, I, J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129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4251338" y="2934077"/>
            <a:ext cx="5724869" cy="1591953"/>
            <a:chOff x="4251338" y="2404694"/>
            <a:chExt cx="5724869" cy="1591953"/>
          </a:xfrm>
        </p:grpSpPr>
        <p:pic>
          <p:nvPicPr>
            <p:cNvPr id="7" name="Picture 6"/>
            <p:cNvPicPr/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rcRect l="45011" t="64806" r="25463" b="16924"/>
            <a:stretch/>
          </p:blipFill>
          <p:spPr bwMode="auto">
            <a:xfrm>
              <a:off x="4251338" y="2404694"/>
              <a:ext cx="4769372" cy="1591953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7292761" y="2671281"/>
              <a:ext cx="26834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smtClean="0"/>
                <a:t>Queue rỗng bf</a:t>
              </a:r>
              <a:endParaRPr lang="en-US" sz="2800" b="1"/>
            </a:p>
          </p:txBody>
        </p:sp>
      </p:grpSp>
    </p:spTree>
    <p:extLst>
      <p:ext uri="{BB962C8B-B14F-4D97-AF65-F5344CB8AC3E}">
        <p14:creationId xmlns:p14="http://schemas.microsoft.com/office/powerpoint/2010/main" val="1531814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523493"/>
            <a:ext cx="10541000" cy="72186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dirty="0" err="1"/>
              <a:t>Duyệt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chiều</a:t>
            </a:r>
            <a:r>
              <a:rPr lang="en-US" dirty="0"/>
              <a:t> </a:t>
            </a:r>
            <a:r>
              <a:rPr lang="en-US" dirty="0" err="1"/>
              <a:t>rộng</a:t>
            </a:r>
            <a:endParaRPr lang="en-US" dirty="0"/>
          </a:p>
        </p:txBody>
      </p:sp>
      <p:sp>
        <p:nvSpPr>
          <p:cNvPr id="15364" name="Line 93"/>
          <p:cNvSpPr>
            <a:spLocks noChangeShapeType="1"/>
          </p:cNvSpPr>
          <p:nvPr/>
        </p:nvSpPr>
        <p:spPr bwMode="auto">
          <a:xfrm>
            <a:off x="1828800" y="1728788"/>
            <a:ext cx="8839200" cy="0"/>
          </a:xfrm>
          <a:prstGeom prst="line">
            <a:avLst/>
          </a:prstGeom>
          <a:noFill/>
          <a:ln w="28575">
            <a:solidFill>
              <a:srgbClr val="CC00CC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5" name="Line 83"/>
          <p:cNvSpPr>
            <a:spLocks noChangeShapeType="1"/>
          </p:cNvSpPr>
          <p:nvPr/>
        </p:nvSpPr>
        <p:spPr bwMode="auto">
          <a:xfrm>
            <a:off x="1828800" y="5524500"/>
            <a:ext cx="8839200" cy="0"/>
          </a:xfrm>
          <a:prstGeom prst="line">
            <a:avLst/>
          </a:prstGeom>
          <a:noFill/>
          <a:ln w="28575">
            <a:solidFill>
              <a:srgbClr val="CC00CC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6" name="Line 82"/>
          <p:cNvSpPr>
            <a:spLocks noChangeShapeType="1"/>
          </p:cNvSpPr>
          <p:nvPr/>
        </p:nvSpPr>
        <p:spPr bwMode="auto">
          <a:xfrm>
            <a:off x="1828800" y="4229100"/>
            <a:ext cx="8839200" cy="0"/>
          </a:xfrm>
          <a:prstGeom prst="line">
            <a:avLst/>
          </a:prstGeom>
          <a:noFill/>
          <a:ln w="28575">
            <a:solidFill>
              <a:srgbClr val="CC00CC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7" name="Line 81"/>
          <p:cNvSpPr>
            <a:spLocks noChangeShapeType="1"/>
          </p:cNvSpPr>
          <p:nvPr/>
        </p:nvSpPr>
        <p:spPr bwMode="auto">
          <a:xfrm>
            <a:off x="1828800" y="2946400"/>
            <a:ext cx="8839200" cy="0"/>
          </a:xfrm>
          <a:prstGeom prst="line">
            <a:avLst/>
          </a:prstGeom>
          <a:noFill/>
          <a:ln w="28575">
            <a:solidFill>
              <a:srgbClr val="CC00CC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9" name="Rectangle 4"/>
          <p:cNvSpPr>
            <a:spLocks noChangeArrowheads="1"/>
          </p:cNvSpPr>
          <p:nvPr/>
        </p:nvSpPr>
        <p:spPr bwMode="auto">
          <a:xfrm>
            <a:off x="5638800" y="1524000"/>
            <a:ext cx="7620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800">
                <a:solidFill>
                  <a:schemeClr val="bg1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15372" name="Rectangle 49"/>
          <p:cNvSpPr>
            <a:spLocks noChangeArrowheads="1"/>
          </p:cNvSpPr>
          <p:nvPr/>
        </p:nvSpPr>
        <p:spPr bwMode="auto">
          <a:xfrm>
            <a:off x="3733800" y="2743200"/>
            <a:ext cx="7620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800" dirty="0">
                <a:solidFill>
                  <a:schemeClr val="bg1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15375" name="Rectangle 52"/>
          <p:cNvSpPr>
            <a:spLocks noChangeArrowheads="1"/>
          </p:cNvSpPr>
          <p:nvPr/>
        </p:nvSpPr>
        <p:spPr bwMode="auto">
          <a:xfrm>
            <a:off x="7848600" y="2743200"/>
            <a:ext cx="7620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800" dirty="0">
                <a:solidFill>
                  <a:schemeClr val="bg1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15378" name="Rectangle 55"/>
          <p:cNvSpPr>
            <a:spLocks noChangeArrowheads="1"/>
          </p:cNvSpPr>
          <p:nvPr/>
        </p:nvSpPr>
        <p:spPr bwMode="auto">
          <a:xfrm>
            <a:off x="2819400" y="4038600"/>
            <a:ext cx="7620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800" dirty="0">
                <a:solidFill>
                  <a:schemeClr val="bg1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15381" name="Rectangle 58"/>
          <p:cNvSpPr>
            <a:spLocks noChangeArrowheads="1"/>
          </p:cNvSpPr>
          <p:nvPr/>
        </p:nvSpPr>
        <p:spPr bwMode="auto">
          <a:xfrm>
            <a:off x="4648200" y="4038600"/>
            <a:ext cx="7620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800" dirty="0">
                <a:solidFill>
                  <a:schemeClr val="bg1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5384" name="Rectangle 61"/>
          <p:cNvSpPr>
            <a:spLocks noChangeArrowheads="1"/>
          </p:cNvSpPr>
          <p:nvPr/>
        </p:nvSpPr>
        <p:spPr bwMode="auto">
          <a:xfrm>
            <a:off x="7010400" y="4038600"/>
            <a:ext cx="7620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800" dirty="0">
                <a:solidFill>
                  <a:schemeClr val="bg1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15390" name="Rectangle 67"/>
          <p:cNvSpPr>
            <a:spLocks noChangeArrowheads="1"/>
          </p:cNvSpPr>
          <p:nvPr/>
        </p:nvSpPr>
        <p:spPr bwMode="auto">
          <a:xfrm>
            <a:off x="3683000" y="5548524"/>
            <a:ext cx="7620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800" dirty="0">
                <a:solidFill>
                  <a:schemeClr val="bg1"/>
                </a:solidFill>
                <a:latin typeface="Times New Roman" pitchFamily="18" charset="0"/>
              </a:rPr>
              <a:t>I</a:t>
            </a:r>
          </a:p>
        </p:txBody>
      </p:sp>
      <p:sp>
        <p:nvSpPr>
          <p:cNvPr id="15393" name="Line 70"/>
          <p:cNvSpPr>
            <a:spLocks noChangeShapeType="1"/>
          </p:cNvSpPr>
          <p:nvPr/>
        </p:nvSpPr>
        <p:spPr bwMode="auto">
          <a:xfrm flipH="1">
            <a:off x="4190999" y="1676401"/>
            <a:ext cx="1442205" cy="106679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94" name="Line 71"/>
          <p:cNvSpPr>
            <a:spLocks noChangeShapeType="1"/>
          </p:cNvSpPr>
          <p:nvPr/>
        </p:nvSpPr>
        <p:spPr bwMode="auto">
          <a:xfrm>
            <a:off x="6400800" y="1676401"/>
            <a:ext cx="1828800" cy="106679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95" name="Line 72"/>
          <p:cNvSpPr>
            <a:spLocks noChangeShapeType="1"/>
          </p:cNvSpPr>
          <p:nvPr/>
        </p:nvSpPr>
        <p:spPr bwMode="auto">
          <a:xfrm flipH="1">
            <a:off x="3200399" y="2970424"/>
            <a:ext cx="493295" cy="106817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96" name="Line 73"/>
          <p:cNvSpPr>
            <a:spLocks noChangeShapeType="1"/>
          </p:cNvSpPr>
          <p:nvPr/>
        </p:nvSpPr>
        <p:spPr bwMode="auto">
          <a:xfrm>
            <a:off x="4492124" y="3024188"/>
            <a:ext cx="537076" cy="10144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97" name="Line 74"/>
          <p:cNvSpPr>
            <a:spLocks noChangeShapeType="1"/>
          </p:cNvSpPr>
          <p:nvPr/>
        </p:nvSpPr>
        <p:spPr bwMode="auto">
          <a:xfrm flipH="1">
            <a:off x="2498224" y="4265614"/>
            <a:ext cx="357271" cy="132238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98" name="Line 75"/>
          <p:cNvSpPr>
            <a:spLocks noChangeShapeType="1"/>
          </p:cNvSpPr>
          <p:nvPr/>
        </p:nvSpPr>
        <p:spPr bwMode="auto">
          <a:xfrm flipH="1">
            <a:off x="7391400" y="2895601"/>
            <a:ext cx="457200" cy="114299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99" name="Line 76"/>
          <p:cNvSpPr>
            <a:spLocks noChangeShapeType="1"/>
          </p:cNvSpPr>
          <p:nvPr/>
        </p:nvSpPr>
        <p:spPr bwMode="auto">
          <a:xfrm>
            <a:off x="5410199" y="4395576"/>
            <a:ext cx="609601" cy="1165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400" name="Rectangle 77"/>
          <p:cNvSpPr>
            <a:spLocks noChangeArrowheads="1"/>
          </p:cNvSpPr>
          <p:nvPr/>
        </p:nvSpPr>
        <p:spPr bwMode="auto">
          <a:xfrm>
            <a:off x="8915400" y="4038600"/>
            <a:ext cx="7620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800" dirty="0">
                <a:solidFill>
                  <a:schemeClr val="bg1"/>
                </a:solidFill>
                <a:latin typeface="Times New Roman" pitchFamily="18" charset="0"/>
              </a:rPr>
              <a:t>G</a:t>
            </a:r>
          </a:p>
        </p:txBody>
      </p:sp>
      <p:sp>
        <p:nvSpPr>
          <p:cNvPr id="15403" name="Line 80"/>
          <p:cNvSpPr>
            <a:spLocks noChangeShapeType="1"/>
          </p:cNvSpPr>
          <p:nvPr/>
        </p:nvSpPr>
        <p:spPr bwMode="auto">
          <a:xfrm>
            <a:off x="8610600" y="2895601"/>
            <a:ext cx="685800" cy="114299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408" name="Text Box 88"/>
          <p:cNvSpPr txBox="1">
            <a:spLocks noChangeArrowheads="1"/>
          </p:cNvSpPr>
          <p:nvPr/>
        </p:nvSpPr>
        <p:spPr bwMode="auto">
          <a:xfrm>
            <a:off x="2193925" y="1920876"/>
            <a:ext cx="16866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400">
                <a:solidFill>
                  <a:srgbClr val="0000CC"/>
                </a:solidFill>
                <a:latin typeface="Times New Roman" pitchFamily="18" charset="0"/>
              </a:rPr>
              <a:t>Cây con trái</a:t>
            </a:r>
          </a:p>
        </p:txBody>
      </p:sp>
      <p:sp>
        <p:nvSpPr>
          <p:cNvPr id="15409" name="Text Box 89"/>
          <p:cNvSpPr txBox="1">
            <a:spLocks noChangeArrowheads="1"/>
          </p:cNvSpPr>
          <p:nvPr/>
        </p:nvSpPr>
        <p:spPr bwMode="auto">
          <a:xfrm>
            <a:off x="8382001" y="1905001"/>
            <a:ext cx="18069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400">
                <a:solidFill>
                  <a:srgbClr val="0000CC"/>
                </a:solidFill>
                <a:latin typeface="Times New Roman" pitchFamily="18" charset="0"/>
              </a:rPr>
              <a:t>Cây con phải</a:t>
            </a:r>
          </a:p>
        </p:txBody>
      </p:sp>
      <p:sp>
        <p:nvSpPr>
          <p:cNvPr id="15410" name="Text Box 90"/>
          <p:cNvSpPr txBox="1">
            <a:spLocks noChangeArrowheads="1"/>
          </p:cNvSpPr>
          <p:nvPr/>
        </p:nvSpPr>
        <p:spPr bwMode="auto">
          <a:xfrm>
            <a:off x="1524001" y="2628901"/>
            <a:ext cx="8096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>
                <a:solidFill>
                  <a:srgbClr val="CC00CC"/>
                </a:solidFill>
                <a:latin typeface="Times New Roman" pitchFamily="18" charset="0"/>
              </a:rPr>
              <a:t>Mức 1</a:t>
            </a:r>
          </a:p>
        </p:txBody>
      </p:sp>
      <p:sp>
        <p:nvSpPr>
          <p:cNvPr id="15411" name="Text Box 91"/>
          <p:cNvSpPr txBox="1">
            <a:spLocks noChangeArrowheads="1"/>
          </p:cNvSpPr>
          <p:nvPr/>
        </p:nvSpPr>
        <p:spPr bwMode="auto">
          <a:xfrm>
            <a:off x="1524001" y="3898901"/>
            <a:ext cx="8096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>
                <a:solidFill>
                  <a:srgbClr val="CC00CC"/>
                </a:solidFill>
                <a:latin typeface="Times New Roman" pitchFamily="18" charset="0"/>
              </a:rPr>
              <a:t>Mức 2</a:t>
            </a:r>
          </a:p>
        </p:txBody>
      </p:sp>
      <p:sp>
        <p:nvSpPr>
          <p:cNvPr id="15412" name="Text Box 92"/>
          <p:cNvSpPr txBox="1">
            <a:spLocks noChangeArrowheads="1"/>
          </p:cNvSpPr>
          <p:nvPr/>
        </p:nvSpPr>
        <p:spPr bwMode="auto">
          <a:xfrm>
            <a:off x="1524001" y="5194301"/>
            <a:ext cx="8096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>
                <a:solidFill>
                  <a:srgbClr val="CC00CC"/>
                </a:solidFill>
                <a:latin typeface="Times New Roman" pitchFamily="18" charset="0"/>
              </a:rPr>
              <a:t>Mức 3</a:t>
            </a:r>
          </a:p>
        </p:txBody>
      </p:sp>
      <p:sp>
        <p:nvSpPr>
          <p:cNvPr id="15413" name="Text Box 94"/>
          <p:cNvSpPr txBox="1">
            <a:spLocks noChangeArrowheads="1"/>
          </p:cNvSpPr>
          <p:nvPr/>
        </p:nvSpPr>
        <p:spPr bwMode="auto">
          <a:xfrm>
            <a:off x="1524001" y="1385888"/>
            <a:ext cx="8096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>
                <a:solidFill>
                  <a:srgbClr val="CC00CC"/>
                </a:solidFill>
                <a:latin typeface="Times New Roman" pitchFamily="18" charset="0"/>
              </a:rPr>
              <a:t>Mức 0</a:t>
            </a:r>
          </a:p>
        </p:txBody>
      </p:sp>
      <p:sp>
        <p:nvSpPr>
          <p:cNvPr id="52" name="Line 73"/>
          <p:cNvSpPr>
            <a:spLocks noChangeShapeType="1"/>
          </p:cNvSpPr>
          <p:nvPr/>
        </p:nvSpPr>
        <p:spPr bwMode="auto">
          <a:xfrm>
            <a:off x="3617495" y="4265614"/>
            <a:ext cx="457200" cy="1246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67"/>
          <p:cNvSpPr>
            <a:spLocks noChangeArrowheads="1"/>
          </p:cNvSpPr>
          <p:nvPr/>
        </p:nvSpPr>
        <p:spPr bwMode="auto">
          <a:xfrm>
            <a:off x="2193925" y="5524500"/>
            <a:ext cx="7620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</a:rPr>
              <a:t>H</a:t>
            </a:r>
            <a:endParaRPr lang="en-US" sz="2800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54" name="Rectangle 67"/>
          <p:cNvSpPr>
            <a:spLocks noChangeArrowheads="1"/>
          </p:cNvSpPr>
          <p:nvPr/>
        </p:nvSpPr>
        <p:spPr bwMode="auto">
          <a:xfrm>
            <a:off x="5536951" y="5548524"/>
            <a:ext cx="762000" cy="381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</a:rPr>
              <a:t>J</a:t>
            </a:r>
            <a:endParaRPr lang="en-US" sz="2800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5383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1000"/>
                                        <p:tgtEl>
                                          <p:spTgt spid="15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1000"/>
                                        <p:tgtEl>
                                          <p:spTgt spid="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1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1000"/>
                                        <p:tgtEl>
                                          <p:spTgt spid="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1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1000"/>
                                        <p:tgtEl>
                                          <p:spTgt spid="15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5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1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4" dur="500"/>
                                        <p:tgtEl>
                                          <p:spTgt spid="1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1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1" dur="1000"/>
                                        <p:tgtEl>
                                          <p:spTgt spid="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4" dur="1000"/>
                                        <p:tgtEl>
                                          <p:spTgt spid="1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1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2" dur="500"/>
                                        <p:tgtEl>
                                          <p:spTgt spid="1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5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0" dur="1000"/>
                                        <p:tgtEl>
                                          <p:spTgt spid="15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3" dur="10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8" dur="1000"/>
                                        <p:tgtEl>
                                          <p:spTgt spid="1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1" dur="10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6" dur="500"/>
                                        <p:tgtEl>
                                          <p:spTgt spid="15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9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4" dur="500"/>
                                        <p:tgtEl>
                                          <p:spTgt spid="15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9" dur="500"/>
                                        <p:tgtEl>
                                          <p:spTgt spid="15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5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8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animBg="1"/>
      <p:bldP spid="15365" grpId="0" animBg="1"/>
      <p:bldP spid="15366" grpId="0" animBg="1"/>
      <p:bldP spid="15367" grpId="0" animBg="1"/>
      <p:bldP spid="15369" grpId="0" animBg="1"/>
      <p:bldP spid="15372" grpId="0" animBg="1"/>
      <p:bldP spid="15375" grpId="0" animBg="1"/>
      <p:bldP spid="15378" grpId="0" animBg="1"/>
      <p:bldP spid="15381" grpId="0" animBg="1"/>
      <p:bldP spid="15384" grpId="0" animBg="1"/>
      <p:bldP spid="15390" grpId="0" animBg="1"/>
      <p:bldP spid="15393" grpId="0" animBg="1"/>
      <p:bldP spid="15394" grpId="0" animBg="1"/>
      <p:bldP spid="15395" grpId="0" animBg="1"/>
      <p:bldP spid="15396" grpId="0" animBg="1"/>
      <p:bldP spid="15397" grpId="0" animBg="1"/>
      <p:bldP spid="15398" grpId="0" animBg="1"/>
      <p:bldP spid="15399" grpId="0" animBg="1"/>
      <p:bldP spid="15400" grpId="0" animBg="1"/>
      <p:bldP spid="15403" grpId="0" animBg="1"/>
      <p:bldP spid="15408" grpId="0"/>
      <p:bldP spid="15409" grpId="0"/>
      <p:bldP spid="15410" grpId="0"/>
      <p:bldP spid="15411" grpId="0"/>
      <p:bldP spid="15412" grpId="0"/>
      <p:bldP spid="15413" grpId="0"/>
      <p:bldP spid="52" grpId="0" animBg="1"/>
      <p:bldP spid="53" grpId="0" animBg="1"/>
      <p:bldP spid="54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552366"/>
            <a:ext cx="10642600" cy="703747"/>
          </a:xfrm>
        </p:spPr>
        <p:txBody>
          <a:bodyPr/>
          <a:lstStyle/>
          <a:p>
            <a:r>
              <a:rPr lang="en-US" dirty="0" err="1"/>
              <a:t>Duyệt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chiều</a:t>
            </a:r>
            <a:r>
              <a:rPr lang="en-US" dirty="0"/>
              <a:t> </a:t>
            </a:r>
            <a:r>
              <a:rPr lang="en-US" dirty="0" err="1"/>
              <a:t>rộng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500" y="1316036"/>
            <a:ext cx="10457180" cy="490585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vi-VN" i="1" dirty="0"/>
              <a:t>// Function to print Nodes in a binary tree in Level </a:t>
            </a:r>
            <a:r>
              <a:rPr lang="vi-VN" dirty="0"/>
              <a:t>order</a:t>
            </a:r>
            <a:endParaRPr lang="en-US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vi-VN" dirty="0"/>
              <a:t>	</a:t>
            </a:r>
            <a:r>
              <a:rPr lang="vi-VN" dirty="0">
                <a:latin typeface="Consolas" panose="020B0609020204030204" pitchFamily="49" charset="0"/>
              </a:rPr>
              <a:t>void </a:t>
            </a:r>
            <a:r>
              <a:rPr lang="vi-VN" b="1" dirty="0">
                <a:solidFill>
                  <a:srgbClr val="00B0F0"/>
                </a:solidFill>
                <a:latin typeface="Consolas" panose="020B0609020204030204" pitchFamily="49" charset="0"/>
              </a:rPr>
              <a:t>LevelOrder</a:t>
            </a:r>
            <a:r>
              <a:rPr lang="vi-VN" dirty="0">
                <a:latin typeface="Consolas" panose="020B0609020204030204" pitchFamily="49" charset="0"/>
              </a:rPr>
              <a:t>(Node *root) {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vi-VN" dirty="0">
                <a:latin typeface="Consolas" panose="020B0609020204030204" pitchFamily="49" charset="0"/>
              </a:rPr>
              <a:t>		if(root == NULL) return;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vi-VN" dirty="0">
                <a:latin typeface="Consolas" panose="020B0609020204030204" pitchFamily="49" charset="0"/>
              </a:rPr>
              <a:t>		queue&lt;Node*&gt; Q;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vi-VN" dirty="0">
                <a:latin typeface="Consolas" panose="020B0609020204030204" pitchFamily="49" charset="0"/>
              </a:rPr>
              <a:t>		Q.push(root);  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vi-VN" dirty="0"/>
              <a:t>		</a:t>
            </a:r>
            <a:r>
              <a:rPr lang="vi-VN" i="1" dirty="0"/>
              <a:t>//while there is at least one discovered node</a:t>
            </a:r>
            <a:endParaRPr lang="en-US" i="1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vi-VN" dirty="0" smtClean="0"/>
              <a:t>		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1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561991"/>
            <a:ext cx="10642600" cy="703747"/>
          </a:xfrm>
        </p:spPr>
        <p:txBody>
          <a:bodyPr/>
          <a:lstStyle/>
          <a:p>
            <a:r>
              <a:rPr lang="en-US" dirty="0" err="1"/>
              <a:t>Duyệt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chiều</a:t>
            </a:r>
            <a:r>
              <a:rPr lang="en-US" dirty="0"/>
              <a:t> </a:t>
            </a:r>
            <a:r>
              <a:rPr lang="en-US" dirty="0" err="1"/>
              <a:t>rộng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700" y="1257953"/>
            <a:ext cx="10140348" cy="4905859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dirty="0">
                <a:latin typeface="Consolas" panose="020B0609020204030204" pitchFamily="49" charset="0"/>
              </a:rPr>
              <a:t>		</a:t>
            </a:r>
            <a:r>
              <a:rPr lang="vi-VN" sz="2800" dirty="0" smtClean="0">
                <a:latin typeface="Consolas" panose="020B0609020204030204" pitchFamily="49" charset="0"/>
              </a:rPr>
              <a:t>while</a:t>
            </a:r>
            <a:r>
              <a:rPr lang="vi-VN" sz="2800" dirty="0">
                <a:latin typeface="Consolas" panose="020B0609020204030204" pitchFamily="49" charset="0"/>
              </a:rPr>
              <a:t>(!Q.empty()) {</a:t>
            </a:r>
            <a:endParaRPr lang="en-US" sz="2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dirty="0">
                <a:latin typeface="Consolas" panose="020B0609020204030204" pitchFamily="49" charset="0"/>
              </a:rPr>
              <a:t>		</a:t>
            </a:r>
            <a:r>
              <a:rPr lang="vi-VN" sz="2800" dirty="0" smtClean="0">
                <a:latin typeface="Consolas" panose="020B0609020204030204" pitchFamily="49" charset="0"/>
              </a:rPr>
              <a:t>Node</a:t>
            </a:r>
            <a:r>
              <a:rPr lang="vi-VN" sz="2800" dirty="0">
                <a:latin typeface="Consolas" panose="020B0609020204030204" pitchFamily="49" charset="0"/>
              </a:rPr>
              <a:t>* current = Q.front();</a:t>
            </a:r>
            <a:endParaRPr lang="en-US" sz="2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dirty="0">
                <a:latin typeface="Consolas" panose="020B0609020204030204" pitchFamily="49" charset="0"/>
              </a:rPr>
              <a:t>		</a:t>
            </a:r>
            <a:r>
              <a:rPr lang="vi-VN" sz="2800" dirty="0" smtClean="0">
                <a:latin typeface="Consolas" panose="020B0609020204030204" pitchFamily="49" charset="0"/>
              </a:rPr>
              <a:t>Q.pop</a:t>
            </a:r>
            <a:r>
              <a:rPr lang="vi-VN" sz="2800" dirty="0">
                <a:latin typeface="Consolas" panose="020B0609020204030204" pitchFamily="49" charset="0"/>
              </a:rPr>
              <a:t>(); // removing the element at front</a:t>
            </a:r>
            <a:endParaRPr lang="en-US" sz="2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dirty="0">
                <a:latin typeface="Consolas" panose="020B0609020204030204" pitchFamily="49" charset="0"/>
              </a:rPr>
              <a:t>		</a:t>
            </a:r>
            <a:r>
              <a:rPr lang="vi-VN" sz="2800" dirty="0" smtClean="0">
                <a:latin typeface="Consolas" panose="020B0609020204030204" pitchFamily="49" charset="0"/>
              </a:rPr>
              <a:t>cout</a:t>
            </a:r>
            <a:r>
              <a:rPr lang="vi-VN" sz="2800" dirty="0">
                <a:latin typeface="Consolas" panose="020B0609020204030204" pitchFamily="49" charset="0"/>
              </a:rPr>
              <a:t>&lt;&lt;current-&gt;data&lt;&lt;" ";</a:t>
            </a:r>
            <a:endParaRPr lang="en-US" sz="2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dirty="0">
                <a:latin typeface="Consolas" panose="020B0609020204030204" pitchFamily="49" charset="0"/>
              </a:rPr>
              <a:t>		</a:t>
            </a:r>
            <a:r>
              <a:rPr lang="vi-VN" sz="2800" dirty="0" smtClean="0">
                <a:latin typeface="Consolas" panose="020B0609020204030204" pitchFamily="49" charset="0"/>
              </a:rPr>
              <a:t>if(current-</a:t>
            </a:r>
            <a:r>
              <a:rPr lang="vi-VN" sz="2800" dirty="0">
                <a:latin typeface="Consolas" panose="020B0609020204030204" pitchFamily="49" charset="0"/>
              </a:rPr>
              <a:t>&gt;left != </a:t>
            </a:r>
            <a:r>
              <a:rPr lang="vi-VN" sz="2800">
                <a:latin typeface="Consolas" panose="020B0609020204030204" pitchFamily="49" charset="0"/>
              </a:rPr>
              <a:t>NULL</a:t>
            </a:r>
            <a:r>
              <a:rPr lang="vi-VN" sz="2800" smtClean="0">
                <a:latin typeface="Consolas" panose="020B0609020204030204" pitchFamily="49" charset="0"/>
              </a:rPr>
              <a:t>)</a:t>
            </a:r>
            <a:endParaRPr lang="en-US" sz="2800" smtClean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smtClean="0">
                <a:latin typeface="Consolas" panose="020B0609020204030204" pitchFamily="49" charset="0"/>
              </a:rPr>
              <a:t>			</a:t>
            </a:r>
            <a:r>
              <a:rPr lang="vi-VN" sz="2800" smtClean="0">
                <a:latin typeface="Consolas" panose="020B0609020204030204" pitchFamily="49" charset="0"/>
              </a:rPr>
              <a:t>Q.push(current-</a:t>
            </a:r>
            <a:r>
              <a:rPr lang="vi-VN" sz="2800" dirty="0">
                <a:latin typeface="Consolas" panose="020B0609020204030204" pitchFamily="49" charset="0"/>
              </a:rPr>
              <a:t>&gt;left);</a:t>
            </a:r>
            <a:endParaRPr lang="en-US" sz="2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dirty="0">
                <a:latin typeface="Consolas" panose="020B0609020204030204" pitchFamily="49" charset="0"/>
              </a:rPr>
              <a:t>		</a:t>
            </a:r>
            <a:r>
              <a:rPr lang="vi-VN" sz="2800" dirty="0" smtClean="0">
                <a:latin typeface="Consolas" panose="020B0609020204030204" pitchFamily="49" charset="0"/>
              </a:rPr>
              <a:t>if(current-</a:t>
            </a:r>
            <a:r>
              <a:rPr lang="vi-VN" sz="2800" dirty="0">
                <a:latin typeface="Consolas" panose="020B0609020204030204" pitchFamily="49" charset="0"/>
              </a:rPr>
              <a:t>&gt;right != </a:t>
            </a:r>
            <a:r>
              <a:rPr lang="vi-VN" sz="2800">
                <a:latin typeface="Consolas" panose="020B0609020204030204" pitchFamily="49" charset="0"/>
              </a:rPr>
              <a:t>NULL</a:t>
            </a:r>
            <a:r>
              <a:rPr lang="vi-VN" sz="2800" smtClean="0">
                <a:latin typeface="Consolas" panose="020B0609020204030204" pitchFamily="49" charset="0"/>
              </a:rPr>
              <a:t>)</a:t>
            </a:r>
            <a:endParaRPr lang="en-US" sz="2800" smtClean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onsolas" panose="020B0609020204030204" pitchFamily="49" charset="0"/>
              </a:rPr>
              <a:t>	</a:t>
            </a:r>
            <a:r>
              <a:rPr lang="en-US" sz="2800" smtClean="0">
                <a:latin typeface="Consolas" panose="020B0609020204030204" pitchFamily="49" charset="0"/>
              </a:rPr>
              <a:t>		</a:t>
            </a:r>
            <a:r>
              <a:rPr lang="vi-VN" sz="2800" smtClean="0">
                <a:latin typeface="Consolas" panose="020B0609020204030204" pitchFamily="49" charset="0"/>
              </a:rPr>
              <a:t>Q.push(current-</a:t>
            </a:r>
            <a:r>
              <a:rPr lang="vi-VN" sz="2800" dirty="0">
                <a:latin typeface="Consolas" panose="020B0609020204030204" pitchFamily="49" charset="0"/>
              </a:rPr>
              <a:t>&gt;right);</a:t>
            </a:r>
            <a:endParaRPr lang="en-US" sz="2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dirty="0">
                <a:latin typeface="Consolas" panose="020B0609020204030204" pitchFamily="49" charset="0"/>
              </a:rPr>
              <a:t>		}</a:t>
            </a:r>
            <a:endParaRPr lang="en-US" sz="2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dirty="0">
                <a:latin typeface="Consolas" panose="020B0609020204030204" pitchFamily="49" charset="0"/>
              </a:rPr>
              <a:t>	</a:t>
            </a:r>
            <a:r>
              <a:rPr lang="vi-VN" sz="2800" dirty="0" smtClean="0">
                <a:latin typeface="Consolas" panose="020B0609020204030204" pitchFamily="49" charset="0"/>
              </a:rPr>
              <a:t>}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647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699" y="540299"/>
            <a:ext cx="10923657" cy="70374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Duyệt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err="1"/>
              <a:t>chiều</a:t>
            </a:r>
            <a:r>
              <a:rPr lang="en-US"/>
              <a:t> </a:t>
            </a:r>
            <a:r>
              <a:rPr lang="vi-VN" smtClean="0"/>
              <a:t>sâu</a:t>
            </a:r>
            <a:r>
              <a:rPr lang="en-US" smtClean="0"/>
              <a:t> (Depth </a:t>
            </a:r>
            <a:r>
              <a:rPr lang="en-US"/>
              <a:t>First </a:t>
            </a:r>
            <a:r>
              <a:rPr lang="en-US" smtClean="0"/>
              <a:t>Search)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8810" y="1079733"/>
            <a:ext cx="10058400" cy="490585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vi-VN" dirty="0"/>
              <a:t>Có 3 cách duyệt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chiều</a:t>
            </a:r>
            <a:r>
              <a:rPr lang="en-US" dirty="0" smtClean="0"/>
              <a:t> </a:t>
            </a:r>
            <a:r>
              <a:rPr lang="en-US" dirty="0" err="1" smtClean="0"/>
              <a:t>sâu</a:t>
            </a:r>
            <a:r>
              <a:rPr lang="en-US" dirty="0" smtClean="0"/>
              <a:t> </a:t>
            </a:r>
            <a:r>
              <a:rPr lang="en-US" dirty="0" err="1" smtClean="0"/>
              <a:t>cây</a:t>
            </a:r>
            <a:r>
              <a:rPr lang="en-US" dirty="0" smtClean="0"/>
              <a:t> </a:t>
            </a:r>
            <a:r>
              <a:rPr lang="en-US" dirty="0" err="1" smtClean="0"/>
              <a:t>nhi</a:t>
            </a:r>
            <a:r>
              <a:rPr lang="en-US" dirty="0" smtClean="0"/>
              <a:t>̣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vi-VN" dirty="0" smtClean="0"/>
              <a:t>là</a:t>
            </a:r>
            <a:r>
              <a:rPr lang="vi-VN"/>
              <a:t>: </a:t>
            </a:r>
            <a:r>
              <a:rPr lang="vi-VN" smtClean="0"/>
              <a:t>Preorder,  Inorder,  </a:t>
            </a:r>
            <a:r>
              <a:rPr lang="vi-VN"/>
              <a:t>Postorder</a:t>
            </a:r>
            <a:r>
              <a:rPr lang="vi-VN" smtClean="0"/>
              <a:t>.</a:t>
            </a:r>
            <a:r>
              <a:rPr lang="en-US" smtClean="0"/>
              <a:t> 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8629"/>
              </p:ext>
            </p:extLst>
          </p:nvPr>
        </p:nvGraphicFramePr>
        <p:xfrm>
          <a:off x="965198" y="2649857"/>
          <a:ext cx="10247284" cy="324670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61821">
                  <a:extLst>
                    <a:ext uri="{9D8B030D-6E8A-4147-A177-3AD203B41FA5}">
                      <a16:colId xmlns:a16="http://schemas.microsoft.com/office/drawing/2014/main" val="4092671700"/>
                    </a:ext>
                  </a:extLst>
                </a:gridCol>
                <a:gridCol w="2561821">
                  <a:extLst>
                    <a:ext uri="{9D8B030D-6E8A-4147-A177-3AD203B41FA5}">
                      <a16:colId xmlns:a16="http://schemas.microsoft.com/office/drawing/2014/main" val="158669764"/>
                    </a:ext>
                  </a:extLst>
                </a:gridCol>
                <a:gridCol w="2561821">
                  <a:extLst>
                    <a:ext uri="{9D8B030D-6E8A-4147-A177-3AD203B41FA5}">
                      <a16:colId xmlns:a16="http://schemas.microsoft.com/office/drawing/2014/main" val="2571908300"/>
                    </a:ext>
                  </a:extLst>
                </a:gridCol>
                <a:gridCol w="2561821">
                  <a:extLst>
                    <a:ext uri="{9D8B030D-6E8A-4147-A177-3AD203B41FA5}">
                      <a16:colId xmlns:a16="http://schemas.microsoft.com/office/drawing/2014/main" val="463948150"/>
                    </a:ext>
                  </a:extLst>
                </a:gridCol>
              </a:tblGrid>
              <a:tr h="419039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>
                          <a:effectLst/>
                        </a:rPr>
                        <a:t>Cách</a:t>
                      </a:r>
                      <a:r>
                        <a:rPr lang="en-US" sz="2800" b="1" dirty="0">
                          <a:effectLst/>
                        </a:rPr>
                        <a:t> </a:t>
                      </a:r>
                      <a:r>
                        <a:rPr lang="en-US" sz="2800" b="1" dirty="0" err="1">
                          <a:effectLst/>
                        </a:rPr>
                        <a:t>duyệt</a:t>
                      </a:r>
                      <a:endParaRPr lang="en-US" sz="2800" b="1" dirty="0">
                        <a:effectLst/>
                      </a:endParaRPr>
                    </a:p>
                  </a:txBody>
                  <a:tcPr marL="64657" marR="64657" marT="32329" marB="32329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vi-VN" sz="2800" b="1" dirty="0">
                          <a:effectLst/>
                        </a:rPr>
                        <a:t>Thứ tự</a:t>
                      </a:r>
                    </a:p>
                  </a:txBody>
                  <a:tcPr marL="64657" marR="64657" marT="32329" marB="32329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2253112"/>
                  </a:ext>
                </a:extLst>
              </a:tr>
              <a:tr h="918441">
                <a:tc>
                  <a:txBody>
                    <a:bodyPr/>
                    <a:lstStyle/>
                    <a:p>
                      <a:pPr fontAlgn="t"/>
                      <a:r>
                        <a:rPr lang="en-US" sz="2800" smtClean="0">
                          <a:effectLst/>
                        </a:rPr>
                        <a:t>Preorder</a:t>
                      </a:r>
                    </a:p>
                  </a:txBody>
                  <a:tcPr marL="64657" marR="64657" marT="32329" marB="32329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smtClean="0">
                          <a:solidFill>
                            <a:srgbClr val="FF0000"/>
                          </a:solidFill>
                          <a:effectLst/>
                        </a:rPr>
                        <a:t>&lt;Gốc&gt;</a:t>
                      </a:r>
                      <a:endParaRPr lang="en-US" sz="28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57" marR="64657" marT="32329" marB="32329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smtClean="0">
                          <a:effectLst/>
                        </a:rPr>
                        <a:t>&lt;Cây Con Trái&gt;</a:t>
                      </a:r>
                      <a:endParaRPr lang="en-US" sz="2800" dirty="0">
                        <a:effectLst/>
                      </a:endParaRPr>
                    </a:p>
                  </a:txBody>
                  <a:tcPr marL="64657" marR="64657" marT="32329" marB="32329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vi-VN" sz="2800" smtClean="0">
                          <a:effectLst/>
                        </a:rPr>
                        <a:t>&lt;Cây Con Phải&gt;</a:t>
                      </a:r>
                      <a:endParaRPr lang="vi-VN" sz="2800" dirty="0">
                        <a:effectLst/>
                      </a:endParaRPr>
                    </a:p>
                  </a:txBody>
                  <a:tcPr marL="64657" marR="64657" marT="32329" marB="32329" anchor="ctr"/>
                </a:tc>
                <a:extLst>
                  <a:ext uri="{0D108BD9-81ED-4DB2-BD59-A6C34878D82A}">
                    <a16:rowId xmlns:a16="http://schemas.microsoft.com/office/drawing/2014/main" val="2525612924"/>
                  </a:ext>
                </a:extLst>
              </a:tr>
              <a:tr h="918441">
                <a:tc>
                  <a:txBody>
                    <a:bodyPr/>
                    <a:lstStyle/>
                    <a:p>
                      <a:pPr fontAlgn="t"/>
                      <a:r>
                        <a:rPr lang="en-US" sz="2800" smtClean="0">
                          <a:effectLst/>
                        </a:rPr>
                        <a:t>Inorder</a:t>
                      </a:r>
                    </a:p>
                  </a:txBody>
                  <a:tcPr marL="64657" marR="64657" marT="32329" marB="32329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smtClean="0">
                          <a:effectLst/>
                        </a:rPr>
                        <a:t>&lt;Cây Con Trái&gt;</a:t>
                      </a:r>
                      <a:endParaRPr lang="en-US" sz="2800" dirty="0">
                        <a:effectLst/>
                      </a:endParaRPr>
                    </a:p>
                  </a:txBody>
                  <a:tcPr marL="64657" marR="64657" marT="32329" marB="32329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2800" kern="120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&lt;Gốc&gt;</a:t>
                      </a:r>
                      <a:endParaRPr lang="en-US" sz="28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657" marR="64657" marT="32329" marB="32329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vi-VN" sz="2800" smtClean="0">
                          <a:effectLst/>
                        </a:rPr>
                        <a:t>&lt;Cây Con Phải&gt;</a:t>
                      </a:r>
                      <a:endParaRPr lang="vi-VN" sz="2800">
                        <a:effectLst/>
                      </a:endParaRPr>
                    </a:p>
                  </a:txBody>
                  <a:tcPr marL="64657" marR="64657" marT="32329" marB="32329" anchor="ctr"/>
                </a:tc>
                <a:extLst>
                  <a:ext uri="{0D108BD9-81ED-4DB2-BD59-A6C34878D82A}">
                    <a16:rowId xmlns:a16="http://schemas.microsoft.com/office/drawing/2014/main" val="2468182082"/>
                  </a:ext>
                </a:extLst>
              </a:tr>
              <a:tr h="918441"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Postorder</a:t>
                      </a:r>
                    </a:p>
                  </a:txBody>
                  <a:tcPr marL="64657" marR="64657" marT="32329" marB="32329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smtClean="0">
                          <a:effectLst/>
                        </a:rPr>
                        <a:t>&lt;Cây Con Trái&gt;</a:t>
                      </a:r>
                      <a:endParaRPr lang="en-US" sz="2800">
                        <a:effectLst/>
                      </a:endParaRPr>
                    </a:p>
                  </a:txBody>
                  <a:tcPr marL="64657" marR="64657" marT="32329" marB="32329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vi-VN" sz="2800" smtClean="0">
                          <a:effectLst/>
                        </a:rPr>
                        <a:t>&lt;Cây Con Phải&gt;</a:t>
                      </a:r>
                      <a:endParaRPr lang="vi-VN" sz="2800">
                        <a:effectLst/>
                      </a:endParaRPr>
                    </a:p>
                  </a:txBody>
                  <a:tcPr marL="64657" marR="64657" marT="32329" marB="32329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2800" kern="120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&lt;Gốc&gt;</a:t>
                      </a:r>
                      <a:endParaRPr lang="en-US" sz="28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657" marR="64657" marT="32329" marB="32329" anchor="ctr"/>
                </a:tc>
                <a:extLst>
                  <a:ext uri="{0D108BD9-81ED-4DB2-BD59-A6C34878D82A}">
                    <a16:rowId xmlns:a16="http://schemas.microsoft.com/office/drawing/2014/main" val="1712835118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02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134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1402079" y="1178622"/>
            <a:ext cx="9143999" cy="5242761"/>
            <a:chOff x="1402079" y="793616"/>
            <a:chExt cx="9143999" cy="5242761"/>
          </a:xfrm>
        </p:grpSpPr>
        <p:grpSp>
          <p:nvGrpSpPr>
            <p:cNvPr id="5" name="Group 4"/>
            <p:cNvGrpSpPr/>
            <p:nvPr/>
          </p:nvGrpSpPr>
          <p:grpSpPr>
            <a:xfrm>
              <a:off x="1402079" y="1012463"/>
              <a:ext cx="9143999" cy="5023914"/>
              <a:chOff x="1562100" y="605052"/>
              <a:chExt cx="9143999" cy="5023914"/>
            </a:xfrm>
          </p:grpSpPr>
          <p:grpSp>
            <p:nvGrpSpPr>
              <p:cNvPr id="8" name="Group 7"/>
              <p:cNvGrpSpPr/>
              <p:nvPr/>
            </p:nvGrpSpPr>
            <p:grpSpPr>
              <a:xfrm>
                <a:off x="1562100" y="605052"/>
                <a:ext cx="9143999" cy="4543636"/>
                <a:chOff x="1524001" y="1385888"/>
                <a:chExt cx="9143999" cy="4543636"/>
              </a:xfrm>
            </p:grpSpPr>
            <p:sp>
              <p:nvSpPr>
                <p:cNvPr id="19" name="Line 93"/>
                <p:cNvSpPr>
                  <a:spLocks noChangeShapeType="1"/>
                </p:cNvSpPr>
                <p:nvPr/>
              </p:nvSpPr>
              <p:spPr bwMode="auto">
                <a:xfrm>
                  <a:off x="1828800" y="1690688"/>
                  <a:ext cx="8839200" cy="0"/>
                </a:xfrm>
                <a:prstGeom prst="line">
                  <a:avLst/>
                </a:prstGeom>
                <a:noFill/>
                <a:ln w="28575">
                  <a:solidFill>
                    <a:srgbClr val="CC00CC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Line 83"/>
                <p:cNvSpPr>
                  <a:spLocks noChangeShapeType="1"/>
                </p:cNvSpPr>
                <p:nvPr/>
              </p:nvSpPr>
              <p:spPr bwMode="auto">
                <a:xfrm>
                  <a:off x="1828800" y="5524500"/>
                  <a:ext cx="8839200" cy="0"/>
                </a:xfrm>
                <a:prstGeom prst="line">
                  <a:avLst/>
                </a:prstGeom>
                <a:noFill/>
                <a:ln w="28575">
                  <a:solidFill>
                    <a:srgbClr val="CC00CC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Line 82"/>
                <p:cNvSpPr>
                  <a:spLocks noChangeShapeType="1"/>
                </p:cNvSpPr>
                <p:nvPr/>
              </p:nvSpPr>
              <p:spPr bwMode="auto">
                <a:xfrm>
                  <a:off x="1828800" y="4229100"/>
                  <a:ext cx="8839200" cy="0"/>
                </a:xfrm>
                <a:prstGeom prst="line">
                  <a:avLst/>
                </a:prstGeom>
                <a:noFill/>
                <a:ln w="28575">
                  <a:solidFill>
                    <a:srgbClr val="CC00CC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Line 81"/>
                <p:cNvSpPr>
                  <a:spLocks noChangeShapeType="1"/>
                </p:cNvSpPr>
                <p:nvPr/>
              </p:nvSpPr>
              <p:spPr bwMode="auto">
                <a:xfrm>
                  <a:off x="1828800" y="2946400"/>
                  <a:ext cx="8839200" cy="0"/>
                </a:xfrm>
                <a:prstGeom prst="line">
                  <a:avLst/>
                </a:prstGeom>
                <a:noFill/>
                <a:ln w="28575">
                  <a:solidFill>
                    <a:srgbClr val="CC00CC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Rectangle 4"/>
                <p:cNvSpPr>
                  <a:spLocks noChangeArrowheads="1"/>
                </p:cNvSpPr>
                <p:nvPr/>
              </p:nvSpPr>
              <p:spPr bwMode="auto">
                <a:xfrm>
                  <a:off x="5638800" y="1524000"/>
                  <a:ext cx="762000" cy="381000"/>
                </a:xfrm>
                <a:prstGeom prst="rect">
                  <a:avLst/>
                </a:prstGeom>
                <a:solidFill>
                  <a:srgbClr val="00B0F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800">
                      <a:solidFill>
                        <a:schemeClr val="bg1"/>
                      </a:solidFill>
                      <a:latin typeface="Times New Roman" pitchFamily="18" charset="0"/>
                    </a:rPr>
                    <a:t>A</a:t>
                  </a:r>
                </a:p>
              </p:txBody>
            </p:sp>
            <p:sp>
              <p:nvSpPr>
                <p:cNvPr id="24" name="Rectangle 49"/>
                <p:cNvSpPr>
                  <a:spLocks noChangeArrowheads="1"/>
                </p:cNvSpPr>
                <p:nvPr/>
              </p:nvSpPr>
              <p:spPr bwMode="auto">
                <a:xfrm>
                  <a:off x="3733800" y="2743200"/>
                  <a:ext cx="762000" cy="38100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800">
                      <a:solidFill>
                        <a:schemeClr val="bg1"/>
                      </a:solidFill>
                      <a:latin typeface="Times New Roman" pitchFamily="18" charset="0"/>
                    </a:rPr>
                    <a:t>B</a:t>
                  </a:r>
                </a:p>
              </p:txBody>
            </p:sp>
            <p:sp>
              <p:nvSpPr>
                <p:cNvPr id="25" name="Rectangle 52"/>
                <p:cNvSpPr>
                  <a:spLocks noChangeArrowheads="1"/>
                </p:cNvSpPr>
                <p:nvPr/>
              </p:nvSpPr>
              <p:spPr bwMode="auto">
                <a:xfrm>
                  <a:off x="7848600" y="2743200"/>
                  <a:ext cx="762000" cy="38100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800">
                      <a:solidFill>
                        <a:schemeClr val="bg1"/>
                      </a:solidFill>
                      <a:latin typeface="Times New Roman" pitchFamily="18" charset="0"/>
                    </a:rPr>
                    <a:t>C</a:t>
                  </a:r>
                </a:p>
              </p:txBody>
            </p:sp>
            <p:sp>
              <p:nvSpPr>
                <p:cNvPr id="26" name="Rectangle 55"/>
                <p:cNvSpPr>
                  <a:spLocks noChangeArrowheads="1"/>
                </p:cNvSpPr>
                <p:nvPr/>
              </p:nvSpPr>
              <p:spPr bwMode="auto">
                <a:xfrm>
                  <a:off x="2819400" y="4038600"/>
                  <a:ext cx="762000" cy="38100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800" dirty="0">
                      <a:solidFill>
                        <a:schemeClr val="bg1"/>
                      </a:solidFill>
                      <a:latin typeface="Times New Roman" pitchFamily="18" charset="0"/>
                    </a:rPr>
                    <a:t>D</a:t>
                  </a:r>
                </a:p>
              </p:txBody>
            </p:sp>
            <p:sp>
              <p:nvSpPr>
                <p:cNvPr id="27" name="Rectangle 58"/>
                <p:cNvSpPr>
                  <a:spLocks noChangeArrowheads="1"/>
                </p:cNvSpPr>
                <p:nvPr/>
              </p:nvSpPr>
              <p:spPr bwMode="auto">
                <a:xfrm>
                  <a:off x="4648200" y="4038600"/>
                  <a:ext cx="762000" cy="38100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800">
                      <a:solidFill>
                        <a:schemeClr val="bg1"/>
                      </a:solidFill>
                      <a:latin typeface="Times New Roman" pitchFamily="18" charset="0"/>
                    </a:rPr>
                    <a:t>E</a:t>
                  </a:r>
                </a:p>
              </p:txBody>
            </p:sp>
            <p:sp>
              <p:nvSpPr>
                <p:cNvPr id="28" name="Rectangle 61"/>
                <p:cNvSpPr>
                  <a:spLocks noChangeArrowheads="1"/>
                </p:cNvSpPr>
                <p:nvPr/>
              </p:nvSpPr>
              <p:spPr bwMode="auto">
                <a:xfrm>
                  <a:off x="7010400" y="4038600"/>
                  <a:ext cx="762000" cy="38100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800" dirty="0">
                      <a:solidFill>
                        <a:schemeClr val="bg1"/>
                      </a:solidFill>
                      <a:latin typeface="Times New Roman" pitchFamily="18" charset="0"/>
                    </a:rPr>
                    <a:t>F</a:t>
                  </a:r>
                </a:p>
              </p:txBody>
            </p:sp>
            <p:sp>
              <p:nvSpPr>
                <p:cNvPr id="29" name="Rectangle 67"/>
                <p:cNvSpPr>
                  <a:spLocks noChangeArrowheads="1"/>
                </p:cNvSpPr>
                <p:nvPr/>
              </p:nvSpPr>
              <p:spPr bwMode="auto">
                <a:xfrm>
                  <a:off x="3683000" y="5548524"/>
                  <a:ext cx="762000" cy="38100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800" dirty="0">
                      <a:solidFill>
                        <a:schemeClr val="bg1"/>
                      </a:solidFill>
                      <a:latin typeface="Times New Roman" pitchFamily="18" charset="0"/>
                    </a:rPr>
                    <a:t>I</a:t>
                  </a:r>
                </a:p>
              </p:txBody>
            </p:sp>
            <p:sp>
              <p:nvSpPr>
                <p:cNvPr id="30" name="Line 70"/>
                <p:cNvSpPr>
                  <a:spLocks noChangeShapeType="1"/>
                </p:cNvSpPr>
                <p:nvPr/>
              </p:nvSpPr>
              <p:spPr bwMode="auto">
                <a:xfrm flipH="1">
                  <a:off x="4190999" y="1676401"/>
                  <a:ext cx="1442205" cy="106679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" name="Line 71"/>
                <p:cNvSpPr>
                  <a:spLocks noChangeShapeType="1"/>
                </p:cNvSpPr>
                <p:nvPr/>
              </p:nvSpPr>
              <p:spPr bwMode="auto">
                <a:xfrm>
                  <a:off x="6400800" y="1676401"/>
                  <a:ext cx="1828800" cy="106679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" name="Line 72"/>
                <p:cNvSpPr>
                  <a:spLocks noChangeShapeType="1"/>
                </p:cNvSpPr>
                <p:nvPr/>
              </p:nvSpPr>
              <p:spPr bwMode="auto">
                <a:xfrm flipH="1">
                  <a:off x="3200399" y="2970424"/>
                  <a:ext cx="493295" cy="10681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" name="Line 73"/>
                <p:cNvSpPr>
                  <a:spLocks noChangeShapeType="1"/>
                </p:cNvSpPr>
                <p:nvPr/>
              </p:nvSpPr>
              <p:spPr bwMode="auto">
                <a:xfrm>
                  <a:off x="4492124" y="3024188"/>
                  <a:ext cx="537076" cy="101441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" name="Line 74"/>
                <p:cNvSpPr>
                  <a:spLocks noChangeShapeType="1"/>
                </p:cNvSpPr>
                <p:nvPr/>
              </p:nvSpPr>
              <p:spPr bwMode="auto">
                <a:xfrm flipH="1">
                  <a:off x="2498224" y="4265614"/>
                  <a:ext cx="357271" cy="132238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" name="Line 75"/>
                <p:cNvSpPr>
                  <a:spLocks noChangeShapeType="1"/>
                </p:cNvSpPr>
                <p:nvPr/>
              </p:nvSpPr>
              <p:spPr bwMode="auto">
                <a:xfrm flipH="1">
                  <a:off x="7391400" y="2895601"/>
                  <a:ext cx="457200" cy="114299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" name="Line 76"/>
                <p:cNvSpPr>
                  <a:spLocks noChangeShapeType="1"/>
                </p:cNvSpPr>
                <p:nvPr/>
              </p:nvSpPr>
              <p:spPr bwMode="auto">
                <a:xfrm flipH="1">
                  <a:off x="5207000" y="4395577"/>
                  <a:ext cx="203200" cy="11623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" name="Rectangle 77"/>
                <p:cNvSpPr>
                  <a:spLocks noChangeArrowheads="1"/>
                </p:cNvSpPr>
                <p:nvPr/>
              </p:nvSpPr>
              <p:spPr bwMode="auto">
                <a:xfrm>
                  <a:off x="8915400" y="4038600"/>
                  <a:ext cx="762000" cy="38100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800">
                      <a:solidFill>
                        <a:schemeClr val="bg1"/>
                      </a:solidFill>
                      <a:latin typeface="Times New Roman" pitchFamily="18" charset="0"/>
                    </a:rPr>
                    <a:t>G</a:t>
                  </a:r>
                </a:p>
              </p:txBody>
            </p:sp>
            <p:sp>
              <p:nvSpPr>
                <p:cNvPr id="38" name="Line 80"/>
                <p:cNvSpPr>
                  <a:spLocks noChangeShapeType="1"/>
                </p:cNvSpPr>
                <p:nvPr/>
              </p:nvSpPr>
              <p:spPr bwMode="auto">
                <a:xfrm>
                  <a:off x="8610600" y="2895601"/>
                  <a:ext cx="685800" cy="114299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" name="Text Box 88"/>
                <p:cNvSpPr txBox="1">
                  <a:spLocks noChangeArrowheads="1"/>
                </p:cNvSpPr>
                <p:nvPr/>
              </p:nvSpPr>
              <p:spPr bwMode="auto">
                <a:xfrm>
                  <a:off x="3137635" y="1816741"/>
                  <a:ext cx="1808508" cy="4616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 eaLnBrk="0" hangingPunct="0"/>
                  <a:r>
                    <a:rPr lang="en-US" sz="2400" b="1">
                      <a:solidFill>
                        <a:srgbClr val="0000CC"/>
                      </a:solidFill>
                      <a:latin typeface="Times New Roman" pitchFamily="18" charset="0"/>
                    </a:rPr>
                    <a:t>Cây con trái</a:t>
                  </a:r>
                </a:p>
              </p:txBody>
            </p:sp>
            <p:sp>
              <p:nvSpPr>
                <p:cNvPr id="40" name="Text Box 89"/>
                <p:cNvSpPr txBox="1">
                  <a:spLocks noChangeArrowheads="1"/>
                </p:cNvSpPr>
                <p:nvPr/>
              </p:nvSpPr>
              <p:spPr bwMode="auto">
                <a:xfrm>
                  <a:off x="7202224" y="1791973"/>
                  <a:ext cx="1806905" cy="4616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 eaLnBrk="0" hangingPunct="0"/>
                  <a:r>
                    <a:rPr lang="en-US" sz="2400">
                      <a:solidFill>
                        <a:srgbClr val="0000CC"/>
                      </a:solidFill>
                      <a:latin typeface="Times New Roman" pitchFamily="18" charset="0"/>
                    </a:rPr>
                    <a:t>Cây con phải</a:t>
                  </a:r>
                </a:p>
              </p:txBody>
            </p:sp>
            <p:sp>
              <p:nvSpPr>
                <p:cNvPr id="41" name="Text Box 90"/>
                <p:cNvSpPr txBox="1">
                  <a:spLocks noChangeArrowheads="1"/>
                </p:cNvSpPr>
                <p:nvPr/>
              </p:nvSpPr>
              <p:spPr bwMode="auto">
                <a:xfrm>
                  <a:off x="1524001" y="2628901"/>
                  <a:ext cx="809625" cy="36671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 eaLnBrk="0" hangingPunct="0"/>
                  <a:r>
                    <a:rPr lang="en-US" b="1">
                      <a:solidFill>
                        <a:srgbClr val="CC00CC"/>
                      </a:solidFill>
                      <a:latin typeface="Times New Roman" pitchFamily="18" charset="0"/>
                    </a:rPr>
                    <a:t>Mức 1</a:t>
                  </a:r>
                </a:p>
              </p:txBody>
            </p:sp>
            <p:sp>
              <p:nvSpPr>
                <p:cNvPr id="42" name="Text Box 91"/>
                <p:cNvSpPr txBox="1">
                  <a:spLocks noChangeArrowheads="1"/>
                </p:cNvSpPr>
                <p:nvPr/>
              </p:nvSpPr>
              <p:spPr bwMode="auto">
                <a:xfrm>
                  <a:off x="1524001" y="3898901"/>
                  <a:ext cx="809625" cy="36671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 eaLnBrk="0" hangingPunct="0"/>
                  <a:r>
                    <a:rPr lang="en-US" b="1">
                      <a:solidFill>
                        <a:srgbClr val="CC00CC"/>
                      </a:solidFill>
                      <a:latin typeface="Times New Roman" pitchFamily="18" charset="0"/>
                    </a:rPr>
                    <a:t>Mức 2</a:t>
                  </a:r>
                </a:p>
              </p:txBody>
            </p:sp>
            <p:sp>
              <p:nvSpPr>
                <p:cNvPr id="43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1524001" y="5194301"/>
                  <a:ext cx="809625" cy="36671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 eaLnBrk="0" hangingPunct="0"/>
                  <a:r>
                    <a:rPr lang="en-US" b="1">
                      <a:solidFill>
                        <a:srgbClr val="CC00CC"/>
                      </a:solidFill>
                      <a:latin typeface="Times New Roman" pitchFamily="18" charset="0"/>
                    </a:rPr>
                    <a:t>Mức 3</a:t>
                  </a:r>
                </a:p>
              </p:txBody>
            </p:sp>
            <p:sp>
              <p:nvSpPr>
                <p:cNvPr id="44" name="Text Box 94"/>
                <p:cNvSpPr txBox="1">
                  <a:spLocks noChangeArrowheads="1"/>
                </p:cNvSpPr>
                <p:nvPr/>
              </p:nvSpPr>
              <p:spPr bwMode="auto">
                <a:xfrm>
                  <a:off x="1524001" y="1385888"/>
                  <a:ext cx="809625" cy="3667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 eaLnBrk="0" hangingPunct="0"/>
                  <a:r>
                    <a:rPr lang="en-US" b="1">
                      <a:solidFill>
                        <a:srgbClr val="CC00CC"/>
                      </a:solidFill>
                      <a:latin typeface="Times New Roman" pitchFamily="18" charset="0"/>
                    </a:rPr>
                    <a:t>Mức 0</a:t>
                  </a:r>
                </a:p>
              </p:txBody>
            </p:sp>
            <p:sp>
              <p:nvSpPr>
                <p:cNvPr id="45" name="Line 73"/>
                <p:cNvSpPr>
                  <a:spLocks noChangeShapeType="1"/>
                </p:cNvSpPr>
                <p:nvPr/>
              </p:nvSpPr>
              <p:spPr bwMode="auto">
                <a:xfrm>
                  <a:off x="3617495" y="4265614"/>
                  <a:ext cx="457200" cy="12468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" name="Rectangle 67"/>
                <p:cNvSpPr>
                  <a:spLocks noChangeArrowheads="1"/>
                </p:cNvSpPr>
                <p:nvPr/>
              </p:nvSpPr>
              <p:spPr bwMode="auto">
                <a:xfrm>
                  <a:off x="2193925" y="5524500"/>
                  <a:ext cx="762000" cy="38100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800" dirty="0" smtClean="0">
                      <a:solidFill>
                        <a:schemeClr val="bg1"/>
                      </a:solidFill>
                      <a:latin typeface="Times New Roman" pitchFamily="18" charset="0"/>
                    </a:rPr>
                    <a:t>H</a:t>
                  </a:r>
                  <a:endParaRPr lang="en-US" sz="2800" dirty="0">
                    <a:solidFill>
                      <a:schemeClr val="bg1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7" name="Rectangle 67"/>
                <p:cNvSpPr>
                  <a:spLocks noChangeArrowheads="1"/>
                </p:cNvSpPr>
                <p:nvPr/>
              </p:nvSpPr>
              <p:spPr bwMode="auto">
                <a:xfrm>
                  <a:off x="5073016" y="5548524"/>
                  <a:ext cx="762000" cy="38100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sz="2800" dirty="0" smtClean="0">
                      <a:solidFill>
                        <a:schemeClr val="bg1"/>
                      </a:solidFill>
                      <a:latin typeface="Times New Roman" pitchFamily="18" charset="0"/>
                    </a:rPr>
                    <a:t>J</a:t>
                  </a:r>
                  <a:endParaRPr lang="en-US" sz="2800" dirty="0">
                    <a:solidFill>
                      <a:schemeClr val="bg1"/>
                    </a:solidFill>
                    <a:latin typeface="Times New Roman" pitchFamily="18" charset="0"/>
                  </a:endParaRPr>
                </a:p>
              </p:txBody>
            </p:sp>
          </p:grpSp>
          <p:sp>
            <p:nvSpPr>
              <p:cNvPr id="9" name="TextBox 8"/>
              <p:cNvSpPr txBox="1"/>
              <p:nvPr/>
            </p:nvSpPr>
            <p:spPr>
              <a:xfrm>
                <a:off x="5448299" y="1140040"/>
                <a:ext cx="8381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smtClean="0"/>
                  <a:t>150</a:t>
                </a:r>
                <a:endParaRPr lang="en-US" sz="2400" b="1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7010399" y="3647672"/>
                <a:ext cx="8381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smtClean="0"/>
                  <a:t>130</a:t>
                </a:r>
                <a:endParaRPr lang="en-US" sz="2400" b="1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3711909" y="2343364"/>
                <a:ext cx="8381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smtClean="0"/>
                  <a:t>210</a:t>
                </a:r>
                <a:endParaRPr lang="en-US" sz="2400" b="1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4608095" y="3628056"/>
                <a:ext cx="8381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/>
                  <a:t>6</a:t>
                </a:r>
                <a:r>
                  <a:rPr lang="en-US" sz="2400" b="1" smtClean="0"/>
                  <a:t>0</a:t>
                </a:r>
                <a:endParaRPr lang="en-US" sz="2400" b="1"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3619499" y="5137224"/>
                <a:ext cx="8381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smtClean="0"/>
                  <a:t>10</a:t>
                </a:r>
                <a:endParaRPr lang="en-US" sz="2400" b="1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2171699" y="5093182"/>
                <a:ext cx="8381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smtClean="0"/>
                  <a:t>400</a:t>
                </a:r>
                <a:endParaRPr lang="en-US" sz="2400" b="1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5065660" y="5167301"/>
                <a:ext cx="8381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smtClean="0"/>
                  <a:t>100</a:t>
                </a:r>
                <a:endParaRPr lang="en-US" sz="2400" b="1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8941982" y="3717537"/>
                <a:ext cx="8381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smtClean="0"/>
                  <a:t>330</a:t>
                </a:r>
                <a:endParaRPr lang="en-US" sz="2400" b="1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7868290" y="2369856"/>
                <a:ext cx="8381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smtClean="0"/>
                  <a:t>200</a:t>
                </a:r>
                <a:endParaRPr lang="en-US" sz="2400" b="1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2837447" y="3627730"/>
                <a:ext cx="8381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smtClean="0"/>
                  <a:t>50</a:t>
                </a:r>
                <a:endParaRPr lang="en-US" sz="2400" b="1"/>
              </a:p>
            </p:txBody>
          </p:sp>
        </p:grpSp>
        <p:sp>
          <p:nvSpPr>
            <p:cNvPr id="6" name="Text Box 85"/>
            <p:cNvSpPr txBox="1">
              <a:spLocks noChangeArrowheads="1"/>
            </p:cNvSpPr>
            <p:nvPr/>
          </p:nvSpPr>
          <p:spPr bwMode="auto">
            <a:xfrm>
              <a:off x="6774950" y="793616"/>
              <a:ext cx="3373039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sz="2400" b="1" dirty="0" err="1">
                  <a:solidFill>
                    <a:srgbClr val="CC0000"/>
                  </a:solidFill>
                  <a:latin typeface="Times New Roman" pitchFamily="18" charset="0"/>
                </a:rPr>
                <a:t>Kích</a:t>
              </a:r>
              <a:r>
                <a:rPr lang="en-US" sz="2400" b="1" dirty="0">
                  <a:solidFill>
                    <a:srgbClr val="CC0000"/>
                  </a:solidFill>
                  <a:latin typeface="Times New Roman" pitchFamily="18" charset="0"/>
                </a:rPr>
                <a:t> </a:t>
              </a:r>
              <a:r>
                <a:rPr lang="en-US" sz="2400" b="1" dirty="0" err="1">
                  <a:solidFill>
                    <a:srgbClr val="CC0000"/>
                  </a:solidFill>
                  <a:latin typeface="Times New Roman" pitchFamily="18" charset="0"/>
                </a:rPr>
                <a:t>thước</a:t>
              </a:r>
              <a:r>
                <a:rPr lang="en-US" sz="2400" b="1" dirty="0">
                  <a:solidFill>
                    <a:srgbClr val="CC0000"/>
                  </a:solidFill>
                  <a:latin typeface="Times New Roman" pitchFamily="18" charset="0"/>
                </a:rPr>
                <a:t> = </a:t>
              </a:r>
              <a:r>
                <a:rPr lang="en-US" sz="2400" b="1" dirty="0" smtClean="0">
                  <a:solidFill>
                    <a:srgbClr val="CC0000"/>
                  </a:solidFill>
                  <a:latin typeface="Times New Roman" pitchFamily="18" charset="0"/>
                </a:rPr>
                <a:t>10 </a:t>
              </a:r>
              <a:r>
                <a:rPr lang="en-US" sz="2400" b="1" dirty="0">
                  <a:solidFill>
                    <a:srgbClr val="CC0000"/>
                  </a:solidFill>
                  <a:latin typeface="Times New Roman" pitchFamily="18" charset="0"/>
                </a:rPr>
                <a:t>(</a:t>
              </a:r>
              <a:r>
                <a:rPr lang="en-US" sz="2400" b="1" dirty="0" err="1">
                  <a:solidFill>
                    <a:srgbClr val="CC0000"/>
                  </a:solidFill>
                  <a:latin typeface="Times New Roman" pitchFamily="18" charset="0"/>
                </a:rPr>
                <a:t>số</a:t>
              </a:r>
              <a:r>
                <a:rPr lang="en-US" sz="2400" b="1" dirty="0">
                  <a:solidFill>
                    <a:srgbClr val="CC0000"/>
                  </a:solidFill>
                  <a:latin typeface="Times New Roman" pitchFamily="18" charset="0"/>
                </a:rPr>
                <a:t> </a:t>
              </a:r>
              <a:r>
                <a:rPr lang="en-US" sz="2400" b="1" dirty="0" err="1">
                  <a:solidFill>
                    <a:srgbClr val="CC0000"/>
                  </a:solidFill>
                  <a:latin typeface="Times New Roman" pitchFamily="18" charset="0"/>
                </a:rPr>
                <a:t>nút</a:t>
              </a:r>
              <a:r>
                <a:rPr lang="en-US" sz="2400" b="1" dirty="0">
                  <a:solidFill>
                    <a:srgbClr val="CC0000"/>
                  </a:solidFill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7" name="Text Box 84"/>
            <p:cNvSpPr txBox="1">
              <a:spLocks noChangeArrowheads="1"/>
            </p:cNvSpPr>
            <p:nvPr/>
          </p:nvSpPr>
          <p:spPr bwMode="auto">
            <a:xfrm>
              <a:off x="6067054" y="5437700"/>
              <a:ext cx="3833403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 eaLnBrk="0" hangingPunct="0"/>
              <a:r>
                <a:rPr lang="en-US" sz="2400" b="1">
                  <a:solidFill>
                    <a:srgbClr val="CC0000"/>
                  </a:solidFill>
                  <a:latin typeface="Times New Roman" pitchFamily="18" charset="0"/>
                </a:rPr>
                <a:t>Độ sâu/chiều cao = 3</a:t>
              </a:r>
            </a:p>
          </p:txBody>
        </p:sp>
      </p:grpSp>
      <p:sp>
        <p:nvSpPr>
          <p:cNvPr id="48" name="Rectangle 2"/>
          <p:cNvSpPr txBox="1">
            <a:spLocks noChangeArrowheads="1"/>
          </p:cNvSpPr>
          <p:nvPr/>
        </p:nvSpPr>
        <p:spPr>
          <a:xfrm>
            <a:off x="977900" y="541827"/>
            <a:ext cx="10541000" cy="721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b="1" kern="1200" spc="-50" baseline="0">
                <a:solidFill>
                  <a:srgbClr val="0000C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Duyệt cây theo chiều sâu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597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561994"/>
            <a:ext cx="10642600" cy="703747"/>
          </a:xfrm>
        </p:spPr>
        <p:txBody>
          <a:bodyPr/>
          <a:lstStyle/>
          <a:p>
            <a:r>
              <a:rPr lang="en-US" dirty="0" err="1"/>
              <a:t>Duyệt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chiều</a:t>
            </a:r>
            <a:r>
              <a:rPr lang="en-US" dirty="0"/>
              <a:t> </a:t>
            </a:r>
            <a:r>
              <a:rPr lang="vi-VN" dirty="0" smtClean="0"/>
              <a:t>sâu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700" y="1443790"/>
            <a:ext cx="10642600" cy="53848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vi-VN" sz="3200" dirty="0" smtClean="0"/>
              <a:t>Các </a:t>
            </a:r>
            <a:r>
              <a:rPr lang="vi-VN" sz="3200" dirty="0"/>
              <a:t>bước để duyệt cây với Preorder như sau: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vi-VN" sz="3200" b="1" dirty="0"/>
              <a:t>Bước 1</a:t>
            </a:r>
            <a:r>
              <a:rPr lang="vi-VN" sz="3200" dirty="0"/>
              <a:t>: </a:t>
            </a:r>
            <a:r>
              <a:rPr lang="en-US" sz="3200" dirty="0" err="1" smtClean="0"/>
              <a:t>Duyệt</a:t>
            </a:r>
            <a:r>
              <a:rPr lang="vi-VN" sz="3200" dirty="0" smtClean="0"/>
              <a:t> </a:t>
            </a:r>
            <a:r>
              <a:rPr lang="vi-VN" sz="3200" dirty="0"/>
              <a:t>node gốc.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vi-VN" sz="3200" b="1" dirty="0"/>
              <a:t>Bước 2</a:t>
            </a:r>
            <a:r>
              <a:rPr lang="vi-VN" sz="3200" dirty="0"/>
              <a:t>: </a:t>
            </a:r>
            <a:r>
              <a:rPr lang="en-US" sz="3200" dirty="0" err="1" smtClean="0"/>
              <a:t>Duyệt</a:t>
            </a:r>
            <a:r>
              <a:rPr lang="vi-VN" sz="3200" dirty="0" smtClean="0"/>
              <a:t> </a:t>
            </a:r>
            <a:r>
              <a:rPr lang="vi-VN" sz="3200" dirty="0"/>
              <a:t>cây con bên trái </a:t>
            </a:r>
            <a:r>
              <a:rPr lang="vi-VN" sz="3200" dirty="0" smtClean="0"/>
              <a:t>(</a:t>
            </a:r>
            <a:r>
              <a:rPr lang="en-US" sz="3200" dirty="0" err="1" smtClean="0"/>
              <a:t>duyệt</a:t>
            </a:r>
            <a:r>
              <a:rPr lang="vi-VN" sz="3200" dirty="0" smtClean="0"/>
              <a:t> </a:t>
            </a:r>
            <a:r>
              <a:rPr lang="vi-VN" sz="3200" dirty="0"/>
              <a:t>tất cả các node của cây con bên trái)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vi-VN" sz="3200" b="1" dirty="0"/>
              <a:t>Bước 3</a:t>
            </a:r>
            <a:r>
              <a:rPr lang="vi-VN" sz="3200" dirty="0"/>
              <a:t>: </a:t>
            </a:r>
            <a:r>
              <a:rPr lang="en-US" sz="3200" dirty="0" err="1" smtClean="0"/>
              <a:t>Duyệt</a:t>
            </a:r>
            <a:r>
              <a:rPr lang="vi-VN" sz="3200" dirty="0" smtClean="0"/>
              <a:t> </a:t>
            </a:r>
            <a:r>
              <a:rPr lang="vi-VN" sz="3200" dirty="0"/>
              <a:t>cây con bên phải </a:t>
            </a:r>
            <a:r>
              <a:rPr lang="vi-VN" sz="3200" dirty="0" smtClean="0"/>
              <a:t>(</a:t>
            </a:r>
            <a:r>
              <a:rPr lang="en-US" sz="3200" dirty="0" err="1" smtClean="0"/>
              <a:t>duyệt</a:t>
            </a:r>
            <a:r>
              <a:rPr lang="vi-VN" sz="3200" dirty="0" smtClean="0"/>
              <a:t> </a:t>
            </a:r>
            <a:r>
              <a:rPr lang="vi-VN" sz="3200" dirty="0"/>
              <a:t>tất cả các node của cây con bên phải).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3200" smtClean="0"/>
              <a:t>Kết </a:t>
            </a:r>
            <a:r>
              <a:rPr lang="en-US" sz="3200" dirty="0" smtClean="0"/>
              <a:t>quả </a:t>
            </a:r>
            <a:r>
              <a:rPr lang="en-US" sz="3200" dirty="0" err="1" smtClean="0"/>
              <a:t>duyệt</a:t>
            </a:r>
            <a:r>
              <a:rPr lang="en-US" sz="3200" smtClean="0"/>
              <a:t>: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/>
              <a:t>	</a:t>
            </a:r>
            <a:r>
              <a:rPr lang="en-US" smtClean="0"/>
              <a:t>	</a:t>
            </a:r>
            <a:r>
              <a:rPr lang="vi-VN" sz="3200" b="1" smtClean="0">
                <a:solidFill>
                  <a:srgbClr val="0070C0"/>
                </a:solidFill>
              </a:rPr>
              <a:t>A,  B,  D,  H,  I,  E,  J,  C,  F,  </a:t>
            </a:r>
            <a:r>
              <a:rPr lang="vi-VN" sz="3200" b="1" dirty="0">
                <a:solidFill>
                  <a:srgbClr val="0070C0"/>
                </a:solidFill>
              </a:rPr>
              <a:t>G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46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542740"/>
            <a:ext cx="10642600" cy="703747"/>
          </a:xfrm>
        </p:spPr>
        <p:txBody>
          <a:bodyPr/>
          <a:lstStyle/>
          <a:p>
            <a:r>
              <a:rPr lang="en-US" dirty="0" err="1"/>
              <a:t>Duyệt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chiều</a:t>
            </a:r>
            <a:r>
              <a:rPr lang="en-US" dirty="0"/>
              <a:t> </a:t>
            </a:r>
            <a:r>
              <a:rPr lang="vi-VN" dirty="0" smtClean="0"/>
              <a:t>sâu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700" y="1299411"/>
            <a:ext cx="10642600" cy="53848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vi-VN" i="1" dirty="0"/>
              <a:t>//Function to visit nodes in Preorder</a:t>
            </a:r>
            <a:endParaRPr lang="en-US" i="1" dirty="0"/>
          </a:p>
          <a:p>
            <a:pPr marL="0" indent="0">
              <a:buNone/>
            </a:pPr>
            <a:r>
              <a:rPr lang="vi-VN" smtClean="0">
                <a:latin typeface="Consolas" panose="020B0609020204030204" pitchFamily="49" charset="0"/>
              </a:rPr>
              <a:t>void </a:t>
            </a:r>
            <a:r>
              <a:rPr lang="vi-VN" b="1" smtClean="0">
                <a:solidFill>
                  <a:srgbClr val="00B0F0"/>
                </a:solidFill>
                <a:latin typeface="Consolas" panose="020B0609020204030204" pitchFamily="49" charset="0"/>
              </a:rPr>
              <a:t>Pre</a:t>
            </a:r>
            <a:r>
              <a:rPr lang="en-US" b="1" smtClean="0">
                <a:solidFill>
                  <a:srgbClr val="00B0F0"/>
                </a:solidFill>
                <a:latin typeface="Consolas" panose="020B0609020204030204" pitchFamily="49" charset="0"/>
              </a:rPr>
              <a:t>O</a:t>
            </a:r>
            <a:r>
              <a:rPr lang="vi-VN" b="1" smtClean="0">
                <a:solidFill>
                  <a:srgbClr val="00B0F0"/>
                </a:solidFill>
                <a:latin typeface="Consolas" panose="020B0609020204030204" pitchFamily="49" charset="0"/>
              </a:rPr>
              <a:t>rder</a:t>
            </a:r>
            <a:r>
              <a:rPr lang="vi-VN" smtClean="0">
                <a:latin typeface="Consolas" panose="020B0609020204030204" pitchFamily="49" charset="0"/>
              </a:rPr>
              <a:t>(struct </a:t>
            </a:r>
            <a:r>
              <a:rPr lang="vi-VN" dirty="0">
                <a:latin typeface="Consolas" panose="020B0609020204030204" pitchFamily="49" charset="0"/>
              </a:rPr>
              <a:t>Node *root) {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vi-VN" dirty="0"/>
              <a:t>	</a:t>
            </a:r>
            <a:r>
              <a:rPr lang="vi-VN" i="1" dirty="0"/>
              <a:t>// base condition for recursion</a:t>
            </a:r>
            <a:endParaRPr lang="en-US" i="1" dirty="0"/>
          </a:p>
          <a:p>
            <a:pPr marL="0" indent="0">
              <a:buNone/>
            </a:pPr>
            <a:r>
              <a:rPr lang="vi-VN" i="1" dirty="0"/>
              <a:t>	// if tree/sub-tree </a:t>
            </a:r>
            <a:r>
              <a:rPr lang="vi-VN" i="1"/>
              <a:t>is </a:t>
            </a:r>
            <a:r>
              <a:rPr lang="vi-VN" i="1" smtClean="0"/>
              <a:t>empty,  </a:t>
            </a:r>
            <a:r>
              <a:rPr lang="vi-VN" i="1" dirty="0"/>
              <a:t>return and exit</a:t>
            </a:r>
            <a:endParaRPr lang="en-US" i="1" dirty="0"/>
          </a:p>
          <a:p>
            <a:pPr marL="0" indent="0">
              <a:buNone/>
            </a:pPr>
            <a:r>
              <a:rPr lang="vi-VN" dirty="0"/>
              <a:t>	</a:t>
            </a:r>
            <a:r>
              <a:rPr lang="vi-VN" dirty="0">
                <a:latin typeface="Consolas" panose="020B0609020204030204" pitchFamily="49" charset="0"/>
              </a:rPr>
              <a:t>if(root == NULL</a:t>
            </a:r>
            <a:r>
              <a:rPr lang="vi-VN">
                <a:latin typeface="Consolas" panose="020B0609020204030204" pitchFamily="49" charset="0"/>
              </a:rPr>
              <a:t>) </a:t>
            </a:r>
            <a:endParaRPr lang="en-US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</a:t>
            </a:r>
            <a:r>
              <a:rPr lang="en-US" smtClean="0">
                <a:latin typeface="Consolas" panose="020B0609020204030204" pitchFamily="49" charset="0"/>
              </a:rPr>
              <a:t>	</a:t>
            </a:r>
            <a:r>
              <a:rPr lang="vi-VN" smtClean="0">
                <a:latin typeface="Consolas" panose="020B0609020204030204" pitchFamily="49" charset="0"/>
              </a:rPr>
              <a:t>return</a:t>
            </a:r>
            <a:r>
              <a:rPr lang="vi-VN" dirty="0"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vi-VN" dirty="0">
                <a:latin typeface="Consolas" panose="020B0609020204030204" pitchFamily="49" charset="0"/>
              </a:rPr>
              <a:t>		printf("%</a:t>
            </a:r>
            <a:r>
              <a:rPr lang="vi-VN">
                <a:latin typeface="Consolas" panose="020B0609020204030204" pitchFamily="49" charset="0"/>
              </a:rPr>
              <a:t>c </a:t>
            </a:r>
            <a:r>
              <a:rPr lang="vi-VN" smtClean="0">
                <a:latin typeface="Consolas" panose="020B0609020204030204" pitchFamily="49" charset="0"/>
              </a:rPr>
              <a:t>", root-</a:t>
            </a:r>
            <a:r>
              <a:rPr lang="vi-VN" dirty="0">
                <a:latin typeface="Consolas" panose="020B0609020204030204" pitchFamily="49" charset="0"/>
              </a:rPr>
              <a:t>&gt;data); // Print data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vi-VN">
                <a:latin typeface="Consolas" panose="020B0609020204030204" pitchFamily="49" charset="0"/>
              </a:rPr>
              <a:t>	</a:t>
            </a:r>
            <a:r>
              <a:rPr lang="vi-VN" b="1">
                <a:solidFill>
                  <a:srgbClr val="00B0F0"/>
                </a:solidFill>
                <a:latin typeface="Consolas" panose="020B0609020204030204" pitchFamily="49" charset="0"/>
              </a:rPr>
              <a:t>Pre</a:t>
            </a:r>
            <a:r>
              <a:rPr lang="en-US" b="1">
                <a:solidFill>
                  <a:srgbClr val="00B0F0"/>
                </a:solidFill>
                <a:latin typeface="Consolas" panose="020B0609020204030204" pitchFamily="49" charset="0"/>
              </a:rPr>
              <a:t>O</a:t>
            </a:r>
            <a:r>
              <a:rPr lang="vi-VN" b="1" smtClean="0">
                <a:solidFill>
                  <a:srgbClr val="00B0F0"/>
                </a:solidFill>
                <a:latin typeface="Consolas" panose="020B0609020204030204" pitchFamily="49" charset="0"/>
              </a:rPr>
              <a:t>rder</a:t>
            </a:r>
            <a:r>
              <a:rPr lang="vi-VN" smtClean="0">
                <a:latin typeface="Consolas" panose="020B0609020204030204" pitchFamily="49" charset="0"/>
              </a:rPr>
              <a:t>(root-</a:t>
            </a:r>
            <a:r>
              <a:rPr lang="vi-VN" dirty="0">
                <a:latin typeface="Consolas" panose="020B0609020204030204" pitchFamily="49" charset="0"/>
              </a:rPr>
              <a:t>&gt;</a:t>
            </a:r>
            <a:r>
              <a:rPr lang="vi-VN">
                <a:latin typeface="Consolas" panose="020B0609020204030204" pitchFamily="49" charset="0"/>
              </a:rPr>
              <a:t>left</a:t>
            </a:r>
            <a:r>
              <a:rPr lang="vi-VN" smtClean="0">
                <a:latin typeface="Consolas" panose="020B0609020204030204" pitchFamily="49" charset="0"/>
              </a:rPr>
              <a:t>);</a:t>
            </a:r>
            <a:r>
              <a:rPr lang="en-US" smtClean="0">
                <a:latin typeface="Consolas" panose="020B0609020204030204" pitchFamily="49" charset="0"/>
              </a:rPr>
              <a:t>	</a:t>
            </a:r>
            <a:r>
              <a:rPr lang="vi-VN" smtClean="0">
                <a:latin typeface="Consolas" panose="020B0609020204030204" pitchFamily="49" charset="0"/>
              </a:rPr>
              <a:t>// </a:t>
            </a:r>
            <a:r>
              <a:rPr lang="vi-VN" dirty="0">
                <a:latin typeface="Consolas" panose="020B0609020204030204" pitchFamily="49" charset="0"/>
              </a:rPr>
              <a:t>Visit left subtree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vi-VN">
                <a:latin typeface="Consolas" panose="020B0609020204030204" pitchFamily="49" charset="0"/>
              </a:rPr>
              <a:t>	</a:t>
            </a:r>
            <a:r>
              <a:rPr lang="vi-VN" b="1">
                <a:solidFill>
                  <a:srgbClr val="00B0F0"/>
                </a:solidFill>
                <a:latin typeface="Consolas" panose="020B0609020204030204" pitchFamily="49" charset="0"/>
              </a:rPr>
              <a:t>Pre</a:t>
            </a:r>
            <a:r>
              <a:rPr lang="en-US" b="1">
                <a:solidFill>
                  <a:srgbClr val="00B0F0"/>
                </a:solidFill>
                <a:latin typeface="Consolas" panose="020B0609020204030204" pitchFamily="49" charset="0"/>
              </a:rPr>
              <a:t>O</a:t>
            </a:r>
            <a:r>
              <a:rPr lang="vi-VN" b="1" smtClean="0">
                <a:solidFill>
                  <a:srgbClr val="00B0F0"/>
                </a:solidFill>
                <a:latin typeface="Consolas" panose="020B0609020204030204" pitchFamily="49" charset="0"/>
              </a:rPr>
              <a:t>rder</a:t>
            </a:r>
            <a:r>
              <a:rPr lang="vi-VN" smtClean="0">
                <a:latin typeface="Consolas" panose="020B0609020204030204" pitchFamily="49" charset="0"/>
              </a:rPr>
              <a:t>(root-</a:t>
            </a:r>
            <a:r>
              <a:rPr lang="vi-VN" dirty="0">
                <a:latin typeface="Consolas" panose="020B0609020204030204" pitchFamily="49" charset="0"/>
              </a:rPr>
              <a:t>&gt;</a:t>
            </a:r>
            <a:r>
              <a:rPr lang="vi-VN">
                <a:latin typeface="Consolas" panose="020B0609020204030204" pitchFamily="49" charset="0"/>
              </a:rPr>
              <a:t>right</a:t>
            </a:r>
            <a:r>
              <a:rPr lang="vi-VN" smtClean="0">
                <a:latin typeface="Consolas" panose="020B0609020204030204" pitchFamily="49" charset="0"/>
              </a:rPr>
              <a:t>);</a:t>
            </a:r>
            <a:r>
              <a:rPr lang="en-US" smtClean="0">
                <a:latin typeface="Consolas" panose="020B0609020204030204" pitchFamily="49" charset="0"/>
              </a:rPr>
              <a:t> </a:t>
            </a:r>
            <a:r>
              <a:rPr lang="vi-VN" smtClean="0">
                <a:latin typeface="Consolas" panose="020B0609020204030204" pitchFamily="49" charset="0"/>
              </a:rPr>
              <a:t>// </a:t>
            </a:r>
            <a:r>
              <a:rPr lang="vi-VN" dirty="0">
                <a:latin typeface="Consolas" panose="020B0609020204030204" pitchFamily="49" charset="0"/>
              </a:rPr>
              <a:t>Visit right subtree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vi-VN" smtClean="0">
                <a:latin typeface="Consolas" panose="020B0609020204030204" pitchFamily="49" charset="0"/>
              </a:rPr>
              <a:t>}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556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561989"/>
            <a:ext cx="10642600" cy="703747"/>
          </a:xfrm>
        </p:spPr>
        <p:txBody>
          <a:bodyPr/>
          <a:lstStyle/>
          <a:p>
            <a:r>
              <a:rPr lang="en-US" dirty="0" err="1"/>
              <a:t>Duyệt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chiều</a:t>
            </a:r>
            <a:r>
              <a:rPr lang="en-US" dirty="0"/>
              <a:t> </a:t>
            </a:r>
            <a:r>
              <a:rPr lang="vi-VN" dirty="0" smtClean="0"/>
              <a:t>sâu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700" y="1443785"/>
            <a:ext cx="10642600" cy="5384800"/>
          </a:xfrm>
        </p:spPr>
        <p:txBody>
          <a:bodyPr vert="horz" lIns="0" tIns="45720" rIns="0" bIns="45720" rtlCol="0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vi-VN" sz="3200" dirty="0"/>
              <a:t>Các bước để duyệt cây </a:t>
            </a:r>
            <a:r>
              <a:rPr lang="vi-VN" sz="3200"/>
              <a:t>với </a:t>
            </a:r>
            <a:r>
              <a:rPr lang="vi-VN" sz="3200" smtClean="0"/>
              <a:t>In</a:t>
            </a:r>
            <a:r>
              <a:rPr lang="en-US" sz="3200" smtClean="0"/>
              <a:t>O</a:t>
            </a:r>
            <a:r>
              <a:rPr lang="vi-VN" sz="3200" smtClean="0"/>
              <a:t>rder</a:t>
            </a:r>
            <a:r>
              <a:rPr lang="vi-VN" sz="3200" dirty="0"/>
              <a:t>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vi-VN" sz="3200" b="1" dirty="0"/>
              <a:t>Bước 1</a:t>
            </a:r>
            <a:r>
              <a:rPr lang="vi-VN" sz="3200" dirty="0"/>
              <a:t>: Duyệt con bên trái.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vi-VN" sz="3200" b="1" dirty="0"/>
              <a:t>Bước 2</a:t>
            </a:r>
            <a:r>
              <a:rPr lang="vi-VN" sz="3200" dirty="0"/>
              <a:t>: Duyệt node gốc.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vi-VN" sz="3200" b="1" dirty="0"/>
              <a:t>Bước 3</a:t>
            </a:r>
            <a:r>
              <a:rPr lang="vi-VN" sz="3200" dirty="0"/>
              <a:t>: Duyệt con bên phải.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797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552367"/>
            <a:ext cx="10642600" cy="703747"/>
          </a:xfrm>
        </p:spPr>
        <p:txBody>
          <a:bodyPr/>
          <a:lstStyle/>
          <a:p>
            <a:r>
              <a:rPr lang="en-US" dirty="0" err="1"/>
              <a:t>Duyệt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chiều</a:t>
            </a:r>
            <a:r>
              <a:rPr lang="en-US" dirty="0"/>
              <a:t> </a:t>
            </a:r>
            <a:r>
              <a:rPr lang="vi-VN" dirty="0" smtClean="0"/>
              <a:t>sâu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700" y="1481396"/>
            <a:ext cx="10995660" cy="490585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vi-VN" i="1" dirty="0"/>
              <a:t>//Function to visit nodes in Inorder</a:t>
            </a:r>
            <a:endParaRPr lang="en-US" i="1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vi-VN" smtClean="0">
                <a:latin typeface="Consolas" panose="020B0609020204030204" pitchFamily="49" charset="0"/>
              </a:rPr>
              <a:t>void </a:t>
            </a:r>
            <a:r>
              <a:rPr lang="vi-VN" b="1" smtClean="0">
                <a:solidFill>
                  <a:srgbClr val="00B0F0"/>
                </a:solidFill>
                <a:latin typeface="Consolas" panose="020B0609020204030204" pitchFamily="49" charset="0"/>
              </a:rPr>
              <a:t>In</a:t>
            </a:r>
            <a:r>
              <a:rPr lang="en-US" b="1" smtClean="0">
                <a:solidFill>
                  <a:srgbClr val="00B0F0"/>
                </a:solidFill>
                <a:latin typeface="Consolas" panose="020B0609020204030204" pitchFamily="49" charset="0"/>
              </a:rPr>
              <a:t>O</a:t>
            </a:r>
            <a:r>
              <a:rPr lang="vi-VN" b="1" smtClean="0">
                <a:solidFill>
                  <a:srgbClr val="00B0F0"/>
                </a:solidFill>
                <a:latin typeface="Consolas" panose="020B0609020204030204" pitchFamily="49" charset="0"/>
              </a:rPr>
              <a:t>rder</a:t>
            </a:r>
            <a:r>
              <a:rPr lang="vi-VN" smtClean="0">
                <a:latin typeface="Consolas" panose="020B0609020204030204" pitchFamily="49" charset="0"/>
              </a:rPr>
              <a:t>(Node </a:t>
            </a:r>
            <a:r>
              <a:rPr lang="vi-VN" dirty="0">
                <a:latin typeface="Consolas" panose="020B0609020204030204" pitchFamily="49" charset="0"/>
              </a:rPr>
              <a:t>*root) {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vi-VN" dirty="0">
                <a:latin typeface="Consolas" panose="020B0609020204030204" pitchFamily="49" charset="0"/>
              </a:rPr>
              <a:t>	if(root == NULL</a:t>
            </a:r>
            <a:r>
              <a:rPr lang="vi-VN">
                <a:latin typeface="Consolas" panose="020B0609020204030204" pitchFamily="49" charset="0"/>
              </a:rPr>
              <a:t>) </a:t>
            </a:r>
            <a:endParaRPr lang="en-US" smtClean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>
                <a:latin typeface="Consolas" panose="020B0609020204030204" pitchFamily="49" charset="0"/>
              </a:rPr>
              <a:t>	</a:t>
            </a:r>
            <a:r>
              <a:rPr lang="en-US" smtClean="0">
                <a:latin typeface="Consolas" panose="020B0609020204030204" pitchFamily="49" charset="0"/>
              </a:rPr>
              <a:t>	</a:t>
            </a:r>
            <a:r>
              <a:rPr lang="vi-VN" smtClean="0">
                <a:latin typeface="Consolas" panose="020B0609020204030204" pitchFamily="49" charset="0"/>
              </a:rPr>
              <a:t>return</a:t>
            </a:r>
            <a:r>
              <a:rPr lang="vi-VN" dirty="0"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vi-VN">
                <a:latin typeface="Consolas" panose="020B0609020204030204" pitchFamily="49" charset="0"/>
              </a:rPr>
              <a:t>	</a:t>
            </a:r>
            <a:r>
              <a:rPr lang="vi-VN" b="1" smtClean="0">
                <a:solidFill>
                  <a:srgbClr val="00B0F0"/>
                </a:solidFill>
                <a:latin typeface="Consolas" panose="020B0609020204030204" pitchFamily="49" charset="0"/>
              </a:rPr>
              <a:t>In</a:t>
            </a:r>
            <a:r>
              <a:rPr lang="en-US" b="1" smtClean="0">
                <a:solidFill>
                  <a:srgbClr val="00B0F0"/>
                </a:solidFill>
                <a:latin typeface="Consolas" panose="020B0609020204030204" pitchFamily="49" charset="0"/>
              </a:rPr>
              <a:t>O</a:t>
            </a:r>
            <a:r>
              <a:rPr lang="vi-VN" b="1" smtClean="0">
                <a:solidFill>
                  <a:srgbClr val="00B0F0"/>
                </a:solidFill>
                <a:latin typeface="Consolas" panose="020B0609020204030204" pitchFamily="49" charset="0"/>
              </a:rPr>
              <a:t>rder</a:t>
            </a:r>
            <a:r>
              <a:rPr lang="vi-VN" smtClean="0">
                <a:latin typeface="Consolas" panose="020B0609020204030204" pitchFamily="49" charset="0"/>
              </a:rPr>
              <a:t>(root-</a:t>
            </a:r>
            <a:r>
              <a:rPr lang="vi-VN" dirty="0">
                <a:latin typeface="Consolas" panose="020B0609020204030204" pitchFamily="49" charset="0"/>
              </a:rPr>
              <a:t>&gt;</a:t>
            </a:r>
            <a:r>
              <a:rPr lang="vi-VN">
                <a:latin typeface="Consolas" panose="020B0609020204030204" pitchFamily="49" charset="0"/>
              </a:rPr>
              <a:t>left</a:t>
            </a:r>
            <a:r>
              <a:rPr lang="vi-VN" smtClean="0">
                <a:latin typeface="Consolas" panose="020B0609020204030204" pitchFamily="49" charset="0"/>
              </a:rPr>
              <a:t>);</a:t>
            </a:r>
            <a:r>
              <a:rPr lang="en-US" smtClean="0">
                <a:latin typeface="Consolas" panose="020B0609020204030204" pitchFamily="49" charset="0"/>
              </a:rPr>
              <a:t> </a:t>
            </a:r>
            <a:r>
              <a:rPr lang="vi-VN" smtClean="0">
                <a:latin typeface="Consolas" panose="020B0609020204030204" pitchFamily="49" charset="0"/>
              </a:rPr>
              <a:t>//</a:t>
            </a:r>
            <a:r>
              <a:rPr lang="vi-VN" dirty="0">
                <a:latin typeface="Consolas" panose="020B0609020204030204" pitchFamily="49" charset="0"/>
              </a:rPr>
              <a:t>Visit left subtree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vi-VN" dirty="0">
                <a:latin typeface="Consolas" panose="020B0609020204030204" pitchFamily="49" charset="0"/>
              </a:rPr>
              <a:t>	printf("%</a:t>
            </a:r>
            <a:r>
              <a:rPr lang="vi-VN">
                <a:latin typeface="Consolas" panose="020B0609020204030204" pitchFamily="49" charset="0"/>
              </a:rPr>
              <a:t>c </a:t>
            </a:r>
            <a:r>
              <a:rPr lang="vi-VN" smtClean="0">
                <a:latin typeface="Consolas" panose="020B0609020204030204" pitchFamily="49" charset="0"/>
              </a:rPr>
              <a:t>", root-</a:t>
            </a:r>
            <a:r>
              <a:rPr lang="vi-VN" dirty="0">
                <a:latin typeface="Consolas" panose="020B0609020204030204" pitchFamily="49" charset="0"/>
              </a:rPr>
              <a:t>&gt;data);  //Print data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vi-VN">
                <a:latin typeface="Consolas" panose="020B0609020204030204" pitchFamily="49" charset="0"/>
              </a:rPr>
              <a:t>	</a:t>
            </a:r>
            <a:r>
              <a:rPr lang="vi-VN" b="1" smtClean="0">
                <a:solidFill>
                  <a:srgbClr val="00B0F0"/>
                </a:solidFill>
                <a:latin typeface="Consolas" panose="020B0609020204030204" pitchFamily="49" charset="0"/>
              </a:rPr>
              <a:t>In</a:t>
            </a:r>
            <a:r>
              <a:rPr lang="en-US" b="1" smtClean="0">
                <a:solidFill>
                  <a:srgbClr val="00B0F0"/>
                </a:solidFill>
                <a:latin typeface="Consolas" panose="020B0609020204030204" pitchFamily="49" charset="0"/>
              </a:rPr>
              <a:t>O</a:t>
            </a:r>
            <a:r>
              <a:rPr lang="vi-VN" b="1" smtClean="0">
                <a:solidFill>
                  <a:srgbClr val="00B0F0"/>
                </a:solidFill>
                <a:latin typeface="Consolas" panose="020B0609020204030204" pitchFamily="49" charset="0"/>
              </a:rPr>
              <a:t>rder</a:t>
            </a:r>
            <a:r>
              <a:rPr lang="vi-VN" smtClean="0">
                <a:latin typeface="Consolas" panose="020B0609020204030204" pitchFamily="49" charset="0"/>
              </a:rPr>
              <a:t>(root-</a:t>
            </a:r>
            <a:r>
              <a:rPr lang="vi-VN" dirty="0">
                <a:latin typeface="Consolas" panose="020B0609020204030204" pitchFamily="49" charset="0"/>
              </a:rPr>
              <a:t>&gt;</a:t>
            </a:r>
            <a:r>
              <a:rPr lang="vi-VN">
                <a:latin typeface="Consolas" panose="020B0609020204030204" pitchFamily="49" charset="0"/>
              </a:rPr>
              <a:t>right</a:t>
            </a:r>
            <a:r>
              <a:rPr lang="vi-VN" smtClean="0">
                <a:latin typeface="Consolas" panose="020B0609020204030204" pitchFamily="49" charset="0"/>
              </a:rPr>
              <a:t>);</a:t>
            </a:r>
            <a:r>
              <a:rPr lang="en-US" smtClean="0">
                <a:latin typeface="Consolas" panose="020B0609020204030204" pitchFamily="49" charset="0"/>
              </a:rPr>
              <a:t> </a:t>
            </a:r>
            <a:r>
              <a:rPr lang="vi-VN" smtClean="0">
                <a:latin typeface="Consolas" panose="020B0609020204030204" pitchFamily="49" charset="0"/>
              </a:rPr>
              <a:t>//Visit</a:t>
            </a:r>
            <a:r>
              <a:rPr lang="en-US" smtClean="0">
                <a:latin typeface="Consolas" panose="020B0609020204030204" pitchFamily="49" charset="0"/>
              </a:rPr>
              <a:t> </a:t>
            </a:r>
            <a:r>
              <a:rPr lang="vi-VN" smtClean="0">
                <a:latin typeface="Consolas" panose="020B0609020204030204" pitchFamily="49" charset="0"/>
              </a:rPr>
              <a:t>right </a:t>
            </a:r>
            <a:r>
              <a:rPr lang="vi-VN" dirty="0">
                <a:latin typeface="Consolas" panose="020B0609020204030204" pitchFamily="49" charset="0"/>
              </a:rPr>
              <a:t>subtree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vi-VN" smtClean="0">
                <a:latin typeface="Consolas" panose="020B0609020204030204" pitchFamily="49" charset="0"/>
              </a:rPr>
              <a:t>}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509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561993"/>
            <a:ext cx="10642600" cy="703747"/>
          </a:xfrm>
        </p:spPr>
        <p:txBody>
          <a:bodyPr/>
          <a:lstStyle/>
          <a:p>
            <a:r>
              <a:rPr lang="en-US" dirty="0" err="1"/>
              <a:t>Duyệt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chiều</a:t>
            </a:r>
            <a:r>
              <a:rPr lang="en-US" dirty="0"/>
              <a:t> </a:t>
            </a:r>
            <a:r>
              <a:rPr lang="vi-VN" dirty="0" smtClean="0"/>
              <a:t>sâu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700" y="1443789"/>
            <a:ext cx="10642600" cy="5384800"/>
          </a:xfrm>
        </p:spPr>
        <p:txBody>
          <a:bodyPr vert="horz" lIns="0" tIns="45720" rIns="0" bIns="45720" rtlCol="0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vi-VN" sz="3200" dirty="0"/>
              <a:t>Các bước để duyệt cây </a:t>
            </a:r>
            <a:r>
              <a:rPr lang="vi-VN" sz="3200"/>
              <a:t>với Post</a:t>
            </a:r>
            <a:r>
              <a:rPr lang="en-US" sz="3200"/>
              <a:t>O</a:t>
            </a:r>
            <a:r>
              <a:rPr lang="vi-VN" sz="3200"/>
              <a:t>rder</a:t>
            </a:r>
            <a:r>
              <a:rPr lang="vi-VN" sz="3200" dirty="0"/>
              <a:t>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vi-VN" sz="3200" b="1" dirty="0"/>
              <a:t>Bước 1</a:t>
            </a:r>
            <a:r>
              <a:rPr lang="vi-VN" sz="3200" dirty="0"/>
              <a:t>: Duyệt con bên trái.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vi-VN" sz="3200" b="1" dirty="0"/>
              <a:t>Bước 2</a:t>
            </a:r>
            <a:r>
              <a:rPr lang="vi-VN" sz="3200" dirty="0"/>
              <a:t>: Duyệt con bên phải.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vi-VN" sz="3200" b="1" dirty="0"/>
              <a:t>Bước 3</a:t>
            </a:r>
            <a:r>
              <a:rPr lang="vi-VN" sz="3200" dirty="0"/>
              <a:t>: Duyệt node gốc.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17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581245"/>
            <a:ext cx="10642600" cy="703747"/>
          </a:xfrm>
        </p:spPr>
        <p:txBody>
          <a:bodyPr/>
          <a:lstStyle/>
          <a:p>
            <a:r>
              <a:rPr lang="en-US" dirty="0" err="1"/>
              <a:t>Duyệt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chiều</a:t>
            </a:r>
            <a:r>
              <a:rPr lang="en-US" dirty="0"/>
              <a:t> </a:t>
            </a:r>
            <a:r>
              <a:rPr lang="vi-VN" dirty="0" smtClean="0"/>
              <a:t>sâu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300" y="1556452"/>
            <a:ext cx="10795000" cy="49058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vi-VN" sz="3000" i="1" dirty="0"/>
              <a:t>//Function to visit nodes </a:t>
            </a:r>
            <a:r>
              <a:rPr lang="vi-VN" sz="3000" i="1"/>
              <a:t>in </a:t>
            </a:r>
            <a:r>
              <a:rPr lang="vi-VN" sz="3000" i="1" smtClean="0"/>
              <a:t>Post</a:t>
            </a:r>
            <a:r>
              <a:rPr lang="en-US" sz="3000" i="1" smtClean="0"/>
              <a:t>O</a:t>
            </a:r>
            <a:r>
              <a:rPr lang="vi-VN" sz="3000" i="1" smtClean="0"/>
              <a:t>rder</a:t>
            </a:r>
            <a:endParaRPr lang="en-US" sz="3000" i="1" dirty="0"/>
          </a:p>
          <a:p>
            <a:pPr marL="0" indent="0">
              <a:buNone/>
            </a:pPr>
            <a:r>
              <a:rPr lang="vi-VN" sz="3000" smtClean="0">
                <a:latin typeface="Consolas" panose="020B0609020204030204" pitchFamily="49" charset="0"/>
              </a:rPr>
              <a:t>void </a:t>
            </a:r>
            <a:r>
              <a:rPr lang="vi-VN" sz="3000" b="1" smtClean="0">
                <a:solidFill>
                  <a:srgbClr val="00B0F0"/>
                </a:solidFill>
                <a:latin typeface="Consolas" panose="020B0609020204030204" pitchFamily="49" charset="0"/>
              </a:rPr>
              <a:t>Post</a:t>
            </a:r>
            <a:r>
              <a:rPr lang="en-US" sz="3000" b="1" smtClean="0">
                <a:solidFill>
                  <a:srgbClr val="00B0F0"/>
                </a:solidFill>
                <a:latin typeface="Consolas" panose="020B0609020204030204" pitchFamily="49" charset="0"/>
              </a:rPr>
              <a:t>O</a:t>
            </a:r>
            <a:r>
              <a:rPr lang="vi-VN" sz="3000" b="1" smtClean="0">
                <a:solidFill>
                  <a:srgbClr val="00B0F0"/>
                </a:solidFill>
                <a:latin typeface="Consolas" panose="020B0609020204030204" pitchFamily="49" charset="0"/>
              </a:rPr>
              <a:t>rder</a:t>
            </a:r>
            <a:r>
              <a:rPr lang="vi-VN" sz="3000" smtClean="0">
                <a:latin typeface="Consolas" panose="020B0609020204030204" pitchFamily="49" charset="0"/>
              </a:rPr>
              <a:t>(Node </a:t>
            </a:r>
            <a:r>
              <a:rPr lang="vi-VN" sz="3000" dirty="0">
                <a:latin typeface="Consolas" panose="020B0609020204030204" pitchFamily="49" charset="0"/>
              </a:rPr>
              <a:t>*root) {</a:t>
            </a:r>
            <a:endParaRPr lang="en-US" sz="3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vi-VN" sz="3000" dirty="0">
                <a:latin typeface="Consolas" panose="020B0609020204030204" pitchFamily="49" charset="0"/>
              </a:rPr>
              <a:t>	if(root == NULL</a:t>
            </a:r>
            <a:r>
              <a:rPr lang="vi-VN" sz="3000">
                <a:latin typeface="Consolas" panose="020B0609020204030204" pitchFamily="49" charset="0"/>
              </a:rPr>
              <a:t>) </a:t>
            </a:r>
            <a:endParaRPr lang="en-US" sz="3000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000">
                <a:latin typeface="Consolas" panose="020B0609020204030204" pitchFamily="49" charset="0"/>
              </a:rPr>
              <a:t>	</a:t>
            </a:r>
            <a:r>
              <a:rPr lang="en-US" sz="3000" smtClean="0">
                <a:latin typeface="Consolas" panose="020B0609020204030204" pitchFamily="49" charset="0"/>
              </a:rPr>
              <a:t>	</a:t>
            </a:r>
            <a:r>
              <a:rPr lang="vi-VN" sz="3000" smtClean="0">
                <a:latin typeface="Consolas" panose="020B0609020204030204" pitchFamily="49" charset="0"/>
              </a:rPr>
              <a:t>return</a:t>
            </a:r>
            <a:r>
              <a:rPr lang="vi-VN" sz="3000" dirty="0">
                <a:latin typeface="Consolas" panose="020B0609020204030204" pitchFamily="49" charset="0"/>
              </a:rPr>
              <a:t>;</a:t>
            </a:r>
            <a:endParaRPr lang="en-US" sz="3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vi-VN" sz="3000">
                <a:latin typeface="Consolas" panose="020B0609020204030204" pitchFamily="49" charset="0"/>
              </a:rPr>
              <a:t>	</a:t>
            </a:r>
            <a:r>
              <a:rPr lang="vi-VN" sz="3000" b="1" smtClean="0">
                <a:solidFill>
                  <a:srgbClr val="00B0F0"/>
                </a:solidFill>
                <a:latin typeface="Consolas" panose="020B0609020204030204" pitchFamily="49" charset="0"/>
              </a:rPr>
              <a:t>Post</a:t>
            </a:r>
            <a:r>
              <a:rPr lang="en-US" sz="3000" b="1" smtClean="0">
                <a:solidFill>
                  <a:srgbClr val="00B0F0"/>
                </a:solidFill>
                <a:latin typeface="Consolas" panose="020B0609020204030204" pitchFamily="49" charset="0"/>
              </a:rPr>
              <a:t>O</a:t>
            </a:r>
            <a:r>
              <a:rPr lang="vi-VN" sz="3000" b="1" smtClean="0">
                <a:solidFill>
                  <a:srgbClr val="00B0F0"/>
                </a:solidFill>
                <a:latin typeface="Consolas" panose="020B0609020204030204" pitchFamily="49" charset="0"/>
              </a:rPr>
              <a:t>rder</a:t>
            </a:r>
            <a:r>
              <a:rPr lang="vi-VN" sz="3000" smtClean="0">
                <a:latin typeface="Consolas" panose="020B0609020204030204" pitchFamily="49" charset="0"/>
              </a:rPr>
              <a:t>(root-</a:t>
            </a:r>
            <a:r>
              <a:rPr lang="vi-VN" sz="3000" dirty="0">
                <a:latin typeface="Consolas" panose="020B0609020204030204" pitchFamily="49" charset="0"/>
              </a:rPr>
              <a:t>&gt;</a:t>
            </a:r>
            <a:r>
              <a:rPr lang="vi-VN" sz="3000">
                <a:latin typeface="Consolas" panose="020B0609020204030204" pitchFamily="49" charset="0"/>
              </a:rPr>
              <a:t>left</a:t>
            </a:r>
            <a:r>
              <a:rPr lang="vi-VN" sz="3000" smtClean="0">
                <a:latin typeface="Consolas" panose="020B0609020204030204" pitchFamily="49" charset="0"/>
              </a:rPr>
              <a:t>);</a:t>
            </a:r>
            <a:r>
              <a:rPr lang="en-US" sz="3000" smtClean="0">
                <a:latin typeface="Consolas" panose="020B0609020204030204" pitchFamily="49" charset="0"/>
              </a:rPr>
              <a:t> </a:t>
            </a:r>
            <a:r>
              <a:rPr lang="vi-VN" sz="3000" smtClean="0">
                <a:latin typeface="Consolas" panose="020B0609020204030204" pitchFamily="49" charset="0"/>
              </a:rPr>
              <a:t>// </a:t>
            </a:r>
            <a:r>
              <a:rPr lang="vi-VN" sz="3000" dirty="0">
                <a:latin typeface="Consolas" panose="020B0609020204030204" pitchFamily="49" charset="0"/>
              </a:rPr>
              <a:t>Visit left subtree</a:t>
            </a:r>
            <a:endParaRPr lang="en-US" sz="3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vi-VN" sz="3000">
                <a:latin typeface="Consolas" panose="020B0609020204030204" pitchFamily="49" charset="0"/>
              </a:rPr>
              <a:t>	</a:t>
            </a:r>
            <a:r>
              <a:rPr lang="vi-VN" sz="3000" b="1" smtClean="0">
                <a:solidFill>
                  <a:srgbClr val="00B0F0"/>
                </a:solidFill>
                <a:latin typeface="Consolas" panose="020B0609020204030204" pitchFamily="49" charset="0"/>
              </a:rPr>
              <a:t>Post</a:t>
            </a:r>
            <a:r>
              <a:rPr lang="en-US" sz="3000" b="1" smtClean="0">
                <a:solidFill>
                  <a:srgbClr val="00B0F0"/>
                </a:solidFill>
                <a:latin typeface="Consolas" panose="020B0609020204030204" pitchFamily="49" charset="0"/>
              </a:rPr>
              <a:t>O</a:t>
            </a:r>
            <a:r>
              <a:rPr lang="vi-VN" sz="3000" b="1" smtClean="0">
                <a:solidFill>
                  <a:srgbClr val="00B0F0"/>
                </a:solidFill>
                <a:latin typeface="Consolas" panose="020B0609020204030204" pitchFamily="49" charset="0"/>
              </a:rPr>
              <a:t>rder</a:t>
            </a:r>
            <a:r>
              <a:rPr lang="vi-VN" sz="3000" smtClean="0">
                <a:latin typeface="Consolas" panose="020B0609020204030204" pitchFamily="49" charset="0"/>
              </a:rPr>
              <a:t>(root-</a:t>
            </a:r>
            <a:r>
              <a:rPr lang="vi-VN" sz="3000" dirty="0">
                <a:latin typeface="Consolas" panose="020B0609020204030204" pitchFamily="49" charset="0"/>
              </a:rPr>
              <a:t>&gt;</a:t>
            </a:r>
            <a:r>
              <a:rPr lang="vi-VN" sz="3000">
                <a:latin typeface="Consolas" panose="020B0609020204030204" pitchFamily="49" charset="0"/>
              </a:rPr>
              <a:t>right</a:t>
            </a:r>
            <a:r>
              <a:rPr lang="vi-VN" sz="3000" smtClean="0">
                <a:latin typeface="Consolas" panose="020B0609020204030204" pitchFamily="49" charset="0"/>
              </a:rPr>
              <a:t>);</a:t>
            </a:r>
            <a:r>
              <a:rPr lang="en-US" sz="3000" smtClean="0">
                <a:latin typeface="Consolas" panose="020B0609020204030204" pitchFamily="49" charset="0"/>
              </a:rPr>
              <a:t> </a:t>
            </a:r>
            <a:r>
              <a:rPr lang="vi-VN" sz="3000" smtClean="0">
                <a:latin typeface="Consolas" panose="020B0609020204030204" pitchFamily="49" charset="0"/>
              </a:rPr>
              <a:t>// </a:t>
            </a:r>
            <a:r>
              <a:rPr lang="vi-VN" sz="3000" dirty="0">
                <a:latin typeface="Consolas" panose="020B0609020204030204" pitchFamily="49" charset="0"/>
              </a:rPr>
              <a:t>Visit right subtree</a:t>
            </a:r>
            <a:endParaRPr lang="en-US" sz="3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vi-VN" sz="3000" dirty="0">
                <a:latin typeface="Consolas" panose="020B0609020204030204" pitchFamily="49" charset="0"/>
              </a:rPr>
              <a:t>	printf("%</a:t>
            </a:r>
            <a:r>
              <a:rPr lang="vi-VN" sz="3000">
                <a:latin typeface="Consolas" panose="020B0609020204030204" pitchFamily="49" charset="0"/>
              </a:rPr>
              <a:t>c </a:t>
            </a:r>
            <a:r>
              <a:rPr lang="vi-VN" sz="3000" smtClean="0">
                <a:latin typeface="Consolas" panose="020B0609020204030204" pitchFamily="49" charset="0"/>
              </a:rPr>
              <a:t>", root-</a:t>
            </a:r>
            <a:r>
              <a:rPr lang="vi-VN" sz="3000" dirty="0">
                <a:latin typeface="Consolas" panose="020B0609020204030204" pitchFamily="49" charset="0"/>
              </a:rPr>
              <a:t>&gt;</a:t>
            </a:r>
            <a:r>
              <a:rPr lang="vi-VN" sz="3000">
                <a:latin typeface="Consolas" panose="020B0609020204030204" pitchFamily="49" charset="0"/>
              </a:rPr>
              <a:t>data</a:t>
            </a:r>
            <a:r>
              <a:rPr lang="vi-VN" sz="3000" smtClean="0">
                <a:latin typeface="Consolas" panose="020B0609020204030204" pitchFamily="49" charset="0"/>
              </a:rPr>
              <a:t>);// </a:t>
            </a:r>
            <a:r>
              <a:rPr lang="vi-VN" sz="3000" dirty="0">
                <a:latin typeface="Consolas" panose="020B0609020204030204" pitchFamily="49" charset="0"/>
              </a:rPr>
              <a:t>Print data</a:t>
            </a:r>
            <a:endParaRPr lang="en-US" sz="3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vi-VN" sz="3000" smtClean="0">
                <a:latin typeface="Consolas" panose="020B0609020204030204" pitchFamily="49" charset="0"/>
              </a:rPr>
              <a:t>}</a:t>
            </a:r>
            <a:endParaRPr lang="en-US" sz="3000" dirty="0">
              <a:latin typeface="Consolas" panose="020B0609020204030204" pitchFamily="49" charset="0"/>
            </a:endParaRPr>
          </a:p>
          <a:p>
            <a:endParaRPr lang="en-US" sz="3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491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313A-BB42-4E34-8E5F-18065357EDED}" type="slidenum">
              <a:rPr lang="en-US" smtClean="0"/>
              <a:t>141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328" y="1152871"/>
            <a:ext cx="5131344" cy="455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011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ustom 3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F3175956FF049F48857A601B2366A1E8" ma:contentTypeVersion="9" ma:contentTypeDescription="Tạo tài liệu mới." ma:contentTypeScope="" ma:versionID="5310b0de4f331d6fec296b3c5ad837a6">
  <xsd:schema xmlns:xsd="http://www.w3.org/2001/XMLSchema" xmlns:xs="http://www.w3.org/2001/XMLSchema" xmlns:p="http://schemas.microsoft.com/office/2006/metadata/properties" xmlns:ns2="bec1cf72-34b8-402f-9613-ebed87436c1f" xmlns:ns3="e1f39115-eada-46af-8bbe-8d98fb8204f3" targetNamespace="http://schemas.microsoft.com/office/2006/metadata/properties" ma:root="true" ma:fieldsID="0989daa804a5c4957124842a3e23deaa" ns2:_="" ns3:_="">
    <xsd:import namespace="bec1cf72-34b8-402f-9613-ebed87436c1f"/>
    <xsd:import namespace="e1f39115-eada-46af-8bbe-8d98fb8204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c1cf72-34b8-402f-9613-ebed87436c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f39115-eada-46af-8bbe-8d98fb8204f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hia sẻ Với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Chia sẻ Có Chi tiết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40BF05B-F623-45B2-B83C-A03588A59E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DD19B55-3445-44DE-ADA7-09B78D96812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8651182-915D-4244-A75A-D5637550446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c1cf72-34b8-402f-9613-ebed87436c1f"/>
    <ds:schemaRef ds:uri="e1f39115-eada-46af-8bbe-8d98fb8204f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Chuong_2.2._Stack&amp;Queue</Template>
  <TotalTime>5214</TotalTime>
  <Words>5573</Words>
  <Application>Microsoft Office PowerPoint</Application>
  <PresentationFormat>Widescreen</PresentationFormat>
  <Paragraphs>1995</Paragraphs>
  <Slides>141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141</vt:i4>
      </vt:variant>
    </vt:vector>
  </HeadingPairs>
  <TitlesOfParts>
    <vt:vector size="156" baseType="lpstr">
      <vt:lpstr>Arial</vt:lpstr>
      <vt:lpstr>Calibri</vt:lpstr>
      <vt:lpstr>Cambria</vt:lpstr>
      <vt:lpstr>Consolas</vt:lpstr>
      <vt:lpstr>Courier New</vt:lpstr>
      <vt:lpstr>HY얕은샘물M</vt:lpstr>
      <vt:lpstr>Mangal</vt:lpstr>
      <vt:lpstr>Palatino Linotype</vt:lpstr>
      <vt:lpstr>Symbol</vt:lpstr>
      <vt:lpstr>Tahoma</vt:lpstr>
      <vt:lpstr>Times</vt:lpstr>
      <vt:lpstr>Times New Roman</vt:lpstr>
      <vt:lpstr>VNI-Helve</vt:lpstr>
      <vt:lpstr>Wingdings</vt:lpstr>
      <vt:lpstr>Retrospect</vt:lpstr>
      <vt:lpstr>Cấu trúc cây</vt:lpstr>
      <vt:lpstr>Khái niệm</vt:lpstr>
      <vt:lpstr>Khái niệm</vt:lpstr>
      <vt:lpstr>Khái niệm</vt:lpstr>
      <vt:lpstr>Cây nhị phân</vt:lpstr>
      <vt:lpstr>Cây nhị phân</vt:lpstr>
      <vt:lpstr>Cây nhị phân</vt:lpstr>
      <vt:lpstr>Cây nhị phân</vt:lpstr>
      <vt:lpstr>Cấu trúc cây nhị phân</vt:lpstr>
      <vt:lpstr>Sơ đồ cây nhị phân</vt:lpstr>
      <vt:lpstr>Các thao tác cơ bản</vt:lpstr>
      <vt:lpstr>Khởi tạo cây nhị phân rỗng</vt:lpstr>
      <vt:lpstr>Tạo nút mới</vt:lpstr>
      <vt:lpstr>Thêm nút con bên trái của node T</vt:lpstr>
      <vt:lpstr>Thêm nút con bên phải của node T</vt:lpstr>
      <vt:lpstr>Duyệt cây</vt:lpstr>
      <vt:lpstr>Duyệt cây</vt:lpstr>
      <vt:lpstr>Duyệt Node Left Right</vt:lpstr>
      <vt:lpstr>Duyệt Node Right Left</vt:lpstr>
      <vt:lpstr>Duyệt Left Node Right</vt:lpstr>
      <vt:lpstr>Duyệt Left Node Right</vt:lpstr>
      <vt:lpstr>Duyệt Left Right Node </vt:lpstr>
      <vt:lpstr>Duyệt Left Right Node </vt:lpstr>
      <vt:lpstr>Xóa nút con trái của node T </vt:lpstr>
      <vt:lpstr>Xóa nút con phải của node T </vt:lpstr>
      <vt:lpstr>Tìm nút có khóa x </vt:lpstr>
      <vt:lpstr>Xóa cây</vt:lpstr>
      <vt:lpstr>Các thao tác mở rộng</vt:lpstr>
      <vt:lpstr>Đếm số nút trên cây</vt:lpstr>
      <vt:lpstr>Đếm số nút lá</vt:lpstr>
      <vt:lpstr>Đếm số nút không phải nút lá</vt:lpstr>
      <vt:lpstr>Đếm số nút trong (nút trung gian)</vt:lpstr>
      <vt:lpstr>Đếm số nút trong (nút trung gian)</vt:lpstr>
      <vt:lpstr>Tính tổng</vt:lpstr>
      <vt:lpstr>Tính chiều cao của cây</vt:lpstr>
      <vt:lpstr>Đếm số nút có giá trị bằng x</vt:lpstr>
      <vt:lpstr>Cách 1: Tìm giá trị lớn nhất trên cây nhị phân</vt:lpstr>
      <vt:lpstr>Cách 2: Tìm giá trị lớn nhất trên cây nhị phân</vt:lpstr>
      <vt:lpstr>Xuất ra màn hình các nút ở mức k</vt:lpstr>
      <vt:lpstr>Đếm các nút lá ở mức k</vt:lpstr>
      <vt:lpstr>Demo</vt:lpstr>
      <vt:lpstr>Khái niệm</vt:lpstr>
      <vt:lpstr>CẤU TRÚC CÂY NHỊ PHÂN TÌM KIẾM</vt:lpstr>
      <vt:lpstr>Cây nhị phân tìm kiếm</vt:lpstr>
      <vt:lpstr>Tìm kiếm</vt:lpstr>
      <vt:lpstr>Ví dụ</vt:lpstr>
      <vt:lpstr>Ví dụ tìm x = 2</vt:lpstr>
      <vt:lpstr>Ví dụ tìm x= 9</vt:lpstr>
      <vt:lpstr>Ví dụ tìm x = 25</vt:lpstr>
      <vt:lpstr>Tìm giá trị x (C1)</vt:lpstr>
      <vt:lpstr>Tìm giá trị x (C2)</vt:lpstr>
      <vt:lpstr>Tìm giá trị lớn nhất trên cây NPTK</vt:lpstr>
      <vt:lpstr>Duyệt cây</vt:lpstr>
      <vt:lpstr>Đếm số phần tử lớn hơn x</vt:lpstr>
      <vt:lpstr>Thêm x vào cây</vt:lpstr>
      <vt:lpstr>Thêm x vào cây</vt:lpstr>
      <vt:lpstr>Xóa phần tử khỏi cây</vt:lpstr>
      <vt:lpstr>Ví dụ xóa x = 25</vt:lpstr>
      <vt:lpstr>Ví dụ xóa x = 5</vt:lpstr>
      <vt:lpstr>Ví dụ</vt:lpstr>
      <vt:lpstr>Ví dụ</vt:lpstr>
      <vt:lpstr>Ví dụ</vt:lpstr>
      <vt:lpstr>Ví dụ xóa x = 25</vt:lpstr>
      <vt:lpstr>Ví dụ xóa x = 25</vt:lpstr>
      <vt:lpstr>Ví dụ xóa x = 25</vt:lpstr>
      <vt:lpstr>Ví dụ xóa x = 25</vt:lpstr>
      <vt:lpstr>Ví dụ xóa x = 25</vt:lpstr>
      <vt:lpstr>Ví dụ xóa x = 25</vt:lpstr>
      <vt:lpstr>Ví dụ xóa x = 25</vt:lpstr>
      <vt:lpstr>Ví dụ xóa x = 25</vt:lpstr>
      <vt:lpstr>Ví dụ xóa x = 25</vt:lpstr>
      <vt:lpstr>Ví dụ xóa x = 25</vt:lpstr>
      <vt:lpstr>Giải thuật</vt:lpstr>
      <vt:lpstr>Giải thuật</vt:lpstr>
      <vt:lpstr>Xóa nút có giá trị là x</vt:lpstr>
      <vt:lpstr>Tìm nút thế mạng cho nút bị xóa</vt:lpstr>
      <vt:lpstr>Bài tập</vt:lpstr>
      <vt:lpstr>   Cây nhi phân cân bằng (AVL Tree)  </vt:lpstr>
      <vt:lpstr>Demo</vt:lpstr>
      <vt:lpstr>2. AVL Tree - Ðịnh nghĩa</vt:lpstr>
      <vt:lpstr>AVL Tree – Ví dụ</vt:lpstr>
      <vt:lpstr>3. Tổ chức dữ liệu</vt:lpstr>
      <vt:lpstr>Ví dụ - Chỉ số cân bằng của nút</vt:lpstr>
      <vt:lpstr>Tổ chức dữ liệu (tt)</vt:lpstr>
      <vt:lpstr>Cấp phát nút mới cho cây AVL</vt:lpstr>
      <vt:lpstr>Khởi tạo cây AVL</vt:lpstr>
      <vt:lpstr>AVL Tree – Biểu diễn</vt:lpstr>
      <vt:lpstr>Các trường hợp mất cân bằng</vt:lpstr>
      <vt:lpstr>Các thao tác trên cây cân bằng</vt:lpstr>
      <vt:lpstr>Các trường hợp mất cân bằng do lệch trái</vt:lpstr>
      <vt:lpstr>Các trường hợp mất cân bằng do lệch phải</vt:lpstr>
      <vt:lpstr>Các trường hợp mất cân bằng do xóa</vt:lpstr>
      <vt:lpstr>Cân bằng lại trường hợp</vt:lpstr>
      <vt:lpstr>Cài đặt cân bằng lại cho trường hợp 1</vt:lpstr>
      <vt:lpstr>Cân bằng lại trường hợp 2</vt:lpstr>
      <vt:lpstr>Cài đặt cân bằng lại cho trường hợp 2</vt:lpstr>
      <vt:lpstr>Cân bằng lại trường hợp 3</vt:lpstr>
      <vt:lpstr>Cài đặt cân bằng lại cho trường hợp 3</vt:lpstr>
      <vt:lpstr>Cân bằng lại trường hợp 4</vt:lpstr>
      <vt:lpstr>Cài đặt cân bằng lại cho trường hợp 4</vt:lpstr>
      <vt:lpstr>Cân bằng lại trường hợp 5</vt:lpstr>
      <vt:lpstr>Cài đặt cân bằng lại cho trường hợp 5</vt:lpstr>
      <vt:lpstr>Cân bằng lại trường hợp 6</vt:lpstr>
      <vt:lpstr>Cài đặt cân bằng lại cho trường hợp 6</vt:lpstr>
      <vt:lpstr>Thêm 1 nút vào cây AVL</vt:lpstr>
      <vt:lpstr>Hủy 1 nút ra khỏi cây AVL</vt:lpstr>
      <vt:lpstr>Lưu ý</vt:lpstr>
      <vt:lpstr>(NỘI DUNG ĐỌC THÊM)</vt:lpstr>
      <vt:lpstr>Duyệt cây theo chiều rộng  (Breadth First Search)</vt:lpstr>
      <vt:lpstr>PowerPoint Presentation</vt:lpstr>
      <vt:lpstr>Duyệt cây theo chiều rộng</vt:lpstr>
      <vt:lpstr>Duyệt cây theo chiều rộng</vt:lpstr>
      <vt:lpstr>Duyệt cây theo chiều rộng</vt:lpstr>
      <vt:lpstr>Duyệt cây theo chiều rộng</vt:lpstr>
      <vt:lpstr>Duyệt cây theo chiều rộng</vt:lpstr>
      <vt:lpstr>Duyệt cây theo chiều rộng</vt:lpstr>
      <vt:lpstr>Duyệt cây theo chiều rộng</vt:lpstr>
      <vt:lpstr>Duyệt cây theo chiều rộng</vt:lpstr>
      <vt:lpstr>Duyệt cây theo chiều rộng</vt:lpstr>
      <vt:lpstr>Duyệt cây theo chiều rộng</vt:lpstr>
      <vt:lpstr>Duyệt cây theo chiều rộng</vt:lpstr>
      <vt:lpstr>Duyệt cây theo chiều rộng</vt:lpstr>
      <vt:lpstr>Duyệt cây theo chiều rộng</vt:lpstr>
      <vt:lpstr>Duyệt cây theo chiều rộng</vt:lpstr>
      <vt:lpstr>Duyệt cây theo chiều rộng</vt:lpstr>
      <vt:lpstr>Duyệt cây theo chiều rộng</vt:lpstr>
      <vt:lpstr>Duyệt cây theo chiều rộng</vt:lpstr>
      <vt:lpstr>Duyệt cây theo chiều rộng</vt:lpstr>
      <vt:lpstr>Duyệt cây theo chiều rộng</vt:lpstr>
      <vt:lpstr>Duyệt cây theo chiều rộng</vt:lpstr>
      <vt:lpstr>Duyệt cây theo chiều rộng</vt:lpstr>
      <vt:lpstr>Duyệt cây theo chiều rộng</vt:lpstr>
      <vt:lpstr>Duyệt cây theo chiều sâu (Depth First Search)</vt:lpstr>
      <vt:lpstr>PowerPoint Presentation</vt:lpstr>
      <vt:lpstr>Duyệt cây theo chiều sâu</vt:lpstr>
      <vt:lpstr>Duyệt cây theo chiều sâu</vt:lpstr>
      <vt:lpstr>Duyệt cây theo chiều sâu</vt:lpstr>
      <vt:lpstr>Duyệt cây theo chiều sâu</vt:lpstr>
      <vt:lpstr>Duyệt cây theo chiều sâu</vt:lpstr>
      <vt:lpstr>Duyệt cây theo chiều sâu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268</cp:revision>
  <dcterms:created xsi:type="dcterms:W3CDTF">2021-06-20T22:09:24Z</dcterms:created>
  <dcterms:modified xsi:type="dcterms:W3CDTF">2024-10-21T12:55:52Z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0x010100F3175956FF049F48857A601B2366A1E8</vt:lpwstr>
  </property>
</Properties>
</file>